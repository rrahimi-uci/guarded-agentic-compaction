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150" b="0" i="0" u="none" strike="noStrike">
                <a:solidFill>
                  <a:srgbClr val="5F767A"/>
                </a:solidFill>
                <a:latin typeface="Calibri"/>
              </a:defRPr>
            </a:pPr>
            <a:r>
              <a:rPr lang="en-US" sz="1150" b="0" i="0" u="none" strike="noStrike">
                <a:solidFill>
                  <a:srgbClr val="5F767A"/>
                </a:solidFill>
                <a:latin typeface="Calibri"/>
              </a:rPr>
              <a:t>NESTFUL: independent group records available vs required</a:t>
            </a:r>
          </a:p>
        </c:rich>
      </c:tx>
      <c:overlay val="0"/>
    </c:title>
    <c:autoTitleDeleted val="0"/>
    <c:plotArea>
      <c:layout/>
      <c:barChart>
        <c:barDir val="col"/>
        <c:grouping val="clustered"/>
        <c:varyColors val="0"/>
        <c:ser>
          <c:idx val="0"/>
          <c:order val="0"/>
          <c:tx>
            <c:strRef>
              <c:f>Sheet1!$B$1</c:f>
              <c:strCache>
                <c:ptCount val="1"/>
                <c:pt idx="0">
                  <c:v>Group records</c:v>
                </c:pt>
              </c:strCache>
            </c:strRef>
          </c:tx>
          <c:spPr>
            <a:solidFill>
              <a:srgbClr val="17798A"/>
            </a:solidFill>
            <a:effectLst/>
          </c:spPr>
          <c:invertIfNegative val="0"/>
          <c:dPt>
            <c:idx val="0"/>
            <c:invertIfNegative val="0"/>
            <c:bubble3D val="0"/>
            <c:extLst>
              <c:ext xmlns:c16="http://schemas.microsoft.com/office/drawing/2014/chart" uri="{C3380CC4-5D6E-409C-BE32-E72D297353CC}">
                <c16:uniqueId val="{00000001-CBAE-A647-BB9E-CED223014E1D}"/>
              </c:ext>
            </c:extLst>
          </c:dPt>
          <c:dPt>
            <c:idx val="1"/>
            <c:invertIfNegative val="0"/>
            <c:bubble3D val="0"/>
            <c:spPr>
              <a:solidFill>
                <a:srgbClr val="AC4A2C"/>
              </a:solidFill>
              <a:effectLst/>
            </c:spPr>
            <c:extLst>
              <c:ext xmlns:c16="http://schemas.microsoft.com/office/drawing/2014/chart" uri="{C3380CC4-5D6E-409C-BE32-E72D297353CC}">
                <c16:uniqueId val="{00000003-CBAE-A647-BB9E-CED223014E1D}"/>
              </c:ext>
            </c:extLst>
          </c:dPt>
          <c:dLbls>
            <c:numFmt formatCode="#,##0" sourceLinked="0"/>
            <c:spPr>
              <a:noFill/>
              <a:ln>
                <a:noFill/>
              </a:ln>
              <a:effectLst/>
            </c:spPr>
            <c:txPr>
              <a:bodyPr/>
              <a:lstStyle/>
              <a:p>
                <a:pPr>
                  <a:defRPr sz="1500" b="1" i="0" u="none" strike="noStrike">
                    <a:solidFill>
                      <a:srgbClr val="2A42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Best family support</c:v>
                </c:pt>
                <c:pt idx="1">
                  <c:v>Gate requirement</c:v>
                </c:pt>
              </c:strCache>
            </c:strRef>
          </c:cat>
          <c:val>
            <c:numRef>
              <c:f>Sheet1!$B$2:$B$3</c:f>
              <c:numCache>
                <c:formatCode>General</c:formatCode>
                <c:ptCount val="2"/>
                <c:pt idx="0">
                  <c:v>26</c:v>
                </c:pt>
                <c:pt idx="1">
                  <c:v>92</c:v>
                </c:pt>
              </c:numCache>
            </c:numRef>
          </c:val>
          <c:extLst>
            <c:ext xmlns:c16="http://schemas.microsoft.com/office/drawing/2014/chart" uri="{C3380CC4-5D6E-409C-BE32-E72D297353CC}">
              <c16:uniqueId val="{00000004-CBAE-A647-BB9E-CED223014E1D}"/>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F767A"/>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6EEF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F767A"/>
                </a:solidFill>
                <a:latin typeface="Calibri"/>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150" b="0" i="0" u="none" strike="noStrike">
                <a:solidFill>
                  <a:srgbClr val="5F767A"/>
                </a:solidFill>
                <a:latin typeface="Calibri"/>
              </a:defRPr>
            </a:pPr>
            <a:r>
              <a:rPr lang="en-US" sz="1150" b="0" i="0" u="none" strike="noStrike">
                <a:solidFill>
                  <a:srgbClr val="5F767A"/>
                </a:solidFill>
                <a:latin typeface="Calibri"/>
              </a:rPr>
              <a:t>Resource use per episode, normalized to the unchanged agent (%)</a:t>
            </a:r>
          </a:p>
        </c:rich>
      </c:tx>
      <c:overlay val="0"/>
    </c:title>
    <c:autoTitleDeleted val="0"/>
    <c:plotArea>
      <c:layout/>
      <c:barChart>
        <c:barDir val="col"/>
        <c:grouping val="clustered"/>
        <c:varyColors val="0"/>
        <c:ser>
          <c:idx val="0"/>
          <c:order val="0"/>
          <c:tx>
            <c:strRef>
              <c:f>Sheet1!$B$1</c:f>
              <c:strCache>
                <c:ptCount val="1"/>
                <c:pt idx="0">
                  <c:v>Unchanged agent</c:v>
                </c:pt>
              </c:strCache>
            </c:strRef>
          </c:tx>
          <c:spPr>
            <a:solidFill>
              <a:srgbClr val="9CC7CE"/>
            </a:solidFill>
            <a:effectLst/>
          </c:spPr>
          <c:invertIfNegative val="0"/>
          <c:dLbls>
            <c:numFmt formatCode="0.0" sourceLinked="0"/>
            <c:spPr>
              <a:noFill/>
              <a:ln>
                <a:noFill/>
              </a:ln>
              <a:effectLst/>
            </c:spPr>
            <c:txPr>
              <a:bodyPr/>
              <a:lstStyle/>
              <a:p>
                <a:pPr>
                  <a:defRPr sz="850" b="0" i="0" u="none" strike="noStrike">
                    <a:solidFill>
                      <a:srgbClr val="2A42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Provider
requests</c:v>
                </c:pt>
                <c:pt idx="1">
                  <c:v>Tool calls</c:v>
                </c:pt>
                <c:pt idx="2">
                  <c:v>Total tokens</c:v>
                </c:pt>
                <c:pt idx="3">
                  <c:v>Wall time</c:v>
                </c:pt>
                <c:pt idx="4">
                  <c:v>Estimated cost</c:v>
                </c:pt>
              </c:strCache>
            </c:strRef>
          </c:cat>
          <c:val>
            <c:numRef>
              <c:f>Sheet1!$B$2:$B$6</c:f>
              <c:numCache>
                <c:formatCode>General</c:formatCode>
                <c:ptCount val="5"/>
                <c:pt idx="0">
                  <c:v>100</c:v>
                </c:pt>
                <c:pt idx="1">
                  <c:v>100</c:v>
                </c:pt>
                <c:pt idx="2">
                  <c:v>100</c:v>
                </c:pt>
                <c:pt idx="3">
                  <c:v>100</c:v>
                </c:pt>
                <c:pt idx="4">
                  <c:v>100</c:v>
                </c:pt>
              </c:numCache>
            </c:numRef>
          </c:val>
          <c:extLst>
            <c:ext xmlns:c16="http://schemas.microsoft.com/office/drawing/2014/chart" uri="{C3380CC4-5D6E-409C-BE32-E72D297353CC}">
              <c16:uniqueId val="{00000000-82AC-454A-AF06-6CB2F88E3B81}"/>
            </c:ext>
          </c:extLst>
        </c:ser>
        <c:ser>
          <c:idx val="1"/>
          <c:order val="1"/>
          <c:tx>
            <c:strRef>
              <c:f>Sheet1!$C$1</c:f>
              <c:strCache>
                <c:ptCount val="1"/>
                <c:pt idx="0">
                  <c:v>GAC two-read prefix</c:v>
                </c:pt>
              </c:strCache>
            </c:strRef>
          </c:tx>
          <c:spPr>
            <a:solidFill>
              <a:srgbClr val="17798A"/>
            </a:solidFill>
            <a:effectLst/>
          </c:spPr>
          <c:invertIfNegative val="0"/>
          <c:dLbls>
            <c:numFmt formatCode="0.0" sourceLinked="0"/>
            <c:spPr>
              <a:noFill/>
              <a:ln>
                <a:noFill/>
              </a:ln>
              <a:effectLst/>
            </c:spPr>
            <c:txPr>
              <a:bodyPr/>
              <a:lstStyle/>
              <a:p>
                <a:pPr>
                  <a:defRPr sz="850" b="0" i="0" u="none" strike="noStrike">
                    <a:solidFill>
                      <a:srgbClr val="2A42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Provider
requests</c:v>
                </c:pt>
                <c:pt idx="1">
                  <c:v>Tool calls</c:v>
                </c:pt>
                <c:pt idx="2">
                  <c:v>Total tokens</c:v>
                </c:pt>
                <c:pt idx="3">
                  <c:v>Wall time</c:v>
                </c:pt>
                <c:pt idx="4">
                  <c:v>Estimated cost</c:v>
                </c:pt>
              </c:strCache>
            </c:strRef>
          </c:cat>
          <c:val>
            <c:numRef>
              <c:f>Sheet1!$C$2:$C$6</c:f>
              <c:numCache>
                <c:formatCode>General</c:formatCode>
                <c:ptCount val="5"/>
                <c:pt idx="0">
                  <c:v>50</c:v>
                </c:pt>
                <c:pt idx="1">
                  <c:v>100</c:v>
                </c:pt>
                <c:pt idx="2">
                  <c:v>60.5</c:v>
                </c:pt>
                <c:pt idx="3">
                  <c:v>48.2</c:v>
                </c:pt>
                <c:pt idx="4">
                  <c:v>68</c:v>
                </c:pt>
              </c:numCache>
            </c:numRef>
          </c:val>
          <c:extLst>
            <c:ext xmlns:c16="http://schemas.microsoft.com/office/drawing/2014/chart" uri="{C3380CC4-5D6E-409C-BE32-E72D297353CC}">
              <c16:uniqueId val="{00000001-82AC-454A-AF06-6CB2F88E3B81}"/>
            </c:ext>
          </c:extLst>
        </c:ser>
        <c:ser>
          <c:idx val="2"/>
          <c:order val="2"/>
          <c:tx>
            <c:strRef>
              <c:f>Sheet1!$D$1</c:f>
              <c:strCache>
                <c:ptCount val="1"/>
                <c:pt idx="0">
                  <c:v>Hand-written macro</c:v>
                </c:pt>
              </c:strCache>
            </c:strRef>
          </c:tx>
          <c:spPr>
            <a:solidFill>
              <a:srgbClr val="AC4A2C"/>
            </a:solidFill>
            <a:effectLst/>
          </c:spPr>
          <c:invertIfNegative val="0"/>
          <c:dLbls>
            <c:numFmt formatCode="0.0" sourceLinked="0"/>
            <c:spPr>
              <a:noFill/>
              <a:ln>
                <a:noFill/>
              </a:ln>
              <a:effectLst/>
            </c:spPr>
            <c:txPr>
              <a:bodyPr/>
              <a:lstStyle/>
              <a:p>
                <a:pPr>
                  <a:defRPr sz="850" b="0" i="0" u="none" strike="noStrike">
                    <a:solidFill>
                      <a:srgbClr val="2A42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Provider
requests</c:v>
                </c:pt>
                <c:pt idx="1">
                  <c:v>Tool calls</c:v>
                </c:pt>
                <c:pt idx="2">
                  <c:v>Total tokens</c:v>
                </c:pt>
                <c:pt idx="3">
                  <c:v>Wall time</c:v>
                </c:pt>
                <c:pt idx="4">
                  <c:v>Estimated cost</c:v>
                </c:pt>
              </c:strCache>
            </c:strRef>
          </c:cat>
          <c:val>
            <c:numRef>
              <c:f>Sheet1!$D$2:$D$6</c:f>
              <c:numCache>
                <c:formatCode>General</c:formatCode>
                <c:ptCount val="5"/>
                <c:pt idx="0">
                  <c:v>50</c:v>
                </c:pt>
                <c:pt idx="1">
                  <c:v>33.299999999999997</c:v>
                </c:pt>
                <c:pt idx="2">
                  <c:v>41.8</c:v>
                </c:pt>
                <c:pt idx="3">
                  <c:v>52.8</c:v>
                </c:pt>
                <c:pt idx="4">
                  <c:v>62.5</c:v>
                </c:pt>
              </c:numCache>
            </c:numRef>
          </c:val>
          <c:extLst>
            <c:ext xmlns:c16="http://schemas.microsoft.com/office/drawing/2014/chart" uri="{C3380CC4-5D6E-409C-BE32-E72D297353CC}">
              <c16:uniqueId val="{00000002-82AC-454A-AF06-6CB2F88E3B8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F767A"/>
                </a:solidFill>
                <a:latin typeface="Calibri"/>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9525" cap="flat">
              <a:solidFill>
                <a:srgbClr val="E6EEF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F767A"/>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050">
              <a:solidFill>
                <a:srgbClr val="2A424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150" b="0" i="0" u="none" strike="noStrike">
                <a:solidFill>
                  <a:srgbClr val="5F767A"/>
                </a:solidFill>
                <a:latin typeface="Calibri"/>
              </a:defRPr>
            </a:pPr>
            <a:r>
              <a:rPr lang="en-US" sz="1150" b="0" i="0" u="none" strike="noStrike">
                <a:solidFill>
                  <a:srgbClr val="5F767A"/>
                </a:solidFill>
                <a:latin typeface="Calibri"/>
              </a:rPr>
              <a:t>Saving versus baseline per demonstration condition (%)</a:t>
            </a:r>
          </a:p>
        </c:rich>
      </c:tx>
      <c:overlay val="0"/>
    </c:title>
    <c:autoTitleDeleted val="0"/>
    <c:plotArea>
      <c:layout/>
      <c:barChart>
        <c:barDir val="col"/>
        <c:grouping val="clustered"/>
        <c:varyColors val="0"/>
        <c:ser>
          <c:idx val="0"/>
          <c:order val="0"/>
          <c:tx>
            <c:strRef>
              <c:f>Sheet1!$B$1</c:f>
              <c:strCache>
                <c:ptCount val="1"/>
                <c:pt idx="0">
                  <c:v>Tokens saved</c:v>
                </c:pt>
              </c:strCache>
            </c:strRef>
          </c:tx>
          <c:spPr>
            <a:solidFill>
              <a:srgbClr val="17798A"/>
            </a:solidFill>
            <a:effectLst/>
          </c:spPr>
          <c:invertIfNegative val="0"/>
          <c:dLbls>
            <c:numFmt formatCode="0.0" sourceLinked="0"/>
            <c:spPr>
              <a:noFill/>
              <a:ln>
                <a:noFill/>
              </a:ln>
              <a:effectLst/>
            </c:spPr>
            <c:txPr>
              <a:bodyPr/>
              <a:lstStyle/>
              <a:p>
                <a:pPr>
                  <a:defRPr sz="850" b="0" i="0" u="none" strike="noStrike">
                    <a:solidFill>
                      <a:srgbClr val="2A42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  linear read prefix</c:v>
                </c:pt>
                <c:pt idx="1">
                  <c:v>B  ACL-scoped retrieval</c:v>
                </c:pt>
                <c:pt idx="2">
                  <c:v>C  handoff barrier</c:v>
                </c:pt>
                <c:pt idx="3">
                  <c:v>E  branches + write</c:v>
                </c:pt>
                <c:pt idx="4">
                  <c:v>F  route specialization</c:v>
                </c:pt>
                <c:pt idx="5">
                  <c:v>E′  refused (control)</c:v>
                </c:pt>
              </c:strCache>
            </c:strRef>
          </c:cat>
          <c:val>
            <c:numRef>
              <c:f>Sheet1!$B$2:$B$7</c:f>
              <c:numCache>
                <c:formatCode>General</c:formatCode>
                <c:ptCount val="6"/>
                <c:pt idx="0">
                  <c:v>79.599999999999994</c:v>
                </c:pt>
                <c:pt idx="1">
                  <c:v>76.3</c:v>
                </c:pt>
                <c:pt idx="2">
                  <c:v>73.8</c:v>
                </c:pt>
                <c:pt idx="3">
                  <c:v>66.400000000000006</c:v>
                </c:pt>
                <c:pt idx="4">
                  <c:v>16.8</c:v>
                </c:pt>
                <c:pt idx="5">
                  <c:v>-0.2</c:v>
                </c:pt>
              </c:numCache>
            </c:numRef>
          </c:val>
          <c:extLst>
            <c:ext xmlns:c16="http://schemas.microsoft.com/office/drawing/2014/chart" uri="{C3380CC4-5D6E-409C-BE32-E72D297353CC}">
              <c16:uniqueId val="{00000000-3869-2740-898C-F1C3666EE20B}"/>
            </c:ext>
          </c:extLst>
        </c:ser>
        <c:ser>
          <c:idx val="1"/>
          <c:order val="1"/>
          <c:tx>
            <c:strRef>
              <c:f>Sheet1!$C$1</c:f>
              <c:strCache>
                <c:ptCount val="1"/>
                <c:pt idx="0">
                  <c:v>Cost saved</c:v>
                </c:pt>
              </c:strCache>
            </c:strRef>
          </c:tx>
          <c:spPr>
            <a:solidFill>
              <a:srgbClr val="AC4A2C"/>
            </a:solidFill>
            <a:effectLst/>
          </c:spPr>
          <c:invertIfNegative val="0"/>
          <c:dLbls>
            <c:numFmt formatCode="0.0" sourceLinked="0"/>
            <c:spPr>
              <a:noFill/>
              <a:ln>
                <a:noFill/>
              </a:ln>
              <a:effectLst/>
            </c:spPr>
            <c:txPr>
              <a:bodyPr/>
              <a:lstStyle/>
              <a:p>
                <a:pPr>
                  <a:defRPr sz="850" b="0" i="0" u="none" strike="noStrike">
                    <a:solidFill>
                      <a:srgbClr val="2A42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  linear read prefix</c:v>
                </c:pt>
                <c:pt idx="1">
                  <c:v>B  ACL-scoped retrieval</c:v>
                </c:pt>
                <c:pt idx="2">
                  <c:v>C  handoff barrier</c:v>
                </c:pt>
                <c:pt idx="3">
                  <c:v>E  branches + write</c:v>
                </c:pt>
                <c:pt idx="4">
                  <c:v>F  route specialization</c:v>
                </c:pt>
                <c:pt idx="5">
                  <c:v>E′  refused (control)</c:v>
                </c:pt>
              </c:strCache>
            </c:strRef>
          </c:cat>
          <c:val>
            <c:numRef>
              <c:f>Sheet1!$C$2:$C$7</c:f>
              <c:numCache>
                <c:formatCode>General</c:formatCode>
                <c:ptCount val="6"/>
                <c:pt idx="0">
                  <c:v>73.599999999999994</c:v>
                </c:pt>
                <c:pt idx="1">
                  <c:v>68.7</c:v>
                </c:pt>
                <c:pt idx="2">
                  <c:v>75.5</c:v>
                </c:pt>
                <c:pt idx="3">
                  <c:v>-8.3000000000000007</c:v>
                </c:pt>
                <c:pt idx="4">
                  <c:v>-123</c:v>
                </c:pt>
                <c:pt idx="5">
                  <c:v>-55.4</c:v>
                </c:pt>
              </c:numCache>
            </c:numRef>
          </c:val>
          <c:extLst>
            <c:ext xmlns:c16="http://schemas.microsoft.com/office/drawing/2014/chart" uri="{C3380CC4-5D6E-409C-BE32-E72D297353CC}">
              <c16:uniqueId val="{00000001-3869-2740-898C-F1C3666EE20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F767A"/>
                </a:solidFill>
                <a:latin typeface="Calibri"/>
              </a:defRPr>
            </a:pPr>
            <a:endParaRPr lang="en-US"/>
          </a:p>
        </c:txPr>
        <c:crossAx val="2094734552"/>
        <c:crosses val="autoZero"/>
        <c:auto val="1"/>
        <c:lblAlgn val="ctr"/>
        <c:lblOffset val="100"/>
        <c:noMultiLvlLbl val="1"/>
      </c:catAx>
      <c:valAx>
        <c:axId val="2094734552"/>
        <c:scaling>
          <c:orientation val="minMax"/>
          <c:max val="100"/>
          <c:min val="-150"/>
        </c:scaling>
        <c:delete val="0"/>
        <c:axPos val="l"/>
        <c:majorGridlines>
          <c:spPr>
            <a:ln w="9525" cap="flat">
              <a:solidFill>
                <a:srgbClr val="E6EEF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F767A"/>
                </a:solidFill>
                <a:latin typeface="Calibri"/>
              </a:defRPr>
            </a:pPr>
            <a:endParaRPr lang="en-US"/>
          </a:p>
        </c:txPr>
        <c:crossAx val="2094734554"/>
        <c:crosses val="autoZero"/>
        <c:crossBetween val="between"/>
        <c:majorUnit val="50"/>
      </c:valAx>
      <c:spPr>
        <a:noFill/>
        <a:ln>
          <a:noFill/>
        </a:ln>
        <a:effectLst/>
      </c:spPr>
    </c:plotArea>
    <c:legend>
      <c:legendPos val="b"/>
      <c:overlay val="0"/>
      <c:txPr>
        <a:bodyPr/>
        <a:lstStyle/>
        <a:p>
          <a:pPr>
            <a:defRPr sz="1050">
              <a:solidFill>
                <a:srgbClr val="2A424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050" b="0" i="0" u="none" strike="noStrike">
                <a:solidFill>
                  <a:srgbClr val="5F767A"/>
                </a:solidFill>
                <a:latin typeface="Calibri"/>
              </a:defRPr>
            </a:pPr>
            <a:r>
              <a:rPr lang="en-US" sz="1050" b="0" i="0" u="none" strike="noStrike">
                <a:solidFill>
                  <a:srgbClr val="5F767A"/>
                </a:solidFill>
                <a:latin typeface="Calibri"/>
              </a:rPr>
              <a:t>Mean paired portfolio utility on 30 frozen calibration groups (pp)</a:t>
            </a:r>
          </a:p>
        </c:rich>
      </c:tx>
      <c:overlay val="0"/>
    </c:title>
    <c:autoTitleDeleted val="0"/>
    <c:plotArea>
      <c:layout/>
      <c:barChart>
        <c:barDir val="bar"/>
        <c:grouping val="clustered"/>
        <c:varyColors val="0"/>
        <c:ser>
          <c:idx val="0"/>
          <c:order val="0"/>
          <c:tx>
            <c:strRef>
              <c:f>Sheet1!$B$1</c:f>
              <c:strCache>
                <c:ptCount val="1"/>
                <c:pt idx="0">
                  <c:v>Mean paired utility</c:v>
                </c:pt>
              </c:strCache>
            </c:strRef>
          </c:tx>
          <c:spPr>
            <a:solidFill>
              <a:srgbClr val="AC4A2C"/>
            </a:solidFill>
            <a:effectLst/>
          </c:spPr>
          <c:invertIfNegative val="0"/>
          <c:dPt>
            <c:idx val="0"/>
            <c:invertIfNegative val="0"/>
            <c:bubble3D val="0"/>
            <c:extLst>
              <c:ext xmlns:c16="http://schemas.microsoft.com/office/drawing/2014/chart" uri="{C3380CC4-5D6E-409C-BE32-E72D297353CC}">
                <c16:uniqueId val="{00000001-9D14-1941-983F-ADD4D18163CA}"/>
              </c:ext>
            </c:extLst>
          </c:dPt>
          <c:dPt>
            <c:idx val="1"/>
            <c:invertIfNegative val="0"/>
            <c:bubble3D val="0"/>
            <c:spPr>
              <a:solidFill>
                <a:srgbClr val="17798A"/>
              </a:solidFill>
              <a:effectLst/>
            </c:spPr>
            <c:extLst>
              <c:ext xmlns:c16="http://schemas.microsoft.com/office/drawing/2014/chart" uri="{C3380CC4-5D6E-409C-BE32-E72D297353CC}">
                <c16:uniqueId val="{00000003-9D14-1941-983F-ADD4D18163CA}"/>
              </c:ext>
            </c:extLst>
          </c:dPt>
          <c:dLbls>
            <c:numFmt formatCode="0.0" sourceLinked="0"/>
            <c:spPr>
              <a:noFill/>
              <a:ln>
                <a:noFill/>
              </a:ln>
              <a:effectLst/>
            </c:spPr>
            <c:txPr>
              <a:bodyPr/>
              <a:lstStyle/>
              <a:p>
                <a:pPr>
                  <a:defRPr sz="1200" b="1" i="0" u="none" strike="noStrike">
                    <a:solidFill>
                      <a:srgbClr val="2A42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Hand-written macro</c:v>
                </c:pt>
                <c:pt idx="1">
                  <c:v>Learned compiler</c:v>
                </c:pt>
              </c:strCache>
            </c:strRef>
          </c:cat>
          <c:val>
            <c:numRef>
              <c:f>Sheet1!$B$2:$B$3</c:f>
              <c:numCache>
                <c:formatCode>General</c:formatCode>
                <c:ptCount val="2"/>
                <c:pt idx="0">
                  <c:v>48.9</c:v>
                </c:pt>
                <c:pt idx="1">
                  <c:v>32.700000000000003</c:v>
                </c:pt>
              </c:numCache>
            </c:numRef>
          </c:val>
          <c:extLst>
            <c:ext xmlns:c16="http://schemas.microsoft.com/office/drawing/2014/chart" uri="{C3380CC4-5D6E-409C-BE32-E72D297353CC}">
              <c16:uniqueId val="{00000004-9D14-1941-983F-ADD4D18163C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F767A"/>
                </a:solidFill>
                <a:latin typeface="Calibri"/>
              </a:defRPr>
            </a:pPr>
            <a:endParaRPr lang="en-US"/>
          </a:p>
        </c:txPr>
        <c:crossAx val="2094734552"/>
        <c:crosses val="autoZero"/>
        <c:auto val="1"/>
        <c:lblAlgn val="ctr"/>
        <c:lblOffset val="100"/>
        <c:noMultiLvlLbl val="1"/>
      </c:catAx>
      <c:valAx>
        <c:axId val="2094734552"/>
        <c:scaling>
          <c:orientation val="minMax"/>
          <c:max val="60"/>
          <c:min val="0"/>
        </c:scaling>
        <c:delete val="0"/>
        <c:axPos val="b"/>
        <c:majorGridlines>
          <c:spPr>
            <a:ln w="9525" cap="flat">
              <a:solidFill>
                <a:srgbClr val="E6EEF0"/>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F767A"/>
                </a:solidFill>
                <a:latin typeface="Calibri"/>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1874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paper about the admission argument for deleting model decisions, not a paper about speed. The headline engineering result is a 50% request reduction with task quality preserved; the headline scientific result is that most recurrent regions cannot be certified at 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honest ledger. The paper's claims register (Table 9) gives seven of thirteen claims a negative verdict — C5 to C9 plus C12 and C13 — and the six that stand carry explicit scope caveats. That discipline is the reason to trust the ones that do stand.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figures are the mean per-episode measurements from the expanded 30-record replication (Table 2). Three of the four model turns are pure tool selection over a path every one of 132 discovery traces took.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argument for why an agent optimizer needs more machinery than a cache. Each hazard maps to a specific rejection point in the compiler.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RQ3 and RQ4 are the unusual ones: the paper treats refusal and residual failure as first-class results rather than as caveats.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drawn verbatim from the paper's own boundary statement. Read it out loud in a review — it is what makes the left column credible.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asymmetry that makes the design defensible: statistics can only ever narrow what a structurally admissible artifact is allowed to do. They can never widen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cascade order is load-bearing: the cheap structural checks run before the expensive statistical ones, and the feasibility estimator can decline a workload before any synthesis cost is incurred. Caveat to state if asked: the perturbation suite needs a sandbox, and the headline live artifact records perturbations_claimed: false — it was never adversarially challenged.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careful that 96.3% is candidate recall and close to definitional. The load-bearing number is 80.7% unique resolution — that is what synthesis can actually use.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dwell on for anyone worried about blast radius. Of the seven terminal runtime edges, five return the unchanged agent, one raises an incident rather than feigning a rollback, and only one compacts. There is no silent-degradation path.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92?', the answer is: alpha .05, delta .10, eleven grid thresholds, and zero observed violations. It is a consequence of the configuration, not a discovered property of any workload.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framing for a platform team: this is the cheap triage question. If the ceiling on your workload is 15%, stop — no compiler will beat that, and you have saved the discovery spend.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separation is the methodological contribution most reviewers will respect: no tier is asked to license a claim it cannot support.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Provider-free stage: about six seconds and 23.3 MiB peak memory over the pinned dataset. The compute is not the bottleneck — independent calibration support 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tool-call bar: the compiler keeps all three reads. It removes model-mediated decisions, not evidence acquisition. The macro removes reads because a human redesigned the interface.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McNemar carries almost no information at these sample sizes: p = 1 in both arms. The informative quantity is the one-sided exact bound on the paired degradation rate — 9.5% for the 30-record two-read arm with zero compiler-only failures, and 23.8% for the 18-record three-read arm with its single discordance. Perfect or near-perfect observed agreement is compatible with an operationally unacceptable rate; a predeclared non-inferiority margin of a few points would need hundreds of sealed pairs per domain.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careful that only Demo F clears the noise floor set by the refusing controls, and even there the magnitude is indicative. The direction is what the data supports.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an engineering leader should push on. The honest read: GAC is not a replacement for good interface design. It earns its keep where the choice of reads is itself the thing that recurs.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Paired two-sided Wilcoxon p = 0.000488 for tokens, latency, and cost. The value of this design is the ordering: decide, hash the calibration file, then draw the fresh cohort.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claims register (Table 9) gives a negative verdict to seven of thirteen claims: C5, C6, C7 and C9 and C13 not supported, C8 not evaluated, C12 not implemented. C10 and C11 are verified but scoped — one is a provider-free counterfactual, the other holds on a single workflow family. Reading that table is the fastest way to calibrate how much of this is deployable today.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framing sentence from the paper's conclusion: an agent optimizer should be judged not only by what it compresses, but by whether it can explain and enforce when it must not compile.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72C"/>
        </a:solidFill>
        <a:effectLst/>
      </p:bgPr>
    </p:bg>
    <p:spTree>
      <p:nvGrpSpPr>
        <p:cNvPr id="1" name=""/>
        <p:cNvGrpSpPr/>
        <p:nvPr/>
      </p:nvGrpSpPr>
      <p:grpSpPr>
        <a:xfrm>
          <a:off x="0" y="0"/>
          <a:ext cx="0" cy="0"/>
          <a:chOff x="0" y="0"/>
          <a:chExt cx="0" cy="0"/>
        </a:xfrm>
      </p:grpSpPr>
      <p:sp>
        <p:nvSpPr>
          <p:cNvPr id="2" name="Shape 0"/>
          <p:cNvSpPr/>
          <p:nvPr/>
        </p:nvSpPr>
        <p:spPr>
          <a:xfrm>
            <a:off x="8686800" y="-1371600"/>
            <a:ext cx="5852160" cy="5852160"/>
          </a:xfrm>
          <a:prstGeom prst="ellipse">
            <a:avLst/>
          </a:prstGeom>
          <a:solidFill>
            <a:srgbClr val="0D4A54">
              <a:alpha val="55000"/>
            </a:srgbClr>
          </a:solidFill>
          <a:ln w="12700">
            <a:solidFill>
              <a:srgbClr val="0D4A54"/>
            </a:solidFill>
            <a:prstDash val="solid"/>
          </a:ln>
        </p:spPr>
        <p:txBody>
          <a:bodyPr/>
          <a:lstStyle/>
          <a:p>
            <a:endParaRPr lang="en-US"/>
          </a:p>
        </p:txBody>
      </p:sp>
      <p:sp>
        <p:nvSpPr>
          <p:cNvPr id="3" name="Shape 1"/>
          <p:cNvSpPr/>
          <p:nvPr/>
        </p:nvSpPr>
        <p:spPr>
          <a:xfrm>
            <a:off x="9966960" y="-91440"/>
            <a:ext cx="3291840" cy="3291840"/>
          </a:xfrm>
          <a:prstGeom prst="ellipse">
            <a:avLst/>
          </a:prstGeom>
          <a:solidFill>
            <a:srgbClr val="17798A">
              <a:alpha val="45000"/>
            </a:srgbClr>
          </a:solidFill>
          <a:ln w="12700">
            <a:solidFill>
              <a:srgbClr val="17798A"/>
            </a:solidFill>
            <a:prstDash val="solid"/>
          </a:ln>
        </p:spPr>
        <p:txBody>
          <a:bodyPr/>
          <a:lstStyle/>
          <a:p>
            <a:endParaRPr lang="en-US"/>
          </a:p>
        </p:txBody>
      </p:sp>
      <p:sp>
        <p:nvSpPr>
          <p:cNvPr id="4" name="Shape 2"/>
          <p:cNvSpPr/>
          <p:nvPr/>
        </p:nvSpPr>
        <p:spPr>
          <a:xfrm>
            <a:off x="10835640" y="777240"/>
            <a:ext cx="1554480" cy="1554480"/>
          </a:xfrm>
          <a:prstGeom prst="ellipse">
            <a:avLst/>
          </a:prstGeom>
          <a:solidFill>
            <a:srgbClr val="4EA3B0">
              <a:alpha val="70000"/>
            </a:srgbClr>
          </a:solidFill>
          <a:ln w="12700">
            <a:solidFill>
              <a:srgbClr val="4EA3B0"/>
            </a:solidFill>
            <a:prstDash val="solid"/>
          </a:ln>
        </p:spPr>
        <p:txBody>
          <a:bodyPr/>
          <a:lstStyle/>
          <a:p>
            <a:endParaRPr lang="en-US"/>
          </a:p>
        </p:txBody>
      </p:sp>
      <p:sp>
        <p:nvSpPr>
          <p:cNvPr id="5" name="Text 3"/>
          <p:cNvSpPr/>
          <p:nvPr/>
        </p:nvSpPr>
        <p:spPr>
          <a:xfrm>
            <a:off x="640080" y="1417320"/>
            <a:ext cx="7863840" cy="274320"/>
          </a:xfrm>
          <a:prstGeom prst="rect">
            <a:avLst/>
          </a:prstGeom>
          <a:noFill/>
          <a:ln/>
        </p:spPr>
        <p:txBody>
          <a:bodyPr wrap="square" lIns="0" tIns="0" rIns="0" bIns="0" rtlCol="0" anchor="ctr"/>
          <a:lstStyle/>
          <a:p>
            <a:pPr marL="0" indent="0">
              <a:buNone/>
            </a:pPr>
            <a:r>
              <a:rPr lang="en-US" sz="1100" b="1" kern="0" spc="220" dirty="0">
                <a:solidFill>
                  <a:srgbClr val="4EA3B0"/>
                </a:solidFill>
                <a:latin typeface="Calibri" pitchFamily="34" charset="0"/>
                <a:ea typeface="Calibri" pitchFamily="34" charset="-122"/>
                <a:cs typeface="Calibri" pitchFamily="34" charset="-120"/>
              </a:rPr>
              <a:t>PAPER REVIEW  ·  AGENT INFRASTRUCTURE</a:t>
            </a:r>
            <a:endParaRPr lang="en-US" sz="1100" dirty="0"/>
          </a:p>
        </p:txBody>
      </p:sp>
      <p:sp>
        <p:nvSpPr>
          <p:cNvPr id="6" name="Text 4"/>
          <p:cNvSpPr/>
          <p:nvPr/>
        </p:nvSpPr>
        <p:spPr>
          <a:xfrm>
            <a:off x="640080" y="1828800"/>
            <a:ext cx="8138160" cy="1600200"/>
          </a:xfrm>
          <a:prstGeom prst="rect">
            <a:avLst/>
          </a:prstGeom>
          <a:noFill/>
          <a:ln/>
        </p:spPr>
        <p:txBody>
          <a:bodyPr wrap="square" lIns="0" tIns="0" rIns="0" bIns="0" rtlCol="0" anchor="ctr"/>
          <a:lstStyle/>
          <a:p>
            <a:pPr marL="0" indent="0">
              <a:lnSpc>
                <a:spcPct val="100000"/>
              </a:lnSpc>
              <a:buNone/>
            </a:pPr>
            <a:r>
              <a:rPr lang="en-US" sz="3700" b="1" dirty="0">
                <a:solidFill>
                  <a:srgbClr val="FFFFFF"/>
                </a:solidFill>
                <a:latin typeface="Cambria" pitchFamily="34" charset="0"/>
                <a:ea typeface="Cambria" pitchFamily="34" charset="-122"/>
                <a:cs typeface="Cambria" pitchFamily="34" charset="-120"/>
              </a:rPr>
              <a:t>Compiling Recurrent Agent Workflows into Guarded Programs</a:t>
            </a:r>
            <a:endParaRPr lang="en-US" sz="3700" dirty="0"/>
          </a:p>
        </p:txBody>
      </p:sp>
      <p:sp>
        <p:nvSpPr>
          <p:cNvPr id="7" name="Text 5"/>
          <p:cNvSpPr/>
          <p:nvPr/>
        </p:nvSpPr>
        <p:spPr>
          <a:xfrm>
            <a:off x="640080" y="3611880"/>
            <a:ext cx="7680960" cy="777240"/>
          </a:xfrm>
          <a:prstGeom prst="rect">
            <a:avLst/>
          </a:prstGeom>
          <a:noFill/>
          <a:ln/>
        </p:spPr>
        <p:txBody>
          <a:bodyPr wrap="square" lIns="0" tIns="0" rIns="0" bIns="0" rtlCol="0" anchor="ctr"/>
          <a:lstStyle/>
          <a:p>
            <a:pPr marL="0" indent="0">
              <a:lnSpc>
                <a:spcPct val="115000"/>
              </a:lnSpc>
              <a:buNone/>
            </a:pPr>
            <a:r>
              <a:rPr lang="en-US" sz="1500" b="1" dirty="0">
                <a:solidFill>
                  <a:srgbClr val="FFFFFF"/>
                </a:solidFill>
                <a:latin typeface="Calibri" pitchFamily="34" charset="0"/>
                <a:ea typeface="Calibri" pitchFamily="34" charset="-122"/>
                <a:cs typeface="Calibri" pitchFamily="34" charset="-120"/>
              </a:rPr>
              <a:t>Guarded Agentic Compaction (GAC). </a:t>
            </a:r>
            <a:r>
              <a:rPr lang="en-US" sz="1500" dirty="0">
                <a:solidFill>
                  <a:srgbClr val="9CC7CE"/>
                </a:solidFill>
                <a:latin typeface="Calibri" pitchFamily="34" charset="0"/>
                <a:ea typeface="Calibri" pitchFamily="34" charset="-122"/>
                <a:cs typeface="Calibri" pitchFamily="34" charset="-120"/>
              </a:rPr>
              <a:t>What evidence licenses deleting a recurring model decision — and when an optimizer is obliged to refuse.</a:t>
            </a:r>
            <a:endParaRPr lang="en-US" sz="1500" dirty="0"/>
          </a:p>
        </p:txBody>
      </p:sp>
      <p:sp>
        <p:nvSpPr>
          <p:cNvPr id="8" name="Text 6"/>
          <p:cNvSpPr/>
          <p:nvPr/>
        </p:nvSpPr>
        <p:spPr>
          <a:xfrm>
            <a:off x="640080" y="4709160"/>
            <a:ext cx="640080" cy="457200"/>
          </a:xfrm>
          <a:prstGeom prst="rect">
            <a:avLst/>
          </a:prstGeom>
          <a:noFill/>
          <a:ln/>
        </p:spPr>
        <p:txBody>
          <a:bodyPr wrap="square" lIns="0" tIns="0" rIns="0" bIns="0" rtlCol="0" anchor="ctr"/>
          <a:lstStyle/>
          <a:p>
            <a:pPr marL="0" indent="0">
              <a:buNone/>
            </a:pPr>
            <a:r>
              <a:rPr lang="en-US" sz="2500" b="1" dirty="0">
                <a:solidFill>
                  <a:srgbClr val="4EA3B0"/>
                </a:solidFill>
                <a:latin typeface="Cambria" pitchFamily="34" charset="0"/>
                <a:ea typeface="Cambria" pitchFamily="34" charset="-122"/>
                <a:cs typeface="Cambria" pitchFamily="34" charset="-120"/>
              </a:rPr>
              <a:t>1</a:t>
            </a:r>
            <a:endParaRPr lang="en-US" sz="2500" dirty="0"/>
          </a:p>
        </p:txBody>
      </p:sp>
      <p:sp>
        <p:nvSpPr>
          <p:cNvPr id="9" name="Text 7"/>
          <p:cNvSpPr/>
          <p:nvPr/>
        </p:nvSpPr>
        <p:spPr>
          <a:xfrm>
            <a:off x="1207008" y="4736592"/>
            <a:ext cx="2103120" cy="658368"/>
          </a:xfrm>
          <a:prstGeom prst="rect">
            <a:avLst/>
          </a:prstGeom>
          <a:noFill/>
          <a:ln/>
        </p:spPr>
        <p:txBody>
          <a:bodyPr wrap="square" lIns="0" tIns="0" rIns="0" bIns="0" rtlCol="0" anchor="ctr"/>
          <a:lstStyle/>
          <a:p>
            <a:pPr marL="0" indent="0">
              <a:lnSpc>
                <a:spcPct val="105000"/>
              </a:lnSpc>
              <a:buNone/>
            </a:pPr>
            <a:r>
              <a:rPr lang="en-US" sz="1050" dirty="0">
                <a:solidFill>
                  <a:srgbClr val="9CC7CE"/>
                </a:solidFill>
                <a:latin typeface="Calibri" pitchFamily="34" charset="0"/>
                <a:ea typeface="Calibri" pitchFamily="34" charset="-122"/>
                <a:cs typeface="Calibri" pitchFamily="34" charset="-120"/>
              </a:rPr>
              <a:t>public executable benchmark (NESTFUL, 1,415 episodes)</a:t>
            </a:r>
            <a:endParaRPr lang="en-US" sz="1050" dirty="0"/>
          </a:p>
        </p:txBody>
      </p:sp>
      <p:sp>
        <p:nvSpPr>
          <p:cNvPr id="10" name="Text 8"/>
          <p:cNvSpPr/>
          <p:nvPr/>
        </p:nvSpPr>
        <p:spPr>
          <a:xfrm>
            <a:off x="3429000" y="4709160"/>
            <a:ext cx="640080" cy="457200"/>
          </a:xfrm>
          <a:prstGeom prst="rect">
            <a:avLst/>
          </a:prstGeom>
          <a:noFill/>
          <a:ln/>
        </p:spPr>
        <p:txBody>
          <a:bodyPr wrap="square" lIns="0" tIns="0" rIns="0" bIns="0" rtlCol="0" anchor="ctr"/>
          <a:lstStyle/>
          <a:p>
            <a:pPr marL="0" indent="0">
              <a:buNone/>
            </a:pPr>
            <a:r>
              <a:rPr lang="en-US" sz="2500" b="1" dirty="0">
                <a:solidFill>
                  <a:srgbClr val="4EA3B0"/>
                </a:solidFill>
                <a:latin typeface="Cambria" pitchFamily="34" charset="0"/>
                <a:ea typeface="Cambria" pitchFamily="34" charset="-122"/>
                <a:cs typeface="Cambria" pitchFamily="34" charset="-120"/>
              </a:rPr>
              <a:t>4</a:t>
            </a:r>
            <a:endParaRPr lang="en-US" sz="2500" dirty="0"/>
          </a:p>
        </p:txBody>
      </p:sp>
      <p:sp>
        <p:nvSpPr>
          <p:cNvPr id="11" name="Text 9"/>
          <p:cNvSpPr/>
          <p:nvPr/>
        </p:nvSpPr>
        <p:spPr>
          <a:xfrm>
            <a:off x="3995928" y="4736592"/>
            <a:ext cx="2103120" cy="658368"/>
          </a:xfrm>
          <a:prstGeom prst="rect">
            <a:avLst/>
          </a:prstGeom>
          <a:noFill/>
          <a:ln/>
        </p:spPr>
        <p:txBody>
          <a:bodyPr wrap="square" lIns="0" tIns="0" rIns="0" bIns="0" rtlCol="0" anchor="ctr"/>
          <a:lstStyle/>
          <a:p>
            <a:pPr marL="0" indent="0">
              <a:lnSpc>
                <a:spcPct val="105000"/>
              </a:lnSpc>
              <a:buNone/>
            </a:pPr>
            <a:r>
              <a:rPr lang="en-US" sz="1050" dirty="0">
                <a:solidFill>
                  <a:srgbClr val="9CC7CE"/>
                </a:solidFill>
                <a:latin typeface="Calibri" pitchFamily="34" charset="0"/>
                <a:ea typeface="Calibri" pitchFamily="34" charset="-122"/>
                <a:cs typeface="Calibri" pitchFamily="34" charset="-120"/>
              </a:rPr>
              <a:t>live-provider protocols on real public GitHub records</a:t>
            </a:r>
            <a:endParaRPr lang="en-US" sz="1050" dirty="0"/>
          </a:p>
        </p:txBody>
      </p:sp>
      <p:sp>
        <p:nvSpPr>
          <p:cNvPr id="12" name="Text 10"/>
          <p:cNvSpPr/>
          <p:nvPr/>
        </p:nvSpPr>
        <p:spPr>
          <a:xfrm>
            <a:off x="6217920" y="4709160"/>
            <a:ext cx="640080" cy="457200"/>
          </a:xfrm>
          <a:prstGeom prst="rect">
            <a:avLst/>
          </a:prstGeom>
          <a:noFill/>
          <a:ln/>
        </p:spPr>
        <p:txBody>
          <a:bodyPr wrap="square" lIns="0" tIns="0" rIns="0" bIns="0" rtlCol="0" anchor="ctr"/>
          <a:lstStyle/>
          <a:p>
            <a:pPr marL="0" indent="0">
              <a:buNone/>
            </a:pPr>
            <a:r>
              <a:rPr lang="en-US" sz="2500" b="1" dirty="0">
                <a:solidFill>
                  <a:srgbClr val="4EA3B0"/>
                </a:solidFill>
                <a:latin typeface="Cambria" pitchFamily="34" charset="0"/>
                <a:ea typeface="Cambria" pitchFamily="34" charset="-122"/>
                <a:cs typeface="Cambria" pitchFamily="34" charset="-120"/>
              </a:rPr>
              <a:t>8</a:t>
            </a:r>
            <a:endParaRPr lang="en-US" sz="2500" dirty="0"/>
          </a:p>
        </p:txBody>
      </p:sp>
      <p:sp>
        <p:nvSpPr>
          <p:cNvPr id="13" name="Text 11"/>
          <p:cNvSpPr/>
          <p:nvPr/>
        </p:nvSpPr>
        <p:spPr>
          <a:xfrm>
            <a:off x="6784848" y="4736592"/>
            <a:ext cx="2103120" cy="658368"/>
          </a:xfrm>
          <a:prstGeom prst="rect">
            <a:avLst/>
          </a:prstGeom>
          <a:noFill/>
          <a:ln/>
        </p:spPr>
        <p:txBody>
          <a:bodyPr wrap="square" lIns="0" tIns="0" rIns="0" bIns="0" rtlCol="0" anchor="ctr"/>
          <a:lstStyle/>
          <a:p>
            <a:pPr marL="0" indent="0">
              <a:lnSpc>
                <a:spcPct val="105000"/>
              </a:lnSpc>
              <a:buNone/>
            </a:pPr>
            <a:r>
              <a:rPr lang="en-US" sz="1050" dirty="0">
                <a:solidFill>
                  <a:srgbClr val="9CC7CE"/>
                </a:solidFill>
                <a:latin typeface="Calibri" pitchFamily="34" charset="0"/>
                <a:ea typeface="Calibri" pitchFamily="34" charset="-122"/>
                <a:cs typeface="Calibri" pitchFamily="34" charset="-120"/>
              </a:rPr>
              <a:t>conditions in a controlled workflow-shape suite</a:t>
            </a:r>
            <a:endParaRPr lang="en-US" sz="1050" dirty="0"/>
          </a:p>
        </p:txBody>
      </p:sp>
      <p:sp>
        <p:nvSpPr>
          <p:cNvPr id="14" name="Text 12"/>
          <p:cNvSpPr/>
          <p:nvPr/>
        </p:nvSpPr>
        <p:spPr>
          <a:xfrm>
            <a:off x="640080" y="5989320"/>
            <a:ext cx="8229600" cy="274320"/>
          </a:xfrm>
          <a:prstGeom prst="rect">
            <a:avLst/>
          </a:prstGeom>
          <a:noFill/>
          <a:ln/>
        </p:spPr>
        <p:txBody>
          <a:bodyPr wrap="square" lIns="0" tIns="0" rIns="0" bIns="0" rtlCol="0" anchor="ctr"/>
          <a:lstStyle/>
          <a:p>
            <a:pPr marL="0" indent="0">
              <a:buNone/>
            </a:pPr>
            <a:r>
              <a:rPr lang="en-US" sz="1050" kern="0" spc="80" dirty="0">
                <a:solidFill>
                  <a:srgbClr val="4C6B70"/>
                </a:solidFill>
                <a:latin typeface="Calibri" pitchFamily="34" charset="0"/>
                <a:ea typeface="Calibri" pitchFamily="34" charset="-122"/>
                <a:cs typeface="Calibri" pitchFamily="34" charset="-120"/>
              </a:rPr>
              <a:t>Prepared for engineering leadership  ·  JazzX AI  ·  August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THE SHORT VERSION</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Recurrence tells you a region repeats — not that it may be replaced</a:t>
            </a:r>
            <a:endParaRPr lang="en-US" sz="2600" dirty="0"/>
          </a:p>
        </p:txBody>
      </p:sp>
      <p:sp>
        <p:nvSpPr>
          <p:cNvPr id="6" name="Shape 4"/>
          <p:cNvSpPr/>
          <p:nvPr/>
        </p:nvSpPr>
        <p:spPr>
          <a:xfrm>
            <a:off x="640080" y="1371600"/>
            <a:ext cx="10911535" cy="841248"/>
          </a:xfrm>
          <a:prstGeom prst="roundRect">
            <a:avLst>
              <a:gd name="adj" fmla="val 5435"/>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7" name="Text 5"/>
          <p:cNvSpPr/>
          <p:nvPr/>
        </p:nvSpPr>
        <p:spPr>
          <a:xfrm>
            <a:off x="896112" y="1481328"/>
            <a:ext cx="10399471" cy="621792"/>
          </a:xfrm>
          <a:prstGeom prst="rect">
            <a:avLst/>
          </a:prstGeom>
          <a:noFill/>
          <a:ln/>
        </p:spPr>
        <p:txBody>
          <a:bodyPr wrap="square" lIns="0" tIns="0" rIns="0" bIns="0" rtlCol="0" anchor="ctr"/>
          <a:lstStyle/>
          <a:p>
            <a:pPr marL="0" indent="0">
              <a:lnSpc>
                <a:spcPct val="110000"/>
              </a:lnSpc>
              <a:buNone/>
            </a:pPr>
            <a:r>
              <a:rPr lang="en-US" sz="1400" dirty="0">
                <a:solidFill>
                  <a:srgbClr val="0D4A54"/>
                </a:solidFill>
                <a:latin typeface="Calibri" pitchFamily="34" charset="0"/>
                <a:ea typeface="Calibri" pitchFamily="34" charset="-122"/>
                <a:cs typeface="Calibri" pitchFamily="34" charset="-120"/>
              </a:rPr>
              <a:t>GAC supplies the missing admission argument: </a:t>
            </a:r>
            <a:r>
              <a:rPr lang="en-US" sz="1400" b="1" dirty="0">
                <a:solidFill>
                  <a:srgbClr val="0D4A54"/>
                </a:solidFill>
                <a:latin typeface="Calibri" pitchFamily="34" charset="0"/>
                <a:ea typeface="Calibri" pitchFamily="34" charset="-122"/>
                <a:cs typeface="Calibri" pitchFamily="34" charset="-120"/>
              </a:rPr>
              <a:t>typed value provenance, effect barriers, empirical contracts, and a finite-sample risk gate. </a:t>
            </a:r>
            <a:r>
              <a:rPr lang="en-US" sz="1400" dirty="0">
                <a:solidFill>
                  <a:srgbClr val="0D4A54"/>
                </a:solidFill>
                <a:latin typeface="Calibri" pitchFamily="34" charset="0"/>
                <a:ea typeface="Calibri" pitchFamily="34" charset="-122"/>
                <a:cs typeface="Calibri" pitchFamily="34" charset="-120"/>
              </a:rPr>
              <a:t>Its default output is refusal — the compiler either emits a guarded artifact or keeps the agent unchanged.</a:t>
            </a:r>
            <a:endParaRPr lang="en-US" sz="1400" dirty="0"/>
          </a:p>
        </p:txBody>
      </p:sp>
      <p:sp>
        <p:nvSpPr>
          <p:cNvPr id="8" name="Shape 6"/>
          <p:cNvSpPr/>
          <p:nvPr/>
        </p:nvSpPr>
        <p:spPr>
          <a:xfrm>
            <a:off x="640080" y="2487168"/>
            <a:ext cx="2522144" cy="1481328"/>
          </a:xfrm>
          <a:prstGeom prst="roundRect">
            <a:avLst>
              <a:gd name="adj" fmla="val 308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9" name="Text 7"/>
          <p:cNvSpPr/>
          <p:nvPr/>
        </p:nvSpPr>
        <p:spPr>
          <a:xfrm>
            <a:off x="804672" y="2633472"/>
            <a:ext cx="2192960" cy="651784"/>
          </a:xfrm>
          <a:prstGeom prst="rect">
            <a:avLst/>
          </a:prstGeom>
          <a:noFill/>
          <a:ln/>
        </p:spPr>
        <p:txBody>
          <a:bodyPr wrap="square" lIns="0" tIns="0" rIns="0" bIns="0" rtlCol="0" anchor="ctr"/>
          <a:lstStyle/>
          <a:p>
            <a:pPr marL="0" indent="0">
              <a:buNone/>
            </a:pPr>
            <a:r>
              <a:rPr lang="en-US" sz="2800" b="1" dirty="0">
                <a:solidFill>
                  <a:srgbClr val="0D4A54"/>
                </a:solidFill>
                <a:latin typeface="Cambria" pitchFamily="34" charset="0"/>
                <a:ea typeface="Cambria" pitchFamily="34" charset="-122"/>
                <a:cs typeface="Cambria" pitchFamily="34" charset="-120"/>
              </a:rPr>
              <a:t>50%</a:t>
            </a:r>
            <a:endParaRPr lang="en-US" sz="2800" dirty="0"/>
          </a:p>
        </p:txBody>
      </p:sp>
      <p:sp>
        <p:nvSpPr>
          <p:cNvPr id="10" name="Text 8"/>
          <p:cNvSpPr/>
          <p:nvPr/>
        </p:nvSpPr>
        <p:spPr>
          <a:xfrm>
            <a:off x="804672" y="3257824"/>
            <a:ext cx="2192960" cy="557784"/>
          </a:xfrm>
          <a:prstGeom prst="rect">
            <a:avLst/>
          </a:prstGeom>
          <a:noFill/>
          <a:ln/>
        </p:spPr>
        <p:txBody>
          <a:bodyPr wrap="square" lIns="0" tIns="0" rIns="0" bIns="0" rtlCol="0" anchor="t"/>
          <a:lstStyle/>
          <a:p>
            <a:pPr marL="0" indent="0">
              <a:lnSpc>
                <a:spcPct val="105000"/>
              </a:lnSpc>
              <a:buNone/>
            </a:pPr>
            <a:r>
              <a:rPr lang="en-US" sz="1050" dirty="0">
                <a:solidFill>
                  <a:srgbClr val="5F767A"/>
                </a:solidFill>
                <a:latin typeface="Calibri" pitchFamily="34" charset="0"/>
                <a:ea typeface="Calibri" pitchFamily="34" charset="-122"/>
                <a:cs typeface="Calibri" pitchFamily="34" charset="-120"/>
              </a:rPr>
              <a:t>fewer provider requests on 30 unseen real GitHub issues — with 30/30 task contracts held</a:t>
            </a:r>
            <a:endParaRPr lang="en-US" sz="1050" dirty="0"/>
          </a:p>
        </p:txBody>
      </p:sp>
      <p:sp>
        <p:nvSpPr>
          <p:cNvPr id="11" name="Shape 9"/>
          <p:cNvSpPr/>
          <p:nvPr/>
        </p:nvSpPr>
        <p:spPr>
          <a:xfrm>
            <a:off x="3436544" y="2487168"/>
            <a:ext cx="2522144" cy="1481328"/>
          </a:xfrm>
          <a:prstGeom prst="roundRect">
            <a:avLst>
              <a:gd name="adj" fmla="val 308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2" name="Text 10"/>
          <p:cNvSpPr/>
          <p:nvPr/>
        </p:nvSpPr>
        <p:spPr>
          <a:xfrm>
            <a:off x="3601136" y="2633472"/>
            <a:ext cx="2192960" cy="651784"/>
          </a:xfrm>
          <a:prstGeom prst="rect">
            <a:avLst/>
          </a:prstGeom>
          <a:noFill/>
          <a:ln/>
        </p:spPr>
        <p:txBody>
          <a:bodyPr wrap="square" lIns="0" tIns="0" rIns="0" bIns="0" rtlCol="0" anchor="ctr"/>
          <a:lstStyle/>
          <a:p>
            <a:pPr marL="0" indent="0">
              <a:buNone/>
            </a:pPr>
            <a:r>
              <a:rPr lang="en-US" sz="2800" b="1" dirty="0">
                <a:solidFill>
                  <a:srgbClr val="AC4A2C"/>
                </a:solidFill>
                <a:latin typeface="Cambria" pitchFamily="34" charset="0"/>
                <a:ea typeface="Cambria" pitchFamily="34" charset="-122"/>
                <a:cs typeface="Cambria" pitchFamily="34" charset="-120"/>
              </a:rPr>
              <a:t>0 of 32</a:t>
            </a:r>
            <a:endParaRPr lang="en-US" sz="2800" dirty="0"/>
          </a:p>
        </p:txBody>
      </p:sp>
      <p:sp>
        <p:nvSpPr>
          <p:cNvPr id="13" name="Text 11"/>
          <p:cNvSpPr/>
          <p:nvPr/>
        </p:nvSpPr>
        <p:spPr>
          <a:xfrm>
            <a:off x="3601136" y="3257824"/>
            <a:ext cx="2192960" cy="557784"/>
          </a:xfrm>
          <a:prstGeom prst="rect">
            <a:avLst/>
          </a:prstGeom>
          <a:noFill/>
          <a:ln/>
        </p:spPr>
        <p:txBody>
          <a:bodyPr wrap="square" lIns="0" tIns="0" rIns="0" bIns="0" rtlCol="0" anchor="t"/>
          <a:lstStyle/>
          <a:p>
            <a:pPr marL="0" indent="0">
              <a:lnSpc>
                <a:spcPct val="105000"/>
              </a:lnSpc>
              <a:buNone/>
            </a:pPr>
            <a:r>
              <a:rPr lang="en-US" sz="1050" dirty="0">
                <a:solidFill>
                  <a:srgbClr val="5F767A"/>
                </a:solidFill>
                <a:latin typeface="Calibri" pitchFamily="34" charset="0"/>
                <a:ea typeface="Calibri" pitchFamily="34" charset="-122"/>
                <a:cs typeface="Calibri" pitchFamily="34" charset="-120"/>
              </a:rPr>
              <a:t>recurrent NESTFUL families clear the configured admission gate; every one retires</a:t>
            </a:r>
            <a:endParaRPr lang="en-US" sz="1050" dirty="0"/>
          </a:p>
        </p:txBody>
      </p:sp>
      <p:sp>
        <p:nvSpPr>
          <p:cNvPr id="14" name="Shape 12"/>
          <p:cNvSpPr/>
          <p:nvPr/>
        </p:nvSpPr>
        <p:spPr>
          <a:xfrm>
            <a:off x="6233008" y="2487168"/>
            <a:ext cx="2522144" cy="1481328"/>
          </a:xfrm>
          <a:prstGeom prst="roundRect">
            <a:avLst>
              <a:gd name="adj" fmla="val 308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5" name="Text 13"/>
          <p:cNvSpPr/>
          <p:nvPr/>
        </p:nvSpPr>
        <p:spPr>
          <a:xfrm>
            <a:off x="6397600" y="2633472"/>
            <a:ext cx="2192960" cy="651784"/>
          </a:xfrm>
          <a:prstGeom prst="rect">
            <a:avLst/>
          </a:prstGeom>
          <a:noFill/>
          <a:ln/>
        </p:spPr>
        <p:txBody>
          <a:bodyPr wrap="square" lIns="0" tIns="0" rIns="0" bIns="0" rtlCol="0" anchor="ctr"/>
          <a:lstStyle/>
          <a:p>
            <a:pPr marL="0" indent="0">
              <a:buNone/>
            </a:pPr>
            <a:r>
              <a:rPr lang="en-US" sz="2800" b="1" dirty="0">
                <a:solidFill>
                  <a:srgbClr val="0D4A54"/>
                </a:solidFill>
                <a:latin typeface="Cambria" pitchFamily="34" charset="0"/>
                <a:ea typeface="Cambria" pitchFamily="34" charset="-122"/>
                <a:cs typeface="Cambria" pitchFamily="34" charset="-120"/>
              </a:rPr>
              <a:t>96.3%</a:t>
            </a:r>
            <a:endParaRPr lang="en-US" sz="2800" dirty="0"/>
          </a:p>
        </p:txBody>
      </p:sp>
      <p:sp>
        <p:nvSpPr>
          <p:cNvPr id="16" name="Text 14"/>
          <p:cNvSpPr/>
          <p:nvPr/>
        </p:nvSpPr>
        <p:spPr>
          <a:xfrm>
            <a:off x="6397600" y="3257824"/>
            <a:ext cx="2192960" cy="557784"/>
          </a:xfrm>
          <a:prstGeom prst="rect">
            <a:avLst/>
          </a:prstGeom>
          <a:noFill/>
          <a:ln/>
        </p:spPr>
        <p:txBody>
          <a:bodyPr wrap="square" lIns="0" tIns="0" rIns="0" bIns="0" rtlCol="0" anchor="t"/>
          <a:lstStyle/>
          <a:p>
            <a:pPr marL="0" indent="0">
              <a:lnSpc>
                <a:spcPct val="105000"/>
              </a:lnSpc>
              <a:buNone/>
            </a:pPr>
            <a:r>
              <a:rPr lang="en-US" sz="1050" dirty="0">
                <a:solidFill>
                  <a:srgbClr val="5F767A"/>
                </a:solidFill>
                <a:latin typeface="Calibri" pitchFamily="34" charset="0"/>
                <a:ea typeface="Calibri" pitchFamily="34" charset="-122"/>
                <a:cs typeface="Calibri" pitchFamily="34" charset="-120"/>
              </a:rPr>
              <a:t>provenance candidate recall across 5,746 dependency slots — but only 80.7% resolve uniquely</a:t>
            </a:r>
            <a:endParaRPr lang="en-US" sz="1050" dirty="0"/>
          </a:p>
        </p:txBody>
      </p:sp>
      <p:sp>
        <p:nvSpPr>
          <p:cNvPr id="17" name="Shape 15"/>
          <p:cNvSpPr/>
          <p:nvPr/>
        </p:nvSpPr>
        <p:spPr>
          <a:xfrm>
            <a:off x="9029471" y="2487168"/>
            <a:ext cx="2522144" cy="1481328"/>
          </a:xfrm>
          <a:prstGeom prst="roundRect">
            <a:avLst>
              <a:gd name="adj" fmla="val 308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8" name="Text 16"/>
          <p:cNvSpPr/>
          <p:nvPr/>
        </p:nvSpPr>
        <p:spPr>
          <a:xfrm>
            <a:off x="9194063" y="2633472"/>
            <a:ext cx="2192960" cy="651784"/>
          </a:xfrm>
          <a:prstGeom prst="rect">
            <a:avLst/>
          </a:prstGeom>
          <a:noFill/>
          <a:ln/>
        </p:spPr>
        <p:txBody>
          <a:bodyPr wrap="square" lIns="0" tIns="0" rIns="0" bIns="0" rtlCol="0" anchor="ctr"/>
          <a:lstStyle/>
          <a:p>
            <a:pPr marL="0" indent="0">
              <a:buNone/>
            </a:pPr>
            <a:r>
              <a:rPr lang="en-US" sz="2800" b="1" dirty="0">
                <a:solidFill>
                  <a:srgbClr val="AC4A2C"/>
                </a:solidFill>
                <a:latin typeface="Cambria" pitchFamily="34" charset="0"/>
                <a:ea typeface="Cambria" pitchFamily="34" charset="-122"/>
                <a:cs typeface="Cambria" pitchFamily="34" charset="-120"/>
              </a:rPr>
              <a:t>+123%</a:t>
            </a:r>
            <a:endParaRPr lang="en-US" sz="2800" dirty="0"/>
          </a:p>
        </p:txBody>
      </p:sp>
      <p:sp>
        <p:nvSpPr>
          <p:cNvPr id="19" name="Text 17"/>
          <p:cNvSpPr/>
          <p:nvPr/>
        </p:nvSpPr>
        <p:spPr>
          <a:xfrm>
            <a:off x="9194063" y="3257824"/>
            <a:ext cx="2192960" cy="557784"/>
          </a:xfrm>
          <a:prstGeom prst="rect">
            <a:avLst/>
          </a:prstGeom>
          <a:noFill/>
          <a:ln/>
        </p:spPr>
        <p:txBody>
          <a:bodyPr wrap="square" lIns="0" tIns="0" rIns="0" bIns="0" rtlCol="0" anchor="t"/>
          <a:lstStyle/>
          <a:p>
            <a:pPr marL="0" indent="0">
              <a:lnSpc>
                <a:spcPct val="105000"/>
              </a:lnSpc>
              <a:buNone/>
            </a:pPr>
            <a:r>
              <a:rPr lang="en-US" sz="1050" dirty="0">
                <a:solidFill>
                  <a:srgbClr val="5F767A"/>
                </a:solidFill>
                <a:latin typeface="Calibri" pitchFamily="34" charset="0"/>
                <a:ea typeface="Calibri" pitchFamily="34" charset="-122"/>
                <a:cs typeface="Calibri" pitchFamily="34" charset="-120"/>
              </a:rPr>
              <a:t>cost on a −16.8% token saving: prompt-cache economics, not token count, decides the invoice</a:t>
            </a:r>
            <a:endParaRPr lang="en-US" sz="1050" dirty="0"/>
          </a:p>
        </p:txBody>
      </p:sp>
      <p:sp>
        <p:nvSpPr>
          <p:cNvPr id="20" name="Text 18"/>
          <p:cNvSpPr/>
          <p:nvPr/>
        </p:nvSpPr>
        <p:spPr>
          <a:xfrm>
            <a:off x="640080" y="4261104"/>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WHAT LEADERSHIP SHOULD TAKE AWAY</a:t>
            </a:r>
            <a:endParaRPr lang="en-US" sz="1050" dirty="0"/>
          </a:p>
        </p:txBody>
      </p:sp>
      <p:sp>
        <p:nvSpPr>
          <p:cNvPr id="21" name="Text 19"/>
          <p:cNvSpPr/>
          <p:nvPr/>
        </p:nvSpPr>
        <p:spPr>
          <a:xfrm>
            <a:off x="640080" y="4553712"/>
            <a:ext cx="10911535" cy="160020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The efficiency win is real but narrow: it removes redundant model turns on a read-only prefix — it does not remove the tool calls that gather evidence.</a:t>
            </a:r>
            <a:endParaRPr lang="en-US" sz="1250" dirty="0"/>
          </a:p>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A hand-written composite tool matched or beat the learned compiler on most workloads. Compilation earns its complexity on branching or changing workflows, not on stable ones.</a:t>
            </a:r>
            <a:endParaRPr lang="en-US" sz="1250" dirty="0"/>
          </a:p>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The paper reports four negative results of its own: efficiency gains establish neither factual quality, nor superiority over hand-written code, nor portfolio superiority, nor admission safety.</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PROBLEM</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Four model calls for three decisions the trace already fixed</a:t>
            </a:r>
            <a:endParaRPr lang="en-US" sz="2600" dirty="0"/>
          </a:p>
        </p:txBody>
      </p:sp>
      <p:sp>
        <p:nvSpPr>
          <p:cNvPr id="6" name="Text 4"/>
          <p:cNvSpPr/>
          <p:nvPr/>
        </p:nvSpPr>
        <p:spPr>
          <a:xfrm>
            <a:off x="640080" y="1481328"/>
            <a:ext cx="5623560" cy="23774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00" dirty="0">
                <a:solidFill>
                  <a:srgbClr val="2A4247"/>
                </a:solidFill>
                <a:latin typeface="Calibri" pitchFamily="34" charset="0"/>
                <a:ea typeface="Calibri" pitchFamily="34" charset="-122"/>
                <a:cs typeface="Calibri" pitchFamily="34" charset="-120"/>
              </a:rPr>
              <a:t>The standard reason–act loop delegates every tool boundary to the model: model, tool, model, tool, and so on.</a:t>
            </a:r>
            <a:endParaRPr lang="en-US" sz="1300" dirty="0"/>
          </a:p>
          <a:p>
            <a:pPr marL="342900" indent="-342900">
              <a:lnSpc>
                <a:spcPct val="106000"/>
              </a:lnSpc>
              <a:spcAft>
                <a:spcPts val="700"/>
              </a:spcAft>
              <a:buSzPct val="100000"/>
              <a:buChar char="•"/>
            </a:pPr>
            <a:r>
              <a:rPr lang="en-US" sz="1300" dirty="0">
                <a:solidFill>
                  <a:srgbClr val="2A4247"/>
                </a:solidFill>
                <a:latin typeface="Calibri" pitchFamily="34" charset="0"/>
                <a:ea typeface="Calibri" pitchFamily="34" charset="-122"/>
                <a:cs typeface="Calibri" pitchFamily="34" charset="-120"/>
              </a:rPr>
              <a:t>That flexibility is valuable while a workflow is novel. At scale, mature agents revisit the same read-only evidence prefix with the same data dependencies.</a:t>
            </a:r>
            <a:endParaRPr lang="en-US" sz="1300" dirty="0"/>
          </a:p>
          <a:p>
            <a:pPr marL="342900" indent="-342900">
              <a:lnSpc>
                <a:spcPct val="106000"/>
              </a:lnSpc>
              <a:spcAft>
                <a:spcPts val="700"/>
              </a:spcAft>
              <a:buSzPct val="100000"/>
              <a:buChar char="•"/>
            </a:pPr>
            <a:r>
              <a:rPr lang="en-US" sz="1300" dirty="0">
                <a:solidFill>
                  <a:srgbClr val="2A4247"/>
                </a:solidFill>
                <a:latin typeface="Calibri" pitchFamily="34" charset="0"/>
                <a:ea typeface="Calibri" pitchFamily="34" charset="-122"/>
                <a:cs typeface="Calibri" pitchFamily="34" charset="-120"/>
              </a:rPr>
              <a:t>Repeating the model decision then consumes latency, tokens, and money without adding useful adaptation.</a:t>
            </a:r>
            <a:endParaRPr lang="en-US" sz="1300" dirty="0"/>
          </a:p>
        </p:txBody>
      </p:sp>
      <p:sp>
        <p:nvSpPr>
          <p:cNvPr id="7" name="Shape 5"/>
          <p:cNvSpPr/>
          <p:nvPr/>
        </p:nvSpPr>
        <p:spPr>
          <a:xfrm>
            <a:off x="640080" y="4041648"/>
            <a:ext cx="5623560" cy="960120"/>
          </a:xfrm>
          <a:prstGeom prst="roundRect">
            <a:avLst>
              <a:gd name="adj" fmla="val 4762"/>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8" name="Text 6"/>
          <p:cNvSpPr/>
          <p:nvPr/>
        </p:nvSpPr>
        <p:spPr>
          <a:xfrm>
            <a:off x="896112" y="4224528"/>
            <a:ext cx="5120640" cy="548640"/>
          </a:xfrm>
          <a:prstGeom prst="rect">
            <a:avLst/>
          </a:prstGeom>
          <a:noFill/>
          <a:ln/>
        </p:spPr>
        <p:txBody>
          <a:bodyPr wrap="square" lIns="0" tIns="0" rIns="0" bIns="0" rtlCol="0" anchor="ctr"/>
          <a:lstStyle/>
          <a:p>
            <a:pPr marL="0" indent="0">
              <a:buNone/>
            </a:pPr>
            <a:r>
              <a:rPr lang="en-US" sz="1450" b="1" dirty="0">
                <a:solidFill>
                  <a:srgbClr val="AC4A2C"/>
                </a:solidFill>
                <a:latin typeface="Cambria" pitchFamily="34" charset="0"/>
                <a:ea typeface="Cambria" pitchFamily="34" charset="-122"/>
                <a:cs typeface="Cambria" pitchFamily="34" charset="-120"/>
              </a:rPr>
              <a:t>“A fast wrong workflow is worse than a slow agent.”</a:t>
            </a:r>
            <a:endParaRPr lang="en-US" sz="1450" dirty="0"/>
          </a:p>
        </p:txBody>
      </p:sp>
      <p:sp>
        <p:nvSpPr>
          <p:cNvPr id="9" name="Shape 7"/>
          <p:cNvSpPr/>
          <p:nvPr/>
        </p:nvSpPr>
        <p:spPr>
          <a:xfrm>
            <a:off x="6720840" y="1481328"/>
            <a:ext cx="4828032" cy="3520440"/>
          </a:xfrm>
          <a:prstGeom prst="roundRect">
            <a:avLst>
              <a:gd name="adj" fmla="val 1299"/>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0" name="Text 8"/>
          <p:cNvSpPr/>
          <p:nvPr/>
        </p:nvSpPr>
        <p:spPr>
          <a:xfrm>
            <a:off x="6995160" y="1664208"/>
            <a:ext cx="4279392" cy="219456"/>
          </a:xfrm>
          <a:prstGeom prst="rect">
            <a:avLst/>
          </a:prstGeom>
          <a:noFill/>
          <a:ln/>
        </p:spPr>
        <p:txBody>
          <a:bodyPr wrap="square" lIns="0" tIns="0" rIns="0" bIns="0" rtlCol="0" anchor="ctr"/>
          <a:lstStyle/>
          <a:p>
            <a:pPr marL="0" indent="0">
              <a:buNone/>
            </a:pPr>
            <a:r>
              <a:rPr lang="en-US" sz="950" b="1" kern="0" spc="120" dirty="0">
                <a:solidFill>
                  <a:srgbClr val="17798A"/>
                </a:solidFill>
                <a:latin typeface="Calibri" pitchFamily="34" charset="0"/>
                <a:ea typeface="Calibri" pitchFamily="34" charset="-122"/>
                <a:cs typeface="Calibri" pitchFamily="34" charset="-120"/>
              </a:rPr>
              <a:t>MEASURED BASELINE — ONE GITHUB TRIAGE EPISODE</a:t>
            </a:r>
            <a:endParaRPr lang="en-US" sz="950" dirty="0"/>
          </a:p>
        </p:txBody>
      </p:sp>
      <p:sp>
        <p:nvSpPr>
          <p:cNvPr id="11" name="Shape 9"/>
          <p:cNvSpPr/>
          <p:nvPr/>
        </p:nvSpPr>
        <p:spPr>
          <a:xfrm>
            <a:off x="7013448" y="2066544"/>
            <a:ext cx="237744" cy="237744"/>
          </a:xfrm>
          <a:prstGeom prst="ellipse">
            <a:avLst/>
          </a:prstGeom>
          <a:solidFill>
            <a:srgbClr val="AC4A2C"/>
          </a:solidFill>
          <a:ln w="6350">
            <a:solidFill>
              <a:srgbClr val="AC4A2C"/>
            </a:solidFill>
            <a:prstDash val="solid"/>
          </a:ln>
        </p:spPr>
        <p:txBody>
          <a:bodyPr/>
          <a:lstStyle/>
          <a:p>
            <a:endParaRPr lang="en-US"/>
          </a:p>
        </p:txBody>
      </p:sp>
      <p:sp>
        <p:nvSpPr>
          <p:cNvPr id="12" name="Text 10"/>
          <p:cNvSpPr/>
          <p:nvPr/>
        </p:nvSpPr>
        <p:spPr>
          <a:xfrm>
            <a:off x="7013448" y="206654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t>
            </a:r>
            <a:endParaRPr lang="en-US" sz="950" dirty="0"/>
          </a:p>
        </p:txBody>
      </p:sp>
      <p:sp>
        <p:nvSpPr>
          <p:cNvPr id="13" name="Text 11"/>
          <p:cNvSpPr/>
          <p:nvPr/>
        </p:nvSpPr>
        <p:spPr>
          <a:xfrm>
            <a:off x="7342632" y="2048256"/>
            <a:ext cx="1554480" cy="274320"/>
          </a:xfrm>
          <a:prstGeom prst="rect">
            <a:avLst/>
          </a:prstGeom>
          <a:noFill/>
          <a:ln/>
        </p:spPr>
        <p:txBody>
          <a:bodyPr wrap="square" lIns="0" tIns="0" rIns="0" bIns="0" rtlCol="0" anchor="ctr"/>
          <a:lstStyle/>
          <a:p>
            <a:pPr marL="0" indent="0">
              <a:buNone/>
            </a:pPr>
            <a:r>
              <a:rPr lang="en-US" sz="1150" b="1" dirty="0">
                <a:solidFill>
                  <a:srgbClr val="AC4A2C"/>
                </a:solidFill>
                <a:latin typeface="Calibri" pitchFamily="34" charset="0"/>
                <a:ea typeface="Calibri" pitchFamily="34" charset="-122"/>
                <a:cs typeface="Calibri" pitchFamily="34" charset="-120"/>
              </a:rPr>
              <a:t>model request</a:t>
            </a:r>
            <a:endParaRPr lang="en-US" sz="1150" dirty="0"/>
          </a:p>
        </p:txBody>
      </p:sp>
      <p:sp>
        <p:nvSpPr>
          <p:cNvPr id="14" name="Text 12"/>
          <p:cNvSpPr/>
          <p:nvPr/>
        </p:nvSpPr>
        <p:spPr>
          <a:xfrm>
            <a:off x="8860536" y="2048256"/>
            <a:ext cx="2377440" cy="274320"/>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select tool</a:t>
            </a:r>
            <a:endParaRPr lang="en-US" sz="1100" dirty="0"/>
          </a:p>
        </p:txBody>
      </p:sp>
      <p:sp>
        <p:nvSpPr>
          <p:cNvPr id="15" name="Shape 13"/>
          <p:cNvSpPr/>
          <p:nvPr/>
        </p:nvSpPr>
        <p:spPr>
          <a:xfrm>
            <a:off x="7013448" y="2432304"/>
            <a:ext cx="237744" cy="237744"/>
          </a:xfrm>
          <a:prstGeom prst="ellipse">
            <a:avLst/>
          </a:prstGeom>
          <a:solidFill>
            <a:srgbClr val="17798A"/>
          </a:solidFill>
          <a:ln w="6350">
            <a:solidFill>
              <a:srgbClr val="17798A"/>
            </a:solidFill>
            <a:prstDash val="solid"/>
          </a:ln>
        </p:spPr>
        <p:txBody>
          <a:bodyPr/>
          <a:lstStyle/>
          <a:p>
            <a:endParaRPr lang="en-US"/>
          </a:p>
        </p:txBody>
      </p:sp>
      <p:sp>
        <p:nvSpPr>
          <p:cNvPr id="16" name="Text 14"/>
          <p:cNvSpPr/>
          <p:nvPr/>
        </p:nvSpPr>
        <p:spPr>
          <a:xfrm>
            <a:off x="7013448" y="243230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a:t>
            </a:r>
            <a:endParaRPr lang="en-US" sz="950" dirty="0"/>
          </a:p>
        </p:txBody>
      </p:sp>
      <p:sp>
        <p:nvSpPr>
          <p:cNvPr id="17" name="Text 15"/>
          <p:cNvSpPr/>
          <p:nvPr/>
        </p:nvSpPr>
        <p:spPr>
          <a:xfrm>
            <a:off x="7342632" y="2414016"/>
            <a:ext cx="1554480" cy="274320"/>
          </a:xfrm>
          <a:prstGeom prst="rect">
            <a:avLst/>
          </a:prstGeom>
          <a:noFill/>
          <a:ln/>
        </p:spPr>
        <p:txBody>
          <a:bodyPr wrap="square" lIns="0" tIns="0" rIns="0" bIns="0" rtlCol="0" anchor="ctr"/>
          <a:lstStyle/>
          <a:p>
            <a:pPr marL="0" indent="0">
              <a:buNone/>
            </a:pPr>
            <a:r>
              <a:rPr lang="en-US" sz="1150" dirty="0">
                <a:solidFill>
                  <a:srgbClr val="0D4A54"/>
                </a:solidFill>
                <a:latin typeface="Calibri" pitchFamily="34" charset="0"/>
                <a:ea typeface="Calibri" pitchFamily="34" charset="-122"/>
                <a:cs typeface="Calibri" pitchFamily="34" charset="-120"/>
              </a:rPr>
              <a:t>tool call</a:t>
            </a:r>
            <a:endParaRPr lang="en-US" sz="1150" dirty="0"/>
          </a:p>
        </p:txBody>
      </p:sp>
      <p:sp>
        <p:nvSpPr>
          <p:cNvPr id="18" name="Text 16"/>
          <p:cNvSpPr/>
          <p:nvPr/>
        </p:nvSpPr>
        <p:spPr>
          <a:xfrm>
            <a:off x="8860536" y="2414016"/>
            <a:ext cx="2377440" cy="274320"/>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read issue record</a:t>
            </a:r>
            <a:endParaRPr lang="en-US" sz="1100" dirty="0"/>
          </a:p>
        </p:txBody>
      </p:sp>
      <p:sp>
        <p:nvSpPr>
          <p:cNvPr id="19" name="Shape 17"/>
          <p:cNvSpPr/>
          <p:nvPr/>
        </p:nvSpPr>
        <p:spPr>
          <a:xfrm>
            <a:off x="7013448" y="2798064"/>
            <a:ext cx="237744" cy="237744"/>
          </a:xfrm>
          <a:prstGeom prst="ellipse">
            <a:avLst/>
          </a:prstGeom>
          <a:solidFill>
            <a:srgbClr val="AC4A2C"/>
          </a:solidFill>
          <a:ln w="6350">
            <a:solidFill>
              <a:srgbClr val="AC4A2C"/>
            </a:solidFill>
            <a:prstDash val="solid"/>
          </a:ln>
        </p:spPr>
        <p:txBody>
          <a:bodyPr/>
          <a:lstStyle/>
          <a:p>
            <a:endParaRPr lang="en-US"/>
          </a:p>
        </p:txBody>
      </p:sp>
      <p:sp>
        <p:nvSpPr>
          <p:cNvPr id="20" name="Text 18"/>
          <p:cNvSpPr/>
          <p:nvPr/>
        </p:nvSpPr>
        <p:spPr>
          <a:xfrm>
            <a:off x="7013448" y="279806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t>
            </a:r>
            <a:endParaRPr lang="en-US" sz="950" dirty="0"/>
          </a:p>
        </p:txBody>
      </p:sp>
      <p:sp>
        <p:nvSpPr>
          <p:cNvPr id="21" name="Text 19"/>
          <p:cNvSpPr/>
          <p:nvPr/>
        </p:nvSpPr>
        <p:spPr>
          <a:xfrm>
            <a:off x="7342632" y="2779776"/>
            <a:ext cx="1554480" cy="274320"/>
          </a:xfrm>
          <a:prstGeom prst="rect">
            <a:avLst/>
          </a:prstGeom>
          <a:noFill/>
          <a:ln/>
        </p:spPr>
        <p:txBody>
          <a:bodyPr wrap="square" lIns="0" tIns="0" rIns="0" bIns="0" rtlCol="0" anchor="ctr"/>
          <a:lstStyle/>
          <a:p>
            <a:pPr marL="0" indent="0">
              <a:buNone/>
            </a:pPr>
            <a:r>
              <a:rPr lang="en-US" sz="1150" b="1" dirty="0">
                <a:solidFill>
                  <a:srgbClr val="AC4A2C"/>
                </a:solidFill>
                <a:latin typeface="Calibri" pitchFamily="34" charset="0"/>
                <a:ea typeface="Calibri" pitchFamily="34" charset="-122"/>
                <a:cs typeface="Calibri" pitchFamily="34" charset="-120"/>
              </a:rPr>
              <a:t>model request</a:t>
            </a:r>
            <a:endParaRPr lang="en-US" sz="1150" dirty="0"/>
          </a:p>
        </p:txBody>
      </p:sp>
      <p:sp>
        <p:nvSpPr>
          <p:cNvPr id="22" name="Text 20"/>
          <p:cNvSpPr/>
          <p:nvPr/>
        </p:nvSpPr>
        <p:spPr>
          <a:xfrm>
            <a:off x="8860536" y="2779776"/>
            <a:ext cx="2377440" cy="274320"/>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select tool</a:t>
            </a:r>
            <a:endParaRPr lang="en-US" sz="1100" dirty="0"/>
          </a:p>
        </p:txBody>
      </p:sp>
      <p:sp>
        <p:nvSpPr>
          <p:cNvPr id="23" name="Shape 21"/>
          <p:cNvSpPr/>
          <p:nvPr/>
        </p:nvSpPr>
        <p:spPr>
          <a:xfrm>
            <a:off x="7013448" y="3163824"/>
            <a:ext cx="237744" cy="237744"/>
          </a:xfrm>
          <a:prstGeom prst="ellipse">
            <a:avLst/>
          </a:prstGeom>
          <a:solidFill>
            <a:srgbClr val="17798A"/>
          </a:solidFill>
          <a:ln w="6350">
            <a:solidFill>
              <a:srgbClr val="17798A"/>
            </a:solidFill>
            <a:prstDash val="solid"/>
          </a:ln>
        </p:spPr>
        <p:txBody>
          <a:bodyPr/>
          <a:lstStyle/>
          <a:p>
            <a:endParaRPr lang="en-US"/>
          </a:p>
        </p:txBody>
      </p:sp>
      <p:sp>
        <p:nvSpPr>
          <p:cNvPr id="24" name="Text 22"/>
          <p:cNvSpPr/>
          <p:nvPr/>
        </p:nvSpPr>
        <p:spPr>
          <a:xfrm>
            <a:off x="7013448" y="316382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a:t>
            </a:r>
            <a:endParaRPr lang="en-US" sz="950" dirty="0"/>
          </a:p>
        </p:txBody>
      </p:sp>
      <p:sp>
        <p:nvSpPr>
          <p:cNvPr id="25" name="Text 23"/>
          <p:cNvSpPr/>
          <p:nvPr/>
        </p:nvSpPr>
        <p:spPr>
          <a:xfrm>
            <a:off x="7342632" y="3145536"/>
            <a:ext cx="1554480" cy="274320"/>
          </a:xfrm>
          <a:prstGeom prst="rect">
            <a:avLst/>
          </a:prstGeom>
          <a:noFill/>
          <a:ln/>
        </p:spPr>
        <p:txBody>
          <a:bodyPr wrap="square" lIns="0" tIns="0" rIns="0" bIns="0" rtlCol="0" anchor="ctr"/>
          <a:lstStyle/>
          <a:p>
            <a:pPr marL="0" indent="0">
              <a:buNone/>
            </a:pPr>
            <a:r>
              <a:rPr lang="en-US" sz="1150" dirty="0">
                <a:solidFill>
                  <a:srgbClr val="0D4A54"/>
                </a:solidFill>
                <a:latin typeface="Calibri" pitchFamily="34" charset="0"/>
                <a:ea typeface="Calibri" pitchFamily="34" charset="-122"/>
                <a:cs typeface="Calibri" pitchFamily="34" charset="-120"/>
              </a:rPr>
              <a:t>tool call</a:t>
            </a:r>
            <a:endParaRPr lang="en-US" sz="1150" dirty="0"/>
          </a:p>
        </p:txBody>
      </p:sp>
      <p:sp>
        <p:nvSpPr>
          <p:cNvPr id="26" name="Text 24"/>
          <p:cNvSpPr/>
          <p:nvPr/>
        </p:nvSpPr>
        <p:spPr>
          <a:xfrm>
            <a:off x="8860536" y="3145536"/>
            <a:ext cx="2377440" cy="274320"/>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read labels</a:t>
            </a:r>
            <a:endParaRPr lang="en-US" sz="1100" dirty="0"/>
          </a:p>
        </p:txBody>
      </p:sp>
      <p:sp>
        <p:nvSpPr>
          <p:cNvPr id="27" name="Shape 25"/>
          <p:cNvSpPr/>
          <p:nvPr/>
        </p:nvSpPr>
        <p:spPr>
          <a:xfrm>
            <a:off x="7013448" y="3529584"/>
            <a:ext cx="237744" cy="237744"/>
          </a:xfrm>
          <a:prstGeom prst="ellipse">
            <a:avLst/>
          </a:prstGeom>
          <a:solidFill>
            <a:srgbClr val="AC4A2C"/>
          </a:solidFill>
          <a:ln w="6350">
            <a:solidFill>
              <a:srgbClr val="AC4A2C"/>
            </a:solidFill>
            <a:prstDash val="solid"/>
          </a:ln>
        </p:spPr>
        <p:txBody>
          <a:bodyPr/>
          <a:lstStyle/>
          <a:p>
            <a:endParaRPr lang="en-US"/>
          </a:p>
        </p:txBody>
      </p:sp>
      <p:sp>
        <p:nvSpPr>
          <p:cNvPr id="28" name="Text 26"/>
          <p:cNvSpPr/>
          <p:nvPr/>
        </p:nvSpPr>
        <p:spPr>
          <a:xfrm>
            <a:off x="7013448" y="352958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t>
            </a:r>
            <a:endParaRPr lang="en-US" sz="950" dirty="0"/>
          </a:p>
        </p:txBody>
      </p:sp>
      <p:sp>
        <p:nvSpPr>
          <p:cNvPr id="29" name="Text 27"/>
          <p:cNvSpPr/>
          <p:nvPr/>
        </p:nvSpPr>
        <p:spPr>
          <a:xfrm>
            <a:off x="7342632" y="3511296"/>
            <a:ext cx="1554480" cy="274320"/>
          </a:xfrm>
          <a:prstGeom prst="rect">
            <a:avLst/>
          </a:prstGeom>
          <a:noFill/>
          <a:ln/>
        </p:spPr>
        <p:txBody>
          <a:bodyPr wrap="square" lIns="0" tIns="0" rIns="0" bIns="0" rtlCol="0" anchor="ctr"/>
          <a:lstStyle/>
          <a:p>
            <a:pPr marL="0" indent="0">
              <a:buNone/>
            </a:pPr>
            <a:r>
              <a:rPr lang="en-US" sz="1150" b="1" dirty="0">
                <a:solidFill>
                  <a:srgbClr val="AC4A2C"/>
                </a:solidFill>
                <a:latin typeface="Calibri" pitchFamily="34" charset="0"/>
                <a:ea typeface="Calibri" pitchFamily="34" charset="-122"/>
                <a:cs typeface="Calibri" pitchFamily="34" charset="-120"/>
              </a:rPr>
              <a:t>model request</a:t>
            </a:r>
            <a:endParaRPr lang="en-US" sz="1150" dirty="0"/>
          </a:p>
        </p:txBody>
      </p:sp>
      <p:sp>
        <p:nvSpPr>
          <p:cNvPr id="30" name="Text 28"/>
          <p:cNvSpPr/>
          <p:nvPr/>
        </p:nvSpPr>
        <p:spPr>
          <a:xfrm>
            <a:off x="8860536" y="3511296"/>
            <a:ext cx="2377440" cy="274320"/>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select tool</a:t>
            </a:r>
            <a:endParaRPr lang="en-US" sz="1100" dirty="0"/>
          </a:p>
        </p:txBody>
      </p:sp>
      <p:sp>
        <p:nvSpPr>
          <p:cNvPr id="31" name="Shape 29"/>
          <p:cNvSpPr/>
          <p:nvPr/>
        </p:nvSpPr>
        <p:spPr>
          <a:xfrm>
            <a:off x="7013448" y="3895344"/>
            <a:ext cx="237744" cy="237744"/>
          </a:xfrm>
          <a:prstGeom prst="ellipse">
            <a:avLst/>
          </a:prstGeom>
          <a:solidFill>
            <a:srgbClr val="17798A"/>
          </a:solidFill>
          <a:ln w="6350">
            <a:solidFill>
              <a:srgbClr val="17798A"/>
            </a:solidFill>
            <a:prstDash val="solid"/>
          </a:ln>
        </p:spPr>
        <p:txBody>
          <a:bodyPr/>
          <a:lstStyle/>
          <a:p>
            <a:endParaRPr lang="en-US"/>
          </a:p>
        </p:txBody>
      </p:sp>
      <p:sp>
        <p:nvSpPr>
          <p:cNvPr id="32" name="Text 30"/>
          <p:cNvSpPr/>
          <p:nvPr/>
        </p:nvSpPr>
        <p:spPr>
          <a:xfrm>
            <a:off x="7013448" y="389534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a:t>
            </a:r>
            <a:endParaRPr lang="en-US" sz="950" dirty="0"/>
          </a:p>
        </p:txBody>
      </p:sp>
      <p:sp>
        <p:nvSpPr>
          <p:cNvPr id="33" name="Text 31"/>
          <p:cNvSpPr/>
          <p:nvPr/>
        </p:nvSpPr>
        <p:spPr>
          <a:xfrm>
            <a:off x="7342632" y="3877056"/>
            <a:ext cx="1554480" cy="274320"/>
          </a:xfrm>
          <a:prstGeom prst="rect">
            <a:avLst/>
          </a:prstGeom>
          <a:noFill/>
          <a:ln/>
        </p:spPr>
        <p:txBody>
          <a:bodyPr wrap="square" lIns="0" tIns="0" rIns="0" bIns="0" rtlCol="0" anchor="ctr"/>
          <a:lstStyle/>
          <a:p>
            <a:pPr marL="0" indent="0">
              <a:buNone/>
            </a:pPr>
            <a:r>
              <a:rPr lang="en-US" sz="1150" dirty="0">
                <a:solidFill>
                  <a:srgbClr val="0D4A54"/>
                </a:solidFill>
                <a:latin typeface="Calibri" pitchFamily="34" charset="0"/>
                <a:ea typeface="Calibri" pitchFamily="34" charset="-122"/>
                <a:cs typeface="Calibri" pitchFamily="34" charset="-120"/>
              </a:rPr>
              <a:t>tool call</a:t>
            </a:r>
            <a:endParaRPr lang="en-US" sz="1150" dirty="0"/>
          </a:p>
        </p:txBody>
      </p:sp>
      <p:sp>
        <p:nvSpPr>
          <p:cNvPr id="34" name="Text 32"/>
          <p:cNvSpPr/>
          <p:nvPr/>
        </p:nvSpPr>
        <p:spPr>
          <a:xfrm>
            <a:off x="8860536" y="3877056"/>
            <a:ext cx="2377440" cy="274320"/>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read 3 comments</a:t>
            </a:r>
            <a:endParaRPr lang="en-US" sz="1100" dirty="0"/>
          </a:p>
        </p:txBody>
      </p:sp>
      <p:sp>
        <p:nvSpPr>
          <p:cNvPr id="35" name="Shape 33"/>
          <p:cNvSpPr/>
          <p:nvPr/>
        </p:nvSpPr>
        <p:spPr>
          <a:xfrm>
            <a:off x="7013448" y="4261104"/>
            <a:ext cx="237744" cy="237744"/>
          </a:xfrm>
          <a:prstGeom prst="ellipse">
            <a:avLst/>
          </a:prstGeom>
          <a:solidFill>
            <a:srgbClr val="AC4A2C"/>
          </a:solidFill>
          <a:ln w="6350">
            <a:solidFill>
              <a:srgbClr val="AC4A2C"/>
            </a:solidFill>
            <a:prstDash val="solid"/>
          </a:ln>
        </p:spPr>
        <p:txBody>
          <a:bodyPr/>
          <a:lstStyle/>
          <a:p>
            <a:endParaRPr lang="en-US"/>
          </a:p>
        </p:txBody>
      </p:sp>
      <p:sp>
        <p:nvSpPr>
          <p:cNvPr id="36" name="Text 34"/>
          <p:cNvSpPr/>
          <p:nvPr/>
        </p:nvSpPr>
        <p:spPr>
          <a:xfrm>
            <a:off x="7013448" y="4261104"/>
            <a:ext cx="237744" cy="23774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t>
            </a:r>
            <a:endParaRPr lang="en-US" sz="950" dirty="0"/>
          </a:p>
        </p:txBody>
      </p:sp>
      <p:sp>
        <p:nvSpPr>
          <p:cNvPr id="37" name="Text 35"/>
          <p:cNvSpPr/>
          <p:nvPr/>
        </p:nvSpPr>
        <p:spPr>
          <a:xfrm>
            <a:off x="7342632" y="4242816"/>
            <a:ext cx="1554480" cy="274320"/>
          </a:xfrm>
          <a:prstGeom prst="rect">
            <a:avLst/>
          </a:prstGeom>
          <a:noFill/>
          <a:ln/>
        </p:spPr>
        <p:txBody>
          <a:bodyPr wrap="square" lIns="0" tIns="0" rIns="0" bIns="0" rtlCol="0" anchor="ctr"/>
          <a:lstStyle/>
          <a:p>
            <a:pPr marL="0" indent="0">
              <a:buNone/>
            </a:pPr>
            <a:r>
              <a:rPr lang="en-US" sz="1150" b="1" dirty="0">
                <a:solidFill>
                  <a:srgbClr val="AC4A2C"/>
                </a:solidFill>
                <a:latin typeface="Calibri" pitchFamily="34" charset="0"/>
                <a:ea typeface="Calibri" pitchFamily="34" charset="-122"/>
                <a:cs typeface="Calibri" pitchFamily="34" charset="-120"/>
              </a:rPr>
              <a:t>model request</a:t>
            </a:r>
            <a:endParaRPr lang="en-US" sz="1150" dirty="0"/>
          </a:p>
        </p:txBody>
      </p:sp>
      <p:sp>
        <p:nvSpPr>
          <p:cNvPr id="38" name="Text 36"/>
          <p:cNvSpPr/>
          <p:nvPr/>
        </p:nvSpPr>
        <p:spPr>
          <a:xfrm>
            <a:off x="8860536" y="4242816"/>
            <a:ext cx="2377440" cy="274320"/>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render answer</a:t>
            </a:r>
            <a:endParaRPr lang="en-US" sz="1100" dirty="0"/>
          </a:p>
        </p:txBody>
      </p:sp>
      <p:sp>
        <p:nvSpPr>
          <p:cNvPr id="39" name="Shape 37"/>
          <p:cNvSpPr/>
          <p:nvPr/>
        </p:nvSpPr>
        <p:spPr>
          <a:xfrm>
            <a:off x="7013448" y="4590288"/>
            <a:ext cx="4242816" cy="0"/>
          </a:xfrm>
          <a:prstGeom prst="line">
            <a:avLst/>
          </a:prstGeom>
          <a:noFill/>
          <a:ln w="12700">
            <a:solidFill>
              <a:srgbClr val="DCE8EA"/>
            </a:solidFill>
            <a:prstDash val="solid"/>
          </a:ln>
        </p:spPr>
        <p:txBody>
          <a:bodyPr/>
          <a:lstStyle/>
          <a:p>
            <a:endParaRPr lang="en-US"/>
          </a:p>
        </p:txBody>
      </p:sp>
      <p:sp>
        <p:nvSpPr>
          <p:cNvPr id="40" name="Text 38"/>
          <p:cNvSpPr/>
          <p:nvPr/>
        </p:nvSpPr>
        <p:spPr>
          <a:xfrm>
            <a:off x="7013448" y="4681728"/>
            <a:ext cx="4242816" cy="274320"/>
          </a:xfrm>
          <a:prstGeom prst="rect">
            <a:avLst/>
          </a:prstGeom>
          <a:noFill/>
          <a:ln/>
        </p:spPr>
        <p:txBody>
          <a:bodyPr wrap="square" lIns="0" tIns="0" rIns="0" bIns="0" rtlCol="0" anchor="t"/>
          <a:lstStyle/>
          <a:p>
            <a:pPr marL="0" indent="0">
              <a:buNone/>
            </a:pPr>
            <a:r>
              <a:rPr lang="en-US" sz="1150" b="1" dirty="0">
                <a:solidFill>
                  <a:srgbClr val="0D4A54"/>
                </a:solidFill>
                <a:latin typeface="Calibri" pitchFamily="34" charset="0"/>
                <a:ea typeface="Calibri" pitchFamily="34" charset="-122"/>
                <a:cs typeface="Calibri" pitchFamily="34" charset="-120"/>
              </a:rPr>
              <a:t>4 provider responses  ·  3 read-only tool calls</a:t>
            </a:r>
            <a:endParaRPr lang="en-US" sz="1150" dirty="0"/>
          </a:p>
        </p:txBody>
      </p:sp>
      <p:sp>
        <p:nvSpPr>
          <p:cNvPr id="41" name="Text 39"/>
          <p:cNvSpPr/>
          <p:nvPr/>
        </p:nvSpPr>
        <p:spPr>
          <a:xfrm>
            <a:off x="640080" y="5257800"/>
            <a:ext cx="2651760" cy="365760"/>
          </a:xfrm>
          <a:prstGeom prst="rect">
            <a:avLst/>
          </a:prstGeom>
          <a:noFill/>
          <a:ln/>
        </p:spPr>
        <p:txBody>
          <a:bodyPr wrap="square" lIns="0" tIns="0" rIns="0" bIns="0" rtlCol="0" anchor="ctr"/>
          <a:lstStyle/>
          <a:p>
            <a:pPr marL="0" indent="0">
              <a:buNone/>
            </a:pPr>
            <a:r>
              <a:rPr lang="en-US" sz="2100" b="1" dirty="0">
                <a:solidFill>
                  <a:srgbClr val="0D4A54"/>
                </a:solidFill>
                <a:latin typeface="Cambria" pitchFamily="34" charset="0"/>
                <a:ea typeface="Cambria" pitchFamily="34" charset="-122"/>
                <a:cs typeface="Cambria" pitchFamily="34" charset="-120"/>
              </a:rPr>
              <a:t>4.0</a:t>
            </a:r>
            <a:endParaRPr lang="en-US" sz="2100" dirty="0"/>
          </a:p>
        </p:txBody>
      </p:sp>
      <p:sp>
        <p:nvSpPr>
          <p:cNvPr id="42" name="Text 40"/>
          <p:cNvSpPr/>
          <p:nvPr/>
        </p:nvSpPr>
        <p:spPr>
          <a:xfrm>
            <a:off x="640080" y="5650992"/>
            <a:ext cx="2651760" cy="274320"/>
          </a:xfrm>
          <a:prstGeom prst="rect">
            <a:avLst/>
          </a:prstGeom>
          <a:noFill/>
          <a:ln/>
        </p:spPr>
        <p:txBody>
          <a:bodyPr wrap="square" lIns="0" tIns="0" rIns="0" bIns="0" rtlCol="0" anchor="ctr"/>
          <a:lstStyle/>
          <a:p>
            <a:pPr marL="0" indent="0">
              <a:buNone/>
            </a:pPr>
            <a:r>
              <a:rPr lang="en-US" sz="1050" dirty="0">
                <a:solidFill>
                  <a:srgbClr val="5F767A"/>
                </a:solidFill>
                <a:latin typeface="Calibri" pitchFamily="34" charset="0"/>
                <a:ea typeface="Calibri" pitchFamily="34" charset="-122"/>
                <a:cs typeface="Calibri" pitchFamily="34" charset="-120"/>
              </a:rPr>
              <a:t>requests</a:t>
            </a:r>
            <a:endParaRPr lang="en-US" sz="1050" dirty="0"/>
          </a:p>
        </p:txBody>
      </p:sp>
      <p:sp>
        <p:nvSpPr>
          <p:cNvPr id="43" name="Text 41"/>
          <p:cNvSpPr/>
          <p:nvPr/>
        </p:nvSpPr>
        <p:spPr>
          <a:xfrm>
            <a:off x="3367964" y="5257800"/>
            <a:ext cx="2651760" cy="365760"/>
          </a:xfrm>
          <a:prstGeom prst="rect">
            <a:avLst/>
          </a:prstGeom>
          <a:noFill/>
          <a:ln/>
        </p:spPr>
        <p:txBody>
          <a:bodyPr wrap="square" lIns="0" tIns="0" rIns="0" bIns="0" rtlCol="0" anchor="ctr"/>
          <a:lstStyle/>
          <a:p>
            <a:pPr marL="0" indent="0">
              <a:buNone/>
            </a:pPr>
            <a:r>
              <a:rPr lang="en-US" sz="2100" b="1" dirty="0">
                <a:solidFill>
                  <a:srgbClr val="0D4A54"/>
                </a:solidFill>
                <a:latin typeface="Cambria" pitchFamily="34" charset="0"/>
                <a:ea typeface="Cambria" pitchFamily="34" charset="-122"/>
                <a:cs typeface="Cambria" pitchFamily="34" charset="-120"/>
              </a:rPr>
              <a:t>4,259</a:t>
            </a:r>
            <a:endParaRPr lang="en-US" sz="2100" dirty="0"/>
          </a:p>
        </p:txBody>
      </p:sp>
      <p:sp>
        <p:nvSpPr>
          <p:cNvPr id="44" name="Text 42"/>
          <p:cNvSpPr/>
          <p:nvPr/>
        </p:nvSpPr>
        <p:spPr>
          <a:xfrm>
            <a:off x="3367964" y="5650992"/>
            <a:ext cx="2651760" cy="274320"/>
          </a:xfrm>
          <a:prstGeom prst="rect">
            <a:avLst/>
          </a:prstGeom>
          <a:noFill/>
          <a:ln/>
        </p:spPr>
        <p:txBody>
          <a:bodyPr wrap="square" lIns="0" tIns="0" rIns="0" bIns="0" rtlCol="0" anchor="ctr"/>
          <a:lstStyle/>
          <a:p>
            <a:pPr marL="0" indent="0">
              <a:buNone/>
            </a:pPr>
            <a:r>
              <a:rPr lang="en-US" sz="1050" dirty="0">
                <a:solidFill>
                  <a:srgbClr val="5F767A"/>
                </a:solidFill>
                <a:latin typeface="Calibri" pitchFamily="34" charset="0"/>
                <a:ea typeface="Calibri" pitchFamily="34" charset="-122"/>
                <a:cs typeface="Calibri" pitchFamily="34" charset="-120"/>
              </a:rPr>
              <a:t>tokens</a:t>
            </a:r>
            <a:endParaRPr lang="en-US" sz="1050" dirty="0"/>
          </a:p>
        </p:txBody>
      </p:sp>
      <p:sp>
        <p:nvSpPr>
          <p:cNvPr id="45" name="Text 43"/>
          <p:cNvSpPr/>
          <p:nvPr/>
        </p:nvSpPr>
        <p:spPr>
          <a:xfrm>
            <a:off x="6095848" y="5257800"/>
            <a:ext cx="2651760" cy="365760"/>
          </a:xfrm>
          <a:prstGeom prst="rect">
            <a:avLst/>
          </a:prstGeom>
          <a:noFill/>
          <a:ln/>
        </p:spPr>
        <p:txBody>
          <a:bodyPr wrap="square" lIns="0" tIns="0" rIns="0" bIns="0" rtlCol="0" anchor="ctr"/>
          <a:lstStyle/>
          <a:p>
            <a:pPr marL="0" indent="0">
              <a:buNone/>
            </a:pPr>
            <a:r>
              <a:rPr lang="en-US" sz="2100" b="1" dirty="0">
                <a:solidFill>
                  <a:srgbClr val="0D4A54"/>
                </a:solidFill>
                <a:latin typeface="Cambria" pitchFamily="34" charset="0"/>
                <a:ea typeface="Cambria" pitchFamily="34" charset="-122"/>
                <a:cs typeface="Cambria" pitchFamily="34" charset="-120"/>
              </a:rPr>
              <a:t>6.16 s</a:t>
            </a:r>
            <a:endParaRPr lang="en-US" sz="2100" dirty="0"/>
          </a:p>
        </p:txBody>
      </p:sp>
      <p:sp>
        <p:nvSpPr>
          <p:cNvPr id="46" name="Text 44"/>
          <p:cNvSpPr/>
          <p:nvPr/>
        </p:nvSpPr>
        <p:spPr>
          <a:xfrm>
            <a:off x="6095848" y="5650992"/>
            <a:ext cx="2651760" cy="274320"/>
          </a:xfrm>
          <a:prstGeom prst="rect">
            <a:avLst/>
          </a:prstGeom>
          <a:noFill/>
          <a:ln/>
        </p:spPr>
        <p:txBody>
          <a:bodyPr wrap="square" lIns="0" tIns="0" rIns="0" bIns="0" rtlCol="0" anchor="ctr"/>
          <a:lstStyle/>
          <a:p>
            <a:pPr marL="0" indent="0">
              <a:buNone/>
            </a:pPr>
            <a:r>
              <a:rPr lang="en-US" sz="1050" dirty="0">
                <a:solidFill>
                  <a:srgbClr val="5F767A"/>
                </a:solidFill>
                <a:latin typeface="Calibri" pitchFamily="34" charset="0"/>
                <a:ea typeface="Calibri" pitchFamily="34" charset="-122"/>
                <a:cs typeface="Calibri" pitchFamily="34" charset="-120"/>
              </a:rPr>
              <a:t>wall time</a:t>
            </a:r>
            <a:endParaRPr lang="en-US" sz="1050" dirty="0"/>
          </a:p>
        </p:txBody>
      </p:sp>
      <p:sp>
        <p:nvSpPr>
          <p:cNvPr id="47" name="Text 45"/>
          <p:cNvSpPr/>
          <p:nvPr/>
        </p:nvSpPr>
        <p:spPr>
          <a:xfrm>
            <a:off x="8823731" y="5257800"/>
            <a:ext cx="2651760" cy="365760"/>
          </a:xfrm>
          <a:prstGeom prst="rect">
            <a:avLst/>
          </a:prstGeom>
          <a:noFill/>
          <a:ln/>
        </p:spPr>
        <p:txBody>
          <a:bodyPr wrap="square" lIns="0" tIns="0" rIns="0" bIns="0" rtlCol="0" anchor="ctr"/>
          <a:lstStyle/>
          <a:p>
            <a:pPr marL="0" indent="0">
              <a:buNone/>
            </a:pPr>
            <a:r>
              <a:rPr lang="en-US" sz="2100" b="1" dirty="0">
                <a:solidFill>
                  <a:srgbClr val="0D4A54"/>
                </a:solidFill>
                <a:latin typeface="Cambria" pitchFamily="34" charset="0"/>
                <a:ea typeface="Cambria" pitchFamily="34" charset="-122"/>
                <a:cs typeface="Cambria" pitchFamily="34" charset="-120"/>
              </a:rPr>
              <a:t>$0.00087</a:t>
            </a:r>
            <a:endParaRPr lang="en-US" sz="2100" dirty="0"/>
          </a:p>
        </p:txBody>
      </p:sp>
      <p:sp>
        <p:nvSpPr>
          <p:cNvPr id="48" name="Text 46"/>
          <p:cNvSpPr/>
          <p:nvPr/>
        </p:nvSpPr>
        <p:spPr>
          <a:xfrm>
            <a:off x="8823731" y="5650992"/>
            <a:ext cx="2651760" cy="274320"/>
          </a:xfrm>
          <a:prstGeom prst="rect">
            <a:avLst/>
          </a:prstGeom>
          <a:noFill/>
          <a:ln/>
        </p:spPr>
        <p:txBody>
          <a:bodyPr wrap="square" lIns="0" tIns="0" rIns="0" bIns="0" rtlCol="0" anchor="ctr"/>
          <a:lstStyle/>
          <a:p>
            <a:pPr marL="0" indent="0">
              <a:buNone/>
            </a:pPr>
            <a:r>
              <a:rPr lang="en-US" sz="1050" dirty="0">
                <a:solidFill>
                  <a:srgbClr val="5F767A"/>
                </a:solidFill>
                <a:latin typeface="Calibri" pitchFamily="34" charset="0"/>
                <a:ea typeface="Calibri" pitchFamily="34" charset="-122"/>
                <a:cs typeface="Calibri" pitchFamily="34" charset="-120"/>
              </a:rPr>
              <a:t>per episode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WHY THIS IS NOT CACHING</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Four ways a repeated region can still be inadmissible</a:t>
            </a:r>
            <a:endParaRPr lang="en-US" sz="2600" dirty="0"/>
          </a:p>
        </p:txBody>
      </p:sp>
      <p:sp>
        <p:nvSpPr>
          <p:cNvPr id="6" name="Shape 4"/>
          <p:cNvSpPr/>
          <p:nvPr/>
        </p:nvSpPr>
        <p:spPr>
          <a:xfrm>
            <a:off x="640080" y="1463040"/>
            <a:ext cx="5300320" cy="1481328"/>
          </a:xfrm>
          <a:prstGeom prst="roundRect">
            <a:avLst>
              <a:gd name="adj" fmla="val 308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7" name="Shape 5"/>
          <p:cNvSpPr/>
          <p:nvPr/>
        </p:nvSpPr>
        <p:spPr>
          <a:xfrm>
            <a:off x="914400" y="1719072"/>
            <a:ext cx="365760" cy="365760"/>
          </a:xfrm>
          <a:prstGeom prst="ellipse">
            <a:avLst/>
          </a:prstGeom>
          <a:solidFill>
            <a:srgbClr val="AC4A2C"/>
          </a:solidFill>
          <a:ln w="6350">
            <a:solidFill>
              <a:srgbClr val="AC4A2C"/>
            </a:solidFill>
            <a:prstDash val="solid"/>
          </a:ln>
        </p:spPr>
        <p:txBody>
          <a:bodyPr/>
          <a:lstStyle/>
          <a:p>
            <a:endParaRPr lang="en-US"/>
          </a:p>
        </p:txBody>
      </p:sp>
      <p:sp>
        <p:nvSpPr>
          <p:cNvPr id="8" name="Text 6"/>
          <p:cNvSpPr/>
          <p:nvPr/>
        </p:nvSpPr>
        <p:spPr>
          <a:xfrm>
            <a:off x="914400" y="1719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1417320" y="1700784"/>
            <a:ext cx="4248760" cy="310896"/>
          </a:xfrm>
          <a:prstGeom prst="rect">
            <a:avLst/>
          </a:prstGeom>
          <a:noFill/>
          <a:ln/>
        </p:spPr>
        <p:txBody>
          <a:bodyPr wrap="square" lIns="0" tIns="0" rIns="0" bIns="0" rtlCol="0" anchor="ctr"/>
          <a:lstStyle/>
          <a:p>
            <a:pPr marL="0" indent="0">
              <a:buNone/>
            </a:pPr>
            <a:r>
              <a:rPr lang="en-US" sz="1450" b="1" dirty="0">
                <a:solidFill>
                  <a:srgbClr val="0D4A54"/>
                </a:solidFill>
                <a:latin typeface="Cambria" pitchFamily="34" charset="0"/>
                <a:ea typeface="Cambria" pitchFamily="34" charset="-122"/>
                <a:cs typeface="Cambria" pitchFamily="34" charset="-120"/>
              </a:rPr>
              <a:t>Ungrounded argument</a:t>
            </a:r>
            <a:endParaRPr lang="en-US" sz="1450" dirty="0"/>
          </a:p>
        </p:txBody>
      </p:sp>
      <p:sp>
        <p:nvSpPr>
          <p:cNvPr id="10" name="Text 8"/>
          <p:cNvSpPr/>
          <p:nvPr/>
        </p:nvSpPr>
        <p:spPr>
          <a:xfrm>
            <a:off x="1417320" y="2066544"/>
            <a:ext cx="4248760" cy="731520"/>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A tool argument may depend on a prior observation with no expression over entry state or earlier results. There is nothing to reconstruct it from.</a:t>
            </a:r>
            <a:endParaRPr lang="en-US" sz="1150" dirty="0"/>
          </a:p>
        </p:txBody>
      </p:sp>
      <p:sp>
        <p:nvSpPr>
          <p:cNvPr id="11" name="Shape 9"/>
          <p:cNvSpPr/>
          <p:nvPr/>
        </p:nvSpPr>
        <p:spPr>
          <a:xfrm>
            <a:off x="6251296" y="1463040"/>
            <a:ext cx="5300320" cy="1481328"/>
          </a:xfrm>
          <a:prstGeom prst="roundRect">
            <a:avLst>
              <a:gd name="adj" fmla="val 308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2" name="Shape 10"/>
          <p:cNvSpPr/>
          <p:nvPr/>
        </p:nvSpPr>
        <p:spPr>
          <a:xfrm>
            <a:off x="6525616" y="1719072"/>
            <a:ext cx="365760" cy="365760"/>
          </a:xfrm>
          <a:prstGeom prst="ellipse">
            <a:avLst/>
          </a:prstGeom>
          <a:solidFill>
            <a:srgbClr val="AC4A2C"/>
          </a:solidFill>
          <a:ln w="6350">
            <a:solidFill>
              <a:srgbClr val="AC4A2C"/>
            </a:solidFill>
            <a:prstDash val="solid"/>
          </a:ln>
        </p:spPr>
        <p:txBody>
          <a:bodyPr/>
          <a:lstStyle/>
          <a:p>
            <a:endParaRPr lang="en-US"/>
          </a:p>
        </p:txBody>
      </p:sp>
      <p:sp>
        <p:nvSpPr>
          <p:cNvPr id="13" name="Text 11"/>
          <p:cNvSpPr/>
          <p:nvPr/>
        </p:nvSpPr>
        <p:spPr>
          <a:xfrm>
            <a:off x="6525616" y="171907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7028536" y="1700784"/>
            <a:ext cx="4248760" cy="310896"/>
          </a:xfrm>
          <a:prstGeom prst="rect">
            <a:avLst/>
          </a:prstGeom>
          <a:noFill/>
          <a:ln/>
        </p:spPr>
        <p:txBody>
          <a:bodyPr wrap="square" lIns="0" tIns="0" rIns="0" bIns="0" rtlCol="0" anchor="ctr"/>
          <a:lstStyle/>
          <a:p>
            <a:pPr marL="0" indent="0">
              <a:buNone/>
            </a:pPr>
            <a:r>
              <a:rPr lang="en-US" sz="1450" b="1" dirty="0">
                <a:solidFill>
                  <a:srgbClr val="0D4A54"/>
                </a:solidFill>
                <a:latin typeface="Cambria" pitchFamily="34" charset="0"/>
                <a:ea typeface="Cambria" pitchFamily="34" charset="-122"/>
                <a:cs typeface="Cambria" pitchFamily="34" charset="-120"/>
              </a:rPr>
              <a:t>Undeclared or hidden effect</a:t>
            </a:r>
            <a:endParaRPr lang="en-US" sz="1450" dirty="0"/>
          </a:p>
        </p:txBody>
      </p:sp>
      <p:sp>
        <p:nvSpPr>
          <p:cNvPr id="15" name="Text 13"/>
          <p:cNvSpPr/>
          <p:nvPr/>
        </p:nvSpPr>
        <p:spPr>
          <a:xfrm>
            <a:off x="7028536" y="2066544"/>
            <a:ext cx="4248760" cy="731520"/>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A nominal read may carry an external effect. An effect the catalog does not declare cannot be shown safe to speculate on.</a:t>
            </a:r>
            <a:endParaRPr lang="en-US" sz="1150" dirty="0"/>
          </a:p>
        </p:txBody>
      </p:sp>
      <p:sp>
        <p:nvSpPr>
          <p:cNvPr id="16" name="Shape 14"/>
          <p:cNvSpPr/>
          <p:nvPr/>
        </p:nvSpPr>
        <p:spPr>
          <a:xfrm>
            <a:off x="640080" y="3218688"/>
            <a:ext cx="5300320" cy="1481328"/>
          </a:xfrm>
          <a:prstGeom prst="roundRect">
            <a:avLst>
              <a:gd name="adj" fmla="val 308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7" name="Shape 15"/>
          <p:cNvSpPr/>
          <p:nvPr/>
        </p:nvSpPr>
        <p:spPr>
          <a:xfrm>
            <a:off x="914400" y="3474720"/>
            <a:ext cx="365760" cy="365760"/>
          </a:xfrm>
          <a:prstGeom prst="ellipse">
            <a:avLst/>
          </a:prstGeom>
          <a:solidFill>
            <a:srgbClr val="AC4A2C"/>
          </a:solidFill>
          <a:ln w="6350">
            <a:solidFill>
              <a:srgbClr val="AC4A2C"/>
            </a:solidFill>
            <a:prstDash val="solid"/>
          </a:ln>
        </p:spPr>
        <p:txBody>
          <a:bodyPr/>
          <a:lstStyle/>
          <a:p>
            <a:endParaRPr lang="en-US"/>
          </a:p>
        </p:txBody>
      </p:sp>
      <p:sp>
        <p:nvSpPr>
          <p:cNvPr id="18" name="Text 16"/>
          <p:cNvSpPr/>
          <p:nvPr/>
        </p:nvSpPr>
        <p:spPr>
          <a:xfrm>
            <a:off x="914400" y="34747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1417320" y="3456432"/>
            <a:ext cx="4248760" cy="310896"/>
          </a:xfrm>
          <a:prstGeom prst="rect">
            <a:avLst/>
          </a:prstGeom>
          <a:noFill/>
          <a:ln/>
        </p:spPr>
        <p:txBody>
          <a:bodyPr wrap="square" lIns="0" tIns="0" rIns="0" bIns="0" rtlCol="0" anchor="ctr"/>
          <a:lstStyle/>
          <a:p>
            <a:pPr marL="0" indent="0">
              <a:buNone/>
            </a:pPr>
            <a:r>
              <a:rPr lang="en-US" sz="1450" b="1" dirty="0">
                <a:solidFill>
                  <a:srgbClr val="0D4A54"/>
                </a:solidFill>
                <a:latin typeface="Cambria" pitchFamily="34" charset="0"/>
                <a:ea typeface="Cambria" pitchFamily="34" charset="-122"/>
                <a:cs typeface="Cambria" pitchFamily="34" charset="-120"/>
              </a:rPr>
              <a:t>Barrier crossed</a:t>
            </a:r>
            <a:endParaRPr lang="en-US" sz="1450" dirty="0"/>
          </a:p>
        </p:txBody>
      </p:sp>
      <p:sp>
        <p:nvSpPr>
          <p:cNvPr id="20" name="Text 18"/>
          <p:cNvSpPr/>
          <p:nvPr/>
        </p:nvSpPr>
        <p:spPr>
          <a:xfrm>
            <a:off x="1417320" y="3822192"/>
            <a:ext cx="4248760" cy="731520"/>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The repeated sequence may cross an approval, a write, a handoff, or a commit boundary. Those are hard barriers, not costs to trade off.</a:t>
            </a:r>
            <a:endParaRPr lang="en-US" sz="1150" dirty="0"/>
          </a:p>
        </p:txBody>
      </p:sp>
      <p:sp>
        <p:nvSpPr>
          <p:cNvPr id="21" name="Shape 19"/>
          <p:cNvSpPr/>
          <p:nvPr/>
        </p:nvSpPr>
        <p:spPr>
          <a:xfrm>
            <a:off x="6251296" y="3218688"/>
            <a:ext cx="5300320" cy="1481328"/>
          </a:xfrm>
          <a:prstGeom prst="roundRect">
            <a:avLst>
              <a:gd name="adj" fmla="val 308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2" name="Shape 20"/>
          <p:cNvSpPr/>
          <p:nvPr/>
        </p:nvSpPr>
        <p:spPr>
          <a:xfrm>
            <a:off x="6525616" y="3474720"/>
            <a:ext cx="365760" cy="365760"/>
          </a:xfrm>
          <a:prstGeom prst="ellipse">
            <a:avLst/>
          </a:prstGeom>
          <a:solidFill>
            <a:srgbClr val="AC4A2C"/>
          </a:solidFill>
          <a:ln w="6350">
            <a:solidFill>
              <a:srgbClr val="AC4A2C"/>
            </a:solidFill>
            <a:prstDash val="solid"/>
          </a:ln>
        </p:spPr>
        <p:txBody>
          <a:bodyPr/>
          <a:lstStyle/>
          <a:p>
            <a:endParaRPr lang="en-US"/>
          </a:p>
        </p:txBody>
      </p:sp>
      <p:sp>
        <p:nvSpPr>
          <p:cNvPr id="23" name="Text 21"/>
          <p:cNvSpPr/>
          <p:nvPr/>
        </p:nvSpPr>
        <p:spPr>
          <a:xfrm>
            <a:off x="6525616" y="34747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7028536" y="3456432"/>
            <a:ext cx="4248760" cy="310896"/>
          </a:xfrm>
          <a:prstGeom prst="rect">
            <a:avLst/>
          </a:prstGeom>
          <a:noFill/>
          <a:ln/>
        </p:spPr>
        <p:txBody>
          <a:bodyPr wrap="square" lIns="0" tIns="0" rIns="0" bIns="0" rtlCol="0" anchor="ctr"/>
          <a:lstStyle/>
          <a:p>
            <a:pPr marL="0" indent="0">
              <a:buNone/>
            </a:pPr>
            <a:r>
              <a:rPr lang="en-US" sz="1450" b="1" dirty="0">
                <a:solidFill>
                  <a:srgbClr val="0D4A54"/>
                </a:solidFill>
                <a:latin typeface="Cambria" pitchFamily="34" charset="0"/>
                <a:ea typeface="Cambria" pitchFamily="34" charset="-122"/>
                <a:cs typeface="Cambria" pitchFamily="34" charset="-120"/>
              </a:rPr>
              <a:t>Drift on the next input</a:t>
            </a:r>
            <a:endParaRPr lang="en-US" sz="1450" dirty="0"/>
          </a:p>
        </p:txBody>
      </p:sp>
      <p:sp>
        <p:nvSpPr>
          <p:cNvPr id="25" name="Text 23"/>
          <p:cNvSpPr/>
          <p:nvPr/>
        </p:nvSpPr>
        <p:spPr>
          <a:xfrm>
            <a:off x="7028536" y="3822192"/>
            <a:ext cx="4248760" cy="731520"/>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An input resembling the training trace may violate a permission, freshness, or schema constraint that held when the trace was recorded.</a:t>
            </a:r>
            <a:endParaRPr lang="en-US" sz="1150" dirty="0"/>
          </a:p>
        </p:txBody>
      </p:sp>
      <p:sp>
        <p:nvSpPr>
          <p:cNvPr id="26" name="Shape 24"/>
          <p:cNvSpPr/>
          <p:nvPr/>
        </p:nvSpPr>
        <p:spPr>
          <a:xfrm>
            <a:off x="640080" y="4754880"/>
            <a:ext cx="10911535" cy="960120"/>
          </a:xfrm>
          <a:prstGeom prst="roundRect">
            <a:avLst>
              <a:gd name="adj" fmla="val 4762"/>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7" name="Text 25"/>
          <p:cNvSpPr/>
          <p:nvPr/>
        </p:nvSpPr>
        <p:spPr>
          <a:xfrm>
            <a:off x="914400" y="4937760"/>
            <a:ext cx="10362895" cy="603504"/>
          </a:xfrm>
          <a:prstGeom prst="rect">
            <a:avLst/>
          </a:prstGeom>
          <a:noFill/>
          <a:ln/>
        </p:spPr>
        <p:txBody>
          <a:bodyPr wrap="square" lIns="0" tIns="0" rIns="0" bIns="0" rtlCol="0" anchor="ctr"/>
          <a:lstStyle/>
          <a:p>
            <a:pPr marL="0" indent="0">
              <a:lnSpc>
                <a:spcPct val="108000"/>
              </a:lnSpc>
              <a:buNone/>
            </a:pPr>
            <a:r>
              <a:rPr lang="en-US" sz="1350" b="1" dirty="0">
                <a:solidFill>
                  <a:srgbClr val="0D4A54"/>
                </a:solidFill>
                <a:latin typeface="Calibri" pitchFamily="34" charset="0"/>
                <a:ea typeface="Calibri" pitchFamily="34" charset="-122"/>
                <a:cs typeface="Calibri" pitchFamily="34" charset="-120"/>
              </a:rPr>
              <a:t>Deleting a model decision is a semantic change, not a memoization. </a:t>
            </a:r>
            <a:r>
              <a:rPr lang="en-US" sz="1350" dirty="0">
                <a:solidFill>
                  <a:srgbClr val="2A4247"/>
                </a:solidFill>
                <a:latin typeface="Calibri" pitchFamily="34" charset="0"/>
                <a:ea typeface="Calibri" pitchFamily="34" charset="-122"/>
                <a:cs typeface="Calibri" pitchFamily="34" charset="-120"/>
              </a:rPr>
              <a:t>Every one of these hazards is checked structurally — no amount of statistical evidence can override a barrier hit.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SCOPE</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The question, stated narrowly</a:t>
            </a:r>
            <a:endParaRPr lang="en-US" sz="2600" dirty="0"/>
          </a:p>
        </p:txBody>
      </p:sp>
      <p:sp>
        <p:nvSpPr>
          <p:cNvPr id="6" name="Shape 4"/>
          <p:cNvSpPr/>
          <p:nvPr/>
        </p:nvSpPr>
        <p:spPr>
          <a:xfrm>
            <a:off x="640080" y="1389888"/>
            <a:ext cx="10911535" cy="1207008"/>
          </a:xfrm>
          <a:prstGeom prst="roundRect">
            <a:avLst>
              <a:gd name="adj" fmla="val 3788"/>
            </a:avLst>
          </a:prstGeom>
          <a:solidFill>
            <a:srgbClr val="0D4A54"/>
          </a:solidFill>
          <a:ln w="9525">
            <a:solidFill>
              <a:srgbClr val="0D4A54"/>
            </a:solidFill>
            <a:prstDash val="solid"/>
          </a:ln>
          <a:effectLst>
            <a:outerShdw blurRad="114300" dist="17780" dir="5400000" algn="bl" rotWithShape="0">
              <a:srgbClr val="8FA9AE">
                <a:alpha val="22000"/>
              </a:srgbClr>
            </a:outerShdw>
          </a:effectLst>
        </p:spPr>
        <p:txBody>
          <a:bodyPr/>
          <a:lstStyle/>
          <a:p>
            <a:endParaRPr lang="en-US"/>
          </a:p>
        </p:txBody>
      </p:sp>
      <p:sp>
        <p:nvSpPr>
          <p:cNvPr id="7" name="Text 5"/>
          <p:cNvSpPr/>
          <p:nvPr/>
        </p:nvSpPr>
        <p:spPr>
          <a:xfrm>
            <a:off x="1051560" y="1536192"/>
            <a:ext cx="10088575" cy="914400"/>
          </a:xfrm>
          <a:prstGeom prst="rect">
            <a:avLst/>
          </a:prstGeom>
          <a:noFill/>
          <a:ln/>
        </p:spPr>
        <p:txBody>
          <a:bodyPr wrap="square" lIns="0" tIns="0" rIns="0" bIns="0" rtlCol="0" anchor="ctr"/>
          <a:lstStyle/>
          <a:p>
            <a:pPr marL="0" indent="0">
              <a:lnSpc>
                <a:spcPct val="114000"/>
              </a:lnSpc>
              <a:buNone/>
            </a:pPr>
            <a:r>
              <a:rPr lang="en-US" sz="1550" i="1" dirty="0">
                <a:solidFill>
                  <a:srgbClr val="FFFFFF"/>
                </a:solidFill>
                <a:latin typeface="Cambria" pitchFamily="34" charset="0"/>
                <a:ea typeface="Cambria" pitchFamily="34" charset="-122"/>
                <a:cs typeface="Cambria" pitchFamily="34" charset="-120"/>
              </a:rPr>
              <a:t>Given historical executions of a tool-using agent, identify a deterministic region that can replace model-mediated control flow, and dispatch it only where observable evidence supports that replacement.</a:t>
            </a:r>
            <a:endParaRPr lang="en-US" sz="1550" dirty="0"/>
          </a:p>
        </p:txBody>
      </p:sp>
      <p:sp>
        <p:nvSpPr>
          <p:cNvPr id="8" name="Text 6"/>
          <p:cNvSpPr/>
          <p:nvPr/>
        </p:nvSpPr>
        <p:spPr>
          <a:xfrm>
            <a:off x="640080" y="2834640"/>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FIVE RESEARCH QUESTIONS</a:t>
            </a:r>
            <a:endParaRPr lang="en-US" sz="1050" dirty="0"/>
          </a:p>
        </p:txBody>
      </p:sp>
      <p:sp>
        <p:nvSpPr>
          <p:cNvPr id="9" name="Shape 7"/>
          <p:cNvSpPr/>
          <p:nvPr/>
        </p:nvSpPr>
        <p:spPr>
          <a:xfrm>
            <a:off x="640080" y="3136392"/>
            <a:ext cx="438912" cy="438912"/>
          </a:xfrm>
          <a:prstGeom prst="ellipse">
            <a:avLst/>
          </a:prstGeom>
          <a:solidFill>
            <a:srgbClr val="17798A"/>
          </a:solidFill>
          <a:ln w="6350">
            <a:solidFill>
              <a:srgbClr val="17798A"/>
            </a:solidFill>
            <a:prstDash val="solid"/>
          </a:ln>
        </p:spPr>
        <p:txBody>
          <a:bodyPr/>
          <a:lstStyle/>
          <a:p>
            <a:endParaRPr lang="en-US"/>
          </a:p>
        </p:txBody>
      </p:sp>
      <p:sp>
        <p:nvSpPr>
          <p:cNvPr id="10" name="Text 8"/>
          <p:cNvSpPr/>
          <p:nvPr/>
        </p:nvSpPr>
        <p:spPr>
          <a:xfrm>
            <a:off x="640080" y="3136392"/>
            <a:ext cx="438912" cy="438912"/>
          </a:xfrm>
          <a:prstGeom prst="rect">
            <a:avLst/>
          </a:prstGeom>
          <a:noFill/>
          <a:ln/>
        </p:spPr>
        <p:txBody>
          <a:bodyPr wrap="square" lIns="0" tIns="0" rIns="0" bIns="0" rtlCol="0" anchor="ctr"/>
          <a:lstStyle/>
          <a:p>
            <a:pPr marL="0" indent="0" algn="ctr">
              <a:buNone/>
            </a:pPr>
            <a:endParaRPr lang="en-US" sz="1150" dirty="0"/>
          </a:p>
        </p:txBody>
      </p:sp>
      <p:sp>
        <p:nvSpPr>
          <p:cNvPr id="11" name="Text 9"/>
          <p:cNvSpPr/>
          <p:nvPr/>
        </p:nvSpPr>
        <p:spPr>
          <a:xfrm>
            <a:off x="640080" y="3136392"/>
            <a:ext cx="43891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RQ1</a:t>
            </a:r>
            <a:endParaRPr lang="en-US" sz="950" dirty="0"/>
          </a:p>
        </p:txBody>
      </p:sp>
      <p:sp>
        <p:nvSpPr>
          <p:cNvPr id="12" name="Text 10"/>
          <p:cNvSpPr/>
          <p:nvPr/>
        </p:nvSpPr>
        <p:spPr>
          <a:xfrm>
            <a:off x="1261872" y="3145536"/>
            <a:ext cx="10289743" cy="420624"/>
          </a:xfrm>
          <a:prstGeom prst="rect">
            <a:avLst/>
          </a:prstGeom>
          <a:noFill/>
          <a:ln/>
        </p:spPr>
        <p:txBody>
          <a:bodyPr wrap="square" lIns="0" tIns="0" rIns="0" bIns="0" rtlCol="0" anchor="ctr"/>
          <a:lstStyle/>
          <a:p>
            <a:pPr marL="0" indent="0">
              <a:lnSpc>
                <a:spcPct val="105000"/>
              </a:lnSpc>
              <a:buNone/>
            </a:pPr>
            <a:r>
              <a:rPr lang="en-US" sz="1250" dirty="0">
                <a:solidFill>
                  <a:srgbClr val="2A4247"/>
                </a:solidFill>
                <a:latin typeface="Calibri" pitchFamily="34" charset="0"/>
                <a:ea typeface="Calibri" pitchFamily="34" charset="-122"/>
                <a:cs typeface="Calibri" pitchFamily="34" charset="-120"/>
              </a:rPr>
              <a:t>Can typed trace provenance reconstruct the dependencies needed to synthesize recurrent tool programs?</a:t>
            </a:r>
            <a:endParaRPr lang="en-US" sz="1250" dirty="0"/>
          </a:p>
        </p:txBody>
      </p:sp>
      <p:sp>
        <p:nvSpPr>
          <p:cNvPr id="13" name="Shape 11"/>
          <p:cNvSpPr/>
          <p:nvPr/>
        </p:nvSpPr>
        <p:spPr>
          <a:xfrm>
            <a:off x="640080" y="3657600"/>
            <a:ext cx="10911535" cy="0"/>
          </a:xfrm>
          <a:prstGeom prst="line">
            <a:avLst/>
          </a:prstGeom>
          <a:noFill/>
          <a:ln w="9525">
            <a:solidFill>
              <a:srgbClr val="EAF0F1"/>
            </a:solidFill>
            <a:prstDash val="solid"/>
          </a:ln>
        </p:spPr>
        <p:txBody>
          <a:bodyPr/>
          <a:lstStyle/>
          <a:p>
            <a:endParaRPr lang="en-US"/>
          </a:p>
        </p:txBody>
      </p:sp>
      <p:sp>
        <p:nvSpPr>
          <p:cNvPr id="14" name="Shape 12"/>
          <p:cNvSpPr/>
          <p:nvPr/>
        </p:nvSpPr>
        <p:spPr>
          <a:xfrm>
            <a:off x="640080" y="3739896"/>
            <a:ext cx="438912" cy="438912"/>
          </a:xfrm>
          <a:prstGeom prst="ellipse">
            <a:avLst/>
          </a:prstGeom>
          <a:solidFill>
            <a:srgbClr val="17798A"/>
          </a:solidFill>
          <a:ln w="6350">
            <a:solidFill>
              <a:srgbClr val="17798A"/>
            </a:solidFill>
            <a:prstDash val="solid"/>
          </a:ln>
        </p:spPr>
        <p:txBody>
          <a:bodyPr/>
          <a:lstStyle/>
          <a:p>
            <a:endParaRPr lang="en-US"/>
          </a:p>
        </p:txBody>
      </p:sp>
      <p:sp>
        <p:nvSpPr>
          <p:cNvPr id="15" name="Text 13"/>
          <p:cNvSpPr/>
          <p:nvPr/>
        </p:nvSpPr>
        <p:spPr>
          <a:xfrm>
            <a:off x="640080" y="3739896"/>
            <a:ext cx="438912" cy="438912"/>
          </a:xfrm>
          <a:prstGeom prst="rect">
            <a:avLst/>
          </a:prstGeom>
          <a:noFill/>
          <a:ln/>
        </p:spPr>
        <p:txBody>
          <a:bodyPr wrap="square" lIns="0" tIns="0" rIns="0" bIns="0" rtlCol="0" anchor="ctr"/>
          <a:lstStyle/>
          <a:p>
            <a:pPr marL="0" indent="0" algn="ctr">
              <a:buNone/>
            </a:pPr>
            <a:endParaRPr lang="en-US" sz="1150" dirty="0"/>
          </a:p>
        </p:txBody>
      </p:sp>
      <p:sp>
        <p:nvSpPr>
          <p:cNvPr id="16" name="Text 14"/>
          <p:cNvSpPr/>
          <p:nvPr/>
        </p:nvSpPr>
        <p:spPr>
          <a:xfrm>
            <a:off x="640080" y="3739896"/>
            <a:ext cx="43891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RQ2</a:t>
            </a:r>
            <a:endParaRPr lang="en-US" sz="950" dirty="0"/>
          </a:p>
        </p:txBody>
      </p:sp>
      <p:sp>
        <p:nvSpPr>
          <p:cNvPr id="17" name="Text 15"/>
          <p:cNvSpPr/>
          <p:nvPr/>
        </p:nvSpPr>
        <p:spPr>
          <a:xfrm>
            <a:off x="1261872" y="3749040"/>
            <a:ext cx="10289743" cy="420624"/>
          </a:xfrm>
          <a:prstGeom prst="rect">
            <a:avLst/>
          </a:prstGeom>
          <a:noFill/>
          <a:ln/>
        </p:spPr>
        <p:txBody>
          <a:bodyPr wrap="square" lIns="0" tIns="0" rIns="0" bIns="0" rtlCol="0" anchor="ctr"/>
          <a:lstStyle/>
          <a:p>
            <a:pPr marL="0" indent="0">
              <a:lnSpc>
                <a:spcPct val="105000"/>
              </a:lnSpc>
              <a:buNone/>
            </a:pPr>
            <a:r>
              <a:rPr lang="en-US" sz="1250" dirty="0">
                <a:solidFill>
                  <a:srgbClr val="2A4247"/>
                </a:solidFill>
                <a:latin typeface="Calibri" pitchFamily="34" charset="0"/>
                <a:ea typeface="Calibri" pitchFamily="34" charset="-122"/>
                <a:cs typeface="Calibri" pitchFamily="34" charset="-120"/>
              </a:rPr>
              <a:t>On unseen real records, how does a compiled prefix trade factual quality against requests, tokens, latency, and cost?</a:t>
            </a:r>
            <a:endParaRPr lang="en-US" sz="1250" dirty="0"/>
          </a:p>
        </p:txBody>
      </p:sp>
      <p:sp>
        <p:nvSpPr>
          <p:cNvPr id="18" name="Shape 16"/>
          <p:cNvSpPr/>
          <p:nvPr/>
        </p:nvSpPr>
        <p:spPr>
          <a:xfrm>
            <a:off x="640080" y="4261104"/>
            <a:ext cx="10911535" cy="0"/>
          </a:xfrm>
          <a:prstGeom prst="line">
            <a:avLst/>
          </a:prstGeom>
          <a:noFill/>
          <a:ln w="9525">
            <a:solidFill>
              <a:srgbClr val="EAF0F1"/>
            </a:solidFill>
            <a:prstDash val="solid"/>
          </a:ln>
        </p:spPr>
        <p:txBody>
          <a:bodyPr/>
          <a:lstStyle/>
          <a:p>
            <a:endParaRPr lang="en-US"/>
          </a:p>
        </p:txBody>
      </p:sp>
      <p:sp>
        <p:nvSpPr>
          <p:cNvPr id="19" name="Shape 17"/>
          <p:cNvSpPr/>
          <p:nvPr/>
        </p:nvSpPr>
        <p:spPr>
          <a:xfrm>
            <a:off x="640080" y="4343400"/>
            <a:ext cx="438912" cy="438912"/>
          </a:xfrm>
          <a:prstGeom prst="ellipse">
            <a:avLst/>
          </a:prstGeom>
          <a:solidFill>
            <a:srgbClr val="17798A"/>
          </a:solidFill>
          <a:ln w="6350">
            <a:solidFill>
              <a:srgbClr val="17798A"/>
            </a:solidFill>
            <a:prstDash val="solid"/>
          </a:ln>
        </p:spPr>
        <p:txBody>
          <a:bodyPr/>
          <a:lstStyle/>
          <a:p>
            <a:endParaRPr lang="en-US"/>
          </a:p>
        </p:txBody>
      </p:sp>
      <p:sp>
        <p:nvSpPr>
          <p:cNvPr id="20" name="Text 18"/>
          <p:cNvSpPr/>
          <p:nvPr/>
        </p:nvSpPr>
        <p:spPr>
          <a:xfrm>
            <a:off x="640080" y="4343400"/>
            <a:ext cx="438912" cy="438912"/>
          </a:xfrm>
          <a:prstGeom prst="rect">
            <a:avLst/>
          </a:prstGeom>
          <a:noFill/>
          <a:ln/>
        </p:spPr>
        <p:txBody>
          <a:bodyPr wrap="square" lIns="0" tIns="0" rIns="0" bIns="0" rtlCol="0" anchor="ctr"/>
          <a:lstStyle/>
          <a:p>
            <a:pPr marL="0" indent="0" algn="ctr">
              <a:buNone/>
            </a:pPr>
            <a:endParaRPr lang="en-US" sz="1150" dirty="0"/>
          </a:p>
        </p:txBody>
      </p:sp>
      <p:sp>
        <p:nvSpPr>
          <p:cNvPr id="21" name="Text 19"/>
          <p:cNvSpPr/>
          <p:nvPr/>
        </p:nvSpPr>
        <p:spPr>
          <a:xfrm>
            <a:off x="640080" y="4343400"/>
            <a:ext cx="43891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RQ3</a:t>
            </a:r>
            <a:endParaRPr lang="en-US" sz="950" dirty="0"/>
          </a:p>
        </p:txBody>
      </p:sp>
      <p:sp>
        <p:nvSpPr>
          <p:cNvPr id="22" name="Text 20"/>
          <p:cNvSpPr/>
          <p:nvPr/>
        </p:nvSpPr>
        <p:spPr>
          <a:xfrm>
            <a:off x="1261872" y="4352544"/>
            <a:ext cx="10289743" cy="420624"/>
          </a:xfrm>
          <a:prstGeom prst="rect">
            <a:avLst/>
          </a:prstGeom>
          <a:noFill/>
          <a:ln/>
        </p:spPr>
        <p:txBody>
          <a:bodyPr wrap="square" lIns="0" tIns="0" rIns="0" bIns="0" rtlCol="0" anchor="ctr"/>
          <a:lstStyle/>
          <a:p>
            <a:pPr marL="0" indent="0">
              <a:lnSpc>
                <a:spcPct val="105000"/>
              </a:lnSpc>
              <a:buNone/>
            </a:pPr>
            <a:r>
              <a:rPr lang="en-US" sz="1250" dirty="0">
                <a:solidFill>
                  <a:srgbClr val="2A4247"/>
                </a:solidFill>
                <a:latin typeface="Calibri" pitchFamily="34" charset="0"/>
                <a:ea typeface="Calibri" pitchFamily="34" charset="-122"/>
                <a:cs typeface="Calibri" pitchFamily="34" charset="-120"/>
              </a:rPr>
              <a:t>Does exact selective admission reject recurrent families when calibration support is inadequate?</a:t>
            </a:r>
            <a:endParaRPr lang="en-US" sz="1250" dirty="0"/>
          </a:p>
        </p:txBody>
      </p:sp>
      <p:sp>
        <p:nvSpPr>
          <p:cNvPr id="23" name="Shape 21"/>
          <p:cNvSpPr/>
          <p:nvPr/>
        </p:nvSpPr>
        <p:spPr>
          <a:xfrm>
            <a:off x="640080" y="4864608"/>
            <a:ext cx="10911535" cy="0"/>
          </a:xfrm>
          <a:prstGeom prst="line">
            <a:avLst/>
          </a:prstGeom>
          <a:noFill/>
          <a:ln w="9525">
            <a:solidFill>
              <a:srgbClr val="EAF0F1"/>
            </a:solidFill>
            <a:prstDash val="solid"/>
          </a:ln>
        </p:spPr>
        <p:txBody>
          <a:bodyPr/>
          <a:lstStyle/>
          <a:p>
            <a:endParaRPr lang="en-US"/>
          </a:p>
        </p:txBody>
      </p:sp>
      <p:sp>
        <p:nvSpPr>
          <p:cNvPr id="24" name="Shape 22"/>
          <p:cNvSpPr/>
          <p:nvPr/>
        </p:nvSpPr>
        <p:spPr>
          <a:xfrm>
            <a:off x="640080" y="4946904"/>
            <a:ext cx="438912" cy="438912"/>
          </a:xfrm>
          <a:prstGeom prst="ellipse">
            <a:avLst/>
          </a:prstGeom>
          <a:solidFill>
            <a:srgbClr val="17798A"/>
          </a:solidFill>
          <a:ln w="6350">
            <a:solidFill>
              <a:srgbClr val="17798A"/>
            </a:solidFill>
            <a:prstDash val="solid"/>
          </a:ln>
        </p:spPr>
        <p:txBody>
          <a:bodyPr/>
          <a:lstStyle/>
          <a:p>
            <a:endParaRPr lang="en-US"/>
          </a:p>
        </p:txBody>
      </p:sp>
      <p:sp>
        <p:nvSpPr>
          <p:cNvPr id="25" name="Text 23"/>
          <p:cNvSpPr/>
          <p:nvPr/>
        </p:nvSpPr>
        <p:spPr>
          <a:xfrm>
            <a:off x="640080" y="4946904"/>
            <a:ext cx="438912" cy="438912"/>
          </a:xfrm>
          <a:prstGeom prst="rect">
            <a:avLst/>
          </a:prstGeom>
          <a:noFill/>
          <a:ln/>
        </p:spPr>
        <p:txBody>
          <a:bodyPr wrap="square" lIns="0" tIns="0" rIns="0" bIns="0" rtlCol="0" anchor="ctr"/>
          <a:lstStyle/>
          <a:p>
            <a:pPr marL="0" indent="0" algn="ctr">
              <a:buNone/>
            </a:pPr>
            <a:endParaRPr lang="en-US" sz="1150" dirty="0"/>
          </a:p>
        </p:txBody>
      </p:sp>
      <p:sp>
        <p:nvSpPr>
          <p:cNvPr id="26" name="Text 24"/>
          <p:cNvSpPr/>
          <p:nvPr/>
        </p:nvSpPr>
        <p:spPr>
          <a:xfrm>
            <a:off x="640080" y="4946904"/>
            <a:ext cx="43891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RQ4</a:t>
            </a:r>
            <a:endParaRPr lang="en-US" sz="950" dirty="0"/>
          </a:p>
        </p:txBody>
      </p:sp>
      <p:sp>
        <p:nvSpPr>
          <p:cNvPr id="27" name="Text 25"/>
          <p:cNvSpPr/>
          <p:nvPr/>
        </p:nvSpPr>
        <p:spPr>
          <a:xfrm>
            <a:off x="1261872" y="4956048"/>
            <a:ext cx="10289743" cy="420624"/>
          </a:xfrm>
          <a:prstGeom prst="rect">
            <a:avLst/>
          </a:prstGeom>
          <a:noFill/>
          <a:ln/>
        </p:spPr>
        <p:txBody>
          <a:bodyPr wrap="square" lIns="0" tIns="0" rIns="0" bIns="0" rtlCol="0" anchor="ctr"/>
          <a:lstStyle/>
          <a:p>
            <a:pPr marL="0" indent="0">
              <a:lnSpc>
                <a:spcPct val="105000"/>
              </a:lnSpc>
              <a:buNone/>
            </a:pPr>
            <a:r>
              <a:rPr lang="en-US" sz="1250" dirty="0">
                <a:solidFill>
                  <a:srgbClr val="2A4247"/>
                </a:solidFill>
                <a:latin typeface="Calibri" pitchFamily="34" charset="0"/>
                <a:ea typeface="Calibri" pitchFamily="34" charset="-122"/>
                <a:cs typeface="Calibri" pitchFamily="34" charset="-120"/>
              </a:rPr>
              <a:t>Which failure modes remain after structural compilation — and what does compaction not improve?</a:t>
            </a:r>
            <a:endParaRPr lang="en-US" sz="1250" dirty="0"/>
          </a:p>
        </p:txBody>
      </p:sp>
      <p:sp>
        <p:nvSpPr>
          <p:cNvPr id="28" name="Shape 26"/>
          <p:cNvSpPr/>
          <p:nvPr/>
        </p:nvSpPr>
        <p:spPr>
          <a:xfrm>
            <a:off x="640080" y="5468112"/>
            <a:ext cx="10911535" cy="0"/>
          </a:xfrm>
          <a:prstGeom prst="line">
            <a:avLst/>
          </a:prstGeom>
          <a:noFill/>
          <a:ln w="9525">
            <a:solidFill>
              <a:srgbClr val="EAF0F1"/>
            </a:solidFill>
            <a:prstDash val="solid"/>
          </a:ln>
        </p:spPr>
        <p:txBody>
          <a:bodyPr/>
          <a:lstStyle/>
          <a:p>
            <a:endParaRPr lang="en-US"/>
          </a:p>
        </p:txBody>
      </p:sp>
      <p:sp>
        <p:nvSpPr>
          <p:cNvPr id="29" name="Shape 27"/>
          <p:cNvSpPr/>
          <p:nvPr/>
        </p:nvSpPr>
        <p:spPr>
          <a:xfrm>
            <a:off x="640080" y="5550408"/>
            <a:ext cx="438912" cy="438912"/>
          </a:xfrm>
          <a:prstGeom prst="ellipse">
            <a:avLst/>
          </a:prstGeom>
          <a:solidFill>
            <a:srgbClr val="4EA3B0"/>
          </a:solidFill>
          <a:ln w="6350">
            <a:solidFill>
              <a:srgbClr val="4EA3B0"/>
            </a:solidFill>
            <a:prstDash val="solid"/>
          </a:ln>
        </p:spPr>
        <p:txBody>
          <a:bodyPr/>
          <a:lstStyle/>
          <a:p>
            <a:endParaRPr lang="en-US"/>
          </a:p>
        </p:txBody>
      </p:sp>
      <p:sp>
        <p:nvSpPr>
          <p:cNvPr id="30" name="Text 28"/>
          <p:cNvSpPr/>
          <p:nvPr/>
        </p:nvSpPr>
        <p:spPr>
          <a:xfrm>
            <a:off x="640080" y="5550408"/>
            <a:ext cx="438912" cy="438912"/>
          </a:xfrm>
          <a:prstGeom prst="rect">
            <a:avLst/>
          </a:prstGeom>
          <a:noFill/>
          <a:ln/>
        </p:spPr>
        <p:txBody>
          <a:bodyPr wrap="square" lIns="0" tIns="0" rIns="0" bIns="0" rtlCol="0" anchor="ctr"/>
          <a:lstStyle/>
          <a:p>
            <a:pPr marL="0" indent="0" algn="ctr">
              <a:buNone/>
            </a:pPr>
            <a:endParaRPr lang="en-US" sz="1150" dirty="0"/>
          </a:p>
        </p:txBody>
      </p:sp>
      <p:sp>
        <p:nvSpPr>
          <p:cNvPr id="31" name="Text 29"/>
          <p:cNvSpPr/>
          <p:nvPr/>
        </p:nvSpPr>
        <p:spPr>
          <a:xfrm>
            <a:off x="640080" y="5550408"/>
            <a:ext cx="438912" cy="43891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RQ5</a:t>
            </a:r>
            <a:endParaRPr lang="en-US" sz="950" dirty="0"/>
          </a:p>
        </p:txBody>
      </p:sp>
      <p:sp>
        <p:nvSpPr>
          <p:cNvPr id="32" name="Text 30"/>
          <p:cNvSpPr/>
          <p:nvPr/>
        </p:nvSpPr>
        <p:spPr>
          <a:xfrm>
            <a:off x="1261872" y="5559552"/>
            <a:ext cx="10289743" cy="420624"/>
          </a:xfrm>
          <a:prstGeom prst="rect">
            <a:avLst/>
          </a:prstGeom>
          <a:noFill/>
          <a:ln/>
        </p:spPr>
        <p:txBody>
          <a:bodyPr wrap="square" lIns="0" tIns="0" rIns="0" bIns="0" rtlCol="0" anchor="ctr"/>
          <a:lstStyle/>
          <a:p>
            <a:pPr marL="0" indent="0">
              <a:lnSpc>
                <a:spcPct val="105000"/>
              </a:lnSpc>
              <a:buNone/>
            </a:pPr>
            <a:r>
              <a:rPr lang="en-US" sz="1250" dirty="0">
                <a:solidFill>
                  <a:srgbClr val="2A4247"/>
                </a:solidFill>
                <a:latin typeface="Calibri" pitchFamily="34" charset="0"/>
                <a:ea typeface="Calibri" pitchFamily="34" charset="-122"/>
                <a:cs typeface="Calibri" pitchFamily="34" charset="-120"/>
              </a:rPr>
              <a:t>Can group-level paired evidence select a risk-bounded action before a fresh cohort is seen?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DEFINITION</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A guarded specialization of the routine part of a workflow</a:t>
            </a:r>
            <a:endParaRPr lang="en-US" sz="2600" dirty="0"/>
          </a:p>
        </p:txBody>
      </p:sp>
      <p:sp>
        <p:nvSpPr>
          <p:cNvPr id="6" name="Shape 4"/>
          <p:cNvSpPr/>
          <p:nvPr/>
        </p:nvSpPr>
        <p:spPr>
          <a:xfrm>
            <a:off x="640080" y="1371600"/>
            <a:ext cx="10911535" cy="786384"/>
          </a:xfrm>
          <a:prstGeom prst="roundRect">
            <a:avLst>
              <a:gd name="adj" fmla="val 5814"/>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7" name="Text 5"/>
          <p:cNvSpPr/>
          <p:nvPr/>
        </p:nvSpPr>
        <p:spPr>
          <a:xfrm>
            <a:off x="914400" y="1481328"/>
            <a:ext cx="10362895" cy="566928"/>
          </a:xfrm>
          <a:prstGeom prst="rect">
            <a:avLst/>
          </a:prstGeom>
          <a:noFill/>
          <a:ln/>
        </p:spPr>
        <p:txBody>
          <a:bodyPr wrap="square" lIns="0" tIns="0" rIns="0" bIns="0" rtlCol="0" anchor="ctr"/>
          <a:lstStyle/>
          <a:p>
            <a:pPr marL="0" indent="0">
              <a:buNone/>
            </a:pPr>
            <a:r>
              <a:rPr lang="en-US" sz="1350" b="1" dirty="0">
                <a:solidFill>
                  <a:srgbClr val="0D4A54"/>
                </a:solidFill>
                <a:latin typeface="Calibri" pitchFamily="34" charset="0"/>
                <a:ea typeface="Calibri" pitchFamily="34" charset="-122"/>
                <a:cs typeface="Calibri" pitchFamily="34" charset="-120"/>
              </a:rPr>
              <a:t>Compaction</a:t>
            </a:r>
            <a:r>
              <a:rPr lang="en-US" sz="1350" dirty="0">
                <a:solidFill>
                  <a:srgbClr val="2A4247"/>
                </a:solidFill>
                <a:latin typeface="Calibri" pitchFamily="34" charset="0"/>
                <a:ea typeface="Calibri" pitchFamily="34" charset="-122"/>
                <a:cs typeface="Calibri" pitchFamily="34" charset="-120"/>
              </a:rPr>
              <a:t> names the mechanism; </a:t>
            </a:r>
            <a:r>
              <a:rPr lang="en-US" sz="1350" b="1" dirty="0">
                <a:solidFill>
                  <a:srgbClr val="0D4A54"/>
                </a:solidFill>
                <a:latin typeface="Calibri" pitchFamily="34" charset="0"/>
                <a:ea typeface="Calibri" pitchFamily="34" charset="-122"/>
                <a:cs typeface="Calibri" pitchFamily="34" charset="-120"/>
              </a:rPr>
              <a:t>specialization</a:t>
            </a:r>
            <a:r>
              <a:rPr lang="en-US" sz="1350" dirty="0">
                <a:solidFill>
                  <a:srgbClr val="2A4247"/>
                </a:solidFill>
                <a:latin typeface="Calibri" pitchFamily="34" charset="0"/>
                <a:ea typeface="Calibri" pitchFamily="34" charset="-122"/>
                <a:cs typeface="Calibri" pitchFamily="34" charset="-120"/>
              </a:rPr>
              <a:t> names what it is allowed to do. Every decision the evidence does not determine stays with the model.</a:t>
            </a:r>
            <a:endParaRPr lang="en-US" sz="1350" dirty="0"/>
          </a:p>
        </p:txBody>
      </p:sp>
      <p:sp>
        <p:nvSpPr>
          <p:cNvPr id="8" name="Shape 6"/>
          <p:cNvSpPr/>
          <p:nvPr/>
        </p:nvSpPr>
        <p:spPr>
          <a:xfrm>
            <a:off x="640080" y="2377440"/>
            <a:ext cx="5300320" cy="2697480"/>
          </a:xfrm>
          <a:prstGeom prst="roundRect">
            <a:avLst>
              <a:gd name="adj" fmla="val 169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9" name="Shape 7"/>
          <p:cNvSpPr/>
          <p:nvPr/>
        </p:nvSpPr>
        <p:spPr>
          <a:xfrm>
            <a:off x="914400" y="2578608"/>
            <a:ext cx="365760" cy="365760"/>
          </a:xfrm>
          <a:prstGeom prst="ellipse">
            <a:avLst/>
          </a:prstGeom>
          <a:solidFill>
            <a:srgbClr val="17798A"/>
          </a:solidFill>
          <a:ln w="6350">
            <a:solidFill>
              <a:srgbClr val="17798A"/>
            </a:solidFill>
            <a:prstDash val="solid"/>
          </a:ln>
        </p:spPr>
        <p:txBody>
          <a:bodyPr/>
          <a:lstStyle/>
          <a:p>
            <a:endParaRPr lang="en-US"/>
          </a:p>
        </p:txBody>
      </p:sp>
      <p:sp>
        <p:nvSpPr>
          <p:cNvPr id="10" name="Text 8"/>
          <p:cNvSpPr/>
          <p:nvPr/>
        </p:nvSpPr>
        <p:spPr>
          <a:xfrm>
            <a:off x="914400" y="25786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417320" y="2578608"/>
            <a:ext cx="4248760" cy="329184"/>
          </a:xfrm>
          <a:prstGeom prst="rect">
            <a:avLst/>
          </a:prstGeom>
          <a:noFill/>
          <a:ln/>
        </p:spPr>
        <p:txBody>
          <a:bodyPr wrap="square" lIns="0" tIns="0" rIns="0" bIns="0" rtlCol="0" anchor="ctr"/>
          <a:lstStyle/>
          <a:p>
            <a:pPr marL="0" indent="0">
              <a:buNone/>
            </a:pPr>
            <a:r>
              <a:rPr lang="en-US" sz="1600" b="1" dirty="0">
                <a:solidFill>
                  <a:srgbClr val="0D4A54"/>
                </a:solidFill>
                <a:latin typeface="Cambria" pitchFamily="34" charset="0"/>
                <a:ea typeface="Cambria" pitchFamily="34" charset="-122"/>
                <a:cs typeface="Cambria" pitchFamily="34" charset="-120"/>
              </a:rPr>
              <a:t>What it does</a:t>
            </a:r>
            <a:endParaRPr lang="en-US" sz="1600" dirty="0"/>
          </a:p>
        </p:txBody>
      </p:sp>
      <p:sp>
        <p:nvSpPr>
          <p:cNvPr id="12" name="Text 10"/>
          <p:cNvSpPr/>
          <p:nvPr/>
        </p:nvSpPr>
        <p:spPr>
          <a:xfrm>
            <a:off x="932688" y="3090672"/>
            <a:ext cx="4715104" cy="1828800"/>
          </a:xfrm>
          <a:prstGeom prst="rect">
            <a:avLst/>
          </a:prstGeom>
          <a:noFill/>
          <a:ln/>
        </p:spPr>
        <p:txBody>
          <a:bodyPr wrap="square" lIns="0" tIns="0" rIns="0" bIns="0" rtlCol="0" anchor="t"/>
          <a:lstStyle/>
          <a:p>
            <a:pPr marL="342900" indent="-342900">
              <a:lnSpc>
                <a:spcPct val="106000"/>
              </a:lnSpc>
              <a:spcAft>
                <a:spcPts val="600"/>
              </a:spcAft>
              <a:buSzPct val="100000"/>
              <a:buChar char="•"/>
            </a:pPr>
            <a:r>
              <a:rPr lang="en-US" sz="1150" dirty="0">
                <a:solidFill>
                  <a:srgbClr val="2A4247"/>
                </a:solidFill>
                <a:latin typeface="Calibri" pitchFamily="34" charset="0"/>
                <a:ea typeface="Calibri" pitchFamily="34" charset="-122"/>
                <a:cs typeface="Calibri" pitchFamily="34" charset="-120"/>
              </a:rPr>
              <a:t>Reconstructs typed, value-level provenance for every tool argument in the region</a:t>
            </a:r>
            <a:endParaRPr lang="en-US" sz="1150" dirty="0"/>
          </a:p>
          <a:p>
            <a:pPr marL="342900" indent="-342900">
              <a:lnSpc>
                <a:spcPct val="106000"/>
              </a:lnSpc>
              <a:spcAft>
                <a:spcPts val="600"/>
              </a:spcAft>
              <a:buSzPct val="100000"/>
              <a:buChar char="•"/>
            </a:pPr>
            <a:r>
              <a:rPr lang="en-US" sz="1150" dirty="0">
                <a:solidFill>
                  <a:srgbClr val="2A4247"/>
                </a:solidFill>
                <a:latin typeface="Calibri" pitchFamily="34" charset="0"/>
                <a:ea typeface="Calibri" pitchFamily="34" charset="-122"/>
                <a:cs typeface="Calibri" pitchFamily="34" charset="-120"/>
              </a:rPr>
              <a:t>Synthesizes a readable program from a closed 23-operator library at depth ≤ 2</a:t>
            </a:r>
            <a:endParaRPr lang="en-US" sz="1150" dirty="0"/>
          </a:p>
          <a:p>
            <a:pPr marL="342900" indent="-342900">
              <a:lnSpc>
                <a:spcPct val="106000"/>
              </a:lnSpc>
              <a:spcAft>
                <a:spcPts val="600"/>
              </a:spcAft>
              <a:buSzPct val="100000"/>
              <a:buChar char="•"/>
            </a:pPr>
            <a:r>
              <a:rPr lang="en-US" sz="1150" dirty="0">
                <a:solidFill>
                  <a:srgbClr val="2A4247"/>
                </a:solidFill>
                <a:latin typeface="Calibri" pitchFamily="34" charset="0"/>
                <a:ea typeface="Calibri" pitchFamily="34" charset="-122"/>
                <a:cs typeface="Calibri" pitchFamily="34" charset="-120"/>
              </a:rPr>
              <a:t>Induces a hard guard and a post-execution verifier from the same traces</a:t>
            </a:r>
            <a:endParaRPr lang="en-US" sz="1150" dirty="0"/>
          </a:p>
          <a:p>
            <a:pPr marL="342900" indent="-342900">
              <a:lnSpc>
                <a:spcPct val="106000"/>
              </a:lnSpc>
              <a:spcAft>
                <a:spcPts val="600"/>
              </a:spcAft>
              <a:buSzPct val="100000"/>
              <a:buChar char="•"/>
            </a:pPr>
            <a:r>
              <a:rPr lang="en-US" sz="1150" dirty="0">
                <a:solidFill>
                  <a:srgbClr val="2A4247"/>
                </a:solidFill>
                <a:latin typeface="Calibri" pitchFamily="34" charset="0"/>
                <a:ea typeface="Calibri" pitchFamily="34" charset="-122"/>
                <a:cs typeface="Calibri" pitchFamily="34" charset="-120"/>
              </a:rPr>
              <a:t>Attaches an exact finite-sample bound on registered-contract violations</a:t>
            </a:r>
            <a:endParaRPr lang="en-US" sz="1150" dirty="0"/>
          </a:p>
          <a:p>
            <a:pPr marL="342900" indent="-342900">
              <a:lnSpc>
                <a:spcPct val="106000"/>
              </a:lnSpc>
              <a:spcAft>
                <a:spcPts val="600"/>
              </a:spcAft>
              <a:buSzPct val="100000"/>
              <a:buChar char="•"/>
            </a:pPr>
            <a:r>
              <a:rPr lang="en-US" sz="1150" dirty="0">
                <a:solidFill>
                  <a:srgbClr val="2A4247"/>
                </a:solidFill>
                <a:latin typeface="Calibri" pitchFamily="34" charset="0"/>
                <a:ea typeface="Calibri" pitchFamily="34" charset="-122"/>
                <a:cs typeface="Calibri" pitchFamily="34" charset="-120"/>
              </a:rPr>
              <a:t>Falls back to the unchanged agent on any precondition miss</a:t>
            </a:r>
            <a:endParaRPr lang="en-US" sz="1150" dirty="0"/>
          </a:p>
        </p:txBody>
      </p:sp>
      <p:sp>
        <p:nvSpPr>
          <p:cNvPr id="13" name="Shape 11"/>
          <p:cNvSpPr/>
          <p:nvPr/>
        </p:nvSpPr>
        <p:spPr>
          <a:xfrm>
            <a:off x="6251296" y="2377440"/>
            <a:ext cx="5300320" cy="2697480"/>
          </a:xfrm>
          <a:prstGeom prst="roundRect">
            <a:avLst>
              <a:gd name="adj" fmla="val 1695"/>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4" name="Shape 12"/>
          <p:cNvSpPr/>
          <p:nvPr/>
        </p:nvSpPr>
        <p:spPr>
          <a:xfrm>
            <a:off x="6525616" y="2578608"/>
            <a:ext cx="365760" cy="365760"/>
          </a:xfrm>
          <a:prstGeom prst="ellipse">
            <a:avLst/>
          </a:prstGeom>
          <a:solidFill>
            <a:srgbClr val="AC4A2C"/>
          </a:solidFill>
          <a:ln w="6350">
            <a:solidFill>
              <a:srgbClr val="AC4A2C"/>
            </a:solidFill>
            <a:prstDash val="solid"/>
          </a:ln>
        </p:spPr>
        <p:txBody>
          <a:bodyPr/>
          <a:lstStyle/>
          <a:p>
            <a:endParaRPr lang="en-US"/>
          </a:p>
        </p:txBody>
      </p:sp>
      <p:sp>
        <p:nvSpPr>
          <p:cNvPr id="15" name="Text 13"/>
          <p:cNvSpPr/>
          <p:nvPr/>
        </p:nvSpPr>
        <p:spPr>
          <a:xfrm>
            <a:off x="6525616" y="257860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7028536" y="2578608"/>
            <a:ext cx="4248760" cy="329184"/>
          </a:xfrm>
          <a:prstGeom prst="rect">
            <a:avLst/>
          </a:prstGeom>
          <a:noFill/>
          <a:ln/>
        </p:spPr>
        <p:txBody>
          <a:bodyPr wrap="square" lIns="0" tIns="0" rIns="0" bIns="0" rtlCol="0" anchor="ctr"/>
          <a:lstStyle/>
          <a:p>
            <a:pPr marL="0" indent="0">
              <a:buNone/>
            </a:pPr>
            <a:r>
              <a:rPr lang="en-US" sz="1600" b="1" dirty="0">
                <a:solidFill>
                  <a:srgbClr val="AC4A2C"/>
                </a:solidFill>
                <a:latin typeface="Cambria" pitchFamily="34" charset="0"/>
                <a:ea typeface="Cambria" pitchFamily="34" charset="-122"/>
                <a:cs typeface="Cambria" pitchFamily="34" charset="-120"/>
              </a:rPr>
              <a:t>What it does not claim</a:t>
            </a:r>
            <a:endParaRPr lang="en-US" sz="1600" dirty="0"/>
          </a:p>
        </p:txBody>
      </p:sp>
      <p:sp>
        <p:nvSpPr>
          <p:cNvPr id="17" name="Text 15"/>
          <p:cNvSpPr/>
          <p:nvPr/>
        </p:nvSpPr>
        <p:spPr>
          <a:xfrm>
            <a:off x="6543904" y="3090672"/>
            <a:ext cx="4715104" cy="1828800"/>
          </a:xfrm>
          <a:prstGeom prst="rect">
            <a:avLst/>
          </a:prstGeom>
          <a:noFill/>
          <a:ln/>
        </p:spPr>
        <p:txBody>
          <a:bodyPr wrap="square" lIns="0" tIns="0" rIns="0" bIns="0" rtlCol="0" anchor="t"/>
          <a:lstStyle/>
          <a:p>
            <a:pPr marL="342900" indent="-342900">
              <a:lnSpc>
                <a:spcPct val="106000"/>
              </a:lnSpc>
              <a:spcAft>
                <a:spcPts val="600"/>
              </a:spcAft>
              <a:buSzPct val="100000"/>
              <a:buChar char="•"/>
            </a:pPr>
            <a:r>
              <a:rPr lang="en-US" sz="1150" dirty="0">
                <a:solidFill>
                  <a:srgbClr val="5A3A2E"/>
                </a:solidFill>
                <a:latin typeface="Calibri" pitchFamily="34" charset="0"/>
                <a:ea typeface="Calibri" pitchFamily="34" charset="-122"/>
                <a:cs typeface="Calibri" pitchFamily="34" charset="-120"/>
              </a:rPr>
              <a:t>Universal semantic equivalence between agent and program</a:t>
            </a:r>
            <a:endParaRPr lang="en-US" sz="1150" dirty="0"/>
          </a:p>
          <a:p>
            <a:pPr marL="342900" indent="-342900">
              <a:lnSpc>
                <a:spcPct val="106000"/>
              </a:lnSpc>
              <a:spcAft>
                <a:spcPts val="600"/>
              </a:spcAft>
              <a:buSzPct val="100000"/>
              <a:buChar char="•"/>
            </a:pPr>
            <a:r>
              <a:rPr lang="en-US" sz="1150" dirty="0">
                <a:solidFill>
                  <a:srgbClr val="5A3A2E"/>
                </a:solidFill>
                <a:latin typeface="Calibri" pitchFamily="34" charset="0"/>
                <a:ea typeface="Calibri" pitchFamily="34" charset="-122"/>
                <a:cs typeface="Calibri" pitchFamily="34" charset="-120"/>
              </a:rPr>
              <a:t>Production certification — no canary, no live service, one snapshot domain</a:t>
            </a:r>
            <a:endParaRPr lang="en-US" sz="1150" dirty="0"/>
          </a:p>
          <a:p>
            <a:pPr marL="342900" indent="-342900">
              <a:lnSpc>
                <a:spcPct val="106000"/>
              </a:lnSpc>
              <a:spcAft>
                <a:spcPts val="600"/>
              </a:spcAft>
              <a:buSzPct val="100000"/>
              <a:buChar char="•"/>
            </a:pPr>
            <a:r>
              <a:rPr lang="en-US" sz="1150" dirty="0">
                <a:solidFill>
                  <a:srgbClr val="5A3A2E"/>
                </a:solidFill>
                <a:latin typeface="Calibri" pitchFamily="34" charset="0"/>
                <a:ea typeface="Calibri" pitchFamily="34" charset="-122"/>
                <a:cs typeface="Calibri" pitchFamily="34" charset="-120"/>
              </a:rPr>
              <a:t>Cross-domain generalization beyond the studied workflow family</a:t>
            </a:r>
            <a:endParaRPr lang="en-US" sz="1150" dirty="0"/>
          </a:p>
          <a:p>
            <a:pPr marL="342900" indent="-342900">
              <a:lnSpc>
                <a:spcPct val="106000"/>
              </a:lnSpc>
              <a:spcAft>
                <a:spcPts val="600"/>
              </a:spcAft>
              <a:buSzPct val="100000"/>
              <a:buChar char="•"/>
            </a:pPr>
            <a:r>
              <a:rPr lang="en-US" sz="1150" dirty="0">
                <a:solidFill>
                  <a:srgbClr val="5A3A2E"/>
                </a:solidFill>
                <a:latin typeface="Calibri" pitchFamily="34" charset="0"/>
                <a:ea typeface="Calibri" pitchFamily="34" charset="-122"/>
                <a:cs typeface="Calibri" pitchFamily="34" charset="-120"/>
              </a:rPr>
              <a:t>Fewer necessary tool calls — evidence acquisition is untouched</a:t>
            </a:r>
            <a:endParaRPr lang="en-US" sz="1150" dirty="0"/>
          </a:p>
          <a:p>
            <a:pPr marL="342900" indent="-342900">
              <a:lnSpc>
                <a:spcPct val="106000"/>
              </a:lnSpc>
              <a:spcAft>
                <a:spcPts val="600"/>
              </a:spcAft>
              <a:buSzPct val="100000"/>
              <a:buChar char="•"/>
            </a:pPr>
            <a:r>
              <a:rPr lang="en-US" sz="1150" dirty="0">
                <a:solidFill>
                  <a:srgbClr val="5A3A2E"/>
                </a:solidFill>
                <a:latin typeface="Calibri" pitchFamily="34" charset="0"/>
                <a:ea typeface="Calibri" pitchFamily="34" charset="-122"/>
                <a:cs typeface="Calibri" pitchFamily="34" charset="-120"/>
              </a:rPr>
              <a:t>Deterministic natural-language generation</a:t>
            </a:r>
            <a:endParaRPr lang="en-US" sz="1150" dirty="0"/>
          </a:p>
        </p:txBody>
      </p:sp>
      <p:sp>
        <p:nvSpPr>
          <p:cNvPr id="18" name="Text 16"/>
          <p:cNvSpPr/>
          <p:nvPr/>
        </p:nvSpPr>
        <p:spPr>
          <a:xfrm>
            <a:off x="640080" y="5285232"/>
            <a:ext cx="10911535" cy="292608"/>
          </a:xfrm>
          <a:prstGeom prst="rect">
            <a:avLst/>
          </a:prstGeom>
          <a:noFill/>
          <a:ln/>
        </p:spPr>
        <p:txBody>
          <a:bodyPr wrap="square" lIns="0" tIns="0" rIns="0" bIns="0" rtlCol="0" anchor="t"/>
          <a:lstStyle/>
          <a:p>
            <a:pPr marL="0" indent="0">
              <a:buNone/>
            </a:pPr>
            <a:r>
              <a:rPr lang="en-US" sz="1050" i="1" dirty="0">
                <a:solidFill>
                  <a:srgbClr val="5F767A"/>
                </a:solidFill>
                <a:latin typeface="Calibri" pitchFamily="34" charset="0"/>
                <a:ea typeface="Calibri" pitchFamily="34" charset="-122"/>
                <a:cs typeface="Calibri" pitchFamily="34" charset="-120"/>
              </a:rPr>
              <a:t>Shipped as two passes over one typed trace representation: guarded region compilation (studied here) and trace-guided workflow specialization (routing).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ARCHITECTURE</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Capture offline, compile offline, resolve at the entry boundary</a:t>
            </a:r>
            <a:endParaRPr lang="en-US" sz="2600" dirty="0"/>
          </a:p>
        </p:txBody>
      </p:sp>
      <p:sp>
        <p:nvSpPr>
          <p:cNvPr id="6" name="Shape 4"/>
          <p:cNvSpPr/>
          <p:nvPr/>
        </p:nvSpPr>
        <p:spPr>
          <a:xfrm>
            <a:off x="640080" y="1426464"/>
            <a:ext cx="3381146" cy="2724912"/>
          </a:xfrm>
          <a:prstGeom prst="roundRect">
            <a:avLst>
              <a:gd name="adj" fmla="val 167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7" name="Shape 5"/>
          <p:cNvSpPr/>
          <p:nvPr/>
        </p:nvSpPr>
        <p:spPr>
          <a:xfrm>
            <a:off x="914400" y="1664208"/>
            <a:ext cx="402336" cy="402336"/>
          </a:xfrm>
          <a:prstGeom prst="ellipse">
            <a:avLst/>
          </a:prstGeom>
          <a:solidFill>
            <a:srgbClr val="17798A"/>
          </a:solidFill>
          <a:ln w="6350">
            <a:solidFill>
              <a:srgbClr val="17798A"/>
            </a:solidFill>
            <a:prstDash val="solid"/>
          </a:ln>
        </p:spPr>
        <p:txBody>
          <a:bodyPr/>
          <a:lstStyle/>
          <a:p>
            <a:endParaRPr lang="en-US"/>
          </a:p>
        </p:txBody>
      </p:sp>
      <p:sp>
        <p:nvSpPr>
          <p:cNvPr id="8" name="Text 6"/>
          <p:cNvSpPr/>
          <p:nvPr/>
        </p:nvSpPr>
        <p:spPr>
          <a:xfrm>
            <a:off x="914400" y="16642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444752" y="1664208"/>
            <a:ext cx="2283866" cy="402336"/>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Capture</a:t>
            </a:r>
            <a:endParaRPr lang="en-US" sz="1700" dirty="0"/>
          </a:p>
        </p:txBody>
      </p:sp>
      <p:sp>
        <p:nvSpPr>
          <p:cNvPr id="10" name="Text 8"/>
          <p:cNvSpPr/>
          <p:nvPr/>
        </p:nvSpPr>
        <p:spPr>
          <a:xfrm>
            <a:off x="932688" y="2286000"/>
            <a:ext cx="2795930" cy="1737360"/>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Framework traces normalized into one typed Episode IR</a:t>
            </a:r>
            <a:endParaRPr lang="en-US" sz="1150" dirty="0"/>
          </a:p>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Entry snapshot, content-addressed manifest, ordered events, outcome</a:t>
            </a:r>
            <a:endParaRPr lang="en-US" sz="1150" dirty="0"/>
          </a:p>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Persisted as canonical JSONL with atomic replacement and strict validation</a:t>
            </a:r>
            <a:endParaRPr lang="en-US" sz="1150" dirty="0"/>
          </a:p>
        </p:txBody>
      </p:sp>
      <p:sp>
        <p:nvSpPr>
          <p:cNvPr id="11" name="Shape 9"/>
          <p:cNvSpPr/>
          <p:nvPr/>
        </p:nvSpPr>
        <p:spPr>
          <a:xfrm>
            <a:off x="4094378" y="2587752"/>
            <a:ext cx="237744" cy="402336"/>
          </a:xfrm>
          <a:prstGeom prst="chevron">
            <a:avLst/>
          </a:prstGeom>
          <a:solidFill>
            <a:srgbClr val="9CC7CE"/>
          </a:solidFill>
          <a:ln w="6350">
            <a:solidFill>
              <a:srgbClr val="9CC7CE"/>
            </a:solidFill>
            <a:prstDash val="solid"/>
          </a:ln>
        </p:spPr>
        <p:txBody>
          <a:bodyPr/>
          <a:lstStyle/>
          <a:p>
            <a:endParaRPr lang="en-US"/>
          </a:p>
        </p:txBody>
      </p:sp>
      <p:sp>
        <p:nvSpPr>
          <p:cNvPr id="12" name="Shape 10"/>
          <p:cNvSpPr/>
          <p:nvPr/>
        </p:nvSpPr>
        <p:spPr>
          <a:xfrm>
            <a:off x="4405274" y="1426464"/>
            <a:ext cx="3381146" cy="2724912"/>
          </a:xfrm>
          <a:prstGeom prst="roundRect">
            <a:avLst>
              <a:gd name="adj" fmla="val 167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3" name="Shape 11"/>
          <p:cNvSpPr/>
          <p:nvPr/>
        </p:nvSpPr>
        <p:spPr>
          <a:xfrm>
            <a:off x="4679594" y="1664208"/>
            <a:ext cx="402336" cy="402336"/>
          </a:xfrm>
          <a:prstGeom prst="ellipse">
            <a:avLst/>
          </a:prstGeom>
          <a:solidFill>
            <a:srgbClr val="0D4A54"/>
          </a:solidFill>
          <a:ln w="6350">
            <a:solidFill>
              <a:srgbClr val="0D4A54"/>
            </a:solidFill>
            <a:prstDash val="solid"/>
          </a:ln>
        </p:spPr>
        <p:txBody>
          <a:bodyPr/>
          <a:lstStyle/>
          <a:p>
            <a:endParaRPr lang="en-US"/>
          </a:p>
        </p:txBody>
      </p:sp>
      <p:sp>
        <p:nvSpPr>
          <p:cNvPr id="14" name="Text 12"/>
          <p:cNvSpPr/>
          <p:nvPr/>
        </p:nvSpPr>
        <p:spPr>
          <a:xfrm>
            <a:off x="4679594" y="16642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5" name="Text 13"/>
          <p:cNvSpPr/>
          <p:nvPr/>
        </p:nvSpPr>
        <p:spPr>
          <a:xfrm>
            <a:off x="5209946" y="1664208"/>
            <a:ext cx="2283866" cy="402336"/>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Offline compilation</a:t>
            </a:r>
            <a:endParaRPr lang="en-US" sz="1700" dirty="0"/>
          </a:p>
        </p:txBody>
      </p:sp>
      <p:sp>
        <p:nvSpPr>
          <p:cNvPr id="16" name="Text 14"/>
          <p:cNvSpPr/>
          <p:nvPr/>
        </p:nvSpPr>
        <p:spPr>
          <a:xfrm>
            <a:off x="4697882" y="2286000"/>
            <a:ext cx="2795930" cy="1737360"/>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Touches no production traffic</a:t>
            </a:r>
            <a:endParaRPr lang="en-US" sz="1150" dirty="0"/>
          </a:p>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Six independent rejection points; any barrier hit returns Retire</a:t>
            </a:r>
            <a:endParaRPr lang="en-US" sz="1150" dirty="0"/>
          </a:p>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Emits an artifact only if the exact calibration bound clears the risk budget</a:t>
            </a:r>
            <a:endParaRPr lang="en-US" sz="1150" dirty="0"/>
          </a:p>
        </p:txBody>
      </p:sp>
      <p:sp>
        <p:nvSpPr>
          <p:cNvPr id="17" name="Shape 15"/>
          <p:cNvSpPr/>
          <p:nvPr/>
        </p:nvSpPr>
        <p:spPr>
          <a:xfrm>
            <a:off x="7859573" y="2587752"/>
            <a:ext cx="237744" cy="402336"/>
          </a:xfrm>
          <a:prstGeom prst="chevron">
            <a:avLst/>
          </a:prstGeom>
          <a:solidFill>
            <a:srgbClr val="9CC7CE"/>
          </a:solidFill>
          <a:ln w="6350">
            <a:solidFill>
              <a:srgbClr val="9CC7CE"/>
            </a:solidFill>
            <a:prstDash val="solid"/>
          </a:ln>
        </p:spPr>
        <p:txBody>
          <a:bodyPr/>
          <a:lstStyle/>
          <a:p>
            <a:endParaRPr lang="en-US"/>
          </a:p>
        </p:txBody>
      </p:sp>
      <p:sp>
        <p:nvSpPr>
          <p:cNvPr id="18" name="Shape 16"/>
          <p:cNvSpPr/>
          <p:nvPr/>
        </p:nvSpPr>
        <p:spPr>
          <a:xfrm>
            <a:off x="8170469" y="1426464"/>
            <a:ext cx="3381146" cy="2724912"/>
          </a:xfrm>
          <a:prstGeom prst="roundRect">
            <a:avLst>
              <a:gd name="adj" fmla="val 167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9" name="Shape 17"/>
          <p:cNvSpPr/>
          <p:nvPr/>
        </p:nvSpPr>
        <p:spPr>
          <a:xfrm>
            <a:off x="8444789" y="1664208"/>
            <a:ext cx="402336" cy="402336"/>
          </a:xfrm>
          <a:prstGeom prst="ellipse">
            <a:avLst/>
          </a:prstGeom>
          <a:solidFill>
            <a:srgbClr val="4EA3B0"/>
          </a:solidFill>
          <a:ln w="6350">
            <a:solidFill>
              <a:srgbClr val="4EA3B0"/>
            </a:solidFill>
            <a:prstDash val="solid"/>
          </a:ln>
        </p:spPr>
        <p:txBody>
          <a:bodyPr/>
          <a:lstStyle/>
          <a:p>
            <a:endParaRPr lang="en-US"/>
          </a:p>
        </p:txBody>
      </p:sp>
      <p:sp>
        <p:nvSpPr>
          <p:cNvPr id="20" name="Text 18"/>
          <p:cNvSpPr/>
          <p:nvPr/>
        </p:nvSpPr>
        <p:spPr>
          <a:xfrm>
            <a:off x="8444789" y="16642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1" name="Text 19"/>
          <p:cNvSpPr/>
          <p:nvPr/>
        </p:nvSpPr>
        <p:spPr>
          <a:xfrm>
            <a:off x="8975141" y="1664208"/>
            <a:ext cx="2283866" cy="402336"/>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Runtime</a:t>
            </a:r>
            <a:endParaRPr lang="en-US" sz="1700" dirty="0"/>
          </a:p>
        </p:txBody>
      </p:sp>
      <p:sp>
        <p:nvSpPr>
          <p:cNvPr id="22" name="Text 20"/>
          <p:cNvSpPr/>
          <p:nvPr/>
        </p:nvSpPr>
        <p:spPr>
          <a:xfrm>
            <a:off x="8463077" y="2286000"/>
            <a:ext cx="2795930" cy="1737360"/>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Bounded registry lookup by compatibility and partition key</a:t>
            </a:r>
            <a:endParaRPr lang="en-US" sz="1150" dirty="0"/>
          </a:p>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Guard → gate → stage → interpret → verify → commit</a:t>
            </a:r>
            <a:endParaRPr lang="en-US" sz="1150" dirty="0"/>
          </a:p>
          <a:p>
            <a:pPr marL="342900" indent="-342900">
              <a:lnSpc>
                <a:spcPct val="106000"/>
              </a:lnSpc>
              <a:spcAft>
                <a:spcPts val="800"/>
              </a:spcAft>
              <a:buSzPct val="100000"/>
              <a:buChar char="•"/>
            </a:pPr>
            <a:r>
              <a:rPr lang="en-US" sz="1150" dirty="0">
                <a:solidFill>
                  <a:srgbClr val="2A4247"/>
                </a:solidFill>
                <a:latin typeface="Calibri" pitchFamily="34" charset="0"/>
                <a:ea typeface="Calibri" pitchFamily="34" charset="-122"/>
                <a:cs typeface="Calibri" pitchFamily="34" charset="-120"/>
              </a:rPr>
              <a:t>Of seven terminal edges, exactly one compacts</a:t>
            </a:r>
            <a:endParaRPr lang="en-US" sz="1150" dirty="0"/>
          </a:p>
        </p:txBody>
      </p:sp>
      <p:sp>
        <p:nvSpPr>
          <p:cNvPr id="23" name="Shape 21"/>
          <p:cNvSpPr/>
          <p:nvPr/>
        </p:nvSpPr>
        <p:spPr>
          <a:xfrm>
            <a:off x="640080" y="4443984"/>
            <a:ext cx="10911535" cy="1024128"/>
          </a:xfrm>
          <a:prstGeom prst="roundRect">
            <a:avLst>
              <a:gd name="adj" fmla="val 4464"/>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24" name="Text 22"/>
          <p:cNvSpPr/>
          <p:nvPr/>
        </p:nvSpPr>
        <p:spPr>
          <a:xfrm>
            <a:off x="914400" y="4590288"/>
            <a:ext cx="10362895" cy="219456"/>
          </a:xfrm>
          <a:prstGeom prst="rect">
            <a:avLst/>
          </a:prstGeom>
          <a:noFill/>
          <a:ln/>
        </p:spPr>
        <p:txBody>
          <a:bodyPr wrap="square" lIns="0" tIns="0" rIns="0" bIns="0" rtlCol="0" anchor="t"/>
          <a:lstStyle/>
          <a:p>
            <a:pPr marL="0" indent="0">
              <a:buNone/>
            </a:pPr>
            <a:r>
              <a:rPr lang="en-US" sz="950" b="1" kern="0" spc="120" dirty="0">
                <a:solidFill>
                  <a:srgbClr val="AC4A2C"/>
                </a:solidFill>
                <a:latin typeface="Calibri" pitchFamily="34" charset="0"/>
                <a:ea typeface="Calibri" pitchFamily="34" charset="-122"/>
                <a:cs typeface="Calibri" pitchFamily="34" charset="-120"/>
              </a:rPr>
              <a:t>HARD BARRIERS — NO STATISTICAL EVIDENCE CAN LICENSE AN ARTIFACT</a:t>
            </a:r>
            <a:endParaRPr lang="en-US" sz="950" dirty="0"/>
          </a:p>
        </p:txBody>
      </p:sp>
      <p:sp>
        <p:nvSpPr>
          <p:cNvPr id="25" name="Text 23"/>
          <p:cNvSpPr/>
          <p:nvPr/>
        </p:nvSpPr>
        <p:spPr>
          <a:xfrm>
            <a:off x="914400" y="4882896"/>
            <a:ext cx="10362895" cy="457200"/>
          </a:xfrm>
          <a:prstGeom prst="rect">
            <a:avLst/>
          </a:prstGeom>
          <a:noFill/>
          <a:ln/>
        </p:spPr>
        <p:txBody>
          <a:bodyPr wrap="square" lIns="0" tIns="0" rIns="0" bIns="0" rtlCol="0" anchor="t"/>
          <a:lstStyle/>
          <a:p>
            <a:pPr marL="0" indent="0">
              <a:lnSpc>
                <a:spcPct val="108000"/>
              </a:lnSpc>
              <a:buNone/>
            </a:pPr>
            <a:r>
              <a:rPr lang="en-US" sz="1250" dirty="0">
                <a:solidFill>
                  <a:srgbClr val="5A3A2E"/>
                </a:solidFill>
                <a:latin typeface="Calibri" pitchFamily="34" charset="0"/>
                <a:ea typeface="Calibri" pitchFamily="34" charset="-122"/>
                <a:cs typeface="Calibri" pitchFamily="34" charset="-120"/>
              </a:rPr>
              <a:t>unknown or irreversible effect  ·  approval  ·  handoff  ·  ungrounded or ambiguous argument  ·  manifest or isolation mismatch  ·  non-prefix runtime position</a:t>
            </a:r>
            <a:endParaRPr lang="en-US" sz="1250" dirty="0"/>
          </a:p>
        </p:txBody>
      </p:sp>
      <p:sp>
        <p:nvSpPr>
          <p:cNvPr id="26" name="Text 24"/>
          <p:cNvSpPr/>
          <p:nvPr/>
        </p:nvSpPr>
        <p:spPr>
          <a:xfrm>
            <a:off x="640080" y="5669280"/>
            <a:ext cx="10911535" cy="292608"/>
          </a:xfrm>
          <a:prstGeom prst="rect">
            <a:avLst/>
          </a:prstGeom>
          <a:noFill/>
          <a:ln/>
        </p:spPr>
        <p:txBody>
          <a:bodyPr wrap="square" lIns="0" tIns="0" rIns="0" bIns="0" rtlCol="0" anchor="t"/>
          <a:lstStyle/>
          <a:p>
            <a:pPr marL="0" indent="0">
              <a:buNone/>
            </a:pPr>
            <a:r>
              <a:rPr lang="en-US" sz="1100" i="1" dirty="0">
                <a:solidFill>
                  <a:srgbClr val="5F767A"/>
                </a:solidFill>
                <a:latin typeface="Calibri" pitchFamily="34" charset="0"/>
                <a:ea typeface="Calibri" pitchFamily="34" charset="-122"/>
                <a:cs typeface="Calibri" pitchFamily="34" charset="-120"/>
              </a:rPr>
              <a:t>The asymmetry is deliberate: statistics can only narrow what a structurally admissible artifact may do. They can never widen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OFFLINE COMPILATION</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Six independent rejection points — refusal is the default output</a:t>
            </a:r>
            <a:endParaRPr lang="en-US" sz="2600" dirty="0"/>
          </a:p>
        </p:txBody>
      </p:sp>
      <p:sp>
        <p:nvSpPr>
          <p:cNvPr id="6" name="Shape 4"/>
          <p:cNvSpPr/>
          <p:nvPr/>
        </p:nvSpPr>
        <p:spPr>
          <a:xfrm>
            <a:off x="640080" y="1481328"/>
            <a:ext cx="420624" cy="420624"/>
          </a:xfrm>
          <a:prstGeom prst="ellipse">
            <a:avLst/>
          </a:prstGeom>
          <a:solidFill>
            <a:srgbClr val="17798A"/>
          </a:solidFill>
          <a:ln w="6350">
            <a:solidFill>
              <a:srgbClr val="17798A"/>
            </a:solidFill>
            <a:prstDash val="solid"/>
          </a:ln>
        </p:spPr>
        <p:txBody>
          <a:bodyPr/>
          <a:lstStyle/>
          <a:p>
            <a:endParaRPr lang="en-US"/>
          </a:p>
        </p:txBody>
      </p:sp>
      <p:sp>
        <p:nvSpPr>
          <p:cNvPr id="7" name="Text 5"/>
          <p:cNvSpPr/>
          <p:nvPr/>
        </p:nvSpPr>
        <p:spPr>
          <a:xfrm>
            <a:off x="640080" y="148132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25296" y="1426464"/>
            <a:ext cx="4715104" cy="292608"/>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Qualify &amp; partition</a:t>
            </a:r>
            <a:endParaRPr lang="en-US" sz="1400" dirty="0"/>
          </a:p>
        </p:txBody>
      </p:sp>
      <p:sp>
        <p:nvSpPr>
          <p:cNvPr id="9" name="Text 7"/>
          <p:cNvSpPr/>
          <p:nvPr/>
        </p:nvSpPr>
        <p:spPr>
          <a:xfrm>
            <a:off x="1225296" y="1737360"/>
            <a:ext cx="4660240" cy="621792"/>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Drop partial runs, unpinned manifests, missing payloads. Partition by manifest, principal, isolation.</a:t>
            </a:r>
            <a:endParaRPr lang="en-US" sz="1150" dirty="0"/>
          </a:p>
        </p:txBody>
      </p:sp>
      <p:sp>
        <p:nvSpPr>
          <p:cNvPr id="10" name="Shape 8"/>
          <p:cNvSpPr/>
          <p:nvPr/>
        </p:nvSpPr>
        <p:spPr>
          <a:xfrm>
            <a:off x="6251296" y="1481328"/>
            <a:ext cx="420624" cy="420624"/>
          </a:xfrm>
          <a:prstGeom prst="ellipse">
            <a:avLst/>
          </a:prstGeom>
          <a:solidFill>
            <a:srgbClr val="17798A"/>
          </a:solidFill>
          <a:ln w="6350">
            <a:solidFill>
              <a:srgbClr val="17798A"/>
            </a:solidFill>
            <a:prstDash val="solid"/>
          </a:ln>
        </p:spPr>
        <p:txBody>
          <a:bodyPr/>
          <a:lstStyle/>
          <a:p>
            <a:endParaRPr lang="en-US"/>
          </a:p>
        </p:txBody>
      </p:sp>
      <p:sp>
        <p:nvSpPr>
          <p:cNvPr id="11" name="Text 9"/>
          <p:cNvSpPr/>
          <p:nvPr/>
        </p:nvSpPr>
        <p:spPr>
          <a:xfrm>
            <a:off x="6251296" y="148132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36512" y="1426464"/>
            <a:ext cx="4715104" cy="292608"/>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Typed provenance</a:t>
            </a:r>
            <a:endParaRPr lang="en-US" sz="1400" dirty="0"/>
          </a:p>
        </p:txBody>
      </p:sp>
      <p:sp>
        <p:nvSpPr>
          <p:cNvPr id="13" name="Text 11"/>
          <p:cNvSpPr/>
          <p:nvPr/>
        </p:nvSpPr>
        <p:spPr>
          <a:xfrm>
            <a:off x="6836512" y="1737360"/>
            <a:ext cx="4660240" cy="621792"/>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Build the program-argument trace graph. No witness or too many witnesses blocks the region.</a:t>
            </a:r>
            <a:endParaRPr lang="en-US" sz="1150" dirty="0"/>
          </a:p>
        </p:txBody>
      </p:sp>
      <p:sp>
        <p:nvSpPr>
          <p:cNvPr id="14" name="Shape 12"/>
          <p:cNvSpPr/>
          <p:nvPr/>
        </p:nvSpPr>
        <p:spPr>
          <a:xfrm>
            <a:off x="640080" y="2560320"/>
            <a:ext cx="420624" cy="420624"/>
          </a:xfrm>
          <a:prstGeom prst="ellipse">
            <a:avLst/>
          </a:prstGeom>
          <a:solidFill>
            <a:srgbClr val="17798A"/>
          </a:solidFill>
          <a:ln w="6350">
            <a:solidFill>
              <a:srgbClr val="17798A"/>
            </a:solidFill>
            <a:prstDash val="solid"/>
          </a:ln>
        </p:spPr>
        <p:txBody>
          <a:bodyPr/>
          <a:lstStyle/>
          <a:p>
            <a:endParaRPr lang="en-US"/>
          </a:p>
        </p:txBody>
      </p:sp>
      <p:sp>
        <p:nvSpPr>
          <p:cNvPr id="15" name="Text 13"/>
          <p:cNvSpPr/>
          <p:nvPr/>
        </p:nvSpPr>
        <p:spPr>
          <a:xfrm>
            <a:off x="640080" y="25603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225296" y="2505456"/>
            <a:ext cx="4715104" cy="292608"/>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Feasibility ceiling</a:t>
            </a:r>
            <a:endParaRPr lang="en-US" sz="1400" dirty="0"/>
          </a:p>
        </p:txBody>
      </p:sp>
      <p:sp>
        <p:nvSpPr>
          <p:cNvPr id="17" name="Text 15"/>
          <p:cNvSpPr/>
          <p:nvPr/>
        </p:nvSpPr>
        <p:spPr>
          <a:xfrm>
            <a:off x="1225296" y="2816352"/>
            <a:ext cx="4660240" cy="621792"/>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Compute the best achievable saving before paying for synthesis. Below target → decline.</a:t>
            </a:r>
            <a:endParaRPr lang="en-US" sz="1150" dirty="0"/>
          </a:p>
        </p:txBody>
      </p:sp>
      <p:sp>
        <p:nvSpPr>
          <p:cNvPr id="18" name="Shape 16"/>
          <p:cNvSpPr/>
          <p:nvPr/>
        </p:nvSpPr>
        <p:spPr>
          <a:xfrm>
            <a:off x="6251296" y="2560320"/>
            <a:ext cx="420624" cy="420624"/>
          </a:xfrm>
          <a:prstGeom prst="ellipse">
            <a:avLst/>
          </a:prstGeom>
          <a:solidFill>
            <a:srgbClr val="17798A"/>
          </a:solidFill>
          <a:ln w="6350">
            <a:solidFill>
              <a:srgbClr val="17798A"/>
            </a:solidFill>
            <a:prstDash val="solid"/>
          </a:ln>
        </p:spPr>
        <p:txBody>
          <a:bodyPr/>
          <a:lstStyle/>
          <a:p>
            <a:endParaRPr lang="en-US"/>
          </a:p>
        </p:txBody>
      </p:sp>
      <p:sp>
        <p:nvSpPr>
          <p:cNvPr id="19" name="Text 17"/>
          <p:cNvSpPr/>
          <p:nvPr/>
        </p:nvSpPr>
        <p:spPr>
          <a:xfrm>
            <a:off x="6251296" y="256032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6836512" y="2505456"/>
            <a:ext cx="4715104" cy="292608"/>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Bounded synthesis</a:t>
            </a:r>
            <a:endParaRPr lang="en-US" sz="1400" dirty="0"/>
          </a:p>
        </p:txBody>
      </p:sp>
      <p:sp>
        <p:nvSpPr>
          <p:cNvPr id="21" name="Text 19"/>
          <p:cNvSpPr/>
          <p:nvPr/>
        </p:nvSpPr>
        <p:spPr>
          <a:xfrm>
            <a:off x="6836512" y="2816352"/>
            <a:ext cx="4660240" cy="621792"/>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Search a 23-operator closed library at depth ≤ 2, refit group-wise. Ungroundable slot → skip.</a:t>
            </a:r>
            <a:endParaRPr lang="en-US" sz="1150" dirty="0"/>
          </a:p>
        </p:txBody>
      </p:sp>
      <p:sp>
        <p:nvSpPr>
          <p:cNvPr id="22" name="Shape 20"/>
          <p:cNvSpPr/>
          <p:nvPr/>
        </p:nvSpPr>
        <p:spPr>
          <a:xfrm>
            <a:off x="640080" y="3639312"/>
            <a:ext cx="420624" cy="420624"/>
          </a:xfrm>
          <a:prstGeom prst="ellipse">
            <a:avLst/>
          </a:prstGeom>
          <a:solidFill>
            <a:srgbClr val="17798A"/>
          </a:solidFill>
          <a:ln w="6350">
            <a:solidFill>
              <a:srgbClr val="17798A"/>
            </a:solidFill>
            <a:prstDash val="solid"/>
          </a:ln>
        </p:spPr>
        <p:txBody>
          <a:bodyPr/>
          <a:lstStyle/>
          <a:p>
            <a:endParaRPr lang="en-US"/>
          </a:p>
        </p:txBody>
      </p:sp>
      <p:sp>
        <p:nvSpPr>
          <p:cNvPr id="23" name="Text 21"/>
          <p:cNvSpPr/>
          <p:nvPr/>
        </p:nvSpPr>
        <p:spPr>
          <a:xfrm>
            <a:off x="640080" y="36393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225296" y="3584448"/>
            <a:ext cx="4715104" cy="292608"/>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Contracts &amp; challenge</a:t>
            </a:r>
            <a:endParaRPr lang="en-US" sz="1400" dirty="0"/>
          </a:p>
        </p:txBody>
      </p:sp>
      <p:sp>
        <p:nvSpPr>
          <p:cNvPr id="25" name="Text 23"/>
          <p:cNvSpPr/>
          <p:nvPr/>
        </p:nvSpPr>
        <p:spPr>
          <a:xfrm>
            <a:off x="1225296" y="3895344"/>
            <a:ext cx="4660240" cy="621792"/>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Induce hard guard and verifier; replay, and perturb where a sandbox exists. A counterexample retires the family.</a:t>
            </a:r>
            <a:endParaRPr lang="en-US" sz="1150" dirty="0"/>
          </a:p>
        </p:txBody>
      </p:sp>
      <p:sp>
        <p:nvSpPr>
          <p:cNvPr id="26" name="Shape 24"/>
          <p:cNvSpPr/>
          <p:nvPr/>
        </p:nvSpPr>
        <p:spPr>
          <a:xfrm>
            <a:off x="6251296" y="3639312"/>
            <a:ext cx="420624" cy="420624"/>
          </a:xfrm>
          <a:prstGeom prst="ellipse">
            <a:avLst/>
          </a:prstGeom>
          <a:solidFill>
            <a:srgbClr val="0D4A54"/>
          </a:solidFill>
          <a:ln w="6350">
            <a:solidFill>
              <a:srgbClr val="0D4A54"/>
            </a:solidFill>
            <a:prstDash val="solid"/>
          </a:ln>
        </p:spPr>
        <p:txBody>
          <a:bodyPr/>
          <a:lstStyle/>
          <a:p>
            <a:endParaRPr lang="en-US"/>
          </a:p>
        </p:txBody>
      </p:sp>
      <p:sp>
        <p:nvSpPr>
          <p:cNvPr id="27" name="Text 25"/>
          <p:cNvSpPr/>
          <p:nvPr/>
        </p:nvSpPr>
        <p:spPr>
          <a:xfrm>
            <a:off x="6251296" y="363931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6836512" y="3584448"/>
            <a:ext cx="4715104" cy="292608"/>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Exact calibration</a:t>
            </a:r>
            <a:endParaRPr lang="en-US" sz="1400" dirty="0"/>
          </a:p>
        </p:txBody>
      </p:sp>
      <p:sp>
        <p:nvSpPr>
          <p:cNvPr id="29" name="Text 27"/>
          <p:cNvSpPr/>
          <p:nvPr/>
        </p:nvSpPr>
        <p:spPr>
          <a:xfrm>
            <a:off x="6836512" y="3895344"/>
            <a:ext cx="4660240" cy="621792"/>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One-sided Clopper–Pearson over a pre-frozen threshold grid. No admissible threshold → retire.</a:t>
            </a:r>
            <a:endParaRPr lang="en-US" sz="1150" dirty="0"/>
          </a:p>
        </p:txBody>
      </p:sp>
      <p:sp>
        <p:nvSpPr>
          <p:cNvPr id="30" name="Shape 28"/>
          <p:cNvSpPr/>
          <p:nvPr/>
        </p:nvSpPr>
        <p:spPr>
          <a:xfrm>
            <a:off x="640080" y="4892040"/>
            <a:ext cx="10911535" cy="896112"/>
          </a:xfrm>
          <a:prstGeom prst="roundRect">
            <a:avLst>
              <a:gd name="adj" fmla="val 5102"/>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31" name="Text 29"/>
          <p:cNvSpPr/>
          <p:nvPr/>
        </p:nvSpPr>
        <p:spPr>
          <a:xfrm>
            <a:off x="914400" y="5029200"/>
            <a:ext cx="10362895" cy="603504"/>
          </a:xfrm>
          <a:prstGeom prst="rect">
            <a:avLst/>
          </a:prstGeom>
          <a:noFill/>
          <a:ln/>
        </p:spPr>
        <p:txBody>
          <a:bodyPr wrap="square" lIns="0" tIns="0" rIns="0" bIns="0" rtlCol="0" anchor="ctr"/>
          <a:lstStyle/>
          <a:p>
            <a:pPr marL="0" indent="0">
              <a:lnSpc>
                <a:spcPct val="108000"/>
              </a:lnSpc>
              <a:buNone/>
            </a:pPr>
            <a:r>
              <a:rPr lang="en-US" sz="1300" b="1" dirty="0">
                <a:solidFill>
                  <a:srgbClr val="0D4A54"/>
                </a:solidFill>
                <a:latin typeface="Calibri" pitchFamily="34" charset="0"/>
                <a:ea typeface="Calibri" pitchFamily="34" charset="-122"/>
                <a:cs typeface="Calibri" pitchFamily="34" charset="-120"/>
              </a:rPr>
              <a:t>Every rejection is recorded with its stage, so failures stay in the denominator. </a:t>
            </a:r>
            <a:r>
              <a:rPr lang="en-US" sz="1300" dirty="0">
                <a:solidFill>
                  <a:srgbClr val="2A4247"/>
                </a:solidFill>
                <a:latin typeface="Calibri" pitchFamily="34" charset="0"/>
                <a:ea typeface="Calibri" pitchFamily="34" charset="-122"/>
                <a:cs typeface="Calibri" pitchFamily="34" charset="-120"/>
              </a:rPr>
              <a:t>The action set at the compiler layer is exactly two: retain the baseline, or admit one compiled artifact.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REJECTION POINT 2</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Typed provenance: a slot with no witness is a genuine model decision</a:t>
            </a:r>
            <a:endParaRPr lang="en-US" sz="2600" dirty="0"/>
          </a:p>
        </p:txBody>
      </p:sp>
      <p:sp>
        <p:nvSpPr>
          <p:cNvPr id="6" name="Text 4"/>
          <p:cNvSpPr/>
          <p:nvPr/>
        </p:nvSpPr>
        <p:spPr>
          <a:xfrm>
            <a:off x="640080" y="1389888"/>
            <a:ext cx="10911535" cy="548640"/>
          </a:xfrm>
          <a:prstGeom prst="rect">
            <a:avLst/>
          </a:prstGeom>
          <a:noFill/>
          <a:ln/>
        </p:spPr>
        <p:txBody>
          <a:bodyPr wrap="square" lIns="0" tIns="0" rIns="0" bIns="0" rtlCol="0" anchor="t"/>
          <a:lstStyle/>
          <a:p>
            <a:pPr marL="0" indent="0" algn="l">
              <a:lnSpc>
                <a:spcPct val="112000"/>
              </a:lnSpc>
              <a:buNone/>
            </a:pPr>
            <a:r>
              <a:rPr lang="en-US" sz="1300" dirty="0">
                <a:solidFill>
                  <a:srgbClr val="2A4247"/>
                </a:solidFill>
                <a:latin typeface="Calibri" pitchFamily="34" charset="0"/>
                <a:ea typeface="Calibri" pitchFamily="34" charset="-122"/>
                <a:cs typeface="Calibri" pitchFamily="34" charset="-120"/>
              </a:rPr>
              <a:t>For each call-argument slot the program-argument trace graph searches entry-state and prior-result paths for typed values and bounded transforms. Exact matches, stable field paths, and library transformations become candidate producer edges.</a:t>
            </a:r>
            <a:endParaRPr lang="en-US" sz="1300" dirty="0"/>
          </a:p>
        </p:txBody>
      </p:sp>
      <p:sp>
        <p:nvSpPr>
          <p:cNvPr id="7" name="Shape 5"/>
          <p:cNvSpPr/>
          <p:nvPr/>
        </p:nvSpPr>
        <p:spPr>
          <a:xfrm>
            <a:off x="640080" y="2103120"/>
            <a:ext cx="3454298" cy="1572768"/>
          </a:xfrm>
          <a:prstGeom prst="roundRect">
            <a:avLst>
              <a:gd name="adj" fmla="val 2907"/>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8" name="Shape 6"/>
          <p:cNvSpPr/>
          <p:nvPr/>
        </p:nvSpPr>
        <p:spPr>
          <a:xfrm>
            <a:off x="896112" y="2322576"/>
            <a:ext cx="347472" cy="347472"/>
          </a:xfrm>
          <a:prstGeom prst="ellipse">
            <a:avLst/>
          </a:prstGeom>
          <a:solidFill>
            <a:srgbClr val="17798A"/>
          </a:solidFill>
          <a:ln w="6350">
            <a:solidFill>
              <a:srgbClr val="17798A"/>
            </a:solidFill>
            <a:prstDash val="solid"/>
          </a:ln>
        </p:spPr>
        <p:txBody>
          <a:bodyPr/>
          <a:lstStyle/>
          <a:p>
            <a:endParaRPr lang="en-US"/>
          </a:p>
        </p:txBody>
      </p:sp>
      <p:sp>
        <p:nvSpPr>
          <p:cNvPr id="9" name="Text 7"/>
          <p:cNvSpPr/>
          <p:nvPr/>
        </p:nvSpPr>
        <p:spPr>
          <a:xfrm>
            <a:off x="896112" y="23225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8"/>
          <p:cNvSpPr/>
          <p:nvPr/>
        </p:nvSpPr>
        <p:spPr>
          <a:xfrm>
            <a:off x="1335024" y="2322576"/>
            <a:ext cx="2503322" cy="347472"/>
          </a:xfrm>
          <a:prstGeom prst="rect">
            <a:avLst/>
          </a:prstGeom>
          <a:noFill/>
          <a:ln/>
        </p:spPr>
        <p:txBody>
          <a:bodyPr wrap="square" lIns="0" tIns="0" rIns="0" bIns="0" rtlCol="0" anchor="ctr"/>
          <a:lstStyle/>
          <a:p>
            <a:pPr marL="0" indent="0">
              <a:buNone/>
            </a:pPr>
            <a:r>
              <a:rPr lang="en-US" sz="1350" b="1" dirty="0">
                <a:solidFill>
                  <a:srgbClr val="0D4A54"/>
                </a:solidFill>
                <a:latin typeface="Cambria" pitchFamily="34" charset="0"/>
                <a:ea typeface="Cambria" pitchFamily="34" charset="-122"/>
                <a:cs typeface="Cambria" pitchFamily="34" charset="-120"/>
              </a:rPr>
              <a:t>Exactly one witness</a:t>
            </a:r>
            <a:endParaRPr lang="en-US" sz="1350" dirty="0"/>
          </a:p>
        </p:txBody>
      </p:sp>
      <p:sp>
        <p:nvSpPr>
          <p:cNvPr id="11" name="Text 9"/>
          <p:cNvSpPr/>
          <p:nvPr/>
        </p:nvSpPr>
        <p:spPr>
          <a:xfrm>
            <a:off x="914400" y="2761488"/>
            <a:ext cx="2905658" cy="786384"/>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Edge admitted. The minimum-description-length producer is recorded as the slot's provenance.</a:t>
            </a:r>
            <a:endParaRPr lang="en-US" sz="1150" dirty="0"/>
          </a:p>
        </p:txBody>
      </p:sp>
      <p:sp>
        <p:nvSpPr>
          <p:cNvPr id="12" name="Shape 10"/>
          <p:cNvSpPr/>
          <p:nvPr/>
        </p:nvSpPr>
        <p:spPr>
          <a:xfrm>
            <a:off x="4368698" y="2103120"/>
            <a:ext cx="3454298" cy="1572768"/>
          </a:xfrm>
          <a:prstGeom prst="roundRect">
            <a:avLst>
              <a:gd name="adj" fmla="val 2907"/>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3" name="Shape 11"/>
          <p:cNvSpPr/>
          <p:nvPr/>
        </p:nvSpPr>
        <p:spPr>
          <a:xfrm>
            <a:off x="4624730" y="2322576"/>
            <a:ext cx="347472" cy="347472"/>
          </a:xfrm>
          <a:prstGeom prst="ellipse">
            <a:avLst/>
          </a:prstGeom>
          <a:solidFill>
            <a:srgbClr val="AC4A2C"/>
          </a:solidFill>
          <a:ln w="6350">
            <a:solidFill>
              <a:srgbClr val="AC4A2C"/>
            </a:solidFill>
            <a:prstDash val="solid"/>
          </a:ln>
        </p:spPr>
        <p:txBody>
          <a:bodyPr/>
          <a:lstStyle/>
          <a:p>
            <a:endParaRPr lang="en-US"/>
          </a:p>
        </p:txBody>
      </p:sp>
      <p:sp>
        <p:nvSpPr>
          <p:cNvPr id="14" name="Text 12"/>
          <p:cNvSpPr/>
          <p:nvPr/>
        </p:nvSpPr>
        <p:spPr>
          <a:xfrm>
            <a:off x="4624730" y="23225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5063642" y="2322576"/>
            <a:ext cx="2503322" cy="347472"/>
          </a:xfrm>
          <a:prstGeom prst="rect">
            <a:avLst/>
          </a:prstGeom>
          <a:noFill/>
          <a:ln/>
        </p:spPr>
        <p:txBody>
          <a:bodyPr wrap="square" lIns="0" tIns="0" rIns="0" bIns="0" rtlCol="0" anchor="ctr"/>
          <a:lstStyle/>
          <a:p>
            <a:pPr marL="0" indent="0">
              <a:buNone/>
            </a:pPr>
            <a:r>
              <a:rPr lang="en-US" sz="1350" b="1" dirty="0">
                <a:solidFill>
                  <a:srgbClr val="AC4A2C"/>
                </a:solidFill>
                <a:latin typeface="Cambria" pitchFamily="34" charset="0"/>
                <a:ea typeface="Cambria" pitchFamily="34" charset="-122"/>
                <a:cs typeface="Cambria" pitchFamily="34" charset="-120"/>
              </a:rPr>
              <a:t>No witness</a:t>
            </a:r>
            <a:endParaRPr lang="en-US" sz="1350" dirty="0"/>
          </a:p>
        </p:txBody>
      </p:sp>
      <p:sp>
        <p:nvSpPr>
          <p:cNvPr id="16" name="Text 14"/>
          <p:cNvSpPr/>
          <p:nvPr/>
        </p:nvSpPr>
        <p:spPr>
          <a:xfrm>
            <a:off x="4643018" y="2761488"/>
            <a:ext cx="2905658" cy="786384"/>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The slot is a real model decision. Region blocked — there is nothing to reconstruct it from.</a:t>
            </a:r>
            <a:endParaRPr lang="en-US" sz="1150" dirty="0"/>
          </a:p>
        </p:txBody>
      </p:sp>
      <p:sp>
        <p:nvSpPr>
          <p:cNvPr id="17" name="Shape 15"/>
          <p:cNvSpPr/>
          <p:nvPr/>
        </p:nvSpPr>
        <p:spPr>
          <a:xfrm>
            <a:off x="8097317" y="2103120"/>
            <a:ext cx="3454298" cy="1572768"/>
          </a:xfrm>
          <a:prstGeom prst="roundRect">
            <a:avLst>
              <a:gd name="adj" fmla="val 2907"/>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8" name="Shape 16"/>
          <p:cNvSpPr/>
          <p:nvPr/>
        </p:nvSpPr>
        <p:spPr>
          <a:xfrm>
            <a:off x="8353349" y="2322576"/>
            <a:ext cx="347472" cy="347472"/>
          </a:xfrm>
          <a:prstGeom prst="ellipse">
            <a:avLst/>
          </a:prstGeom>
          <a:solidFill>
            <a:srgbClr val="AC4A2C"/>
          </a:solidFill>
          <a:ln w="6350">
            <a:solidFill>
              <a:srgbClr val="AC4A2C"/>
            </a:solidFill>
            <a:prstDash val="solid"/>
          </a:ln>
        </p:spPr>
        <p:txBody>
          <a:bodyPr/>
          <a:lstStyle/>
          <a:p>
            <a:endParaRPr lang="en-US"/>
          </a:p>
        </p:txBody>
      </p:sp>
      <p:sp>
        <p:nvSpPr>
          <p:cNvPr id="19" name="Text 17"/>
          <p:cNvSpPr/>
          <p:nvPr/>
        </p:nvSpPr>
        <p:spPr>
          <a:xfrm>
            <a:off x="8353349" y="232257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8792261" y="2322576"/>
            <a:ext cx="2503322" cy="347472"/>
          </a:xfrm>
          <a:prstGeom prst="rect">
            <a:avLst/>
          </a:prstGeom>
          <a:noFill/>
          <a:ln/>
        </p:spPr>
        <p:txBody>
          <a:bodyPr wrap="square" lIns="0" tIns="0" rIns="0" bIns="0" rtlCol="0" anchor="ctr"/>
          <a:lstStyle/>
          <a:p>
            <a:pPr marL="0" indent="0">
              <a:buNone/>
            </a:pPr>
            <a:r>
              <a:rPr lang="en-US" sz="1350" b="1" dirty="0">
                <a:solidFill>
                  <a:srgbClr val="AC4A2C"/>
                </a:solidFill>
                <a:latin typeface="Cambria" pitchFamily="34" charset="0"/>
                <a:ea typeface="Cambria" pitchFamily="34" charset="-122"/>
                <a:cs typeface="Cambria" pitchFamily="34" charset="-120"/>
              </a:rPr>
              <a:t>Above the ambiguity cap</a:t>
            </a:r>
            <a:endParaRPr lang="en-US" sz="1350" dirty="0"/>
          </a:p>
        </p:txBody>
      </p:sp>
      <p:sp>
        <p:nvSpPr>
          <p:cNvPr id="21" name="Text 19"/>
          <p:cNvSpPr/>
          <p:nvPr/>
        </p:nvSpPr>
        <p:spPr>
          <a:xfrm>
            <a:off x="8371637" y="2761488"/>
            <a:ext cx="2905658" cy="786384"/>
          </a:xfrm>
          <a:prstGeom prst="rect">
            <a:avLst/>
          </a:prstGeom>
          <a:noFill/>
          <a:ln/>
        </p:spPr>
        <p:txBody>
          <a:bodyPr wrap="square" lIns="0" tIns="0" rIns="0" bIns="0" rtlCol="0" anchor="t"/>
          <a:lstStyle/>
          <a:p>
            <a:pPr marL="0" indent="0">
              <a:lnSpc>
                <a:spcPct val="108000"/>
              </a:lnSpc>
              <a:buNone/>
            </a:pPr>
            <a:r>
              <a:rPr lang="en-US" sz="1150" dirty="0">
                <a:solidFill>
                  <a:srgbClr val="3A5257"/>
                </a:solidFill>
                <a:latin typeface="Calibri" pitchFamily="34" charset="0"/>
                <a:ea typeface="Calibri" pitchFamily="34" charset="-122"/>
                <a:cs typeface="Calibri" pitchFamily="34" charset="-120"/>
              </a:rPr>
              <a:t>Too many plausible producers. Region blocked rather than defaulting to the cheapest explanation.</a:t>
            </a:r>
            <a:endParaRPr lang="en-US" sz="1150" dirty="0"/>
          </a:p>
        </p:txBody>
      </p:sp>
      <p:sp>
        <p:nvSpPr>
          <p:cNvPr id="22" name="Text 20"/>
          <p:cNvSpPr/>
          <p:nvPr/>
        </p:nvSpPr>
        <p:spPr>
          <a:xfrm>
            <a:off x="640080" y="3913632"/>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MEASURED ON NESTFUL — 5,746 DEPENDENCY SLOTS</a:t>
            </a:r>
            <a:endParaRPr lang="en-US" sz="1050" dirty="0"/>
          </a:p>
        </p:txBody>
      </p:sp>
      <p:sp>
        <p:nvSpPr>
          <p:cNvPr id="23" name="Shape 21"/>
          <p:cNvSpPr/>
          <p:nvPr/>
        </p:nvSpPr>
        <p:spPr>
          <a:xfrm>
            <a:off x="640080" y="4206240"/>
            <a:ext cx="2006742" cy="1207008"/>
          </a:xfrm>
          <a:prstGeom prst="roundRect">
            <a:avLst>
              <a:gd name="adj" fmla="val 378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4" name="Text 22"/>
          <p:cNvSpPr/>
          <p:nvPr/>
        </p:nvSpPr>
        <p:spPr>
          <a:xfrm>
            <a:off x="786384" y="4334256"/>
            <a:ext cx="1714134" cy="420624"/>
          </a:xfrm>
          <a:prstGeom prst="rect">
            <a:avLst/>
          </a:prstGeom>
          <a:noFill/>
          <a:ln/>
        </p:spPr>
        <p:txBody>
          <a:bodyPr wrap="square" lIns="0" tIns="0" rIns="0" bIns="0" rtlCol="0" anchor="ctr"/>
          <a:lstStyle/>
          <a:p>
            <a:pPr marL="0" indent="0">
              <a:buNone/>
            </a:pPr>
            <a:r>
              <a:rPr lang="en-US" sz="2200" b="1" dirty="0">
                <a:solidFill>
                  <a:srgbClr val="0D4A54"/>
                </a:solidFill>
                <a:latin typeface="Cambria" pitchFamily="34" charset="0"/>
                <a:ea typeface="Cambria" pitchFamily="34" charset="-122"/>
                <a:cs typeface="Cambria" pitchFamily="34" charset="-120"/>
              </a:rPr>
              <a:t>5,531</a:t>
            </a:r>
            <a:endParaRPr lang="en-US" sz="2200" dirty="0"/>
          </a:p>
        </p:txBody>
      </p:sp>
      <p:sp>
        <p:nvSpPr>
          <p:cNvPr id="25" name="Text 23"/>
          <p:cNvSpPr/>
          <p:nvPr/>
        </p:nvSpPr>
        <p:spPr>
          <a:xfrm>
            <a:off x="786384" y="4773168"/>
            <a:ext cx="1714134" cy="548640"/>
          </a:xfrm>
          <a:prstGeom prst="rect">
            <a:avLst/>
          </a:prstGeom>
          <a:noFill/>
          <a:ln/>
        </p:spPr>
        <p:txBody>
          <a:bodyPr wrap="square" lIns="0" tIns="0" rIns="0" bIns="0" rtlCol="0" anchor="ctr"/>
          <a:lstStyle/>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in candidate set</a:t>
            </a:r>
            <a:endParaRPr lang="en-US" sz="1050" dirty="0"/>
          </a:p>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96.3% recall</a:t>
            </a:r>
            <a:endParaRPr lang="en-US" sz="1050" dirty="0"/>
          </a:p>
        </p:txBody>
      </p:sp>
      <p:sp>
        <p:nvSpPr>
          <p:cNvPr id="26" name="Shape 24"/>
          <p:cNvSpPr/>
          <p:nvPr/>
        </p:nvSpPr>
        <p:spPr>
          <a:xfrm>
            <a:off x="2866278" y="4206240"/>
            <a:ext cx="2006742" cy="1207008"/>
          </a:xfrm>
          <a:prstGeom prst="roundRect">
            <a:avLst>
              <a:gd name="adj" fmla="val 378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7" name="Text 25"/>
          <p:cNvSpPr/>
          <p:nvPr/>
        </p:nvSpPr>
        <p:spPr>
          <a:xfrm>
            <a:off x="3012582" y="4334256"/>
            <a:ext cx="1714134" cy="420624"/>
          </a:xfrm>
          <a:prstGeom prst="rect">
            <a:avLst/>
          </a:prstGeom>
          <a:noFill/>
          <a:ln/>
        </p:spPr>
        <p:txBody>
          <a:bodyPr wrap="square" lIns="0" tIns="0" rIns="0" bIns="0" rtlCol="0" anchor="ctr"/>
          <a:lstStyle/>
          <a:p>
            <a:pPr marL="0" indent="0">
              <a:buNone/>
            </a:pPr>
            <a:r>
              <a:rPr lang="en-US" sz="2200" b="1" dirty="0">
                <a:solidFill>
                  <a:srgbClr val="0D4A54"/>
                </a:solidFill>
                <a:latin typeface="Cambria" pitchFamily="34" charset="0"/>
                <a:ea typeface="Cambria" pitchFamily="34" charset="-122"/>
                <a:cs typeface="Cambria" pitchFamily="34" charset="-120"/>
              </a:rPr>
              <a:t>4,636</a:t>
            </a:r>
            <a:endParaRPr lang="en-US" sz="2200" dirty="0"/>
          </a:p>
        </p:txBody>
      </p:sp>
      <p:sp>
        <p:nvSpPr>
          <p:cNvPr id="28" name="Text 26"/>
          <p:cNvSpPr/>
          <p:nvPr/>
        </p:nvSpPr>
        <p:spPr>
          <a:xfrm>
            <a:off x="3012582" y="4773168"/>
            <a:ext cx="1714134" cy="548640"/>
          </a:xfrm>
          <a:prstGeom prst="rect">
            <a:avLst/>
          </a:prstGeom>
          <a:noFill/>
          <a:ln/>
        </p:spPr>
        <p:txBody>
          <a:bodyPr wrap="square" lIns="0" tIns="0" rIns="0" bIns="0" rtlCol="0" anchor="ctr"/>
          <a:lstStyle/>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uniquely resolved</a:t>
            </a:r>
            <a:endParaRPr lang="en-US" sz="1050" dirty="0"/>
          </a:p>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80.7%</a:t>
            </a:r>
            <a:endParaRPr lang="en-US" sz="1050" dirty="0"/>
          </a:p>
        </p:txBody>
      </p:sp>
      <p:sp>
        <p:nvSpPr>
          <p:cNvPr id="29" name="Shape 27"/>
          <p:cNvSpPr/>
          <p:nvPr/>
        </p:nvSpPr>
        <p:spPr>
          <a:xfrm>
            <a:off x="5092476" y="4206240"/>
            <a:ext cx="2006742" cy="1207008"/>
          </a:xfrm>
          <a:prstGeom prst="roundRect">
            <a:avLst>
              <a:gd name="adj" fmla="val 378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30" name="Text 28"/>
          <p:cNvSpPr/>
          <p:nvPr/>
        </p:nvSpPr>
        <p:spPr>
          <a:xfrm>
            <a:off x="5238780" y="4334256"/>
            <a:ext cx="1714134" cy="420624"/>
          </a:xfrm>
          <a:prstGeom prst="rect">
            <a:avLst/>
          </a:prstGeom>
          <a:noFill/>
          <a:ln/>
        </p:spPr>
        <p:txBody>
          <a:bodyPr wrap="square" lIns="0" tIns="0" rIns="0" bIns="0" rtlCol="0" anchor="ctr"/>
          <a:lstStyle/>
          <a:p>
            <a:pPr marL="0" indent="0">
              <a:buNone/>
            </a:pPr>
            <a:r>
              <a:rPr lang="en-US" sz="2200" b="1" dirty="0">
                <a:solidFill>
                  <a:srgbClr val="AC4A2C"/>
                </a:solidFill>
                <a:latin typeface="Cambria" pitchFamily="34" charset="0"/>
                <a:ea typeface="Cambria" pitchFamily="34" charset="-122"/>
                <a:cs typeface="Cambria" pitchFamily="34" charset="-120"/>
              </a:rPr>
              <a:t>895</a:t>
            </a:r>
            <a:endParaRPr lang="en-US" sz="2200" dirty="0"/>
          </a:p>
        </p:txBody>
      </p:sp>
      <p:sp>
        <p:nvSpPr>
          <p:cNvPr id="31" name="Text 29"/>
          <p:cNvSpPr/>
          <p:nvPr/>
        </p:nvSpPr>
        <p:spPr>
          <a:xfrm>
            <a:off x="5238780" y="4773168"/>
            <a:ext cx="1714134" cy="548640"/>
          </a:xfrm>
          <a:prstGeom prst="rect">
            <a:avLst/>
          </a:prstGeom>
          <a:noFill/>
          <a:ln/>
        </p:spPr>
        <p:txBody>
          <a:bodyPr wrap="square" lIns="0" tIns="0" rIns="0" bIns="0" rtlCol="0" anchor="ctr"/>
          <a:lstStyle/>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ambiguous</a:t>
            </a:r>
            <a:endParaRPr lang="en-US" sz="1050" dirty="0"/>
          </a:p>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15.6%</a:t>
            </a:r>
            <a:endParaRPr lang="en-US" sz="1050" dirty="0"/>
          </a:p>
        </p:txBody>
      </p:sp>
      <p:sp>
        <p:nvSpPr>
          <p:cNvPr id="32" name="Shape 30"/>
          <p:cNvSpPr/>
          <p:nvPr/>
        </p:nvSpPr>
        <p:spPr>
          <a:xfrm>
            <a:off x="7318675" y="4206240"/>
            <a:ext cx="2006742" cy="1207008"/>
          </a:xfrm>
          <a:prstGeom prst="roundRect">
            <a:avLst>
              <a:gd name="adj" fmla="val 378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33" name="Text 31"/>
          <p:cNvSpPr/>
          <p:nvPr/>
        </p:nvSpPr>
        <p:spPr>
          <a:xfrm>
            <a:off x="7464979" y="4334256"/>
            <a:ext cx="1714134" cy="420624"/>
          </a:xfrm>
          <a:prstGeom prst="rect">
            <a:avLst/>
          </a:prstGeom>
          <a:noFill/>
          <a:ln/>
        </p:spPr>
        <p:txBody>
          <a:bodyPr wrap="square" lIns="0" tIns="0" rIns="0" bIns="0" rtlCol="0" anchor="ctr"/>
          <a:lstStyle/>
          <a:p>
            <a:pPr marL="0" indent="0">
              <a:buNone/>
            </a:pPr>
            <a:r>
              <a:rPr lang="en-US" sz="2200" b="1" dirty="0">
                <a:solidFill>
                  <a:srgbClr val="AC4A2C"/>
                </a:solidFill>
                <a:latin typeface="Cambria" pitchFamily="34" charset="0"/>
                <a:ea typeface="Cambria" pitchFamily="34" charset="-122"/>
                <a:cs typeface="Cambria" pitchFamily="34" charset="-120"/>
              </a:rPr>
              <a:t>215</a:t>
            </a:r>
            <a:endParaRPr lang="en-US" sz="2200" dirty="0"/>
          </a:p>
        </p:txBody>
      </p:sp>
      <p:sp>
        <p:nvSpPr>
          <p:cNvPr id="34" name="Text 32"/>
          <p:cNvSpPr/>
          <p:nvPr/>
        </p:nvSpPr>
        <p:spPr>
          <a:xfrm>
            <a:off x="7464979" y="4773168"/>
            <a:ext cx="1714134" cy="548640"/>
          </a:xfrm>
          <a:prstGeom prst="rect">
            <a:avLst/>
          </a:prstGeom>
          <a:noFill/>
          <a:ln/>
        </p:spPr>
        <p:txBody>
          <a:bodyPr wrap="square" lIns="0" tIns="0" rIns="0" bIns="0" rtlCol="0" anchor="ctr"/>
          <a:lstStyle/>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no candidate</a:t>
            </a:r>
            <a:endParaRPr lang="en-US" sz="1050" dirty="0"/>
          </a:p>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3.7%</a:t>
            </a:r>
            <a:endParaRPr lang="en-US" sz="1050" dirty="0"/>
          </a:p>
        </p:txBody>
      </p:sp>
      <p:sp>
        <p:nvSpPr>
          <p:cNvPr id="35" name="Shape 33"/>
          <p:cNvSpPr/>
          <p:nvPr/>
        </p:nvSpPr>
        <p:spPr>
          <a:xfrm>
            <a:off x="9544873" y="4206240"/>
            <a:ext cx="2006742" cy="1207008"/>
          </a:xfrm>
          <a:prstGeom prst="roundRect">
            <a:avLst>
              <a:gd name="adj" fmla="val 378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36" name="Text 34"/>
          <p:cNvSpPr/>
          <p:nvPr/>
        </p:nvSpPr>
        <p:spPr>
          <a:xfrm>
            <a:off x="9691177" y="4334256"/>
            <a:ext cx="1714134" cy="420624"/>
          </a:xfrm>
          <a:prstGeom prst="rect">
            <a:avLst/>
          </a:prstGeom>
          <a:noFill/>
          <a:ln/>
        </p:spPr>
        <p:txBody>
          <a:bodyPr wrap="square" lIns="0" tIns="0" rIns="0" bIns="0" rtlCol="0" anchor="ctr"/>
          <a:lstStyle/>
          <a:p>
            <a:pPr marL="0" indent="0">
              <a:buNone/>
            </a:pPr>
            <a:r>
              <a:rPr lang="en-US" sz="2200" b="1" dirty="0">
                <a:solidFill>
                  <a:srgbClr val="AC4A2C"/>
                </a:solidFill>
                <a:latin typeface="Cambria" pitchFamily="34" charset="0"/>
                <a:ea typeface="Cambria" pitchFamily="34" charset="-122"/>
                <a:cs typeface="Cambria" pitchFamily="34" charset="-120"/>
              </a:rPr>
              <a:t>84.3%</a:t>
            </a:r>
            <a:endParaRPr lang="en-US" sz="2200" dirty="0"/>
          </a:p>
        </p:txBody>
      </p:sp>
      <p:sp>
        <p:nvSpPr>
          <p:cNvPr id="37" name="Text 35"/>
          <p:cNvSpPr/>
          <p:nvPr/>
        </p:nvSpPr>
        <p:spPr>
          <a:xfrm>
            <a:off x="9691177" y="4773168"/>
            <a:ext cx="1714134" cy="548640"/>
          </a:xfrm>
          <a:prstGeom prst="rect">
            <a:avLst/>
          </a:prstGeom>
          <a:noFill/>
          <a:ln/>
        </p:spPr>
        <p:txBody>
          <a:bodyPr wrap="square" lIns="0" tIns="0" rIns="0" bIns="0" rtlCol="0" anchor="ctr"/>
          <a:lstStyle/>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candidate-edge</a:t>
            </a:r>
            <a:endParaRPr lang="en-US" sz="1050" dirty="0"/>
          </a:p>
          <a:p>
            <a:pPr marL="0" indent="0">
              <a:lnSpc>
                <a:spcPct val="100000"/>
              </a:lnSpc>
              <a:buNone/>
            </a:pPr>
            <a:r>
              <a:rPr lang="en-US" sz="1050" dirty="0">
                <a:solidFill>
                  <a:srgbClr val="5F767A"/>
                </a:solidFill>
                <a:latin typeface="Calibri" pitchFamily="34" charset="0"/>
                <a:ea typeface="Calibri" pitchFamily="34" charset="-122"/>
                <a:cs typeface="Calibri" pitchFamily="34" charset="-120"/>
              </a:rPr>
              <a:t>precision</a:t>
            </a:r>
            <a:endParaRPr lang="en-US" sz="1050" dirty="0"/>
          </a:p>
        </p:txBody>
      </p:sp>
      <p:sp>
        <p:nvSpPr>
          <p:cNvPr id="38" name="Text 36"/>
          <p:cNvSpPr/>
          <p:nvPr/>
        </p:nvSpPr>
        <p:spPr>
          <a:xfrm>
            <a:off x="640080" y="5596128"/>
            <a:ext cx="10911535" cy="457200"/>
          </a:xfrm>
          <a:prstGeom prst="rect">
            <a:avLst/>
          </a:prstGeom>
          <a:noFill/>
          <a:ln/>
        </p:spPr>
        <p:txBody>
          <a:bodyPr wrap="square" lIns="0" tIns="0" rIns="0" bIns="0" rtlCol="0" anchor="ctr"/>
          <a:lstStyle/>
          <a:p>
            <a:pPr marL="0" indent="0">
              <a:lnSpc>
                <a:spcPct val="105000"/>
              </a:lnSpc>
              <a:buNone/>
            </a:pPr>
            <a:r>
              <a:rPr lang="en-US" sz="1050" i="1" dirty="0">
                <a:solidFill>
                  <a:srgbClr val="5F767A"/>
                </a:solidFill>
                <a:latin typeface="Calibri" pitchFamily="34" charset="0"/>
                <a:ea typeface="Calibri" pitchFamily="34" charset="-122"/>
                <a:cs typeface="Calibri" pitchFamily="34" charset="-120"/>
              </a:rPr>
              <a:t>Recall measures search reachability, not dependency reconstruction: no non-empty candidate set ever omitted the true producer, so the 215 misses are exactly the slots with no candidate at all.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RUNTIME</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The artifact carries its own preconditions — and usually declines</a:t>
            </a:r>
            <a:endParaRPr lang="en-US" sz="2600" dirty="0"/>
          </a:p>
        </p:txBody>
      </p:sp>
      <p:sp>
        <p:nvSpPr>
          <p:cNvPr id="6" name="Text 4"/>
          <p:cNvSpPr/>
          <p:nvPr/>
        </p:nvSpPr>
        <p:spPr>
          <a:xfrm>
            <a:off x="640080" y="1371600"/>
            <a:ext cx="10911535" cy="237744"/>
          </a:xfrm>
          <a:prstGeom prst="rect">
            <a:avLst/>
          </a:prstGeom>
          <a:noFill/>
          <a:ln/>
        </p:spPr>
        <p:txBody>
          <a:bodyPr wrap="square" lIns="0" tIns="0" rIns="0" bIns="0" rtlCol="0" anchor="ctr"/>
          <a:lstStyle/>
          <a:p>
            <a:pPr marL="0" indent="0">
              <a:buNone/>
            </a:pPr>
            <a:r>
              <a:rPr lang="en-US" sz="1050" b="1" kern="0" spc="180" dirty="0">
                <a:solidFill>
                  <a:srgbClr val="5F767A"/>
                </a:solidFill>
                <a:latin typeface="Calibri" pitchFamily="34" charset="0"/>
                <a:ea typeface="Calibri" pitchFamily="34" charset="-122"/>
                <a:cs typeface="Calibri" pitchFamily="34" charset="-120"/>
              </a:rPr>
              <a:t>AN ADMITTED ARTIFACT IS A SIX-TUPLE</a:t>
            </a:r>
            <a:endParaRPr lang="en-US" sz="1050" dirty="0"/>
          </a:p>
        </p:txBody>
      </p:sp>
      <p:sp>
        <p:nvSpPr>
          <p:cNvPr id="7" name="Shape 5"/>
          <p:cNvSpPr/>
          <p:nvPr/>
        </p:nvSpPr>
        <p:spPr>
          <a:xfrm>
            <a:off x="640080" y="1664208"/>
            <a:ext cx="1650949" cy="841248"/>
          </a:xfrm>
          <a:prstGeom prst="roundRect">
            <a:avLst>
              <a:gd name="adj" fmla="val 543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8" name="Text 6"/>
          <p:cNvSpPr/>
          <p:nvPr/>
        </p:nvSpPr>
        <p:spPr>
          <a:xfrm>
            <a:off x="640080" y="1755648"/>
            <a:ext cx="1650949" cy="329184"/>
          </a:xfrm>
          <a:prstGeom prst="rect">
            <a:avLst/>
          </a:prstGeom>
          <a:noFill/>
          <a:ln/>
        </p:spPr>
        <p:txBody>
          <a:bodyPr wrap="square" lIns="0" tIns="0" rIns="0" bIns="0" rtlCol="0" anchor="ctr"/>
          <a:lstStyle/>
          <a:p>
            <a:pPr marL="0" indent="0" algn="ctr">
              <a:buNone/>
            </a:pPr>
            <a:r>
              <a:rPr lang="en-US" sz="1900" b="1" i="1" dirty="0">
                <a:solidFill>
                  <a:srgbClr val="17798A"/>
                </a:solidFill>
                <a:latin typeface="Cambria" pitchFamily="34" charset="0"/>
                <a:ea typeface="Cambria" pitchFamily="34" charset="-122"/>
                <a:cs typeface="Cambria" pitchFamily="34" charset="-120"/>
              </a:rPr>
              <a:t>P</a:t>
            </a:r>
            <a:endParaRPr lang="en-US" sz="1900" dirty="0"/>
          </a:p>
        </p:txBody>
      </p:sp>
      <p:sp>
        <p:nvSpPr>
          <p:cNvPr id="9" name="Text 7"/>
          <p:cNvSpPr/>
          <p:nvPr/>
        </p:nvSpPr>
        <p:spPr>
          <a:xfrm>
            <a:off x="713232" y="2103120"/>
            <a:ext cx="1504645" cy="329184"/>
          </a:xfrm>
          <a:prstGeom prst="rect">
            <a:avLst/>
          </a:prstGeom>
          <a:noFill/>
          <a:ln/>
        </p:spPr>
        <p:txBody>
          <a:bodyPr wrap="square" lIns="0" tIns="0" rIns="0" bIns="0" rtlCol="0" anchor="ctr"/>
          <a:lstStyle/>
          <a:p>
            <a:pPr marL="0" indent="0" algn="ctr">
              <a:lnSpc>
                <a:spcPct val="100000"/>
              </a:lnSpc>
              <a:buNone/>
            </a:pPr>
            <a:r>
              <a:rPr lang="en-US" sz="1000" dirty="0">
                <a:solidFill>
                  <a:srgbClr val="5F767A"/>
                </a:solidFill>
                <a:latin typeface="Calibri" pitchFamily="34" charset="0"/>
                <a:ea typeface="Calibri" pitchFamily="34" charset="-122"/>
                <a:cs typeface="Calibri" pitchFamily="34" charset="-120"/>
              </a:rPr>
              <a:t>deterministic program</a:t>
            </a:r>
            <a:endParaRPr lang="en-US" sz="1000" dirty="0"/>
          </a:p>
        </p:txBody>
      </p:sp>
      <p:sp>
        <p:nvSpPr>
          <p:cNvPr id="10" name="Shape 8"/>
          <p:cNvSpPr/>
          <p:nvPr/>
        </p:nvSpPr>
        <p:spPr>
          <a:xfrm>
            <a:off x="2492197" y="1664208"/>
            <a:ext cx="1650949" cy="841248"/>
          </a:xfrm>
          <a:prstGeom prst="roundRect">
            <a:avLst>
              <a:gd name="adj" fmla="val 543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1" name="Text 9"/>
          <p:cNvSpPr/>
          <p:nvPr/>
        </p:nvSpPr>
        <p:spPr>
          <a:xfrm>
            <a:off x="2492197" y="1755648"/>
            <a:ext cx="1650949" cy="329184"/>
          </a:xfrm>
          <a:prstGeom prst="rect">
            <a:avLst/>
          </a:prstGeom>
          <a:noFill/>
          <a:ln/>
        </p:spPr>
        <p:txBody>
          <a:bodyPr wrap="square" lIns="0" tIns="0" rIns="0" bIns="0" rtlCol="0" anchor="ctr"/>
          <a:lstStyle/>
          <a:p>
            <a:pPr marL="0" indent="0" algn="ctr">
              <a:buNone/>
            </a:pPr>
            <a:r>
              <a:rPr lang="en-US" sz="1900" b="1" i="1" dirty="0">
                <a:solidFill>
                  <a:srgbClr val="17798A"/>
                </a:solidFill>
                <a:latin typeface="Cambria" pitchFamily="34" charset="0"/>
                <a:ea typeface="Cambria" pitchFamily="34" charset="-122"/>
                <a:cs typeface="Cambria" pitchFamily="34" charset="-120"/>
              </a:rPr>
              <a:t>H</a:t>
            </a:r>
            <a:endParaRPr lang="en-US" sz="1900" dirty="0"/>
          </a:p>
        </p:txBody>
      </p:sp>
      <p:sp>
        <p:nvSpPr>
          <p:cNvPr id="12" name="Text 10"/>
          <p:cNvSpPr/>
          <p:nvPr/>
        </p:nvSpPr>
        <p:spPr>
          <a:xfrm>
            <a:off x="2565349" y="2103120"/>
            <a:ext cx="1504645" cy="329184"/>
          </a:xfrm>
          <a:prstGeom prst="rect">
            <a:avLst/>
          </a:prstGeom>
          <a:noFill/>
          <a:ln/>
        </p:spPr>
        <p:txBody>
          <a:bodyPr wrap="square" lIns="0" tIns="0" rIns="0" bIns="0" rtlCol="0" anchor="ctr"/>
          <a:lstStyle/>
          <a:p>
            <a:pPr marL="0" indent="0" algn="ctr">
              <a:lnSpc>
                <a:spcPct val="100000"/>
              </a:lnSpc>
              <a:buNone/>
            </a:pPr>
            <a:r>
              <a:rPr lang="en-US" sz="1000" dirty="0">
                <a:solidFill>
                  <a:srgbClr val="5F767A"/>
                </a:solidFill>
                <a:latin typeface="Calibri" pitchFamily="34" charset="0"/>
                <a:ea typeface="Calibri" pitchFamily="34" charset="-122"/>
                <a:cs typeface="Calibri" pitchFamily="34" charset="-120"/>
              </a:rPr>
              <a:t>hard guard</a:t>
            </a:r>
            <a:endParaRPr lang="en-US" sz="1000" dirty="0"/>
          </a:p>
        </p:txBody>
      </p:sp>
      <p:sp>
        <p:nvSpPr>
          <p:cNvPr id="13" name="Shape 11"/>
          <p:cNvSpPr/>
          <p:nvPr/>
        </p:nvSpPr>
        <p:spPr>
          <a:xfrm>
            <a:off x="4344314" y="1664208"/>
            <a:ext cx="1650949" cy="841248"/>
          </a:xfrm>
          <a:prstGeom prst="roundRect">
            <a:avLst>
              <a:gd name="adj" fmla="val 543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4" name="Text 12"/>
          <p:cNvSpPr/>
          <p:nvPr/>
        </p:nvSpPr>
        <p:spPr>
          <a:xfrm>
            <a:off x="4344314" y="1755648"/>
            <a:ext cx="1650949" cy="329184"/>
          </a:xfrm>
          <a:prstGeom prst="rect">
            <a:avLst/>
          </a:prstGeom>
          <a:noFill/>
          <a:ln/>
        </p:spPr>
        <p:txBody>
          <a:bodyPr wrap="square" lIns="0" tIns="0" rIns="0" bIns="0" rtlCol="0" anchor="ctr"/>
          <a:lstStyle/>
          <a:p>
            <a:pPr marL="0" indent="0" algn="ctr">
              <a:buNone/>
            </a:pPr>
            <a:r>
              <a:rPr lang="en-US" sz="1900" b="1" i="1" dirty="0">
                <a:solidFill>
                  <a:srgbClr val="17798A"/>
                </a:solidFill>
                <a:latin typeface="Cambria" pitchFamily="34" charset="0"/>
                <a:ea typeface="Cambria" pitchFamily="34" charset="-122"/>
                <a:cs typeface="Cambria" pitchFamily="34" charset="-120"/>
              </a:rPr>
              <a:t>V</a:t>
            </a:r>
            <a:endParaRPr lang="en-US" sz="1900" dirty="0"/>
          </a:p>
        </p:txBody>
      </p:sp>
      <p:sp>
        <p:nvSpPr>
          <p:cNvPr id="15" name="Text 13"/>
          <p:cNvSpPr/>
          <p:nvPr/>
        </p:nvSpPr>
        <p:spPr>
          <a:xfrm>
            <a:off x="4417466" y="2103120"/>
            <a:ext cx="1504645" cy="329184"/>
          </a:xfrm>
          <a:prstGeom prst="rect">
            <a:avLst/>
          </a:prstGeom>
          <a:noFill/>
          <a:ln/>
        </p:spPr>
        <p:txBody>
          <a:bodyPr wrap="square" lIns="0" tIns="0" rIns="0" bIns="0" rtlCol="0" anchor="ctr"/>
          <a:lstStyle/>
          <a:p>
            <a:pPr marL="0" indent="0" algn="ctr">
              <a:lnSpc>
                <a:spcPct val="100000"/>
              </a:lnSpc>
              <a:buNone/>
            </a:pPr>
            <a:r>
              <a:rPr lang="en-US" sz="1000" dirty="0">
                <a:solidFill>
                  <a:srgbClr val="5F767A"/>
                </a:solidFill>
                <a:latin typeface="Calibri" pitchFamily="34" charset="0"/>
                <a:ea typeface="Calibri" pitchFamily="34" charset="-122"/>
                <a:cs typeface="Calibri" pitchFamily="34" charset="-120"/>
              </a:rPr>
              <a:t>verifier</a:t>
            </a:r>
            <a:endParaRPr lang="en-US" sz="1000" dirty="0"/>
          </a:p>
        </p:txBody>
      </p:sp>
      <p:sp>
        <p:nvSpPr>
          <p:cNvPr id="16" name="Shape 14"/>
          <p:cNvSpPr/>
          <p:nvPr/>
        </p:nvSpPr>
        <p:spPr>
          <a:xfrm>
            <a:off x="6196432" y="1664208"/>
            <a:ext cx="1650949" cy="841248"/>
          </a:xfrm>
          <a:prstGeom prst="roundRect">
            <a:avLst>
              <a:gd name="adj" fmla="val 543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7" name="Text 15"/>
          <p:cNvSpPr/>
          <p:nvPr/>
        </p:nvSpPr>
        <p:spPr>
          <a:xfrm>
            <a:off x="6196432" y="1755648"/>
            <a:ext cx="1650949" cy="329184"/>
          </a:xfrm>
          <a:prstGeom prst="rect">
            <a:avLst/>
          </a:prstGeom>
          <a:noFill/>
          <a:ln/>
        </p:spPr>
        <p:txBody>
          <a:bodyPr wrap="square" lIns="0" tIns="0" rIns="0" bIns="0" rtlCol="0" anchor="ctr"/>
          <a:lstStyle/>
          <a:p>
            <a:pPr marL="0" indent="0" algn="ctr">
              <a:buNone/>
            </a:pPr>
            <a:r>
              <a:rPr lang="en-US" sz="1900" b="1" i="1" dirty="0">
                <a:solidFill>
                  <a:srgbClr val="17798A"/>
                </a:solidFill>
                <a:latin typeface="Cambria" pitchFamily="34" charset="0"/>
                <a:ea typeface="Cambria" pitchFamily="34" charset="-122"/>
                <a:cs typeface="Cambria" pitchFamily="34" charset="-120"/>
              </a:rPr>
              <a:t>q</a:t>
            </a:r>
            <a:endParaRPr lang="en-US" sz="1900" dirty="0"/>
          </a:p>
        </p:txBody>
      </p:sp>
      <p:sp>
        <p:nvSpPr>
          <p:cNvPr id="18" name="Text 16"/>
          <p:cNvSpPr/>
          <p:nvPr/>
        </p:nvSpPr>
        <p:spPr>
          <a:xfrm>
            <a:off x="6269584" y="2103120"/>
            <a:ext cx="1504645" cy="329184"/>
          </a:xfrm>
          <a:prstGeom prst="rect">
            <a:avLst/>
          </a:prstGeom>
          <a:noFill/>
          <a:ln/>
        </p:spPr>
        <p:txBody>
          <a:bodyPr wrap="square" lIns="0" tIns="0" rIns="0" bIns="0" rtlCol="0" anchor="ctr"/>
          <a:lstStyle/>
          <a:p>
            <a:pPr marL="0" indent="0" algn="ctr">
              <a:lnSpc>
                <a:spcPct val="100000"/>
              </a:lnSpc>
              <a:buNone/>
            </a:pPr>
            <a:r>
              <a:rPr lang="en-US" sz="1000" dirty="0">
                <a:solidFill>
                  <a:srgbClr val="5F767A"/>
                </a:solidFill>
                <a:latin typeface="Calibri" pitchFamily="34" charset="0"/>
                <a:ea typeface="Calibri" pitchFamily="34" charset="-122"/>
                <a:cs typeface="Calibri" pitchFamily="34" charset="-120"/>
              </a:rPr>
              <a:t>nonconformity score</a:t>
            </a:r>
            <a:endParaRPr lang="en-US" sz="1000" dirty="0"/>
          </a:p>
        </p:txBody>
      </p:sp>
      <p:sp>
        <p:nvSpPr>
          <p:cNvPr id="19" name="Shape 17"/>
          <p:cNvSpPr/>
          <p:nvPr/>
        </p:nvSpPr>
        <p:spPr>
          <a:xfrm>
            <a:off x="8048549" y="1664208"/>
            <a:ext cx="1650949" cy="841248"/>
          </a:xfrm>
          <a:prstGeom prst="roundRect">
            <a:avLst>
              <a:gd name="adj" fmla="val 543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0" name="Text 18"/>
          <p:cNvSpPr/>
          <p:nvPr/>
        </p:nvSpPr>
        <p:spPr>
          <a:xfrm>
            <a:off x="8048549" y="1755648"/>
            <a:ext cx="1650949" cy="329184"/>
          </a:xfrm>
          <a:prstGeom prst="rect">
            <a:avLst/>
          </a:prstGeom>
          <a:noFill/>
          <a:ln/>
        </p:spPr>
        <p:txBody>
          <a:bodyPr wrap="square" lIns="0" tIns="0" rIns="0" bIns="0" rtlCol="0" anchor="ctr"/>
          <a:lstStyle/>
          <a:p>
            <a:pPr marL="0" indent="0" algn="ctr">
              <a:buNone/>
            </a:pPr>
            <a:r>
              <a:rPr lang="en-US" sz="1900" b="1" i="1" dirty="0">
                <a:solidFill>
                  <a:srgbClr val="17798A"/>
                </a:solidFill>
                <a:latin typeface="Cambria" pitchFamily="34" charset="0"/>
                <a:ea typeface="Cambria" pitchFamily="34" charset="-122"/>
                <a:cs typeface="Cambria" pitchFamily="34" charset="-120"/>
              </a:rPr>
              <a:t>η</a:t>
            </a:r>
            <a:endParaRPr lang="en-US" sz="1900" dirty="0"/>
          </a:p>
        </p:txBody>
      </p:sp>
      <p:sp>
        <p:nvSpPr>
          <p:cNvPr id="21" name="Text 19"/>
          <p:cNvSpPr/>
          <p:nvPr/>
        </p:nvSpPr>
        <p:spPr>
          <a:xfrm>
            <a:off x="8121701" y="2103120"/>
            <a:ext cx="1504645" cy="329184"/>
          </a:xfrm>
          <a:prstGeom prst="rect">
            <a:avLst/>
          </a:prstGeom>
          <a:noFill/>
          <a:ln/>
        </p:spPr>
        <p:txBody>
          <a:bodyPr wrap="square" lIns="0" tIns="0" rIns="0" bIns="0" rtlCol="0" anchor="ctr"/>
          <a:lstStyle/>
          <a:p>
            <a:pPr marL="0" indent="0" algn="ctr">
              <a:lnSpc>
                <a:spcPct val="100000"/>
              </a:lnSpc>
              <a:buNone/>
            </a:pPr>
            <a:r>
              <a:rPr lang="en-US" sz="1000" dirty="0">
                <a:solidFill>
                  <a:srgbClr val="5F767A"/>
                </a:solidFill>
                <a:latin typeface="Calibri" pitchFamily="34" charset="0"/>
                <a:ea typeface="Calibri" pitchFamily="34" charset="-122"/>
                <a:cs typeface="Calibri" pitchFamily="34" charset="-120"/>
              </a:rPr>
              <a:t>calibrated threshold</a:t>
            </a:r>
            <a:endParaRPr lang="en-US" sz="1000" dirty="0"/>
          </a:p>
        </p:txBody>
      </p:sp>
      <p:sp>
        <p:nvSpPr>
          <p:cNvPr id="22" name="Shape 20"/>
          <p:cNvSpPr/>
          <p:nvPr/>
        </p:nvSpPr>
        <p:spPr>
          <a:xfrm>
            <a:off x="9900666" y="1664208"/>
            <a:ext cx="1650949" cy="841248"/>
          </a:xfrm>
          <a:prstGeom prst="roundRect">
            <a:avLst>
              <a:gd name="adj" fmla="val 543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3" name="Text 21"/>
          <p:cNvSpPr/>
          <p:nvPr/>
        </p:nvSpPr>
        <p:spPr>
          <a:xfrm>
            <a:off x="9900666" y="1755648"/>
            <a:ext cx="1650949" cy="329184"/>
          </a:xfrm>
          <a:prstGeom prst="rect">
            <a:avLst/>
          </a:prstGeom>
          <a:noFill/>
          <a:ln/>
        </p:spPr>
        <p:txBody>
          <a:bodyPr wrap="square" lIns="0" tIns="0" rIns="0" bIns="0" rtlCol="0" anchor="ctr"/>
          <a:lstStyle/>
          <a:p>
            <a:pPr marL="0" indent="0" algn="ctr">
              <a:buNone/>
            </a:pPr>
            <a:r>
              <a:rPr lang="en-US" sz="1900" b="1" i="1" dirty="0">
                <a:solidFill>
                  <a:srgbClr val="17798A"/>
                </a:solidFill>
                <a:latin typeface="Cambria" pitchFamily="34" charset="0"/>
                <a:ea typeface="Cambria" pitchFamily="34" charset="-122"/>
                <a:cs typeface="Cambria" pitchFamily="34" charset="-120"/>
              </a:rPr>
              <a:t>M</a:t>
            </a:r>
            <a:endParaRPr lang="en-US" sz="1900" dirty="0"/>
          </a:p>
        </p:txBody>
      </p:sp>
      <p:sp>
        <p:nvSpPr>
          <p:cNvPr id="24" name="Text 22"/>
          <p:cNvSpPr/>
          <p:nvPr/>
        </p:nvSpPr>
        <p:spPr>
          <a:xfrm>
            <a:off x="9973818" y="2103120"/>
            <a:ext cx="1504645" cy="329184"/>
          </a:xfrm>
          <a:prstGeom prst="rect">
            <a:avLst/>
          </a:prstGeom>
          <a:noFill/>
          <a:ln/>
        </p:spPr>
        <p:txBody>
          <a:bodyPr wrap="square" lIns="0" tIns="0" rIns="0" bIns="0" rtlCol="0" anchor="ctr"/>
          <a:lstStyle/>
          <a:p>
            <a:pPr marL="0" indent="0" algn="ctr">
              <a:lnSpc>
                <a:spcPct val="100000"/>
              </a:lnSpc>
              <a:buNone/>
            </a:pPr>
            <a:r>
              <a:rPr lang="en-US" sz="1000" dirty="0">
                <a:solidFill>
                  <a:srgbClr val="5F767A"/>
                </a:solidFill>
                <a:latin typeface="Calibri" pitchFamily="34" charset="0"/>
                <a:ea typeface="Calibri" pitchFamily="34" charset="-122"/>
                <a:cs typeface="Calibri" pitchFamily="34" charset="-120"/>
              </a:rPr>
              <a:t>manifest pins</a:t>
            </a:r>
            <a:endParaRPr lang="en-US" sz="1000" dirty="0"/>
          </a:p>
        </p:txBody>
      </p:sp>
      <p:sp>
        <p:nvSpPr>
          <p:cNvPr id="25" name="Text 23"/>
          <p:cNvSpPr/>
          <p:nvPr/>
        </p:nvSpPr>
        <p:spPr>
          <a:xfrm>
            <a:off x="640080" y="2743200"/>
            <a:ext cx="10911535" cy="237744"/>
          </a:xfrm>
          <a:prstGeom prst="rect">
            <a:avLst/>
          </a:prstGeom>
          <a:noFill/>
          <a:ln/>
        </p:spPr>
        <p:txBody>
          <a:bodyPr wrap="square" lIns="0" tIns="0" rIns="0" bIns="0" rtlCol="0" anchor="ctr"/>
          <a:lstStyle/>
          <a:p>
            <a:pPr marL="0" indent="0">
              <a:buNone/>
            </a:pPr>
            <a:r>
              <a:rPr lang="en-US" sz="1050" b="1" kern="0" spc="180" dirty="0">
                <a:solidFill>
                  <a:srgbClr val="5F767A"/>
                </a:solidFill>
                <a:latin typeface="Calibri" pitchFamily="34" charset="0"/>
                <a:ea typeface="Calibri" pitchFamily="34" charset="-122"/>
                <a:cs typeface="Calibri" pitchFamily="34" charset="-120"/>
              </a:rPr>
              <a:t>DISPATCH IS SELECTIVE — SIX CHECKS, THEN ONE OF SEVEN TERMINAL EDGES</a:t>
            </a:r>
            <a:endParaRPr lang="en-US" sz="1050" dirty="0"/>
          </a:p>
        </p:txBody>
      </p:sp>
      <p:sp>
        <p:nvSpPr>
          <p:cNvPr id="26" name="Shape 24"/>
          <p:cNvSpPr/>
          <p:nvPr/>
        </p:nvSpPr>
        <p:spPr>
          <a:xfrm>
            <a:off x="640080" y="3054096"/>
            <a:ext cx="1696669" cy="420624"/>
          </a:xfrm>
          <a:prstGeom prst="roundRect">
            <a:avLst>
              <a:gd name="adj" fmla="val 108696"/>
            </a:avLst>
          </a:prstGeom>
          <a:solidFill>
            <a:srgbClr val="0D4A54"/>
          </a:solidFill>
          <a:ln w="9525">
            <a:solidFill>
              <a:srgbClr val="0D4A54"/>
            </a:solidFill>
            <a:prstDash val="solid"/>
          </a:ln>
        </p:spPr>
        <p:txBody>
          <a:bodyPr/>
          <a:lstStyle/>
          <a:p>
            <a:endParaRPr lang="en-US"/>
          </a:p>
        </p:txBody>
      </p:sp>
      <p:sp>
        <p:nvSpPr>
          <p:cNvPr id="27" name="Text 25"/>
          <p:cNvSpPr/>
          <p:nvPr/>
        </p:nvSpPr>
        <p:spPr>
          <a:xfrm>
            <a:off x="640080" y="3054096"/>
            <a:ext cx="1696669"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resolve</a:t>
            </a:r>
            <a:endParaRPr lang="en-US" sz="1000" dirty="0"/>
          </a:p>
        </p:txBody>
      </p:sp>
      <p:sp>
        <p:nvSpPr>
          <p:cNvPr id="28" name="Shape 26"/>
          <p:cNvSpPr/>
          <p:nvPr/>
        </p:nvSpPr>
        <p:spPr>
          <a:xfrm>
            <a:off x="2483053" y="3054096"/>
            <a:ext cx="1696669" cy="420624"/>
          </a:xfrm>
          <a:prstGeom prst="roundRect">
            <a:avLst>
              <a:gd name="adj" fmla="val 108696"/>
            </a:avLst>
          </a:prstGeom>
          <a:solidFill>
            <a:srgbClr val="0D4A54"/>
          </a:solidFill>
          <a:ln w="9525">
            <a:solidFill>
              <a:srgbClr val="0D4A54"/>
            </a:solidFill>
            <a:prstDash val="solid"/>
          </a:ln>
        </p:spPr>
        <p:txBody>
          <a:bodyPr/>
          <a:lstStyle/>
          <a:p>
            <a:endParaRPr lang="en-US"/>
          </a:p>
        </p:txBody>
      </p:sp>
      <p:sp>
        <p:nvSpPr>
          <p:cNvPr id="29" name="Text 27"/>
          <p:cNvSpPr/>
          <p:nvPr/>
        </p:nvSpPr>
        <p:spPr>
          <a:xfrm>
            <a:off x="2483053" y="3054096"/>
            <a:ext cx="1696669"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signature</a:t>
            </a:r>
            <a:endParaRPr lang="en-US" sz="1000" dirty="0"/>
          </a:p>
        </p:txBody>
      </p:sp>
      <p:sp>
        <p:nvSpPr>
          <p:cNvPr id="30" name="Shape 28"/>
          <p:cNvSpPr/>
          <p:nvPr/>
        </p:nvSpPr>
        <p:spPr>
          <a:xfrm>
            <a:off x="4326026" y="3054096"/>
            <a:ext cx="1696669" cy="420624"/>
          </a:xfrm>
          <a:prstGeom prst="roundRect">
            <a:avLst>
              <a:gd name="adj" fmla="val 108696"/>
            </a:avLst>
          </a:prstGeom>
          <a:solidFill>
            <a:srgbClr val="0D4A54"/>
          </a:solidFill>
          <a:ln w="9525">
            <a:solidFill>
              <a:srgbClr val="0D4A54"/>
            </a:solidFill>
            <a:prstDash val="solid"/>
          </a:ln>
        </p:spPr>
        <p:txBody>
          <a:bodyPr/>
          <a:lstStyle/>
          <a:p>
            <a:endParaRPr lang="en-US"/>
          </a:p>
        </p:txBody>
      </p:sp>
      <p:sp>
        <p:nvSpPr>
          <p:cNvPr id="31" name="Text 29"/>
          <p:cNvSpPr/>
          <p:nvPr/>
        </p:nvSpPr>
        <p:spPr>
          <a:xfrm>
            <a:off x="4326026" y="3054096"/>
            <a:ext cx="1696669"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guard</a:t>
            </a:r>
            <a:endParaRPr lang="en-US" sz="1000" dirty="0"/>
          </a:p>
        </p:txBody>
      </p:sp>
      <p:sp>
        <p:nvSpPr>
          <p:cNvPr id="32" name="Shape 30"/>
          <p:cNvSpPr/>
          <p:nvPr/>
        </p:nvSpPr>
        <p:spPr>
          <a:xfrm>
            <a:off x="6169000" y="3054096"/>
            <a:ext cx="1696669" cy="420624"/>
          </a:xfrm>
          <a:prstGeom prst="roundRect">
            <a:avLst>
              <a:gd name="adj" fmla="val 108696"/>
            </a:avLst>
          </a:prstGeom>
          <a:solidFill>
            <a:srgbClr val="0D4A54"/>
          </a:solidFill>
          <a:ln w="9525">
            <a:solidFill>
              <a:srgbClr val="0D4A54"/>
            </a:solidFill>
            <a:prstDash val="solid"/>
          </a:ln>
        </p:spPr>
        <p:txBody>
          <a:bodyPr/>
          <a:lstStyle/>
          <a:p>
            <a:endParaRPr lang="en-US"/>
          </a:p>
        </p:txBody>
      </p:sp>
      <p:sp>
        <p:nvSpPr>
          <p:cNvPr id="33" name="Text 31"/>
          <p:cNvSpPr/>
          <p:nvPr/>
        </p:nvSpPr>
        <p:spPr>
          <a:xfrm>
            <a:off x="6169000" y="3054096"/>
            <a:ext cx="1696669"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already-run</a:t>
            </a:r>
            <a:endParaRPr lang="en-US" sz="1000" dirty="0"/>
          </a:p>
        </p:txBody>
      </p:sp>
      <p:sp>
        <p:nvSpPr>
          <p:cNvPr id="34" name="Shape 32"/>
          <p:cNvSpPr/>
          <p:nvPr/>
        </p:nvSpPr>
        <p:spPr>
          <a:xfrm>
            <a:off x="8011973" y="3054096"/>
            <a:ext cx="1696669" cy="420624"/>
          </a:xfrm>
          <a:prstGeom prst="roundRect">
            <a:avLst>
              <a:gd name="adj" fmla="val 108696"/>
            </a:avLst>
          </a:prstGeom>
          <a:solidFill>
            <a:srgbClr val="0D4A54"/>
          </a:solidFill>
          <a:ln w="9525">
            <a:solidFill>
              <a:srgbClr val="0D4A54"/>
            </a:solidFill>
            <a:prstDash val="solid"/>
          </a:ln>
        </p:spPr>
        <p:txBody>
          <a:bodyPr/>
          <a:lstStyle/>
          <a:p>
            <a:endParaRPr lang="en-US"/>
          </a:p>
        </p:txBody>
      </p:sp>
      <p:sp>
        <p:nvSpPr>
          <p:cNvPr id="35" name="Text 33"/>
          <p:cNvSpPr/>
          <p:nvPr/>
        </p:nvSpPr>
        <p:spPr>
          <a:xfrm>
            <a:off x="8011973" y="3054096"/>
            <a:ext cx="1696669"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gate</a:t>
            </a:r>
            <a:endParaRPr lang="en-US" sz="1000" dirty="0"/>
          </a:p>
        </p:txBody>
      </p:sp>
      <p:sp>
        <p:nvSpPr>
          <p:cNvPr id="36" name="Shape 34"/>
          <p:cNvSpPr/>
          <p:nvPr/>
        </p:nvSpPr>
        <p:spPr>
          <a:xfrm>
            <a:off x="9854946" y="3054096"/>
            <a:ext cx="1696669" cy="420624"/>
          </a:xfrm>
          <a:prstGeom prst="roundRect">
            <a:avLst>
              <a:gd name="adj" fmla="val 108696"/>
            </a:avLst>
          </a:prstGeom>
          <a:solidFill>
            <a:srgbClr val="17798A"/>
          </a:solidFill>
          <a:ln w="9525">
            <a:solidFill>
              <a:srgbClr val="17798A"/>
            </a:solidFill>
            <a:prstDash val="solid"/>
          </a:ln>
        </p:spPr>
        <p:txBody>
          <a:bodyPr/>
          <a:lstStyle/>
          <a:p>
            <a:endParaRPr lang="en-US"/>
          </a:p>
        </p:txBody>
      </p:sp>
      <p:sp>
        <p:nvSpPr>
          <p:cNvPr id="37" name="Text 35"/>
          <p:cNvSpPr/>
          <p:nvPr/>
        </p:nvSpPr>
        <p:spPr>
          <a:xfrm>
            <a:off x="9854946" y="3054096"/>
            <a:ext cx="1696669" cy="42062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stage → interpret → verify</a:t>
            </a:r>
            <a:endParaRPr lang="en-US" sz="1000" dirty="0"/>
          </a:p>
        </p:txBody>
      </p:sp>
      <p:sp>
        <p:nvSpPr>
          <p:cNvPr id="38" name="Shape 36"/>
          <p:cNvSpPr/>
          <p:nvPr/>
        </p:nvSpPr>
        <p:spPr>
          <a:xfrm>
            <a:off x="640080" y="3712464"/>
            <a:ext cx="3454298" cy="1536192"/>
          </a:xfrm>
          <a:prstGeom prst="roundRect">
            <a:avLst>
              <a:gd name="adj" fmla="val 297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39" name="Text 37"/>
          <p:cNvSpPr/>
          <p:nvPr/>
        </p:nvSpPr>
        <p:spPr>
          <a:xfrm>
            <a:off x="896112" y="3858768"/>
            <a:ext cx="640080" cy="457200"/>
          </a:xfrm>
          <a:prstGeom prst="rect">
            <a:avLst/>
          </a:prstGeom>
          <a:noFill/>
          <a:ln/>
        </p:spPr>
        <p:txBody>
          <a:bodyPr wrap="square" lIns="0" tIns="0" rIns="0" bIns="0" rtlCol="0" anchor="ctr"/>
          <a:lstStyle/>
          <a:p>
            <a:pPr marL="0" indent="0">
              <a:buNone/>
            </a:pPr>
            <a:r>
              <a:rPr lang="en-US" sz="2700" b="1" dirty="0">
                <a:solidFill>
                  <a:srgbClr val="17798A"/>
                </a:solidFill>
                <a:latin typeface="Cambria" pitchFamily="34" charset="0"/>
                <a:ea typeface="Cambria" pitchFamily="34" charset="-122"/>
                <a:cs typeface="Cambria" pitchFamily="34" charset="-120"/>
              </a:rPr>
              <a:t>1</a:t>
            </a:r>
            <a:endParaRPr lang="en-US" sz="2700" dirty="0"/>
          </a:p>
        </p:txBody>
      </p:sp>
      <p:sp>
        <p:nvSpPr>
          <p:cNvPr id="40" name="Text 38"/>
          <p:cNvSpPr/>
          <p:nvPr/>
        </p:nvSpPr>
        <p:spPr>
          <a:xfrm>
            <a:off x="1508760" y="3913632"/>
            <a:ext cx="2357018" cy="365760"/>
          </a:xfrm>
          <a:prstGeom prst="rect">
            <a:avLst/>
          </a:prstGeom>
          <a:noFill/>
          <a:ln/>
        </p:spPr>
        <p:txBody>
          <a:bodyPr wrap="square" lIns="0" tIns="0" rIns="0" bIns="0" rtlCol="0" anchor="ctr"/>
          <a:lstStyle/>
          <a:p>
            <a:pPr marL="0" indent="0">
              <a:buNone/>
            </a:pPr>
            <a:r>
              <a:rPr lang="en-US" sz="1300" b="1" dirty="0">
                <a:solidFill>
                  <a:srgbClr val="0D4A54"/>
                </a:solidFill>
                <a:latin typeface="Cambria" pitchFamily="34" charset="0"/>
                <a:ea typeface="Cambria" pitchFamily="34" charset="-122"/>
                <a:cs typeface="Cambria" pitchFamily="34" charset="-120"/>
              </a:rPr>
              <a:t>Compacted execution</a:t>
            </a:r>
            <a:endParaRPr lang="en-US" sz="1300" dirty="0"/>
          </a:p>
        </p:txBody>
      </p:sp>
      <p:sp>
        <p:nvSpPr>
          <p:cNvPr id="41" name="Text 39"/>
          <p:cNvSpPr/>
          <p:nvPr/>
        </p:nvSpPr>
        <p:spPr>
          <a:xfrm>
            <a:off x="914400" y="4407408"/>
            <a:ext cx="2905658" cy="731520"/>
          </a:xfrm>
          <a:prstGeom prst="rect">
            <a:avLst/>
          </a:prstGeom>
          <a:noFill/>
          <a:ln/>
        </p:spPr>
        <p:txBody>
          <a:bodyPr wrap="square" lIns="0" tIns="0" rIns="0" bIns="0" rtlCol="0" anchor="t"/>
          <a:lstStyle/>
          <a:p>
            <a:pPr marL="0" indent="0">
              <a:lnSpc>
                <a:spcPct val="108000"/>
              </a:lnSpc>
              <a:buNone/>
            </a:pPr>
            <a:r>
              <a:rPr lang="en-US" sz="1100" dirty="0">
                <a:solidFill>
                  <a:srgbClr val="3A5257"/>
                </a:solidFill>
                <a:latin typeface="Calibri" pitchFamily="34" charset="0"/>
                <a:ea typeface="Calibri" pitchFamily="34" charset="-122"/>
                <a:cs typeface="Calibri" pitchFamily="34" charset="-120"/>
              </a:rPr>
              <a:t>Guard, gate, program, and verifier all pass; effects commit.</a:t>
            </a:r>
            <a:endParaRPr lang="en-US" sz="1100" dirty="0"/>
          </a:p>
        </p:txBody>
      </p:sp>
      <p:sp>
        <p:nvSpPr>
          <p:cNvPr id="42" name="Shape 40"/>
          <p:cNvSpPr/>
          <p:nvPr/>
        </p:nvSpPr>
        <p:spPr>
          <a:xfrm>
            <a:off x="4368698" y="3712464"/>
            <a:ext cx="3454298" cy="1536192"/>
          </a:xfrm>
          <a:prstGeom prst="roundRect">
            <a:avLst>
              <a:gd name="adj" fmla="val 297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43" name="Text 41"/>
          <p:cNvSpPr/>
          <p:nvPr/>
        </p:nvSpPr>
        <p:spPr>
          <a:xfrm>
            <a:off x="4624730" y="3858768"/>
            <a:ext cx="640080" cy="457200"/>
          </a:xfrm>
          <a:prstGeom prst="rect">
            <a:avLst/>
          </a:prstGeom>
          <a:noFill/>
          <a:ln/>
        </p:spPr>
        <p:txBody>
          <a:bodyPr wrap="square" lIns="0" tIns="0" rIns="0" bIns="0" rtlCol="0" anchor="ctr"/>
          <a:lstStyle/>
          <a:p>
            <a:pPr marL="0" indent="0">
              <a:buNone/>
            </a:pPr>
            <a:r>
              <a:rPr lang="en-US" sz="2700" b="1" dirty="0">
                <a:solidFill>
                  <a:srgbClr val="0D4A54"/>
                </a:solidFill>
                <a:latin typeface="Cambria" pitchFamily="34" charset="0"/>
                <a:ea typeface="Cambria" pitchFamily="34" charset="-122"/>
                <a:cs typeface="Cambria" pitchFamily="34" charset="-120"/>
              </a:rPr>
              <a:t>5</a:t>
            </a:r>
            <a:endParaRPr lang="en-US" sz="2700" dirty="0"/>
          </a:p>
        </p:txBody>
      </p:sp>
      <p:sp>
        <p:nvSpPr>
          <p:cNvPr id="44" name="Text 42"/>
          <p:cNvSpPr/>
          <p:nvPr/>
        </p:nvSpPr>
        <p:spPr>
          <a:xfrm>
            <a:off x="5237378" y="3913632"/>
            <a:ext cx="2357018" cy="365760"/>
          </a:xfrm>
          <a:prstGeom prst="rect">
            <a:avLst/>
          </a:prstGeom>
          <a:noFill/>
          <a:ln/>
        </p:spPr>
        <p:txBody>
          <a:bodyPr wrap="square" lIns="0" tIns="0" rIns="0" bIns="0" rtlCol="0" anchor="ctr"/>
          <a:lstStyle/>
          <a:p>
            <a:pPr marL="0" indent="0">
              <a:buNone/>
            </a:pPr>
            <a:r>
              <a:rPr lang="en-US" sz="1300" b="1" dirty="0">
                <a:solidFill>
                  <a:srgbClr val="0D4A54"/>
                </a:solidFill>
                <a:latin typeface="Cambria" pitchFamily="34" charset="0"/>
                <a:ea typeface="Cambria" pitchFamily="34" charset="-122"/>
                <a:cs typeface="Cambria" pitchFamily="34" charset="-120"/>
              </a:rPr>
              <a:t>Baseline agent runs</a:t>
            </a:r>
            <a:endParaRPr lang="en-US" sz="1300" dirty="0"/>
          </a:p>
        </p:txBody>
      </p:sp>
      <p:sp>
        <p:nvSpPr>
          <p:cNvPr id="45" name="Text 43"/>
          <p:cNvSpPr/>
          <p:nvPr/>
        </p:nvSpPr>
        <p:spPr>
          <a:xfrm>
            <a:off x="4643018" y="4407408"/>
            <a:ext cx="2905658" cy="731520"/>
          </a:xfrm>
          <a:prstGeom prst="rect">
            <a:avLst/>
          </a:prstGeom>
          <a:noFill/>
          <a:ln/>
        </p:spPr>
        <p:txBody>
          <a:bodyPr wrap="square" lIns="0" tIns="0" rIns="0" bIns="0" rtlCol="0" anchor="t"/>
          <a:lstStyle/>
          <a:p>
            <a:pPr marL="0" indent="0">
              <a:lnSpc>
                <a:spcPct val="108000"/>
              </a:lnSpc>
              <a:buNone/>
            </a:pPr>
            <a:r>
              <a:rPr lang="en-US" sz="1100" dirty="0">
                <a:solidFill>
                  <a:srgbClr val="3A5257"/>
                </a:solidFill>
                <a:latin typeface="Calibri" pitchFamily="34" charset="0"/>
                <a:ea typeface="Calibri" pitchFamily="34" charset="-122"/>
                <a:cs typeface="Calibri" pitchFamily="34" charset="-120"/>
              </a:rPr>
              <a:t>Any precondition miss, calibrated abstention, shadow mode, or a clean pre-commit failure.</a:t>
            </a:r>
            <a:endParaRPr lang="en-US" sz="1100" dirty="0"/>
          </a:p>
        </p:txBody>
      </p:sp>
      <p:sp>
        <p:nvSpPr>
          <p:cNvPr id="46" name="Shape 44"/>
          <p:cNvSpPr/>
          <p:nvPr/>
        </p:nvSpPr>
        <p:spPr>
          <a:xfrm>
            <a:off x="8097317" y="3712464"/>
            <a:ext cx="3454298" cy="1536192"/>
          </a:xfrm>
          <a:prstGeom prst="roundRect">
            <a:avLst>
              <a:gd name="adj" fmla="val 2976"/>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47" name="Text 45"/>
          <p:cNvSpPr/>
          <p:nvPr/>
        </p:nvSpPr>
        <p:spPr>
          <a:xfrm>
            <a:off x="8353349" y="3858768"/>
            <a:ext cx="640080" cy="457200"/>
          </a:xfrm>
          <a:prstGeom prst="rect">
            <a:avLst/>
          </a:prstGeom>
          <a:noFill/>
          <a:ln/>
        </p:spPr>
        <p:txBody>
          <a:bodyPr wrap="square" lIns="0" tIns="0" rIns="0" bIns="0" rtlCol="0" anchor="ctr"/>
          <a:lstStyle/>
          <a:p>
            <a:pPr marL="0" indent="0">
              <a:buNone/>
            </a:pPr>
            <a:r>
              <a:rPr lang="en-US" sz="2700" b="1" dirty="0">
                <a:solidFill>
                  <a:srgbClr val="AC4A2C"/>
                </a:solidFill>
                <a:latin typeface="Cambria" pitchFamily="34" charset="0"/>
                <a:ea typeface="Cambria" pitchFamily="34" charset="-122"/>
                <a:cs typeface="Cambria" pitchFamily="34" charset="-120"/>
              </a:rPr>
              <a:t>1</a:t>
            </a:r>
            <a:endParaRPr lang="en-US" sz="2700" dirty="0"/>
          </a:p>
        </p:txBody>
      </p:sp>
      <p:sp>
        <p:nvSpPr>
          <p:cNvPr id="48" name="Text 46"/>
          <p:cNvSpPr/>
          <p:nvPr/>
        </p:nvSpPr>
        <p:spPr>
          <a:xfrm>
            <a:off x="8965997" y="3913632"/>
            <a:ext cx="2357018" cy="365760"/>
          </a:xfrm>
          <a:prstGeom prst="rect">
            <a:avLst/>
          </a:prstGeom>
          <a:noFill/>
          <a:ln/>
        </p:spPr>
        <p:txBody>
          <a:bodyPr wrap="square" lIns="0" tIns="0" rIns="0" bIns="0" rtlCol="0" anchor="ctr"/>
          <a:lstStyle/>
          <a:p>
            <a:pPr marL="0" indent="0">
              <a:buNone/>
            </a:pPr>
            <a:r>
              <a:rPr lang="en-US" sz="1300" b="1" dirty="0">
                <a:solidFill>
                  <a:srgbClr val="AC4A2C"/>
                </a:solidFill>
                <a:latin typeface="Cambria" pitchFamily="34" charset="0"/>
                <a:ea typeface="Cambria" pitchFamily="34" charset="-122"/>
                <a:cs typeface="Cambria" pitchFamily="34" charset="-120"/>
              </a:rPr>
              <a:t>Incident raised</a:t>
            </a:r>
            <a:endParaRPr lang="en-US" sz="1300" dirty="0"/>
          </a:p>
        </p:txBody>
      </p:sp>
      <p:sp>
        <p:nvSpPr>
          <p:cNvPr id="49" name="Text 47"/>
          <p:cNvSpPr/>
          <p:nvPr/>
        </p:nvSpPr>
        <p:spPr>
          <a:xfrm>
            <a:off x="8371637" y="4407408"/>
            <a:ext cx="2905658" cy="731520"/>
          </a:xfrm>
          <a:prstGeom prst="rect">
            <a:avLst/>
          </a:prstGeom>
          <a:noFill/>
          <a:ln/>
        </p:spPr>
        <p:txBody>
          <a:bodyPr wrap="square" lIns="0" tIns="0" rIns="0" bIns="0" rtlCol="0" anchor="t"/>
          <a:lstStyle/>
          <a:p>
            <a:pPr marL="0" indent="0">
              <a:lnSpc>
                <a:spcPct val="108000"/>
              </a:lnSpc>
              <a:buNone/>
            </a:pPr>
            <a:r>
              <a:rPr lang="en-US" sz="1100" dirty="0">
                <a:solidFill>
                  <a:srgbClr val="3A5257"/>
                </a:solidFill>
                <a:latin typeface="Calibri" pitchFamily="34" charset="0"/>
                <a:ea typeface="Calibri" pitchFamily="34" charset="-122"/>
                <a:cs typeface="Calibri" pitchFamily="34" charset="-120"/>
              </a:rPr>
              <a:t>A post-commit failure. An external commitment happened — the runtime does not feign rollback.</a:t>
            </a:r>
            <a:endParaRPr lang="en-US" sz="1100" dirty="0"/>
          </a:p>
        </p:txBody>
      </p:sp>
      <p:sp>
        <p:nvSpPr>
          <p:cNvPr id="50" name="Shape 48"/>
          <p:cNvSpPr/>
          <p:nvPr/>
        </p:nvSpPr>
        <p:spPr>
          <a:xfrm>
            <a:off x="640080" y="5413248"/>
            <a:ext cx="10911535" cy="713232"/>
          </a:xfrm>
          <a:prstGeom prst="roundRect">
            <a:avLst>
              <a:gd name="adj" fmla="val 6410"/>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51" name="Text 49"/>
          <p:cNvSpPr/>
          <p:nvPr/>
        </p:nvSpPr>
        <p:spPr>
          <a:xfrm>
            <a:off x="914400" y="5504688"/>
            <a:ext cx="10362895" cy="530352"/>
          </a:xfrm>
          <a:prstGeom prst="rect">
            <a:avLst/>
          </a:prstGeom>
          <a:noFill/>
          <a:ln/>
        </p:spPr>
        <p:txBody>
          <a:bodyPr wrap="square" lIns="0" tIns="0" rIns="0" bIns="0" rtlCol="0" anchor="ctr"/>
          <a:lstStyle/>
          <a:p>
            <a:pPr marL="0" indent="0">
              <a:lnSpc>
                <a:spcPct val="106000"/>
              </a:lnSpc>
              <a:buNone/>
            </a:pPr>
            <a:r>
              <a:rPr lang="en-US" sz="1150" b="1" dirty="0">
                <a:solidFill>
                  <a:srgbClr val="0D4A54"/>
                </a:solidFill>
                <a:latin typeface="Calibri" pitchFamily="34" charset="0"/>
                <a:ea typeface="Calibri" pitchFamily="34" charset="-122"/>
                <a:cs typeface="Calibri" pitchFamily="34" charset="-120"/>
              </a:rPr>
              <a:t>Caveat the paper insists on: </a:t>
            </a:r>
            <a:r>
              <a:rPr lang="en-US" sz="1150" dirty="0">
                <a:solidFill>
                  <a:srgbClr val="2A4247"/>
                </a:solidFill>
                <a:latin typeface="Calibri" pitchFamily="34" charset="0"/>
                <a:ea typeface="Calibri" pitchFamily="34" charset="-122"/>
                <a:cs typeface="Calibri" pitchFamily="34" charset="-120"/>
              </a:rPr>
              <a:t>“baseline runs unchanged” is exact only where a staging owner holds the commit boundary. A model-boundary adapter cannot un-emit a response the host already committed to history.</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REJECTION POINT 6</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The admission gate is exact — and therefore data-hungry</a:t>
            </a:r>
            <a:endParaRPr lang="en-US" sz="2600" dirty="0"/>
          </a:p>
        </p:txBody>
      </p:sp>
      <p:sp>
        <p:nvSpPr>
          <p:cNvPr id="6" name="Text 4"/>
          <p:cNvSpPr/>
          <p:nvPr/>
        </p:nvSpPr>
        <p:spPr>
          <a:xfrm>
            <a:off x="640080" y="1426464"/>
            <a:ext cx="5943600" cy="21488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The score model and the eleven-threshold grid are frozen before any calibration group is seen. That is what makes a union bound legitimate.</a:t>
            </a:r>
            <a:endParaRPr lang="en-US" sz="1250" dirty="0"/>
          </a:p>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For each threshold the compiler computes a one-sided Clopper–Pearson upper bound and selects the largest-coverage admissible one.</a:t>
            </a:r>
            <a:endParaRPr lang="en-US" sz="1250" dirty="0"/>
          </a:p>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If no threshold is admissible, the family retires. Normal retirement is a valid optimizer output, not an error path.</a:t>
            </a:r>
            <a:endParaRPr lang="en-US" sz="1250" dirty="0"/>
          </a:p>
        </p:txBody>
      </p:sp>
      <p:sp>
        <p:nvSpPr>
          <p:cNvPr id="7" name="Shape 5"/>
          <p:cNvSpPr/>
          <p:nvPr/>
        </p:nvSpPr>
        <p:spPr>
          <a:xfrm>
            <a:off x="640080" y="3730752"/>
            <a:ext cx="5943600" cy="1243584"/>
          </a:xfrm>
          <a:prstGeom prst="roundRect">
            <a:avLst>
              <a:gd name="adj" fmla="val 3676"/>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8" name="Text 6"/>
          <p:cNvSpPr/>
          <p:nvPr/>
        </p:nvSpPr>
        <p:spPr>
          <a:xfrm>
            <a:off x="896112" y="3858768"/>
            <a:ext cx="5486400" cy="219456"/>
          </a:xfrm>
          <a:prstGeom prst="rect">
            <a:avLst/>
          </a:prstGeom>
          <a:noFill/>
          <a:ln/>
        </p:spPr>
        <p:txBody>
          <a:bodyPr wrap="square" lIns="0" tIns="0" rIns="0" bIns="0" rtlCol="0" anchor="ctr"/>
          <a:lstStyle/>
          <a:p>
            <a:pPr marL="0" indent="0">
              <a:buNone/>
            </a:pPr>
            <a:r>
              <a:rPr lang="en-US" sz="950" b="1" kern="0" spc="120" dirty="0">
                <a:solidFill>
                  <a:srgbClr val="AC4A2C"/>
                </a:solidFill>
                <a:latin typeface="Calibri" pitchFamily="34" charset="0"/>
                <a:ea typeface="Calibri" pitchFamily="34" charset="-122"/>
                <a:cs typeface="Calibri" pitchFamily="34" charset="-120"/>
              </a:rPr>
              <a:t>WHAT α ACTUALLY BOUNDS</a:t>
            </a:r>
            <a:endParaRPr lang="en-US" sz="950" dirty="0"/>
          </a:p>
        </p:txBody>
      </p:sp>
      <p:sp>
        <p:nvSpPr>
          <p:cNvPr id="9" name="Text 7"/>
          <p:cNvSpPr/>
          <p:nvPr/>
        </p:nvSpPr>
        <p:spPr>
          <a:xfrm>
            <a:off x="896112" y="4114800"/>
            <a:ext cx="5486400" cy="731520"/>
          </a:xfrm>
          <a:prstGeom prst="rect">
            <a:avLst/>
          </a:prstGeom>
          <a:noFill/>
          <a:ln/>
        </p:spPr>
        <p:txBody>
          <a:bodyPr wrap="square" lIns="0" tIns="0" rIns="0" bIns="0" rtlCol="0" anchor="t"/>
          <a:lstStyle/>
          <a:p>
            <a:pPr marL="0" indent="0">
              <a:lnSpc>
                <a:spcPct val="108000"/>
              </a:lnSpc>
              <a:buNone/>
            </a:pPr>
            <a:r>
              <a:rPr lang="en-US" sz="1150" dirty="0">
                <a:solidFill>
                  <a:srgbClr val="5A3A2E"/>
                </a:solidFill>
                <a:latin typeface="Calibri" pitchFamily="34" charset="0"/>
                <a:ea typeface="Calibri" pitchFamily="34" charset="-122"/>
                <a:cs typeface="Calibri" pitchFamily="34" charset="-120"/>
              </a:rPr>
              <a:t>The rate at which a compiled region breaks its own registered contract — not the rate at which the agent's task outcome is wrong. The verifier is induced from the same traces the program was synthesized from.</a:t>
            </a:r>
            <a:endParaRPr lang="en-US" sz="1150" dirty="0"/>
          </a:p>
        </p:txBody>
      </p:sp>
      <p:sp>
        <p:nvSpPr>
          <p:cNvPr id="10" name="Shape 8"/>
          <p:cNvSpPr/>
          <p:nvPr/>
        </p:nvSpPr>
        <p:spPr>
          <a:xfrm>
            <a:off x="6903720" y="1426464"/>
            <a:ext cx="4647895" cy="3547872"/>
          </a:xfrm>
          <a:prstGeom prst="roundRect">
            <a:avLst>
              <a:gd name="adj" fmla="val 1289"/>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1" name="Text 9"/>
          <p:cNvSpPr/>
          <p:nvPr/>
        </p:nvSpPr>
        <p:spPr>
          <a:xfrm>
            <a:off x="7178040" y="1609344"/>
            <a:ext cx="4099255" cy="219456"/>
          </a:xfrm>
          <a:prstGeom prst="rect">
            <a:avLst/>
          </a:prstGeom>
          <a:noFill/>
          <a:ln/>
        </p:spPr>
        <p:txBody>
          <a:bodyPr wrap="square" lIns="0" tIns="0" rIns="0" bIns="0" rtlCol="0" anchor="ctr"/>
          <a:lstStyle/>
          <a:p>
            <a:pPr marL="0" indent="0">
              <a:buNone/>
            </a:pPr>
            <a:r>
              <a:rPr lang="en-US" sz="950" b="1" kern="0" spc="120" dirty="0">
                <a:solidFill>
                  <a:srgbClr val="17798A"/>
                </a:solidFill>
                <a:latin typeface="Calibri" pitchFamily="34" charset="0"/>
                <a:ea typeface="Calibri" pitchFamily="34" charset="-122"/>
                <a:cs typeface="Calibri" pitchFamily="34" charset="-120"/>
              </a:rPr>
              <a:t>SAMPLE REQUIREMENT AT THE CONFIGURED SETTING</a:t>
            </a:r>
            <a:endParaRPr lang="en-US" sz="950" dirty="0"/>
          </a:p>
        </p:txBody>
      </p:sp>
      <p:sp>
        <p:nvSpPr>
          <p:cNvPr id="12" name="Text 10"/>
          <p:cNvSpPr/>
          <p:nvPr/>
        </p:nvSpPr>
        <p:spPr>
          <a:xfrm>
            <a:off x="7178040" y="1938528"/>
            <a:ext cx="1371600" cy="310896"/>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α = .05</a:t>
            </a:r>
            <a:endParaRPr lang="en-US" sz="1400" dirty="0"/>
          </a:p>
        </p:txBody>
      </p:sp>
      <p:sp>
        <p:nvSpPr>
          <p:cNvPr id="13" name="Text 11"/>
          <p:cNvSpPr/>
          <p:nvPr/>
        </p:nvSpPr>
        <p:spPr>
          <a:xfrm>
            <a:off x="8595360" y="1938528"/>
            <a:ext cx="2636215" cy="310896"/>
          </a:xfrm>
          <a:prstGeom prst="rect">
            <a:avLst/>
          </a:prstGeom>
          <a:noFill/>
          <a:ln/>
        </p:spPr>
        <p:txBody>
          <a:bodyPr wrap="square" lIns="0" tIns="0" rIns="0" bIns="0" rtlCol="0" anchor="ctr"/>
          <a:lstStyle/>
          <a:p>
            <a:pPr marL="0" indent="0">
              <a:buNone/>
            </a:pPr>
            <a:r>
              <a:rPr lang="en-US" sz="1150" dirty="0">
                <a:solidFill>
                  <a:srgbClr val="5F767A"/>
                </a:solidFill>
                <a:latin typeface="Calibri" pitchFamily="34" charset="0"/>
                <a:ea typeface="Calibri" pitchFamily="34" charset="-122"/>
                <a:cs typeface="Calibri" pitchFamily="34" charset="-120"/>
              </a:rPr>
              <a:t>risk budget</a:t>
            </a:r>
            <a:endParaRPr lang="en-US" sz="1150" dirty="0"/>
          </a:p>
        </p:txBody>
      </p:sp>
      <p:sp>
        <p:nvSpPr>
          <p:cNvPr id="14" name="Text 12"/>
          <p:cNvSpPr/>
          <p:nvPr/>
        </p:nvSpPr>
        <p:spPr>
          <a:xfrm>
            <a:off x="7178040" y="2340864"/>
            <a:ext cx="1371600" cy="310896"/>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δ = .10</a:t>
            </a:r>
            <a:endParaRPr lang="en-US" sz="1400" dirty="0"/>
          </a:p>
        </p:txBody>
      </p:sp>
      <p:sp>
        <p:nvSpPr>
          <p:cNvPr id="15" name="Text 13"/>
          <p:cNvSpPr/>
          <p:nvPr/>
        </p:nvSpPr>
        <p:spPr>
          <a:xfrm>
            <a:off x="8595360" y="2340864"/>
            <a:ext cx="2636215" cy="310896"/>
          </a:xfrm>
          <a:prstGeom prst="rect">
            <a:avLst/>
          </a:prstGeom>
          <a:noFill/>
          <a:ln/>
        </p:spPr>
        <p:txBody>
          <a:bodyPr wrap="square" lIns="0" tIns="0" rIns="0" bIns="0" rtlCol="0" anchor="ctr"/>
          <a:lstStyle/>
          <a:p>
            <a:pPr marL="0" indent="0">
              <a:buNone/>
            </a:pPr>
            <a:r>
              <a:rPr lang="en-US" sz="1150" dirty="0">
                <a:solidFill>
                  <a:srgbClr val="5F767A"/>
                </a:solidFill>
                <a:latin typeface="Calibri" pitchFamily="34" charset="0"/>
                <a:ea typeface="Calibri" pitchFamily="34" charset="-122"/>
                <a:cs typeface="Calibri" pitchFamily="34" charset="-120"/>
              </a:rPr>
              <a:t>confidence budget</a:t>
            </a:r>
            <a:endParaRPr lang="en-US" sz="1150" dirty="0"/>
          </a:p>
        </p:txBody>
      </p:sp>
      <p:sp>
        <p:nvSpPr>
          <p:cNvPr id="16" name="Text 14"/>
          <p:cNvSpPr/>
          <p:nvPr/>
        </p:nvSpPr>
        <p:spPr>
          <a:xfrm>
            <a:off x="7178040" y="2743200"/>
            <a:ext cx="1371600" cy="310896"/>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|Λ| = 11</a:t>
            </a:r>
            <a:endParaRPr lang="en-US" sz="1400" dirty="0"/>
          </a:p>
        </p:txBody>
      </p:sp>
      <p:sp>
        <p:nvSpPr>
          <p:cNvPr id="17" name="Text 15"/>
          <p:cNvSpPr/>
          <p:nvPr/>
        </p:nvSpPr>
        <p:spPr>
          <a:xfrm>
            <a:off x="8595360" y="2743200"/>
            <a:ext cx="2636215" cy="310896"/>
          </a:xfrm>
          <a:prstGeom prst="rect">
            <a:avLst/>
          </a:prstGeom>
          <a:noFill/>
          <a:ln/>
        </p:spPr>
        <p:txBody>
          <a:bodyPr wrap="square" lIns="0" tIns="0" rIns="0" bIns="0" rtlCol="0" anchor="ctr"/>
          <a:lstStyle/>
          <a:p>
            <a:pPr marL="0" indent="0">
              <a:buNone/>
            </a:pPr>
            <a:r>
              <a:rPr lang="en-US" sz="1150" dirty="0">
                <a:solidFill>
                  <a:srgbClr val="5F767A"/>
                </a:solidFill>
                <a:latin typeface="Calibri" pitchFamily="34" charset="0"/>
                <a:ea typeface="Calibri" pitchFamily="34" charset="-122"/>
                <a:cs typeface="Calibri" pitchFamily="34" charset="-120"/>
              </a:rPr>
              <a:t>frozen thresholds</a:t>
            </a:r>
            <a:endParaRPr lang="en-US" sz="1150" dirty="0"/>
          </a:p>
        </p:txBody>
      </p:sp>
      <p:sp>
        <p:nvSpPr>
          <p:cNvPr id="18" name="Shape 16"/>
          <p:cNvSpPr/>
          <p:nvPr/>
        </p:nvSpPr>
        <p:spPr>
          <a:xfrm>
            <a:off x="7178040" y="3200400"/>
            <a:ext cx="4099255" cy="0"/>
          </a:xfrm>
          <a:prstGeom prst="line">
            <a:avLst/>
          </a:prstGeom>
          <a:noFill/>
          <a:ln w="12700">
            <a:solidFill>
              <a:srgbClr val="DCE8EA"/>
            </a:solidFill>
            <a:prstDash val="solid"/>
          </a:ln>
        </p:spPr>
        <p:txBody>
          <a:bodyPr/>
          <a:lstStyle/>
          <a:p>
            <a:endParaRPr lang="en-US"/>
          </a:p>
        </p:txBody>
      </p:sp>
      <p:sp>
        <p:nvSpPr>
          <p:cNvPr id="19" name="Text 17"/>
          <p:cNvSpPr/>
          <p:nvPr/>
        </p:nvSpPr>
        <p:spPr>
          <a:xfrm>
            <a:off x="7178040" y="3346704"/>
            <a:ext cx="1371600" cy="731520"/>
          </a:xfrm>
          <a:prstGeom prst="rect">
            <a:avLst/>
          </a:prstGeom>
          <a:noFill/>
          <a:ln/>
        </p:spPr>
        <p:txBody>
          <a:bodyPr wrap="square" lIns="0" tIns="0" rIns="0" bIns="0" rtlCol="0" anchor="ctr"/>
          <a:lstStyle/>
          <a:p>
            <a:pPr marL="0" indent="0">
              <a:buNone/>
            </a:pPr>
            <a:r>
              <a:rPr lang="en-US" sz="5000" b="1" dirty="0">
                <a:solidFill>
                  <a:srgbClr val="17798A"/>
                </a:solidFill>
                <a:latin typeface="Cambria" pitchFamily="34" charset="0"/>
                <a:ea typeface="Cambria" pitchFamily="34" charset="-122"/>
                <a:cs typeface="Cambria" pitchFamily="34" charset="-120"/>
              </a:rPr>
              <a:t>92</a:t>
            </a:r>
            <a:endParaRPr lang="en-US" sz="5000" dirty="0"/>
          </a:p>
        </p:txBody>
      </p:sp>
      <p:sp>
        <p:nvSpPr>
          <p:cNvPr id="20" name="Text 18"/>
          <p:cNvSpPr/>
          <p:nvPr/>
        </p:nvSpPr>
        <p:spPr>
          <a:xfrm>
            <a:off x="8595360" y="3383280"/>
            <a:ext cx="2636215" cy="694944"/>
          </a:xfrm>
          <a:prstGeom prst="rect">
            <a:avLst/>
          </a:prstGeom>
          <a:noFill/>
          <a:ln/>
        </p:spPr>
        <p:txBody>
          <a:bodyPr wrap="square" lIns="0" tIns="0" rIns="0" bIns="0" rtlCol="0" anchor="ctr"/>
          <a:lstStyle/>
          <a:p>
            <a:pPr marL="0" indent="0">
              <a:lnSpc>
                <a:spcPct val="108000"/>
              </a:lnSpc>
              <a:buNone/>
            </a:pPr>
            <a:r>
              <a:rPr lang="en-US" sz="1150" dirty="0">
                <a:solidFill>
                  <a:srgbClr val="2A4247"/>
                </a:solidFill>
                <a:latin typeface="Calibri" pitchFamily="34" charset="0"/>
                <a:ea typeface="Calibri" pitchFamily="34" charset="-122"/>
                <a:cs typeface="Calibri" pitchFamily="34" charset="-120"/>
              </a:rPr>
              <a:t>independent zero-violation group records needed before any artifact can be admitted</a:t>
            </a:r>
            <a:endParaRPr lang="en-US" sz="1150" dirty="0"/>
          </a:p>
        </p:txBody>
      </p:sp>
      <p:sp>
        <p:nvSpPr>
          <p:cNvPr id="21" name="Text 19"/>
          <p:cNvSpPr/>
          <p:nvPr/>
        </p:nvSpPr>
        <p:spPr>
          <a:xfrm>
            <a:off x="7178040" y="4206240"/>
            <a:ext cx="4099255" cy="603504"/>
          </a:xfrm>
          <a:prstGeom prst="rect">
            <a:avLst/>
          </a:prstGeom>
          <a:noFill/>
          <a:ln/>
        </p:spPr>
        <p:txBody>
          <a:bodyPr wrap="square" lIns="0" tIns="0" rIns="0" bIns="0" rtlCol="0" anchor="ctr"/>
          <a:lstStyle/>
          <a:p>
            <a:pPr marL="0" indent="0">
              <a:lnSpc>
                <a:spcPct val="105000"/>
              </a:lnSpc>
              <a:buNone/>
            </a:pPr>
            <a:r>
              <a:rPr lang="en-US" sz="1050" i="1" dirty="0">
                <a:solidFill>
                  <a:srgbClr val="5F767A"/>
                </a:solidFill>
                <a:latin typeface="Calibri" pitchFamily="34" charset="0"/>
                <a:ea typeface="Calibri" pitchFamily="34" charset="-122"/>
                <a:cs typeface="Calibri" pitchFamily="34" charset="-120"/>
              </a:rPr>
              <a:t>A design parameter as much as a data property: pre-committing to a single threshold instead of a grid of eleven drops the requirement to 45.</a:t>
            </a:r>
            <a:endParaRPr lang="en-US" sz="1050" dirty="0"/>
          </a:p>
        </p:txBody>
      </p:sp>
      <p:sp>
        <p:nvSpPr>
          <p:cNvPr id="22" name="Shape 20"/>
          <p:cNvSpPr/>
          <p:nvPr/>
        </p:nvSpPr>
        <p:spPr>
          <a:xfrm>
            <a:off x="640080" y="5138928"/>
            <a:ext cx="10911535" cy="914400"/>
          </a:xfrm>
          <a:prstGeom prst="roundRect">
            <a:avLst>
              <a:gd name="adj" fmla="val 5000"/>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3" name="Text 21"/>
          <p:cNvSpPr/>
          <p:nvPr/>
        </p:nvSpPr>
        <p:spPr>
          <a:xfrm>
            <a:off x="914400" y="5248656"/>
            <a:ext cx="10362895" cy="694944"/>
          </a:xfrm>
          <a:prstGeom prst="rect">
            <a:avLst/>
          </a:prstGeom>
          <a:noFill/>
          <a:ln/>
        </p:spPr>
        <p:txBody>
          <a:bodyPr wrap="square" lIns="0" tIns="0" rIns="0" bIns="0" rtlCol="0" anchor="ctr"/>
          <a:lstStyle/>
          <a:p>
            <a:pPr marL="0" indent="0">
              <a:lnSpc>
                <a:spcPct val="108000"/>
              </a:lnSpc>
              <a:buNone/>
            </a:pPr>
            <a:r>
              <a:rPr lang="en-US" sz="1200" b="1" dirty="0">
                <a:solidFill>
                  <a:srgbClr val="0D4A54"/>
                </a:solidFill>
                <a:latin typeface="Calibri" pitchFamily="34" charset="0"/>
                <a:ea typeface="Calibri" pitchFamily="34" charset="-122"/>
                <a:cs typeface="Calibri" pitchFamily="34" charset="-120"/>
              </a:rPr>
              <a:t>Independence is load-bearing. </a:t>
            </a:r>
            <a:r>
              <a:rPr lang="en-US" sz="1200" dirty="0">
                <a:solidFill>
                  <a:srgbClr val="2A4247"/>
                </a:solidFill>
                <a:latin typeface="Calibri" pitchFamily="34" charset="0"/>
                <a:ea typeface="Calibri" pitchFamily="34" charset="-122"/>
                <a:cs typeface="Calibri" pitchFamily="34" charset="-120"/>
              </a:rPr>
              <a:t>Groups from one repository, tenant, or time window are plausibly correlated; a clustered deployment must calibrate at the cluster level and check sensitivity with a block bootstrap or a beta-binomial model.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REJECTION POINT 3</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Decline a workload before you build a compiler for it</a:t>
            </a:r>
            <a:endParaRPr lang="en-US" sz="2600" dirty="0"/>
          </a:p>
        </p:txBody>
      </p:sp>
      <p:sp>
        <p:nvSpPr>
          <p:cNvPr id="6" name="Text 4"/>
          <p:cNvSpPr/>
          <p:nvPr/>
        </p:nvSpPr>
        <p:spPr>
          <a:xfrm>
            <a:off x="640080" y="1389888"/>
            <a:ext cx="6035040" cy="1371600"/>
          </a:xfrm>
          <a:prstGeom prst="rect">
            <a:avLst/>
          </a:prstGeom>
          <a:noFill/>
          <a:ln/>
        </p:spPr>
        <p:txBody>
          <a:bodyPr wrap="square" lIns="0" tIns="0" rIns="0" bIns="0" rtlCol="0" anchor="t"/>
          <a:lstStyle/>
          <a:p>
            <a:pPr marL="0" indent="0" algn="l">
              <a:lnSpc>
                <a:spcPct val="112000"/>
              </a:lnSpc>
              <a:buNone/>
            </a:pPr>
            <a:r>
              <a:rPr lang="en-US" sz="1300" dirty="0">
                <a:solidFill>
                  <a:srgbClr val="2A4247"/>
                </a:solidFill>
                <a:latin typeface="Calibri" pitchFamily="34" charset="0"/>
                <a:ea typeface="Calibri" pitchFamily="34" charset="-122"/>
                <a:cs typeface="Calibri" pitchFamily="34" charset="-120"/>
              </a:rPr>
              <a:t>Before any synthesis runs, a feasibility estimator bounds what the compiler could achieve even with a perfect verifier and a gate that never abstains: the removable requests per dispatch, divided by the baseline requests per episode, scaled by the share of episodes holding an eligible region.</a:t>
            </a:r>
            <a:endParaRPr lang="en-US" sz="1300" dirty="0"/>
          </a:p>
        </p:txBody>
      </p:sp>
      <p:sp>
        <p:nvSpPr>
          <p:cNvPr id="7" name="Shape 5"/>
          <p:cNvSpPr/>
          <p:nvPr/>
        </p:nvSpPr>
        <p:spPr>
          <a:xfrm>
            <a:off x="640080" y="2880360"/>
            <a:ext cx="6035040" cy="1371600"/>
          </a:xfrm>
          <a:prstGeom prst="roundRect">
            <a:avLst>
              <a:gd name="adj" fmla="val 3333"/>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8" name="Text 6"/>
          <p:cNvSpPr/>
          <p:nvPr/>
        </p:nvSpPr>
        <p:spPr>
          <a:xfrm>
            <a:off x="932688" y="3054096"/>
            <a:ext cx="2743200" cy="457200"/>
          </a:xfrm>
          <a:prstGeom prst="rect">
            <a:avLst/>
          </a:prstGeom>
          <a:noFill/>
          <a:ln/>
        </p:spPr>
        <p:txBody>
          <a:bodyPr wrap="square" lIns="0" tIns="0" rIns="0" bIns="0" rtlCol="0" anchor="ctr"/>
          <a:lstStyle/>
          <a:p>
            <a:pPr marL="0" indent="0">
              <a:buNone/>
            </a:pPr>
            <a:r>
              <a:rPr lang="en-US" sz="2200" b="1" i="1" dirty="0">
                <a:solidFill>
                  <a:srgbClr val="0D4A54"/>
                </a:solidFill>
                <a:latin typeface="Cambria" pitchFamily="34" charset="0"/>
                <a:ea typeface="Cambria" pitchFamily="34" charset="-122"/>
                <a:cs typeface="Cambria" pitchFamily="34" charset="-120"/>
              </a:rPr>
              <a:t>Δmax  =  φ k / nᴮ</a:t>
            </a:r>
            <a:endParaRPr lang="en-US" sz="2200" dirty="0"/>
          </a:p>
        </p:txBody>
      </p:sp>
      <p:sp>
        <p:nvSpPr>
          <p:cNvPr id="9" name="Text 7"/>
          <p:cNvSpPr/>
          <p:nvPr/>
        </p:nvSpPr>
        <p:spPr>
          <a:xfrm>
            <a:off x="932688" y="3584448"/>
            <a:ext cx="5486400" cy="548640"/>
          </a:xfrm>
          <a:prstGeom prst="rect">
            <a:avLst/>
          </a:prstGeom>
          <a:noFill/>
          <a:ln/>
        </p:spPr>
        <p:txBody>
          <a:bodyPr wrap="square" lIns="0" tIns="0" rIns="0" bIns="0" rtlCol="0" anchor="ctr"/>
          <a:lstStyle/>
          <a:p>
            <a:pPr marL="0" indent="0">
              <a:lnSpc>
                <a:spcPct val="108000"/>
              </a:lnSpc>
              <a:buNone/>
            </a:pPr>
            <a:r>
              <a:rPr lang="en-US" sz="1150" dirty="0">
                <a:solidFill>
                  <a:srgbClr val="5F767A"/>
                </a:solidFill>
                <a:latin typeface="Calibri" pitchFamily="34" charset="0"/>
                <a:ea typeface="Calibri" pitchFamily="34" charset="-122"/>
                <a:cs typeface="Calibri" pitchFamily="34" charset="-120"/>
              </a:rPr>
              <a:t>φ = share of eligible episodes  ·  k = requests removed per dispatch  ·  nᴮ = baseline requests per episode</a:t>
            </a:r>
            <a:endParaRPr lang="en-US" sz="1150" dirty="0"/>
          </a:p>
        </p:txBody>
      </p:sp>
      <p:sp>
        <p:nvSpPr>
          <p:cNvPr id="10" name="Shape 8"/>
          <p:cNvSpPr/>
          <p:nvPr/>
        </p:nvSpPr>
        <p:spPr>
          <a:xfrm>
            <a:off x="640080" y="4526280"/>
            <a:ext cx="6035040" cy="1243584"/>
          </a:xfrm>
          <a:prstGeom prst="roundRect">
            <a:avLst>
              <a:gd name="adj" fmla="val 367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1" name="Text 9"/>
          <p:cNvSpPr/>
          <p:nvPr/>
        </p:nvSpPr>
        <p:spPr>
          <a:xfrm>
            <a:off x="932688" y="4681728"/>
            <a:ext cx="5486400" cy="914400"/>
          </a:xfrm>
          <a:prstGeom prst="rect">
            <a:avLst/>
          </a:prstGeom>
          <a:noFill/>
          <a:ln/>
        </p:spPr>
        <p:txBody>
          <a:bodyPr wrap="square" lIns="0" tIns="0" rIns="0" bIns="0" rtlCol="0" anchor="ctr"/>
          <a:lstStyle/>
          <a:p>
            <a:pPr marL="0" indent="0">
              <a:lnSpc>
                <a:spcPct val="110000"/>
              </a:lnSpc>
              <a:buNone/>
            </a:pPr>
            <a:r>
              <a:rPr lang="en-US" sz="1300" dirty="0">
                <a:solidFill>
                  <a:srgbClr val="2A4247"/>
                </a:solidFill>
                <a:latin typeface="Calibri" pitchFamily="34" charset="0"/>
                <a:ea typeface="Calibri" pitchFamily="34" charset="-122"/>
                <a:cs typeface="Calibri" pitchFamily="34" charset="-120"/>
              </a:rPr>
              <a:t>A workload whose ceiling is under the target can be declined without building a compiler for it — which makes a decisive negative answer cheap.</a:t>
            </a:r>
            <a:endParaRPr lang="en-US" sz="1300" dirty="0"/>
          </a:p>
        </p:txBody>
      </p:sp>
      <p:sp>
        <p:nvSpPr>
          <p:cNvPr id="12" name="Shape 10"/>
          <p:cNvSpPr/>
          <p:nvPr/>
        </p:nvSpPr>
        <p:spPr>
          <a:xfrm>
            <a:off x="7086600" y="1389888"/>
            <a:ext cx="4465015" cy="4379976"/>
          </a:xfrm>
          <a:prstGeom prst="roundRect">
            <a:avLst>
              <a:gd name="adj" fmla="val 1044"/>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3" name="Text 11"/>
          <p:cNvSpPr/>
          <p:nvPr/>
        </p:nvSpPr>
        <p:spPr>
          <a:xfrm>
            <a:off x="7360920" y="1572768"/>
            <a:ext cx="3916375" cy="219456"/>
          </a:xfrm>
          <a:prstGeom prst="rect">
            <a:avLst/>
          </a:prstGeom>
          <a:noFill/>
          <a:ln/>
        </p:spPr>
        <p:txBody>
          <a:bodyPr wrap="square" lIns="0" tIns="0" rIns="0" bIns="0" rtlCol="0" anchor="ctr"/>
          <a:lstStyle/>
          <a:p>
            <a:pPr marL="0" indent="0">
              <a:buNone/>
            </a:pPr>
            <a:r>
              <a:rPr lang="en-US" sz="950" b="1" kern="0" spc="120" dirty="0">
                <a:solidFill>
                  <a:srgbClr val="17798A"/>
                </a:solidFill>
                <a:latin typeface="Calibri" pitchFamily="34" charset="0"/>
                <a:ea typeface="Calibri" pitchFamily="34" charset="-122"/>
                <a:cs typeface="Calibri" pitchFamily="34" charset="-120"/>
              </a:rPr>
              <a:t>WORKED EXAMPLE — THE FIXED-PREFIX GITHUB STUDY</a:t>
            </a:r>
            <a:endParaRPr lang="en-US" sz="950" dirty="0"/>
          </a:p>
        </p:txBody>
      </p:sp>
      <p:sp>
        <p:nvSpPr>
          <p:cNvPr id="14" name="Text 12"/>
          <p:cNvSpPr/>
          <p:nvPr/>
        </p:nvSpPr>
        <p:spPr>
          <a:xfrm>
            <a:off x="7360920" y="1920240"/>
            <a:ext cx="1051560" cy="329184"/>
          </a:xfrm>
          <a:prstGeom prst="rect">
            <a:avLst/>
          </a:prstGeom>
          <a:noFill/>
          <a:ln/>
        </p:spPr>
        <p:txBody>
          <a:bodyPr wrap="square" lIns="0" tIns="0" rIns="0" bIns="0" rtlCol="0" anchor="ctr"/>
          <a:lstStyle/>
          <a:p>
            <a:pPr marL="0" indent="0">
              <a:buNone/>
            </a:pPr>
            <a:r>
              <a:rPr lang="en-US" sz="1500" b="1" dirty="0">
                <a:solidFill>
                  <a:srgbClr val="0D4A54"/>
                </a:solidFill>
                <a:latin typeface="Cambria" pitchFamily="34" charset="0"/>
                <a:ea typeface="Cambria" pitchFamily="34" charset="-122"/>
                <a:cs typeface="Cambria" pitchFamily="34" charset="-120"/>
              </a:rPr>
              <a:t>φ = 1</a:t>
            </a:r>
            <a:endParaRPr lang="en-US" sz="1500" dirty="0"/>
          </a:p>
        </p:txBody>
      </p:sp>
      <p:sp>
        <p:nvSpPr>
          <p:cNvPr id="15" name="Text 13"/>
          <p:cNvSpPr/>
          <p:nvPr/>
        </p:nvSpPr>
        <p:spPr>
          <a:xfrm>
            <a:off x="8503920" y="1920240"/>
            <a:ext cx="2727655" cy="329184"/>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every episode holds an eligible region</a:t>
            </a:r>
            <a:endParaRPr lang="en-US" sz="1100" dirty="0"/>
          </a:p>
        </p:txBody>
      </p:sp>
      <p:sp>
        <p:nvSpPr>
          <p:cNvPr id="16" name="Text 14"/>
          <p:cNvSpPr/>
          <p:nvPr/>
        </p:nvSpPr>
        <p:spPr>
          <a:xfrm>
            <a:off x="7360920" y="2377440"/>
            <a:ext cx="1051560" cy="329184"/>
          </a:xfrm>
          <a:prstGeom prst="rect">
            <a:avLst/>
          </a:prstGeom>
          <a:noFill/>
          <a:ln/>
        </p:spPr>
        <p:txBody>
          <a:bodyPr wrap="square" lIns="0" tIns="0" rIns="0" bIns="0" rtlCol="0" anchor="ctr"/>
          <a:lstStyle/>
          <a:p>
            <a:pPr marL="0" indent="0">
              <a:buNone/>
            </a:pPr>
            <a:r>
              <a:rPr lang="en-US" sz="1500" b="1" dirty="0">
                <a:solidFill>
                  <a:srgbClr val="0D4A54"/>
                </a:solidFill>
                <a:latin typeface="Cambria" pitchFamily="34" charset="0"/>
                <a:ea typeface="Cambria" pitchFamily="34" charset="-122"/>
                <a:cs typeface="Cambria" pitchFamily="34" charset="-120"/>
              </a:rPr>
              <a:t>k = 3</a:t>
            </a:r>
            <a:endParaRPr lang="en-US" sz="1500" dirty="0"/>
          </a:p>
        </p:txBody>
      </p:sp>
      <p:sp>
        <p:nvSpPr>
          <p:cNvPr id="17" name="Text 15"/>
          <p:cNvSpPr/>
          <p:nvPr/>
        </p:nvSpPr>
        <p:spPr>
          <a:xfrm>
            <a:off x="8503920" y="2377440"/>
            <a:ext cx="2727655" cy="329184"/>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three model requests removable</a:t>
            </a:r>
            <a:endParaRPr lang="en-US" sz="1100" dirty="0"/>
          </a:p>
        </p:txBody>
      </p:sp>
      <p:sp>
        <p:nvSpPr>
          <p:cNvPr id="18" name="Text 16"/>
          <p:cNvSpPr/>
          <p:nvPr/>
        </p:nvSpPr>
        <p:spPr>
          <a:xfrm>
            <a:off x="7360920" y="2834640"/>
            <a:ext cx="1051560" cy="329184"/>
          </a:xfrm>
          <a:prstGeom prst="rect">
            <a:avLst/>
          </a:prstGeom>
          <a:noFill/>
          <a:ln/>
        </p:spPr>
        <p:txBody>
          <a:bodyPr wrap="square" lIns="0" tIns="0" rIns="0" bIns="0" rtlCol="0" anchor="ctr"/>
          <a:lstStyle/>
          <a:p>
            <a:pPr marL="0" indent="0">
              <a:buNone/>
            </a:pPr>
            <a:r>
              <a:rPr lang="en-US" sz="1500" b="1" dirty="0">
                <a:solidFill>
                  <a:srgbClr val="0D4A54"/>
                </a:solidFill>
                <a:latin typeface="Cambria" pitchFamily="34" charset="0"/>
                <a:ea typeface="Cambria" pitchFamily="34" charset="-122"/>
                <a:cs typeface="Cambria" pitchFamily="34" charset="-120"/>
              </a:rPr>
              <a:t>nᴮ = 4</a:t>
            </a:r>
            <a:endParaRPr lang="en-US" sz="1500" dirty="0"/>
          </a:p>
        </p:txBody>
      </p:sp>
      <p:sp>
        <p:nvSpPr>
          <p:cNvPr id="19" name="Text 17"/>
          <p:cNvSpPr/>
          <p:nvPr/>
        </p:nvSpPr>
        <p:spPr>
          <a:xfrm>
            <a:off x="8503920" y="2834640"/>
            <a:ext cx="2727655" cy="329184"/>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four baseline requests per episode</a:t>
            </a:r>
            <a:endParaRPr lang="en-US" sz="1100" dirty="0"/>
          </a:p>
        </p:txBody>
      </p:sp>
      <p:sp>
        <p:nvSpPr>
          <p:cNvPr id="20" name="Shape 18"/>
          <p:cNvSpPr/>
          <p:nvPr/>
        </p:nvSpPr>
        <p:spPr>
          <a:xfrm>
            <a:off x="7360920" y="3364992"/>
            <a:ext cx="3916375" cy="0"/>
          </a:xfrm>
          <a:prstGeom prst="line">
            <a:avLst/>
          </a:prstGeom>
          <a:noFill/>
          <a:ln w="12700">
            <a:solidFill>
              <a:srgbClr val="DCE8EA"/>
            </a:solidFill>
            <a:prstDash val="solid"/>
          </a:ln>
        </p:spPr>
        <p:txBody>
          <a:bodyPr/>
          <a:lstStyle/>
          <a:p>
            <a:endParaRPr lang="en-US"/>
          </a:p>
        </p:txBody>
      </p:sp>
      <p:sp>
        <p:nvSpPr>
          <p:cNvPr id="21" name="Text 19"/>
          <p:cNvSpPr/>
          <p:nvPr/>
        </p:nvSpPr>
        <p:spPr>
          <a:xfrm>
            <a:off x="7360920" y="3547872"/>
            <a:ext cx="1958188" cy="548640"/>
          </a:xfrm>
          <a:prstGeom prst="rect">
            <a:avLst/>
          </a:prstGeom>
          <a:noFill/>
          <a:ln/>
        </p:spPr>
        <p:txBody>
          <a:bodyPr wrap="square" lIns="0" tIns="0" rIns="0" bIns="0" rtlCol="0" anchor="ctr"/>
          <a:lstStyle/>
          <a:p>
            <a:pPr marL="0" indent="0">
              <a:buNone/>
            </a:pPr>
            <a:r>
              <a:rPr lang="en-US" sz="3100" b="1" dirty="0">
                <a:solidFill>
                  <a:srgbClr val="0D4A54"/>
                </a:solidFill>
                <a:latin typeface="Cambria" pitchFamily="34" charset="0"/>
                <a:ea typeface="Cambria" pitchFamily="34" charset="-122"/>
                <a:cs typeface="Cambria" pitchFamily="34" charset="-120"/>
              </a:rPr>
              <a:t>0.750</a:t>
            </a:r>
            <a:endParaRPr lang="en-US" sz="3100" dirty="0"/>
          </a:p>
        </p:txBody>
      </p:sp>
      <p:sp>
        <p:nvSpPr>
          <p:cNvPr id="22" name="Text 20"/>
          <p:cNvSpPr/>
          <p:nvPr/>
        </p:nvSpPr>
        <p:spPr>
          <a:xfrm>
            <a:off x="7360920" y="4114800"/>
            <a:ext cx="1866748" cy="292608"/>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theoretical ceiling</a:t>
            </a:r>
            <a:endParaRPr lang="en-US" sz="1100" dirty="0"/>
          </a:p>
        </p:txBody>
      </p:sp>
      <p:sp>
        <p:nvSpPr>
          <p:cNvPr id="23" name="Text 21"/>
          <p:cNvSpPr/>
          <p:nvPr/>
        </p:nvSpPr>
        <p:spPr>
          <a:xfrm>
            <a:off x="9319108" y="3547872"/>
            <a:ext cx="1958188" cy="548640"/>
          </a:xfrm>
          <a:prstGeom prst="rect">
            <a:avLst/>
          </a:prstGeom>
          <a:noFill/>
          <a:ln/>
        </p:spPr>
        <p:txBody>
          <a:bodyPr wrap="square" lIns="0" tIns="0" rIns="0" bIns="0" rtlCol="0" anchor="ctr"/>
          <a:lstStyle/>
          <a:p>
            <a:pPr marL="0" indent="0">
              <a:buNone/>
            </a:pPr>
            <a:r>
              <a:rPr lang="en-US" sz="3100" b="1" dirty="0">
                <a:solidFill>
                  <a:srgbClr val="17798A"/>
                </a:solidFill>
                <a:latin typeface="Cambria" pitchFamily="34" charset="0"/>
                <a:ea typeface="Cambria" pitchFamily="34" charset="-122"/>
                <a:cs typeface="Cambria" pitchFamily="34" charset="-120"/>
              </a:rPr>
              <a:t>75.0%</a:t>
            </a:r>
            <a:endParaRPr lang="en-US" sz="3100" dirty="0"/>
          </a:p>
        </p:txBody>
      </p:sp>
      <p:sp>
        <p:nvSpPr>
          <p:cNvPr id="24" name="Text 22"/>
          <p:cNvSpPr/>
          <p:nvPr/>
        </p:nvSpPr>
        <p:spPr>
          <a:xfrm>
            <a:off x="9319108" y="4114800"/>
            <a:ext cx="1866748" cy="292608"/>
          </a:xfrm>
          <a:prstGeom prst="rect">
            <a:avLst/>
          </a:prstGeom>
          <a:noFill/>
          <a:ln/>
        </p:spPr>
        <p:txBody>
          <a:bodyPr wrap="square" lIns="0" tIns="0" rIns="0" bIns="0" rtlCol="0" anchor="ctr"/>
          <a:lstStyle/>
          <a:p>
            <a:pPr marL="0" indent="0">
              <a:buNone/>
            </a:pPr>
            <a:r>
              <a:rPr lang="en-US" sz="1100" dirty="0">
                <a:solidFill>
                  <a:srgbClr val="5F767A"/>
                </a:solidFill>
                <a:latin typeface="Calibri" pitchFamily="34" charset="0"/>
                <a:ea typeface="Calibri" pitchFamily="34" charset="-122"/>
                <a:cs typeface="Calibri" pitchFamily="34" charset="-120"/>
              </a:rPr>
              <a:t>measured reduction</a:t>
            </a:r>
            <a:endParaRPr lang="en-US" sz="1100" dirty="0"/>
          </a:p>
        </p:txBody>
      </p:sp>
      <p:sp>
        <p:nvSpPr>
          <p:cNvPr id="25" name="Text 23"/>
          <p:cNvSpPr/>
          <p:nvPr/>
        </p:nvSpPr>
        <p:spPr>
          <a:xfrm>
            <a:off x="7360920" y="4590288"/>
            <a:ext cx="3916375" cy="822960"/>
          </a:xfrm>
          <a:prstGeom prst="rect">
            <a:avLst/>
          </a:prstGeom>
          <a:noFill/>
          <a:ln/>
        </p:spPr>
        <p:txBody>
          <a:bodyPr wrap="square" lIns="0" tIns="0" rIns="0" bIns="0" rtlCol="0" anchor="ctr"/>
          <a:lstStyle/>
          <a:p>
            <a:pPr marL="0" indent="0">
              <a:lnSpc>
                <a:spcPct val="108000"/>
              </a:lnSpc>
              <a:buNone/>
            </a:pPr>
            <a:r>
              <a:rPr lang="en-US" sz="1100" i="1" dirty="0">
                <a:solidFill>
                  <a:srgbClr val="5F767A"/>
                </a:solidFill>
                <a:latin typeface="Calibri" pitchFamily="34" charset="0"/>
                <a:ea typeface="Calibri" pitchFamily="34" charset="-122"/>
                <a:cs typeface="Calibri" pitchFamily="34" charset="-120"/>
              </a:rPr>
              <a:t>A saturated ceiling carries no information about the compiler — it confirms only that the task fully determined the region, which for this workload it does.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METHODOLOGY</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Three evidence tiers, ordered by what each can license</a:t>
            </a:r>
            <a:endParaRPr lang="en-US" sz="2600" dirty="0"/>
          </a:p>
        </p:txBody>
      </p:sp>
      <p:sp>
        <p:nvSpPr>
          <p:cNvPr id="6" name="Shape 4"/>
          <p:cNvSpPr/>
          <p:nvPr/>
        </p:nvSpPr>
        <p:spPr>
          <a:xfrm>
            <a:off x="640080" y="1371600"/>
            <a:ext cx="3442106" cy="3529584"/>
          </a:xfrm>
          <a:prstGeom prst="roundRect">
            <a:avLst>
              <a:gd name="adj" fmla="val 132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7" name="Shape 5"/>
          <p:cNvSpPr/>
          <p:nvPr/>
        </p:nvSpPr>
        <p:spPr>
          <a:xfrm>
            <a:off x="914400" y="1591056"/>
            <a:ext cx="420624" cy="420624"/>
          </a:xfrm>
          <a:prstGeom prst="ellipse">
            <a:avLst/>
          </a:prstGeom>
          <a:solidFill>
            <a:srgbClr val="17798A"/>
          </a:solidFill>
          <a:ln w="6350">
            <a:solidFill>
              <a:srgbClr val="17798A"/>
            </a:solidFill>
            <a:prstDash val="solid"/>
          </a:ln>
        </p:spPr>
        <p:txBody>
          <a:bodyPr/>
          <a:lstStyle/>
          <a:p>
            <a:endParaRPr lang="en-US"/>
          </a:p>
        </p:txBody>
      </p:sp>
      <p:sp>
        <p:nvSpPr>
          <p:cNvPr id="8" name="Text 6"/>
          <p:cNvSpPr/>
          <p:nvPr/>
        </p:nvSpPr>
        <p:spPr>
          <a:xfrm>
            <a:off x="914400" y="159105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914400" y="2121408"/>
            <a:ext cx="2893466" cy="603504"/>
          </a:xfrm>
          <a:prstGeom prst="rect">
            <a:avLst/>
          </a:prstGeom>
          <a:noFill/>
          <a:ln/>
        </p:spPr>
        <p:txBody>
          <a:bodyPr wrap="square" lIns="0" tIns="0" rIns="0" bIns="0" rtlCol="0" anchor="t"/>
          <a:lstStyle/>
          <a:p>
            <a:pPr marL="0" indent="0">
              <a:lnSpc>
                <a:spcPct val="100000"/>
              </a:lnSpc>
              <a:buNone/>
            </a:pPr>
            <a:r>
              <a:rPr lang="en-US" sz="1500" b="1" dirty="0">
                <a:solidFill>
                  <a:srgbClr val="0D4A54"/>
                </a:solidFill>
                <a:latin typeface="Cambria" pitchFamily="34" charset="0"/>
                <a:ea typeface="Cambria" pitchFamily="34" charset="-122"/>
                <a:cs typeface="Cambria" pitchFamily="34" charset="-120"/>
              </a:rPr>
              <a:t>External executable benchmark</a:t>
            </a:r>
            <a:endParaRPr lang="en-US" sz="1500" dirty="0"/>
          </a:p>
        </p:txBody>
      </p:sp>
      <p:sp>
        <p:nvSpPr>
          <p:cNvPr id="10" name="Text 8"/>
          <p:cNvSpPr/>
          <p:nvPr/>
        </p:nvSpPr>
        <p:spPr>
          <a:xfrm>
            <a:off x="914400" y="2724912"/>
            <a:ext cx="2893466" cy="402336"/>
          </a:xfrm>
          <a:prstGeom prst="rect">
            <a:avLst/>
          </a:prstGeom>
          <a:noFill/>
          <a:ln/>
        </p:spPr>
        <p:txBody>
          <a:bodyPr wrap="square" lIns="0" tIns="0" rIns="0" bIns="0" rtlCol="0" anchor="t"/>
          <a:lstStyle/>
          <a:p>
            <a:pPr marL="0" indent="0">
              <a:lnSpc>
                <a:spcPct val="102000"/>
              </a:lnSpc>
              <a:buNone/>
            </a:pPr>
            <a:r>
              <a:rPr lang="en-US" sz="1100" i="1" dirty="0">
                <a:solidFill>
                  <a:srgbClr val="17798A"/>
                </a:solidFill>
                <a:latin typeface="Calibri" pitchFamily="34" charset="0"/>
                <a:ea typeface="Calibri" pitchFamily="34" charset="-122"/>
                <a:cs typeface="Calibri" pitchFamily="34" charset="-120"/>
              </a:rPr>
              <a:t>NESTFUL — 1,415 executable episodes</a:t>
            </a:r>
            <a:endParaRPr lang="en-US" sz="1100" dirty="0"/>
          </a:p>
        </p:txBody>
      </p:sp>
      <p:sp>
        <p:nvSpPr>
          <p:cNvPr id="11" name="Text 9"/>
          <p:cNvSpPr/>
          <p:nvPr/>
        </p:nvSpPr>
        <p:spPr>
          <a:xfrm>
            <a:off x="932688" y="3182112"/>
            <a:ext cx="2856890" cy="1627632"/>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Tests dependency reconstruction, synthesis, and refusal on public data</a:t>
            </a:r>
            <a:endParaRPr lang="en-US" sz="1100" dirty="0"/>
          </a:p>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No model calls at all; provider-free and fully reproducible</a:t>
            </a:r>
            <a:endParaRPr lang="en-US" sz="1100" dirty="0"/>
          </a:p>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Cannot speak to live efficiency or task quality</a:t>
            </a:r>
            <a:endParaRPr lang="en-US" sz="1100" dirty="0"/>
          </a:p>
        </p:txBody>
      </p:sp>
      <p:sp>
        <p:nvSpPr>
          <p:cNvPr id="12" name="Shape 10"/>
          <p:cNvSpPr/>
          <p:nvPr/>
        </p:nvSpPr>
        <p:spPr>
          <a:xfrm>
            <a:off x="4374794" y="1371600"/>
            <a:ext cx="3442106" cy="3529584"/>
          </a:xfrm>
          <a:prstGeom prst="roundRect">
            <a:avLst>
              <a:gd name="adj" fmla="val 132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3" name="Shape 11"/>
          <p:cNvSpPr/>
          <p:nvPr/>
        </p:nvSpPr>
        <p:spPr>
          <a:xfrm>
            <a:off x="4649114" y="1591056"/>
            <a:ext cx="420624" cy="420624"/>
          </a:xfrm>
          <a:prstGeom prst="ellipse">
            <a:avLst/>
          </a:prstGeom>
          <a:solidFill>
            <a:srgbClr val="0D4A54"/>
          </a:solidFill>
          <a:ln w="6350">
            <a:solidFill>
              <a:srgbClr val="0D4A54"/>
            </a:solidFill>
            <a:prstDash val="solid"/>
          </a:ln>
        </p:spPr>
        <p:txBody>
          <a:bodyPr/>
          <a:lstStyle/>
          <a:p>
            <a:endParaRPr lang="en-US"/>
          </a:p>
        </p:txBody>
      </p:sp>
      <p:sp>
        <p:nvSpPr>
          <p:cNvPr id="14" name="Text 12"/>
          <p:cNvSpPr/>
          <p:nvPr/>
        </p:nvSpPr>
        <p:spPr>
          <a:xfrm>
            <a:off x="4649114" y="159105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4649114" y="2121408"/>
            <a:ext cx="2893466" cy="603504"/>
          </a:xfrm>
          <a:prstGeom prst="rect">
            <a:avLst/>
          </a:prstGeom>
          <a:noFill/>
          <a:ln/>
        </p:spPr>
        <p:txBody>
          <a:bodyPr wrap="square" lIns="0" tIns="0" rIns="0" bIns="0" rtlCol="0" anchor="t"/>
          <a:lstStyle/>
          <a:p>
            <a:pPr marL="0" indent="0">
              <a:lnSpc>
                <a:spcPct val="100000"/>
              </a:lnSpc>
              <a:buNone/>
            </a:pPr>
            <a:r>
              <a:rPr lang="en-US" sz="1500" b="1" dirty="0">
                <a:solidFill>
                  <a:srgbClr val="0D4A54"/>
                </a:solidFill>
                <a:latin typeface="Cambria" pitchFamily="34" charset="0"/>
                <a:ea typeface="Cambria" pitchFamily="34" charset="-122"/>
                <a:cs typeface="Cambria" pitchFamily="34" charset="-120"/>
              </a:rPr>
              <a:t>Real records, live provider</a:t>
            </a:r>
            <a:endParaRPr lang="en-US" sz="1500" dirty="0"/>
          </a:p>
        </p:txBody>
      </p:sp>
      <p:sp>
        <p:nvSpPr>
          <p:cNvPr id="16" name="Text 14"/>
          <p:cNvSpPr/>
          <p:nvPr/>
        </p:nvSpPr>
        <p:spPr>
          <a:xfrm>
            <a:off x="4649114" y="2724912"/>
            <a:ext cx="2893466" cy="402336"/>
          </a:xfrm>
          <a:prstGeom prst="rect">
            <a:avLst/>
          </a:prstGeom>
          <a:noFill/>
          <a:ln/>
        </p:spPr>
        <p:txBody>
          <a:bodyPr wrap="square" lIns="0" tIns="0" rIns="0" bIns="0" rtlCol="0" anchor="t"/>
          <a:lstStyle/>
          <a:p>
            <a:pPr marL="0" indent="0">
              <a:lnSpc>
                <a:spcPct val="102000"/>
              </a:lnSpc>
              <a:buNone/>
            </a:pPr>
            <a:r>
              <a:rPr lang="en-US" sz="1100" i="1" dirty="0">
                <a:solidFill>
                  <a:srgbClr val="17798A"/>
                </a:solidFill>
                <a:latin typeface="Calibri" pitchFamily="34" charset="0"/>
                <a:ea typeface="Calibri" pitchFamily="34" charset="-122"/>
                <a:cs typeface="Calibri" pitchFamily="34" charset="-120"/>
              </a:rPr>
              <a:t>Four GitHub protocols on a pinned snapshot</a:t>
            </a:r>
            <a:endParaRPr lang="en-US" sz="1100" dirty="0"/>
          </a:p>
        </p:txBody>
      </p:sp>
      <p:sp>
        <p:nvSpPr>
          <p:cNvPr id="17" name="Text 15"/>
          <p:cNvSpPr/>
          <p:nvPr/>
        </p:nvSpPr>
        <p:spPr>
          <a:xfrm>
            <a:off x="4667402" y="3182112"/>
            <a:ext cx="2856890" cy="1627632"/>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Actual public issue records; deterministic local reads; live provider calls</a:t>
            </a:r>
            <a:endParaRPr lang="en-US" sz="1100" dirty="0"/>
          </a:p>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The natural-order protocols name no tool functions and no order; the first prescribes a fixed prefix as an ablation</a:t>
            </a:r>
            <a:endParaRPr lang="en-US" sz="1100" dirty="0"/>
          </a:p>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One repository, one snapshot, one model configuration</a:t>
            </a:r>
            <a:endParaRPr lang="en-US" sz="1100" dirty="0"/>
          </a:p>
        </p:txBody>
      </p:sp>
      <p:sp>
        <p:nvSpPr>
          <p:cNvPr id="18" name="Shape 16"/>
          <p:cNvSpPr/>
          <p:nvPr/>
        </p:nvSpPr>
        <p:spPr>
          <a:xfrm>
            <a:off x="8109509" y="1371600"/>
            <a:ext cx="3442106" cy="3529584"/>
          </a:xfrm>
          <a:prstGeom prst="roundRect">
            <a:avLst>
              <a:gd name="adj" fmla="val 1328"/>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9" name="Shape 17"/>
          <p:cNvSpPr/>
          <p:nvPr/>
        </p:nvSpPr>
        <p:spPr>
          <a:xfrm>
            <a:off x="8383829" y="1591056"/>
            <a:ext cx="420624" cy="420624"/>
          </a:xfrm>
          <a:prstGeom prst="ellipse">
            <a:avLst/>
          </a:prstGeom>
          <a:solidFill>
            <a:srgbClr val="4EA3B0"/>
          </a:solidFill>
          <a:ln w="6350">
            <a:solidFill>
              <a:srgbClr val="4EA3B0"/>
            </a:solidFill>
            <a:prstDash val="solid"/>
          </a:ln>
        </p:spPr>
        <p:txBody>
          <a:bodyPr/>
          <a:lstStyle/>
          <a:p>
            <a:endParaRPr lang="en-US"/>
          </a:p>
        </p:txBody>
      </p:sp>
      <p:sp>
        <p:nvSpPr>
          <p:cNvPr id="20" name="Text 18"/>
          <p:cNvSpPr/>
          <p:nvPr/>
        </p:nvSpPr>
        <p:spPr>
          <a:xfrm>
            <a:off x="8383829" y="159105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8383829" y="2121408"/>
            <a:ext cx="2893466" cy="603504"/>
          </a:xfrm>
          <a:prstGeom prst="rect">
            <a:avLst/>
          </a:prstGeom>
          <a:noFill/>
          <a:ln/>
        </p:spPr>
        <p:txBody>
          <a:bodyPr wrap="square" lIns="0" tIns="0" rIns="0" bIns="0" rtlCol="0" anchor="t"/>
          <a:lstStyle/>
          <a:p>
            <a:pPr marL="0" indent="0">
              <a:lnSpc>
                <a:spcPct val="100000"/>
              </a:lnSpc>
              <a:buNone/>
            </a:pPr>
            <a:r>
              <a:rPr lang="en-US" sz="1500" b="1" dirty="0">
                <a:solidFill>
                  <a:srgbClr val="0D4A54"/>
                </a:solidFill>
                <a:latin typeface="Cambria" pitchFamily="34" charset="0"/>
                <a:ea typeface="Cambria" pitchFamily="34" charset="-122"/>
                <a:cs typeface="Cambria" pitchFamily="34" charset="-120"/>
              </a:rPr>
              <a:t>Controlled demonstration suite</a:t>
            </a:r>
            <a:endParaRPr lang="en-US" sz="1500" dirty="0"/>
          </a:p>
        </p:txBody>
      </p:sp>
      <p:sp>
        <p:nvSpPr>
          <p:cNvPr id="22" name="Text 20"/>
          <p:cNvSpPr/>
          <p:nvPr/>
        </p:nvSpPr>
        <p:spPr>
          <a:xfrm>
            <a:off x="8383829" y="2724912"/>
            <a:ext cx="2893466" cy="402336"/>
          </a:xfrm>
          <a:prstGeom prst="rect">
            <a:avLst/>
          </a:prstGeom>
          <a:noFill/>
          <a:ln/>
        </p:spPr>
        <p:txBody>
          <a:bodyPr wrap="square" lIns="0" tIns="0" rIns="0" bIns="0" rtlCol="0" anchor="t"/>
          <a:lstStyle/>
          <a:p>
            <a:pPr marL="0" indent="0">
              <a:lnSpc>
                <a:spcPct val="102000"/>
              </a:lnSpc>
              <a:buNone/>
            </a:pPr>
            <a:r>
              <a:rPr lang="en-US" sz="1100" i="1" dirty="0">
                <a:solidFill>
                  <a:srgbClr val="17798A"/>
                </a:solidFill>
                <a:latin typeface="Calibri" pitchFamily="34" charset="0"/>
                <a:ea typeface="Calibri" pitchFamily="34" charset="-122"/>
                <a:cs typeface="Calibri" pitchFamily="34" charset="-120"/>
              </a:rPr>
              <a:t>Six workflow shapes, eight conditions</a:t>
            </a:r>
            <a:endParaRPr lang="en-US" sz="1100" dirty="0"/>
          </a:p>
        </p:txBody>
      </p:sp>
      <p:sp>
        <p:nvSpPr>
          <p:cNvPr id="23" name="Text 21"/>
          <p:cNvSpPr/>
          <p:nvPr/>
        </p:nvSpPr>
        <p:spPr>
          <a:xfrm>
            <a:off x="8402117" y="3182112"/>
            <a:ext cx="2856890" cy="1627632"/>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Covers branches, pagination, mandatory writes, handoffs, undeclared effects</a:t>
            </a:r>
            <a:endParaRPr lang="en-US" sz="1100" dirty="0"/>
          </a:p>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Three conditions are negative controls whose only correct outcome is refusal</a:t>
            </a:r>
            <a:endParaRPr lang="en-US" sz="1100" dirty="0"/>
          </a:p>
          <a:p>
            <a:pPr marL="342900" indent="-342900">
              <a:lnSpc>
                <a:spcPct val="106000"/>
              </a:lnSpc>
              <a:spcAft>
                <a:spcPts val="700"/>
              </a:spcAft>
              <a:buSzPct val="100000"/>
              <a:buChar char="•"/>
            </a:pPr>
            <a:r>
              <a:rPr lang="en-US" sz="1100" dirty="0">
                <a:solidFill>
                  <a:srgbClr val="2A4247"/>
                </a:solidFill>
                <a:latin typeface="Calibri" pitchFamily="34" charset="0"/>
                <a:ea typeface="Calibri" pitchFamily="34" charset="-122"/>
                <a:cs typeface="Calibri" pitchFamily="34" charset="-120"/>
              </a:rPr>
              <a:t>Business records are fictional — no real-world data claim</a:t>
            </a:r>
            <a:endParaRPr lang="en-US" sz="1100" dirty="0"/>
          </a:p>
        </p:txBody>
      </p:sp>
      <p:sp>
        <p:nvSpPr>
          <p:cNvPr id="24" name="Shape 22"/>
          <p:cNvSpPr/>
          <p:nvPr/>
        </p:nvSpPr>
        <p:spPr>
          <a:xfrm>
            <a:off x="640080" y="5138928"/>
            <a:ext cx="10911535" cy="786384"/>
          </a:xfrm>
          <a:prstGeom prst="roundRect">
            <a:avLst>
              <a:gd name="adj" fmla="val 5814"/>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5" name="Text 23"/>
          <p:cNvSpPr/>
          <p:nvPr/>
        </p:nvSpPr>
        <p:spPr>
          <a:xfrm>
            <a:off x="914400" y="5248656"/>
            <a:ext cx="10362895" cy="566928"/>
          </a:xfrm>
          <a:prstGeom prst="rect">
            <a:avLst/>
          </a:prstGeom>
          <a:noFill/>
          <a:ln/>
        </p:spPr>
        <p:txBody>
          <a:bodyPr wrap="square" lIns="0" tIns="0" rIns="0" bIns="0" rtlCol="0" anchor="ctr"/>
          <a:lstStyle/>
          <a:p>
            <a:pPr marL="0" indent="0">
              <a:buNone/>
            </a:pPr>
            <a:r>
              <a:rPr lang="en-US" sz="1250" b="1" dirty="0">
                <a:solidFill>
                  <a:srgbClr val="0D4A54"/>
                </a:solidFill>
                <a:latin typeface="Calibri" pitchFamily="34" charset="0"/>
                <a:ea typeface="Calibri" pitchFamily="34" charset="-122"/>
                <a:cs typeface="Calibri" pitchFamily="34" charset="-120"/>
              </a:rPr>
              <a:t>Every rejected candidate, the archived failed pilot, and the unsupported claims are retained rather than pruned </a:t>
            </a:r>
            <a:r>
              <a:rPr lang="en-US" sz="1250" dirty="0">
                <a:solidFill>
                  <a:srgbClr val="2A4247"/>
                </a:solidFill>
                <a:latin typeface="Calibri" pitchFamily="34" charset="0"/>
                <a:ea typeface="Calibri" pitchFamily="34" charset="-122"/>
                <a:cs typeface="Calibri" pitchFamily="34" charset="-120"/>
              </a:rPr>
              <a:t>— so the denominator of each result stays visible.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RESULT 1  ·  RQ1 AND RQ3</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Provenance succeeds far more often than certification</a:t>
            </a:r>
            <a:endParaRPr lang="en-US" sz="2600" dirty="0"/>
          </a:p>
        </p:txBody>
      </p:sp>
      <p:sp>
        <p:nvSpPr>
          <p:cNvPr id="6" name="Text 4"/>
          <p:cNvSpPr/>
          <p:nvPr/>
        </p:nvSpPr>
        <p:spPr>
          <a:xfrm>
            <a:off x="640080" y="1426464"/>
            <a:ext cx="5715000" cy="228600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Recurrence is fragmented: 714 candidate families exist, only 32 have support of at least five, and the best reaches 26 groups.</a:t>
            </a:r>
            <a:endParaRPr lang="en-US" sz="1250" dirty="0"/>
          </a:p>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Of 32 attempted families, 12 synthesize. Their 36 held-out windows give 24 passes, 12 abstentions and zero wrong executions.</a:t>
            </a:r>
            <a:endParaRPr lang="en-US" sz="1250" dirty="0"/>
          </a:p>
          <a:p>
            <a:pPr marL="342900" indent="-342900">
              <a:lnSpc>
                <a:spcPct val="106000"/>
              </a:lnSpc>
              <a:spcAft>
                <a:spcPts val="700"/>
              </a:spcAft>
              <a:buSzPct val="100000"/>
              <a:buChar char="•"/>
            </a:pPr>
            <a:r>
              <a:rPr lang="en-US" sz="1250" dirty="0">
                <a:solidFill>
                  <a:srgbClr val="2A4247"/>
                </a:solidFill>
                <a:latin typeface="Calibri" pitchFamily="34" charset="0"/>
                <a:ea typeface="Calibri" pitchFamily="34" charset="-122"/>
                <a:cs typeface="Calibri" pitchFamily="34" charset="-120"/>
              </a:rPr>
              <a:t>Zero wrong does not certify the programs. The gate needs 92 zero-violation groups, so every family retires.</a:t>
            </a:r>
            <a:endParaRPr lang="en-US" sz="1250" dirty="0"/>
          </a:p>
        </p:txBody>
      </p:sp>
      <p:sp>
        <p:nvSpPr>
          <p:cNvPr id="7" name="Shape 5"/>
          <p:cNvSpPr/>
          <p:nvPr/>
        </p:nvSpPr>
        <p:spPr>
          <a:xfrm>
            <a:off x="640080" y="3840480"/>
            <a:ext cx="5715000" cy="1170432"/>
          </a:xfrm>
          <a:prstGeom prst="roundRect">
            <a:avLst>
              <a:gd name="adj" fmla="val 3906"/>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8" name="Text 6"/>
          <p:cNvSpPr/>
          <p:nvPr/>
        </p:nvSpPr>
        <p:spPr>
          <a:xfrm>
            <a:off x="914400" y="3986784"/>
            <a:ext cx="5166360" cy="896112"/>
          </a:xfrm>
          <a:prstGeom prst="rect">
            <a:avLst/>
          </a:prstGeom>
          <a:noFill/>
          <a:ln/>
        </p:spPr>
        <p:txBody>
          <a:bodyPr wrap="square" lIns="0" tIns="0" rIns="0" bIns="0" rtlCol="0" anchor="ctr"/>
          <a:lstStyle/>
          <a:p>
            <a:pPr marL="0" indent="0">
              <a:lnSpc>
                <a:spcPct val="108000"/>
              </a:lnSpc>
              <a:buNone/>
            </a:pPr>
            <a:r>
              <a:rPr lang="en-US" sz="1200" b="1" dirty="0">
                <a:solidFill>
                  <a:srgbClr val="AC4A2C"/>
                </a:solidFill>
                <a:latin typeface="Calibri" pitchFamily="34" charset="0"/>
                <a:ea typeface="Calibri" pitchFamily="34" charset="-122"/>
                <a:cs typeface="Calibri" pitchFamily="34" charset="-120"/>
              </a:rPr>
              <a:t>A scientifically useful negative result. </a:t>
            </a:r>
            <a:r>
              <a:rPr lang="en-US" sz="1200" dirty="0">
                <a:solidFill>
                  <a:srgbClr val="5A3A2E"/>
                </a:solidFill>
                <a:latin typeface="Calibri" pitchFamily="34" charset="0"/>
                <a:ea typeface="Calibri" pitchFamily="34" charset="-122"/>
                <a:cs typeface="Calibri" pitchFamily="34" charset="-120"/>
              </a:rPr>
              <a:t>It is what distinguishes a guarded compiler from a recurrence-only macro miner — and it exposes the data requirement instead of hiding it in a heuristic.</a:t>
            </a:r>
            <a:endParaRPr lang="en-US" sz="1200" dirty="0"/>
          </a:p>
        </p:txBody>
      </p:sp>
      <p:graphicFrame>
        <p:nvGraphicFramePr>
          <p:cNvPr id="9" name="Chart 0"/>
          <p:cNvGraphicFramePr/>
          <p:nvPr/>
        </p:nvGraphicFramePr>
        <p:xfrm>
          <a:off x="6720840" y="1371600"/>
          <a:ext cx="4828032" cy="3639312"/>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640080" y="5175504"/>
            <a:ext cx="2549576" cy="932688"/>
          </a:xfrm>
          <a:prstGeom prst="roundRect">
            <a:avLst>
              <a:gd name="adj" fmla="val 4902"/>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1" name="Text 8"/>
          <p:cNvSpPr/>
          <p:nvPr/>
        </p:nvSpPr>
        <p:spPr>
          <a:xfrm>
            <a:off x="804672" y="5266944"/>
            <a:ext cx="2220392" cy="329184"/>
          </a:xfrm>
          <a:prstGeom prst="rect">
            <a:avLst/>
          </a:prstGeom>
          <a:noFill/>
          <a:ln/>
        </p:spPr>
        <p:txBody>
          <a:bodyPr wrap="square" lIns="0" tIns="0" rIns="0" bIns="0" rtlCol="0" anchor="ctr"/>
          <a:lstStyle/>
          <a:p>
            <a:pPr marL="0" indent="0">
              <a:buNone/>
            </a:pPr>
            <a:r>
              <a:rPr lang="en-US" sz="1600" b="1" dirty="0">
                <a:solidFill>
                  <a:srgbClr val="0D4A54"/>
                </a:solidFill>
                <a:latin typeface="Cambria" pitchFamily="34" charset="0"/>
                <a:ea typeface="Cambria" pitchFamily="34" charset="-122"/>
                <a:cs typeface="Cambria" pitchFamily="34" charset="-120"/>
              </a:rPr>
              <a:t>1,207 / 1,415</a:t>
            </a:r>
            <a:endParaRPr lang="en-US" sz="1600" dirty="0"/>
          </a:p>
        </p:txBody>
      </p:sp>
      <p:sp>
        <p:nvSpPr>
          <p:cNvPr id="12" name="Text 9"/>
          <p:cNvSpPr/>
          <p:nvPr/>
        </p:nvSpPr>
        <p:spPr>
          <a:xfrm>
            <a:off x="804672" y="5614416"/>
            <a:ext cx="2220392" cy="402336"/>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complete groundable windows (85.3%)</a:t>
            </a:r>
            <a:endParaRPr lang="en-US" sz="1000" dirty="0"/>
          </a:p>
        </p:txBody>
      </p:sp>
      <p:sp>
        <p:nvSpPr>
          <p:cNvPr id="13" name="Shape 10"/>
          <p:cNvSpPr/>
          <p:nvPr/>
        </p:nvSpPr>
        <p:spPr>
          <a:xfrm>
            <a:off x="3427400" y="5175504"/>
            <a:ext cx="2549576" cy="932688"/>
          </a:xfrm>
          <a:prstGeom prst="roundRect">
            <a:avLst>
              <a:gd name="adj" fmla="val 4902"/>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4" name="Text 11"/>
          <p:cNvSpPr/>
          <p:nvPr/>
        </p:nvSpPr>
        <p:spPr>
          <a:xfrm>
            <a:off x="3591992" y="5266944"/>
            <a:ext cx="2220392" cy="329184"/>
          </a:xfrm>
          <a:prstGeom prst="rect">
            <a:avLst/>
          </a:prstGeom>
          <a:noFill/>
          <a:ln/>
        </p:spPr>
        <p:txBody>
          <a:bodyPr wrap="square" lIns="0" tIns="0" rIns="0" bIns="0" rtlCol="0" anchor="ctr"/>
          <a:lstStyle/>
          <a:p>
            <a:pPr marL="0" indent="0">
              <a:buNone/>
            </a:pPr>
            <a:r>
              <a:rPr lang="en-US" sz="1600" b="1" dirty="0">
                <a:solidFill>
                  <a:srgbClr val="0D4A54"/>
                </a:solidFill>
                <a:latin typeface="Cambria" pitchFamily="34" charset="0"/>
                <a:ea typeface="Cambria" pitchFamily="34" charset="-122"/>
                <a:cs typeface="Cambria" pitchFamily="34" charset="-120"/>
              </a:rPr>
              <a:t>12 / 32</a:t>
            </a:r>
            <a:endParaRPr lang="en-US" sz="1600" dirty="0"/>
          </a:p>
        </p:txBody>
      </p:sp>
      <p:sp>
        <p:nvSpPr>
          <p:cNvPr id="15" name="Text 12"/>
          <p:cNvSpPr/>
          <p:nvPr/>
        </p:nvSpPr>
        <p:spPr>
          <a:xfrm>
            <a:off x="3591992" y="5614416"/>
            <a:ext cx="2220392" cy="402336"/>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families synthesized</a:t>
            </a:r>
            <a:endParaRPr lang="en-US" sz="1000" dirty="0"/>
          </a:p>
        </p:txBody>
      </p:sp>
      <p:sp>
        <p:nvSpPr>
          <p:cNvPr id="16" name="Shape 13"/>
          <p:cNvSpPr/>
          <p:nvPr/>
        </p:nvSpPr>
        <p:spPr>
          <a:xfrm>
            <a:off x="6214720" y="5175504"/>
            <a:ext cx="2549576" cy="932688"/>
          </a:xfrm>
          <a:prstGeom prst="roundRect">
            <a:avLst>
              <a:gd name="adj" fmla="val 4902"/>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7" name="Text 14"/>
          <p:cNvSpPr/>
          <p:nvPr/>
        </p:nvSpPr>
        <p:spPr>
          <a:xfrm>
            <a:off x="6379312" y="5266944"/>
            <a:ext cx="2220392" cy="329184"/>
          </a:xfrm>
          <a:prstGeom prst="rect">
            <a:avLst/>
          </a:prstGeom>
          <a:noFill/>
          <a:ln/>
        </p:spPr>
        <p:txBody>
          <a:bodyPr wrap="square" lIns="0" tIns="0" rIns="0" bIns="0" rtlCol="0" anchor="ctr"/>
          <a:lstStyle/>
          <a:p>
            <a:pPr marL="0" indent="0">
              <a:buNone/>
            </a:pPr>
            <a:r>
              <a:rPr lang="en-US" sz="1600" b="1" dirty="0">
                <a:solidFill>
                  <a:srgbClr val="0D4A54"/>
                </a:solidFill>
                <a:latin typeface="Cambria" pitchFamily="34" charset="0"/>
                <a:ea typeface="Cambria" pitchFamily="34" charset="-122"/>
                <a:cs typeface="Cambria" pitchFamily="34" charset="-120"/>
              </a:rPr>
              <a:t>24 / 12 / 0</a:t>
            </a:r>
            <a:endParaRPr lang="en-US" sz="1600" dirty="0"/>
          </a:p>
        </p:txBody>
      </p:sp>
      <p:sp>
        <p:nvSpPr>
          <p:cNvPr id="18" name="Text 15"/>
          <p:cNvSpPr/>
          <p:nvPr/>
        </p:nvSpPr>
        <p:spPr>
          <a:xfrm>
            <a:off x="6379312" y="5614416"/>
            <a:ext cx="2220392" cy="402336"/>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held-out pass / abstain / wrong</a:t>
            </a:r>
            <a:endParaRPr lang="en-US" sz="1000" dirty="0"/>
          </a:p>
        </p:txBody>
      </p:sp>
      <p:sp>
        <p:nvSpPr>
          <p:cNvPr id="19" name="Shape 16"/>
          <p:cNvSpPr/>
          <p:nvPr/>
        </p:nvSpPr>
        <p:spPr>
          <a:xfrm>
            <a:off x="9002039" y="5175504"/>
            <a:ext cx="2549576" cy="932688"/>
          </a:xfrm>
          <a:prstGeom prst="roundRect">
            <a:avLst>
              <a:gd name="adj" fmla="val 4902"/>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0" name="Text 17"/>
          <p:cNvSpPr/>
          <p:nvPr/>
        </p:nvSpPr>
        <p:spPr>
          <a:xfrm>
            <a:off x="9166631" y="5266944"/>
            <a:ext cx="2220392" cy="329184"/>
          </a:xfrm>
          <a:prstGeom prst="rect">
            <a:avLst/>
          </a:prstGeom>
          <a:noFill/>
          <a:ln/>
        </p:spPr>
        <p:txBody>
          <a:bodyPr wrap="square" lIns="0" tIns="0" rIns="0" bIns="0" rtlCol="0" anchor="ctr"/>
          <a:lstStyle/>
          <a:p>
            <a:pPr marL="0" indent="0">
              <a:buNone/>
            </a:pPr>
            <a:r>
              <a:rPr lang="en-US" sz="1600" b="1" dirty="0">
                <a:solidFill>
                  <a:srgbClr val="AC4A2C"/>
                </a:solidFill>
                <a:latin typeface="Cambria" pitchFamily="34" charset="0"/>
                <a:ea typeface="Cambria" pitchFamily="34" charset="-122"/>
                <a:cs typeface="Cambria" pitchFamily="34" charset="-120"/>
              </a:rPr>
              <a:t>0</a:t>
            </a:r>
            <a:endParaRPr lang="en-US" sz="1600" dirty="0"/>
          </a:p>
        </p:txBody>
      </p:sp>
      <p:sp>
        <p:nvSpPr>
          <p:cNvPr id="21" name="Text 18"/>
          <p:cNvSpPr/>
          <p:nvPr/>
        </p:nvSpPr>
        <p:spPr>
          <a:xfrm>
            <a:off x="9166631" y="5614416"/>
            <a:ext cx="2220392" cy="402336"/>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certifiable families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RESULT 2  ·  RQ2</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30 unseen real issues: half the requests, quality held</a:t>
            </a:r>
            <a:endParaRPr lang="en-US" sz="2600" dirty="0"/>
          </a:p>
        </p:txBody>
      </p:sp>
      <p:graphicFrame>
        <p:nvGraphicFramePr>
          <p:cNvPr id="6" name="Chart 0"/>
          <p:cNvGraphicFramePr/>
          <p:nvPr/>
        </p:nvGraphicFramePr>
        <p:xfrm>
          <a:off x="640080" y="1371600"/>
          <a:ext cx="74523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321040" y="1371600"/>
            <a:ext cx="3230575" cy="3566160"/>
          </a:xfrm>
          <a:prstGeom prst="roundRect">
            <a:avLst>
              <a:gd name="adj" fmla="val 141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8" name="Text 5"/>
          <p:cNvSpPr/>
          <p:nvPr/>
        </p:nvSpPr>
        <p:spPr>
          <a:xfrm>
            <a:off x="8577072" y="1536192"/>
            <a:ext cx="2718511" cy="219456"/>
          </a:xfrm>
          <a:prstGeom prst="rect">
            <a:avLst/>
          </a:prstGeom>
          <a:noFill/>
          <a:ln/>
        </p:spPr>
        <p:txBody>
          <a:bodyPr wrap="square" lIns="0" tIns="0" rIns="0" bIns="0" rtlCol="0" anchor="ctr"/>
          <a:lstStyle/>
          <a:p>
            <a:pPr marL="0" indent="0">
              <a:buNone/>
            </a:pPr>
            <a:r>
              <a:rPr lang="en-US" sz="950" b="1" kern="0" spc="110" dirty="0">
                <a:solidFill>
                  <a:srgbClr val="17798A"/>
                </a:solidFill>
                <a:latin typeface="Calibri" pitchFamily="34" charset="0"/>
                <a:ea typeface="Calibri" pitchFamily="34" charset="-122"/>
                <a:cs typeface="Calibri" pitchFamily="34" charset="-120"/>
              </a:rPr>
              <a:t>WHAT THE COMPILER ACTUALLY DID</a:t>
            </a:r>
            <a:endParaRPr lang="en-US" sz="950" dirty="0"/>
          </a:p>
        </p:txBody>
      </p:sp>
      <p:sp>
        <p:nvSpPr>
          <p:cNvPr id="9" name="Text 6"/>
          <p:cNvSpPr/>
          <p:nvPr/>
        </p:nvSpPr>
        <p:spPr>
          <a:xfrm>
            <a:off x="8595360" y="1828800"/>
            <a:ext cx="2681935" cy="2926080"/>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100" dirty="0">
                <a:solidFill>
                  <a:srgbClr val="2A4247"/>
                </a:solidFill>
                <a:latin typeface="Calibri" pitchFamily="34" charset="0"/>
                <a:ea typeface="Calibri" pitchFamily="34" charset="-122"/>
                <a:cs typeface="Calibri" pitchFamily="34" charset="-120"/>
              </a:rPr>
              <a:t>All 132 discovery traces read record, then labels, then comments — with a prompt naming neither tools nor order.</a:t>
            </a:r>
            <a:endParaRPr lang="en-US" sz="1100" dirty="0"/>
          </a:p>
          <a:p>
            <a:pPr marL="342900" indent="-342900">
              <a:lnSpc>
                <a:spcPct val="106000"/>
              </a:lnSpc>
              <a:spcAft>
                <a:spcPts val="800"/>
              </a:spcAft>
              <a:buSzPct val="100000"/>
              <a:buChar char="•"/>
            </a:pPr>
            <a:r>
              <a:rPr lang="en-US" sz="1100" dirty="0">
                <a:solidFill>
                  <a:srgbClr val="2A4247"/>
                </a:solidFill>
                <a:latin typeface="Calibri" pitchFamily="34" charset="0"/>
                <a:ea typeface="Calibri" pitchFamily="34" charset="-122"/>
                <a:cs typeface="Calibri" pitchFamily="34" charset="-120"/>
              </a:rPr>
              <a:t>The natural caller chose different integer comment limits, so no trace-grounded expression reproduces that argument.</a:t>
            </a:r>
            <a:endParaRPr lang="en-US" sz="1100" dirty="0"/>
          </a:p>
          <a:p>
            <a:pPr marL="342900" indent="-342900">
              <a:lnSpc>
                <a:spcPct val="106000"/>
              </a:lnSpc>
              <a:spcAft>
                <a:spcPts val="800"/>
              </a:spcAft>
              <a:buSzPct val="100000"/>
              <a:buChar char="•"/>
            </a:pPr>
            <a:r>
              <a:rPr lang="en-US" sz="1100" dirty="0">
                <a:solidFill>
                  <a:srgbClr val="2A4247"/>
                </a:solidFill>
                <a:latin typeface="Calibri" pitchFamily="34" charset="0"/>
                <a:ea typeface="Calibri" pitchFamily="34" charset="-122"/>
                <a:cs typeface="Calibri" pitchFamily="34" charset="-120"/>
              </a:rPr>
              <a:t>The full three-read candidate was rejected as an ungroundable slot; the compiler emitted the two-read prefix instead.</a:t>
            </a:r>
            <a:endParaRPr lang="en-US" sz="1100" dirty="0"/>
          </a:p>
          <a:p>
            <a:pPr marL="342900" indent="-342900">
              <a:lnSpc>
                <a:spcPct val="106000"/>
              </a:lnSpc>
              <a:spcAft>
                <a:spcPts val="800"/>
              </a:spcAft>
              <a:buSzPct val="100000"/>
              <a:buChar char="•"/>
            </a:pPr>
            <a:r>
              <a:rPr lang="en-US" sz="1100" dirty="0">
                <a:solidFill>
                  <a:srgbClr val="2A4247"/>
                </a:solidFill>
                <a:latin typeface="Calibri" pitchFamily="34" charset="0"/>
                <a:ea typeface="Calibri" pitchFamily="34" charset="-122"/>
                <a:cs typeface="Calibri" pitchFamily="34" charset="-120"/>
              </a:rPr>
              <a:t>The gate admitted 92/92 calibration groups with zero registered violations; simultaneous upper bound 0.0498.</a:t>
            </a:r>
            <a:endParaRPr lang="en-US" sz="1100" dirty="0"/>
          </a:p>
        </p:txBody>
      </p:sp>
      <p:sp>
        <p:nvSpPr>
          <p:cNvPr id="10" name="Shape 7"/>
          <p:cNvSpPr/>
          <p:nvPr/>
        </p:nvSpPr>
        <p:spPr>
          <a:xfrm>
            <a:off x="640080" y="5138928"/>
            <a:ext cx="2006742" cy="969264"/>
          </a:xfrm>
          <a:prstGeom prst="roundRect">
            <a:avLst>
              <a:gd name="adj" fmla="val 4717"/>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1" name="Text 8"/>
          <p:cNvSpPr/>
          <p:nvPr/>
        </p:nvSpPr>
        <p:spPr>
          <a:xfrm>
            <a:off x="786384" y="5230368"/>
            <a:ext cx="1714134" cy="384048"/>
          </a:xfrm>
          <a:prstGeom prst="rect">
            <a:avLst/>
          </a:prstGeom>
          <a:noFill/>
          <a:ln/>
        </p:spPr>
        <p:txBody>
          <a:bodyPr wrap="square" lIns="0" tIns="0" rIns="0" bIns="0" rtlCol="0" anchor="ctr"/>
          <a:lstStyle/>
          <a:p>
            <a:pPr marL="0" indent="0">
              <a:buNone/>
            </a:pPr>
            <a:r>
              <a:rPr lang="en-US" sz="2000" b="1" dirty="0">
                <a:solidFill>
                  <a:srgbClr val="0D4A54"/>
                </a:solidFill>
                <a:latin typeface="Cambria" pitchFamily="34" charset="0"/>
                <a:ea typeface="Cambria" pitchFamily="34" charset="-122"/>
                <a:cs typeface="Cambria" pitchFamily="34" charset="-120"/>
              </a:rPr>
              <a:t>−50.0%</a:t>
            </a:r>
            <a:endParaRPr lang="en-US" sz="2000" dirty="0"/>
          </a:p>
        </p:txBody>
      </p:sp>
      <p:sp>
        <p:nvSpPr>
          <p:cNvPr id="12" name="Text 9"/>
          <p:cNvSpPr/>
          <p:nvPr/>
        </p:nvSpPr>
        <p:spPr>
          <a:xfrm>
            <a:off x="786384" y="5632704"/>
            <a:ext cx="1714134" cy="365760"/>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provider requests</a:t>
            </a:r>
            <a:endParaRPr lang="en-US" sz="1000" dirty="0"/>
          </a:p>
        </p:txBody>
      </p:sp>
      <p:sp>
        <p:nvSpPr>
          <p:cNvPr id="13" name="Shape 10"/>
          <p:cNvSpPr/>
          <p:nvPr/>
        </p:nvSpPr>
        <p:spPr>
          <a:xfrm>
            <a:off x="2866278" y="5138928"/>
            <a:ext cx="2006742" cy="969264"/>
          </a:xfrm>
          <a:prstGeom prst="roundRect">
            <a:avLst>
              <a:gd name="adj" fmla="val 4717"/>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4" name="Text 11"/>
          <p:cNvSpPr/>
          <p:nvPr/>
        </p:nvSpPr>
        <p:spPr>
          <a:xfrm>
            <a:off x="3012582" y="5230368"/>
            <a:ext cx="1714134" cy="384048"/>
          </a:xfrm>
          <a:prstGeom prst="rect">
            <a:avLst/>
          </a:prstGeom>
          <a:noFill/>
          <a:ln/>
        </p:spPr>
        <p:txBody>
          <a:bodyPr wrap="square" lIns="0" tIns="0" rIns="0" bIns="0" rtlCol="0" anchor="ctr"/>
          <a:lstStyle/>
          <a:p>
            <a:pPr marL="0" indent="0">
              <a:buNone/>
            </a:pPr>
            <a:r>
              <a:rPr lang="en-US" sz="2000" b="1" dirty="0">
                <a:solidFill>
                  <a:srgbClr val="0D4A54"/>
                </a:solidFill>
                <a:latin typeface="Cambria" pitchFamily="34" charset="0"/>
                <a:ea typeface="Cambria" pitchFamily="34" charset="-122"/>
                <a:cs typeface="Cambria" pitchFamily="34" charset="-120"/>
              </a:rPr>
              <a:t>−39.5%</a:t>
            </a:r>
            <a:endParaRPr lang="en-US" sz="2000" dirty="0"/>
          </a:p>
        </p:txBody>
      </p:sp>
      <p:sp>
        <p:nvSpPr>
          <p:cNvPr id="15" name="Text 12"/>
          <p:cNvSpPr/>
          <p:nvPr/>
        </p:nvSpPr>
        <p:spPr>
          <a:xfrm>
            <a:off x="3012582" y="5632704"/>
            <a:ext cx="1714134" cy="365760"/>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total tokens</a:t>
            </a:r>
            <a:endParaRPr lang="en-US" sz="1000" dirty="0"/>
          </a:p>
        </p:txBody>
      </p:sp>
      <p:sp>
        <p:nvSpPr>
          <p:cNvPr id="16" name="Shape 13"/>
          <p:cNvSpPr/>
          <p:nvPr/>
        </p:nvSpPr>
        <p:spPr>
          <a:xfrm>
            <a:off x="5092476" y="5138928"/>
            <a:ext cx="2006742" cy="969264"/>
          </a:xfrm>
          <a:prstGeom prst="roundRect">
            <a:avLst>
              <a:gd name="adj" fmla="val 4717"/>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7" name="Text 14"/>
          <p:cNvSpPr/>
          <p:nvPr/>
        </p:nvSpPr>
        <p:spPr>
          <a:xfrm>
            <a:off x="5238780" y="5230368"/>
            <a:ext cx="1714134" cy="384048"/>
          </a:xfrm>
          <a:prstGeom prst="rect">
            <a:avLst/>
          </a:prstGeom>
          <a:noFill/>
          <a:ln/>
        </p:spPr>
        <p:txBody>
          <a:bodyPr wrap="square" lIns="0" tIns="0" rIns="0" bIns="0" rtlCol="0" anchor="ctr"/>
          <a:lstStyle/>
          <a:p>
            <a:pPr marL="0" indent="0">
              <a:buNone/>
            </a:pPr>
            <a:r>
              <a:rPr lang="en-US" sz="2000" b="1" dirty="0">
                <a:solidFill>
                  <a:srgbClr val="0D4A54"/>
                </a:solidFill>
                <a:latin typeface="Cambria" pitchFamily="34" charset="0"/>
                <a:ea typeface="Cambria" pitchFamily="34" charset="-122"/>
                <a:cs typeface="Cambria" pitchFamily="34" charset="-120"/>
              </a:rPr>
              <a:t>−51.7%</a:t>
            </a:r>
            <a:endParaRPr lang="en-US" sz="2000" dirty="0"/>
          </a:p>
        </p:txBody>
      </p:sp>
      <p:sp>
        <p:nvSpPr>
          <p:cNvPr id="18" name="Text 15"/>
          <p:cNvSpPr/>
          <p:nvPr/>
        </p:nvSpPr>
        <p:spPr>
          <a:xfrm>
            <a:off x="5238780" y="5632704"/>
            <a:ext cx="1714134" cy="365760"/>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observed wall latency</a:t>
            </a:r>
            <a:endParaRPr lang="en-US" sz="1000" dirty="0"/>
          </a:p>
        </p:txBody>
      </p:sp>
      <p:sp>
        <p:nvSpPr>
          <p:cNvPr id="19" name="Shape 16"/>
          <p:cNvSpPr/>
          <p:nvPr/>
        </p:nvSpPr>
        <p:spPr>
          <a:xfrm>
            <a:off x="7318675" y="5138928"/>
            <a:ext cx="2006742" cy="969264"/>
          </a:xfrm>
          <a:prstGeom prst="roundRect">
            <a:avLst>
              <a:gd name="adj" fmla="val 4717"/>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0" name="Text 17"/>
          <p:cNvSpPr/>
          <p:nvPr/>
        </p:nvSpPr>
        <p:spPr>
          <a:xfrm>
            <a:off x="7464979" y="5230368"/>
            <a:ext cx="1714134" cy="384048"/>
          </a:xfrm>
          <a:prstGeom prst="rect">
            <a:avLst/>
          </a:prstGeom>
          <a:noFill/>
          <a:ln/>
        </p:spPr>
        <p:txBody>
          <a:bodyPr wrap="square" lIns="0" tIns="0" rIns="0" bIns="0" rtlCol="0" anchor="ctr"/>
          <a:lstStyle/>
          <a:p>
            <a:pPr marL="0" indent="0">
              <a:buNone/>
            </a:pPr>
            <a:r>
              <a:rPr lang="en-US" sz="2000" b="1" dirty="0">
                <a:solidFill>
                  <a:srgbClr val="0D4A54"/>
                </a:solidFill>
                <a:latin typeface="Cambria" pitchFamily="34" charset="0"/>
                <a:ea typeface="Cambria" pitchFamily="34" charset="-122"/>
                <a:cs typeface="Cambria" pitchFamily="34" charset="-120"/>
              </a:rPr>
              <a:t>−32.0%</a:t>
            </a:r>
            <a:endParaRPr lang="en-US" sz="2000" dirty="0"/>
          </a:p>
        </p:txBody>
      </p:sp>
      <p:sp>
        <p:nvSpPr>
          <p:cNvPr id="21" name="Text 18"/>
          <p:cNvSpPr/>
          <p:nvPr/>
        </p:nvSpPr>
        <p:spPr>
          <a:xfrm>
            <a:off x="7464979" y="5632704"/>
            <a:ext cx="1714134" cy="365760"/>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estimated cost</a:t>
            </a:r>
            <a:endParaRPr lang="en-US" sz="1000" dirty="0"/>
          </a:p>
        </p:txBody>
      </p:sp>
      <p:sp>
        <p:nvSpPr>
          <p:cNvPr id="22" name="Shape 19"/>
          <p:cNvSpPr/>
          <p:nvPr/>
        </p:nvSpPr>
        <p:spPr>
          <a:xfrm>
            <a:off x="9544873" y="5138928"/>
            <a:ext cx="2006742" cy="969264"/>
          </a:xfrm>
          <a:prstGeom prst="roundRect">
            <a:avLst>
              <a:gd name="adj" fmla="val 4717"/>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3" name="Text 20"/>
          <p:cNvSpPr/>
          <p:nvPr/>
        </p:nvSpPr>
        <p:spPr>
          <a:xfrm>
            <a:off x="9691177" y="5230368"/>
            <a:ext cx="1714134" cy="384048"/>
          </a:xfrm>
          <a:prstGeom prst="rect">
            <a:avLst/>
          </a:prstGeom>
          <a:noFill/>
          <a:ln/>
        </p:spPr>
        <p:txBody>
          <a:bodyPr wrap="square" lIns="0" tIns="0" rIns="0" bIns="0" rtlCol="0" anchor="ctr"/>
          <a:lstStyle/>
          <a:p>
            <a:pPr marL="0" indent="0">
              <a:buNone/>
            </a:pPr>
            <a:r>
              <a:rPr lang="en-US" sz="2000" b="1" dirty="0">
                <a:solidFill>
                  <a:srgbClr val="17798A"/>
                </a:solidFill>
                <a:latin typeface="Cambria" pitchFamily="34" charset="0"/>
                <a:ea typeface="Cambria" pitchFamily="34" charset="-122"/>
                <a:cs typeface="Cambria" pitchFamily="34" charset="-120"/>
              </a:rPr>
              <a:t>30 / 30</a:t>
            </a:r>
            <a:endParaRPr lang="en-US" sz="2000" dirty="0"/>
          </a:p>
        </p:txBody>
      </p:sp>
      <p:sp>
        <p:nvSpPr>
          <p:cNvPr id="24" name="Text 21"/>
          <p:cNvSpPr/>
          <p:nvPr/>
        </p:nvSpPr>
        <p:spPr>
          <a:xfrm>
            <a:off x="9691177" y="5632704"/>
            <a:ext cx="1714134" cy="365760"/>
          </a:xfrm>
          <a:prstGeom prst="rect">
            <a:avLst/>
          </a:prstGeom>
          <a:noFill/>
          <a:ln/>
        </p:spPr>
        <p:txBody>
          <a:bodyPr wrap="square" lIns="0" tIns="0" rIns="0" bIns="0" rtlCol="0" anchor="ctr"/>
          <a:lstStyle/>
          <a:p>
            <a:pPr marL="0" indent="0">
              <a:lnSpc>
                <a:spcPct val="100000"/>
              </a:lnSpc>
              <a:buNone/>
            </a:pPr>
            <a:r>
              <a:rPr lang="en-US" sz="1000" dirty="0">
                <a:solidFill>
                  <a:srgbClr val="5F767A"/>
                </a:solidFill>
                <a:latin typeface="Calibri" pitchFamily="34" charset="0"/>
                <a:ea typeface="Calibri" pitchFamily="34" charset="-122"/>
                <a:cs typeface="Calibri" pitchFamily="34" charset="-120"/>
              </a:rPr>
              <a:t>exact task contracts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RESULT 3  ·  THE DEPTH TRADE-OFF</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Preservation is not invariant to how deep you compile</a:t>
            </a:r>
            <a:endParaRPr lang="en-US" sz="2600" dirty="0"/>
          </a:p>
        </p:txBody>
      </p:sp>
      <p:sp>
        <p:nvSpPr>
          <p:cNvPr id="6" name="Shape 4"/>
          <p:cNvSpPr/>
          <p:nvPr/>
        </p:nvSpPr>
        <p:spPr>
          <a:xfrm>
            <a:off x="640080" y="1389888"/>
            <a:ext cx="5272888" cy="3200400"/>
          </a:xfrm>
          <a:prstGeom prst="roundRect">
            <a:avLst>
              <a:gd name="adj" fmla="val 1429"/>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7" name="Text 5"/>
          <p:cNvSpPr/>
          <p:nvPr/>
        </p:nvSpPr>
        <p:spPr>
          <a:xfrm>
            <a:off x="932688" y="1572768"/>
            <a:ext cx="4687672" cy="365760"/>
          </a:xfrm>
          <a:prstGeom prst="rect">
            <a:avLst/>
          </a:prstGeom>
          <a:noFill/>
          <a:ln/>
        </p:spPr>
        <p:txBody>
          <a:bodyPr wrap="square" lIns="0" tIns="0" rIns="0" bIns="0" rtlCol="0" anchor="ctr"/>
          <a:lstStyle/>
          <a:p>
            <a:pPr marL="0" indent="0">
              <a:buNone/>
            </a:pPr>
            <a:r>
              <a:rPr lang="en-US" sz="1800" b="1" dirty="0">
                <a:solidFill>
                  <a:srgbClr val="0D4A54"/>
                </a:solidFill>
                <a:latin typeface="Cambria" pitchFamily="34" charset="0"/>
                <a:ea typeface="Cambria" pitchFamily="34" charset="-122"/>
                <a:cs typeface="Cambria" pitchFamily="34" charset="-120"/>
              </a:rPr>
              <a:t>Two-read prefix</a:t>
            </a:r>
            <a:endParaRPr lang="en-US" sz="1800" dirty="0"/>
          </a:p>
        </p:txBody>
      </p:sp>
      <p:sp>
        <p:nvSpPr>
          <p:cNvPr id="8" name="Text 6"/>
          <p:cNvSpPr/>
          <p:nvPr/>
        </p:nvSpPr>
        <p:spPr>
          <a:xfrm>
            <a:off x="932688" y="1938528"/>
            <a:ext cx="4687672" cy="256032"/>
          </a:xfrm>
          <a:prstGeom prst="rect">
            <a:avLst/>
          </a:prstGeom>
          <a:noFill/>
          <a:ln/>
        </p:spPr>
        <p:txBody>
          <a:bodyPr wrap="square" lIns="0" tIns="0" rIns="0" bIns="0" rtlCol="0" anchor="ctr"/>
          <a:lstStyle/>
          <a:p>
            <a:pPr marL="0" indent="0">
              <a:buNone/>
            </a:pPr>
            <a:r>
              <a:rPr lang="en-US" sz="1100" i="1" dirty="0">
                <a:solidFill>
                  <a:srgbClr val="5F767A"/>
                </a:solidFill>
                <a:latin typeface="Calibri" pitchFamily="34" charset="0"/>
                <a:ea typeface="Calibri" pitchFamily="34" charset="-122"/>
                <a:cs typeface="Calibri" pitchFamily="34" charset="-120"/>
              </a:rPr>
              <a:t>expanded replication, 30 issues</a:t>
            </a:r>
            <a:endParaRPr lang="en-US" sz="1100" dirty="0"/>
          </a:p>
        </p:txBody>
      </p:sp>
      <p:sp>
        <p:nvSpPr>
          <p:cNvPr id="9" name="Text 7"/>
          <p:cNvSpPr/>
          <p:nvPr/>
        </p:nvSpPr>
        <p:spPr>
          <a:xfrm>
            <a:off x="932688" y="2304288"/>
            <a:ext cx="1463040" cy="347472"/>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−50.0%</a:t>
            </a:r>
            <a:endParaRPr lang="en-US" sz="1700" dirty="0"/>
          </a:p>
        </p:txBody>
      </p:sp>
      <p:sp>
        <p:nvSpPr>
          <p:cNvPr id="10" name="Text 8"/>
          <p:cNvSpPr/>
          <p:nvPr/>
        </p:nvSpPr>
        <p:spPr>
          <a:xfrm>
            <a:off x="2514600" y="2304288"/>
            <a:ext cx="3078328" cy="347472"/>
          </a:xfrm>
          <a:prstGeom prst="rect">
            <a:avLst/>
          </a:prstGeom>
          <a:noFill/>
          <a:ln/>
        </p:spPr>
        <p:txBody>
          <a:bodyPr wrap="square" lIns="0" tIns="0" rIns="0" bIns="0" rtlCol="0" anchor="ctr"/>
          <a:lstStyle/>
          <a:p>
            <a:pPr marL="0" indent="0">
              <a:buNone/>
            </a:pPr>
            <a:r>
              <a:rPr lang="en-US" sz="1150" dirty="0">
                <a:solidFill>
                  <a:srgbClr val="3A5257"/>
                </a:solidFill>
                <a:latin typeface="Calibri" pitchFamily="34" charset="0"/>
                <a:ea typeface="Calibri" pitchFamily="34" charset="-122"/>
                <a:cs typeface="Calibri" pitchFamily="34" charset="-120"/>
              </a:rPr>
              <a:t>provider requests</a:t>
            </a:r>
            <a:endParaRPr lang="en-US" sz="1150" dirty="0"/>
          </a:p>
        </p:txBody>
      </p:sp>
      <p:sp>
        <p:nvSpPr>
          <p:cNvPr id="11" name="Text 9"/>
          <p:cNvSpPr/>
          <p:nvPr/>
        </p:nvSpPr>
        <p:spPr>
          <a:xfrm>
            <a:off x="932688" y="2761488"/>
            <a:ext cx="1463040" cy="347472"/>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−39.5%</a:t>
            </a:r>
            <a:endParaRPr lang="en-US" sz="1700" dirty="0"/>
          </a:p>
        </p:txBody>
      </p:sp>
      <p:sp>
        <p:nvSpPr>
          <p:cNvPr id="12" name="Text 10"/>
          <p:cNvSpPr/>
          <p:nvPr/>
        </p:nvSpPr>
        <p:spPr>
          <a:xfrm>
            <a:off x="2514600" y="2761488"/>
            <a:ext cx="3078328" cy="347472"/>
          </a:xfrm>
          <a:prstGeom prst="rect">
            <a:avLst/>
          </a:prstGeom>
          <a:noFill/>
          <a:ln/>
        </p:spPr>
        <p:txBody>
          <a:bodyPr wrap="square" lIns="0" tIns="0" rIns="0" bIns="0" rtlCol="0" anchor="ctr"/>
          <a:lstStyle/>
          <a:p>
            <a:pPr marL="0" indent="0">
              <a:buNone/>
            </a:pPr>
            <a:r>
              <a:rPr lang="en-US" sz="1150" dirty="0">
                <a:solidFill>
                  <a:srgbClr val="3A5257"/>
                </a:solidFill>
                <a:latin typeface="Calibri" pitchFamily="34" charset="0"/>
                <a:ea typeface="Calibri" pitchFamily="34" charset="-122"/>
                <a:cs typeface="Calibri" pitchFamily="34" charset="-120"/>
              </a:rPr>
              <a:t>total tokens</a:t>
            </a:r>
            <a:endParaRPr lang="en-US" sz="1150" dirty="0"/>
          </a:p>
        </p:txBody>
      </p:sp>
      <p:sp>
        <p:nvSpPr>
          <p:cNvPr id="13" name="Text 11"/>
          <p:cNvSpPr/>
          <p:nvPr/>
        </p:nvSpPr>
        <p:spPr>
          <a:xfrm>
            <a:off x="932688" y="3218688"/>
            <a:ext cx="1463040" cy="347472"/>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30 / 30</a:t>
            </a:r>
            <a:endParaRPr lang="en-US" sz="1700" dirty="0"/>
          </a:p>
        </p:txBody>
      </p:sp>
      <p:sp>
        <p:nvSpPr>
          <p:cNvPr id="14" name="Text 12"/>
          <p:cNvSpPr/>
          <p:nvPr/>
        </p:nvSpPr>
        <p:spPr>
          <a:xfrm>
            <a:off x="2514600" y="3218688"/>
            <a:ext cx="3078328" cy="347472"/>
          </a:xfrm>
          <a:prstGeom prst="rect">
            <a:avLst/>
          </a:prstGeom>
          <a:noFill/>
          <a:ln/>
        </p:spPr>
        <p:txBody>
          <a:bodyPr wrap="square" lIns="0" tIns="0" rIns="0" bIns="0" rtlCol="0" anchor="ctr"/>
          <a:lstStyle/>
          <a:p>
            <a:pPr marL="0" indent="0">
              <a:buNone/>
            </a:pPr>
            <a:r>
              <a:rPr lang="en-US" sz="1150" dirty="0">
                <a:solidFill>
                  <a:srgbClr val="3A5257"/>
                </a:solidFill>
                <a:latin typeface="Calibri" pitchFamily="34" charset="0"/>
                <a:ea typeface="Calibri" pitchFamily="34" charset="-122"/>
                <a:cs typeface="Calibri" pitchFamily="34" charset="-120"/>
              </a:rPr>
              <a:t>exact source contracts</a:t>
            </a:r>
            <a:endParaRPr lang="en-US" sz="1150" dirty="0"/>
          </a:p>
        </p:txBody>
      </p:sp>
      <p:sp>
        <p:nvSpPr>
          <p:cNvPr id="15" name="Text 13"/>
          <p:cNvSpPr/>
          <p:nvPr/>
        </p:nvSpPr>
        <p:spPr>
          <a:xfrm>
            <a:off x="932688" y="3749040"/>
            <a:ext cx="4687672" cy="694944"/>
          </a:xfrm>
          <a:prstGeom prst="rect">
            <a:avLst/>
          </a:prstGeom>
          <a:noFill/>
          <a:ln/>
        </p:spPr>
        <p:txBody>
          <a:bodyPr wrap="square" lIns="0" tIns="0" rIns="0" bIns="0" rtlCol="0" anchor="t"/>
          <a:lstStyle/>
          <a:p>
            <a:pPr marL="0" indent="0">
              <a:lnSpc>
                <a:spcPct val="108000"/>
              </a:lnSpc>
              <a:buNone/>
            </a:pPr>
            <a:r>
              <a:rPr lang="en-US" sz="1100" dirty="0">
                <a:solidFill>
                  <a:srgbClr val="5F767A"/>
                </a:solidFill>
                <a:latin typeface="Calibri" pitchFamily="34" charset="0"/>
                <a:ea typeface="Calibri" pitchFamily="34" charset="-122"/>
                <a:cs typeface="Calibri" pitchFamily="34" charset="-120"/>
              </a:rPr>
              <a:t>Groundability proof permits only two of the three reads. Nothing is lost.</a:t>
            </a:r>
            <a:endParaRPr lang="en-US" sz="1100" dirty="0"/>
          </a:p>
        </p:txBody>
      </p:sp>
      <p:sp>
        <p:nvSpPr>
          <p:cNvPr id="16" name="Shape 14"/>
          <p:cNvSpPr/>
          <p:nvPr/>
        </p:nvSpPr>
        <p:spPr>
          <a:xfrm>
            <a:off x="6278728" y="1389888"/>
            <a:ext cx="5272888" cy="3200400"/>
          </a:xfrm>
          <a:prstGeom prst="roundRect">
            <a:avLst>
              <a:gd name="adj" fmla="val 1429"/>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7" name="Text 15"/>
          <p:cNvSpPr/>
          <p:nvPr/>
        </p:nvSpPr>
        <p:spPr>
          <a:xfrm>
            <a:off x="6571336" y="1572768"/>
            <a:ext cx="4687672" cy="365760"/>
          </a:xfrm>
          <a:prstGeom prst="rect">
            <a:avLst/>
          </a:prstGeom>
          <a:noFill/>
          <a:ln/>
        </p:spPr>
        <p:txBody>
          <a:bodyPr wrap="square" lIns="0" tIns="0" rIns="0" bIns="0" rtlCol="0" anchor="ctr"/>
          <a:lstStyle/>
          <a:p>
            <a:pPr marL="0" indent="0">
              <a:buNone/>
            </a:pPr>
            <a:r>
              <a:rPr lang="en-US" sz="1800" b="1" dirty="0">
                <a:solidFill>
                  <a:srgbClr val="AC4A2C"/>
                </a:solidFill>
                <a:latin typeface="Cambria" pitchFamily="34" charset="0"/>
                <a:ea typeface="Cambria" pitchFamily="34" charset="-122"/>
                <a:cs typeface="Cambria" pitchFamily="34" charset="-120"/>
              </a:rPr>
              <a:t>Three-read artifact</a:t>
            </a:r>
            <a:endParaRPr lang="en-US" sz="1800" dirty="0"/>
          </a:p>
        </p:txBody>
      </p:sp>
      <p:sp>
        <p:nvSpPr>
          <p:cNvPr id="18" name="Text 16"/>
          <p:cNvSpPr/>
          <p:nvPr/>
        </p:nvSpPr>
        <p:spPr>
          <a:xfrm>
            <a:off x="6571336" y="1938528"/>
            <a:ext cx="4687672" cy="256032"/>
          </a:xfrm>
          <a:prstGeom prst="rect">
            <a:avLst/>
          </a:prstGeom>
          <a:noFill/>
          <a:ln/>
        </p:spPr>
        <p:txBody>
          <a:bodyPr wrap="square" lIns="0" tIns="0" rIns="0" bIns="0" rtlCol="0" anchor="ctr"/>
          <a:lstStyle/>
          <a:p>
            <a:pPr marL="0" indent="0">
              <a:buNone/>
            </a:pPr>
            <a:r>
              <a:rPr lang="en-US" sz="1100" i="1" dirty="0">
                <a:solidFill>
                  <a:srgbClr val="5F767A"/>
                </a:solidFill>
                <a:latin typeface="Calibri" pitchFamily="34" charset="0"/>
                <a:ea typeface="Calibri" pitchFamily="34" charset="-122"/>
                <a:cs typeface="Calibri" pitchFamily="34" charset="-120"/>
              </a:rPr>
              <a:t>earlier aggressive study, 18 issues</a:t>
            </a:r>
            <a:endParaRPr lang="en-US" sz="1100" dirty="0"/>
          </a:p>
        </p:txBody>
      </p:sp>
      <p:sp>
        <p:nvSpPr>
          <p:cNvPr id="19" name="Text 17"/>
          <p:cNvSpPr/>
          <p:nvPr/>
        </p:nvSpPr>
        <p:spPr>
          <a:xfrm>
            <a:off x="6571336" y="2304288"/>
            <a:ext cx="1463040" cy="347472"/>
          </a:xfrm>
          <a:prstGeom prst="rect">
            <a:avLst/>
          </a:prstGeom>
          <a:noFill/>
          <a:ln/>
        </p:spPr>
        <p:txBody>
          <a:bodyPr wrap="square" lIns="0" tIns="0" rIns="0" bIns="0" rtlCol="0" anchor="ctr"/>
          <a:lstStyle/>
          <a:p>
            <a:pPr marL="0" indent="0">
              <a:buNone/>
            </a:pPr>
            <a:r>
              <a:rPr lang="en-US" sz="1700" b="1" dirty="0">
                <a:solidFill>
                  <a:srgbClr val="AC4A2C"/>
                </a:solidFill>
                <a:latin typeface="Cambria" pitchFamily="34" charset="0"/>
                <a:ea typeface="Cambria" pitchFamily="34" charset="-122"/>
                <a:cs typeface="Cambria" pitchFamily="34" charset="-120"/>
              </a:rPr>
              <a:t>−75.0%</a:t>
            </a:r>
            <a:endParaRPr lang="en-US" sz="1700" dirty="0"/>
          </a:p>
        </p:txBody>
      </p:sp>
      <p:sp>
        <p:nvSpPr>
          <p:cNvPr id="20" name="Text 18"/>
          <p:cNvSpPr/>
          <p:nvPr/>
        </p:nvSpPr>
        <p:spPr>
          <a:xfrm>
            <a:off x="8153248" y="2304288"/>
            <a:ext cx="3078328" cy="347472"/>
          </a:xfrm>
          <a:prstGeom prst="rect">
            <a:avLst/>
          </a:prstGeom>
          <a:noFill/>
          <a:ln/>
        </p:spPr>
        <p:txBody>
          <a:bodyPr wrap="square" lIns="0" tIns="0" rIns="0" bIns="0" rtlCol="0" anchor="ctr"/>
          <a:lstStyle/>
          <a:p>
            <a:pPr marL="0" indent="0">
              <a:buNone/>
            </a:pPr>
            <a:r>
              <a:rPr lang="en-US" sz="1150" dirty="0">
                <a:solidFill>
                  <a:srgbClr val="3A5257"/>
                </a:solidFill>
                <a:latin typeface="Calibri" pitchFamily="34" charset="0"/>
                <a:ea typeface="Calibri" pitchFamily="34" charset="-122"/>
                <a:cs typeface="Calibri" pitchFamily="34" charset="-120"/>
              </a:rPr>
              <a:t>provider requests</a:t>
            </a:r>
            <a:endParaRPr lang="en-US" sz="1150" dirty="0"/>
          </a:p>
        </p:txBody>
      </p:sp>
      <p:sp>
        <p:nvSpPr>
          <p:cNvPr id="21" name="Text 19"/>
          <p:cNvSpPr/>
          <p:nvPr/>
        </p:nvSpPr>
        <p:spPr>
          <a:xfrm>
            <a:off x="6571336" y="2761488"/>
            <a:ext cx="1463040" cy="347472"/>
          </a:xfrm>
          <a:prstGeom prst="rect">
            <a:avLst/>
          </a:prstGeom>
          <a:noFill/>
          <a:ln/>
        </p:spPr>
        <p:txBody>
          <a:bodyPr wrap="square" lIns="0" tIns="0" rIns="0" bIns="0" rtlCol="0" anchor="ctr"/>
          <a:lstStyle/>
          <a:p>
            <a:pPr marL="0" indent="0">
              <a:buNone/>
            </a:pPr>
            <a:r>
              <a:rPr lang="en-US" sz="1700" b="1" dirty="0">
                <a:solidFill>
                  <a:srgbClr val="AC4A2C"/>
                </a:solidFill>
                <a:latin typeface="Cambria" pitchFamily="34" charset="0"/>
                <a:ea typeface="Cambria" pitchFamily="34" charset="-122"/>
                <a:cs typeface="Cambria" pitchFamily="34" charset="-120"/>
              </a:rPr>
              <a:t>−66.0%</a:t>
            </a:r>
            <a:endParaRPr lang="en-US" sz="1700" dirty="0"/>
          </a:p>
        </p:txBody>
      </p:sp>
      <p:sp>
        <p:nvSpPr>
          <p:cNvPr id="22" name="Text 20"/>
          <p:cNvSpPr/>
          <p:nvPr/>
        </p:nvSpPr>
        <p:spPr>
          <a:xfrm>
            <a:off x="8153248" y="2761488"/>
            <a:ext cx="3078328" cy="347472"/>
          </a:xfrm>
          <a:prstGeom prst="rect">
            <a:avLst/>
          </a:prstGeom>
          <a:noFill/>
          <a:ln/>
        </p:spPr>
        <p:txBody>
          <a:bodyPr wrap="square" lIns="0" tIns="0" rIns="0" bIns="0" rtlCol="0" anchor="ctr"/>
          <a:lstStyle/>
          <a:p>
            <a:pPr marL="0" indent="0">
              <a:buNone/>
            </a:pPr>
            <a:r>
              <a:rPr lang="en-US" sz="1150" dirty="0">
                <a:solidFill>
                  <a:srgbClr val="3A5257"/>
                </a:solidFill>
                <a:latin typeface="Calibri" pitchFamily="34" charset="0"/>
                <a:ea typeface="Calibri" pitchFamily="34" charset="-122"/>
                <a:cs typeface="Calibri" pitchFamily="34" charset="-120"/>
              </a:rPr>
              <a:t>total tokens</a:t>
            </a:r>
            <a:endParaRPr lang="en-US" sz="1150" dirty="0"/>
          </a:p>
        </p:txBody>
      </p:sp>
      <p:sp>
        <p:nvSpPr>
          <p:cNvPr id="23" name="Text 21"/>
          <p:cNvSpPr/>
          <p:nvPr/>
        </p:nvSpPr>
        <p:spPr>
          <a:xfrm>
            <a:off x="6571336" y="3218688"/>
            <a:ext cx="1463040" cy="347472"/>
          </a:xfrm>
          <a:prstGeom prst="rect">
            <a:avLst/>
          </a:prstGeom>
          <a:noFill/>
          <a:ln/>
        </p:spPr>
        <p:txBody>
          <a:bodyPr wrap="square" lIns="0" tIns="0" rIns="0" bIns="0" rtlCol="0" anchor="ctr"/>
          <a:lstStyle/>
          <a:p>
            <a:pPr marL="0" indent="0">
              <a:buNone/>
            </a:pPr>
            <a:r>
              <a:rPr lang="en-US" sz="1700" b="1" dirty="0">
                <a:solidFill>
                  <a:srgbClr val="AC4A2C"/>
                </a:solidFill>
                <a:latin typeface="Cambria" pitchFamily="34" charset="0"/>
                <a:ea typeface="Cambria" pitchFamily="34" charset="-122"/>
                <a:cs typeface="Cambria" pitchFamily="34" charset="-120"/>
              </a:rPr>
              <a:t>17 / 18</a:t>
            </a:r>
            <a:endParaRPr lang="en-US" sz="1700" dirty="0"/>
          </a:p>
        </p:txBody>
      </p:sp>
      <p:sp>
        <p:nvSpPr>
          <p:cNvPr id="24" name="Text 22"/>
          <p:cNvSpPr/>
          <p:nvPr/>
        </p:nvSpPr>
        <p:spPr>
          <a:xfrm>
            <a:off x="8153248" y="3218688"/>
            <a:ext cx="3078328" cy="347472"/>
          </a:xfrm>
          <a:prstGeom prst="rect">
            <a:avLst/>
          </a:prstGeom>
          <a:noFill/>
          <a:ln/>
        </p:spPr>
        <p:txBody>
          <a:bodyPr wrap="square" lIns="0" tIns="0" rIns="0" bIns="0" rtlCol="0" anchor="ctr"/>
          <a:lstStyle/>
          <a:p>
            <a:pPr marL="0" indent="0">
              <a:buNone/>
            </a:pPr>
            <a:r>
              <a:rPr lang="en-US" sz="1150" dirty="0">
                <a:solidFill>
                  <a:srgbClr val="3A5257"/>
                </a:solidFill>
                <a:latin typeface="Calibri" pitchFamily="34" charset="0"/>
                <a:ea typeface="Calibri" pitchFamily="34" charset="-122"/>
                <a:cs typeface="Calibri" pitchFamily="34" charset="-120"/>
              </a:rPr>
              <a:t>exact source contracts</a:t>
            </a:r>
            <a:endParaRPr lang="en-US" sz="1150" dirty="0"/>
          </a:p>
        </p:txBody>
      </p:sp>
      <p:sp>
        <p:nvSpPr>
          <p:cNvPr id="25" name="Text 23"/>
          <p:cNvSpPr/>
          <p:nvPr/>
        </p:nvSpPr>
        <p:spPr>
          <a:xfrm>
            <a:off x="6571336" y="3749040"/>
            <a:ext cx="4687672" cy="694944"/>
          </a:xfrm>
          <a:prstGeom prst="rect">
            <a:avLst/>
          </a:prstGeom>
          <a:noFill/>
          <a:ln/>
        </p:spPr>
        <p:txBody>
          <a:bodyPr wrap="square" lIns="0" tIns="0" rIns="0" bIns="0" rtlCol="0" anchor="t"/>
          <a:lstStyle/>
          <a:p>
            <a:pPr marL="0" indent="0">
              <a:lnSpc>
                <a:spcPct val="108000"/>
              </a:lnSpc>
              <a:buNone/>
            </a:pPr>
            <a:r>
              <a:rPr lang="en-US" sz="1100" dirty="0">
                <a:solidFill>
                  <a:srgbClr val="5A3A2E"/>
                </a:solidFill>
                <a:latin typeface="Calibri" pitchFamily="34" charset="0"/>
                <a:ea typeface="Calibri" pitchFamily="34" charset="-122"/>
                <a:cs typeface="Calibri" pitchFamily="34" charset="-120"/>
              </a:rPr>
              <a:t>On one issue the source contained a Markdown link; the compiled continuation dropped the URL and returned only anchor text.</a:t>
            </a:r>
            <a:endParaRPr lang="en-US" sz="1100" dirty="0"/>
          </a:p>
        </p:txBody>
      </p:sp>
      <p:sp>
        <p:nvSpPr>
          <p:cNvPr id="26" name="Shape 24"/>
          <p:cNvSpPr/>
          <p:nvPr/>
        </p:nvSpPr>
        <p:spPr>
          <a:xfrm>
            <a:off x="640080" y="4754880"/>
            <a:ext cx="10911535" cy="1371600"/>
          </a:xfrm>
          <a:prstGeom prst="roundRect">
            <a:avLst>
              <a:gd name="adj" fmla="val 3333"/>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7" name="Shape 25"/>
          <p:cNvSpPr/>
          <p:nvPr/>
        </p:nvSpPr>
        <p:spPr>
          <a:xfrm>
            <a:off x="914400" y="4956048"/>
            <a:ext cx="384048" cy="384048"/>
          </a:xfrm>
          <a:prstGeom prst="ellipse">
            <a:avLst/>
          </a:prstGeom>
          <a:solidFill>
            <a:srgbClr val="17798A"/>
          </a:solidFill>
          <a:ln w="6350">
            <a:solidFill>
              <a:srgbClr val="17798A"/>
            </a:solidFill>
            <a:prstDash val="solid"/>
          </a:ln>
        </p:spPr>
        <p:txBody>
          <a:bodyPr/>
          <a:lstStyle/>
          <a:p>
            <a:endParaRPr lang="en-US"/>
          </a:p>
        </p:txBody>
      </p:sp>
      <p:sp>
        <p:nvSpPr>
          <p:cNvPr id="28" name="Text 26"/>
          <p:cNvSpPr/>
          <p:nvPr/>
        </p:nvSpPr>
        <p:spPr>
          <a:xfrm>
            <a:off x="914400" y="49560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p:nvPr/>
        </p:nvSpPr>
        <p:spPr>
          <a:xfrm>
            <a:off x="1463040" y="4919472"/>
            <a:ext cx="9814255" cy="310896"/>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The miss fixes the gate's scope — and motivates a second layer</a:t>
            </a:r>
            <a:endParaRPr lang="en-US" sz="1400" dirty="0"/>
          </a:p>
        </p:txBody>
      </p:sp>
      <p:sp>
        <p:nvSpPr>
          <p:cNvPr id="30" name="Text 28"/>
          <p:cNvSpPr/>
          <p:nvPr/>
        </p:nvSpPr>
        <p:spPr>
          <a:xfrm>
            <a:off x="1463040" y="5266944"/>
            <a:ext cx="9722815" cy="749808"/>
          </a:xfrm>
          <a:prstGeom prst="rect">
            <a:avLst/>
          </a:prstGeom>
          <a:noFill/>
          <a:ln/>
        </p:spPr>
        <p:txBody>
          <a:bodyPr wrap="square" lIns="0" tIns="0" rIns="0" bIns="0" rtlCol="0" anchor="ctr"/>
          <a:lstStyle/>
          <a:p>
            <a:pPr marL="0" indent="0">
              <a:lnSpc>
                <a:spcPct val="106000"/>
              </a:lnSpc>
              <a:buNone/>
            </a:pPr>
            <a:r>
              <a:rPr lang="en-US" sz="1150" dirty="0">
                <a:solidFill>
                  <a:srgbClr val="2A4247"/>
                </a:solidFill>
                <a:latin typeface="Calibri" pitchFamily="34" charset="0"/>
                <a:ea typeface="Calibri" pitchFamily="34" charset="-122"/>
                <a:cs typeface="Calibri" pitchFamily="34" charset="-120"/>
              </a:rPr>
              <a:t>Zero calibration violations concern the compiled tool program: grounded arguments, tool outputs, call counts, declared effects. The verifier never certified the downstream model continuation. A framework-neutral ContinuationGuard — checking the candidate answer, then a deterministic renderer, then baseline — detects the miss in provider-free replay and checked-renders it to 18/18. That is a demonstrated detection mechanism, not a live safety claim.</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RESULT 4  ·  RQ4</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Token saving and cost saving can have opposite signs</a:t>
            </a:r>
            <a:endParaRPr lang="en-US" sz="2600" dirty="0"/>
          </a:p>
        </p:txBody>
      </p:sp>
      <p:graphicFrame>
        <p:nvGraphicFramePr>
          <p:cNvPr id="6" name="Chart 0"/>
          <p:cNvGraphicFramePr/>
          <p:nvPr/>
        </p:nvGraphicFramePr>
        <p:xfrm>
          <a:off x="640080" y="1371600"/>
          <a:ext cx="685800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726680" y="1371600"/>
            <a:ext cx="3824935" cy="1463040"/>
          </a:xfrm>
          <a:prstGeom prst="roundRect">
            <a:avLst>
              <a:gd name="adj" fmla="val 3125"/>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8" name="Text 5"/>
          <p:cNvSpPr/>
          <p:nvPr/>
        </p:nvSpPr>
        <p:spPr>
          <a:xfrm>
            <a:off x="7964424" y="1517904"/>
            <a:ext cx="3349447" cy="457200"/>
          </a:xfrm>
          <a:prstGeom prst="rect">
            <a:avLst/>
          </a:prstGeom>
          <a:noFill/>
          <a:ln/>
        </p:spPr>
        <p:txBody>
          <a:bodyPr wrap="square" lIns="0" tIns="0" rIns="0" bIns="0" rtlCol="0" anchor="ctr"/>
          <a:lstStyle/>
          <a:p>
            <a:pPr marL="0" indent="0">
              <a:lnSpc>
                <a:spcPct val="100000"/>
              </a:lnSpc>
              <a:buNone/>
            </a:pPr>
            <a:r>
              <a:rPr lang="en-US" sz="1250" b="1" dirty="0">
                <a:solidFill>
                  <a:srgbClr val="0D4A54"/>
                </a:solidFill>
                <a:latin typeface="Cambria" pitchFamily="34" charset="0"/>
                <a:ea typeface="Cambria" pitchFamily="34" charset="-122"/>
                <a:cs typeface="Cambria" pitchFamily="34" charset="-120"/>
              </a:rPr>
              <a:t>Partial compaction is the correct outcome when a workflow commits</a:t>
            </a:r>
            <a:endParaRPr lang="en-US" sz="1250" dirty="0"/>
          </a:p>
        </p:txBody>
      </p:sp>
      <p:sp>
        <p:nvSpPr>
          <p:cNvPr id="9" name="Text 6"/>
          <p:cNvSpPr/>
          <p:nvPr/>
        </p:nvSpPr>
        <p:spPr>
          <a:xfrm>
            <a:off x="7964424" y="1993392"/>
            <a:ext cx="3349447" cy="694944"/>
          </a:xfrm>
          <a:prstGeom prst="rect">
            <a:avLst/>
          </a:prstGeom>
          <a:noFill/>
          <a:ln/>
        </p:spPr>
        <p:txBody>
          <a:bodyPr wrap="square" lIns="0" tIns="0" rIns="0" bIns="0" rtlCol="0" anchor="t"/>
          <a:lstStyle/>
          <a:p>
            <a:pPr marL="0" indent="0">
              <a:lnSpc>
                <a:spcPct val="106000"/>
              </a:lnSpc>
              <a:buNone/>
            </a:pPr>
            <a:r>
              <a:rPr lang="en-US" sz="1050" dirty="0">
                <a:solidFill>
                  <a:srgbClr val="3A5257"/>
                </a:solidFill>
                <a:latin typeface="Calibri" pitchFamily="34" charset="0"/>
                <a:ea typeface="Calibri" pitchFamily="34" charset="-122"/>
                <a:cs typeface="Calibri" pitchFamily="34" charset="-120"/>
              </a:rPr>
              <a:t>Demo E ends every episode in an irreversible write, so model calls fall 7 → 2 rather than 7 → 1. Tokens fall 66.4% at unchanged quality. This is the shape most real operational workflows have.</a:t>
            </a:r>
            <a:endParaRPr lang="en-US" sz="1050" dirty="0"/>
          </a:p>
        </p:txBody>
      </p:sp>
      <p:sp>
        <p:nvSpPr>
          <p:cNvPr id="10" name="Shape 7"/>
          <p:cNvSpPr/>
          <p:nvPr/>
        </p:nvSpPr>
        <p:spPr>
          <a:xfrm>
            <a:off x="7726680" y="3017520"/>
            <a:ext cx="3824935" cy="1463040"/>
          </a:xfrm>
          <a:prstGeom prst="roundRect">
            <a:avLst>
              <a:gd name="adj" fmla="val 3125"/>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1" name="Text 8"/>
          <p:cNvSpPr/>
          <p:nvPr/>
        </p:nvSpPr>
        <p:spPr>
          <a:xfrm>
            <a:off x="7964424" y="3163824"/>
            <a:ext cx="3349447" cy="457200"/>
          </a:xfrm>
          <a:prstGeom prst="rect">
            <a:avLst/>
          </a:prstGeom>
          <a:noFill/>
          <a:ln/>
        </p:spPr>
        <p:txBody>
          <a:bodyPr wrap="square" lIns="0" tIns="0" rIns="0" bIns="0" rtlCol="0" anchor="ctr"/>
          <a:lstStyle/>
          <a:p>
            <a:pPr marL="0" indent="0">
              <a:lnSpc>
                <a:spcPct val="100000"/>
              </a:lnSpc>
              <a:buNone/>
            </a:pPr>
            <a:r>
              <a:rPr lang="en-US" sz="1250" b="1" dirty="0">
                <a:solidFill>
                  <a:srgbClr val="AC4A2C"/>
                </a:solidFill>
                <a:latin typeface="Cambria" pitchFamily="34" charset="0"/>
                <a:ea typeface="Cambria" pitchFamily="34" charset="-122"/>
                <a:cs typeface="Cambria" pitchFamily="34" charset="-120"/>
              </a:rPr>
              <a:t>Refusal reproduces the baseline execution, not the baseline invoice</a:t>
            </a:r>
            <a:endParaRPr lang="en-US" sz="1250" dirty="0"/>
          </a:p>
        </p:txBody>
      </p:sp>
      <p:sp>
        <p:nvSpPr>
          <p:cNvPr id="12" name="Text 9"/>
          <p:cNvSpPr/>
          <p:nvPr/>
        </p:nvSpPr>
        <p:spPr>
          <a:xfrm>
            <a:off x="7964424" y="3639312"/>
            <a:ext cx="3349447" cy="694944"/>
          </a:xfrm>
          <a:prstGeom prst="rect">
            <a:avLst/>
          </a:prstGeom>
          <a:noFill/>
          <a:ln/>
        </p:spPr>
        <p:txBody>
          <a:bodyPr wrap="square" lIns="0" tIns="0" rIns="0" bIns="0" rtlCol="0" anchor="t"/>
          <a:lstStyle/>
          <a:p>
            <a:pPr marL="0" indent="0">
              <a:lnSpc>
                <a:spcPct val="106000"/>
              </a:lnSpc>
              <a:buNone/>
            </a:pPr>
            <a:r>
              <a:rPr lang="en-US" sz="1050" dirty="0">
                <a:solidFill>
                  <a:srgbClr val="5A3A2E"/>
                </a:solidFill>
                <a:latin typeface="Calibri" pitchFamily="34" charset="0"/>
                <a:ea typeface="Calibri" pitchFamily="34" charset="-122"/>
                <a:cs typeface="Calibri" pitchFamily="34" charset="-120"/>
              </a:rPr>
              <a:t>Three negative controls return the baseline model-call count at identical quality — yet two bill 55.4% and 54.5% more on identical token counts. Prompt-cache warmth, not the refusal, changed the price.</a:t>
            </a:r>
            <a:endParaRPr lang="en-US" sz="1050" dirty="0"/>
          </a:p>
        </p:txBody>
      </p:sp>
      <p:sp>
        <p:nvSpPr>
          <p:cNvPr id="13" name="Shape 10"/>
          <p:cNvSpPr/>
          <p:nvPr/>
        </p:nvSpPr>
        <p:spPr>
          <a:xfrm>
            <a:off x="7726680" y="4663440"/>
            <a:ext cx="3824935" cy="1700784"/>
          </a:xfrm>
          <a:prstGeom prst="roundRect">
            <a:avLst>
              <a:gd name="adj" fmla="val 2688"/>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4" name="Text 11"/>
          <p:cNvSpPr/>
          <p:nvPr/>
        </p:nvSpPr>
        <p:spPr>
          <a:xfrm>
            <a:off x="7964424" y="4809744"/>
            <a:ext cx="3349447" cy="457200"/>
          </a:xfrm>
          <a:prstGeom prst="rect">
            <a:avLst/>
          </a:prstGeom>
          <a:noFill/>
          <a:ln/>
        </p:spPr>
        <p:txBody>
          <a:bodyPr wrap="square" lIns="0" tIns="0" rIns="0" bIns="0" rtlCol="0" anchor="ctr"/>
          <a:lstStyle/>
          <a:p>
            <a:pPr marL="0" indent="0">
              <a:lnSpc>
                <a:spcPct val="100000"/>
              </a:lnSpc>
              <a:buNone/>
            </a:pPr>
            <a:r>
              <a:rPr lang="en-US" sz="1250" b="1" dirty="0">
                <a:solidFill>
                  <a:srgbClr val="AC4A2C"/>
                </a:solidFill>
                <a:latin typeface="Cambria" pitchFamily="34" charset="0"/>
                <a:ea typeface="Cambria" pitchFamily="34" charset="-122"/>
                <a:cs typeface="Cambria" pitchFamily="34" charset="-120"/>
              </a:rPr>
              <a:t>The mechanism is prompt caching</a:t>
            </a:r>
            <a:endParaRPr lang="en-US" sz="1250" dirty="0"/>
          </a:p>
        </p:txBody>
      </p:sp>
      <p:sp>
        <p:nvSpPr>
          <p:cNvPr id="15" name="Text 12"/>
          <p:cNvSpPr/>
          <p:nvPr/>
        </p:nvSpPr>
        <p:spPr>
          <a:xfrm>
            <a:off x="7964424" y="5285232"/>
            <a:ext cx="3349447" cy="932688"/>
          </a:xfrm>
          <a:prstGeom prst="rect">
            <a:avLst/>
          </a:prstGeom>
          <a:noFill/>
          <a:ln/>
        </p:spPr>
        <p:txBody>
          <a:bodyPr wrap="square" lIns="0" tIns="0" rIns="0" bIns="0" rtlCol="0" anchor="t"/>
          <a:lstStyle/>
          <a:p>
            <a:pPr marL="0" indent="0">
              <a:lnSpc>
                <a:spcPct val="106000"/>
              </a:lnSpc>
              <a:buNone/>
            </a:pPr>
            <a:r>
              <a:rPr lang="en-US" sz="1050" dirty="0">
                <a:solidFill>
                  <a:srgbClr val="5A3A2E"/>
                </a:solidFill>
                <a:latin typeface="Calibri" pitchFamily="34" charset="0"/>
                <a:ea typeface="Calibri" pitchFamily="34" charset="-122"/>
                <a:cs typeface="Calibri" pitchFamily="34" charset="-120"/>
              </a:rPr>
              <a:t>A seven-turn baseline pays one cache write over a long prefix then reads it six times. A two-turn compacted run pays the write with almost nothing to amortize against. Measured cached-input share falls 96% → 38% (E) and 98% → 58% (F).</a:t>
            </a:r>
            <a:endParaRPr lang="en-US" sz="1050" dirty="0"/>
          </a:p>
        </p:txBody>
      </p:sp>
      <p:sp>
        <p:nvSpPr>
          <p:cNvPr id="16" name="Text 13"/>
          <p:cNvSpPr/>
          <p:nvPr/>
        </p:nvSpPr>
        <p:spPr>
          <a:xfrm>
            <a:off x="640080" y="5212080"/>
            <a:ext cx="6858000" cy="877824"/>
          </a:xfrm>
          <a:prstGeom prst="rect">
            <a:avLst/>
          </a:prstGeom>
          <a:noFill/>
          <a:ln/>
        </p:spPr>
        <p:txBody>
          <a:bodyPr wrap="square" lIns="0" tIns="0" rIns="0" bIns="0" rtlCol="0" anchor="ctr"/>
          <a:lstStyle/>
          <a:p>
            <a:pPr marL="0" indent="0">
              <a:lnSpc>
                <a:spcPct val="110000"/>
              </a:lnSpc>
              <a:buNone/>
            </a:pPr>
            <a:r>
              <a:rPr lang="en-US" sz="1150" dirty="0">
                <a:solidFill>
                  <a:srgbClr val="2A4247"/>
                </a:solidFill>
                <a:latin typeface="Calibri" pitchFamily="34" charset="0"/>
                <a:ea typeface="Calibri" pitchFamily="34" charset="-122"/>
                <a:cs typeface="Calibri" pitchFamily="34" charset="-120"/>
              </a:rPr>
              <a:t>Consequence for anyone building this: reporting token reduction as though it were cost reduction is unsafe. A workflow whose baseline is already cache-dominated has far less dollar headroom than its token headroom implies.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THE COMPARATOR THAT MATTERS</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If the reads are already known, write the macro</a:t>
            </a:r>
            <a:endParaRPr lang="en-US" sz="2600" dirty="0"/>
          </a:p>
        </p:txBody>
      </p:sp>
      <p:sp>
        <p:nvSpPr>
          <p:cNvPr id="6" name="Text 4"/>
          <p:cNvSpPr/>
          <p:nvPr/>
        </p:nvSpPr>
        <p:spPr>
          <a:xfrm>
            <a:off x="640080" y="1371600"/>
            <a:ext cx="10911535" cy="457200"/>
          </a:xfrm>
          <a:prstGeom prst="rect">
            <a:avLst/>
          </a:prstGeom>
          <a:noFill/>
          <a:ln/>
        </p:spPr>
        <p:txBody>
          <a:bodyPr wrap="square" lIns="0" tIns="0" rIns="0" bIns="0" rtlCol="0" anchor="t"/>
          <a:lstStyle/>
          <a:p>
            <a:pPr marL="0" indent="0" algn="l">
              <a:lnSpc>
                <a:spcPct val="112000"/>
              </a:lnSpc>
              <a:buNone/>
            </a:pPr>
            <a:r>
              <a:rPr lang="en-US" sz="1300" dirty="0">
                <a:solidFill>
                  <a:srgbClr val="2A4247"/>
                </a:solidFill>
                <a:latin typeface="Calibri" pitchFamily="34" charset="0"/>
                <a:ea typeface="Calibri" pitchFamily="34" charset="-122"/>
                <a:cs typeface="Calibri" pitchFamily="34" charset="-120"/>
              </a:rPr>
              <a:t>A request reduction measured only against an unoptimized agent cannot distinguish “compilation works” from “this workflow was easy.” </a:t>
            </a:r>
            <a:r>
              <a:rPr lang="en-US" sz="1300" b="1" dirty="0">
                <a:solidFill>
                  <a:srgbClr val="2A4247"/>
                </a:solidFill>
                <a:latin typeface="Calibri" pitchFamily="34" charset="0"/>
                <a:ea typeface="Calibri" pitchFamily="34" charset="-122"/>
                <a:cs typeface="Calibri" pitchFamily="34" charset="-120"/>
              </a:rPr>
              <a:t>So the study also runs one hand-written composite tool — and the result is not in the compiler's favour.</a:t>
            </a:r>
            <a:endParaRPr lang="en-US" sz="1300" dirty="0"/>
          </a:p>
        </p:txBody>
      </p:sp>
      <p:sp>
        <p:nvSpPr>
          <p:cNvPr id="7" name="Text 5"/>
          <p:cNvSpPr/>
          <p:nvPr/>
        </p:nvSpPr>
        <p:spPr>
          <a:xfrm>
            <a:off x="640080" y="1938528"/>
            <a:ext cx="5943600" cy="219456"/>
          </a:xfrm>
          <a:prstGeom prst="rect">
            <a:avLst/>
          </a:prstGeom>
          <a:noFill/>
          <a:ln/>
        </p:spPr>
        <p:txBody>
          <a:bodyPr wrap="square" lIns="0" tIns="0" rIns="0" bIns="0" rtlCol="0" anchor="t"/>
          <a:lstStyle/>
          <a:p>
            <a:pPr marL="0" indent="0">
              <a:buNone/>
            </a:pPr>
            <a:r>
              <a:rPr lang="en-US" sz="950" b="1" kern="0" spc="80" dirty="0">
                <a:solidFill>
                  <a:srgbClr val="17798A"/>
                </a:solidFill>
                <a:latin typeface="Calibri" pitchFamily="34" charset="0"/>
                <a:ea typeface="Calibri" pitchFamily="34" charset="-122"/>
                <a:cs typeface="Calibri" pitchFamily="34" charset="-120"/>
              </a:rPr>
              <a:t>OFFLINE STRESS SUITE — PAIRED REQUEST RATIO VS THE UNCHANGED AGENT, LOWER IS BETTER</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212848"/>
          <a:ext cx="5943600" cy="1810512"/>
        </p:xfrm>
        <a:graphic>
          <a:graphicData uri="http://schemas.openxmlformats.org/drawingml/2006/table">
            <a:tbl>
              <a:tblPr/>
              <a:tblGrid>
                <a:gridCol w="3200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01752">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Workload</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0D4A54"/>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Macro</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0D4A54"/>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GAC</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0D4A54"/>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Wins</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0D4A54"/>
                    </a:solidFill>
                  </a:tcPr>
                </a:tc>
                <a:extLst>
                  <a:ext uri="{0D108BD9-81ED-4DB2-BD59-A6C34878D82A}">
                    <a16:rowId xmlns:a16="http://schemas.microsoft.com/office/drawing/2014/main" val="10000"/>
                  </a:ext>
                </a:extLst>
              </a:tr>
              <a:tr h="301752">
                <a:tc>
                  <a:txBody>
                    <a:bodyPr/>
                    <a:lstStyle/>
                    <a:p>
                      <a:pPr marL="0" indent="0">
                        <a:buNone/>
                      </a:pPr>
                      <a:r>
                        <a:rPr lang="en-US" sz="1050" dirty="0">
                          <a:solidFill>
                            <a:srgbClr val="2A4247"/>
                          </a:solidFill>
                          <a:latin typeface="Calibri" pitchFamily="34" charset="0"/>
                          <a:ea typeface="Calibri" pitchFamily="34" charset="-122"/>
                          <a:cs typeface="Calibri" pitchFamily="34" charset="-120"/>
                        </a:rPr>
                        <a:t>Tier-1 support evidence gathering</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b="1" dirty="0">
                          <a:solidFill>
                            <a:srgbClr val="AC4A2C"/>
                          </a:solidFill>
                          <a:latin typeface="Calibri" pitchFamily="34" charset="0"/>
                          <a:ea typeface="Calibri" pitchFamily="34" charset="-122"/>
                          <a:cs typeface="Calibri" pitchFamily="34" charset="-120"/>
                        </a:rPr>
                        <a:t>0.726</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dirty="0">
                          <a:solidFill>
                            <a:srgbClr val="2A4247"/>
                          </a:solidFill>
                          <a:latin typeface="Calibri" pitchFamily="34" charset="0"/>
                          <a:ea typeface="Calibri" pitchFamily="34" charset="-122"/>
                          <a:cs typeface="Calibri" pitchFamily="34" charset="-120"/>
                        </a:rPr>
                        <a:t>0.755</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b="1" dirty="0">
                          <a:solidFill>
                            <a:srgbClr val="AC4A2C"/>
                          </a:solidFill>
                          <a:latin typeface="Calibri" pitchFamily="34" charset="0"/>
                          <a:ea typeface="Calibri" pitchFamily="34" charset="-122"/>
                          <a:cs typeface="Calibri" pitchFamily="34" charset="-120"/>
                        </a:rPr>
                        <a:t>macro</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extLst>
                  <a:ext uri="{0D108BD9-81ED-4DB2-BD59-A6C34878D82A}">
                    <a16:rowId xmlns:a16="http://schemas.microsoft.com/office/drawing/2014/main" val="10001"/>
                  </a:ext>
                </a:extLst>
              </a:tr>
              <a:tr h="301752">
                <a:tc>
                  <a:txBody>
                    <a:bodyPr/>
                    <a:lstStyle/>
                    <a:p>
                      <a:pPr marL="0" indent="0">
                        <a:buNone/>
                      </a:pPr>
                      <a:r>
                        <a:rPr lang="en-US" sz="1050" dirty="0">
                          <a:solidFill>
                            <a:srgbClr val="2A4247"/>
                          </a:solidFill>
                          <a:latin typeface="Calibri" pitchFamily="34" charset="0"/>
                          <a:ea typeface="Calibri" pitchFamily="34" charset="-122"/>
                          <a:cs typeface="Calibri" pitchFamily="34" charset="-120"/>
                        </a:rPr>
                        <a:t>Permissioned RAG knowledge assistant</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AC4A2C"/>
                          </a:solidFill>
                          <a:latin typeface="Calibri" pitchFamily="34" charset="0"/>
                          <a:ea typeface="Calibri" pitchFamily="34" charset="-122"/>
                          <a:cs typeface="Calibri" pitchFamily="34" charset="-120"/>
                        </a:rPr>
                        <a:t>0.335</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A4247"/>
                          </a:solidFill>
                          <a:latin typeface="Calibri" pitchFamily="34" charset="0"/>
                          <a:ea typeface="Calibri" pitchFamily="34" charset="-122"/>
                          <a:cs typeface="Calibri" pitchFamily="34" charset="-120"/>
                        </a:rPr>
                        <a:t>0.718</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AC4A2C"/>
                          </a:solidFill>
                          <a:latin typeface="Calibri" pitchFamily="34" charset="0"/>
                          <a:ea typeface="Calibri" pitchFamily="34" charset="-122"/>
                          <a:cs typeface="Calibri" pitchFamily="34" charset="-120"/>
                        </a:rPr>
                        <a:t>macro</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050" dirty="0">
                          <a:solidFill>
                            <a:srgbClr val="2A4247"/>
                          </a:solidFill>
                          <a:latin typeface="Calibri" pitchFamily="34" charset="0"/>
                          <a:ea typeface="Calibri" pitchFamily="34" charset="-122"/>
                          <a:cs typeface="Calibri" pitchFamily="34" charset="-120"/>
                        </a:rPr>
                        <a:t>Multi-agent incident triage</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dirty="0">
                          <a:solidFill>
                            <a:srgbClr val="2A4247"/>
                          </a:solidFill>
                          <a:latin typeface="Calibri" pitchFamily="34" charset="0"/>
                          <a:ea typeface="Calibri" pitchFamily="34" charset="-122"/>
                          <a:cs typeface="Calibri" pitchFamily="34" charset="-120"/>
                        </a:rPr>
                        <a:t>0.922</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b="1" dirty="0">
                          <a:solidFill>
                            <a:srgbClr val="17798A"/>
                          </a:solidFill>
                          <a:latin typeface="Calibri" pitchFamily="34" charset="0"/>
                          <a:ea typeface="Calibri" pitchFamily="34" charset="-122"/>
                          <a:cs typeface="Calibri" pitchFamily="34" charset="-120"/>
                        </a:rPr>
                        <a:t>0.780</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b="1" dirty="0">
                          <a:solidFill>
                            <a:srgbClr val="17798A"/>
                          </a:solidFill>
                          <a:latin typeface="Calibri" pitchFamily="34" charset="0"/>
                          <a:ea typeface="Calibri" pitchFamily="34" charset="-122"/>
                          <a:cs typeface="Calibri" pitchFamily="34" charset="-120"/>
                        </a:rPr>
                        <a:t>GAC</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extLst>
                  <a:ext uri="{0D108BD9-81ED-4DB2-BD59-A6C34878D82A}">
                    <a16:rowId xmlns:a16="http://schemas.microsoft.com/office/drawing/2014/main" val="10003"/>
                  </a:ext>
                </a:extLst>
              </a:tr>
              <a:tr h="301752">
                <a:tc>
                  <a:txBody>
                    <a:bodyPr/>
                    <a:lstStyle/>
                    <a:p>
                      <a:pPr marL="0" indent="0">
                        <a:buNone/>
                      </a:pPr>
                      <a:r>
                        <a:rPr lang="en-US" sz="1050" dirty="0">
                          <a:solidFill>
                            <a:srgbClr val="2A4247"/>
                          </a:solidFill>
                          <a:latin typeface="Calibri" pitchFamily="34" charset="0"/>
                          <a:ea typeface="Calibri" pitchFamily="34" charset="-122"/>
                          <a:cs typeface="Calibri" pitchFamily="34" charset="-120"/>
                        </a:rPr>
                        <a:t>Multi-tenant MCP ops (negative control)</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AC4A2C"/>
                          </a:solidFill>
                          <a:latin typeface="Calibri" pitchFamily="34" charset="0"/>
                          <a:ea typeface="Calibri" pitchFamily="34" charset="-122"/>
                          <a:cs typeface="Calibri" pitchFamily="34" charset="-120"/>
                        </a:rPr>
                        <a:t>0.724</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A424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AC4A2C"/>
                          </a:solidFill>
                          <a:latin typeface="Calibri" pitchFamily="34" charset="0"/>
                          <a:ea typeface="Calibri" pitchFamily="34" charset="-122"/>
                          <a:cs typeface="Calibri" pitchFamily="34" charset="-120"/>
                        </a:rPr>
                        <a:t>macro</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050" dirty="0">
                          <a:solidFill>
                            <a:srgbClr val="2A4247"/>
                          </a:solidFill>
                          <a:latin typeface="Calibri" pitchFamily="34" charset="0"/>
                          <a:ea typeface="Calibri" pitchFamily="34" charset="-122"/>
                          <a:cs typeface="Calibri" pitchFamily="34" charset="-120"/>
                        </a:rPr>
                        <a:t>Order-fulfillment exception handling</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dirty="0">
                          <a:solidFill>
                            <a:srgbClr val="2A4247"/>
                          </a:solidFill>
                          <a:latin typeface="Calibri" pitchFamily="34" charset="0"/>
                          <a:ea typeface="Calibri" pitchFamily="34" charset="-122"/>
                          <a:cs typeface="Calibri" pitchFamily="34" charset="-120"/>
                        </a:rPr>
                        <a:t>0.661</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b="1" dirty="0">
                          <a:solidFill>
                            <a:srgbClr val="17798A"/>
                          </a:solidFill>
                          <a:latin typeface="Calibri" pitchFamily="34" charset="0"/>
                          <a:ea typeface="Calibri" pitchFamily="34" charset="-122"/>
                          <a:cs typeface="Calibri" pitchFamily="34" charset="-120"/>
                        </a:rPr>
                        <a:t>0.642</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tc>
                  <a:txBody>
                    <a:bodyPr/>
                    <a:lstStyle/>
                    <a:p>
                      <a:pPr marL="0" indent="0" algn="ctr">
                        <a:buNone/>
                      </a:pPr>
                      <a:r>
                        <a:rPr lang="en-US" sz="1050" b="1" dirty="0">
                          <a:solidFill>
                            <a:srgbClr val="17798A"/>
                          </a:solidFill>
                          <a:latin typeface="Calibri" pitchFamily="34" charset="0"/>
                          <a:ea typeface="Calibri" pitchFamily="34" charset="-122"/>
                          <a:cs typeface="Calibri" pitchFamily="34" charset="-120"/>
                        </a:rPr>
                        <a:t>GAC</a:t>
                      </a:r>
                      <a:endParaRPr lang="en-US" sz="1050" dirty="0">
                        <a:latin typeface="Calibri" charset="0"/>
                        <a:ea typeface="Calibri" charset="0"/>
                        <a:cs typeface="Calibri" charset="0"/>
                      </a:endParaRPr>
                    </a:p>
                  </a:txBody>
                  <a:tcPr marL="82296" marR="82296" marT="36576" marB="36576" anchor="ctr">
                    <a:lnL w="6350" cap="flat" cmpd="sng" algn="ctr">
                      <a:solidFill>
                        <a:srgbClr val="D3E3E6"/>
                      </a:solidFill>
                      <a:prstDash val="solid"/>
                      <a:round/>
                      <a:headEnd type="none" w="med" len="med"/>
                      <a:tailEnd type="none" w="med" len="med"/>
                    </a:lnL>
                    <a:lnR w="6350" cap="flat" cmpd="sng" algn="ctr">
                      <a:solidFill>
                        <a:srgbClr val="D3E3E6"/>
                      </a:solidFill>
                      <a:prstDash val="solid"/>
                      <a:round/>
                      <a:headEnd type="none" w="med" len="med"/>
                      <a:tailEnd type="none" w="med" len="med"/>
                    </a:lnR>
                    <a:lnT w="6350" cap="flat" cmpd="sng" algn="ctr">
                      <a:solidFill>
                        <a:srgbClr val="D3E3E6"/>
                      </a:solidFill>
                      <a:prstDash val="solid"/>
                      <a:round/>
                      <a:headEnd type="none" w="med" len="med"/>
                      <a:tailEnd type="none" w="med" len="med"/>
                    </a:lnT>
                    <a:lnB w="6350" cap="flat" cmpd="sng" algn="ctr">
                      <a:solidFill>
                        <a:srgbClr val="D3E3E6"/>
                      </a:solidFill>
                      <a:prstDash val="solid"/>
                      <a:round/>
                      <a:headEnd type="none" w="med" len="med"/>
                      <a:tailEnd type="none" w="med" len="med"/>
                    </a:lnB>
                    <a:solidFill>
                      <a:srgbClr val="F5FAFB"/>
                    </a:solidFill>
                  </a:tcPr>
                </a:tc>
                <a:extLst>
                  <a:ext uri="{0D108BD9-81ED-4DB2-BD59-A6C34878D82A}">
                    <a16:rowId xmlns:a16="http://schemas.microsoft.com/office/drawing/2014/main" val="10005"/>
                  </a:ext>
                </a:extLst>
              </a:tr>
            </a:tbl>
          </a:graphicData>
        </a:graphic>
      </p:graphicFrame>
      <p:sp>
        <p:nvSpPr>
          <p:cNvPr id="9" name="Text 6"/>
          <p:cNvSpPr/>
          <p:nvPr/>
        </p:nvSpPr>
        <p:spPr>
          <a:xfrm>
            <a:off x="640080" y="4151376"/>
            <a:ext cx="5943600" cy="932688"/>
          </a:xfrm>
          <a:prstGeom prst="rect">
            <a:avLst/>
          </a:prstGeom>
          <a:noFill/>
          <a:ln/>
        </p:spPr>
        <p:txBody>
          <a:bodyPr wrap="square" lIns="0" tIns="0" rIns="0" bIns="0" rtlCol="0" anchor="t"/>
          <a:lstStyle/>
          <a:p>
            <a:pPr marL="0" indent="0">
              <a:lnSpc>
                <a:spcPct val="105000"/>
              </a:lnSpc>
              <a:buNone/>
            </a:pPr>
            <a:r>
              <a:rPr lang="en-US" sz="1050" b="1" i="1" dirty="0">
                <a:solidFill>
                  <a:srgbClr val="AC4A2C"/>
                </a:solidFill>
                <a:latin typeface="Calibri" pitchFamily="34" charset="0"/>
                <a:ea typeface="Calibri" pitchFamily="34" charset="-122"/>
                <a:cs typeface="Calibri" pitchFamily="34" charset="-120"/>
              </a:rPr>
              <a:t>This substrate is simulated — a scripted policy stands in for the model at each boundary — so these ratios settle that the comparison was run, not the live question. </a:t>
            </a:r>
            <a:r>
              <a:rPr lang="en-US" sz="1050" i="1" dirty="0">
                <a:solidFill>
                  <a:srgbClr val="5F767A"/>
                </a:solidFill>
                <a:latin typeface="Calibri" pitchFamily="34" charset="0"/>
                <a:ea typeface="Calibri" pitchFamily="34" charset="-122"/>
                <a:cs typeface="Calibri" pitchFamily="34" charset="-120"/>
              </a:rPr>
              <a:t>On the negative control the macro takes a 27.6% saving that GAC refuses because the tool effects are undeclared and the catalog fails closed: prudence or lost value depends on whether those tools really are read-only.</a:t>
            </a:r>
            <a:endParaRPr lang="en-US" sz="1050" dirty="0"/>
          </a:p>
        </p:txBody>
      </p:sp>
      <p:sp>
        <p:nvSpPr>
          <p:cNvPr id="10" name="Shape 7"/>
          <p:cNvSpPr/>
          <p:nvPr/>
        </p:nvSpPr>
        <p:spPr>
          <a:xfrm>
            <a:off x="6949440" y="1938528"/>
            <a:ext cx="4602175" cy="1417320"/>
          </a:xfrm>
          <a:prstGeom prst="roundRect">
            <a:avLst>
              <a:gd name="adj" fmla="val 3226"/>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1" name="Shape 8"/>
          <p:cNvSpPr/>
          <p:nvPr/>
        </p:nvSpPr>
        <p:spPr>
          <a:xfrm>
            <a:off x="7205472" y="2103120"/>
            <a:ext cx="347472" cy="347472"/>
          </a:xfrm>
          <a:prstGeom prst="ellipse">
            <a:avLst/>
          </a:prstGeom>
          <a:solidFill>
            <a:srgbClr val="AC4A2C"/>
          </a:solidFill>
          <a:ln w="6350">
            <a:solidFill>
              <a:srgbClr val="AC4A2C"/>
            </a:solidFill>
            <a:prstDash val="solid"/>
          </a:ln>
        </p:spPr>
        <p:txBody>
          <a:bodyPr/>
          <a:lstStyle/>
          <a:p>
            <a:endParaRPr lang="en-US"/>
          </a:p>
        </p:txBody>
      </p:sp>
      <p:sp>
        <p:nvSpPr>
          <p:cNvPr id="12" name="Text 9"/>
          <p:cNvSpPr/>
          <p:nvPr/>
        </p:nvSpPr>
        <p:spPr>
          <a:xfrm>
            <a:off x="7205472" y="210312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0"/>
          <p:cNvSpPr/>
          <p:nvPr/>
        </p:nvSpPr>
        <p:spPr>
          <a:xfrm>
            <a:off x="7644384" y="2103120"/>
            <a:ext cx="3651199" cy="347472"/>
          </a:xfrm>
          <a:prstGeom prst="rect">
            <a:avLst/>
          </a:prstGeom>
          <a:noFill/>
          <a:ln/>
        </p:spPr>
        <p:txBody>
          <a:bodyPr wrap="square" lIns="0" tIns="0" rIns="0" bIns="0" rtlCol="0" anchor="ctr"/>
          <a:lstStyle/>
          <a:p>
            <a:pPr marL="0" indent="0">
              <a:buNone/>
            </a:pPr>
            <a:r>
              <a:rPr lang="en-US" sz="1400" b="1" dirty="0">
                <a:solidFill>
                  <a:srgbClr val="AC4A2C"/>
                </a:solidFill>
                <a:latin typeface="Cambria" pitchFamily="34" charset="0"/>
                <a:ea typeface="Cambria" pitchFamily="34" charset="-122"/>
                <a:cs typeface="Cambria" pitchFamily="34" charset="-120"/>
              </a:rPr>
              <a:t>Write the composite tool when…</a:t>
            </a:r>
            <a:endParaRPr lang="en-US" sz="1400" dirty="0"/>
          </a:p>
        </p:txBody>
      </p:sp>
      <p:sp>
        <p:nvSpPr>
          <p:cNvPr id="14" name="Text 11"/>
          <p:cNvSpPr/>
          <p:nvPr/>
        </p:nvSpPr>
        <p:spPr>
          <a:xfrm>
            <a:off x="7223760" y="2542032"/>
            <a:ext cx="4053535" cy="731520"/>
          </a:xfrm>
          <a:prstGeom prst="rect">
            <a:avLst/>
          </a:prstGeom>
          <a:noFill/>
          <a:ln/>
        </p:spPr>
        <p:txBody>
          <a:bodyPr wrap="square" lIns="0" tIns="0" rIns="0" bIns="0" rtlCol="0" anchor="t"/>
          <a:lstStyle/>
          <a:p>
            <a:pPr marL="342900" indent="-342900">
              <a:lnSpc>
                <a:spcPct val="106000"/>
              </a:lnSpc>
              <a:spcAft>
                <a:spcPts val="300"/>
              </a:spcAft>
              <a:buSzPct val="100000"/>
              <a:buChar char="•"/>
            </a:pPr>
            <a:r>
              <a:rPr lang="en-US" sz="1050" dirty="0">
                <a:solidFill>
                  <a:srgbClr val="5A3A2E"/>
                </a:solidFill>
                <a:latin typeface="Calibri" pitchFamily="34" charset="0"/>
                <a:ea typeface="Calibri" pitchFamily="34" charset="-122"/>
                <a:cs typeface="Calibri" pitchFamily="34" charset="-120"/>
              </a:rPr>
              <a:t>the read set is stable and low-entropy</a:t>
            </a:r>
            <a:endParaRPr lang="en-US" sz="1050" dirty="0"/>
          </a:p>
          <a:p>
            <a:pPr marL="342900" indent="-342900">
              <a:lnSpc>
                <a:spcPct val="106000"/>
              </a:lnSpc>
              <a:spcAft>
                <a:spcPts val="300"/>
              </a:spcAft>
              <a:buSzPct val="100000"/>
              <a:buChar char="•"/>
            </a:pPr>
            <a:r>
              <a:rPr lang="en-US" sz="1050" dirty="0">
                <a:solidFill>
                  <a:srgbClr val="5A3A2E"/>
                </a:solidFill>
                <a:latin typeface="Calibri" pitchFamily="34" charset="0"/>
                <a:ea typeface="Calibri" pitchFamily="34" charset="-122"/>
                <a:cs typeface="Calibri" pitchFamily="34" charset="-120"/>
              </a:rPr>
              <a:t>the effects are already understood by a human</a:t>
            </a:r>
            <a:endParaRPr lang="en-US" sz="1050" dirty="0"/>
          </a:p>
          <a:p>
            <a:pPr marL="342900" indent="-342900">
              <a:lnSpc>
                <a:spcPct val="106000"/>
              </a:lnSpc>
              <a:spcAft>
                <a:spcPts val="300"/>
              </a:spcAft>
              <a:buSzPct val="100000"/>
              <a:buChar char="•"/>
            </a:pPr>
            <a:r>
              <a:rPr lang="en-US" sz="1050" dirty="0">
                <a:solidFill>
                  <a:srgbClr val="5A3A2E"/>
                </a:solidFill>
                <a:latin typeface="Calibri" pitchFamily="34" charset="0"/>
                <a:ea typeface="Calibri" pitchFamily="34" charset="-122"/>
                <a:cs typeface="Calibri" pitchFamily="34" charset="-120"/>
              </a:rPr>
              <a:t>one interface redesign can fuse the reads</a:t>
            </a:r>
            <a:endParaRPr lang="en-US" sz="1050" dirty="0"/>
          </a:p>
        </p:txBody>
      </p:sp>
      <p:sp>
        <p:nvSpPr>
          <p:cNvPr id="15" name="Shape 12"/>
          <p:cNvSpPr/>
          <p:nvPr/>
        </p:nvSpPr>
        <p:spPr>
          <a:xfrm>
            <a:off x="6949440" y="3520440"/>
            <a:ext cx="4602175" cy="1417320"/>
          </a:xfrm>
          <a:prstGeom prst="roundRect">
            <a:avLst>
              <a:gd name="adj" fmla="val 3226"/>
            </a:avLst>
          </a:prstGeom>
          <a:solidFill>
            <a:srgbClr val="F5FAFB"/>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6" name="Shape 13"/>
          <p:cNvSpPr/>
          <p:nvPr/>
        </p:nvSpPr>
        <p:spPr>
          <a:xfrm>
            <a:off x="7205472" y="3685032"/>
            <a:ext cx="347472" cy="347472"/>
          </a:xfrm>
          <a:prstGeom prst="ellipse">
            <a:avLst/>
          </a:prstGeom>
          <a:solidFill>
            <a:srgbClr val="17798A"/>
          </a:solidFill>
          <a:ln w="6350">
            <a:solidFill>
              <a:srgbClr val="17798A"/>
            </a:solidFill>
            <a:prstDash val="solid"/>
          </a:ln>
        </p:spPr>
        <p:txBody>
          <a:bodyPr/>
          <a:lstStyle/>
          <a:p>
            <a:endParaRPr lang="en-US"/>
          </a:p>
        </p:txBody>
      </p:sp>
      <p:sp>
        <p:nvSpPr>
          <p:cNvPr id="17" name="Text 14"/>
          <p:cNvSpPr/>
          <p:nvPr/>
        </p:nvSpPr>
        <p:spPr>
          <a:xfrm>
            <a:off x="7205472" y="36850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5"/>
          <p:cNvSpPr/>
          <p:nvPr/>
        </p:nvSpPr>
        <p:spPr>
          <a:xfrm>
            <a:off x="7644384" y="3685032"/>
            <a:ext cx="3651199" cy="347472"/>
          </a:xfrm>
          <a:prstGeom prst="rect">
            <a:avLst/>
          </a:prstGeom>
          <a:noFill/>
          <a:ln/>
        </p:spPr>
        <p:txBody>
          <a:bodyPr wrap="square" lIns="0" tIns="0" rIns="0" bIns="0" rtlCol="0" anchor="ctr"/>
          <a:lstStyle/>
          <a:p>
            <a:pPr marL="0" indent="0">
              <a:buNone/>
            </a:pPr>
            <a:r>
              <a:rPr lang="en-US" sz="1400" b="1" dirty="0">
                <a:solidFill>
                  <a:srgbClr val="0D4A54"/>
                </a:solidFill>
                <a:latin typeface="Cambria" pitchFamily="34" charset="0"/>
                <a:ea typeface="Cambria" pitchFamily="34" charset="-122"/>
                <a:cs typeface="Cambria" pitchFamily="34" charset="-120"/>
              </a:rPr>
              <a:t>Compile when…</a:t>
            </a:r>
            <a:endParaRPr lang="en-US" sz="1400" dirty="0"/>
          </a:p>
        </p:txBody>
      </p:sp>
      <p:sp>
        <p:nvSpPr>
          <p:cNvPr id="8" name="Text 16"/>
          <p:cNvSpPr/>
          <p:nvPr/>
        </p:nvSpPr>
        <p:spPr>
          <a:xfrm>
            <a:off x="7223760" y="4123944"/>
            <a:ext cx="4053535" cy="731520"/>
          </a:xfrm>
          <a:prstGeom prst="rect">
            <a:avLst/>
          </a:prstGeom>
          <a:noFill/>
          <a:ln/>
        </p:spPr>
        <p:txBody>
          <a:bodyPr wrap="square" lIns="0" tIns="0" rIns="0" bIns="0" rtlCol="0" anchor="t"/>
          <a:lstStyle/>
          <a:p>
            <a:pPr marL="342900" indent="-342900">
              <a:lnSpc>
                <a:spcPct val="106000"/>
              </a:lnSpc>
              <a:spcAft>
                <a:spcPts val="300"/>
              </a:spcAft>
              <a:buSzPct val="100000"/>
              <a:buChar char="•"/>
            </a:pPr>
            <a:r>
              <a:rPr lang="en-US" sz="1050" dirty="0">
                <a:solidFill>
                  <a:srgbClr val="2A4247"/>
                </a:solidFill>
                <a:latin typeface="Calibri" pitchFamily="34" charset="0"/>
                <a:ea typeface="Calibri" pitchFamily="34" charset="-122"/>
                <a:cs typeface="Calibri" pitchFamily="34" charset="-120"/>
              </a:rPr>
              <a:t>which reads to make is itself the recurrent structure</a:t>
            </a:r>
            <a:endParaRPr lang="en-US" sz="1050" dirty="0"/>
          </a:p>
          <a:p>
            <a:pPr marL="342900" indent="-342900">
              <a:lnSpc>
                <a:spcPct val="106000"/>
              </a:lnSpc>
              <a:spcAft>
                <a:spcPts val="300"/>
              </a:spcAft>
              <a:buSzPct val="100000"/>
              <a:buChar char="•"/>
            </a:pPr>
            <a:r>
              <a:rPr lang="en-US" sz="1050" dirty="0">
                <a:solidFill>
                  <a:srgbClr val="2A4247"/>
                </a:solidFill>
                <a:latin typeface="Calibri" pitchFamily="34" charset="0"/>
                <a:ea typeface="Calibri" pitchFamily="34" charset="-122"/>
                <a:cs typeface="Calibri" pitchFamily="34" charset="-120"/>
              </a:rPr>
              <a:t>the region is branch-dependent</a:t>
            </a:r>
            <a:endParaRPr lang="en-US" sz="1050" dirty="0"/>
          </a:p>
          <a:p>
            <a:pPr marL="342900" indent="-342900">
              <a:lnSpc>
                <a:spcPct val="106000"/>
              </a:lnSpc>
              <a:spcAft>
                <a:spcPts val="300"/>
              </a:spcAft>
              <a:buSzPct val="100000"/>
              <a:buChar char="•"/>
            </a:pPr>
            <a:r>
              <a:rPr lang="en-US" sz="1050" dirty="0">
                <a:solidFill>
                  <a:srgbClr val="2A4247"/>
                </a:solidFill>
                <a:latin typeface="Calibri" pitchFamily="34" charset="0"/>
                <a:ea typeface="Calibri" pitchFamily="34" charset="-122"/>
                <a:cs typeface="Calibri" pitchFamily="34" charset="-120"/>
              </a:rPr>
              <a:t>manual discovery and maintenance would not amortize</a:t>
            </a:r>
            <a:endParaRPr lang="en-US" sz="1050" dirty="0"/>
          </a:p>
        </p:txBody>
      </p:sp>
      <p:sp>
        <p:nvSpPr>
          <p:cNvPr id="20" name="Shape 17"/>
          <p:cNvSpPr/>
          <p:nvPr/>
        </p:nvSpPr>
        <p:spPr>
          <a:xfrm>
            <a:off x="640080" y="5138928"/>
            <a:ext cx="10911535" cy="969264"/>
          </a:xfrm>
          <a:prstGeom prst="roundRect">
            <a:avLst>
              <a:gd name="adj" fmla="val 4717"/>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21" name="Text 18"/>
          <p:cNvSpPr/>
          <p:nvPr/>
        </p:nvSpPr>
        <p:spPr>
          <a:xfrm>
            <a:off x="914400" y="5248656"/>
            <a:ext cx="10362895" cy="749808"/>
          </a:xfrm>
          <a:prstGeom prst="rect">
            <a:avLst/>
          </a:prstGeom>
          <a:noFill/>
          <a:ln/>
        </p:spPr>
        <p:txBody>
          <a:bodyPr wrap="square" lIns="0" tIns="0" rIns="0" bIns="0" rtlCol="0" anchor="ctr"/>
          <a:lstStyle/>
          <a:p>
            <a:pPr marL="0" indent="0">
              <a:lnSpc>
                <a:spcPct val="107000"/>
              </a:lnSpc>
              <a:buNone/>
            </a:pPr>
            <a:r>
              <a:rPr lang="en-US" sz="1200" b="1" dirty="0">
                <a:solidFill>
                  <a:srgbClr val="0D4A54"/>
                </a:solidFill>
                <a:latin typeface="Calibri" pitchFamily="34" charset="0"/>
                <a:ea typeface="Calibri" pitchFamily="34" charset="-122"/>
                <a:cs typeface="Calibri" pitchFamily="34" charset="-120"/>
              </a:rPr>
              <a:t>Live confirmation: </a:t>
            </a:r>
            <a:r>
              <a:rPr lang="en-US" sz="1200" dirty="0">
                <a:solidFill>
                  <a:srgbClr val="2A4247"/>
                </a:solidFill>
                <a:latin typeface="Calibri" pitchFamily="34" charset="0"/>
                <a:ea typeface="Calibri" pitchFamily="34" charset="-122"/>
                <a:cs typeface="Calibri" pitchFamily="34" charset="-120"/>
              </a:rPr>
              <a:t>on 30 real issues the macro matched the compiler's request count, used one tool call instead of three, and beat it on tokens (−58.2% vs −39.5%) and cost (−37.5% vs −32.0%). Only observed wall latency favoured the compiler — and that paired interval crosses zero.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RESULT 5  ·  RQ5</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A portfolio layer that only compares things it has measured</a:t>
            </a:r>
            <a:endParaRPr lang="en-US" sz="2600" dirty="0"/>
          </a:p>
        </p:txBody>
      </p:sp>
      <p:sp>
        <p:nvSpPr>
          <p:cNvPr id="6" name="Text 4"/>
          <p:cNvSpPr/>
          <p:nvPr/>
        </p:nvSpPr>
        <p:spPr>
          <a:xfrm>
            <a:off x="640080" y="1408176"/>
            <a:ext cx="5943600" cy="187452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00" dirty="0">
                <a:solidFill>
                  <a:srgbClr val="2A4247"/>
                </a:solidFill>
                <a:latin typeface="Calibri" pitchFamily="34" charset="0"/>
                <a:ea typeface="Calibri" pitchFamily="34" charset="-122"/>
                <a:cs typeface="Calibri" pitchFamily="34" charset="-120"/>
              </a:rPr>
              <a:t>The compiler's action set stays binary. A separate layer consumes paired measurements for named actions on the same independent workflow groups.</a:t>
            </a:r>
            <a:endParaRPr lang="en-US" sz="1200" dirty="0"/>
          </a:p>
          <a:p>
            <a:pPr marL="342900" indent="-342900">
              <a:lnSpc>
                <a:spcPct val="106000"/>
              </a:lnSpc>
              <a:spcAft>
                <a:spcPts val="700"/>
              </a:spcAft>
              <a:buSzPct val="100000"/>
              <a:buChar char="•"/>
            </a:pPr>
            <a:r>
              <a:rPr lang="en-US" sz="1200" dirty="0">
                <a:solidFill>
                  <a:srgbClr val="2A4247"/>
                </a:solidFill>
                <a:latin typeface="Calibri" pitchFamily="34" charset="0"/>
                <a:ea typeface="Calibri" pitchFamily="34" charset="-122"/>
                <a:cs typeface="Calibri" pitchFamily="34" charset="-120"/>
              </a:rPr>
              <a:t>Missing evidence creates no candidate row — an unmeasured action cannot be imputed into a recommendation.</a:t>
            </a:r>
            <a:endParaRPr lang="en-US" sz="1200" dirty="0"/>
          </a:p>
          <a:p>
            <a:pPr marL="342900" indent="-342900">
              <a:lnSpc>
                <a:spcPct val="106000"/>
              </a:lnSpc>
              <a:spcAft>
                <a:spcPts val="700"/>
              </a:spcAft>
              <a:buSzPct val="100000"/>
              <a:buChar char="•"/>
            </a:pPr>
            <a:r>
              <a:rPr lang="en-US" sz="1200" dirty="0">
                <a:solidFill>
                  <a:srgbClr val="2A4247"/>
                </a:solidFill>
                <a:latin typeface="Calibri" pitchFamily="34" charset="0"/>
                <a:ea typeface="Calibri" pitchFamily="34" charset="-122"/>
                <a:cs typeface="Calibri" pitchFamily="34" charset="-120"/>
              </a:rPr>
              <a:t>Macros default to human review: the library returns a decision record, evidence, and rationale, never generated application code.</a:t>
            </a:r>
            <a:endParaRPr lang="en-US" sz="1200" dirty="0"/>
          </a:p>
        </p:txBody>
      </p:sp>
      <p:graphicFrame>
        <p:nvGraphicFramePr>
          <p:cNvPr id="7" name="Chart 0"/>
          <p:cNvGraphicFramePr/>
          <p:nvPr/>
        </p:nvGraphicFramePr>
        <p:xfrm>
          <a:off x="640080" y="3401568"/>
          <a:ext cx="5943600" cy="1572768"/>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640080" y="5084064"/>
            <a:ext cx="5943600" cy="914400"/>
          </a:xfrm>
          <a:prstGeom prst="rect">
            <a:avLst/>
          </a:prstGeom>
          <a:noFill/>
          <a:ln/>
        </p:spPr>
        <p:txBody>
          <a:bodyPr wrap="square" lIns="0" tIns="0" rIns="0" bIns="0" rtlCol="0" anchor="ctr"/>
          <a:lstStyle/>
          <a:p>
            <a:pPr marL="0" indent="0">
              <a:lnSpc>
                <a:spcPct val="108000"/>
              </a:lnSpc>
              <a:buNone/>
            </a:pPr>
            <a:r>
              <a:rPr lang="en-US" sz="1100" dirty="0">
                <a:solidFill>
                  <a:srgbClr val="5F767A"/>
                </a:solidFill>
                <a:latin typeface="Calibri" pitchFamily="34" charset="0"/>
                <a:ea typeface="Calibri" pitchFamily="34" charset="-122"/>
                <a:cs typeface="Calibri" pitchFamily="34" charset="-120"/>
              </a:rPr>
              <a:t>Both actions were admitted — zero quality failures, zero non-positive-utility groups, exact upper bounds 0.136 against a 15% pilot limit. The higher-utility macro was selected and flagged for explicit review.</a:t>
            </a:r>
            <a:endParaRPr lang="en-US" sz="1100" dirty="0"/>
          </a:p>
        </p:txBody>
      </p:sp>
      <p:sp>
        <p:nvSpPr>
          <p:cNvPr id="9" name="Shape 6"/>
          <p:cNvSpPr/>
          <p:nvPr/>
        </p:nvSpPr>
        <p:spPr>
          <a:xfrm>
            <a:off x="6949440" y="1408176"/>
            <a:ext cx="4602175" cy="3657600"/>
          </a:xfrm>
          <a:prstGeom prst="roundRect">
            <a:avLst>
              <a:gd name="adj" fmla="val 1250"/>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10" name="Text 7"/>
          <p:cNvSpPr/>
          <p:nvPr/>
        </p:nvSpPr>
        <p:spPr>
          <a:xfrm>
            <a:off x="7223760" y="1572768"/>
            <a:ext cx="4053535" cy="237744"/>
          </a:xfrm>
          <a:prstGeom prst="rect">
            <a:avLst/>
          </a:prstGeom>
          <a:noFill/>
          <a:ln/>
        </p:spPr>
        <p:txBody>
          <a:bodyPr wrap="square" lIns="0" tIns="0" rIns="0" bIns="0" rtlCol="0" anchor="ctr"/>
          <a:lstStyle/>
          <a:p>
            <a:pPr marL="0" indent="0">
              <a:buNone/>
            </a:pPr>
            <a:r>
              <a:rPr lang="en-US" sz="950" b="1" kern="0" spc="100" dirty="0">
                <a:solidFill>
                  <a:srgbClr val="17798A"/>
                </a:solidFill>
                <a:latin typeface="Calibri" pitchFamily="34" charset="0"/>
                <a:ea typeface="Calibri" pitchFamily="34" charset="-122"/>
                <a:cs typeface="Calibri" pitchFamily="34" charset="-120"/>
              </a:rPr>
              <a:t>PROSPECTIVE TEST — 12 FRESH PUBLIC ISSUES, DECISION FROZEN FIRST</a:t>
            </a:r>
            <a:endParaRPr lang="en-US" sz="950" dirty="0"/>
          </a:p>
        </p:txBody>
      </p:sp>
      <p:sp>
        <p:nvSpPr>
          <p:cNvPr id="11" name="Text 8"/>
          <p:cNvSpPr/>
          <p:nvPr/>
        </p:nvSpPr>
        <p:spPr>
          <a:xfrm>
            <a:off x="7223760" y="1920240"/>
            <a:ext cx="1280160" cy="384048"/>
          </a:xfrm>
          <a:prstGeom prst="rect">
            <a:avLst/>
          </a:prstGeom>
          <a:noFill/>
          <a:ln/>
        </p:spPr>
        <p:txBody>
          <a:bodyPr wrap="square" lIns="0" tIns="0" rIns="0" bIns="0" rtlCol="0" anchor="ctr"/>
          <a:lstStyle/>
          <a:p>
            <a:pPr marL="0" indent="0">
              <a:buNone/>
            </a:pPr>
            <a:r>
              <a:rPr lang="en-US" sz="1700" b="1" dirty="0">
                <a:solidFill>
                  <a:srgbClr val="17798A"/>
                </a:solidFill>
                <a:latin typeface="Cambria" pitchFamily="34" charset="0"/>
                <a:ea typeface="Cambria" pitchFamily="34" charset="-122"/>
                <a:cs typeface="Cambria" pitchFamily="34" charset="-120"/>
              </a:rPr>
              <a:t>12 / 12</a:t>
            </a:r>
            <a:endParaRPr lang="en-US" sz="1700" dirty="0"/>
          </a:p>
        </p:txBody>
      </p:sp>
      <p:sp>
        <p:nvSpPr>
          <p:cNvPr id="12" name="Text 9"/>
          <p:cNvSpPr/>
          <p:nvPr/>
        </p:nvSpPr>
        <p:spPr>
          <a:xfrm>
            <a:off x="8613648" y="1920240"/>
            <a:ext cx="2636215" cy="384048"/>
          </a:xfrm>
          <a:prstGeom prst="rect">
            <a:avLst/>
          </a:prstGeom>
          <a:noFill/>
          <a:ln/>
        </p:spPr>
        <p:txBody>
          <a:bodyPr wrap="square" lIns="0" tIns="0" rIns="0" bIns="0" rtlCol="0" anchor="ctr"/>
          <a:lstStyle/>
          <a:p>
            <a:pPr marL="0" indent="0">
              <a:buNone/>
            </a:pPr>
            <a:r>
              <a:rPr lang="en-US" sz="1150" dirty="0">
                <a:solidFill>
                  <a:srgbClr val="2A4247"/>
                </a:solidFill>
                <a:latin typeface="Calibri" pitchFamily="34" charset="0"/>
                <a:ea typeface="Calibri" pitchFamily="34" charset="-122"/>
                <a:cs typeface="Calibri" pitchFamily="34" charset="-120"/>
              </a:rPr>
              <a:t>exact factual and full task contracts preserved</a:t>
            </a:r>
            <a:endParaRPr lang="en-US" sz="1150" dirty="0"/>
          </a:p>
        </p:txBody>
      </p:sp>
      <p:sp>
        <p:nvSpPr>
          <p:cNvPr id="13" name="Text 10"/>
          <p:cNvSpPr/>
          <p:nvPr/>
        </p:nvSpPr>
        <p:spPr>
          <a:xfrm>
            <a:off x="7223760" y="2423160"/>
            <a:ext cx="1280160" cy="384048"/>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−50.0%</a:t>
            </a:r>
            <a:endParaRPr lang="en-US" sz="1700" dirty="0"/>
          </a:p>
        </p:txBody>
      </p:sp>
      <p:sp>
        <p:nvSpPr>
          <p:cNvPr id="14" name="Text 11"/>
          <p:cNvSpPr/>
          <p:nvPr/>
        </p:nvSpPr>
        <p:spPr>
          <a:xfrm>
            <a:off x="8613648" y="2423160"/>
            <a:ext cx="2636215" cy="384048"/>
          </a:xfrm>
          <a:prstGeom prst="rect">
            <a:avLst/>
          </a:prstGeom>
          <a:noFill/>
          <a:ln/>
        </p:spPr>
        <p:txBody>
          <a:bodyPr wrap="square" lIns="0" tIns="0" rIns="0" bIns="0" rtlCol="0" anchor="ctr"/>
          <a:lstStyle/>
          <a:p>
            <a:pPr marL="0" indent="0">
              <a:buNone/>
            </a:pPr>
            <a:r>
              <a:rPr lang="en-US" sz="1150" dirty="0">
                <a:solidFill>
                  <a:srgbClr val="2A4247"/>
                </a:solidFill>
                <a:latin typeface="Calibri" pitchFamily="34" charset="0"/>
                <a:ea typeface="Calibri" pitchFamily="34" charset="-122"/>
                <a:cs typeface="Calibri" pitchFamily="34" charset="-120"/>
              </a:rPr>
              <a:t>provider requests (4 → 2)</a:t>
            </a:r>
            <a:endParaRPr lang="en-US" sz="1150" dirty="0"/>
          </a:p>
        </p:txBody>
      </p:sp>
      <p:sp>
        <p:nvSpPr>
          <p:cNvPr id="15" name="Text 12"/>
          <p:cNvSpPr/>
          <p:nvPr/>
        </p:nvSpPr>
        <p:spPr>
          <a:xfrm>
            <a:off x="7223760" y="2926080"/>
            <a:ext cx="1280160" cy="384048"/>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−66.7%</a:t>
            </a:r>
            <a:endParaRPr lang="en-US" sz="1700" dirty="0"/>
          </a:p>
        </p:txBody>
      </p:sp>
      <p:sp>
        <p:nvSpPr>
          <p:cNvPr id="16" name="Text 13"/>
          <p:cNvSpPr/>
          <p:nvPr/>
        </p:nvSpPr>
        <p:spPr>
          <a:xfrm>
            <a:off x="8613648" y="2926080"/>
            <a:ext cx="2636215" cy="384048"/>
          </a:xfrm>
          <a:prstGeom prst="rect">
            <a:avLst/>
          </a:prstGeom>
          <a:noFill/>
          <a:ln/>
        </p:spPr>
        <p:txBody>
          <a:bodyPr wrap="square" lIns="0" tIns="0" rIns="0" bIns="0" rtlCol="0" anchor="ctr"/>
          <a:lstStyle/>
          <a:p>
            <a:pPr marL="0" indent="0">
              <a:buNone/>
            </a:pPr>
            <a:r>
              <a:rPr lang="en-US" sz="1150" dirty="0">
                <a:solidFill>
                  <a:srgbClr val="2A4247"/>
                </a:solidFill>
                <a:latin typeface="Calibri" pitchFamily="34" charset="0"/>
                <a:ea typeface="Calibri" pitchFamily="34" charset="-122"/>
                <a:cs typeface="Calibri" pitchFamily="34" charset="-120"/>
              </a:rPr>
              <a:t>tool calls (3 → 1)</a:t>
            </a:r>
            <a:endParaRPr lang="en-US" sz="1150" dirty="0"/>
          </a:p>
        </p:txBody>
      </p:sp>
      <p:sp>
        <p:nvSpPr>
          <p:cNvPr id="17" name="Text 14"/>
          <p:cNvSpPr/>
          <p:nvPr/>
        </p:nvSpPr>
        <p:spPr>
          <a:xfrm>
            <a:off x="7223760" y="3429000"/>
            <a:ext cx="1280160" cy="384048"/>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−59.2%</a:t>
            </a:r>
            <a:endParaRPr lang="en-US" sz="1700" dirty="0"/>
          </a:p>
        </p:txBody>
      </p:sp>
      <p:sp>
        <p:nvSpPr>
          <p:cNvPr id="18" name="Text 15"/>
          <p:cNvSpPr/>
          <p:nvPr/>
        </p:nvSpPr>
        <p:spPr>
          <a:xfrm>
            <a:off x="8613648" y="3429000"/>
            <a:ext cx="2636215" cy="384048"/>
          </a:xfrm>
          <a:prstGeom prst="rect">
            <a:avLst/>
          </a:prstGeom>
          <a:noFill/>
          <a:ln/>
        </p:spPr>
        <p:txBody>
          <a:bodyPr wrap="square" lIns="0" tIns="0" rIns="0" bIns="0" rtlCol="0" anchor="ctr"/>
          <a:lstStyle/>
          <a:p>
            <a:pPr marL="0" indent="0">
              <a:buNone/>
            </a:pPr>
            <a:r>
              <a:rPr lang="en-US" sz="1150" dirty="0">
                <a:solidFill>
                  <a:srgbClr val="2A4247"/>
                </a:solidFill>
                <a:latin typeface="Calibri" pitchFamily="34" charset="0"/>
                <a:ea typeface="Calibri" pitchFamily="34" charset="-122"/>
                <a:cs typeface="Calibri" pitchFamily="34" charset="-120"/>
              </a:rPr>
              <a:t>total tokens</a:t>
            </a:r>
            <a:endParaRPr lang="en-US" sz="1150" dirty="0"/>
          </a:p>
        </p:txBody>
      </p:sp>
      <p:sp>
        <p:nvSpPr>
          <p:cNvPr id="19" name="Text 16"/>
          <p:cNvSpPr/>
          <p:nvPr/>
        </p:nvSpPr>
        <p:spPr>
          <a:xfrm>
            <a:off x="7223760" y="3931920"/>
            <a:ext cx="1280160" cy="384048"/>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−40.6%</a:t>
            </a:r>
            <a:endParaRPr lang="en-US" sz="1700" dirty="0"/>
          </a:p>
        </p:txBody>
      </p:sp>
      <p:sp>
        <p:nvSpPr>
          <p:cNvPr id="20" name="Text 17"/>
          <p:cNvSpPr/>
          <p:nvPr/>
        </p:nvSpPr>
        <p:spPr>
          <a:xfrm>
            <a:off x="8613648" y="3931920"/>
            <a:ext cx="2636215" cy="384048"/>
          </a:xfrm>
          <a:prstGeom prst="rect">
            <a:avLst/>
          </a:prstGeom>
          <a:noFill/>
          <a:ln/>
        </p:spPr>
        <p:txBody>
          <a:bodyPr wrap="square" lIns="0" tIns="0" rIns="0" bIns="0" rtlCol="0" anchor="ctr"/>
          <a:lstStyle/>
          <a:p>
            <a:pPr marL="0" indent="0">
              <a:buNone/>
            </a:pPr>
            <a:r>
              <a:rPr lang="en-US" sz="1150" dirty="0">
                <a:solidFill>
                  <a:srgbClr val="2A4247"/>
                </a:solidFill>
                <a:latin typeface="Calibri" pitchFamily="34" charset="0"/>
                <a:ea typeface="Calibri" pitchFamily="34" charset="-122"/>
                <a:cs typeface="Calibri" pitchFamily="34" charset="-120"/>
              </a:rPr>
              <a:t>estimated cost</a:t>
            </a:r>
            <a:endParaRPr lang="en-US" sz="1150" dirty="0"/>
          </a:p>
        </p:txBody>
      </p:sp>
      <p:sp>
        <p:nvSpPr>
          <p:cNvPr id="21" name="Text 18"/>
          <p:cNvSpPr/>
          <p:nvPr/>
        </p:nvSpPr>
        <p:spPr>
          <a:xfrm>
            <a:off x="7223760" y="4434840"/>
            <a:ext cx="1280160" cy="384048"/>
          </a:xfrm>
          <a:prstGeom prst="rect">
            <a:avLst/>
          </a:prstGeom>
          <a:noFill/>
          <a:ln/>
        </p:spPr>
        <p:txBody>
          <a:bodyPr wrap="square" lIns="0" tIns="0" rIns="0" bIns="0" rtlCol="0" anchor="ctr"/>
          <a:lstStyle/>
          <a:p>
            <a:pPr marL="0" indent="0">
              <a:buNone/>
            </a:pPr>
            <a:r>
              <a:rPr lang="en-US" sz="1700" b="1" dirty="0">
                <a:solidFill>
                  <a:srgbClr val="0D4A54"/>
                </a:solidFill>
                <a:latin typeface="Cambria" pitchFamily="34" charset="0"/>
                <a:ea typeface="Cambria" pitchFamily="34" charset="-122"/>
                <a:cs typeface="Cambria" pitchFamily="34" charset="-120"/>
              </a:rPr>
              <a:t>−71.6%</a:t>
            </a:r>
            <a:endParaRPr lang="en-US" sz="1700" dirty="0"/>
          </a:p>
        </p:txBody>
      </p:sp>
      <p:sp>
        <p:nvSpPr>
          <p:cNvPr id="22" name="Text 19"/>
          <p:cNvSpPr/>
          <p:nvPr/>
        </p:nvSpPr>
        <p:spPr>
          <a:xfrm>
            <a:off x="8613648" y="4434840"/>
            <a:ext cx="2636215" cy="384048"/>
          </a:xfrm>
          <a:prstGeom prst="rect">
            <a:avLst/>
          </a:prstGeom>
          <a:noFill/>
          <a:ln/>
        </p:spPr>
        <p:txBody>
          <a:bodyPr wrap="square" lIns="0" tIns="0" rIns="0" bIns="0" rtlCol="0" anchor="ctr"/>
          <a:lstStyle/>
          <a:p>
            <a:pPr marL="0" indent="0">
              <a:buNone/>
            </a:pPr>
            <a:r>
              <a:rPr lang="en-US" sz="1150" dirty="0">
                <a:solidFill>
                  <a:srgbClr val="2A4247"/>
                </a:solidFill>
                <a:latin typeface="Calibri" pitchFamily="34" charset="0"/>
                <a:ea typeface="Calibri" pitchFamily="34" charset="-122"/>
                <a:cs typeface="Calibri" pitchFamily="34" charset="-120"/>
              </a:rPr>
              <a:t>observed wall latency</a:t>
            </a:r>
            <a:endParaRPr lang="en-US" sz="1150" dirty="0"/>
          </a:p>
        </p:txBody>
      </p:sp>
      <p:sp>
        <p:nvSpPr>
          <p:cNvPr id="23" name="Text 20"/>
          <p:cNvSpPr/>
          <p:nvPr/>
        </p:nvSpPr>
        <p:spPr>
          <a:xfrm>
            <a:off x="7223760" y="5047488"/>
            <a:ext cx="4053535" cy="548640"/>
          </a:xfrm>
          <a:prstGeom prst="rect">
            <a:avLst/>
          </a:prstGeom>
          <a:noFill/>
          <a:ln/>
        </p:spPr>
        <p:txBody>
          <a:bodyPr wrap="square" lIns="0" tIns="0" rIns="0" bIns="0" rtlCol="0" anchor="ctr"/>
          <a:lstStyle/>
          <a:p>
            <a:pPr marL="0" indent="0">
              <a:lnSpc>
                <a:spcPct val="105000"/>
              </a:lnSpc>
              <a:buNone/>
            </a:pPr>
            <a:r>
              <a:rPr lang="en-US" sz="1050" i="1" dirty="0">
                <a:solidFill>
                  <a:srgbClr val="5F767A"/>
                </a:solidFill>
                <a:latin typeface="Calibri" pitchFamily="34" charset="0"/>
                <a:ea typeface="Calibri" pitchFamily="34" charset="-122"/>
                <a:cs typeface="Calibri" pitchFamily="34" charset="-120"/>
              </a:rPr>
              <a:t>The action was fixed before the test records were chosen — which makes this more informative than another retrospective arm.</a:t>
            </a:r>
            <a:endParaRPr lang="en-US" sz="1050" dirty="0"/>
          </a:p>
        </p:txBody>
      </p:sp>
      <p:sp>
        <p:nvSpPr>
          <p:cNvPr id="24" name="Shape 21"/>
          <p:cNvSpPr/>
          <p:nvPr/>
        </p:nvSpPr>
        <p:spPr>
          <a:xfrm>
            <a:off x="6949440" y="5175504"/>
            <a:ext cx="4602175" cy="822960"/>
          </a:xfrm>
          <a:prstGeom prst="roundRect">
            <a:avLst>
              <a:gd name="adj" fmla="val 5556"/>
            </a:avLst>
          </a:prstGeom>
          <a:solidFill>
            <a:srgbClr val="F7ECE7"/>
          </a:solidFill>
          <a:ln w="9525">
            <a:solidFill>
              <a:srgbClr val="EBD5CC"/>
            </a:solidFill>
            <a:prstDash val="solid"/>
          </a:ln>
        </p:spPr>
        <p:txBody>
          <a:bodyPr/>
          <a:lstStyle/>
          <a:p>
            <a:endParaRPr lang="en-US"/>
          </a:p>
        </p:txBody>
      </p:sp>
      <p:sp>
        <p:nvSpPr>
          <p:cNvPr id="25" name="Text 22"/>
          <p:cNvSpPr/>
          <p:nvPr/>
        </p:nvSpPr>
        <p:spPr>
          <a:xfrm>
            <a:off x="7205472" y="5266944"/>
            <a:ext cx="4090111" cy="640080"/>
          </a:xfrm>
          <a:prstGeom prst="rect">
            <a:avLst/>
          </a:prstGeom>
          <a:noFill/>
          <a:ln/>
        </p:spPr>
        <p:txBody>
          <a:bodyPr wrap="square" lIns="0" tIns="0" rIns="0" bIns="0" rtlCol="0" anchor="ctr"/>
          <a:lstStyle/>
          <a:p>
            <a:pPr marL="0" indent="0">
              <a:lnSpc>
                <a:spcPct val="106000"/>
              </a:lnSpc>
              <a:buNone/>
            </a:pPr>
            <a:r>
              <a:rPr lang="en-US" sz="1100" dirty="0">
                <a:solidFill>
                  <a:srgbClr val="5A3A2E"/>
                </a:solidFill>
                <a:latin typeface="Calibri" pitchFamily="34" charset="0"/>
                <a:ea typeface="Calibri" pitchFamily="34" charset="-122"/>
                <a:cs typeface="Calibri" pitchFamily="34" charset="-120"/>
              </a:rPr>
              <a:t>One family supplies both calibration and test, so this cannot distinguish selection from a static always-macro policy.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9FB2B5"/>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9FB2B5"/>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17798A"/>
                </a:solidFill>
                <a:latin typeface="Calibri" pitchFamily="34" charset="0"/>
                <a:ea typeface="Calibri" pitchFamily="34" charset="-122"/>
                <a:cs typeface="Calibri" pitchFamily="34" charset="-120"/>
              </a:rPr>
              <a:t>LIMITATIONS AND THREATS TO VALIDITY</a:t>
            </a:r>
            <a:endParaRPr lang="en-US" sz="1050" dirty="0"/>
          </a:p>
        </p:txBody>
      </p:sp>
      <p:sp>
        <p:nvSpPr>
          <p:cNvPr id="5" name="Text 3"/>
          <p:cNvSpPr/>
          <p:nvPr/>
        </p:nvSpPr>
        <p:spPr>
          <a:xfrm>
            <a:off x="640080" y="658368"/>
            <a:ext cx="10911535" cy="566928"/>
          </a:xfrm>
          <a:prstGeom prst="rect">
            <a:avLst/>
          </a:prstGeom>
          <a:noFill/>
          <a:ln/>
        </p:spPr>
        <p:txBody>
          <a:bodyPr wrap="square" lIns="0" tIns="0" rIns="0" bIns="0" rtlCol="0" anchor="t"/>
          <a:lstStyle/>
          <a:p>
            <a:pPr marL="0" indent="0">
              <a:buNone/>
            </a:pPr>
            <a:r>
              <a:rPr lang="en-US" sz="2600" b="1" dirty="0">
                <a:solidFill>
                  <a:srgbClr val="0D4A54"/>
                </a:solidFill>
                <a:latin typeface="Cambria" pitchFamily="34" charset="0"/>
                <a:ea typeface="Cambria" pitchFamily="34" charset="-122"/>
                <a:cs typeface="Cambria" pitchFamily="34" charset="-120"/>
              </a:rPr>
              <a:t>Five claims the evidence deliberately does not support</a:t>
            </a:r>
            <a:endParaRPr lang="en-US" sz="2600" dirty="0"/>
          </a:p>
        </p:txBody>
      </p:sp>
      <p:sp>
        <p:nvSpPr>
          <p:cNvPr id="6" name="Shape 4"/>
          <p:cNvSpPr/>
          <p:nvPr/>
        </p:nvSpPr>
        <p:spPr>
          <a:xfrm>
            <a:off x="640080" y="1389888"/>
            <a:ext cx="3466490" cy="1847088"/>
          </a:xfrm>
          <a:prstGeom prst="roundRect">
            <a:avLst>
              <a:gd name="adj" fmla="val 2475"/>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7" name="Shape 5"/>
          <p:cNvSpPr/>
          <p:nvPr/>
        </p:nvSpPr>
        <p:spPr>
          <a:xfrm>
            <a:off x="877824" y="1609344"/>
            <a:ext cx="329184" cy="329184"/>
          </a:xfrm>
          <a:prstGeom prst="ellipse">
            <a:avLst/>
          </a:prstGeom>
          <a:solidFill>
            <a:srgbClr val="AC4A2C"/>
          </a:solidFill>
          <a:ln w="6350">
            <a:solidFill>
              <a:srgbClr val="AC4A2C"/>
            </a:solidFill>
            <a:prstDash val="solid"/>
          </a:ln>
        </p:spPr>
        <p:txBody>
          <a:bodyPr/>
          <a:lstStyle/>
          <a:p>
            <a:endParaRPr lang="en-US"/>
          </a:p>
        </p:txBody>
      </p:sp>
      <p:sp>
        <p:nvSpPr>
          <p:cNvPr id="8" name="Text 6"/>
          <p:cNvSpPr/>
          <p:nvPr/>
        </p:nvSpPr>
        <p:spPr>
          <a:xfrm>
            <a:off x="877824" y="16093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1298448" y="1572768"/>
            <a:ext cx="2552090" cy="420624"/>
          </a:xfrm>
          <a:prstGeom prst="rect">
            <a:avLst/>
          </a:prstGeom>
          <a:noFill/>
          <a:ln/>
        </p:spPr>
        <p:txBody>
          <a:bodyPr wrap="square" lIns="0" tIns="0" rIns="0" bIns="0" rtlCol="0" anchor="ctr"/>
          <a:lstStyle/>
          <a:p>
            <a:pPr marL="0" indent="0">
              <a:lnSpc>
                <a:spcPct val="100000"/>
              </a:lnSpc>
              <a:buNone/>
            </a:pPr>
            <a:r>
              <a:rPr lang="en-US" sz="1250" b="1" dirty="0">
                <a:solidFill>
                  <a:srgbClr val="AC4A2C"/>
                </a:solidFill>
                <a:latin typeface="Cambria" pitchFamily="34" charset="0"/>
                <a:ea typeface="Cambria" pitchFamily="34" charset="-122"/>
                <a:cs typeface="Cambria" pitchFamily="34" charset="-120"/>
              </a:rPr>
              <a:t>The gate never discriminated</a:t>
            </a:r>
            <a:endParaRPr lang="en-US" sz="1250" dirty="0"/>
          </a:p>
        </p:txBody>
      </p:sp>
      <p:sp>
        <p:nvSpPr>
          <p:cNvPr id="10" name="Text 8"/>
          <p:cNvSpPr/>
          <p:nvPr/>
        </p:nvSpPr>
        <p:spPr>
          <a:xfrm>
            <a:off x="896112" y="2084832"/>
            <a:ext cx="2954426" cy="1371600"/>
          </a:xfrm>
          <a:prstGeom prst="rect">
            <a:avLst/>
          </a:prstGeom>
          <a:noFill/>
          <a:ln/>
        </p:spPr>
        <p:txBody>
          <a:bodyPr wrap="square" lIns="0" tIns="0" rIns="0" bIns="0" rtlCol="0" anchor="t"/>
          <a:lstStyle/>
          <a:p>
            <a:pPr marL="0" indent="0">
              <a:lnSpc>
                <a:spcPct val="106000"/>
              </a:lnSpc>
              <a:buNone/>
            </a:pPr>
            <a:r>
              <a:rPr lang="en-US" sz="1050" dirty="0">
                <a:solidFill>
                  <a:srgbClr val="4A3226"/>
                </a:solidFill>
                <a:latin typeface="Calibri" pitchFamily="34" charset="0"/>
                <a:ea typeface="Calibri" pitchFamily="34" charset="-122"/>
                <a:cs typeface="Calibri" pitchFamily="34" charset="-120"/>
              </a:rPr>
              <a:t>On the sealed artifact every threshold below 0.14 admits nothing and every threshold at or above it admits all 92, with zero violations throughout. The score was fitted with zero positive examples over eight observations, so it behaves as an all-or-none support test, not a risk–coverage frontier.</a:t>
            </a:r>
            <a:endParaRPr lang="en-US" sz="1050" dirty="0"/>
          </a:p>
        </p:txBody>
      </p:sp>
      <p:sp>
        <p:nvSpPr>
          <p:cNvPr id="11" name="Shape 9"/>
          <p:cNvSpPr/>
          <p:nvPr/>
        </p:nvSpPr>
        <p:spPr>
          <a:xfrm>
            <a:off x="4362602" y="1389888"/>
            <a:ext cx="3466490" cy="1847088"/>
          </a:xfrm>
          <a:prstGeom prst="roundRect">
            <a:avLst>
              <a:gd name="adj" fmla="val 2475"/>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2" name="Shape 10"/>
          <p:cNvSpPr/>
          <p:nvPr/>
        </p:nvSpPr>
        <p:spPr>
          <a:xfrm>
            <a:off x="4600346" y="1609344"/>
            <a:ext cx="329184" cy="329184"/>
          </a:xfrm>
          <a:prstGeom prst="ellipse">
            <a:avLst/>
          </a:prstGeom>
          <a:solidFill>
            <a:srgbClr val="AC4A2C"/>
          </a:solidFill>
          <a:ln w="6350">
            <a:solidFill>
              <a:srgbClr val="AC4A2C"/>
            </a:solidFill>
            <a:prstDash val="solid"/>
          </a:ln>
        </p:spPr>
        <p:txBody>
          <a:bodyPr/>
          <a:lstStyle/>
          <a:p>
            <a:endParaRPr lang="en-US"/>
          </a:p>
        </p:txBody>
      </p:sp>
      <p:sp>
        <p:nvSpPr>
          <p:cNvPr id="13" name="Text 11"/>
          <p:cNvSpPr/>
          <p:nvPr/>
        </p:nvSpPr>
        <p:spPr>
          <a:xfrm>
            <a:off x="4600346" y="16093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2"/>
          <p:cNvSpPr/>
          <p:nvPr/>
        </p:nvSpPr>
        <p:spPr>
          <a:xfrm>
            <a:off x="5020970" y="1572768"/>
            <a:ext cx="2552090" cy="420624"/>
          </a:xfrm>
          <a:prstGeom prst="rect">
            <a:avLst/>
          </a:prstGeom>
          <a:noFill/>
          <a:ln/>
        </p:spPr>
        <p:txBody>
          <a:bodyPr wrap="square" lIns="0" tIns="0" rIns="0" bIns="0" rtlCol="0" anchor="ctr"/>
          <a:lstStyle/>
          <a:p>
            <a:pPr marL="0" indent="0">
              <a:lnSpc>
                <a:spcPct val="100000"/>
              </a:lnSpc>
              <a:buNone/>
            </a:pPr>
            <a:r>
              <a:rPr lang="en-US" sz="1250" b="1" dirty="0">
                <a:solidFill>
                  <a:srgbClr val="AC4A2C"/>
                </a:solidFill>
                <a:latin typeface="Cambria" pitchFamily="34" charset="0"/>
                <a:ea typeface="Cambria" pitchFamily="34" charset="-122"/>
                <a:cs typeface="Cambria" pitchFamily="34" charset="-120"/>
              </a:rPr>
              <a:t>Not production safe</a:t>
            </a:r>
            <a:endParaRPr lang="en-US" sz="1250" dirty="0"/>
          </a:p>
        </p:txBody>
      </p:sp>
      <p:sp>
        <p:nvSpPr>
          <p:cNvPr id="15" name="Text 13"/>
          <p:cNvSpPr/>
          <p:nvPr/>
        </p:nvSpPr>
        <p:spPr>
          <a:xfrm>
            <a:off x="4618634" y="2084832"/>
            <a:ext cx="2954426" cy="1371600"/>
          </a:xfrm>
          <a:prstGeom prst="rect">
            <a:avLst/>
          </a:prstGeom>
          <a:noFill/>
          <a:ln/>
        </p:spPr>
        <p:txBody>
          <a:bodyPr wrap="square" lIns="0" tIns="0" rIns="0" bIns="0" rtlCol="0" anchor="t"/>
          <a:lstStyle/>
          <a:p>
            <a:pPr marL="0" indent="0">
              <a:lnSpc>
                <a:spcPct val="106000"/>
              </a:lnSpc>
              <a:buNone/>
            </a:pPr>
            <a:r>
              <a:rPr lang="en-US" sz="1050" dirty="0">
                <a:solidFill>
                  <a:srgbClr val="4A3226"/>
                </a:solidFill>
                <a:latin typeface="Calibri" pitchFamily="34" charset="0"/>
                <a:ea typeface="Calibri" pitchFamily="34" charset="-122"/>
                <a:cs typeface="Calibri" pitchFamily="34" charset="-120"/>
              </a:rPr>
              <a:t>No live GitHub service, no canary, no multi-domain test. The artifact was activated only under a lab-protocol flag. Registry immutability and signature verification were configured off in the reported run.</a:t>
            </a:r>
            <a:endParaRPr lang="en-US" sz="1050" dirty="0"/>
          </a:p>
        </p:txBody>
      </p:sp>
      <p:sp>
        <p:nvSpPr>
          <p:cNvPr id="16" name="Shape 14"/>
          <p:cNvSpPr/>
          <p:nvPr/>
        </p:nvSpPr>
        <p:spPr>
          <a:xfrm>
            <a:off x="8085125" y="1389888"/>
            <a:ext cx="3466490" cy="1847088"/>
          </a:xfrm>
          <a:prstGeom prst="roundRect">
            <a:avLst>
              <a:gd name="adj" fmla="val 2475"/>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17" name="Shape 15"/>
          <p:cNvSpPr/>
          <p:nvPr/>
        </p:nvSpPr>
        <p:spPr>
          <a:xfrm>
            <a:off x="8322869" y="1609344"/>
            <a:ext cx="329184" cy="329184"/>
          </a:xfrm>
          <a:prstGeom prst="ellipse">
            <a:avLst/>
          </a:prstGeom>
          <a:solidFill>
            <a:srgbClr val="AC4A2C"/>
          </a:solidFill>
          <a:ln w="6350">
            <a:solidFill>
              <a:srgbClr val="AC4A2C"/>
            </a:solidFill>
            <a:prstDash val="solid"/>
          </a:ln>
        </p:spPr>
        <p:txBody>
          <a:bodyPr/>
          <a:lstStyle/>
          <a:p>
            <a:endParaRPr lang="en-US"/>
          </a:p>
        </p:txBody>
      </p:sp>
      <p:sp>
        <p:nvSpPr>
          <p:cNvPr id="18" name="Text 16"/>
          <p:cNvSpPr/>
          <p:nvPr/>
        </p:nvSpPr>
        <p:spPr>
          <a:xfrm>
            <a:off x="8322869" y="160934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8743493" y="1572768"/>
            <a:ext cx="2552090" cy="420624"/>
          </a:xfrm>
          <a:prstGeom prst="rect">
            <a:avLst/>
          </a:prstGeom>
          <a:noFill/>
          <a:ln/>
        </p:spPr>
        <p:txBody>
          <a:bodyPr wrap="square" lIns="0" tIns="0" rIns="0" bIns="0" rtlCol="0" anchor="ctr"/>
          <a:lstStyle/>
          <a:p>
            <a:pPr marL="0" indent="0">
              <a:lnSpc>
                <a:spcPct val="100000"/>
              </a:lnSpc>
              <a:buNone/>
            </a:pPr>
            <a:r>
              <a:rPr lang="en-US" sz="1250" b="1" dirty="0">
                <a:solidFill>
                  <a:srgbClr val="AC4A2C"/>
                </a:solidFill>
                <a:latin typeface="Cambria" pitchFamily="34" charset="0"/>
                <a:ea typeface="Cambria" pitchFamily="34" charset="-122"/>
                <a:cs typeface="Cambria" pitchFamily="34" charset="-120"/>
              </a:rPr>
              <a:t>Compaction did not stabilize text</a:t>
            </a:r>
            <a:endParaRPr lang="en-US" sz="1250" dirty="0"/>
          </a:p>
        </p:txBody>
      </p:sp>
      <p:sp>
        <p:nvSpPr>
          <p:cNvPr id="20" name="Text 18"/>
          <p:cNvSpPr/>
          <p:nvPr/>
        </p:nvSpPr>
        <p:spPr>
          <a:xfrm>
            <a:off x="8341157" y="2084832"/>
            <a:ext cx="2954426" cy="1371600"/>
          </a:xfrm>
          <a:prstGeom prst="rect">
            <a:avLst/>
          </a:prstGeom>
          <a:noFill/>
          <a:ln/>
        </p:spPr>
        <p:txBody>
          <a:bodyPr wrap="square" lIns="0" tIns="0" rIns="0" bIns="0" rtlCol="0" anchor="t"/>
          <a:lstStyle/>
          <a:p>
            <a:pPr marL="0" indent="0">
              <a:lnSpc>
                <a:spcPct val="106000"/>
              </a:lnSpc>
              <a:buNone/>
            </a:pPr>
            <a:r>
              <a:rPr lang="en-US" sz="1050" dirty="0">
                <a:solidFill>
                  <a:srgbClr val="4A3226"/>
                </a:solidFill>
                <a:latin typeface="Calibri" pitchFamily="34" charset="0"/>
                <a:ea typeface="Calibri" pitchFamily="34" charset="-122"/>
                <a:cs typeface="Calibri" pitchFamily="34" charset="-120"/>
              </a:rPr>
              <a:t>Byte-exact answer agreement was 6/10 compiled versus 7/10 baseline on repeated issues. Structural determinism of the tool prefix improves by construction; free-form surface determinism does not.</a:t>
            </a:r>
            <a:endParaRPr lang="en-US" sz="1050" dirty="0"/>
          </a:p>
        </p:txBody>
      </p:sp>
      <p:sp>
        <p:nvSpPr>
          <p:cNvPr id="21" name="Shape 19"/>
          <p:cNvSpPr/>
          <p:nvPr/>
        </p:nvSpPr>
        <p:spPr>
          <a:xfrm>
            <a:off x="640080" y="3474720"/>
            <a:ext cx="3466490" cy="1847088"/>
          </a:xfrm>
          <a:prstGeom prst="roundRect">
            <a:avLst>
              <a:gd name="adj" fmla="val 2475"/>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22" name="Shape 20"/>
          <p:cNvSpPr/>
          <p:nvPr/>
        </p:nvSpPr>
        <p:spPr>
          <a:xfrm>
            <a:off x="877824" y="3694176"/>
            <a:ext cx="329184" cy="329184"/>
          </a:xfrm>
          <a:prstGeom prst="ellipse">
            <a:avLst/>
          </a:prstGeom>
          <a:solidFill>
            <a:srgbClr val="AC4A2C"/>
          </a:solidFill>
          <a:ln w="6350">
            <a:solidFill>
              <a:srgbClr val="AC4A2C"/>
            </a:solidFill>
            <a:prstDash val="solid"/>
          </a:ln>
        </p:spPr>
        <p:txBody>
          <a:bodyPr/>
          <a:lstStyle/>
          <a:p>
            <a:endParaRPr lang="en-US"/>
          </a:p>
        </p:txBody>
      </p:sp>
      <p:sp>
        <p:nvSpPr>
          <p:cNvPr id="23" name="Text 21"/>
          <p:cNvSpPr/>
          <p:nvPr/>
        </p:nvSpPr>
        <p:spPr>
          <a:xfrm>
            <a:off x="877824" y="369417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2"/>
          <p:cNvSpPr/>
          <p:nvPr/>
        </p:nvSpPr>
        <p:spPr>
          <a:xfrm>
            <a:off x="1298448" y="3657600"/>
            <a:ext cx="2552090" cy="420624"/>
          </a:xfrm>
          <a:prstGeom prst="rect">
            <a:avLst/>
          </a:prstGeom>
          <a:noFill/>
          <a:ln/>
        </p:spPr>
        <p:txBody>
          <a:bodyPr wrap="square" lIns="0" tIns="0" rIns="0" bIns="0" rtlCol="0" anchor="ctr"/>
          <a:lstStyle/>
          <a:p>
            <a:pPr marL="0" indent="0">
              <a:lnSpc>
                <a:spcPct val="100000"/>
              </a:lnSpc>
              <a:buNone/>
            </a:pPr>
            <a:r>
              <a:rPr lang="en-US" sz="1250" b="1" dirty="0">
                <a:solidFill>
                  <a:srgbClr val="AC4A2C"/>
                </a:solidFill>
                <a:latin typeface="Cambria" pitchFamily="34" charset="0"/>
                <a:ea typeface="Cambria" pitchFamily="34" charset="-122"/>
                <a:cs typeface="Cambria" pitchFamily="34" charset="-120"/>
              </a:rPr>
              <a:t>Removing turns can remove guardrails</a:t>
            </a:r>
            <a:endParaRPr lang="en-US" sz="1250" dirty="0"/>
          </a:p>
        </p:txBody>
      </p:sp>
      <p:sp>
        <p:nvSpPr>
          <p:cNvPr id="25" name="Text 23"/>
          <p:cNvSpPr/>
          <p:nvPr/>
        </p:nvSpPr>
        <p:spPr>
          <a:xfrm>
            <a:off x="896112" y="4169664"/>
            <a:ext cx="2954426" cy="1371600"/>
          </a:xfrm>
          <a:prstGeom prst="rect">
            <a:avLst/>
          </a:prstGeom>
          <a:noFill/>
          <a:ln/>
        </p:spPr>
        <p:txBody>
          <a:bodyPr wrap="square" lIns="0" tIns="0" rIns="0" bIns="0" rtlCol="0" anchor="t"/>
          <a:lstStyle/>
          <a:p>
            <a:pPr marL="0" indent="0">
              <a:lnSpc>
                <a:spcPct val="106000"/>
              </a:lnSpc>
              <a:buNone/>
            </a:pPr>
            <a:r>
              <a:rPr lang="en-US" sz="1050" dirty="0">
                <a:solidFill>
                  <a:srgbClr val="4A3226"/>
                </a:solidFill>
                <a:latin typeface="Calibri" pitchFamily="34" charset="0"/>
                <a:ea typeface="Calibri" pitchFamily="34" charset="-122"/>
                <a:cs typeface="Calibri" pitchFamily="34" charset="-120"/>
              </a:rPr>
              <a:t>Moderation, policy, and guardrail checks commonly run at model boundaries. A region deleting three of four boundaries risks deleting three of four evaluations — the effect catalog does not cover them, so the gap is untested rather than benign.</a:t>
            </a:r>
            <a:endParaRPr lang="en-US" sz="1050" dirty="0"/>
          </a:p>
        </p:txBody>
      </p:sp>
      <p:sp>
        <p:nvSpPr>
          <p:cNvPr id="26" name="Shape 24"/>
          <p:cNvSpPr/>
          <p:nvPr/>
        </p:nvSpPr>
        <p:spPr>
          <a:xfrm>
            <a:off x="4362602" y="3474720"/>
            <a:ext cx="3466490" cy="1847088"/>
          </a:xfrm>
          <a:prstGeom prst="roundRect">
            <a:avLst>
              <a:gd name="adj" fmla="val 2475"/>
            </a:avLst>
          </a:prstGeom>
          <a:solidFill>
            <a:srgbClr val="F7ECE7"/>
          </a:solidFill>
          <a:ln w="9525">
            <a:solidFill>
              <a:srgbClr val="EBD5CC"/>
            </a:solidFill>
            <a:prstDash val="solid"/>
          </a:ln>
          <a:effectLst>
            <a:outerShdw blurRad="114300" dist="17780" dir="5400000" algn="bl" rotWithShape="0">
              <a:srgbClr val="8FA9AE">
                <a:alpha val="16000"/>
              </a:srgbClr>
            </a:outerShdw>
          </a:effectLst>
        </p:spPr>
        <p:txBody>
          <a:bodyPr/>
          <a:lstStyle/>
          <a:p>
            <a:endParaRPr lang="en-US"/>
          </a:p>
        </p:txBody>
      </p:sp>
      <p:sp>
        <p:nvSpPr>
          <p:cNvPr id="27" name="Shape 25"/>
          <p:cNvSpPr/>
          <p:nvPr/>
        </p:nvSpPr>
        <p:spPr>
          <a:xfrm>
            <a:off x="4600346" y="3694176"/>
            <a:ext cx="329184" cy="329184"/>
          </a:xfrm>
          <a:prstGeom prst="ellipse">
            <a:avLst/>
          </a:prstGeom>
          <a:solidFill>
            <a:srgbClr val="AC4A2C"/>
          </a:solidFill>
          <a:ln w="6350">
            <a:solidFill>
              <a:srgbClr val="AC4A2C"/>
            </a:solidFill>
            <a:prstDash val="solid"/>
          </a:ln>
        </p:spPr>
        <p:txBody>
          <a:bodyPr/>
          <a:lstStyle/>
          <a:p>
            <a:endParaRPr lang="en-US"/>
          </a:p>
        </p:txBody>
      </p:sp>
      <p:sp>
        <p:nvSpPr>
          <p:cNvPr id="28" name="Text 26"/>
          <p:cNvSpPr/>
          <p:nvPr/>
        </p:nvSpPr>
        <p:spPr>
          <a:xfrm>
            <a:off x="4600346" y="3694176"/>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5020970" y="3657600"/>
            <a:ext cx="2552090" cy="420624"/>
          </a:xfrm>
          <a:prstGeom prst="rect">
            <a:avLst/>
          </a:prstGeom>
          <a:noFill/>
          <a:ln/>
        </p:spPr>
        <p:txBody>
          <a:bodyPr wrap="square" lIns="0" tIns="0" rIns="0" bIns="0" rtlCol="0" anchor="ctr"/>
          <a:lstStyle/>
          <a:p>
            <a:pPr marL="0" indent="0">
              <a:lnSpc>
                <a:spcPct val="100000"/>
              </a:lnSpc>
              <a:buNone/>
            </a:pPr>
            <a:r>
              <a:rPr lang="en-US" sz="1250" b="1" dirty="0">
                <a:solidFill>
                  <a:srgbClr val="AC4A2C"/>
                </a:solidFill>
                <a:latin typeface="Cambria" pitchFamily="34" charset="0"/>
                <a:ea typeface="Cambria" pitchFamily="34" charset="-122"/>
                <a:cs typeface="Cambria" pitchFamily="34" charset="-120"/>
              </a:rPr>
              <a:t>Latency is partly confounded</a:t>
            </a:r>
            <a:endParaRPr lang="en-US" sz="1250" dirty="0"/>
          </a:p>
        </p:txBody>
      </p:sp>
      <p:sp>
        <p:nvSpPr>
          <p:cNvPr id="30" name="Text 28"/>
          <p:cNvSpPr/>
          <p:nvPr/>
        </p:nvSpPr>
        <p:spPr>
          <a:xfrm>
            <a:off x="4618634" y="4169664"/>
            <a:ext cx="2954426" cy="1371600"/>
          </a:xfrm>
          <a:prstGeom prst="rect">
            <a:avLst/>
          </a:prstGeom>
          <a:noFill/>
          <a:ln/>
        </p:spPr>
        <p:txBody>
          <a:bodyPr wrap="square" lIns="0" tIns="0" rIns="0" bIns="0" rtlCol="0" anchor="t"/>
          <a:lstStyle/>
          <a:p>
            <a:pPr marL="0" indent="0">
              <a:lnSpc>
                <a:spcPct val="106000"/>
              </a:lnSpc>
              <a:buNone/>
            </a:pPr>
            <a:r>
              <a:rPr lang="en-US" sz="1050" dirty="0">
                <a:solidFill>
                  <a:srgbClr val="4A3226"/>
                </a:solidFill>
                <a:latin typeface="Calibri" pitchFamily="34" charset="0"/>
                <a:ea typeface="Calibri" pitchFamily="34" charset="-122"/>
                <a:cs typeface="Calibri" pitchFamily="34" charset="-120"/>
              </a:rPr>
              <a:t>The fixed-prefix harness ran the whole baseline batch before the whole compiled batch. Request-count reduction is structural and unaffected, but the −85.0% wall-latency figure should be read as an observation under that ordering.</a:t>
            </a:r>
            <a:endParaRPr lang="en-US" sz="1050" dirty="0"/>
          </a:p>
        </p:txBody>
      </p:sp>
      <p:sp>
        <p:nvSpPr>
          <p:cNvPr id="31" name="Shape 29"/>
          <p:cNvSpPr/>
          <p:nvPr/>
        </p:nvSpPr>
        <p:spPr>
          <a:xfrm>
            <a:off x="8085125" y="3474720"/>
            <a:ext cx="3466490" cy="1847088"/>
          </a:xfrm>
          <a:prstGeom prst="roundRect">
            <a:avLst>
              <a:gd name="adj" fmla="val 2475"/>
            </a:avLst>
          </a:prstGeom>
          <a:solidFill>
            <a:srgbClr val="EAF3F5"/>
          </a:solidFill>
          <a:ln w="9525">
            <a:solidFill>
              <a:srgbClr val="D3E3E6"/>
            </a:solidFill>
            <a:prstDash val="solid"/>
          </a:ln>
          <a:effectLst>
            <a:outerShdw blurRad="114300" dist="17780" dir="5400000" algn="bl" rotWithShape="0">
              <a:srgbClr val="8FA9AE">
                <a:alpha val="16000"/>
              </a:srgbClr>
            </a:outerShdw>
          </a:effectLst>
        </p:spPr>
        <p:txBody>
          <a:bodyPr/>
          <a:lstStyle/>
          <a:p>
            <a:endParaRPr lang="en-US"/>
          </a:p>
        </p:txBody>
      </p:sp>
      <p:sp>
        <p:nvSpPr>
          <p:cNvPr id="32" name="Text 30"/>
          <p:cNvSpPr/>
          <p:nvPr/>
        </p:nvSpPr>
        <p:spPr>
          <a:xfrm>
            <a:off x="8341157" y="3639312"/>
            <a:ext cx="2954426" cy="292608"/>
          </a:xfrm>
          <a:prstGeom prst="rect">
            <a:avLst/>
          </a:prstGeom>
          <a:noFill/>
          <a:ln/>
        </p:spPr>
        <p:txBody>
          <a:bodyPr wrap="square" lIns="0" tIns="0" rIns="0" bIns="0" rtlCol="0" anchor="t"/>
          <a:lstStyle/>
          <a:p>
            <a:pPr marL="0" indent="0">
              <a:buNone/>
            </a:pPr>
            <a:r>
              <a:rPr lang="en-US" sz="1250" b="1" dirty="0">
                <a:solidFill>
                  <a:srgbClr val="0D4A54"/>
                </a:solidFill>
                <a:latin typeface="Cambria" pitchFamily="34" charset="0"/>
                <a:ea typeface="Cambria" pitchFamily="34" charset="-122"/>
                <a:cs typeface="Cambria" pitchFamily="34" charset="-120"/>
              </a:rPr>
              <a:t>Also worth knowing</a:t>
            </a:r>
            <a:endParaRPr lang="en-US" sz="1250" dirty="0"/>
          </a:p>
        </p:txBody>
      </p:sp>
      <p:sp>
        <p:nvSpPr>
          <p:cNvPr id="33" name="Text 31"/>
          <p:cNvSpPr/>
          <p:nvPr/>
        </p:nvSpPr>
        <p:spPr>
          <a:xfrm>
            <a:off x="8359445" y="3986784"/>
            <a:ext cx="2917850" cy="1280160"/>
          </a:xfrm>
          <a:prstGeom prst="rect">
            <a:avLst/>
          </a:prstGeom>
          <a:noFill/>
          <a:ln/>
        </p:spPr>
        <p:txBody>
          <a:bodyPr wrap="square" lIns="0" tIns="0" rIns="0" bIns="0" rtlCol="0" anchor="t"/>
          <a:lstStyle/>
          <a:p>
            <a:pPr marL="342900" indent="-342900">
              <a:lnSpc>
                <a:spcPct val="106000"/>
              </a:lnSpc>
              <a:spcAft>
                <a:spcPts val="300"/>
              </a:spcAft>
              <a:buSzPct val="100000"/>
              <a:buChar char="•"/>
            </a:pPr>
            <a:r>
              <a:rPr lang="en-US" sz="950" dirty="0">
                <a:solidFill>
                  <a:srgbClr val="2A4247"/>
                </a:solidFill>
                <a:latin typeface="Calibri" pitchFamily="34" charset="0"/>
                <a:ea typeface="Calibri" pitchFamily="34" charset="-122"/>
                <a:cs typeface="Calibri" pitchFamily="34" charset="-120"/>
              </a:rPr>
              <a:t>No perturbation challenge ran on the live artifact — no sandbox</a:t>
            </a:r>
            <a:endParaRPr lang="en-US" sz="950" dirty="0"/>
          </a:p>
          <a:p>
            <a:pPr marL="342900" indent="-342900">
              <a:lnSpc>
                <a:spcPct val="106000"/>
              </a:lnSpc>
              <a:spcAft>
                <a:spcPts val="300"/>
              </a:spcAft>
              <a:buSzPct val="100000"/>
              <a:buChar char="•"/>
            </a:pPr>
            <a:r>
              <a:rPr lang="en-US" sz="950" dirty="0">
                <a:solidFill>
                  <a:srgbClr val="2A4247"/>
                </a:solidFill>
                <a:latin typeface="Calibri" pitchFamily="34" charset="0"/>
                <a:ea typeface="Calibri" pitchFamily="34" charset="-122"/>
                <a:cs typeface="Calibri" pitchFamily="34" charset="-120"/>
              </a:rPr>
              <a:t>Discovery is not free: 132 episodes cost 528 requests, 533,293 tokens</a:t>
            </a:r>
            <a:endParaRPr lang="en-US" sz="950" dirty="0"/>
          </a:p>
          <a:p>
            <a:pPr marL="342900" indent="-342900">
              <a:lnSpc>
                <a:spcPct val="106000"/>
              </a:lnSpc>
              <a:spcAft>
                <a:spcPts val="300"/>
              </a:spcAft>
              <a:buSzPct val="100000"/>
              <a:buChar char="•"/>
            </a:pPr>
            <a:r>
              <a:rPr lang="en-US" sz="950" dirty="0">
                <a:solidFill>
                  <a:srgbClr val="2A4247"/>
                </a:solidFill>
                <a:latin typeface="Calibri" pitchFamily="34" charset="0"/>
                <a:ea typeface="Calibri" pitchFamily="34" charset="-122"/>
                <a:cs typeface="Calibri" pitchFamily="34" charset="-120"/>
              </a:rPr>
              <a:t>Break-even lands between 176 and 292 eligible future episodes</a:t>
            </a:r>
            <a:endParaRPr lang="en-US" sz="950" dirty="0"/>
          </a:p>
          <a:p>
            <a:pPr marL="342900" indent="-342900">
              <a:lnSpc>
                <a:spcPct val="106000"/>
              </a:lnSpc>
              <a:spcAft>
                <a:spcPts val="300"/>
              </a:spcAft>
              <a:buSzPct val="100000"/>
              <a:buChar char="•"/>
            </a:pPr>
            <a:r>
              <a:rPr lang="en-US" sz="950" dirty="0">
                <a:solidFill>
                  <a:srgbClr val="2A4247"/>
                </a:solidFill>
                <a:latin typeface="Calibri" pitchFamily="34" charset="0"/>
                <a:ea typeface="Calibri" pitchFamily="34" charset="-122"/>
                <a:cs typeface="Calibri" pitchFamily="34" charset="-120"/>
              </a:rPr>
              <a:t>Risk control is per-artifact, with no global guarantee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272C"/>
        </a:solidFill>
        <a:effectLst/>
      </p:bgPr>
    </p:bg>
    <p:spTree>
      <p:nvGrpSpPr>
        <p:cNvPr id="1" name=""/>
        <p:cNvGrpSpPr/>
        <p:nvPr/>
      </p:nvGrpSpPr>
      <p:grpSpPr>
        <a:xfrm>
          <a:off x="0" y="0"/>
          <a:ext cx="0" cy="0"/>
          <a:chOff x="0" y="0"/>
          <a:chExt cx="0" cy="0"/>
        </a:xfrm>
      </p:grpSpPr>
      <p:sp>
        <p:nvSpPr>
          <p:cNvPr id="2" name="Text 0"/>
          <p:cNvSpPr/>
          <p:nvPr/>
        </p:nvSpPr>
        <p:spPr>
          <a:xfrm>
            <a:off x="640080" y="6327648"/>
            <a:ext cx="4572000" cy="274320"/>
          </a:xfrm>
          <a:prstGeom prst="rect">
            <a:avLst/>
          </a:prstGeom>
          <a:noFill/>
          <a:ln/>
        </p:spPr>
        <p:txBody>
          <a:bodyPr wrap="square" lIns="0" tIns="0" rIns="0" bIns="0" rtlCol="0" anchor="ctr"/>
          <a:lstStyle/>
          <a:p>
            <a:pPr marL="0" indent="0">
              <a:buNone/>
            </a:pPr>
            <a:r>
              <a:rPr lang="en-US" sz="900" kern="0" spc="100" dirty="0">
                <a:solidFill>
                  <a:srgbClr val="4C6B70"/>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27648"/>
            <a:ext cx="914400" cy="274320"/>
          </a:xfrm>
          <a:prstGeom prst="rect">
            <a:avLst/>
          </a:prstGeom>
          <a:noFill/>
          <a:ln/>
        </p:spPr>
        <p:txBody>
          <a:bodyPr wrap="square" lIns="0" tIns="0" rIns="0" bIns="0" rtlCol="0" anchor="ctr"/>
          <a:lstStyle/>
          <a:p>
            <a:pPr marL="0" indent="0" algn="r">
              <a:buNone/>
            </a:pPr>
            <a:r>
              <a:rPr lang="en-US" sz="900" dirty="0">
                <a:solidFill>
                  <a:srgbClr val="4C6B70"/>
                </a:solidFill>
                <a:latin typeface="Calibri" pitchFamily="34" charset="0"/>
                <a:ea typeface="Calibri" pitchFamily="34" charset="-122"/>
                <a:cs typeface="Calibri" pitchFamily="34" charset="-120"/>
              </a:rPr>
              <a:t>21</a:t>
            </a:r>
            <a:endParaRPr lang="en-US" sz="900" dirty="0"/>
          </a:p>
        </p:txBody>
      </p:sp>
      <p:sp>
        <p:nvSpPr>
          <p:cNvPr id="4" name="Shape 2"/>
          <p:cNvSpPr/>
          <p:nvPr/>
        </p:nvSpPr>
        <p:spPr>
          <a:xfrm>
            <a:off x="11201400" y="4892040"/>
            <a:ext cx="4023360" cy="4023360"/>
          </a:xfrm>
          <a:prstGeom prst="ellipse">
            <a:avLst/>
          </a:prstGeom>
          <a:solidFill>
            <a:srgbClr val="0D4A54">
              <a:alpha val="55000"/>
            </a:srgbClr>
          </a:solidFill>
          <a:ln w="12700">
            <a:solidFill>
              <a:srgbClr val="0D4A54"/>
            </a:solidFill>
            <a:prstDash val="solid"/>
          </a:ln>
        </p:spPr>
        <p:txBody>
          <a:bodyPr/>
          <a:lstStyle/>
          <a:p>
            <a:endParaRPr lang="en-US"/>
          </a:p>
        </p:txBody>
      </p:sp>
      <p:sp>
        <p:nvSpPr>
          <p:cNvPr id="5" name="Shape 3"/>
          <p:cNvSpPr/>
          <p:nvPr/>
        </p:nvSpPr>
        <p:spPr>
          <a:xfrm>
            <a:off x="11932920" y="5623560"/>
            <a:ext cx="2011680" cy="2011680"/>
          </a:xfrm>
          <a:prstGeom prst="ellipse">
            <a:avLst/>
          </a:prstGeom>
          <a:solidFill>
            <a:srgbClr val="17798A">
              <a:alpha val="50000"/>
            </a:srgbClr>
          </a:solidFill>
          <a:ln w="12700">
            <a:solidFill>
              <a:srgbClr val="17798A"/>
            </a:solidFill>
            <a:prstDash val="solid"/>
          </a:ln>
        </p:spPr>
        <p:txBody>
          <a:bodyPr/>
          <a:lstStyle/>
          <a:p>
            <a:endParaRPr lang="en-US"/>
          </a:p>
        </p:txBody>
      </p:sp>
      <p:sp>
        <p:nvSpPr>
          <p:cNvPr id="6" name="Text 4"/>
          <p:cNvSpPr/>
          <p:nvPr/>
        </p:nvSpPr>
        <p:spPr>
          <a:xfrm>
            <a:off x="640080" y="384048"/>
            <a:ext cx="10911535" cy="237744"/>
          </a:xfrm>
          <a:prstGeom prst="rect">
            <a:avLst/>
          </a:prstGeom>
          <a:noFill/>
          <a:ln/>
        </p:spPr>
        <p:txBody>
          <a:bodyPr wrap="square" lIns="0" tIns="0" rIns="0" bIns="0" rtlCol="0" anchor="ctr"/>
          <a:lstStyle/>
          <a:p>
            <a:pPr marL="0" indent="0">
              <a:buNone/>
            </a:pPr>
            <a:r>
              <a:rPr lang="en-US" sz="1050" b="1" kern="0" spc="180" dirty="0">
                <a:solidFill>
                  <a:srgbClr val="4EA3B0"/>
                </a:solidFill>
                <a:latin typeface="Calibri" pitchFamily="34" charset="0"/>
                <a:ea typeface="Calibri" pitchFamily="34" charset="-122"/>
                <a:cs typeface="Calibri" pitchFamily="34" charset="-120"/>
              </a:rPr>
              <a:t>TAKEAWAYS</a:t>
            </a:r>
            <a:endParaRPr lang="en-US" sz="1050" dirty="0"/>
          </a:p>
        </p:txBody>
      </p:sp>
      <p:sp>
        <p:nvSpPr>
          <p:cNvPr id="7" name="Text 5"/>
          <p:cNvSpPr/>
          <p:nvPr/>
        </p:nvSpPr>
        <p:spPr>
          <a:xfrm>
            <a:off x="640080" y="658368"/>
            <a:ext cx="10332720" cy="822960"/>
          </a:xfrm>
          <a:prstGeom prst="rect">
            <a:avLst/>
          </a:prstGeom>
          <a:noFill/>
          <a:ln/>
        </p:spPr>
        <p:txBody>
          <a:bodyPr wrap="square" lIns="0" tIns="0" rIns="0" bIns="0" rtlCol="0" anchor="t"/>
          <a:lstStyle/>
          <a:p>
            <a:pPr marL="0" indent="0">
              <a:buNone/>
            </a:pPr>
            <a:r>
              <a:rPr lang="en-US" sz="2700" b="1" dirty="0">
                <a:solidFill>
                  <a:srgbClr val="FFFFFF"/>
                </a:solidFill>
                <a:latin typeface="Cambria" pitchFamily="34" charset="0"/>
                <a:ea typeface="Cambria" pitchFamily="34" charset="-122"/>
                <a:cs typeface="Cambria" pitchFamily="34" charset="-120"/>
              </a:rPr>
              <a:t>Judge an agent optimizer by what it refuses, not only by what it compresses</a:t>
            </a:r>
            <a:endParaRPr lang="en-US" sz="2700" dirty="0"/>
          </a:p>
        </p:txBody>
      </p:sp>
      <p:sp>
        <p:nvSpPr>
          <p:cNvPr id="8" name="Shape 6"/>
          <p:cNvSpPr/>
          <p:nvPr/>
        </p:nvSpPr>
        <p:spPr>
          <a:xfrm>
            <a:off x="640080" y="1965960"/>
            <a:ext cx="402336" cy="402336"/>
          </a:xfrm>
          <a:prstGeom prst="ellipse">
            <a:avLst/>
          </a:prstGeom>
          <a:solidFill>
            <a:srgbClr val="17798A"/>
          </a:solidFill>
          <a:ln w="6350">
            <a:solidFill>
              <a:srgbClr val="17798A"/>
            </a:solidFill>
            <a:prstDash val="solid"/>
          </a:ln>
        </p:spPr>
        <p:txBody>
          <a:bodyPr/>
          <a:lstStyle/>
          <a:p>
            <a:endParaRPr lang="en-US"/>
          </a:p>
        </p:txBody>
      </p:sp>
      <p:sp>
        <p:nvSpPr>
          <p:cNvPr id="9" name="Text 7"/>
          <p:cNvSpPr/>
          <p:nvPr/>
        </p:nvSpPr>
        <p:spPr>
          <a:xfrm>
            <a:off x="640080" y="19659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207008" y="1947672"/>
            <a:ext cx="4443984" cy="420624"/>
          </a:xfrm>
          <a:prstGeom prst="rect">
            <a:avLst/>
          </a:prstGeom>
          <a:noFill/>
          <a:ln/>
        </p:spPr>
        <p:txBody>
          <a:bodyPr wrap="square" lIns="0" tIns="0" rIns="0" bIns="0" rtlCol="0" anchor="ctr"/>
          <a:lstStyle/>
          <a:p>
            <a:pPr marL="0" indent="0">
              <a:lnSpc>
                <a:spcPct val="100000"/>
              </a:lnSpc>
              <a:buNone/>
            </a:pPr>
            <a:r>
              <a:rPr lang="en-US" sz="1500" b="1" dirty="0">
                <a:solidFill>
                  <a:srgbClr val="FFFFFF"/>
                </a:solidFill>
                <a:latin typeface="Cambria" pitchFamily="34" charset="0"/>
                <a:ea typeface="Cambria" pitchFamily="34" charset="-122"/>
                <a:cs typeface="Cambria" pitchFamily="34" charset="-120"/>
              </a:rPr>
              <a:t>The admission argument is the product</a:t>
            </a:r>
            <a:endParaRPr lang="en-US" sz="1500" dirty="0"/>
          </a:p>
        </p:txBody>
      </p:sp>
      <p:sp>
        <p:nvSpPr>
          <p:cNvPr id="11" name="Text 9"/>
          <p:cNvSpPr/>
          <p:nvPr/>
        </p:nvSpPr>
        <p:spPr>
          <a:xfrm>
            <a:off x="1207008" y="2441448"/>
            <a:ext cx="4352544" cy="1371600"/>
          </a:xfrm>
          <a:prstGeom prst="rect">
            <a:avLst/>
          </a:prstGeom>
          <a:noFill/>
          <a:ln/>
        </p:spPr>
        <p:txBody>
          <a:bodyPr wrap="square" lIns="0" tIns="0" rIns="0" bIns="0" rtlCol="0" anchor="t"/>
          <a:lstStyle/>
          <a:p>
            <a:pPr marL="0" indent="0">
              <a:lnSpc>
                <a:spcPct val="110000"/>
              </a:lnSpc>
              <a:buNone/>
            </a:pPr>
            <a:r>
              <a:rPr lang="en-US" sz="1150" dirty="0">
                <a:solidFill>
                  <a:srgbClr val="9CC7CE"/>
                </a:solidFill>
                <a:latin typeface="Calibri" pitchFamily="34" charset="0"/>
                <a:ea typeface="Calibri" pitchFamily="34" charset="-122"/>
                <a:cs typeface="Calibri" pitchFamily="34" charset="-120"/>
              </a:rPr>
              <a:t>Typed provenance, effect barriers, a position invariant, and an exact bound are what let you delete a model decision on purpose rather than by hope. Any optimizer we build should be able to explain its refusals.</a:t>
            </a:r>
            <a:endParaRPr lang="en-US" sz="1150" dirty="0"/>
          </a:p>
        </p:txBody>
      </p:sp>
      <p:sp>
        <p:nvSpPr>
          <p:cNvPr id="12" name="Shape 10"/>
          <p:cNvSpPr/>
          <p:nvPr/>
        </p:nvSpPr>
        <p:spPr>
          <a:xfrm>
            <a:off x="5961888" y="1965960"/>
            <a:ext cx="402336" cy="402336"/>
          </a:xfrm>
          <a:prstGeom prst="ellipse">
            <a:avLst/>
          </a:prstGeom>
          <a:solidFill>
            <a:srgbClr val="17798A"/>
          </a:solidFill>
          <a:ln w="6350">
            <a:solidFill>
              <a:srgbClr val="17798A"/>
            </a:solidFill>
            <a:prstDash val="solid"/>
          </a:ln>
        </p:spPr>
        <p:txBody>
          <a:bodyPr/>
          <a:lstStyle/>
          <a:p>
            <a:endParaRPr lang="en-US"/>
          </a:p>
        </p:txBody>
      </p:sp>
      <p:sp>
        <p:nvSpPr>
          <p:cNvPr id="13" name="Text 11"/>
          <p:cNvSpPr/>
          <p:nvPr/>
        </p:nvSpPr>
        <p:spPr>
          <a:xfrm>
            <a:off x="5961888" y="19659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6528816" y="1947672"/>
            <a:ext cx="4443984" cy="420624"/>
          </a:xfrm>
          <a:prstGeom prst="rect">
            <a:avLst/>
          </a:prstGeom>
          <a:noFill/>
          <a:ln/>
        </p:spPr>
        <p:txBody>
          <a:bodyPr wrap="square" lIns="0" tIns="0" rIns="0" bIns="0" rtlCol="0" anchor="ctr"/>
          <a:lstStyle/>
          <a:p>
            <a:pPr marL="0" indent="0">
              <a:lnSpc>
                <a:spcPct val="100000"/>
              </a:lnSpc>
              <a:buNone/>
            </a:pPr>
            <a:r>
              <a:rPr lang="en-US" sz="1500" b="1" dirty="0">
                <a:solidFill>
                  <a:srgbClr val="FFFFFF"/>
                </a:solidFill>
                <a:latin typeface="Cambria" pitchFamily="34" charset="0"/>
                <a:ea typeface="Cambria" pitchFamily="34" charset="-122"/>
                <a:cs typeface="Cambria" pitchFamily="34" charset="-120"/>
              </a:rPr>
              <a:t>Compile the choice, not the reads</a:t>
            </a:r>
            <a:endParaRPr lang="en-US" sz="1500" dirty="0"/>
          </a:p>
        </p:txBody>
      </p:sp>
      <p:sp>
        <p:nvSpPr>
          <p:cNvPr id="15" name="Text 13"/>
          <p:cNvSpPr/>
          <p:nvPr/>
        </p:nvSpPr>
        <p:spPr>
          <a:xfrm>
            <a:off x="6528816" y="2441448"/>
            <a:ext cx="4352544" cy="1371600"/>
          </a:xfrm>
          <a:prstGeom prst="rect">
            <a:avLst/>
          </a:prstGeom>
          <a:noFill/>
          <a:ln/>
        </p:spPr>
        <p:txBody>
          <a:bodyPr wrap="square" lIns="0" tIns="0" rIns="0" bIns="0" rtlCol="0" anchor="t"/>
          <a:lstStyle/>
          <a:p>
            <a:pPr marL="0" indent="0">
              <a:lnSpc>
                <a:spcPct val="110000"/>
              </a:lnSpc>
              <a:buNone/>
            </a:pPr>
            <a:r>
              <a:rPr lang="en-US" sz="1150" dirty="0">
                <a:solidFill>
                  <a:srgbClr val="9CC7CE"/>
                </a:solidFill>
                <a:latin typeface="Calibri" pitchFamily="34" charset="0"/>
                <a:ea typeface="Calibri" pitchFamily="34" charset="-122"/>
                <a:cs typeface="Calibri" pitchFamily="34" charset="-120"/>
              </a:rPr>
              <a:t>Where a stable read set is known, a hand-written composite tool wins on tokens and dollars. Compilation earns its cost where which reads to make is itself the recurrent structure, or where the region branches.</a:t>
            </a:r>
            <a:endParaRPr lang="en-US" sz="1150" dirty="0"/>
          </a:p>
        </p:txBody>
      </p:sp>
      <p:sp>
        <p:nvSpPr>
          <p:cNvPr id="16" name="Shape 14"/>
          <p:cNvSpPr/>
          <p:nvPr/>
        </p:nvSpPr>
        <p:spPr>
          <a:xfrm>
            <a:off x="640080" y="3977640"/>
            <a:ext cx="402336" cy="402336"/>
          </a:xfrm>
          <a:prstGeom prst="ellipse">
            <a:avLst/>
          </a:prstGeom>
          <a:solidFill>
            <a:srgbClr val="17798A"/>
          </a:solidFill>
          <a:ln w="6350">
            <a:solidFill>
              <a:srgbClr val="17798A"/>
            </a:solidFill>
            <a:prstDash val="solid"/>
          </a:ln>
        </p:spPr>
        <p:txBody>
          <a:bodyPr/>
          <a:lstStyle/>
          <a:p>
            <a:endParaRPr lang="en-US"/>
          </a:p>
        </p:txBody>
      </p:sp>
      <p:sp>
        <p:nvSpPr>
          <p:cNvPr id="17" name="Text 15"/>
          <p:cNvSpPr/>
          <p:nvPr/>
        </p:nvSpPr>
        <p:spPr>
          <a:xfrm>
            <a:off x="640080" y="397764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207008" y="3959352"/>
            <a:ext cx="4443984" cy="420624"/>
          </a:xfrm>
          <a:prstGeom prst="rect">
            <a:avLst/>
          </a:prstGeom>
          <a:noFill/>
          <a:ln/>
        </p:spPr>
        <p:txBody>
          <a:bodyPr wrap="square" lIns="0" tIns="0" rIns="0" bIns="0" rtlCol="0" anchor="ctr"/>
          <a:lstStyle/>
          <a:p>
            <a:pPr marL="0" indent="0">
              <a:lnSpc>
                <a:spcPct val="100000"/>
              </a:lnSpc>
              <a:buNone/>
            </a:pPr>
            <a:r>
              <a:rPr lang="en-US" sz="1500" b="1" dirty="0">
                <a:solidFill>
                  <a:srgbClr val="FFFFFF"/>
                </a:solidFill>
                <a:latin typeface="Cambria" pitchFamily="34" charset="0"/>
                <a:ea typeface="Cambria" pitchFamily="34" charset="-122"/>
                <a:cs typeface="Cambria" pitchFamily="34" charset="-120"/>
              </a:rPr>
              <a:t>Price the cache, not the tokens</a:t>
            </a:r>
            <a:endParaRPr lang="en-US" sz="1500" dirty="0"/>
          </a:p>
        </p:txBody>
      </p:sp>
      <p:sp>
        <p:nvSpPr>
          <p:cNvPr id="19" name="Text 17"/>
          <p:cNvSpPr/>
          <p:nvPr/>
        </p:nvSpPr>
        <p:spPr>
          <a:xfrm>
            <a:off x="1207008" y="4453128"/>
            <a:ext cx="4352544" cy="1371600"/>
          </a:xfrm>
          <a:prstGeom prst="rect">
            <a:avLst/>
          </a:prstGeom>
          <a:noFill/>
          <a:ln/>
        </p:spPr>
        <p:txBody>
          <a:bodyPr wrap="square" lIns="0" tIns="0" rIns="0" bIns="0" rtlCol="0" anchor="t"/>
          <a:lstStyle/>
          <a:p>
            <a:pPr marL="0" indent="0">
              <a:lnSpc>
                <a:spcPct val="110000"/>
              </a:lnSpc>
              <a:buNone/>
            </a:pPr>
            <a:r>
              <a:rPr lang="en-US" sz="1150" dirty="0">
                <a:solidFill>
                  <a:srgbClr val="9CC7CE"/>
                </a:solidFill>
                <a:latin typeface="Calibri" pitchFamily="34" charset="0"/>
                <a:ea typeface="Calibri" pitchFamily="34" charset="-122"/>
                <a:cs typeface="Calibri" pitchFamily="34" charset="-120"/>
              </a:rPr>
              <a:t>Removing turns fragments prompt-cache prefixes. A −16.8% token change billed +123%. Any internal savings model that counts only tokens and calls will mis-rank its own options.</a:t>
            </a:r>
            <a:endParaRPr lang="en-US" sz="1150" dirty="0"/>
          </a:p>
        </p:txBody>
      </p:sp>
      <p:sp>
        <p:nvSpPr>
          <p:cNvPr id="20" name="Shape 18"/>
          <p:cNvSpPr/>
          <p:nvPr/>
        </p:nvSpPr>
        <p:spPr>
          <a:xfrm>
            <a:off x="5961888" y="3977640"/>
            <a:ext cx="402336" cy="402336"/>
          </a:xfrm>
          <a:prstGeom prst="ellipse">
            <a:avLst/>
          </a:prstGeom>
          <a:solidFill>
            <a:srgbClr val="17798A"/>
          </a:solidFill>
          <a:ln w="6350">
            <a:solidFill>
              <a:srgbClr val="17798A"/>
            </a:solidFill>
            <a:prstDash val="solid"/>
          </a:ln>
        </p:spPr>
        <p:txBody>
          <a:bodyPr/>
          <a:lstStyle/>
          <a:p>
            <a:endParaRPr lang="en-US"/>
          </a:p>
        </p:txBody>
      </p:sp>
      <p:sp>
        <p:nvSpPr>
          <p:cNvPr id="21" name="Text 19"/>
          <p:cNvSpPr/>
          <p:nvPr/>
        </p:nvSpPr>
        <p:spPr>
          <a:xfrm>
            <a:off x="5961888" y="397764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528816" y="3959352"/>
            <a:ext cx="4443984" cy="420624"/>
          </a:xfrm>
          <a:prstGeom prst="rect">
            <a:avLst/>
          </a:prstGeom>
          <a:noFill/>
          <a:ln/>
        </p:spPr>
        <p:txBody>
          <a:bodyPr wrap="square" lIns="0" tIns="0" rIns="0" bIns="0" rtlCol="0" anchor="ctr"/>
          <a:lstStyle/>
          <a:p>
            <a:pPr marL="0" indent="0">
              <a:lnSpc>
                <a:spcPct val="100000"/>
              </a:lnSpc>
              <a:buNone/>
            </a:pPr>
            <a:r>
              <a:rPr lang="en-US" sz="1500" b="1" dirty="0">
                <a:solidFill>
                  <a:srgbClr val="FFFFFF"/>
                </a:solidFill>
                <a:latin typeface="Cambria" pitchFamily="34" charset="0"/>
                <a:ea typeface="Cambria" pitchFamily="34" charset="-122"/>
                <a:cs typeface="Cambria" pitchFamily="34" charset="-120"/>
              </a:rPr>
              <a:t>Refusal needs a budget too</a:t>
            </a:r>
            <a:endParaRPr lang="en-US" sz="1500" dirty="0"/>
          </a:p>
        </p:txBody>
      </p:sp>
      <p:sp>
        <p:nvSpPr>
          <p:cNvPr id="23" name="Text 21"/>
          <p:cNvSpPr/>
          <p:nvPr/>
        </p:nvSpPr>
        <p:spPr>
          <a:xfrm>
            <a:off x="6528816" y="4453128"/>
            <a:ext cx="4352544" cy="1371600"/>
          </a:xfrm>
          <a:prstGeom prst="rect">
            <a:avLst/>
          </a:prstGeom>
          <a:noFill/>
          <a:ln/>
        </p:spPr>
        <p:txBody>
          <a:bodyPr wrap="square" lIns="0" tIns="0" rIns="0" bIns="0" rtlCol="0" anchor="t"/>
          <a:lstStyle/>
          <a:p>
            <a:pPr marL="0" indent="0">
              <a:lnSpc>
                <a:spcPct val="110000"/>
              </a:lnSpc>
              <a:buNone/>
            </a:pPr>
            <a:r>
              <a:rPr lang="en-US" sz="1150" dirty="0">
                <a:solidFill>
                  <a:srgbClr val="9CC7CE"/>
                </a:solidFill>
                <a:latin typeface="Calibri" pitchFamily="34" charset="0"/>
                <a:ea typeface="Calibri" pitchFamily="34" charset="-122"/>
                <a:cs typeface="Calibri" pitchFamily="34" charset="-120"/>
              </a:rPr>
              <a:t>The configured gate demanded 92 independent zero-violation groups and rejected every recurrent family in a 1,415-episode benchmark. Decide the risk and confidence budget deliberately — it sets how much data admission costs.</a:t>
            </a:r>
            <a:endParaRPr lang="en-US" sz="1150" dirty="0"/>
          </a:p>
        </p:txBody>
      </p:sp>
      <p:sp>
        <p:nvSpPr>
          <p:cNvPr id="24" name="Text 22"/>
          <p:cNvSpPr/>
          <p:nvPr/>
        </p:nvSpPr>
        <p:spPr>
          <a:xfrm>
            <a:off x="640080" y="5943600"/>
            <a:ext cx="10332720" cy="274320"/>
          </a:xfrm>
          <a:prstGeom prst="rect">
            <a:avLst/>
          </a:prstGeom>
          <a:noFill/>
          <a:ln/>
        </p:spPr>
        <p:txBody>
          <a:bodyPr wrap="square" lIns="0" tIns="0" rIns="0" bIns="0" rtlCol="0" anchor="ctr"/>
          <a:lstStyle/>
          <a:p>
            <a:pPr marL="0" indent="0">
              <a:buNone/>
            </a:pPr>
            <a:r>
              <a:rPr lang="en-US" sz="1000" dirty="0">
                <a:solidFill>
                  <a:srgbClr val="4C6B70"/>
                </a:solidFill>
                <a:latin typeface="Calibri" pitchFamily="34" charset="0"/>
                <a:ea typeface="Calibri" pitchFamily="34" charset="-122"/>
                <a:cs typeface="Calibri" pitchFamily="34" charset="-120"/>
              </a:rPr>
              <a:t>Compiling Recurrent Agent Workflows into Guarded Programs  ·  artifact includes pinned data snapshots, raw results, and an adversarial self-review</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4807</Words>
  <Application>Microsoft Macintosh PowerPoint</Application>
  <PresentationFormat>Widescreen</PresentationFormat>
  <Paragraphs>515</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Compiling Recurrent Agent Workflows into Guarded Programs</dc:title>
  <dc:subject>PptxGenJS Presentation</dc:subject>
  <dc:creator>JazzX AI</dc:creator>
  <cp:lastModifiedBy>Reza Rahimi</cp:lastModifiedBy>
  <cp:revision>1</cp:revision>
  <dcterms:created xsi:type="dcterms:W3CDTF">2026-08-04T22:05:53Z</dcterms:created>
  <dcterms:modified xsi:type="dcterms:W3CDTF">2026-08-04T23:27:04Z</dcterms:modified>
</cp:coreProperties>
</file>