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Default Extension="xlsx" ContentType="application/vnd.openxmlformats-officedocument.spreadsheetml.sheet"/>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Masters/theme/theme2.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&#65279;<?xml version="1.0" encoding="utf-8"?><Relationships xmlns="http://schemas.openxmlformats.org/package/2006/relationships"><Relationship Type="http://schemas.openxmlformats.org/package/2006/relationships/metadata/core-properties" Target="/docProps/core.xml" Id="Rb5fba717a89a4a8d" /><Relationship Type="http://schemas.openxmlformats.org/officeDocument/2006/relationships/extended-properties" Target="/docProps/app.xml" Id="Rec0a11a0f7d2476a" /><Relationship Type="http://schemas.openxmlformats.org/officeDocument/2006/relationships/officeDocument" Target="/ppt/presentation.xml" Id="R8fb890e8d14a4dc4" /></Relationships>
</file>

<file path=ppt/presentation.xml><?xml version="1.0" encoding="utf-8"?>
<p:presentation xmlns:p="http://schemas.openxmlformats.org/presentationml/2006/main">
  <p:sldMasterIdLst>
    <p:sldMasterId xmlns:r="http://schemas.openxmlformats.org/officeDocument/2006/relationships" id="2147483648" r:id="R3b91fed2d1a84883"/>
  </p:sldMasterIdLst>
  <p:notesMasterIdLst>
    <p:notesMasterId xmlns:r="http://schemas.openxmlformats.org/officeDocument/2006/relationships" r:id="Rd9d1863c62fe4132"/>
  </p:notesMasterIdLst>
  <p:sldIdLst>
    <p:sldId xmlns:r="http://schemas.openxmlformats.org/officeDocument/2006/relationships" id="256" r:id="Rgacsld01"/>
    <p:sldId xmlns:r="http://schemas.openxmlformats.org/officeDocument/2006/relationships" id="257" r:id="Rgacsld02"/>
    <p:sldId xmlns:r="http://schemas.openxmlformats.org/officeDocument/2006/relationships" id="258" r:id="Rgacsld03"/>
    <p:sldId xmlns:r="http://schemas.openxmlformats.org/officeDocument/2006/relationships" id="259" r:id="Rgacsld04"/>
    <p:sldId xmlns:r="http://schemas.openxmlformats.org/officeDocument/2006/relationships" id="260" r:id="Rgacsld05"/>
    <p:sldId xmlns:r="http://schemas.openxmlformats.org/officeDocument/2006/relationships" id="261" r:id="Rgacsld06"/>
    <p:sldId xmlns:r="http://schemas.openxmlformats.org/officeDocument/2006/relationships" id="262" r:id="Rgacsld07"/>
    <p:sldId xmlns:r="http://schemas.openxmlformats.org/officeDocument/2006/relationships" id="263" r:id="Rgacsld08"/>
    <p:sldId xmlns:r="http://schemas.openxmlformats.org/officeDocument/2006/relationships" id="264" r:id="Rgacsld09"/>
    <p:sldId xmlns:r="http://schemas.openxmlformats.org/officeDocument/2006/relationships" id="265" r:id="Rgacsld10"/>
    <p:sldId xmlns:r="http://schemas.openxmlformats.org/officeDocument/2006/relationships" id="266" r:id="Rgacsld11"/>
    <p:sldId xmlns:r="http://schemas.openxmlformats.org/officeDocument/2006/relationships" id="267" r:id="Rgacsld12"/>
    <p:sldId xmlns:r="http://schemas.openxmlformats.org/officeDocument/2006/relationships" id="268" r:id="Rgacsld13"/>
    <p:sldId xmlns:r="http://schemas.openxmlformats.org/officeDocument/2006/relationships" id="269" r:id="Rgacsld14"/>
    <p:sldId xmlns:r="http://schemas.openxmlformats.org/officeDocument/2006/relationships" id="270" r:id="Rgacsld15"/>
    <p:sldId xmlns:r="http://schemas.openxmlformats.org/officeDocument/2006/relationships" id="271" r:id="Rgacsld16"/>
    <p:sldId xmlns:r="http://schemas.openxmlformats.org/officeDocument/2006/relationships" id="272" r:id="Rgacsld17"/>
    <p:sldId xmlns:r="http://schemas.openxmlformats.org/officeDocument/2006/relationships" id="273" r:id="Rgacsld18"/>
    <p:sldId xmlns:r="http://schemas.openxmlformats.org/officeDocument/2006/relationships" id="274" r:id="Rgacsld19"/>
    <p:sldId xmlns:r="http://schemas.openxmlformats.org/officeDocument/2006/relationships" id="275" r:id="Rgacsld20"/>
    <p:sldId xmlns:r="http://schemas.openxmlformats.org/officeDocument/2006/relationships" id="276" r:id="Rgacsld21"/>
    <p:sldId xmlns:r="http://schemas.openxmlformats.org/officeDocument/2006/relationships" id="277" r:id="Rgacsld22"/>
    <p:sldId xmlns:r="http://schemas.openxmlformats.org/officeDocument/2006/relationships" id="278" r:id="Rgacsld23"/>
    <p:sldId xmlns:r="http://schemas.openxmlformats.org/officeDocument/2006/relationships" id="279" r:id="Rgacsld24"/>
    <p:sldId xmlns:r="http://schemas.openxmlformats.org/officeDocument/2006/relationships" id="280" r:id="Rgacsld25"/>
    <p:sldId xmlns:r="http://schemas.openxmlformats.org/officeDocument/2006/relationships" id="281" r:id="Rgacsld2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xml version="1.0" encoding="utf-8"?><Relationships xmlns="http://schemas.openxmlformats.org/package/2006/relationships"><Relationship Type="http://schemas.openxmlformats.org/officeDocument/2006/relationships/slideMaster" Target="/ppt/slideMasters/slideMaster1.xml" Id="R3b91fed2d1a84883" /><Relationship Type="http://schemas.openxmlformats.org/officeDocument/2006/relationships/theme" Target="/ppt/theme/theme1.xml" Id="Reab66932fb834c57" /><Relationship Type="http://schemas.openxmlformats.org/officeDocument/2006/relationships/notesMaster" Target="/ppt/notesMasters/notesMaster1.xml" Id="Rd9d1863c62fe4132" /><Relationship Type="http://schemas.openxmlformats.org/officeDocument/2006/relationships/presProps" Target="/ppt/presProps.xml" Id="R85ad0cc843bf4635" /><Relationship Type="http://schemas.openxmlformats.org/officeDocument/2006/relationships/viewProps" Target="/ppt/viewProps.xml" Id="R8877b10e550e4942" /><Relationship Type="http://schemas.openxmlformats.org/officeDocument/2006/relationships/tableStyles" Target="/ppt/tableStyles.xml" Id="Re9cfb3c2803b4b4a" /><Relationship Type="http://schemas.openxmlformats.org/officeDocument/2006/relationships/slide" Target="/ppt/slides/slide1.xml" Id="Rgacsld01" /><Relationship Type="http://schemas.openxmlformats.org/officeDocument/2006/relationships/slide" Target="/ppt/slides/slide2.xml" Id="Rgacsld02" /><Relationship Type="http://schemas.openxmlformats.org/officeDocument/2006/relationships/slide" Target="/ppt/slides/slide3.xml" Id="Rgacsld03" /><Relationship Type="http://schemas.openxmlformats.org/officeDocument/2006/relationships/slide" Target="/ppt/slides/slide4.xml" Id="Rgacsld04" /><Relationship Type="http://schemas.openxmlformats.org/officeDocument/2006/relationships/slide" Target="/ppt/slides/slide5.xml" Id="Rgacsld05" /><Relationship Type="http://schemas.openxmlformats.org/officeDocument/2006/relationships/slide" Target="/ppt/slides/slide6.xml" Id="Rgacsld06" /><Relationship Type="http://schemas.openxmlformats.org/officeDocument/2006/relationships/slide" Target="/ppt/slides/slide7.xml" Id="Rgacsld07" /><Relationship Type="http://schemas.openxmlformats.org/officeDocument/2006/relationships/slide" Target="/ppt/slides/slide8.xml" Id="Rgacsld08" /><Relationship Type="http://schemas.openxmlformats.org/officeDocument/2006/relationships/slide" Target="/ppt/slides/slide9.xml" Id="Rgacsld09" /><Relationship Type="http://schemas.openxmlformats.org/officeDocument/2006/relationships/slide" Target="/ppt/slides/slide10.xml" Id="Rgacsld10" /><Relationship Type="http://schemas.openxmlformats.org/officeDocument/2006/relationships/slide" Target="/ppt/slides/slide11.xml" Id="Rgacsld11" /><Relationship Type="http://schemas.openxmlformats.org/officeDocument/2006/relationships/slide" Target="/ppt/slides/slide12.xml" Id="Rgacsld12" /><Relationship Type="http://schemas.openxmlformats.org/officeDocument/2006/relationships/slide" Target="/ppt/slides/slide13.xml" Id="Rgacsld13" /><Relationship Type="http://schemas.openxmlformats.org/officeDocument/2006/relationships/slide" Target="/ppt/slides/slide14.xml" Id="Rgacsld14" /><Relationship Type="http://schemas.openxmlformats.org/officeDocument/2006/relationships/slide" Target="/ppt/slides/slide15.xml" Id="Rgacsld15" /><Relationship Type="http://schemas.openxmlformats.org/officeDocument/2006/relationships/slide" Target="/ppt/slides/slide16.xml" Id="Rgacsld16" /><Relationship Type="http://schemas.openxmlformats.org/officeDocument/2006/relationships/slide" Target="/ppt/slides/slide17.xml" Id="Rgacsld17" /><Relationship Type="http://schemas.openxmlformats.org/officeDocument/2006/relationships/slide" Target="/ppt/slides/slide18.xml" Id="Rgacsld18" /><Relationship Type="http://schemas.openxmlformats.org/officeDocument/2006/relationships/slide" Target="/ppt/slides/slide19.xml" Id="Rgacsld19" /><Relationship Type="http://schemas.openxmlformats.org/officeDocument/2006/relationships/slide" Target="/ppt/slides/slide20.xml" Id="Rgacsld20" /><Relationship Type="http://schemas.openxmlformats.org/officeDocument/2006/relationships/slide" Target="/ppt/slides/slide21.xml" Id="Rgacsld21" /><Relationship Type="http://schemas.openxmlformats.org/officeDocument/2006/relationships/slide" Target="/ppt/slides/slide22.xml" Id="Rgacsld22" /><Relationship Type="http://schemas.openxmlformats.org/officeDocument/2006/relationships/slide" Target="/ppt/slides/slide23.xml" Id="Rgacsld23" /><Relationship Type="http://schemas.openxmlformats.org/officeDocument/2006/relationships/slide" Target="/ppt/slides/slide24.xml" Id="Rgacsld24" /><Relationship Type="http://schemas.openxmlformats.org/officeDocument/2006/relationships/slide" Target="/ppt/slides/slide25.xml" Id="Rgacsld25" /><Relationship Type="http://schemas.openxmlformats.org/officeDocument/2006/relationships/slide" Target="/ppt/slides/slide26.xml" Id="Rgacsld26" /></Relationships>
</file>

<file path=ppt/charts/_rels/chart1.xml.rels><?xml version="1.0" encoding="utf-8"?><Relationships xmlns="http://schemas.openxmlformats.org/package/2006/relationships"><Relationship Type="http://schemas.openxmlformats.org/officeDocument/2006/relationships/package" Target="/ppt/embeddings/Microsoft_Excel_Worksheet1.xlsx" Id="rId1" /></Relationships>
</file>

<file path=ppt/charts/_rels/chart2.xml.rels><?xml version="1.0" encoding="utf-8"?><Relationships xmlns="http://schemas.openxmlformats.org/package/2006/relationships"><Relationship Type="http://schemas.openxmlformats.org/officeDocument/2006/relationships/package" Target="/ppt/embeddings/Microsoft_Excel_Worksheet2.xlsx" Id="rId1" /></Relationships>
</file>

<file path=ppt/charts/_rels/chart3.xml.rels><?xml version="1.0" encoding="utf-8"?><Relationships xmlns="http://schemas.openxmlformats.org/package/2006/relationships"><Relationship Type="http://schemas.openxmlformats.org/officeDocument/2006/relationships/package" Target="/ppt/embeddings/Microsoft_Excel_Worksheet3.xlsx" Id="rId1" /></Relationships>
</file>

<file path=ppt/charts/_rels/chart4.xml.rels><?xml version="1.0" encoding="utf-8"?><Relationships xmlns="http://schemas.openxmlformats.org/package/2006/relationships"><Relationship Type="http://schemas.openxmlformats.org/officeDocument/2006/relationships/package" Target="/ppt/embeddings/Microsoft_Excel_Worksheet4.xlsx" Id="rId1" /></Relationships>
</file>

<file path=ppt/charts/_rels/chart5.xml.rels><?xml version="1.0" encoding="utf-8"?><Relationships xmlns="http://schemas.openxmlformats.org/package/2006/relationships"><Relationship Type="http://schemas.openxmlformats.org/officeDocument/2006/relationships/package" Target="/ppt/embeddings/Microsoft_Excel_Worksheet5.xlsx" Id="rId1" /></Relationships>
</file>

<file path=ppt/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notesMasters/_rels/notesMaster1.xml.rels>&#65279;<?xml version="1.0" encoding="utf-8"?><Relationships xmlns="http://schemas.openxmlformats.org/package/2006/relationships"><Relationship Type="http://schemas.openxmlformats.org/officeDocument/2006/relationships/theme" Target="/ppt/notesMasters/theme/theme2.xml" Id="Rb0ab3f632ca045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Relationships xmlns="http://schemas.openxmlformats.org/package/2006/relationships"><Relationship Type="http://schemas.openxmlformats.org/officeDocument/2006/relationships/slide" Target="/ppt/slides/slide1.xml" Id="Rgacslide" /><Relationship Type="http://schemas.openxmlformats.org/officeDocument/2006/relationships/notesMaster" Target="/ppt/notesMasters/notesMaster1.xml" Id="Rgacnotesmaster" /></Relationships>
</file>

<file path=ppt/notesSlides/_rels/notesSlide2.xml.rels><?xml version="1.0" encoding="utf-8"?><Relationships xmlns="http://schemas.openxmlformats.org/package/2006/relationships"><Relationship Type="http://schemas.openxmlformats.org/officeDocument/2006/relationships/slide" Target="/ppt/slides/slide2.xml" Id="Rgacslide" /><Relationship Type="http://schemas.openxmlformats.org/officeDocument/2006/relationships/notesMaster" Target="/ppt/notesMasters/notesMaster1.xml" Id="Rgacnotesmaster" /></Relationships>
</file>

<file path=ppt/notesSlides/_rels/notesSlide3.xml.rels><?xml version="1.0" encoding="utf-8"?><Relationships xmlns="http://schemas.openxmlformats.org/package/2006/relationships"><Relationship Type="http://schemas.openxmlformats.org/officeDocument/2006/relationships/slide" Target="/ppt/slides/slide3.xml" Id="Rgacslide" /><Relationship Type="http://schemas.openxmlformats.org/officeDocument/2006/relationships/notesMaster" Target="/ppt/notesMasters/notesMaster1.xml" Id="Rgacnotesmaster" /></Relationships>
</file>

<file path=ppt/notesSlides/_rels/notesSlide4.xml.rels><?xml version="1.0" encoding="utf-8"?><Relationships xmlns="http://schemas.openxmlformats.org/package/2006/relationships"><Relationship Type="http://schemas.openxmlformats.org/officeDocument/2006/relationships/slide" Target="/ppt/slides/slide4.xml" Id="Rgacslide" /><Relationship Type="http://schemas.openxmlformats.org/officeDocument/2006/relationships/notesMaster" Target="/ppt/notesMasters/notesMaster1.xml" Id="Rgacnotesmaster" /></Relationships>
</file>

<file path=ppt/notesSlides/_rels/notesSlide5.xml.rels><?xml version="1.0" encoding="utf-8"?><Relationships xmlns="http://schemas.openxmlformats.org/package/2006/relationships"><Relationship Type="http://schemas.openxmlformats.org/officeDocument/2006/relationships/slide" Target="/ppt/slides/slide5.xml" Id="Rgacslide" /><Relationship Type="http://schemas.openxmlformats.org/officeDocument/2006/relationships/notesMaster" Target="/ppt/notesMasters/notesMaster1.xml" Id="Rgacnotesmaster" /></Relationships>
</file>

<file path=ppt/notesSlides/_rels/notesSlide6.xml.rels><?xml version="1.0" encoding="utf-8"?><Relationships xmlns="http://schemas.openxmlformats.org/package/2006/relationships"><Relationship Type="http://schemas.openxmlformats.org/officeDocument/2006/relationships/slide" Target="/ppt/slides/slide6.xml" Id="Rgacslide" /><Relationship Type="http://schemas.openxmlformats.org/officeDocument/2006/relationships/notesMaster" Target="/ppt/notesMasters/notesMaster1.xml" Id="Rgacnotesmaster" /></Relationships>
</file>

<file path=ppt/notesSlides/_rels/notesSlide7.xml.rels><?xml version="1.0" encoding="utf-8"?><Relationships xmlns="http://schemas.openxmlformats.org/package/2006/relationships"><Relationship Type="http://schemas.openxmlformats.org/officeDocument/2006/relationships/slide" Target="/ppt/slides/slide7.xml" Id="Rgacslide" /><Relationship Type="http://schemas.openxmlformats.org/officeDocument/2006/relationships/notesMaster" Target="/ppt/notesMasters/notesMaster1.xml" Id="Rgacnotesmaster" /></Relationships>
</file>

<file path=ppt/notesSlides/_rels/notesSlide8.xml.rels><?xml version="1.0" encoding="utf-8"?><Relationships xmlns="http://schemas.openxmlformats.org/package/2006/relationships"><Relationship Type="http://schemas.openxmlformats.org/officeDocument/2006/relationships/slide" Target="/ppt/slides/slide8.xml" Id="Rgacslide" /><Relationship Type="http://schemas.openxmlformats.org/officeDocument/2006/relationships/notesMaster" Target="/ppt/notesMasters/notesMaster1.xml" Id="Rgacnotesmaster" /></Relationships>
</file>

<file path=ppt/notesSlides/_rels/notesSlide9.xml.rels><?xml version="1.0" encoding="utf-8"?><Relationships xmlns="http://schemas.openxmlformats.org/package/2006/relationships"><Relationship Type="http://schemas.openxmlformats.org/officeDocument/2006/relationships/slide" Target="/ppt/slides/slide9.xml" Id="Rgacslide" /><Relationship Type="http://schemas.openxmlformats.org/officeDocument/2006/relationships/notesMaster" Target="/ppt/notesMasters/notesMaster1.xml" Id="Rgacnotesmaster" /></Relationships>
</file>

<file path=ppt/notesSlides/_rels/notesSlide10.xml.rels><?xml version="1.0" encoding="utf-8"?><Relationships xmlns="http://schemas.openxmlformats.org/package/2006/relationships"><Relationship Type="http://schemas.openxmlformats.org/officeDocument/2006/relationships/slide" Target="/ppt/slides/slide10.xml" Id="Rgacslide" /><Relationship Type="http://schemas.openxmlformats.org/officeDocument/2006/relationships/notesMaster" Target="/ppt/notesMasters/notesMaster1.xml" Id="Rgacnotesmaster" /></Relationships>
</file>

<file path=ppt/notesSlides/_rels/notesSlide11.xml.rels><?xml version="1.0" encoding="utf-8"?><Relationships xmlns="http://schemas.openxmlformats.org/package/2006/relationships"><Relationship Type="http://schemas.openxmlformats.org/officeDocument/2006/relationships/slide" Target="/ppt/slides/slide11.xml" Id="Rgacslide" /><Relationship Type="http://schemas.openxmlformats.org/officeDocument/2006/relationships/notesMaster" Target="/ppt/notesMasters/notesMaster1.xml" Id="Rgacnotesmaster" /></Relationships>
</file>

<file path=ppt/notesSlides/_rels/notesSlide12.xml.rels><?xml version="1.0" encoding="utf-8"?><Relationships xmlns="http://schemas.openxmlformats.org/package/2006/relationships"><Relationship Type="http://schemas.openxmlformats.org/officeDocument/2006/relationships/slide" Target="/ppt/slides/slide12.xml" Id="Rgacslide" /><Relationship Type="http://schemas.openxmlformats.org/officeDocument/2006/relationships/notesMaster" Target="/ppt/notesMasters/notesMaster1.xml" Id="Rgacnotesmaster" /></Relationships>
</file>

<file path=ppt/notesSlides/_rels/notesSlide13.xml.rels><?xml version="1.0" encoding="utf-8"?><Relationships xmlns="http://schemas.openxmlformats.org/package/2006/relationships"><Relationship Type="http://schemas.openxmlformats.org/officeDocument/2006/relationships/slide" Target="/ppt/slides/slide13.xml" Id="Rgacslide" /><Relationship Type="http://schemas.openxmlformats.org/officeDocument/2006/relationships/notesMaster" Target="/ppt/notesMasters/notesMaster1.xml" Id="Rgacnotesmaster" /></Relationships>
</file>

<file path=ppt/notesSlides/_rels/notesSlide14.xml.rels><?xml version="1.0" encoding="utf-8"?><Relationships xmlns="http://schemas.openxmlformats.org/package/2006/relationships"><Relationship Type="http://schemas.openxmlformats.org/officeDocument/2006/relationships/slide" Target="/ppt/slides/slide14.xml" Id="Rgacslide" /><Relationship Type="http://schemas.openxmlformats.org/officeDocument/2006/relationships/notesMaster" Target="/ppt/notesMasters/notesMaster1.xml" Id="Rgacnotesmaster" /></Relationships>
</file>

<file path=ppt/notesSlides/_rels/notesSlide15.xml.rels><?xml version="1.0" encoding="utf-8"?><Relationships xmlns="http://schemas.openxmlformats.org/package/2006/relationships"><Relationship Type="http://schemas.openxmlformats.org/officeDocument/2006/relationships/slide" Target="/ppt/slides/slide15.xml" Id="Rgacslide" /><Relationship Type="http://schemas.openxmlformats.org/officeDocument/2006/relationships/notesMaster" Target="/ppt/notesMasters/notesMaster1.xml" Id="Rgacnotesmaster" /></Relationships>
</file>

<file path=ppt/notesSlides/_rels/notesSlide16.xml.rels><?xml version="1.0" encoding="utf-8"?><Relationships xmlns="http://schemas.openxmlformats.org/package/2006/relationships"><Relationship Type="http://schemas.openxmlformats.org/officeDocument/2006/relationships/slide" Target="/ppt/slides/slide16.xml" Id="Rgacslide" /><Relationship Type="http://schemas.openxmlformats.org/officeDocument/2006/relationships/notesMaster" Target="/ppt/notesMasters/notesMaster1.xml" Id="Rgacnotesmaster" /></Relationships>
</file>

<file path=ppt/notesSlides/_rels/notesSlide17.xml.rels><?xml version="1.0" encoding="utf-8"?><Relationships xmlns="http://schemas.openxmlformats.org/package/2006/relationships"><Relationship Type="http://schemas.openxmlformats.org/officeDocument/2006/relationships/slide" Target="/ppt/slides/slide17.xml" Id="Rgacslide" /><Relationship Type="http://schemas.openxmlformats.org/officeDocument/2006/relationships/notesMaster" Target="/ppt/notesMasters/notesMaster1.xml" Id="Rgacnotesmaster" /></Relationships>
</file>

<file path=ppt/notesSlides/_rels/notesSlide18.xml.rels><?xml version="1.0" encoding="utf-8"?><Relationships xmlns="http://schemas.openxmlformats.org/package/2006/relationships"><Relationship Type="http://schemas.openxmlformats.org/officeDocument/2006/relationships/slide" Target="/ppt/slides/slide18.xml" Id="Rgacslide" /><Relationship Type="http://schemas.openxmlformats.org/officeDocument/2006/relationships/notesMaster" Target="/ppt/notesMasters/notesMaster1.xml" Id="Rgacnotesmaster" /></Relationships>
</file>

<file path=ppt/notesSlides/_rels/notesSlide19.xml.rels><?xml version="1.0" encoding="utf-8"?><Relationships xmlns="http://schemas.openxmlformats.org/package/2006/relationships"><Relationship Type="http://schemas.openxmlformats.org/officeDocument/2006/relationships/slide" Target="/ppt/slides/slide19.xml" Id="Rgacslide" /><Relationship Type="http://schemas.openxmlformats.org/officeDocument/2006/relationships/notesMaster" Target="/ppt/notesMasters/notesMaster1.xml" Id="Rgacnotesmaster" /></Relationships>
</file>

<file path=ppt/notesSlides/_rels/notesSlide20.xml.rels><?xml version="1.0" encoding="utf-8"?><Relationships xmlns="http://schemas.openxmlformats.org/package/2006/relationships"><Relationship Type="http://schemas.openxmlformats.org/officeDocument/2006/relationships/slide" Target="/ppt/slides/slide20.xml" Id="Rgacslide" /><Relationship Type="http://schemas.openxmlformats.org/officeDocument/2006/relationships/notesMaster" Target="/ppt/notesMasters/notesMaster1.xml" Id="Rgacnotesmaster" /></Relationships>
</file>

<file path=ppt/notesSlides/_rels/notesSlide21.xml.rels><?xml version="1.0" encoding="utf-8"?><Relationships xmlns="http://schemas.openxmlformats.org/package/2006/relationships"><Relationship Type="http://schemas.openxmlformats.org/officeDocument/2006/relationships/slide" Target="/ppt/slides/slide21.xml" Id="Rgacslide" /><Relationship Type="http://schemas.openxmlformats.org/officeDocument/2006/relationships/notesMaster" Target="/ppt/notesMasters/notesMaster1.xml" Id="Rgacnotesmaster" /></Relationships>
</file>

<file path=ppt/notesSlides/_rels/notesSlide22.xml.rels><?xml version="1.0" encoding="utf-8"?><Relationships xmlns="http://schemas.openxmlformats.org/package/2006/relationships"><Relationship Type="http://schemas.openxmlformats.org/officeDocument/2006/relationships/slide" Target="/ppt/slides/slide22.xml" Id="Rgacslide" /><Relationship Type="http://schemas.openxmlformats.org/officeDocument/2006/relationships/notesMaster" Target="/ppt/notesMasters/notesMaster1.xml" Id="Rgacnotesmaster" /></Relationships>
</file>

<file path=ppt/notesSlides/_rels/notesSlide23.xml.rels><?xml version="1.0" encoding="utf-8"?><Relationships xmlns="http://schemas.openxmlformats.org/package/2006/relationships"><Relationship Type="http://schemas.openxmlformats.org/officeDocument/2006/relationships/slide" Target="/ppt/slides/slide23.xml" Id="Rgacslide" /><Relationship Type="http://schemas.openxmlformats.org/officeDocument/2006/relationships/notesMaster" Target="/ppt/notesMasters/notesMaster1.xml" Id="Rgacnotesmaster" /></Relationships>
</file>

<file path=ppt/notesSlides/_rels/notesSlide24.xml.rels><?xml version="1.0" encoding="utf-8"?><Relationships xmlns="http://schemas.openxmlformats.org/package/2006/relationships"><Relationship Type="http://schemas.openxmlformats.org/officeDocument/2006/relationships/slide" Target="/ppt/slides/slide24.xml" Id="Rgacslide" /><Relationship Type="http://schemas.openxmlformats.org/officeDocument/2006/relationships/notesMaster" Target="/ppt/notesMasters/notesMaster1.xml" Id="Rgacnotesmaster" /></Relationships>
</file>

<file path=ppt/notesSlides/_rels/notesSlide25.xml.rels><?xml version="1.0" encoding="utf-8"?><Relationships xmlns="http://schemas.openxmlformats.org/package/2006/relationships"><Relationship Type="http://schemas.openxmlformats.org/officeDocument/2006/relationships/slide" Target="/ppt/slides/slide25.xml" Id="Rgacslide" /><Relationship Type="http://schemas.openxmlformats.org/officeDocument/2006/relationships/notesMaster" Target="/ppt/notesMasters/notesMaster1.xml" Id="Rgacnotesmaster" /></Relationships>
</file>

<file path=ppt/notesSlides/_rels/notesSlide26.xml.rels><?xml version="1.0" encoding="utf-8"?><Relationships xmlns="http://schemas.openxmlformats.org/package/2006/relationships"><Relationship Type="http://schemas.openxmlformats.org/officeDocument/2006/relationships/slide" Target="/ppt/slides/slide26.xml" Id="Rgacslide" /><Relationship Type="http://schemas.openxmlformats.org/officeDocument/2006/relationships/notesMaster" Target="/ppt/notesMasters/notesMaster1.xml" Id="Rgacnotesmaster"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Everything before this slide is motivation; everything after it is the formal problem, stated narrowly enough to be refutable.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The method act. If a reviewer only remembers one thing from it, make it that every stage can return Retire with an attributed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From here on every number is paired with what it does not establish; that pairing is the point of the tier ordering.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c40cafd709489c"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9f63d9d27b6d4ec0" /><Relationship Type="http://schemas.openxmlformats.org/officeDocument/2006/relationships/slideLayout" Target="/ppt/slideLayouts/slideLayout2.xml" Id="Re9b9c0a98c2c455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b9c0a98c2c4553"/>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xml" Id="Rgacnotes" /></Relationships>
</file>

<file path=ppt/slides/_rels/slide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xml" Id="Rgacnotes" /></Relationships>
</file>

<file path=ppt/slides/_rels/slide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3.xml" Id="Rgacnotes" /></Relationships>
</file>

<file path=ppt/slides/_rels/slide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4.xml" Id="Rgacnotes" /></Relationships>
</file>

<file path=ppt/slides/_rels/slide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5.xml" Id="Rgacnotes" /></Relationships>
</file>

<file path=ppt/slides/_rels/slide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6.xml" Id="Rgacnotes" /></Relationships>
</file>

<file path=ppt/slides/_rels/slide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7.xml" Id="Rgacnotes" /></Relationships>
</file>

<file path=ppt/slides/_rels/slide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8.xml" Id="Rgacnotes" /></Relationships>
</file>

<file path=ppt/slides/_rels/slide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9.xml" Id="Rgacnotes" /></Relationships>
</file>

<file path=ppt/slides/_rels/slide1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0.xml" Id="Rgacnotes" /></Relationships>
</file>

<file path=ppt/slides/_rels/slide1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1.xml" Id="Rgacnotes" /></Relationships>
</file>

<file path=ppt/slides/_rels/slide1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2.xml" Id="Rgacnotes" /></Relationships>
</file>

<file path=ppt/slides/_rels/slide1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3.xml" Id="Rgacnotes" /></Relationships>
</file>

<file path=ppt/slides/_rels/slide1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4.xml" Id="Rgacnotes" /></Relationships>
</file>

<file path=ppt/slides/_rels/slide1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5.xml" Id="Rgacnotes" /></Relationships>
</file>

<file path=ppt/slides/_rels/slide1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6.xml" Id="Rgacnotes" /></Relationships>
</file>

<file path=ppt/slides/_rels/slide1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1.xml" Id="Ra5a344bc25c34004" /><Relationship Type="http://schemas.openxmlformats.org/officeDocument/2006/relationships/notesSlide" Target="/ppt/notesSlides/notesSlide17.xml" Id="Rgacnotes" /></Relationships>
</file>

<file path=ppt/slides/_rels/slide1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2.xml" Id="R4da551d5950f48b5" /><Relationship Type="http://schemas.openxmlformats.org/officeDocument/2006/relationships/notesSlide" Target="/ppt/notesSlides/notesSlide18.xml" Id="Rgacnotes" /></Relationships>
</file>

<file path=ppt/slides/_rels/slide1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3.xml" Id="Rb85f43d5fcbc4331" /><Relationship Type="http://schemas.openxmlformats.org/officeDocument/2006/relationships/notesSlide" Target="/ppt/notesSlides/notesSlide19.xml" Id="Rgacnotes" /></Relationships>
</file>

<file path=ppt/slides/_rels/slide2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0.xml" Id="Rgacnotes" /></Relationships>
</file>

<file path=ppt/slides/_rels/slide2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4.xml" Id="R2d8e65cbda95494b" /><Relationship Type="http://schemas.openxmlformats.org/officeDocument/2006/relationships/notesSlide" Target="/ppt/notesSlides/notesSlide21.xml" Id="Rgacnotes" /></Relationships>
</file>

<file path=ppt/slides/_rels/slide2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2.xml" Id="Rgacnotes" /></Relationships>
</file>

<file path=ppt/slides/_rels/slide2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3.xml" Id="Rgacnotes" /></Relationships>
</file>

<file path=ppt/slides/_rels/slide2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5.xml" Id="R51c0446875b84944" /><Relationship Type="http://schemas.openxmlformats.org/officeDocument/2006/relationships/notesSlide" Target="/ppt/notesSlides/notesSlide24.xml" Id="Rgacnotes" /></Relationships>
</file>

<file path=ppt/slides/_rels/slide2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5.xml" Id="Rgacnotes" /></Relationships>
</file>

<file path=ppt/slides/_rels/slide2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6.xml" Id="Rgacnotes" /></Relationships>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6750E6C-F6B4-4CAE-94C6-02C9BF4186BF}"/>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C7B56F2-88B9-4E37-95CD-8969BFB78A15}"/>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16B859BA-E41D-4730-814A-FD7477665BA5}"/>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2F01FC73-09EE-4519-8CC6-DABF71D3E6B7}"/>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220">
                <a:solidFill>
                  <a:srgbClr val="56B3BE"/>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D4CF04B9-FBB0-4B15-A16D-52F11A3302CE}"/>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nSpc>
                <a:spcPct val="100000"/>
              </a:lnSpc>
              <a:buNone/>
            </a:pPr>
            <a:r>
              <a:rPr sz="3300" b="1">
                <a:solidFill>
                  <a:srgbClr val="FFFFFF"/>
                </a:solidFill>
                <a:latin typeface="Cambria"/>
                <a:ea typeface="Cambria"/>
                <a:cs typeface="Cambria"/>
              </a:rPr>
              <a:t>Compile or Retire: Evidence-Gated Specialization of Recurrent Agent Workflows</a:t>
            </a:r>
          </a:p>
        </p:txBody>
      </p:sp>
      <p:sp>
        <p:nvSpPr>
          <p:cNvPr id="7" name="Text 5">
            <a:extLst xmlns:a="http://schemas.openxmlformats.org/drawingml/2006/main">
              <a:ext uri="{FF2B5EF4-FFF2-40B4-BE49-F238E27FC236}">
                <a16:creationId xmlns:a16="http://schemas.microsoft.com/office/drawing/2014/main" id="{1EED095E-F259-4853-9D66-D73FB93CF756}"/>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BD0D6"/>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A67C9C4F-1B0B-4A15-ADA1-D8405C8CCF1F}"/>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3</a:t>
            </a:r>
          </a:p>
        </p:txBody>
      </p:sp>
      <p:sp>
        <p:nvSpPr>
          <p:cNvPr id="9" name="Text 7">
            <a:extLst xmlns:a="http://schemas.openxmlformats.org/drawingml/2006/main">
              <a:ext uri="{FF2B5EF4-FFF2-40B4-BE49-F238E27FC236}">
                <a16:creationId xmlns:a16="http://schemas.microsoft.com/office/drawing/2014/main" id="{1E677262-6F85-4E00-9C74-4A9BA5FEB14B}"/>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real workflow families with distinct tools and graders</a:t>
            </a:r>
          </a:p>
        </p:txBody>
      </p:sp>
      <p:sp>
        <p:nvSpPr>
          <p:cNvPr id="10" name="Text 8">
            <a:extLst xmlns:a="http://schemas.openxmlformats.org/drawingml/2006/main">
              <a:ext uri="{FF2B5EF4-FFF2-40B4-BE49-F238E27FC236}">
                <a16:creationId xmlns:a16="http://schemas.microsoft.com/office/drawing/2014/main" id="{F04A7E66-F8A9-422D-A710-4AC9B7A59095}"/>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90</a:t>
            </a:r>
          </a:p>
        </p:txBody>
      </p:sp>
      <p:sp>
        <p:nvSpPr>
          <p:cNvPr id="11" name="Text 9">
            <a:extLst xmlns:a="http://schemas.openxmlformats.org/drawingml/2006/main">
              <a:ext uri="{FF2B5EF4-FFF2-40B4-BE49-F238E27FC236}">
                <a16:creationId xmlns:a16="http://schemas.microsoft.com/office/drawing/2014/main" id="{6180F627-61B1-47C7-9C41-6B5516B1AF98}"/>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075E0008-8F90-4D14-B898-DBE33E47A141}"/>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D53EEDE0-C715-4CA3-A4E8-EA18ED7EE1C0}"/>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0057148A-BA07-4081-94BD-5F08AA207235}"/>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3597C"/>
                </a:solidFill>
                <a:latin typeface="Calibri"/>
                <a:ea typeface="Calibri"/>
                <a:cs typeface="Calibri"/>
              </a:rPr>
              <a:t>Prepared for engineering leadership  ·  JazzX AI  ·  August 2026</a:t>
            </a:r>
          </a:p>
        </p:txBody>
      </p:sp>
      <p:sp>
        <p:nvSpPr>
          <p:cNvPr id="200" name="Shape 200"/>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Tree>
    <p:extLst>
      <p:ext uri="{BB962C8B-B14F-4D97-AF65-F5344CB8AC3E}">
        <p14:creationId xmlns:p14="http://schemas.microsoft.com/office/powerpoint/2010/main" val="9301577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26FD71-BFC8-418B-8222-DF3E8474CB2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2047920-9B9B-4B47-B6A5-73329EF85FC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D02F57F9-D850-45B9-B512-D45AD192DD9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THE SHORT VERSION  ·  §1</a:t>
            </a:r>
          </a:p>
        </p:txBody>
      </p:sp>
      <p:sp>
        <p:nvSpPr>
          <p:cNvPr id="5" name="Text 3">
            <a:extLst xmlns:a="http://schemas.openxmlformats.org/drawingml/2006/main">
              <a:ext uri="{FF2B5EF4-FFF2-40B4-BE49-F238E27FC236}">
                <a16:creationId xmlns:a16="http://schemas.microsoft.com/office/drawing/2014/main" id="{10A06F07-F43A-495C-BC85-68040181E21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not permission</a:t>
            </a:r>
          </a:p>
        </p:txBody>
      </p:sp>
      <p:sp>
        <p:nvSpPr>
          <p:cNvPr id="6" name="Shape 4">
            <a:extLst xmlns:a="http://schemas.openxmlformats.org/drawingml/2006/main">
              <a:ext uri="{FF2B5EF4-FFF2-40B4-BE49-F238E27FC236}">
                <a16:creationId xmlns:a16="http://schemas.microsoft.com/office/drawing/2014/main" id="{B93749DC-61C9-4F64-BF2C-AA7F7313090D}"/>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37EDE80C-A9C8-4486-9C92-703FF5997F64}"/>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E1E3A"/>
                </a:solidFill>
                <a:latin typeface="Calibri"/>
                <a:ea typeface="Calibri"/>
                <a:cs typeface="Calibri"/>
              </a:rPr>
              <a:t>GAC supplies the missing admission argument: </a:t>
            </a:r>
            <a:r>
              <a:rPr sz="1400" b="1">
                <a:solidFill>
                  <a:srgbClr val="0E1E3A"/>
                </a:solidFill>
                <a:latin typeface="Calibri"/>
                <a:ea typeface="Calibri"/>
                <a:cs typeface="Calibri"/>
              </a:rPr>
              <a:t>typed value provenance, effect barriers, empirical contracts, and a finite-sample risk gate. </a:t>
            </a:r>
            <a:r>
              <a:rPr sz="1400">
                <a:solidFill>
                  <a:srgbClr val="0E1E3A"/>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ED869A4F-E7C6-47B8-96CE-BB33E5D1CA25}"/>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F6BBA54-37EA-4542-A5A4-C1D359A37D46}"/>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0A0E90CD-47AB-4827-ACD6-33F502F7D5B0}"/>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400944EB-9C20-411E-BDE3-2E56E0D1E247}"/>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EAF5CC96-E9CC-47B5-81F0-D8F6872EAA72}"/>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849AD39A-D9B9-4DCE-90D0-FCBBB6078CC2}"/>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237E7CAA-8895-4C46-BC46-63EFC6D47D66}"/>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9AD2204-D665-4926-B35F-629C34840457}"/>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0571923C-13B7-4A40-92DE-0A29A2A9BD85}"/>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FB7D2C0B-3562-42F2-A5BB-8130295D5265}"/>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6779508A-CB52-47B7-8F26-E5C2CD4ED2D0}"/>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0DD61E05-2397-4C86-99D2-57E3B84403A3}"/>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9C0D797D-8533-4F55-8EAE-C6215E3CB104}"/>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11BF4789-8E32-4C91-A126-7710FDC4C3A6}"/>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efficiency win is real but narrow: partial GRC removes model turns, not source reads.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composition beats partial GRC; when both execute before request one, manual and GCS tie structurally at 6/6 exact quality.</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Bounded official GEPA retains its seed. The contribution is guarded automatic specialization—not runtime dominance.</a:t>
            </a:r>
          </a:p>
        </p:txBody>
      </p:sp>
    </p:spTree>
    <p:extLst>
      <p:ext uri="{BB962C8B-B14F-4D97-AF65-F5344CB8AC3E}">
        <p14:creationId xmlns:p14="http://schemas.microsoft.com/office/powerpoint/2010/main" val="1523212986"/>
      </p:ext>
    </p:extLst>
  </p:cSld>
</p:sld>
</file>

<file path=ppt/slides/slide3.xml><?xml version="1.0" encoding="utf-8"?>
<p:sld xmlns:a="http://schemas.openxmlformats.org/drawingml/2006/main" xmlns:r="http://schemas.openxmlformats.org/officeDocument/2006/relationships" xmlns:p="http://schemas.openxmlformats.org/presentationml/2006/main">
  <p:cSld name="Divider 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3</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Problem formulation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Where a mature agent spends model calls, why recurrence alone cannot license removing them, and the narrow question this paper answers.</a:t>
            </a:r>
            <a:endParaRPr lang="en-US" sz="1350" dirty="0"/>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AF3448-9D1C-4E9D-AB67-ADCBF5F402B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E20E276-3249-440B-BC74-15FC9878CF3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C1315068-D942-4884-9783-33F6965DFD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§1</a:t>
            </a:r>
          </a:p>
        </p:txBody>
      </p:sp>
      <p:sp>
        <p:nvSpPr>
          <p:cNvPr id="5" name="Text 3">
            <a:extLst xmlns:a="http://schemas.openxmlformats.org/drawingml/2006/main">
              <a:ext uri="{FF2B5EF4-FFF2-40B4-BE49-F238E27FC236}">
                <a16:creationId xmlns:a16="http://schemas.microsoft.com/office/drawing/2014/main" id="{EF311AB1-99E3-4E2A-818B-577CB6CF188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model calls, three already decided</a:t>
            </a:r>
          </a:p>
        </p:txBody>
      </p:sp>
      <p:sp>
        <p:nvSpPr>
          <p:cNvPr id="6" name="Text 4">
            <a:extLst xmlns:a="http://schemas.openxmlformats.org/drawingml/2006/main">
              <a:ext uri="{FF2B5EF4-FFF2-40B4-BE49-F238E27FC236}">
                <a16:creationId xmlns:a16="http://schemas.microsoft.com/office/drawing/2014/main" id="{8CAE1848-9CDE-47FB-A3D8-4388DE88A56F}"/>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41FC3521-B687-4388-B39D-A9AE554F9CF8}"/>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A2B8E3F-517F-4D38-8D15-F7A499C071DC}"/>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93B2B"/>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466D98B1-6BD7-4BDE-8D61-205547E80D92}"/>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123DF31E-2DE4-4069-A652-17A30589F237}"/>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0B55B38B-B243-4EF7-B48C-DF75833B190B}"/>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89684D3D-44E2-4367-A330-465764D2AAA5}"/>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BFDBFE6E-5996-45D6-917D-CB4A01F022F9}"/>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36C8723D-995C-4D66-9C72-650D73C49A70}"/>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1AF948D2-68EB-4969-B6AF-D08EBFC2DC2E}"/>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7E176299-BE96-4753-9138-FFA9AD82C3F4}"/>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2D8C9BCF-5806-4F72-9CCA-4459CB1DE984}"/>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79879027-D642-490C-B273-171185A2958E}"/>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78AF11A8-0C22-49B2-BA17-A47A6A10F258}"/>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973CCE7-EC98-46A2-88F4-53F425622079}"/>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6EA6FC77-C48C-4ADF-AB30-1E781EA826BF}"/>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3D475265-992B-4880-8851-52827B717AAF}"/>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344C64CC-3DF8-436E-BF45-DBC92051C5CC}"/>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D9B9F2EE-22EE-45E6-AC65-80CA7B881717}"/>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7A38B241-F8CF-48F8-9F4F-5197CC2F40CC}"/>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21A473E9-8676-439B-B601-54549B0BB78A}"/>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597953E1-77F2-4FF7-9B52-D4798CB75710}"/>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09A1686-2727-4ECC-98EC-376816AF571B}"/>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1BE58250-F177-46D3-98F8-22983012C696}"/>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8FF8428D-A347-4D23-8CEB-06755335AD9E}"/>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8BB25EAB-6788-4EE6-B8F5-776F0B74EADB}"/>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FA365978-7EA2-44FC-A698-9505D91539F0}"/>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228698B0-8811-4894-84D8-6B0DEE949A9A}"/>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4CDE18E5-A478-4FF1-930F-EFB3F77FE72C}"/>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6C859DAD-36BC-4CB0-9294-74C887620015}"/>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AE4AB8E7-3BBA-45FE-847C-BF9CD1CC26BF}"/>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278C9B5C-AEFB-4BFA-B9F6-651FA37DE1ED}"/>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DE92498A-A8B9-4854-8198-E8587FF1E4C0}"/>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871D6144-8062-4A85-975C-C49B50692102}"/>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F618B81E-175A-428D-906B-7122D30397D0}"/>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8A2B2EA9-7DD3-4FCE-85DD-9D799A001BA1}"/>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5ACDAC87-381E-4944-A4F2-E3F3A47D2F3D}"/>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887BEE60-8E8E-4173-ABDE-3716655E5F50}"/>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3F95B0EB-4842-49D4-8145-B411AD98C6EB}"/>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4B60C8F7-9933-4AF9-9959-8508C9E7832D}"/>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62D39816-AAE7-4443-945D-68255C28C834}"/>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35D7E541-2EE7-4294-880A-7861216D8994}"/>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8E308A33-451D-49C7-8769-1B1C8629F89D}"/>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per episode</a:t>
            </a:r>
          </a:p>
        </p:txBody>
      </p:sp>
    </p:spTree>
    <p:extLst>
      <p:ext uri="{BB962C8B-B14F-4D97-AF65-F5344CB8AC3E}">
        <p14:creationId xmlns:p14="http://schemas.microsoft.com/office/powerpoint/2010/main" val="18242580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297D43-1CF0-44D0-889A-2DF13C2C665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4B39850-040F-4598-8805-BAD39476F5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DDA50451-75D4-46FA-8217-6744CC2BF19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WHY THIS IS NOT CACHING  ·  §1 AND §2.1</a:t>
            </a:r>
          </a:p>
        </p:txBody>
      </p:sp>
      <p:sp>
        <p:nvSpPr>
          <p:cNvPr id="5" name="Text 3">
            <a:extLst xmlns:a="http://schemas.openxmlformats.org/drawingml/2006/main">
              <a:ext uri="{FF2B5EF4-FFF2-40B4-BE49-F238E27FC236}">
                <a16:creationId xmlns:a16="http://schemas.microsoft.com/office/drawing/2014/main" id="{69F4269C-E352-46AC-ADB6-E4D83F090E8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hazards a cache cannot see</a:t>
            </a:r>
          </a:p>
        </p:txBody>
      </p:sp>
      <p:sp>
        <p:nvSpPr>
          <p:cNvPr id="6" name="Shape 4">
            <a:extLst xmlns:a="http://schemas.openxmlformats.org/drawingml/2006/main">
              <a:ext uri="{FF2B5EF4-FFF2-40B4-BE49-F238E27FC236}">
                <a16:creationId xmlns:a16="http://schemas.microsoft.com/office/drawing/2014/main" id="{5DF89634-3920-424A-A5BE-2C234472F21A}"/>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DB9B9608-DCE4-4915-ABD0-608DFBD2CAC0}"/>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A627C36-E9E1-4324-9BE3-FF20C39C9DA2}"/>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A446BA60-7D7A-4C32-A353-469F6A9BDCD4}"/>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8EBFD511-7BD9-42B5-AE5B-813EB4D06BA1}"/>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B47241FF-3680-4451-8167-2E6A46290738}"/>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46552CB-9093-4FA1-9E91-B158B651193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FD858A4B-CBAB-4BD6-B0F2-74763C8DC9C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5424F725-DE35-4747-B63D-F7A90A9E328F}"/>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50A692D7-526F-46FF-9A36-772E5678DA24}"/>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027F0ECB-F669-4BBC-9500-B33534375091}"/>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FA4C99EC-1669-4216-B128-7F10CCEC2768}"/>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350BBEF-6DB6-433A-9A25-547CA0A6E8D1}"/>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EAA5369F-873F-4E18-BDA6-FE15337B390D}"/>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A2621029-0697-4CF9-A653-9C7E21AF1690}"/>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FC8C6891-88B7-44EE-A60B-C3E6645D2295}"/>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3763AAAE-CDDF-45AC-AD11-EFEE8C59BA0E}"/>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892C6B72-0DFF-4E08-BB29-EE5A229215E3}"/>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D6850297-D567-4B0D-8C19-6417650545BF}"/>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FA5227F1-E23C-44C8-B574-42FFF55E9A1E}"/>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85DCB299-E345-435E-804C-2C959B613903}"/>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F469D7E6-BEDC-4363-887F-D85E921B1ADC}"/>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E1E3A"/>
                </a:solidFill>
                <a:latin typeface="Calibri"/>
                <a:ea typeface="Calibri"/>
                <a:cs typeface="Calibri"/>
              </a:rPr>
              <a:t>Deleting a model decision is a semantic change, not a memoization. </a:t>
            </a:r>
            <a:r>
              <a:rPr sz="1350">
                <a:solidFill>
                  <a:srgbClr val="24354F"/>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14509263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09B0BD-1FE8-4BBB-8518-82E3F2C8A8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B15D4E6-C2CE-4E8D-9CCD-866B8245A9C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C1A78A9A-62BF-4B3F-A489-FDB9612014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SCOPE  ·  §1</a:t>
            </a:r>
          </a:p>
        </p:txBody>
      </p:sp>
      <p:sp>
        <p:nvSpPr>
          <p:cNvPr id="5" name="Text 3">
            <a:extLst xmlns:a="http://schemas.openxmlformats.org/drawingml/2006/main">
              <a:ext uri="{FF2B5EF4-FFF2-40B4-BE49-F238E27FC236}">
                <a16:creationId xmlns:a16="http://schemas.microsoft.com/office/drawing/2014/main" id="{2A3679D4-4079-4B0F-B1B3-DAD2DCD6946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7D11688D-2A61-45C9-B235-C3C98822DA99}"/>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FECA9F78-8787-40F2-985D-902C00912994}"/>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0F17ABBA-6E79-4ADA-94FE-098EAD14D8FF}"/>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C10D3983-FFE4-48F7-B2D8-C07D6092248A}"/>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453B2623-1325-4BE4-BA04-D0874F7FD68E}"/>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4B328642-EE35-4228-8329-0731C95FAA14}"/>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09C9AC5D-E27C-40A0-B939-80A0D57033A4}"/>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BCBB2472-68BB-40B2-ACF2-23E07EFE1246}"/>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239B3286-BE19-48BE-8B98-8359E73C135C}"/>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E7B6BBB-C002-4980-86DA-5A48B61C56E5}"/>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03E9CE70-AB8E-45D7-A30B-838C8DB9BD64}"/>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F3594B28-A8E5-4F0E-A3DE-2E9E92A278E3}"/>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Across distinct real-record workflows, do guarded programs preserve exact outcomes while reducing requests, tokens, latency, and cost?</a:t>
            </a:r>
          </a:p>
        </p:txBody>
      </p:sp>
      <p:sp>
        <p:nvSpPr>
          <p:cNvPr id="18" name="Shape 16">
            <a:extLst xmlns:a="http://schemas.openxmlformats.org/drawingml/2006/main">
              <a:ext uri="{FF2B5EF4-FFF2-40B4-BE49-F238E27FC236}">
                <a16:creationId xmlns:a16="http://schemas.microsoft.com/office/drawing/2014/main" id="{E235BF1B-1BC4-4088-B0A8-FF8F59119738}"/>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538DA5F5-8FDF-4E94-A5FE-E2CAD022272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BA8D03DD-DF07-4C7B-A9BD-76DFFCAD956D}"/>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BF30076E-6F6E-45DA-A88B-317B9046F5C5}"/>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DAB9A639-E4DE-4E11-8386-CDA7AB948BB4}"/>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E5F9C64E-F43F-4009-B479-6D5A787B7EE3}"/>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C3E00CA9-A120-4A62-8C13-93A0BCC21F1B}"/>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0E821177-2C37-4788-B75E-112D648B76A6}"/>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ED6EB215-416B-46BC-91EE-22CC2E8A608F}"/>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E3C7C3D3-8D74-4E8A-870F-F6ECB2BA03B8}"/>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878EB5B8-6CBD-4073-9EA5-F45047556AFB}"/>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D3EA1D38-D026-4F21-9D5C-21C3B7A14AC8}"/>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718A49BE-00B7-49F1-BE05-D0ED068B9C62}"/>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52CB9732-0964-49B6-92E6-0254F47D5391}"/>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3A150DD1-1261-4132-8972-0C23CAB73482}"/>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153891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8C0FEF8-D1B8-4C42-939D-532B5B22B16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3EE5956-0FC3-4154-81DA-9FBD8CA576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E087E221-6415-4253-A6E6-027820523C8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FORMULATION  ·  §2.1–2.2</a:t>
            </a:r>
          </a:p>
        </p:txBody>
      </p:sp>
      <p:sp>
        <p:nvSpPr>
          <p:cNvPr id="5" name="Text 3">
            <a:extLst xmlns:a="http://schemas.openxmlformats.org/drawingml/2006/main">
              <a:ext uri="{FF2B5EF4-FFF2-40B4-BE49-F238E27FC236}">
                <a16:creationId xmlns:a16="http://schemas.microsoft.com/office/drawing/2014/main" id="{0464B6C0-799D-4E41-A9F5-8EAF2639599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Guarded specialization, defined</a:t>
            </a:r>
          </a:p>
        </p:txBody>
      </p:sp>
      <p:sp>
        <p:nvSpPr>
          <p:cNvPr id="6" name="Shape 4">
            <a:extLst xmlns:a="http://schemas.openxmlformats.org/drawingml/2006/main">
              <a:ext uri="{FF2B5EF4-FFF2-40B4-BE49-F238E27FC236}">
                <a16:creationId xmlns:a16="http://schemas.microsoft.com/office/drawing/2014/main" id="{A4C81A5C-EB14-4C59-BDFF-59A5BEB71BC3}"/>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8E064556-D108-478E-A988-B02B47CFDCA9}"/>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libri"/>
                <a:ea typeface="Calibri"/>
                <a:cs typeface="Calibri"/>
              </a:rPr>
              <a:t>Compaction</a:t>
            </a:r>
            <a:r>
              <a:rPr sz="1350">
                <a:solidFill>
                  <a:srgbClr val="24354F"/>
                </a:solidFill>
                <a:latin typeface="Calibri"/>
                <a:ea typeface="Calibri"/>
                <a:cs typeface="Calibri"/>
              </a:rPr>
              <a:t> names the mechanism; </a:t>
            </a:r>
            <a:r>
              <a:rPr sz="1350" b="1">
                <a:solidFill>
                  <a:srgbClr val="0E1E3A"/>
                </a:solidFill>
                <a:latin typeface="Calibri"/>
                <a:ea typeface="Calibri"/>
                <a:cs typeface="Calibri"/>
              </a:rPr>
              <a:t>specialization</a:t>
            </a:r>
            <a:r>
              <a:rPr sz="1350">
                <a:solidFill>
                  <a:srgbClr val="24354F"/>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AF9CA97C-E51A-4CF8-8338-9C0D8BAA8F2F}"/>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0AAE3BAF-9379-4D95-BF32-A76B961961F4}"/>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22FDF28-5094-4679-907D-4C9BB953560E}"/>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8AD9A2F4-B406-42A5-990A-40A119D4AB40}"/>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3E53EF85-1D50-465A-B568-051149872115}"/>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4891C1C0-36C7-4EAE-904B-A99B613DF521}"/>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84621B2C-BCCF-4335-9539-A199C2EB99B9}"/>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6ADE7319-9E41-4BC7-B88B-E69B45869110}"/>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478DF980-D53A-4BF5-A380-06B9AD223928}"/>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71166619-5DAA-4E64-97B8-15A035D4E59B}"/>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046C01BA-216D-49FA-877C-3804D4FDEA4F}"/>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63810474"/>
      </p:ext>
    </p:extLst>
  </p:cSld>
</p:sld>
</file>

<file path=ppt/slides/slide8.xml><?xml version="1.0" encoding="utf-8"?>
<p:sld xmlns:a="http://schemas.openxmlformats.org/drawingml/2006/main" xmlns:r="http://schemas.openxmlformats.org/officeDocument/2006/relationships" xmlns:p="http://schemas.openxmlformats.org/presentationml/2006/main">
  <p:cSld name="Divider 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8</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Guarded agentic compaction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Capture offline, compile offline, dispatch at the entry boundary — six independent rejection points, with refusal as the default output.</a:t>
            </a:r>
            <a:endParaRPr lang="en-US" sz="1350" dirty="0"/>
          </a:p>
        </p:txBody>
      </p:sp>
    </p:spTree>
  </p:cSld>
  <p:clrMapOvr>
    <a:masterClrMapping/>
  </p:clrMapOvr>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9560BA-A71B-485F-96AA-5595BB194F9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78D33C4-2CC4-4B1A-870E-4ECFAF6698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50C50895-8D42-4AD5-B1C9-651AA1AB8C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ARCHITECTURE  ·  FIGURE 6</a:t>
            </a:r>
          </a:p>
        </p:txBody>
      </p:sp>
      <p:sp>
        <p:nvSpPr>
          <p:cNvPr id="5" name="Text 3">
            <a:extLst xmlns:a="http://schemas.openxmlformats.org/drawingml/2006/main">
              <a:ext uri="{FF2B5EF4-FFF2-40B4-BE49-F238E27FC236}">
                <a16:creationId xmlns:a16="http://schemas.microsoft.com/office/drawing/2014/main" id="{3A75CA1B-7555-4D12-A5FB-1096566EE7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Capture, compile, dispatch at the boundary</a:t>
            </a:r>
          </a:p>
        </p:txBody>
      </p:sp>
      <p:sp>
        <p:nvSpPr>
          <p:cNvPr id="6" name="Shape 4">
            <a:extLst xmlns:a="http://schemas.openxmlformats.org/drawingml/2006/main">
              <a:ext uri="{FF2B5EF4-FFF2-40B4-BE49-F238E27FC236}">
                <a16:creationId xmlns:a16="http://schemas.microsoft.com/office/drawing/2014/main" id="{F9EDFA8E-3EF2-422D-A3CC-79F751589FCF}"/>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F185BE63-37BA-4457-A7FD-2E65E3B92F12}"/>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BF2C7AE-B2EA-4C52-A5F6-0F5BFB3749EE}"/>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8863FA41-2228-49F2-82FA-6C432B00C67C}"/>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DCE1ECAF-B277-4B13-86A7-EC15D2CEB714}"/>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24F45FCA-A67C-40C0-A49B-49F974DE4250}"/>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11105A26-031A-4474-85FA-55D06B20A53D}"/>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D824D06B-01AE-419C-88BD-193C825A39F3}"/>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1EDAD91-95E1-4340-9398-7FD64873D88A}"/>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54BBC272-8332-4EA8-848C-F9EEB2BAAC0B}"/>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3B49FD57-76B8-40ED-9376-845B8B2861CD}"/>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F83AC3DC-AF6F-427A-9137-FAC69C3D1D5F}"/>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BA74D2B3-97C2-4F2B-88E3-063BF86E6064}"/>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EC30F02-BA5C-4D1C-8848-4FC595604E0B}"/>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68AA64E-9D9B-4F18-88B6-7594A00BC8EF}"/>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B96E0FDD-555C-44CA-A5C4-DFD58BAF1565}"/>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E2E8EB78-7FA9-4D78-B29D-0DC9010CB7A7}"/>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C534B174-3F71-47B0-B911-73ADD937E586}"/>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02EBB907-A2AF-4E0D-8ECD-3185FA5489AE}"/>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C5A0E429-E3B8-40A1-B1D4-A1FA090F3099}"/>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C4034"/>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27D17A88-538D-4396-9B4F-2FCC0219E2A1}"/>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A6B84"/>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6415848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463343-8411-454C-881F-37DBCF64BC3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65682CA-2F23-4FBB-A036-74127A7A92A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74F57113-9DBC-4AB2-8DF0-3C4E1B43B2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690E60D8-38F7-4991-9F53-8C844F0602D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Refusal is the default output</a:t>
            </a:r>
          </a:p>
        </p:txBody>
      </p:sp>
      <p:sp>
        <p:nvSpPr>
          <p:cNvPr id="6" name="Shape 4">
            <a:extLst xmlns:a="http://schemas.openxmlformats.org/drawingml/2006/main">
              <a:ext uri="{FF2B5EF4-FFF2-40B4-BE49-F238E27FC236}">
                <a16:creationId xmlns:a16="http://schemas.microsoft.com/office/drawing/2014/main" id="{A284CB2C-E49F-43FD-A7BB-32CA0437183B}"/>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E1B63E11-FB0B-43EC-AD0D-C20FD7DFE7B0}"/>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FB3DDE34-0025-42AF-B7E5-D27964B04360}"/>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61EC3B28-7F4E-4424-A04D-365CBA800AF1}"/>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E65B62C0-31CA-470B-BA12-D0794BC5EC10}"/>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03BC0861-BE17-4D1C-91D1-E2E6251A81A4}"/>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4BC03B7C-C34F-4402-9E2D-9FE7DE72269F}"/>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6D68B0C7-47D9-4D12-9F5B-32FB79657946}"/>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91749DFB-5AFC-449C-BC8E-5E2DCECB7C77}"/>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E9AA917-353D-4595-BC19-ABB5DCA99D01}"/>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1C22343C-D2D2-4BF5-A15F-7701FD7DA7C8}"/>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6B0B8D03-C1A4-4235-A884-68ADC9C1FA30}"/>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3A5C0387-8DA9-40BD-AB04-D7682AAEC534}"/>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7BA02E3-3E29-470B-BB16-0A6B357818EA}"/>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FAA24A45-D4F0-43BE-99A6-0DE4787CBEDC}"/>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24DEE01D-5C74-46A4-BAA5-120A95F8F2E6}"/>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CE268CF3-F9CA-41A2-B249-47A228FEF71C}"/>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0508C35F-4E93-47AA-8594-309C856230A9}"/>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593B583A-1C0C-45AA-B782-EAEDE7FB8926}"/>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7A81CA33-AA66-41F9-90A4-BE3F9E52DE34}"/>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AF5BBFBA-14AC-44E6-AC88-93086E626617}"/>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24AEFE36-090A-4D12-BD3A-1DF32BD6943E}"/>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251D1C10-5275-4ED7-B5FE-E666E2D7FD7C}"/>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7DCD6411-970F-4F8F-941B-4807EC2962F6}"/>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46B92ED8-94D9-440E-A770-1867C0C5347A}"/>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11B4BE62-E326-4F83-96E4-121788BD6FA1}"/>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E1E3A"/>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8754347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2F69D1-D13E-4969-9D85-4CCACAA1B1A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7E3BECA-CECB-4386-895B-F625DAFE489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809693A6-0706-4A89-AF2A-F3D2751466F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2  ·  ALGORITHM 2 (BUILDPATG)</a:t>
            </a:r>
          </a:p>
        </p:txBody>
      </p:sp>
      <p:sp>
        <p:nvSpPr>
          <p:cNvPr id="5" name="Text 3">
            <a:extLst xmlns:a="http://schemas.openxmlformats.org/drawingml/2006/main">
              <a:ext uri="{FF2B5EF4-FFF2-40B4-BE49-F238E27FC236}">
                <a16:creationId xmlns:a16="http://schemas.microsoft.com/office/drawing/2014/main" id="{2B64F34A-B254-49BD-A4CD-A5D3E314330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No witness means a real model decision</a:t>
            </a:r>
          </a:p>
        </p:txBody>
      </p:sp>
      <p:sp>
        <p:nvSpPr>
          <p:cNvPr id="6" name="Text 4">
            <a:extLst xmlns:a="http://schemas.openxmlformats.org/drawingml/2006/main">
              <a:ext uri="{FF2B5EF4-FFF2-40B4-BE49-F238E27FC236}">
                <a16:creationId xmlns:a16="http://schemas.microsoft.com/office/drawing/2014/main" id="{248173A6-B479-4FF4-8B29-C5C345A64A93}"/>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61140B0E-BB7D-474B-818A-0008F0AE3DB9}"/>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2F027AD5-0F17-4D39-9D10-663F812D81C5}"/>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64CFF7F-9A2F-4694-A6C0-1BBDB90C3BB8}"/>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7649C324-2353-49AC-BF8C-C6CF1C06B713}"/>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75412321-77D5-4C4F-B563-63D22EB6CDF5}"/>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A03BCE9A-E982-451B-BBE7-742BC4666A42}"/>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208CB3D3-581E-42D1-A8C4-16C07BC4DDEA}"/>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53E9B184-6671-4727-B932-15A9445B4981}"/>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BD0F779B-BC49-4DAC-B1DB-A0FF955ACBB1}"/>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97A79260-6D75-4F41-BE1B-D3327C604F55}"/>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8F594075-9AD0-4248-AC1F-435DCDB89F03}"/>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4A75E002-7DCB-4E25-B357-4084DE856003}"/>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802F6FF-FEAB-4C01-BD0F-B6B615E970C0}"/>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A62FA1B8-3C9B-4688-8282-403A3F3D5E46}"/>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44331F44-637D-453A-BD2E-D54E961E3506}"/>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36F6A371-4DFA-499A-97D5-1272AF05145A}"/>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F32DE538-5691-46F8-8B2C-CB017EF00172}"/>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18428371-CC92-4303-92E9-6792FC4F674B}"/>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F440EF11-63C2-4579-9D70-6BB4CFCD1DDC}"/>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in candidate set</a:t>
            </a:r>
          </a:p>
          <a:p xmlns:a="http://schemas.openxmlformats.org/drawingml/2006/main">
            <a:pPr marL="0" indent="0">
              <a:lnSpc>
                <a:spcPct val="100000"/>
              </a:lnSpc>
              <a:buNone/>
            </a:pPr>
            <a:r>
              <a:rPr sz="1050">
                <a:solidFill>
                  <a:srgbClr val="5A6B84"/>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F3B4142A-904F-476B-A883-DBBC7C51180A}"/>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B1DA1710-BE5A-44F8-A235-3D561FAF4642}"/>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57B7E323-6733-488D-8394-1724C1E2761A}"/>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uniquely resolved</a:t>
            </a:r>
          </a:p>
          <a:p xmlns:a="http://schemas.openxmlformats.org/drawingml/2006/main">
            <a:pPr marL="0" indent="0">
              <a:lnSpc>
                <a:spcPct val="100000"/>
              </a:lnSpc>
              <a:buNone/>
            </a:pPr>
            <a:r>
              <a:rPr sz="1050">
                <a:solidFill>
                  <a:srgbClr val="5A6B84"/>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9143FEE1-ABC9-43F9-959F-4D5D83C6AADC}"/>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4EC6C7B2-F818-4FC2-92AF-13C93CD11460}"/>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572A2EDE-6786-4553-8A54-A742E12DA182}"/>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ambiguous</a:t>
            </a:r>
          </a:p>
          <a:p xmlns:a="http://schemas.openxmlformats.org/drawingml/2006/main">
            <a:pPr marL="0" indent="0">
              <a:lnSpc>
                <a:spcPct val="100000"/>
              </a:lnSpc>
              <a:buNone/>
            </a:pPr>
            <a:r>
              <a:rPr sz="1050">
                <a:solidFill>
                  <a:srgbClr val="5A6B84"/>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D4E327FE-93BF-42BA-AD2E-8ABFC7DEEDE3}"/>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7875D040-091A-4128-8950-B66B2863EC6A}"/>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DB3B3BBD-112B-40F8-A3E8-7FE22EB813DD}"/>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no candidate</a:t>
            </a:r>
          </a:p>
          <a:p xmlns:a="http://schemas.openxmlformats.org/drawingml/2006/main">
            <a:pPr marL="0" indent="0">
              <a:lnSpc>
                <a:spcPct val="100000"/>
              </a:lnSpc>
              <a:buNone/>
            </a:pPr>
            <a:r>
              <a:rPr sz="1050">
                <a:solidFill>
                  <a:srgbClr val="5A6B84"/>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6FBBC74B-E676-4138-BDDF-BEB9D6788753}"/>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0A08448E-5E40-4FB3-80B8-72A4EAAEFB14}"/>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C7114E29-8120-487B-AB25-F9213EEDD96E}"/>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candidate-edge</a:t>
            </a:r>
          </a:p>
          <a:p xmlns:a="http://schemas.openxmlformats.org/drawingml/2006/main">
            <a:pPr marL="0" indent="0">
              <a:lnSpc>
                <a:spcPct val="100000"/>
              </a:lnSpc>
              <a:buNone/>
            </a:pPr>
            <a:r>
              <a:rPr sz="1050">
                <a:solidFill>
                  <a:srgbClr val="5A6B84"/>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73EFA6ED-0EB3-4DE6-ADF2-4ACACD5FEF38}"/>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4494679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5CBA41-998D-4FF6-903F-EE8F5D1AB1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90E23FA-6050-4BCA-B56F-8B8910FBBC9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D630172D-3630-4776-8C40-F73A64AEC6E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RUNTIME  ·  §3.8 AND ALGORITHM 4</a:t>
            </a:r>
          </a:p>
        </p:txBody>
      </p:sp>
      <p:sp>
        <p:nvSpPr>
          <p:cNvPr id="5" name="Text 3">
            <a:extLst xmlns:a="http://schemas.openxmlformats.org/drawingml/2006/main">
              <a:ext uri="{FF2B5EF4-FFF2-40B4-BE49-F238E27FC236}">
                <a16:creationId xmlns:a16="http://schemas.microsoft.com/office/drawing/2014/main" id="{72791DE8-73BB-4AFA-B3CB-FF14837ED29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artifact usually declines to run</a:t>
            </a:r>
          </a:p>
        </p:txBody>
      </p:sp>
      <p:sp>
        <p:nvSpPr>
          <p:cNvPr id="6" name="Text 4">
            <a:extLst xmlns:a="http://schemas.openxmlformats.org/drawingml/2006/main">
              <a:ext uri="{FF2B5EF4-FFF2-40B4-BE49-F238E27FC236}">
                <a16:creationId xmlns:a16="http://schemas.microsoft.com/office/drawing/2014/main" id="{CC5907B7-4AD0-40E6-8854-FD4593571151}"/>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5A120A7B-7F85-48D6-91A4-A39CB655A034}"/>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C314809-047B-4372-AAC1-935BB4273F83}"/>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9BF7E44F-31C3-4FCE-AFD0-EC4A95549B23}"/>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854CEB4D-879A-4BEF-91E3-94F681820FFD}"/>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DB497C9B-4B5F-4EC3-99E4-84B3F6633BB5}"/>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C7FBD978-567A-41B8-8202-363B6DE71E6C}"/>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9E1B4DBF-1B01-4007-9254-6554A733530C}"/>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82A87AB6-592F-4BF4-9218-5B5CF1DA5EED}"/>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2339E1C2-D714-472F-A89A-39275A8B8BDD}"/>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2352C736-7AFF-4C22-8900-6D5C6E03E822}"/>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2F85E978-7E0E-4428-A8D1-D4111820017B}"/>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76C74BA5-DC5F-4199-B2E6-DE16F8649244}"/>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FD9EDB59-E31D-4304-BC3F-41BFF9459124}"/>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AE23F0FD-0E82-4739-B55D-335625E492A6}"/>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9FE4EC21-B139-4DAA-88FE-01EA4388E4A9}"/>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109BCAA4-A339-478F-9D7D-4AA587BBE78B}"/>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21059934-D422-4B46-BFF7-5FE07CAEA3CA}"/>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72AB11F6-4B36-48E8-A7AE-826F67AF586E}"/>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7AD8BBE9-EBAF-4283-8916-EF28313BEEB5}"/>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DISPATCH IS SELECTIVE — SIX CHECKS, THEN ONE OF THREE OUTCOMES</a:t>
            </a:r>
          </a:p>
        </p:txBody>
      </p:sp>
      <p:sp>
        <p:nvSpPr>
          <p:cNvPr id="26" name="Shape 24">
            <a:extLst xmlns:a="http://schemas.openxmlformats.org/drawingml/2006/main">
              <a:ext uri="{FF2B5EF4-FFF2-40B4-BE49-F238E27FC236}">
                <a16:creationId xmlns:a16="http://schemas.microsoft.com/office/drawing/2014/main" id="{6069E951-8DCE-4493-B900-D31E4090240D}"/>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91213B52-1BAB-4853-9531-F3708AF8DD23}"/>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3087BEA7-A4A7-4B1E-B053-060799D4B43C}"/>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ABEF2AC-D623-4957-BA66-95C9C94C593D}"/>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AE946F25-650D-4B67-8787-40084F2EA7A8}"/>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5BE80A4D-02B5-4ED7-8AF8-9F32B8675E9E}"/>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AD4D67D0-E287-44D5-A095-EE29A1020A56}"/>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5878663A-7B4E-44F5-B8D1-0F41FAFEE92F}"/>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2256A2C5-CE64-48C2-9871-E62F13F17808}"/>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BCA77008-A005-4696-82B3-3D47704A8052}"/>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FFE9084B-CD9F-44F8-89DC-9318553DDC17}"/>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D2CF96D3-6DBB-4303-8FE4-A11E000A76F8}"/>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55C62C77-9F7F-445F-9E04-4DC6ABDB2488}"/>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48CCE24F-9C3B-46B5-B93C-BC04A499B281}"/>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F8A99"/>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BF72CBEB-D1CB-41ED-B057-8EFE7E309D09}"/>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3AC213B7-8C59-49A7-BA32-83612397981F}"/>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04305CCB-F252-43C6-99FB-085B56BAF430}"/>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6CBB8149-63E7-4A64-A72B-0B1800CE6EB3}"/>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E1E3A"/>
                </a:solidFill>
                <a:latin typeface="Cambria"/>
                <a:ea typeface="Cambria"/>
                <a:cs typeface="Cambria"/>
              </a:rPr>
              <a:t>n</a:t>
            </a:r>
          </a:p>
        </p:txBody>
      </p:sp>
      <p:sp>
        <p:nvSpPr>
          <p:cNvPr id="44" name="Text 42">
            <a:extLst xmlns:a="http://schemas.openxmlformats.org/drawingml/2006/main">
              <a:ext uri="{FF2B5EF4-FFF2-40B4-BE49-F238E27FC236}">
                <a16:creationId xmlns:a16="http://schemas.microsoft.com/office/drawing/2014/main" id="{0B8DDFD0-4E78-44ED-B4CC-FA2287F601BF}"/>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E2E8A682-45D9-466B-9B44-D3EDAD0F259B}"/>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7DB65A75-CFC1-4DF1-8DF9-FF25E28CEF3B}"/>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5735086B-EBC0-4E03-A428-110AE136F914}"/>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93B2B"/>
                </a:solidFill>
                <a:latin typeface="Cambria"/>
                <a:ea typeface="Cambria"/>
                <a:cs typeface="Cambria"/>
              </a:rPr>
              <a:t>n</a:t>
            </a:r>
          </a:p>
        </p:txBody>
      </p:sp>
      <p:sp>
        <p:nvSpPr>
          <p:cNvPr id="48" name="Text 46">
            <a:extLst xmlns:a="http://schemas.openxmlformats.org/drawingml/2006/main">
              <a:ext uri="{FF2B5EF4-FFF2-40B4-BE49-F238E27FC236}">
                <a16:creationId xmlns:a16="http://schemas.microsoft.com/office/drawing/2014/main" id="{BBFF69CD-FC2E-4884-BFED-E6D387C1B218}"/>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4B33A21B-4658-4C13-B6C6-AFD517B44912}"/>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 failed abort, failed commit, or post-commit failure — reversibility cannot be attested, so no rollback is feigned.</a:t>
            </a:r>
          </a:p>
        </p:txBody>
      </p:sp>
      <p:sp>
        <p:nvSpPr>
          <p:cNvPr id="50" name="Shape 48">
            <a:extLst xmlns:a="http://schemas.openxmlformats.org/drawingml/2006/main">
              <a:ext uri="{FF2B5EF4-FFF2-40B4-BE49-F238E27FC236}">
                <a16:creationId xmlns:a16="http://schemas.microsoft.com/office/drawing/2014/main" id="{75E896B5-C4F9-4DE4-9C8E-107CA7F2621B}"/>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D2FE1A86-D2BF-41D6-90F0-7EEE3BF3022F}"/>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E1E3A"/>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8181589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8DA75E-6F49-4D2D-A221-C511A75011B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CE99979-E267-4D39-9253-7BC389EA4A8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AB0C95FD-2058-4346-AA23-8A95C433DCE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6  ·  §3.6 AND ALGORITHM 3</a:t>
            </a:r>
          </a:p>
        </p:txBody>
      </p:sp>
      <p:sp>
        <p:nvSpPr>
          <p:cNvPr id="5" name="Text 3">
            <a:extLst xmlns:a="http://schemas.openxmlformats.org/drawingml/2006/main">
              <a:ext uri="{FF2B5EF4-FFF2-40B4-BE49-F238E27FC236}">
                <a16:creationId xmlns:a16="http://schemas.microsoft.com/office/drawing/2014/main" id="{4A3D8B0C-56F7-40E2-943D-358448B33C2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An exact gate is a data-hungry gate</a:t>
            </a:r>
          </a:p>
        </p:txBody>
      </p:sp>
      <p:sp>
        <p:nvSpPr>
          <p:cNvPr id="6" name="Text 4">
            <a:extLst xmlns:a="http://schemas.openxmlformats.org/drawingml/2006/main">
              <a:ext uri="{FF2B5EF4-FFF2-40B4-BE49-F238E27FC236}">
                <a16:creationId xmlns:a16="http://schemas.microsoft.com/office/drawing/2014/main" id="{E1093DB8-F1BF-492A-B0BC-B7AE7C7C17A0}"/>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score model and the eleven-threshold grid are frozen before any calibration group is seen — the score fitted on development groups only. That is what makes a union bound legitimate.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For each threshold the compiler counts dispatched groups that were wrong,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654EF96E-0CA4-497E-B708-ECE91B5A1F33}"/>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6BEDA9A-EC64-4F3C-8C21-79A8E7942114}"/>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144C2540-40E1-4E94-BC8C-494F8C154813}"/>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C4034"/>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034376D7-C442-43EE-B8DF-589B6699E3E7}"/>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7E000CB5-F6C7-46C1-BB8B-30189FE72492}"/>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1A10A0C2-1FF0-4CCD-B83A-C573662C7673}"/>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268708BD-0956-4AC7-9B6D-4BB1EBCFC6A1}"/>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905B5889-708E-4251-B068-F18575014DEA}"/>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DCFF0E06-FC0A-4619-9307-D818B05D2758}"/>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F7C73F8C-AE19-4EAF-B818-96685851794F}"/>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2CFC8FE3-B1AB-4186-A8C5-FF0D077AA6C0}"/>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6EAE12AE-7D64-4A5D-B094-C95D4C40A8B0}"/>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55EB7B9E-7678-4FA5-AC7B-8CA990B28CA1}"/>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F8A99"/>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CDBCEF4B-0F2F-4080-8D1A-C2BEC2DDCEBE}"/>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3037723F-64C7-4DEF-9781-54AD75C73F30}"/>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B4E26691-8857-4ADB-A150-CE3F1A41AB8A}"/>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94578AB1-9521-42B2-AC47-9E3368B73E9E}"/>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E1E3A"/>
                </a:solidFill>
                <a:latin typeface="Calibri"/>
                <a:ea typeface="Calibri"/>
                <a:cs typeface="Calibri"/>
              </a:rPr>
              <a:t>Independence is load-bearing. </a:t>
            </a:r>
            <a:r>
              <a:rPr sz="1200">
                <a:solidFill>
                  <a:srgbClr val="24354F"/>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87724993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120F78-4269-4412-BDC9-0EB87DD12ED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35AD63B-A434-4B30-80F5-17A9AFD71E2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843257D8-EB9A-4338-9747-851E36D269A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3  ·  §3.1–3.2</a:t>
            </a:r>
          </a:p>
        </p:txBody>
      </p:sp>
      <p:sp>
        <p:nvSpPr>
          <p:cNvPr id="5" name="Text 3">
            <a:extLst xmlns:a="http://schemas.openxmlformats.org/drawingml/2006/main">
              <a:ext uri="{FF2B5EF4-FFF2-40B4-BE49-F238E27FC236}">
                <a16:creationId xmlns:a16="http://schemas.microsoft.com/office/drawing/2014/main" id="{B7D635AE-FE64-46DC-9528-92DBC9F26B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Decline before you build</a:t>
            </a:r>
          </a:p>
        </p:txBody>
      </p:sp>
      <p:sp>
        <p:nvSpPr>
          <p:cNvPr id="6" name="Text 4">
            <a:extLst xmlns:a="http://schemas.openxmlformats.org/drawingml/2006/main">
              <a:ext uri="{FF2B5EF4-FFF2-40B4-BE49-F238E27FC236}">
                <a16:creationId xmlns:a16="http://schemas.microsoft.com/office/drawing/2014/main" id="{CF91DAB5-45B1-42E8-BC23-1688F29297E9}"/>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64479950-7165-4AFB-8914-303D2EF0D019}"/>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6146D52-ED36-4B02-8B76-BA29F6DAB6D5}"/>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E1E3A"/>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20457904-46E0-41F8-9F53-7AD2B865DC58}"/>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A6B84"/>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F8067CE0-010E-4461-80F9-CF471B0AE886}"/>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2F95AC69-DCC1-4D20-A8CC-3F2AB8417719}"/>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4354F"/>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57DF3CE3-257C-4F3B-AE4B-722D5E87F879}"/>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1863342-29DE-46CD-9DDF-97C142AB10D0}"/>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C3137D35-D186-4382-AB6D-CDFAE06BF90E}"/>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36105770-8589-4913-9375-5C6968A77A17}"/>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87AD7028-96B7-44EB-B59B-9BB386ED8928}"/>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38ECB354-D2D2-4FF2-9C9F-F30A99F32F6D}"/>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31C2ED5F-3EC1-4384-A070-0C270C4A7E1E}"/>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852744D2-B358-4A6F-9144-3AA0941A5305}"/>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A18F46A5-C4A7-473B-8FF6-326AEF327157}"/>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7A6B45F9-9005-474D-9BD5-4ED2F6585450}"/>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E1E3A"/>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6F036B53-2507-4F07-A5C0-26A9E8901EBA}"/>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C5EDB61B-213C-44BC-92A4-86F90F4E55FF}"/>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F8A99"/>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7B776363-DB2D-4495-839B-21621D597D37}"/>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766C07EB-B63D-451C-8DCD-6005A60251A1}"/>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A6B84"/>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332198809"/>
      </p:ext>
    </p:extLst>
  </p:cSld>
</p:sld>
</file>

<file path=ppt/slides/slide15.xml><?xml version="1.0" encoding="utf-8"?>
<p:sld xmlns:a="http://schemas.openxmlformats.org/drawingml/2006/main" xmlns:r="http://schemas.openxmlformats.org/officeDocument/2006/relationships" xmlns:p="http://schemas.openxmlformats.org/presentationml/2006/main">
  <p:cSld name="Divider I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15</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Evidence and results</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Three evidence tiers, six directional hypotheses, and every result reported with its denominator and its refusals intact.</a:t>
            </a:r>
            <a:endParaRPr lang="en-US" sz="1350" dirty="0"/>
          </a:p>
        </p:txBody>
      </p:sp>
    </p:spTree>
  </p:cSld>
  <p:clrMapOvr>
    <a:masterClrMapping/>
  </p:clrMapOvr>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151E1D-6EA2-4EDF-9AD2-E05293B925E0}"/>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C780F97-1E7C-41F7-9090-EC32E1AACA8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9F5362ED-C83D-4CC3-807D-93E9B070586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METHODOLOGY  ·  §4.1  ·  TABLE 5</a:t>
            </a:r>
          </a:p>
        </p:txBody>
      </p:sp>
      <p:sp>
        <p:nvSpPr>
          <p:cNvPr id="5" name="Text 3">
            <a:extLst xmlns:a="http://schemas.openxmlformats.org/drawingml/2006/main">
              <a:ext uri="{FF2B5EF4-FFF2-40B4-BE49-F238E27FC236}">
                <a16:creationId xmlns:a16="http://schemas.microsoft.com/office/drawing/2014/main" id="{CC086FBB-E1F4-4E21-B240-1A19B6BE1B3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tiers, ordered by what they license</a:t>
            </a:r>
          </a:p>
        </p:txBody>
      </p:sp>
      <p:sp>
        <p:nvSpPr>
          <p:cNvPr id="6" name="Shape 4">
            <a:extLst xmlns:a="http://schemas.openxmlformats.org/drawingml/2006/main">
              <a:ext uri="{FF2B5EF4-FFF2-40B4-BE49-F238E27FC236}">
                <a16:creationId xmlns:a16="http://schemas.microsoft.com/office/drawing/2014/main" id="{D48DD201-4982-43E3-A0E6-504B50FE181B}"/>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FBA94E6-7AF2-4824-A62A-3D1E6BEF3FFD}"/>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5A0AF059-CAEF-4576-9928-342F7364E925}"/>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C1186A53-D808-4943-A911-928C05C986DC}"/>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559AAD1-8C0B-4022-B43C-E403F00BEA21}"/>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AE206B25-9596-4216-9362-B65DA01A9434}"/>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D72D27B0-DA6B-4797-BB6D-9470107FCEA5}"/>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68640B0A-6636-4F4D-8622-C96F24ECD15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101DD1A2-D3AA-4FC4-B309-1022F7D0079F}"/>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E0A945E2-BCEB-4B51-9ABB-FC8EB1CA6D43}"/>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101DBD44-E4F5-4C06-8C69-52728C6F7D08}"/>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Three primary GitHub workflow families plus scoped ablations on a pinned snapshot</a:t>
            </a:r>
          </a:p>
        </p:txBody>
      </p:sp>
      <p:sp>
        <p:nvSpPr>
          <p:cNvPr id="17" name="Text 15">
            <a:extLst xmlns:a="http://schemas.openxmlformats.org/drawingml/2006/main">
              <a:ext uri="{FF2B5EF4-FFF2-40B4-BE49-F238E27FC236}">
                <a16:creationId xmlns:a16="http://schemas.microsoft.com/office/drawing/2014/main" id="{A5E5A5F4-D876-4E8F-86C6-7AD8272F562F}"/>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E649A01C-4253-400B-89F0-EC3D9FEB0E3F}"/>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F716F0D7-D270-48D2-B2C3-8A52844E3C69}"/>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04387B9-A092-42EF-ADEF-046ACE8E27A6}"/>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64C060F6-ACFA-4DFE-AED2-6733B856AB2E}"/>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7467E476-2527-44B2-9490-6805D9BD3E59}"/>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E2E3491B-9659-47EE-9046-4428F565E9A8}"/>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924F397C-F645-4F46-B810-786F8E42FF5A}"/>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A6C8C80-C1FB-4DAC-9903-A251D1DF9BE8}"/>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libri"/>
                <a:ea typeface="Calibri"/>
                <a:cs typeface="Calibri"/>
              </a:rPr>
              <a:t>Every rejected candidate, the archived failed pilot, and the unsupported claims are retained rather than pruned </a:t>
            </a:r>
            <a:r>
              <a:rPr sz="1250">
                <a:solidFill>
                  <a:srgbClr val="24354F"/>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1227253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9</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full trace repeats; the boundary does not</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 real GitHub trace looks like an obvious macro:</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 #6602: record → labels → comments(limit=3)</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45/45 tool replays; issue #6602 loses its Markdown URL.</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93B2B"/>
                </a:solidFill>
                <a:latin typeface="Calibri"/>
                <a:ea typeface="Calibri"/>
                <a:cs typeface="Calibri"/>
              </a:rPr>
              <a:t>Naive rule: recurrence + replay + one request → ship.</a:t>
            </a:r>
            <a:r>
              <a:rPr sz="1200">
                <a:solidFill>
                  <a:srgbClr val="5C4034"/>
                </a:solidFill>
                <a:latin typeface="Calibri"/>
                <a:ea typeface="Calibri"/>
                <a:cs typeface="Calibri"/>
              </a:rPr>
              <a:t>GAC: ungroundable comments limit → keep comments and rendering with the agent.</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a5a344bc25c34004"/>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132</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discovery traces</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116</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full-candidate support windows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92 / 92</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GAC calibration groups</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18 / 18</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checked-rendered answers</a:t>
            </a:r>
          </a:p>
        </p:txBody>
      </p:sp>
    </p:spTree>
    <p:extLst>
      <p:ext uri="{BB962C8B-B14F-4D97-AF65-F5344CB8AC3E}">
        <p14:creationId xmlns:p14="http://schemas.microsoft.com/office/powerpoint/2010/main" val="13853761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RQ6  ·  §5.2  ·  TABLE 7</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Efficiency transfers, not dominance</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Issue-type routing, PR-outcome audit, and backlog-attention routing use distinct tools and exact graders over one pinned public snapshot, with all 90 held-out records pairwise disjoint.</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Compiled programs reach 90/90 exact outcomes versus 89/90 baseline (exact McNemar p=1; pooled compiled-only discordance bound 3.3%). Weighted reductions: requests 66.6%, visible interfaces 44.2%, tokens 63.1%, observed latency 64.2%, and cost 58.7%.</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All three artifacts are calibrated at the registered α=.05 over 92 zero-violation groups.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programs also reach 90/90, so the learned result is transfer and automation—not runtime superiority.</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00" b="1">
                <a:solidFill>
                  <a:srgbClr val="A93B2B"/>
                </a:solidFill>
                <a:latin typeface="Calibri"/>
                <a:ea typeface="Calibri"/>
                <a:cs typeface="Calibri"/>
              </a:rPr>
              <a:t>The two new families compile verified three-read pre-model programs; the original issue family retains its conservative two-read prefix. Headroom on the two fixed cohorts attempted 240 model-visible JSON payloads, transformed zero, and saved zero tokens: a boundary-specific negative result, not a rival mechanism for GAC's savings. The study changes decision and tools, not repository or time; cross-repository and time-forward transfer remain open.</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4da551d5950f48b5"/>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89 → 90 / 90</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baseline → compiled exact</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−66.6 / −63.1%</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requests / total tokens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−64.2 / −58.7%</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latency / estimated cost</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90 / 90</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manual exact; no runtime dominance</a:t>
            </a:r>
          </a:p>
        </p:txBody>
      </p:sp>
    </p:spTree>
    <p:extLst>
      <p:ext uri="{BB962C8B-B14F-4D97-AF65-F5344CB8AC3E}">
        <p14:creationId xmlns:p14="http://schemas.microsoft.com/office/powerpoint/2010/main" val="138537613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2CF15DC-1301-4621-81E9-2DCAEE7AE5F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5A30271-264E-47D1-9785-F977FECEEDF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AE6CDDA3-6432-436D-A8CD-C01F91B4A10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8</a:t>
            </a:r>
          </a:p>
        </p:txBody>
      </p:sp>
      <p:sp>
        <p:nvSpPr>
          <p:cNvPr id="5" name="Text 3">
            <a:extLst xmlns:a="http://schemas.openxmlformats.org/drawingml/2006/main">
              <a:ext uri="{FF2B5EF4-FFF2-40B4-BE49-F238E27FC236}">
                <a16:creationId xmlns:a16="http://schemas.microsoft.com/office/drawing/2014/main" id="{1A6B1FDE-60A5-4E6A-ADD8-1A4C23E9750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b85f43d5fcbc4331"/>
          </a:graphicData>
        </a:graphic>
      </p:graphicFrame>
      <p:sp>
        <p:nvSpPr>
          <p:cNvPr id="7" name="Shape 4">
            <a:extLst xmlns:a="http://schemas.openxmlformats.org/drawingml/2006/main">
              <a:ext uri="{FF2B5EF4-FFF2-40B4-BE49-F238E27FC236}">
                <a16:creationId xmlns:a16="http://schemas.microsoft.com/office/drawing/2014/main" id="{3C1760E1-20A0-445F-A11B-0E8EDB139EAE}"/>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5B524CE7-F7B0-4AD3-9C5E-3718B7F80E65}"/>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53DCA59F-7599-418A-8691-5B7A9529E74E}"/>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A310976C-1FCD-425E-BACF-61EF3671BD91}"/>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84F8FB49-2683-441E-868D-CC974D7075AF}"/>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14B24EDE-E6A2-4C00-B9EB-337D4178152D}"/>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B2C5662A-EEE5-4A40-A0A2-412894DFBF62}"/>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426A1291-3D81-43AE-8C19-503F6AD58286}"/>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B9708C38-4EBA-4DF0-897D-916FFF212A3B}"/>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09E1A7C9-F4DC-4759-9A1E-11C1CE81CD4D}"/>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59ADD08D-5F65-4789-85DD-6F7B89726500}"/>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A57FD9B9-796C-4F22-8285-351D925BEEF6}"/>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1CB1C4A9-FEBE-4DF5-B21D-C50FFA328D45}"/>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D1B1EAEC-6FF9-4B96-964C-CD8193213CE8}"/>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5165A77B-E0D8-419F-83D0-4D0162EBB382}"/>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30EAF532-5324-4564-B163-BDD562FFBC08}"/>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54AC4035-0DA8-4801-85D9-6E19723F3703}"/>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3F0C3B58-819F-4796-A159-0201DDF15B53}"/>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exact task contracts</a:t>
            </a:r>
          </a:p>
        </p:txBody>
      </p:sp>
    </p:spTree>
    <p:extLst>
      <p:ext uri="{BB962C8B-B14F-4D97-AF65-F5344CB8AC3E}">
        <p14:creationId xmlns:p14="http://schemas.microsoft.com/office/powerpoint/2010/main" val="143933951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DEPTH TRADE-OFF  ·  §5.3  ·  TABLES 8 AND 9</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Deeper compilation costs preservation</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93B2B"/>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4354F"/>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20141524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E62FA1-9C7E-4242-89B0-4F3B5B51694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0B2760F-1F6E-4DBF-B79E-6FBBFAEFB8A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2C7FED2E-1F58-473D-87EB-3DE4EC0AB12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RQ4  ·  §5.4  ·  FIGURE 18</a:t>
            </a:r>
          </a:p>
        </p:txBody>
      </p:sp>
      <p:sp>
        <p:nvSpPr>
          <p:cNvPr id="5" name="Text 3">
            <a:extLst xmlns:a="http://schemas.openxmlformats.org/drawingml/2006/main">
              <a:ext uri="{FF2B5EF4-FFF2-40B4-BE49-F238E27FC236}">
                <a16:creationId xmlns:a16="http://schemas.microsoft.com/office/drawing/2014/main" id="{76F0EF70-AC54-4FB5-8418-7333D6F9404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Token saving is not cost saving</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2d8e65cbda95494b"/>
          </a:graphicData>
        </a:graphic>
      </p:graphicFrame>
      <p:sp>
        <p:nvSpPr>
          <p:cNvPr id="7" name="Shape 4">
            <a:extLst xmlns:a="http://schemas.openxmlformats.org/drawingml/2006/main">
              <a:ext uri="{FF2B5EF4-FFF2-40B4-BE49-F238E27FC236}">
                <a16:creationId xmlns:a16="http://schemas.microsoft.com/office/drawing/2014/main" id="{A25CA3EA-5BC0-43B6-91B9-C0D0C0B5BF99}"/>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208D9B6-B2AA-4F88-9EF0-305DB4B0F4F1}"/>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5118268C-D78D-4146-A8ED-A41CD5EECF74}"/>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A18B45D6-22DB-4431-A239-B800415667ED}"/>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92A1F32D-5FD6-493D-AFEC-BD6F64F9224C}"/>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D10BA4EC-5970-4F9B-BA9B-347F7F8137CD}"/>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97EF3A1A-CD11-4258-93D5-A3113F1BBB4E}"/>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0D61E25-733A-4AA4-AC69-D55EDFC620F4}"/>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D9A40B7B-99E4-4AFC-9DEF-9D2D71070C60}"/>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FC389CD1-071A-43F3-8B18-2F7C73B5B8EA}"/>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4354F"/>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1111143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COMPARATOR THAT MATTERS  ·  §5.6  ·  TABLE 10</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Before GCS, the hand macro wins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150">
                <a:solidFill>
                  <a:srgbClr val="24354F"/>
                </a:solidFill>
                <a:latin typeface="Calibri"/>
                <a:ea typeface="Calibri"/>
                <a:cs typeface="Calibri"/>
              </a:rPr>
              <a:t>Against partial GRC, the hand-written composite matches exact quality and request savings while using one interface and fewer tokens. Priced with prompt-cache reuse the gap narrows to 30.9% fewer tokens for 8.0% lower cost, because interface fusion destroys the repeated prefix. This is the correct baseline for a stable read set.</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Tier-1 support evidence gathering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0.726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0.755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Permissioned RAG knowledge assistant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0.335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0.718</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Multi-agent incident triage</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0.922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0.780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Multi-tenant MCP ops (negative control)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0.724</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1.000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Order-fulfillment exception handling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0.661</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0.642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A6B84"/>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Live confirmation: </a:t>
            </a:r>
            <a:r>
              <a:rPr sz="1200">
                <a:solidFill>
                  <a:srgbClr val="24354F"/>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159616672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FAIR PLACEMENT AND BOUNDED GEPA  ·  §5.7–5.8  ·  TABLES 12 AND 13</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Fair placement ties GCS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Unchanged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GEPA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GCS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GCS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Manual pre-model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Fair placement removes the confound: GCS and manual execution tie structurally at 6/6 exact quality. GEPA retains its seed after 14 task evaluations; 59 optimization requests are accounted separately. The GCS artifact is calibrated at α=.10 (88/92, bound 0.052) and would retire at the registered α=.05. One family, six held-out cases.</a:t>
            </a:r>
          </a:p>
        </p:txBody>
      </p:sp>
    </p:spTree>
    <p:extLst>
      <p:ext uri="{BB962C8B-B14F-4D97-AF65-F5344CB8AC3E}">
        <p14:creationId xmlns:p14="http://schemas.microsoft.com/office/powerpoint/2010/main" val="15961667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B62D4-A055-431D-9A50-FC46F2DB89A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2E5A502-BD9B-4E91-9668-D81A17304D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FB4E40D5-8E47-48CA-85EF-C4E6C1F391A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RQ5  ·  §3.7 AND §5.9  ·  TABLE 17</a:t>
            </a:r>
          </a:p>
        </p:txBody>
      </p:sp>
      <p:sp>
        <p:nvSpPr>
          <p:cNvPr id="5" name="Text 3">
            <a:extLst xmlns:a="http://schemas.openxmlformats.org/drawingml/2006/main">
              <a:ext uri="{FF2B5EF4-FFF2-40B4-BE49-F238E27FC236}">
                <a16:creationId xmlns:a16="http://schemas.microsoft.com/office/drawing/2014/main" id="{F41C5DE9-65D9-44FB-8981-F21943BDD3E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Only measured actions get compared</a:t>
            </a:r>
          </a:p>
        </p:txBody>
      </p:sp>
      <p:sp>
        <p:nvSpPr>
          <p:cNvPr id="6" name="Text 4">
            <a:extLst xmlns:a="http://schemas.openxmlformats.org/drawingml/2006/main">
              <a:ext uri="{FF2B5EF4-FFF2-40B4-BE49-F238E27FC236}">
                <a16:creationId xmlns:a16="http://schemas.microsoft.com/office/drawing/2014/main" id="{EE041533-057F-47B1-87D2-CE9A749349FF}"/>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51c0446875b84944"/>
          </a:graphicData>
        </a:graphic>
      </p:graphicFrame>
      <p:sp>
        <p:nvSpPr>
          <p:cNvPr id="8" name="Text 5">
            <a:extLst xmlns:a="http://schemas.openxmlformats.org/drawingml/2006/main">
              <a:ext uri="{FF2B5EF4-FFF2-40B4-BE49-F238E27FC236}">
                <a16:creationId xmlns:a16="http://schemas.microsoft.com/office/drawing/2014/main" id="{84B85584-8FB7-428B-ADCD-1333020A1F57}"/>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CE4D95AB-3025-48B2-935D-1CE1B8EBE492}"/>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FA1A0E64-343F-42EE-9DAD-BFA7756EDA46}"/>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27A7C42E-850A-4031-99EF-930328C3A570}"/>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F8A99"/>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D8EEE5FB-5D37-489B-BE90-55C87DDE1A70}"/>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69913375-9FBC-429E-9EAD-B4AB4648ACF6}"/>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9AFCC980-7F4E-4936-98F3-E7727123BB28}"/>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30E158D9-0C88-4CE8-9971-B37E42E1D0C5}"/>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540848B0-6666-4F58-83F1-D593E878E905}"/>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B930B890-7507-495A-AF55-A71D06DB1D4A}"/>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FFF7BB22-CA3D-4A10-A3BF-18B2AB29F79C}"/>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5BE8E4F5-FD0E-456D-A5D2-20B9CD055EBC}"/>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9E340F49-CEFC-495C-ADBE-C7727A680479}"/>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A97EE732-5994-4804-8A6B-FAA56814EFBC}"/>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8122E63C-4286-4A13-8EC3-E5B8CD34E00F}"/>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F9FEE5A4-3C75-4890-A57C-7F380DBF6340}"/>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3C18BD0D-2531-4AA4-BA35-7565A4014475}"/>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0F42DCE0-32B3-4991-AE72-90AEF0F22F22}"/>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73800972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265BE1-5C53-474F-BE6A-30893090402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B6F6C15-6955-4C05-8D57-E58839BF8CA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10A134EC-D31D-458A-B907-3E86865D66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3E02682A-0E24-4A78-970A-81AC7E4667B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Five claims the evidence does not support</a:t>
            </a:r>
          </a:p>
        </p:txBody>
      </p:sp>
      <p:sp>
        <p:nvSpPr>
          <p:cNvPr id="6" name="Shape 4">
            <a:extLst xmlns:a="http://schemas.openxmlformats.org/drawingml/2006/main">
              <a:ext uri="{FF2B5EF4-FFF2-40B4-BE49-F238E27FC236}">
                <a16:creationId xmlns:a16="http://schemas.microsoft.com/office/drawing/2014/main" id="{AE840CFF-CD8E-4440-967F-6E1CD7C06595}"/>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8D1BFB8-D5B7-46E6-81B1-B40F8E659321}"/>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2CD1E39-270F-48F4-9E23-A83D48F8BDA6}"/>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655360FF-7954-4905-B440-90218AB6AC22}"/>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77EFA25F-B0A5-4BE3-9F89-EE33ED2EC48F}"/>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On the sealed artifact every threshold below 0.14 admits nothing and above it admits all 92, zero violations throughout. A pre-registered study since ran a support-only comparator (alpha=1, otherwise identical) on four repositories, 240 held-out pairs, and found the same all-or-none threshold everywhere: confirmed, not resolved, and still not a risk-coverage frontier.</a:t>
            </a:r>
          </a:p>
        </p:txBody>
      </p:sp>
      <p:sp>
        <p:nvSpPr>
          <p:cNvPr id="11" name="Shape 9">
            <a:extLst xmlns:a="http://schemas.openxmlformats.org/drawingml/2006/main">
              <a:ext uri="{FF2B5EF4-FFF2-40B4-BE49-F238E27FC236}">
                <a16:creationId xmlns:a16="http://schemas.microsoft.com/office/drawing/2014/main" id="{34CAC08B-7BDA-492D-A68C-11CFDCDD983A}"/>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EE7A285F-EF22-4F6C-A52F-620C4A9F6E5F}"/>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E3110B5B-4B4D-44BF-9490-8E5AA3E191C6}"/>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B6529097-9775-4A1B-BCBB-0E03342FDFB8}"/>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E73C4AC8-E5C7-4281-AE9C-99DA57ED74BC}"/>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09B90D5F-33D9-49A9-86ED-058E609C9DD5}"/>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D8D3289F-95F4-4CF9-BE76-362BCE27C8CD}"/>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EBE4766-91F0-4505-868E-312D91E60C76}"/>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79894871-6C08-449C-AA29-EAECB3772C7F}"/>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1CEEF0F4-4C6C-461B-96DF-C0BBCB423622}"/>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9A8F9EAD-9096-46D7-9754-6EED070B2278}"/>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166DE5C2-0A00-4898-86DC-1A0EDF2448A3}"/>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491CDB2B-266D-4FCC-9B85-31BF0212DB0F}"/>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78C6D54D-8BD7-45B9-BA24-89B8543B8725}"/>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BD8BBC92-79E2-4DCA-AF0B-0B833A91AA35}"/>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64CAF294-4C9F-4875-9099-DCF55FB65DCD}"/>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8A28BD87-56A2-436A-BA6F-8C7AFF1D8472}"/>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1D264393-1C5A-4EAD-91BE-F62F0FBE4117}"/>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A21A40CA-ACB9-4041-873E-0397D288CE52}"/>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3F888D91-2C9D-424D-A3FB-569C1FC3CA11}"/>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843722B8-41BC-4D8E-8E4A-9B04F7EE91F0}"/>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A3197AD0-AC77-4266-B1D4-5857C8F95943}"/>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19B37DD1-8A12-49DE-A1A5-3B78B62D13BB}"/>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GCS / GEPA results hold at α=.10, not the registered .05</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Break-even 181–411 episodes; part of the cost range is cache warmth</a:t>
            </a:r>
          </a:p>
        </p:txBody>
      </p:sp>
    </p:spTree>
    <p:extLst>
      <p:ext uri="{BB962C8B-B14F-4D97-AF65-F5344CB8AC3E}">
        <p14:creationId xmlns:p14="http://schemas.microsoft.com/office/powerpoint/2010/main" val="1557051848"/>
      </p:ext>
    </p:extLst>
  </p:cSld>
</p:sld>
</file>

<file path=ppt/slides/slide26.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6B370F-363E-47DF-8867-4D89469BA84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5CC9964-6348-4851-AA21-0D8353B17AE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26</a:t>
            </a:r>
          </a:p>
        </p:txBody>
      </p:sp>
      <p:sp>
        <p:nvSpPr>
          <p:cNvPr id="4" name="Shape 2">
            <a:extLst xmlns:a="http://schemas.openxmlformats.org/drawingml/2006/main">
              <a:ext uri="{FF2B5EF4-FFF2-40B4-BE49-F238E27FC236}">
                <a16:creationId xmlns:a16="http://schemas.microsoft.com/office/drawing/2014/main" id="{F836C73E-6C82-403A-9EB0-F3F8D2DAA808}"/>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C0D24668-6789-4CF7-8100-E69F70C15422}"/>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45E863D1-4299-46EE-8DE1-7E6285F856E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56B3BE"/>
                </a:solidFill>
                <a:latin typeface="Calibri"/>
                <a:ea typeface="Calibri"/>
                <a:cs typeface="Calibri"/>
              </a:rPr>
              <a:t>CONCLUSION  ·  §9</a:t>
            </a:r>
          </a:p>
        </p:txBody>
      </p:sp>
      <p:sp>
        <p:nvSpPr>
          <p:cNvPr id="7" name="Text 5">
            <a:extLst xmlns:a="http://schemas.openxmlformats.org/drawingml/2006/main">
              <a:ext uri="{FF2B5EF4-FFF2-40B4-BE49-F238E27FC236}">
                <a16:creationId xmlns:a16="http://schemas.microsoft.com/office/drawing/2014/main" id="{60D63703-DAA5-43B0-837F-BAD5531EDE31}"/>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optimizer by what it refuses</a:t>
            </a:r>
          </a:p>
        </p:txBody>
      </p:sp>
      <p:sp>
        <p:nvSpPr>
          <p:cNvPr id="8" name="Shape 6">
            <a:extLst xmlns:a="http://schemas.openxmlformats.org/drawingml/2006/main">
              <a:ext uri="{FF2B5EF4-FFF2-40B4-BE49-F238E27FC236}">
                <a16:creationId xmlns:a16="http://schemas.microsoft.com/office/drawing/2014/main" id="{C8940D96-B8C5-476A-9AA1-67EE701E03FB}"/>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B708CE1A-5C76-447E-B8D1-A624A423EB66}"/>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06AEDDBB-277A-4C83-93A0-F1438F65AB7D}"/>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B32AA8A9-EBDC-45A7-AD9C-B8078B66B527}"/>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03E76A61-8706-455E-BE38-0DBDC20F3030}"/>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4A53C96-8C0E-4F10-9F91-43DE89A2D02F}"/>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61A0776A-DA36-4730-8486-8B095A033000}"/>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D7D79267-D55C-4C6D-B1C3-21FBC3691AF1}"/>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126A3CE9-394B-4A50-8EF7-25B8A89B0090}"/>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961BEF0-24DE-4935-A926-0EE7E8A132D8}"/>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DFA4CE4C-26CA-4F4D-A39B-345C2D6FD1CD}"/>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7077E7A0-51BB-41AF-A268-1468065F3CA0}"/>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319577E4-9A6A-403A-97FF-0182FB9260ED}"/>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EDBBEFC0-C6B5-4719-93C6-899C57FDDDC9}"/>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294A87B6-9AB9-498A-9E15-96CD619D584B}"/>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82CAC90F-D137-4C3F-996B-1682BD995ED2}"/>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44C465B5-1DF8-4F77-B099-B017F50C7AE0}"/>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3597C"/>
                </a:solidFill>
                <a:latin typeface="Calibri"/>
                <a:ea typeface="Calibri"/>
                <a:cs typeface="Calibri"/>
              </a:rPr>
              <a:t>Compile or Retire: Evidence-Gated Specialization of Recurrent Agent Workflows  ·  artifact includes pinned data snapshots, raw results, and an adversarial self-review</a:t>
            </a:r>
          </a:p>
        </p:txBody>
      </p:sp>
    </p:spTree>
    <p:extLst>
      <p:ext uri="{BB962C8B-B14F-4D97-AF65-F5344CB8AC3E}">
        <p14:creationId xmlns:p14="http://schemas.microsoft.com/office/powerpoint/2010/main" val="1289244142"/>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Compile or Retire: Evidence-Gated Specialization of Recurrent Agent Workflows</dc:title>
  <dcterms:created xsi:type="dcterms:W3CDTF">2026-08-07T04:35:21.7750000Z</dcterms:created>
  <dcterms:modified xsi:type="dcterms:W3CDTF">2026-08-07T04:35:21.7750000Z</dcterms:modified>
</coreProperties>
</file>