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3.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4.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ed571f5c85e4043" /><Relationship Type="http://schemas.openxmlformats.org/officeDocument/2006/relationships/extended-properties" Target="/docProps/app.xml" Id="Rc751c52ca3854700" /><Relationship Type="http://schemas.openxmlformats.org/officeDocument/2006/relationships/officeDocument" Target="/ppt/presentation.xml" Id="R5e3fdc1e629c4b61" /></Relationships>
</file>

<file path=ppt/presentation.xml><?xml version="1.0" encoding="utf-8"?>
<p:presentation xmlns:p="http://schemas.openxmlformats.org/presentationml/2006/main">
  <p:sldMasterIdLst>
    <p:sldMasterId xmlns:r="http://schemas.openxmlformats.org/officeDocument/2006/relationships" id="2147483648" r:id="Ra9bb0e45c929450e"/>
  </p:sldMasterIdLst>
  <p:notesMasterIdLst>
    <p:notesMasterId xmlns:r="http://schemas.openxmlformats.org/officeDocument/2006/relationships" r:id="Rca1a7b9222444fff"/>
  </p:notesMasterIdLst>
  <p:sldIdLst>
    <p:sldId xmlns:r="http://schemas.openxmlformats.org/officeDocument/2006/relationships" id="256" r:id="Rcb51420c19624b63"/>
    <p:sldId xmlns:r="http://schemas.openxmlformats.org/officeDocument/2006/relationships" id="257" r:id="R4802bf8ff5994c35"/>
    <p:sldId xmlns:r="http://schemas.openxmlformats.org/officeDocument/2006/relationships" id="258" r:id="R8cb28e5efc3d4d99"/>
    <p:sldId xmlns:r="http://schemas.openxmlformats.org/officeDocument/2006/relationships" id="259" r:id="R765fec7264884c7a"/>
    <p:sldId xmlns:r="http://schemas.openxmlformats.org/officeDocument/2006/relationships" id="260" r:id="R4a769563cde34f1b"/>
    <p:sldId xmlns:r="http://schemas.openxmlformats.org/officeDocument/2006/relationships" id="261" r:id="R4017ceee328a4087"/>
    <p:sldId xmlns:r="http://schemas.openxmlformats.org/officeDocument/2006/relationships" id="262" r:id="R97cf76d9a9a146a0"/>
    <p:sldId xmlns:r="http://schemas.openxmlformats.org/officeDocument/2006/relationships" id="263" r:id="R089ce10aeb514008"/>
    <p:sldId xmlns:r="http://schemas.openxmlformats.org/officeDocument/2006/relationships" id="264" r:id="Rb7aa03ada7554b59"/>
    <p:sldId xmlns:r="http://schemas.openxmlformats.org/officeDocument/2006/relationships" id="265" r:id="Re0139a272f294468"/>
    <p:sldId xmlns:r="http://schemas.openxmlformats.org/officeDocument/2006/relationships" id="266" r:id="R19c3e053d3ff4d71"/>
    <p:sldId xmlns:r="http://schemas.openxmlformats.org/officeDocument/2006/relationships" id="267" r:id="R638f4652f4b441f2"/>
    <p:sldId xmlns:r="http://schemas.openxmlformats.org/officeDocument/2006/relationships" id="268" r:id="R56284e1bb8d2451f"/>
    <p:sldId xmlns:r="http://schemas.openxmlformats.org/officeDocument/2006/relationships" id="269" r:id="Rc7fd36e12b954ef5"/>
    <p:sldId xmlns:r="http://schemas.openxmlformats.org/officeDocument/2006/relationships" id="270" r:id="R61d5ecff382e4281"/>
    <p:sldId xmlns:r="http://schemas.openxmlformats.org/officeDocument/2006/relationships" id="271" r:id="R6801cf0657e3470d"/>
    <p:sldId xmlns:r="http://schemas.openxmlformats.org/officeDocument/2006/relationships" id="272" r:id="R83eea0d5099e4ea3"/>
    <p:sldId xmlns:r="http://schemas.openxmlformats.org/officeDocument/2006/relationships" id="273" r:id="Rf9f74f562a714c86"/>
    <p:sldId xmlns:r="http://schemas.openxmlformats.org/officeDocument/2006/relationships" id="274" r:id="R35549c2f6ce94626"/>
    <p:sldId xmlns:r="http://schemas.openxmlformats.org/officeDocument/2006/relationships" id="275" r:id="R5e08d3d3a6c34576"/>
    <p:sldId xmlns:r="http://schemas.openxmlformats.org/officeDocument/2006/relationships" id="276" r:id="R20e7f49dd7044cd9"/>
    <p:sldId xmlns:r="http://schemas.openxmlformats.org/officeDocument/2006/relationships" id="277" r:id="R585f0d2f8d3a493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a9bb0e45c929450e" /><Relationship Type="http://schemas.openxmlformats.org/officeDocument/2006/relationships/theme" Target="/ppt/theme/theme1.xml" Id="R2ab4b1adb8694897" /><Relationship Type="http://schemas.openxmlformats.org/officeDocument/2006/relationships/notesMaster" Target="/ppt/notesMasters/notesMaster1.xml" Id="Rca1a7b9222444fff" /><Relationship Type="http://schemas.openxmlformats.org/officeDocument/2006/relationships/presProps" Target="/ppt/presProps.xml" Id="R9268174ea5474e01" /><Relationship Type="http://schemas.openxmlformats.org/officeDocument/2006/relationships/viewProps" Target="/ppt/viewProps.xml" Id="R46e479a9843641e6" /><Relationship Type="http://schemas.openxmlformats.org/officeDocument/2006/relationships/tableStyles" Target="/ppt/tableStyles.xml" Id="Rf9d7c9f647e64e6a" /><Relationship Type="http://schemas.openxmlformats.org/officeDocument/2006/relationships/slide" Target="/ppt/slides/slide1.xml" Id="Rcb51420c19624b63" /><Relationship Type="http://schemas.openxmlformats.org/officeDocument/2006/relationships/slide" Target="/ppt/slides/slide2.xml" Id="R4802bf8ff5994c35" /><Relationship Type="http://schemas.openxmlformats.org/officeDocument/2006/relationships/slide" Target="/ppt/slides/slide3.xml" Id="R8cb28e5efc3d4d99" /><Relationship Type="http://schemas.openxmlformats.org/officeDocument/2006/relationships/slide" Target="/ppt/slides/slide4.xml" Id="R765fec7264884c7a" /><Relationship Type="http://schemas.openxmlformats.org/officeDocument/2006/relationships/slide" Target="/ppt/slides/slide5.xml" Id="R4a769563cde34f1b" /><Relationship Type="http://schemas.openxmlformats.org/officeDocument/2006/relationships/slide" Target="/ppt/slides/slide6.xml" Id="R4017ceee328a4087" /><Relationship Type="http://schemas.openxmlformats.org/officeDocument/2006/relationships/slide" Target="/ppt/slides/slide7.xml" Id="R97cf76d9a9a146a0" /><Relationship Type="http://schemas.openxmlformats.org/officeDocument/2006/relationships/slide" Target="/ppt/slides/slide8.xml" Id="R089ce10aeb514008" /><Relationship Type="http://schemas.openxmlformats.org/officeDocument/2006/relationships/slide" Target="/ppt/slides/slide9.xml" Id="Rb7aa03ada7554b59" /><Relationship Type="http://schemas.openxmlformats.org/officeDocument/2006/relationships/slide" Target="/ppt/slides/slide10.xml" Id="Re0139a272f294468" /><Relationship Type="http://schemas.openxmlformats.org/officeDocument/2006/relationships/slide" Target="/ppt/slides/slide11.xml" Id="R19c3e053d3ff4d71" /><Relationship Type="http://schemas.openxmlformats.org/officeDocument/2006/relationships/slide" Target="/ppt/slides/slide12.xml" Id="R638f4652f4b441f2" /><Relationship Type="http://schemas.openxmlformats.org/officeDocument/2006/relationships/slide" Target="/ppt/slides/slide13.xml" Id="R56284e1bb8d2451f" /><Relationship Type="http://schemas.openxmlformats.org/officeDocument/2006/relationships/slide" Target="/ppt/slides/slide14.xml" Id="Rc7fd36e12b954ef5" /><Relationship Type="http://schemas.openxmlformats.org/officeDocument/2006/relationships/slide" Target="/ppt/slides/slide15.xml" Id="R61d5ecff382e4281" /><Relationship Type="http://schemas.openxmlformats.org/officeDocument/2006/relationships/slide" Target="/ppt/slides/slide16.xml" Id="R6801cf0657e3470d" /><Relationship Type="http://schemas.openxmlformats.org/officeDocument/2006/relationships/slide" Target="/ppt/slides/slide17.xml" Id="R83eea0d5099e4ea3" /><Relationship Type="http://schemas.openxmlformats.org/officeDocument/2006/relationships/slide" Target="/ppt/slides/slide18.xml" Id="Rf9f74f562a714c86" /><Relationship Type="http://schemas.openxmlformats.org/officeDocument/2006/relationships/slide" Target="/ppt/slides/slide19.xml" Id="R35549c2f6ce94626" /><Relationship Type="http://schemas.openxmlformats.org/officeDocument/2006/relationships/slide" Target="/ppt/slides/slide20.xml" Id="R5e08d3d3a6c34576" /><Relationship Type="http://schemas.openxmlformats.org/officeDocument/2006/relationships/slide" Target="/ppt/slides/slide21.xml" Id="R20e7f49dd7044cd9" /><Relationship Type="http://schemas.openxmlformats.org/officeDocument/2006/relationships/slide" Target="/ppt/slides/slide22.xml" Id="R585f0d2f8d3a49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c55ed1a6d56d4f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b43f5e6a144075" /><Relationship Type="http://schemas.openxmlformats.org/officeDocument/2006/relationships/notesMaster" Target="/ppt/notesMasters/notesMaster1.xml" Id="R0a7914dee9ce48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8e53bee2474496" /><Relationship Type="http://schemas.openxmlformats.org/officeDocument/2006/relationships/notesMaster" Target="/ppt/notesMasters/notesMaster1.xml" Id="Rdbf872b6956841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fee502d31f41ef" /><Relationship Type="http://schemas.openxmlformats.org/officeDocument/2006/relationships/notesMaster" Target="/ppt/notesMasters/notesMaster1.xml" Id="R1fd4d7ec3f194c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a1190340304364" /><Relationship Type="http://schemas.openxmlformats.org/officeDocument/2006/relationships/notesMaster" Target="/ppt/notesMasters/notesMaster1.xml" Id="Rd6bb7104bcb749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baef6f53c14e02" /><Relationship Type="http://schemas.openxmlformats.org/officeDocument/2006/relationships/notesMaster" Target="/ppt/notesMasters/notesMaster1.xml" Id="Ra3526db5e97e49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7a674a330d4d4ad5" /><Relationship Type="http://schemas.openxmlformats.org/officeDocument/2006/relationships/notesMaster" Target="/ppt/notesMasters/notesMaster1.xml" Id="R780d32ade1fc44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5807f0a41c40c0" /><Relationship Type="http://schemas.openxmlformats.org/officeDocument/2006/relationships/notesMaster" Target="/ppt/notesMasters/notesMaster1.xml" Id="R66951bffd44d4c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92b286c7ccc46eb" /><Relationship Type="http://schemas.openxmlformats.org/officeDocument/2006/relationships/notesMaster" Target="/ppt/notesMasters/notesMaster1.xml" Id="R727e11e5192a43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8a9a11eb55db4ade" /><Relationship Type="http://schemas.openxmlformats.org/officeDocument/2006/relationships/notesMaster" Target="/ppt/notesMasters/notesMaster1.xml" Id="R77daad7a6bb44b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b9b236785c04c97" /><Relationship Type="http://schemas.openxmlformats.org/officeDocument/2006/relationships/notesMaster" Target="/ppt/notesMasters/notesMaster1.xml" Id="R33467df3b31547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e35eb8d6d5a497d" /><Relationship Type="http://schemas.openxmlformats.org/officeDocument/2006/relationships/notesMaster" Target="/ppt/notesMasters/notesMaster1.xml" Id="R378f87bc8ab944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8891328bce84b88" /><Relationship Type="http://schemas.openxmlformats.org/officeDocument/2006/relationships/notesMaster" Target="/ppt/notesMasters/notesMaster1.xml" Id="R545c05c0fbbc48e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d071b585d584ed7" /><Relationship Type="http://schemas.openxmlformats.org/officeDocument/2006/relationships/notesMaster" Target="/ppt/notesMasters/notesMaster1.xml" Id="R9f08040bf2ae4f2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6d5702f93df4401" /><Relationship Type="http://schemas.openxmlformats.org/officeDocument/2006/relationships/notesMaster" Target="/ppt/notesMasters/notesMaster1.xml" Id="Rbd92b8dff08a451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52acddbf22b4865" /><Relationship Type="http://schemas.openxmlformats.org/officeDocument/2006/relationships/notesMaster" Target="/ppt/notesMasters/notesMaster1.xml" Id="Rc4cf0dccdbf84b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dba98f83a114239" /><Relationship Type="http://schemas.openxmlformats.org/officeDocument/2006/relationships/notesMaster" Target="/ppt/notesMasters/notesMaster1.xml" Id="R3e06e8edc5a24b0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c9b0b01370443f" /><Relationship Type="http://schemas.openxmlformats.org/officeDocument/2006/relationships/notesMaster" Target="/ppt/notesMasters/notesMaster1.xml" Id="Rab3eccc91d65471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985cb0ec65f41d2" /><Relationship Type="http://schemas.openxmlformats.org/officeDocument/2006/relationships/notesMaster" Target="/ppt/notesMasters/notesMaster1.xml" Id="R260e1c6e8d73407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e3723ecf19d40a1" /><Relationship Type="http://schemas.openxmlformats.org/officeDocument/2006/relationships/notesMaster" Target="/ppt/notesMasters/notesMaster1.xml" Id="R46d89ef190634d0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5711d4e82914312" /><Relationship Type="http://schemas.openxmlformats.org/officeDocument/2006/relationships/notesMaster" Target="/ppt/notesMasters/notesMaster1.xml" Id="Rde689316d47342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c94287d5d0c40b7" /><Relationship Type="http://schemas.openxmlformats.org/officeDocument/2006/relationships/notesMaster" Target="/ppt/notesMasters/notesMaster1.xml" Id="R6f7015dd1d3647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2823e3e7eba430d" /><Relationship Type="http://schemas.openxmlformats.org/officeDocument/2006/relationships/notesMaster" Target="/ppt/notesMasters/notesMaster1.xml" Id="R841c5620cc574c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a3e0ab1a047436b"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b5bc1bb1349d4f20" /><Relationship Type="http://schemas.openxmlformats.org/officeDocument/2006/relationships/slideLayout" Target="/ppt/slideLayouts/slideLayout2.xml" Id="R42d7494af79544c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d7494af79544c4"/>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60cc2738c47b44c0" /><Relationship Type="http://schemas.openxmlformats.org/officeDocument/2006/relationships/notesSlide" Target="/ppt/notesSlides/notesSlide1.xml" Id="R61246074718d4e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807fae42663c46dc" /><Relationship Type="http://schemas.openxmlformats.org/officeDocument/2006/relationships/notesSlide" Target="/ppt/notesSlides/notesSlide2.xml" Id="Rb3a16e1efab849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b376c1df838e4bb6" /><Relationship Type="http://schemas.openxmlformats.org/officeDocument/2006/relationships/notesSlide" Target="/ppt/notesSlides/notesSlide3.xml" Id="R220aafc2c9054502"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f9801571905648ea" /><Relationship Type="http://schemas.openxmlformats.org/officeDocument/2006/relationships/notesSlide" Target="/ppt/notesSlides/notesSlide4.xml" Id="R0cbd79058b0c43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ec2eacaecee749b6" /><Relationship Type="http://schemas.openxmlformats.org/officeDocument/2006/relationships/notesSlide" Target="/ppt/notesSlides/notesSlide5.xml" Id="R73cc45f9f46c42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81a96f1d09624212" /><Relationship Type="http://schemas.openxmlformats.org/officeDocument/2006/relationships/notesSlide" Target="/ppt/notesSlides/notesSlide6.xml" Id="Rfdcb1ed6fd0f44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e5b06e70ca740d4" /><Relationship Type="http://schemas.openxmlformats.org/officeDocument/2006/relationships/notesSlide" Target="/ppt/notesSlides/notesSlide7.xml" Id="R1d88ee97ef594651"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e1d92f60aaf3448d" /><Relationship Type="http://schemas.openxmlformats.org/officeDocument/2006/relationships/notesSlide" Target="/ppt/notesSlides/notesSlide8.xml" Id="R856dd009c1274917"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c2d88e4beb6d4e74" /><Relationship Type="http://schemas.openxmlformats.org/officeDocument/2006/relationships/notesSlide" Target="/ppt/notesSlides/notesSlide9.xml" Id="Rfb0f8a71ee174b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6eaa6263e9394eaf" /><Relationship Type="http://schemas.openxmlformats.org/officeDocument/2006/relationships/notesSlide" Target="/ppt/notesSlides/notesSlide10.xml" Id="Rcaeec86109784e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beb1f7eaaf74400b" /><Relationship Type="http://schemas.openxmlformats.org/officeDocument/2006/relationships/notesSlide" Target="/ppt/notesSlides/notesSlide11.xml" Id="R8b8e086afee44a2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9a0c75e977d14f57" /><Relationship Type="http://schemas.openxmlformats.org/officeDocument/2006/relationships/notesSlide" Target="/ppt/notesSlides/notesSlide12.xml" Id="Rbddfa035c74743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b8e23519e8014133" /><Relationship Type="http://schemas.openxmlformats.org/officeDocument/2006/relationships/notesSlide" Target="/ppt/notesSlides/notesSlide13.xml" Id="R9bef0f58640b42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465ea9d97c5c490d" /><Relationship Type="http://schemas.openxmlformats.org/officeDocument/2006/relationships/chart" Target="/ppt/slides/charts/chart1.xml" Id="Rfbf31868e22641f2" /><Relationship Type="http://schemas.openxmlformats.org/officeDocument/2006/relationships/notesSlide" Target="/ppt/notesSlides/notesSlide14.xml" Id="R3262e82717b44b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db44ab183d854459" /><Relationship Type="http://schemas.openxmlformats.org/officeDocument/2006/relationships/chart" Target="/ppt/slides/charts/chart2.xml" Id="R5f6ce53ac87b4f49" /><Relationship Type="http://schemas.openxmlformats.org/officeDocument/2006/relationships/notesSlide" Target="/ppt/notesSlides/notesSlide15.xml" Id="R7f3a748a8208468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a98aa2879c654b34" /><Relationship Type="http://schemas.openxmlformats.org/officeDocument/2006/relationships/notesSlide" Target="/ppt/notesSlides/notesSlide16.xml" Id="R0e46422188ba484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02f98a7a2188495e" /><Relationship Type="http://schemas.openxmlformats.org/officeDocument/2006/relationships/chart" Target="/ppt/slides/charts/chart3.xml" Id="R6529d3fdfbc94ff7" /><Relationship Type="http://schemas.openxmlformats.org/officeDocument/2006/relationships/notesSlide" Target="/ppt/notesSlides/notesSlide17.xml" Id="Rb498d0c6a9cd4e0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5c5d4525d92b4204" /><Relationship Type="http://schemas.openxmlformats.org/officeDocument/2006/relationships/notesSlide" Target="/ppt/notesSlides/notesSlide18.xml" Id="R3e292307a6d34cc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bff505be1c3f4638" /><Relationship Type="http://schemas.openxmlformats.org/officeDocument/2006/relationships/notesSlide" Target="/ppt/notesSlides/notesSlide19.xml" Id="R9baf7e86b3504da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2e3d722427094756" /><Relationship Type="http://schemas.openxmlformats.org/officeDocument/2006/relationships/chart" Target="/ppt/slides/charts/chart4.xml" Id="R6ef1693e41bf49a1" /><Relationship Type="http://schemas.openxmlformats.org/officeDocument/2006/relationships/notesSlide" Target="/ppt/notesSlides/notesSlide20.xml" Id="Rea9a71233b46425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8ba4a10a2b4240cc" /><Relationship Type="http://schemas.openxmlformats.org/officeDocument/2006/relationships/notesSlide" Target="/ppt/notesSlides/notesSlide21.xml" Id="R926b331d09ad449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e058f386646c4b17" /><Relationship Type="http://schemas.openxmlformats.org/officeDocument/2006/relationships/notesSlide" Target="/ppt/notesSlides/notesSlide22.xml" Id="R4b33b381ec2e4733"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NESTFUL: independent group records available vs required</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Group records</c:v>
                </c:pt>
              </c:strCache>
            </c:strRef>
          </c:tx>
          <c:spPr>
            <a:solidFill xmlns:a="http://schemas.openxmlformats.org/drawingml/2006/main">
              <a:srgbClr val="17798A"/>
            </a:solidFill>
          </c:spPr>
          <c:dPt>
            <c:idx val="1"/>
            <c:spPr>
              <a:solidFill xmlns:a="http://schemas.openxmlformats.org/drawingml/2006/main">
                <a:srgbClr val="AC4A2C"/>
              </a:solidFill>
            </c:spPr>
          </c:dPt>
          <c:cat>
            <c:strRef>
              <c:f>Sheet1!$A$2:$A$3</c:f>
              <c:strCache>
                <c:ptCount val="2"/>
                <c:pt idx="0">
                  <c:v>Best family support</c:v>
                </c:pt>
                <c:pt idx="1">
                  <c:v>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6EEF0"/>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CC7CE"/>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7798A"/>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C4A2C"/>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F767A"/>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F767A"/>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7798A"/>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C4A2C"/>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6EEF0"/>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A4247"/>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F767A"/>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F767A"/>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C4A2C"/>
            </a:solidFill>
          </c:spPr>
          <c:dPt>
            <c:idx val="1"/>
            <c:spPr>
              <a:solidFill xmlns:a="http://schemas.openxmlformats.org/drawingml/2006/main">
                <a:srgbClr val="17798A"/>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F767A"/>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6EEF0"/>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F767A"/>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7A96FFC-7730-483E-960D-0A9C62195BE9}"/>
              </a:ext>
            </a:extLst>
          </p:cNvPr>
          <p:cNvSpPr>
            <a:spLocks xmlns:a="http://schemas.openxmlformats.org/drawingml/2006/main" noGrp="1"/>
          </p:cNvSpPr>
          <p:nvPr/>
        </p:nvSpPr>
        <p:spPr>
          <a:xfrm xmlns:a="http://schemas.openxmlformats.org/drawingml/2006/main">
            <a:off x="8686800" y="-1371600"/>
            <a:ext cx="5852160" cy="58521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E651BB87-0533-481B-B52D-CA8003BA0C39}"/>
              </a:ext>
            </a:extLst>
          </p:cNvPr>
          <p:cNvSpPr>
            <a:spLocks xmlns:a="http://schemas.openxmlformats.org/drawingml/2006/main" noGrp="1"/>
          </p:cNvSpPr>
          <p:nvPr/>
        </p:nvSpPr>
        <p:spPr>
          <a:xfrm xmlns:a="http://schemas.openxmlformats.org/drawingml/2006/main">
            <a:off x="9966960" y="-91440"/>
            <a:ext cx="3291840" cy="3291840"/>
          </a:xfrm>
          <a:prstGeom xmlns:a="http://schemas.openxmlformats.org/drawingml/2006/main" prst="ellipse">
            <a:avLst/>
          </a:prstGeom>
          <a:solidFill xmlns:a="http://schemas.openxmlformats.org/drawingml/2006/main">
            <a:srgbClr val="17798A">
              <a:alpha val="45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A03FB4E2-E6E3-46DF-A8C2-DF5F6C8A34DB}"/>
              </a:ext>
            </a:extLst>
          </p:cNvPr>
          <p:cNvSpPr>
            <a:spLocks xmlns:a="http://schemas.openxmlformats.org/drawingml/2006/main" noGrp="1"/>
          </p:cNvSpPr>
          <p:nvPr/>
        </p:nvSpPr>
        <p:spPr>
          <a:xfrm xmlns:a="http://schemas.openxmlformats.org/drawingml/2006/main">
            <a:off x="10835640" y="777240"/>
            <a:ext cx="1554480" cy="1554480"/>
          </a:xfrm>
          <a:prstGeom xmlns:a="http://schemas.openxmlformats.org/drawingml/2006/main" prst="ellipse">
            <a:avLst/>
          </a:prstGeom>
          <a:solidFill xmlns:a="http://schemas.openxmlformats.org/drawingml/2006/main">
            <a:srgbClr val="4EA3B0">
              <a:alpha val="70000"/>
            </a:srgbClr>
          </a:solidFill>
          <a:ln xmlns:a="http://schemas.openxmlformats.org/drawingml/2006/main" w="1270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06E99279-C5ED-4AC5-B9AB-523DED183FA6}"/>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EA3B0"/>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07575474-6E93-410B-85B8-5DA4D5EAC580}"/>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37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895456CF-CE09-4ECA-BFB8-9062BC9240CF}"/>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CC7CE"/>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87B51B92-B919-4E3E-BFB8-8C4D201BF9B2}"/>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1</a:t>
            </a:r>
          </a:p>
        </p:txBody>
      </p:sp>
      <p:sp>
        <p:nvSpPr>
          <p:cNvPr id="9" name="Text 7">
            <a:extLst xmlns:a="http://schemas.openxmlformats.org/drawingml/2006/main">
              <a:ext uri="{FF2B5EF4-FFF2-40B4-BE49-F238E27FC236}">
                <a16:creationId xmlns:a16="http://schemas.microsoft.com/office/drawing/2014/main" id="{8241FEF5-7C85-48F1-8A21-370F76B428E3}"/>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public executable benchmark (NESTFUL, 1,415 episodes)</a:t>
            </a:r>
          </a:p>
        </p:txBody>
      </p:sp>
      <p:sp>
        <p:nvSpPr>
          <p:cNvPr id="10" name="Text 8">
            <a:extLst xmlns:a="http://schemas.openxmlformats.org/drawingml/2006/main">
              <a:ext uri="{FF2B5EF4-FFF2-40B4-BE49-F238E27FC236}">
                <a16:creationId xmlns:a16="http://schemas.microsoft.com/office/drawing/2014/main" id="{53705B2A-9A5A-422C-8725-85402ECF31C6}"/>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6</a:t>
            </a:r>
          </a:p>
        </p:txBody>
      </p:sp>
      <p:sp>
        <p:nvSpPr>
          <p:cNvPr id="11" name="Text 9">
            <a:extLst xmlns:a="http://schemas.openxmlformats.org/drawingml/2006/main">
              <a:ext uri="{FF2B5EF4-FFF2-40B4-BE49-F238E27FC236}">
                <a16:creationId xmlns:a16="http://schemas.microsoft.com/office/drawing/2014/main" id="{6A895860-41AD-4031-B75C-A3F4BA74A281}"/>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31461C7D-BB0E-4A4E-8A81-F041A4761670}"/>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4EA3B0"/>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FCF44484-5502-4BDC-B583-017A466D5159}"/>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9CC7CE"/>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74DF5D54-7FB6-4CBC-BC68-D26EC7A82DFF}"/>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C6B70"/>
                </a:solidFill>
                <a:latin typeface="Calibri"/>
                <a:ea typeface="Calibri"/>
                <a:cs typeface="Calibri"/>
              </a:rPr>
              <a:t>Prepared for engineering leadership  ·  JazzX AI  ·  August 2026</a:t>
            </a:r>
          </a:p>
        </p:txBody>
      </p:sp>
    </p:spTree>
    <p:extLst>
      <p:ext uri="{BB962C8B-B14F-4D97-AF65-F5344CB8AC3E}">
        <p14:creationId xmlns:p14="http://schemas.microsoft.com/office/powerpoint/2010/main" val="82623752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AD9099-6330-4643-A574-9E6E9751F327}"/>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90C1223-BD47-42EC-A341-9112E3104D6A}"/>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66CA584C-D925-4739-8F44-5F087451F79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SHORT VERSION</a:t>
            </a:r>
          </a:p>
        </p:txBody>
      </p:sp>
      <p:sp>
        <p:nvSpPr>
          <p:cNvPr id="5" name="Text 3">
            <a:extLst xmlns:a="http://schemas.openxmlformats.org/drawingml/2006/main">
              <a:ext uri="{FF2B5EF4-FFF2-40B4-BE49-F238E27FC236}">
                <a16:creationId xmlns:a16="http://schemas.microsoft.com/office/drawing/2014/main" id="{DE85156D-603D-42CA-9F8D-CF176AAC483B}"/>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Recurrence tells you a region repeats — not that it may be replaced</a:t>
            </a:r>
          </a:p>
        </p:txBody>
      </p:sp>
      <p:sp>
        <p:nvSpPr>
          <p:cNvPr id="6" name="Shape 4">
            <a:extLst xmlns:a="http://schemas.openxmlformats.org/drawingml/2006/main">
              <a:ext uri="{FF2B5EF4-FFF2-40B4-BE49-F238E27FC236}">
                <a16:creationId xmlns:a16="http://schemas.microsoft.com/office/drawing/2014/main" id="{C9D5E26B-3DAD-4255-9731-55BB046B6488}"/>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F14CA84-1147-417F-864B-97F3B3FFD40A}"/>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D4A54"/>
                </a:solidFill>
                <a:latin typeface="Calibri"/>
                <a:ea typeface="Calibri"/>
                <a:cs typeface="Calibri"/>
              </a:rPr>
              <a:t>GAC supplies the missing admission argument: </a:t>
            </a:r>
            <a:r>
              <a:rPr sz="1400" b="1">
                <a:solidFill>
                  <a:srgbClr val="0D4A54"/>
                </a:solidFill>
                <a:latin typeface="Calibri"/>
                <a:ea typeface="Calibri"/>
                <a:cs typeface="Calibri"/>
              </a:rPr>
              <a:t>typed value provenance, effect barriers, empirical contracts, and a finite-sample risk gate. </a:t>
            </a:r>
            <a:r>
              <a:rPr sz="1400">
                <a:solidFill>
                  <a:srgbClr val="0D4A54"/>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6B43C3F7-409B-47EC-96D8-14D811318DBA}"/>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544924A-F20D-4994-AB79-CAFDAD1193C5}"/>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5E3A9677-7952-45C7-A712-3D6D600A9F69}"/>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3E1ED6E-6A6C-421C-9E70-72FF4FBDCF4B}"/>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AF5D0CDF-CD27-47B9-B4DF-CF0FCCC7FE56}"/>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F1801C25-6233-4345-8471-E4745B520AD7}"/>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5C8356E6-F29A-4792-B864-41EA304F18D8}"/>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667FB08-7142-44AD-873B-41556BC24DA8}"/>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D4A54"/>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D4B321B9-78C0-477E-BB3E-0FD3CA7294E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37BB2A11-D1EF-43BE-8345-A9A61D09B577}"/>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BD021035-328B-4B43-B532-E1FF3235AB29}"/>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C4A2C"/>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7DAEBF02-317E-407D-8C10-2ADF41244F8D}"/>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F767A"/>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6FF56F4-854C-4A77-ACC6-1CE2DFC17FA7}"/>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E76102A9-2CB1-48DB-9687-925D7AA8AD63}"/>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7598217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C37A884-3EC5-4FD6-8DEE-58A71DC7377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EB5131F-5BB6-4D9D-8CF1-226ADE63077E}"/>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6F5F0F6D-540C-49D5-9C86-544B4DE7B58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PROBLEM</a:t>
            </a:r>
          </a:p>
        </p:txBody>
      </p:sp>
      <p:sp>
        <p:nvSpPr>
          <p:cNvPr id="5" name="Text 3">
            <a:extLst xmlns:a="http://schemas.openxmlformats.org/drawingml/2006/main">
              <a:ext uri="{FF2B5EF4-FFF2-40B4-BE49-F238E27FC236}">
                <a16:creationId xmlns:a16="http://schemas.microsoft.com/office/drawing/2014/main" id="{8ACAAA2F-F9BC-4755-8E31-DB1AC26DA67B}"/>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model calls for three decisions the trace already fixed</a:t>
            </a:r>
          </a:p>
        </p:txBody>
      </p:sp>
      <p:sp>
        <p:nvSpPr>
          <p:cNvPr id="6" name="Text 4">
            <a:extLst xmlns:a="http://schemas.openxmlformats.org/drawingml/2006/main">
              <a:ext uri="{FF2B5EF4-FFF2-40B4-BE49-F238E27FC236}">
                <a16:creationId xmlns:a16="http://schemas.microsoft.com/office/drawing/2014/main" id="{FE91E8E5-824F-4F77-8C94-89A2FF92F8B5}"/>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A4247"/>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EDD97C67-8AFC-48F3-BC60-D5DE68FEEC6C}"/>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C5891F38-51D8-4285-818B-C479841F9F01}"/>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C4A2C"/>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AAEC4346-0DFF-4825-8217-E8156BECF11E}"/>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89BAB768-96C4-4A4C-B8DD-884573F8B8E1}"/>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523F3F36-B064-43D2-9E1C-F4ABCB583E8F}"/>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9A09B869-5ABF-430C-A659-7401E9928524}"/>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AD0C0E6F-659F-4A6D-940C-E1606C12EBD0}"/>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7CC575AE-C7F1-4A2A-A201-AE213CB9E84D}"/>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A11533A5-EBBD-4D86-96CD-792673E27AC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1DFE4A59-4030-4351-B976-07F8D930E71C}"/>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C669A8B7-6F3F-4D62-9680-BC3F035DF63C}"/>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E079276A-8476-4CB9-9537-CF35337369CC}"/>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B816ECE4-9702-4814-B67F-5780193BE864}"/>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AF5B768-D019-436A-BF21-0843370384ED}"/>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CBC741EB-6D5D-42C2-A5C6-0CCCB43A33D1}"/>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79051278-C7E7-48D0-8A3F-CBF23B9A714B}"/>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DF4E6856-2EBF-4B07-B759-D4B6119DB94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86AB149C-CEA0-46E6-8C5C-6DE08CA41665}"/>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0F3CBD22-A8E9-44DD-B24C-BB8367B3DA53}"/>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1BA1F86B-D5A8-4984-9CEF-EDAB227FD0EB}"/>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37A6BB2E-63E6-40AF-947F-1D51F7172566}"/>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25A10C41-EC6C-4AFC-9996-E49B169B6E6D}"/>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7D544BD6-F5A3-40CC-A2E8-5BA773C1512F}"/>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EE57DAC0-9116-4106-BE0C-3690521CC9C3}"/>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D6D3A884-6204-42FF-9B21-3F0E9C769BB3}"/>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F91DE46-7797-4CFE-993B-E157A1DBF5CF}"/>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E7D70CA8-DF86-4860-9B3E-5017F5DEB276}"/>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D4A54"/>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93005994-7358-4492-9872-E8123D00383D}"/>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0812427C-BE8C-43D1-AC20-426A44F4E7EE}"/>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20CFC0BB-A8E2-4976-A0EB-37597F342503}"/>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70064253-050B-4B3E-9ADE-6D3FAE173A9E}"/>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C4A2C"/>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5B6BD76A-22BE-4506-90EB-3E8F04F828CA}"/>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0AAF1896-075C-45E1-A626-BD44412CC51B}"/>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A9B34EEC-EE8D-4CE8-999D-DAC9F47EA224}"/>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D4A54"/>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1E01FA21-6098-4006-A6BE-7576915A2EA3}"/>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E61951BD-1D9B-4110-87ED-C3DE387FDF47}"/>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9002B2EF-F47B-41A4-9D7D-D5B8678A9551}"/>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CC868B6F-F679-4189-9A95-F4A38A889C88}"/>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E3B0B133-E11B-4F04-807B-B8D24E47359F}"/>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E8ED964B-A22A-449C-A032-82700115EC4D}"/>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5D4494E3-DD38-4F86-855F-189E5CE7ACFA}"/>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D4A54"/>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717A800C-961F-4ADA-8D72-4714D3F473DF}"/>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F767A"/>
                </a:solidFill>
                <a:latin typeface="Calibri"/>
                <a:ea typeface="Calibri"/>
                <a:cs typeface="Calibri"/>
              </a:rPr>
              <a:t>per episode</a:t>
            </a:r>
          </a:p>
        </p:txBody>
      </p:sp>
    </p:spTree>
    <p:extLst>
      <p:ext uri="{BB962C8B-B14F-4D97-AF65-F5344CB8AC3E}">
        <p14:creationId xmlns:p14="http://schemas.microsoft.com/office/powerpoint/2010/main" val="382984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563E90-8A0E-4CC5-93AC-2B7BE4EC9D20}"/>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ED9B957-5BC1-404D-B726-549718745472}"/>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F2025F46-977E-4F3E-8366-0157F277E66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WHY THIS IS NOT CACHING</a:t>
            </a:r>
          </a:p>
        </p:txBody>
      </p:sp>
      <p:sp>
        <p:nvSpPr>
          <p:cNvPr id="5" name="Text 3">
            <a:extLst xmlns:a="http://schemas.openxmlformats.org/drawingml/2006/main">
              <a:ext uri="{FF2B5EF4-FFF2-40B4-BE49-F238E27FC236}">
                <a16:creationId xmlns:a16="http://schemas.microsoft.com/office/drawing/2014/main" id="{FBA71158-7751-4DBC-B04E-B9DAAD6C729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Four ways a repeated region can still be inadmissible</a:t>
            </a:r>
          </a:p>
        </p:txBody>
      </p:sp>
      <p:sp>
        <p:nvSpPr>
          <p:cNvPr id="6" name="Shape 4">
            <a:extLst xmlns:a="http://schemas.openxmlformats.org/drawingml/2006/main">
              <a:ext uri="{FF2B5EF4-FFF2-40B4-BE49-F238E27FC236}">
                <a16:creationId xmlns:a16="http://schemas.microsoft.com/office/drawing/2014/main" id="{A664F74F-AC8A-4E62-8DEB-397FF9A1D4A8}"/>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B7A86646-3928-4F5C-89DF-70FD8C32175D}"/>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CCF3867B-E8B1-4578-949D-4E01143D0D1E}"/>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AB24A4F-43F8-4BCA-8EDC-DCD58DBFDE00}"/>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DE5582D4-D0A5-4EFF-BDF0-918A1B19CCCB}"/>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D3CE7536-F311-4879-892F-14027CB962E1}"/>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BE2C5DD9-7B75-4930-88E3-9DAFFACEEC12}"/>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5C89817F-F2DD-4950-9322-97B619B346E8}"/>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2E830FA3-0F77-474C-9E22-8134C3C4DBCB}"/>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4C9C7AB3-5C43-475A-B472-C56263B8FF99}"/>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272EE950-B3C0-4DEC-A0E5-5B5B999A5CB6}"/>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843A2546-139C-4D6B-9B0C-D15685B0824E}"/>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732172A-3806-477B-BCCA-6C195C3D4D6B}"/>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0C15ECC-4802-4977-8E52-0C2C54D112F5}"/>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06381CD0-492E-4210-BC0A-2C7E37603F4A}"/>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9AEC4C18-7559-4403-92B0-ABFC6EBAA1F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D70FA136-C011-4A8F-89CD-80DA76380122}"/>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76086F7A-E274-4F7F-AE2B-CBF4020601F2}"/>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22E7C5CF-F2FE-4564-ABF7-D5C6F7C4F7F3}"/>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D4A54"/>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0221A140-2BBB-4957-9808-AAB83ED1AC56}"/>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26D18804-A69C-4E7B-938C-71116E23FE04}"/>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7A8CD07D-019A-4572-8C6A-682A49692E0E}"/>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D4A54"/>
                </a:solidFill>
                <a:latin typeface="Calibri"/>
                <a:ea typeface="Calibri"/>
                <a:cs typeface="Calibri"/>
              </a:rPr>
              <a:t>Deleting a model decision is a semantic change, not a memoization. </a:t>
            </a:r>
            <a:r>
              <a:rPr sz="1350">
                <a:solidFill>
                  <a:srgbClr val="2A4247"/>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5742108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15D602E-9D0D-4B37-8EB5-FB4F51A4AE30}"/>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161105D-F07B-427E-9686-0EAB34C11A81}"/>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3BAEECA6-BE6C-44D2-A2AE-9071B99DBEA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00252808-691F-436C-8B33-4FECC7C12025}"/>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41A56079-9C03-43B3-9FE3-AB09EF2FA184}"/>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D4A54"/>
          </a:solidFill>
          <a:ln xmlns:a="http://schemas.openxmlformats.org/drawingml/2006/main" w="9525">
            <a:solidFill>
              <a:srgbClr val="0D4A54"/>
            </a:solidFill>
            <a:prstDash val="solid"/>
          </a:ln>
          <a:effectLst xmlns:a="http://schemas.openxmlformats.org/drawingml/2006/main">
            <a:outerShdw blurRad="114300" dist="17780" dir="5400000" algn="bl" rotWithShape="0">
              <a:srgbClr val="8FA9AE">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360AB1B-063E-4043-888C-F54DD535D352}"/>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932AF395-AA1E-40C5-B34F-DEE9F0632D8B}"/>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D8A236A4-A3D8-4D0E-9C82-972E659240E0}"/>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CA67F273-FF93-4C61-B5F1-A0016FB8E21F}"/>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A7688975-2F74-4765-8FD0-8E7681895D26}"/>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A83F7FD9-12B8-4F7D-8147-D7F665DFA063}"/>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AFAB833F-76DB-4F16-BF12-E9758807A8D1}"/>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42108CAE-B1EC-4478-81F1-1BF55F6A538A}"/>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B750993E-57D1-4741-9B79-837D0842BCA8}"/>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3C3C466D-CBD6-48DD-AC15-F25FB32F3BF6}"/>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B78C4674-10EE-48BD-81CA-64A6D2FF374C}"/>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On unseen real records, how do partial GRC, manual composition, and GCS trade factual quality against requests, tokens, latency, and cost?</a:t>
            </a:r>
          </a:p>
        </p:txBody>
      </p:sp>
      <p:sp>
        <p:nvSpPr>
          <p:cNvPr id="18" name="Shape 16">
            <a:extLst xmlns:a="http://schemas.openxmlformats.org/drawingml/2006/main">
              <a:ext uri="{FF2B5EF4-FFF2-40B4-BE49-F238E27FC236}">
                <a16:creationId xmlns:a16="http://schemas.microsoft.com/office/drawing/2014/main" id="{B0030DE4-5797-4301-85B4-081529995EAA}"/>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0779BF1-8A3A-4150-8098-2A23698643C1}"/>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F66EBE3-AE4D-41B9-ADD9-5A6138DBE128}"/>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4659AD2-2B59-4BD0-9730-C912C79C23B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369D1796-6EE1-466B-870C-977BECA4FD92}"/>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DCCEC528-852F-4976-9B83-E96F9C003365}"/>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866D7C32-AEE1-4B78-AECD-3775CB9A25B2}"/>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18FFFD1F-4709-45F5-AB4E-C765A2C8CCAA}"/>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DCDC8C3B-9E2D-404B-A1C4-FCEEC162FFD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15F026D7-3FDB-469A-B2D3-364C88051CFC}"/>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F998025A-1DDE-4297-AB9E-FE971D770E57}"/>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0F1"/>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4E1D58D7-B873-4C7F-B540-F0DD4CCA93BA}"/>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DE285CD5-0C5D-4934-8C22-56EA8E0456E9}"/>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C67A887A-1D17-45B1-9D1B-68EFCE1E4359}"/>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953AAB9D-9F70-4263-A10A-6F586D85B18F}"/>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A4247"/>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7623283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942A1D3-EDD1-4908-A11C-9CB82DE0CA2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6F27114-D736-4F33-9BFD-AAFC98FEC57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3EFDFD35-C9CE-4A1A-9C4A-058D3756136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DEFINITION</a:t>
            </a:r>
          </a:p>
        </p:txBody>
      </p:sp>
      <p:sp>
        <p:nvSpPr>
          <p:cNvPr id="5" name="Text 3">
            <a:extLst xmlns:a="http://schemas.openxmlformats.org/drawingml/2006/main">
              <a:ext uri="{FF2B5EF4-FFF2-40B4-BE49-F238E27FC236}">
                <a16:creationId xmlns:a16="http://schemas.microsoft.com/office/drawing/2014/main" id="{40259342-F965-44C5-AF75-72E048C2EA7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guarded specialization of the routine part of a workflow</a:t>
            </a:r>
          </a:p>
        </p:txBody>
      </p:sp>
      <p:sp>
        <p:nvSpPr>
          <p:cNvPr id="6" name="Shape 4">
            <a:extLst xmlns:a="http://schemas.openxmlformats.org/drawingml/2006/main">
              <a:ext uri="{FF2B5EF4-FFF2-40B4-BE49-F238E27FC236}">
                <a16:creationId xmlns:a16="http://schemas.microsoft.com/office/drawing/2014/main" id="{84C3CD37-6888-4977-A2A4-48D843C8DBD6}"/>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DA415B68-3D4E-45E6-AFF8-B267B63680B4}"/>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libri"/>
                <a:ea typeface="Calibri"/>
                <a:cs typeface="Calibri"/>
              </a:rPr>
              <a:t>Compaction</a:t>
            </a:r>
            <a:r>
              <a:rPr sz="1350">
                <a:solidFill>
                  <a:srgbClr val="2A4247"/>
                </a:solidFill>
                <a:latin typeface="Calibri"/>
                <a:ea typeface="Calibri"/>
                <a:cs typeface="Calibri"/>
              </a:rPr>
              <a:t> names the mechanism; </a:t>
            </a:r>
            <a:r>
              <a:rPr sz="1350" b="1">
                <a:solidFill>
                  <a:srgbClr val="0D4A54"/>
                </a:solidFill>
                <a:latin typeface="Calibri"/>
                <a:ea typeface="Calibri"/>
                <a:cs typeface="Calibri"/>
              </a:rPr>
              <a:t>specialization</a:t>
            </a:r>
            <a:r>
              <a:rPr sz="1350">
                <a:solidFill>
                  <a:srgbClr val="2A4247"/>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03417A19-E8DE-4DA6-91EB-004ADA26A464}"/>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EBB2E1FB-D68A-4DEF-8AA5-999DDCDB6FA5}"/>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71459C7B-213F-4E54-BB0D-945B6395D017}"/>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479196E7-9EB3-4F73-AAFD-95FF83CE7755}"/>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83CDD551-1564-4447-ABC1-A3B7320B5EBB}"/>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A4247"/>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FDE246BB-3A39-4E58-96DE-B453D1C18E8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9221EDE1-39B0-44BF-B6D9-DCB3C8215763}"/>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2D51251F-7C92-4AA0-9AD1-BE816ED5715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0BAA132A-61AC-4E68-B14B-DE5BC457A46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5176482D-05F0-4488-A475-99EFFE33E322}"/>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A3A2E"/>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9EC0C25F-39DA-44BE-8CA7-05E9F6BDC790}"/>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F767A"/>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18928998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130FFCF-7AE8-41F5-8AC7-DBAF562DD137}"/>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83787DC-0610-4899-8BBF-A6838786E1DF}"/>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880EA5A-2865-4A96-962A-A0A98ED6BC8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ARCHITECTURE</a:t>
            </a:r>
          </a:p>
        </p:txBody>
      </p:sp>
      <p:sp>
        <p:nvSpPr>
          <p:cNvPr id="5" name="Text 3">
            <a:extLst xmlns:a="http://schemas.openxmlformats.org/drawingml/2006/main">
              <a:ext uri="{FF2B5EF4-FFF2-40B4-BE49-F238E27FC236}">
                <a16:creationId xmlns:a16="http://schemas.microsoft.com/office/drawing/2014/main" id="{14C9921F-1163-4DC8-8EF5-F328FB77B9C2}"/>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Capture offline, compile offline, resolve at the entry boundary</a:t>
            </a:r>
          </a:p>
        </p:txBody>
      </p:sp>
      <p:sp>
        <p:nvSpPr>
          <p:cNvPr id="6" name="Shape 4">
            <a:extLst xmlns:a="http://schemas.openxmlformats.org/drawingml/2006/main">
              <a:ext uri="{FF2B5EF4-FFF2-40B4-BE49-F238E27FC236}">
                <a16:creationId xmlns:a16="http://schemas.microsoft.com/office/drawing/2014/main" id="{5ABF4159-7A99-48A6-85AD-D4F3186AD32D}"/>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7E6459E5-F040-447D-AFD2-804DE26D2915}"/>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302C6D2-9371-4202-BCC1-84EE6EE97D85}"/>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2B106F4E-12A8-49F3-A3D1-B6F0D872D8B3}"/>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91F66A94-230F-4401-BCF4-EFA089E912E8}"/>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5916C9DC-6635-4837-B79D-549484134EA7}"/>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87D5EB03-685F-4F80-9C76-A197B35715B1}"/>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EFCC3FC-5068-4B47-9EAD-78D77E344D9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FF6841D-7756-499C-AA64-B04CCF3715F4}"/>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3D85A232-69B8-4154-8ACF-8AA954E85FBA}"/>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A247DA0A-EB24-4AF0-B760-D34B768E3C1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3CE574C1-E7AC-4556-BE97-FE042EC75C40}"/>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CC7CE"/>
          </a:solidFill>
          <a:ln xmlns:a="http://schemas.openxmlformats.org/drawingml/2006/main" w="6350">
            <a:solidFill>
              <a:srgbClr val="9CC7CE"/>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E3B6508B-2ACD-47C0-86C1-E8409FED4BB1}"/>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787DF5D3-910D-4D9D-B80E-D469D6A9F6DA}"/>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8B818F1A-F937-47B4-9E65-8E42FA4DEE28}"/>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2BE3070-1FDD-46CB-81A4-E26A8553F47F}"/>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741C94F2-FBBE-4600-8B02-700351C32D33}"/>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A4247"/>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A2F6223C-2971-4590-9F3A-C202A9A14CAF}"/>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D7ECCB1-93E0-44FE-A3B4-A3F247552FA3}"/>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C4A2C"/>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33FC3096-9CA2-4295-8238-55393283434C}"/>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A3A2E"/>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15F3817D-DAF2-4BA4-8331-F0305BF2CA89}"/>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F767A"/>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2761042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AEF08F4-AB55-4414-9C16-DBDE3F2DDCF9}"/>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10CD9DC-CE6C-4751-B5FD-5B74CE4853DA}"/>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8</a:t>
            </a:r>
          </a:p>
        </p:txBody>
      </p:sp>
      <p:sp>
        <p:nvSpPr>
          <p:cNvPr id="4" name="Text 2">
            <a:extLst xmlns:a="http://schemas.openxmlformats.org/drawingml/2006/main">
              <a:ext uri="{FF2B5EF4-FFF2-40B4-BE49-F238E27FC236}">
                <a16:creationId xmlns:a16="http://schemas.microsoft.com/office/drawing/2014/main" id="{57DB15BB-3A1A-46C3-ABAA-01C098B0C7C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OFFLINE COMPILATION</a:t>
            </a:r>
          </a:p>
        </p:txBody>
      </p:sp>
      <p:sp>
        <p:nvSpPr>
          <p:cNvPr id="5" name="Text 3">
            <a:extLst xmlns:a="http://schemas.openxmlformats.org/drawingml/2006/main">
              <a:ext uri="{FF2B5EF4-FFF2-40B4-BE49-F238E27FC236}">
                <a16:creationId xmlns:a16="http://schemas.microsoft.com/office/drawing/2014/main" id="{250AA2F4-1FCB-48A1-B75F-F782859E2978}"/>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Six independent rejection points — refusal is the default output</a:t>
            </a:r>
          </a:p>
        </p:txBody>
      </p:sp>
      <p:sp>
        <p:nvSpPr>
          <p:cNvPr id="6" name="Shape 4">
            <a:extLst xmlns:a="http://schemas.openxmlformats.org/drawingml/2006/main">
              <a:ext uri="{FF2B5EF4-FFF2-40B4-BE49-F238E27FC236}">
                <a16:creationId xmlns:a16="http://schemas.microsoft.com/office/drawing/2014/main" id="{94E2013B-2212-498A-B069-1EFA9C79AFE5}"/>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B877AF27-3D45-4F02-93BE-06986BD724C6}"/>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9D08B610-6C1E-4B2C-9594-85012C4C517F}"/>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37DEF447-C56B-44D4-8C12-10756607795A}"/>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24C0B85E-56B7-4808-AEBB-58B0B5E17E9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33817395-1581-4211-BABF-ACA67E66D2C8}"/>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23855CEA-CA6E-4349-B51C-02DE42DDBDF4}"/>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AD0F15DB-87BC-49A0-A1D7-032ED5CE52B5}"/>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EEB0B5F-3004-4C2F-8C3B-A32B86D2F91F}"/>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795123CC-1FEC-402E-92F4-DAA2C637C20C}"/>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F4CDF31F-7037-491D-882A-0DFDCE8036AC}"/>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097C3B3C-F67A-43A2-B79A-890B8AB073F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CD02F384-894B-480B-B401-925DBD354832}"/>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1F6417A5-7B18-4AFA-B64B-EE506BC07531}"/>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70575F60-18EC-480F-95FE-EFF8F11C71B4}"/>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71D13AD3-3124-460C-8BB8-3E333273A2E0}"/>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49206EB-6421-4ECD-A03A-7833E6A2CD71}"/>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6B8F5D26-95D3-443A-B062-04C6B85DB36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8C9F6DE9-5B19-4A14-BC58-2BDA6F3E014B}"/>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DF3A52A6-29FE-4D0C-B202-C9ECA6437EF2}"/>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467459E6-4A5E-4BE0-8311-10C92734D64B}"/>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3057AA67-828F-4308-AE96-0E96F1B9A15D}"/>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D576EFA7-F299-44FF-AB82-0B5BC184DACB}"/>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800B10C9-BA3E-4A38-8890-C03149A525C8}"/>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B116B8C8-F922-4674-9F20-87EB94527E05}"/>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86EE92C5-A0C7-4207-902A-7ADE08B3560B}"/>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D4A54"/>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1309016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F494A68-57FF-4F02-9FD9-198D0659E413}"/>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F0E11E0-6407-44ED-8F95-2C6F751FE71A}"/>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F87D1E17-B9BE-4A8A-B5AD-34FF5A26886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2</a:t>
            </a:r>
          </a:p>
        </p:txBody>
      </p:sp>
      <p:sp>
        <p:nvSpPr>
          <p:cNvPr id="5" name="Text 3">
            <a:extLst xmlns:a="http://schemas.openxmlformats.org/drawingml/2006/main">
              <a:ext uri="{FF2B5EF4-FFF2-40B4-BE49-F238E27FC236}">
                <a16:creationId xmlns:a16="http://schemas.microsoft.com/office/drawing/2014/main" id="{016A16CE-2EF2-4EFB-B45D-A2E54CE00B24}"/>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Typed provenance: a slot with no witness is a genuine model decision</a:t>
            </a:r>
          </a:p>
        </p:txBody>
      </p:sp>
      <p:sp>
        <p:nvSpPr>
          <p:cNvPr id="6" name="Text 4">
            <a:extLst xmlns:a="http://schemas.openxmlformats.org/drawingml/2006/main">
              <a:ext uri="{FF2B5EF4-FFF2-40B4-BE49-F238E27FC236}">
                <a16:creationId xmlns:a16="http://schemas.microsoft.com/office/drawing/2014/main" id="{6745680C-1AA1-42E3-AD40-3EE5E7F7CE80}"/>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257BDB95-66D1-41FB-B204-2D0EB821C29D}"/>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7D52081A-F850-4EC8-8A32-14E6814491C4}"/>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F436092-4CCA-4D05-BB57-71B2D3C2F070}"/>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407DE302-AC27-4E3B-8F20-C80D9374BE0B}"/>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D4A54"/>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15EC22C8-8176-4A3D-B892-0D8B77C292A3}"/>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D5103447-BC45-40E3-8BEE-0CF69FAD726B}"/>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7DCE93C5-2809-48CE-8672-A835C17076E5}"/>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9B5DEF8C-2D99-4F68-840A-58E13114779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0130EAFB-AB7C-4244-B72E-30D507441FE2}"/>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545F449C-C1A4-45B6-A4AF-680C22AE7ECA}"/>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29B5711-BD90-42A1-A35F-3F02A5EC5544}"/>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1CFC8EB-ABA6-4289-B42D-2ADE61DDA611}"/>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B35CABF1-2EFD-46E5-9F04-A65F7946EAC5}"/>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BBD1CAC1-E5E6-40C0-84F8-0219A310B7D9}"/>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C4A2C"/>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837E4D88-4C7B-4075-A27B-5BAE564B3F92}"/>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3A5257"/>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439C423-A626-499E-8749-C1D29BF597EF}"/>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337A23F9-FF0D-4192-91DA-5CFE9FC4DA5A}"/>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E378927-2C57-4230-BDBB-676BD9C93FF3}"/>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C93ABC84-F224-4F5E-B921-ACE247FFDCD6}"/>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in candidate set</a:t>
            </a:r>
          </a:p>
          <a:p xmlns:a="http://schemas.openxmlformats.org/drawingml/2006/main">
            <a:pPr marL="0" indent="0">
              <a:lnSpc>
                <a:spcPct val="100000"/>
              </a:lnSpc>
              <a:buNone/>
            </a:pPr>
            <a:r>
              <a:rPr sz="1050">
                <a:solidFill>
                  <a:srgbClr val="5F767A"/>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01CB446A-C79C-49BC-9B52-30039FEB268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C67F06C1-B85A-4FBD-80D5-85D2A774AE10}"/>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D4A54"/>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CB074792-7CD4-4370-B6FA-2508BCDE912F}"/>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uniquely resolved</a:t>
            </a:r>
          </a:p>
          <a:p xmlns:a="http://schemas.openxmlformats.org/drawingml/2006/main">
            <a:pPr marL="0" indent="0">
              <a:lnSpc>
                <a:spcPct val="100000"/>
              </a:lnSpc>
              <a:buNone/>
            </a:pPr>
            <a:r>
              <a:rPr sz="1050">
                <a:solidFill>
                  <a:srgbClr val="5F767A"/>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68C46272-EB2D-4B24-93B0-7A25574477AB}"/>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EEB9EAC1-4F0F-4DBD-BD20-AAE9F5A42E1F}"/>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17C89455-F709-4D7B-B872-F2F423B7E6A7}"/>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ambiguous</a:t>
            </a:r>
          </a:p>
          <a:p xmlns:a="http://schemas.openxmlformats.org/drawingml/2006/main">
            <a:pPr marL="0" indent="0">
              <a:lnSpc>
                <a:spcPct val="100000"/>
              </a:lnSpc>
              <a:buNone/>
            </a:pPr>
            <a:r>
              <a:rPr sz="1050">
                <a:solidFill>
                  <a:srgbClr val="5F767A"/>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F8146442-8BB5-4BB3-A35E-50297A6CD769}"/>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28237682-FE43-4DA3-BC7C-52D4A3E985E8}"/>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F490D661-4140-49D8-9726-EEA97FB737CF}"/>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no candidate</a:t>
            </a:r>
          </a:p>
          <a:p xmlns:a="http://schemas.openxmlformats.org/drawingml/2006/main">
            <a:pPr marL="0" indent="0">
              <a:lnSpc>
                <a:spcPct val="100000"/>
              </a:lnSpc>
              <a:buNone/>
            </a:pPr>
            <a:r>
              <a:rPr sz="1050">
                <a:solidFill>
                  <a:srgbClr val="5F767A"/>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5E48163-681F-48DF-BA4E-E1C33D2664B4}"/>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824B3531-694D-458F-A6D0-CA26DB69A71F}"/>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C4A2C"/>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6979ABE3-FF63-446F-B9B6-F94014333E7D}"/>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F767A"/>
                </a:solidFill>
                <a:latin typeface="Calibri"/>
                <a:ea typeface="Calibri"/>
                <a:cs typeface="Calibri"/>
              </a:rPr>
              <a:t>candidate-edge</a:t>
            </a:r>
          </a:p>
          <a:p xmlns:a="http://schemas.openxmlformats.org/drawingml/2006/main">
            <a:pPr marL="0" indent="0">
              <a:lnSpc>
                <a:spcPct val="100000"/>
              </a:lnSpc>
              <a:buNone/>
            </a:pPr>
            <a:r>
              <a:rPr sz="1050">
                <a:solidFill>
                  <a:srgbClr val="5F767A"/>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19FD3092-E773-415E-82D3-01311019349E}"/>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6151369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5154A0-7A2E-4C48-B5B7-42C0A1DEC56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884D440-7D3D-4842-89B4-71516EE7F38B}"/>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D4DF5CB8-80A7-4F8E-8237-F44421BB2A0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RUNTIME</a:t>
            </a:r>
          </a:p>
        </p:txBody>
      </p:sp>
      <p:sp>
        <p:nvSpPr>
          <p:cNvPr id="5" name="Text 3">
            <a:extLst xmlns:a="http://schemas.openxmlformats.org/drawingml/2006/main">
              <a:ext uri="{FF2B5EF4-FFF2-40B4-BE49-F238E27FC236}">
                <a16:creationId xmlns:a16="http://schemas.microsoft.com/office/drawing/2014/main" id="{C6F6BDB3-EE94-4AA6-BC44-B234E4991FC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artifact carries its own preconditions — and usually declines</a:t>
            </a:r>
          </a:p>
        </p:txBody>
      </p:sp>
      <p:sp>
        <p:nvSpPr>
          <p:cNvPr id="6" name="Text 4">
            <a:extLst xmlns:a="http://schemas.openxmlformats.org/drawingml/2006/main">
              <a:ext uri="{FF2B5EF4-FFF2-40B4-BE49-F238E27FC236}">
                <a16:creationId xmlns:a16="http://schemas.microsoft.com/office/drawing/2014/main" id="{B1860300-071F-448A-8294-D447F2B67BD4}"/>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165FFEAE-A928-4336-A4CD-33170034C641}"/>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3C3DE8C-892A-417E-AA5E-FC58FF107C5E}"/>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7DB07FEA-8C90-413B-B7A0-4CEE0C26F9C2}"/>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4E478AB6-204C-4F82-952A-3EF402D9C4B2}"/>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F8CD8D52-C985-4239-A0C4-526E5513CB9F}"/>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FF469944-39D0-4EF5-9C82-4065700975F1}"/>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E155AF5F-ABDB-4ACE-B6E0-D3C6F7B3ACA9}"/>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C61DED31-F69E-480B-825F-945445E13C87}"/>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6B020A3B-26E6-44FF-A0AB-44ADA566285B}"/>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059DB350-E2A6-4C12-B188-ED2264B2C079}"/>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D4A7119D-46B2-41AF-961C-1EE5E2C8D56A}"/>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56B34193-8B97-476C-BA80-6EB9D0A682F2}"/>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46F572A4-6B01-4216-B5C2-F5E8F4D2E0EC}"/>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8CF29D09-FA54-4AAF-9046-0A45FF6F6434}"/>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73B2D974-2F0A-4360-A9FD-8631B4222A16}"/>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5F1EE475-2879-4447-AC90-FD681A08FA8D}"/>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EA8FCE2F-9907-4B87-AF10-881BBE1B751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7798A"/>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1FD7C09C-9FE0-4410-BF1C-2F197EF18AB2}"/>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F767A"/>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2677C9EE-E375-46B6-92E4-C3E2B870F52D}"/>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F767A"/>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14BA02FF-DCB8-4065-A1C9-3408343F8552}"/>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5E44BABE-2004-4619-979F-1F96D118CAC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1D6CCAC4-7AD9-4030-8EA2-51460DEF087F}"/>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3F4B760-DBEE-4413-A1CB-7BDDCDE350E1}"/>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80B0DF48-178E-4164-9733-8614CC58E0C9}"/>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D1BCD344-C369-4858-AA95-51E61EDFD167}"/>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73A5F320-CF5E-46B4-9D2F-9932BDCE255A}"/>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6E7D2AD8-5EBC-43C1-A6AC-789416729493}"/>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021B38DE-7BB0-412B-BC7E-9F5335E1CD51}"/>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D4A54"/>
          </a:solidFill>
          <a:ln xmlns:a="http://schemas.openxmlformats.org/drawingml/2006/main" w="9525">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C3B1AB5B-AE85-4935-9373-2DA94671948B}"/>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B9DD7917-8E64-4C60-9DC7-2CC68F0F6E0B}"/>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7798A"/>
          </a:solidFill>
          <a:ln xmlns:a="http://schemas.openxmlformats.org/drawingml/2006/main" w="9525">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665151D5-C0CC-40EB-B7CA-5FCDAB30000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1830CF1F-0B0F-430D-B080-34221F936CC6}"/>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C6D6FF7E-3137-4606-AA29-26301ED068AE}"/>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798A"/>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C11B04BD-4487-440C-BA6C-231A95DE8CB3}"/>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89043934-1418-4143-98A1-3E9F5B7CDCF1}"/>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8CE5FBE7-51A7-4F05-A3AD-D2ED3EC66441}"/>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D1E8289A-219F-437F-BCAC-5F8A1C8B005B}"/>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D4A54"/>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7E926325-2318-4683-96CA-5D17E4196F1B}"/>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D4A54"/>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77101151-772C-47C6-8516-8F1AD7DA8415}"/>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2A6AF778-F476-4AB0-A6A2-0A2ADE6342AA}"/>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BFA7A353-52A6-4FB1-8423-50FC37390BA8}"/>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C4A2C"/>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EB867EFB-80FC-4FEB-989E-0297D83B80A1}"/>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C4A2C"/>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C0418E18-5428-495D-930F-F0020AFFF8F4}"/>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3A5257"/>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AD4B63A6-B54F-415B-B641-26726747C886}"/>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7E217B75-ED0D-4251-86BC-066545FFAB32}"/>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D4A54"/>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150385535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C2989F-0367-40B6-A387-470E86189B24}"/>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B08C146-17D5-4486-9C2A-AFF70B75F53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63E388AB-8EF5-4C91-BEDB-89200923F99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6</a:t>
            </a:r>
          </a:p>
        </p:txBody>
      </p:sp>
      <p:sp>
        <p:nvSpPr>
          <p:cNvPr id="5" name="Text 3">
            <a:extLst xmlns:a="http://schemas.openxmlformats.org/drawingml/2006/main">
              <a:ext uri="{FF2B5EF4-FFF2-40B4-BE49-F238E27FC236}">
                <a16:creationId xmlns:a16="http://schemas.microsoft.com/office/drawing/2014/main" id="{D344389C-D5D0-4C4D-BE8A-E1834B69F93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The admission gate is exact — and therefore data-hungry</a:t>
            </a:r>
          </a:p>
        </p:txBody>
      </p:sp>
      <p:sp>
        <p:nvSpPr>
          <p:cNvPr id="6" name="Text 4">
            <a:extLst xmlns:a="http://schemas.openxmlformats.org/drawingml/2006/main">
              <a:ext uri="{FF2B5EF4-FFF2-40B4-BE49-F238E27FC236}">
                <a16:creationId xmlns:a16="http://schemas.microsoft.com/office/drawing/2014/main" id="{BA6F0963-146E-45E9-B4E0-EE93DB5C23B9}"/>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204EB5AF-A139-4E33-B41B-4299ECE5140B}"/>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0E37723-5DB6-48E3-B623-429821FCAA7E}"/>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AC4A2C"/>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30971DE-1A40-4D85-B5CA-4B1D0C857B14}"/>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A3A2E"/>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ADCBCA6A-30E1-416C-A02C-F08231594034}"/>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134AC8F5-7476-4E20-876B-8E7D8E933901}"/>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3061E30-4731-4E84-9DD2-FCC2328E649A}"/>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FFA8D67C-C8CA-4215-B0FA-2FFD02BE9849}"/>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BE372989-5D6D-4A63-8067-9FEE1D57A6B8}"/>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8427FAFA-F685-4F98-846B-18EB57810162}"/>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074799EA-D684-4417-AB8D-E2D6593A6A6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9B5C792E-263B-49EB-BBA0-93F2FBF0EC9B}"/>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F767A"/>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FB2E53A4-CC47-41CF-9C58-78B4AF0C11C9}"/>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B5139943-41CC-4D54-99B1-A820C4B7FAB8}"/>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7798A"/>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09495AA1-669C-4265-A849-DF93EA484DE5}"/>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A4247"/>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025CFEAE-FF93-44F1-A072-54158A3FAED3}"/>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0EBE0894-4935-41B6-BF7C-FF8893304669}"/>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F29E17E1-2A2C-418D-9091-51DAA4DF28A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D4A54"/>
                </a:solidFill>
                <a:latin typeface="Calibri"/>
                <a:ea typeface="Calibri"/>
                <a:cs typeface="Calibri"/>
              </a:rPr>
              <a:t>Independence is load-bearing. </a:t>
            </a:r>
            <a:r>
              <a:rPr sz="1200">
                <a:solidFill>
                  <a:srgbClr val="2A4247"/>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21392230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FD3A136-37C6-4D0B-B96E-FC2B6EA23677}"/>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47C24DF-E361-436C-828D-722EF0B58E69}"/>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A21B3FE-AF78-43D1-A587-933686A4293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REJECTION POINT 3</a:t>
            </a:r>
          </a:p>
        </p:txBody>
      </p:sp>
      <p:sp>
        <p:nvSpPr>
          <p:cNvPr id="5" name="Text 3">
            <a:extLst xmlns:a="http://schemas.openxmlformats.org/drawingml/2006/main">
              <a:ext uri="{FF2B5EF4-FFF2-40B4-BE49-F238E27FC236}">
                <a16:creationId xmlns:a16="http://schemas.microsoft.com/office/drawing/2014/main" id="{9E4830D7-A5F3-4A99-9EC8-72830E43411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Decline a workload before you build a compiler for it</a:t>
            </a:r>
          </a:p>
        </p:txBody>
      </p:sp>
      <p:sp>
        <p:nvSpPr>
          <p:cNvPr id="6" name="Text 4">
            <a:extLst xmlns:a="http://schemas.openxmlformats.org/drawingml/2006/main">
              <a:ext uri="{FF2B5EF4-FFF2-40B4-BE49-F238E27FC236}">
                <a16:creationId xmlns:a16="http://schemas.microsoft.com/office/drawing/2014/main" id="{D91ECC18-3B26-4589-A451-F9614A44877B}"/>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AC42226C-D6C6-4621-9FD3-51AA3947BB64}"/>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19F0E69-7253-4E78-A564-A0112DF6BAAB}"/>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D4A54"/>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49ED2B1D-583F-4B15-83AF-AD31D6C3BA0D}"/>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F767A"/>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4C848101-54DE-4444-8DBB-E7787E1D0B59}"/>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7555C50-A38C-49D2-BC7B-4292377B214A}"/>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A4247"/>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31B33430-16F1-42B9-878C-C39779516EEB}"/>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24541D53-35A0-44F5-A634-778D2F5CE6CB}"/>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73BEB7BF-799A-4D6F-BA60-B9FF9EF7CA51}"/>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548D0821-9277-46B9-9FDD-A0DDBE7DAB66}"/>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FBC07452-4C02-40B6-9598-6B896AD1BA40}"/>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54ACDBB8-14ED-44F3-96AA-16891453F41B}"/>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08ABB1A2-CA93-4529-B127-A4EA83215BFD}"/>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D4A54"/>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CB0E327F-C906-4623-87BB-7B2091EC4E11}"/>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05C4D5E-D152-45F9-8517-4F638A81277B}"/>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CE8E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0F1A2747-2A6D-4083-BCD0-4BF679494EB2}"/>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D4A54"/>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89C520FA-9C70-4C23-85E5-61E8F00BD46E}"/>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9D017E4B-2BE7-471D-99EA-FBD1EBF21AAA}"/>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7798A"/>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3ED6D576-A358-4736-B8A6-88A71441A62D}"/>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F767A"/>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5BE8131E-C8A8-4BA2-9AD2-B9DA839F35B2}"/>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F767A"/>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19736744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68A87A8-73CD-4DB1-B128-05B3A5B1043B}"/>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7CB4726-F16B-439F-A3C3-50C3416EE6B4}"/>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9FD93E52-E6EE-45B1-B5F6-68C5C17598A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METHODOLOGY</a:t>
            </a:r>
          </a:p>
        </p:txBody>
      </p:sp>
      <p:sp>
        <p:nvSpPr>
          <p:cNvPr id="5" name="Text 3">
            <a:extLst xmlns:a="http://schemas.openxmlformats.org/drawingml/2006/main">
              <a:ext uri="{FF2B5EF4-FFF2-40B4-BE49-F238E27FC236}">
                <a16:creationId xmlns:a16="http://schemas.microsoft.com/office/drawing/2014/main" id="{921953CD-C08D-4B13-B365-B9B2F9FF2587}"/>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Three evidence tiers, ordered by what each can license</a:t>
            </a:r>
          </a:p>
        </p:txBody>
      </p:sp>
      <p:sp>
        <p:nvSpPr>
          <p:cNvPr id="6" name="Shape 4">
            <a:extLst xmlns:a="http://schemas.openxmlformats.org/drawingml/2006/main">
              <a:ext uri="{FF2B5EF4-FFF2-40B4-BE49-F238E27FC236}">
                <a16:creationId xmlns:a16="http://schemas.microsoft.com/office/drawing/2014/main" id="{FA6AFE33-7AF8-4C65-A306-1FA0B702537A}"/>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32309CC-07A6-4179-BA0D-AB45E62F6012}"/>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1019680-0823-4BB6-8C12-1C0531BD91D1}"/>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E1C27821-E2B9-464D-94D3-8193CF7E8257}"/>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431D122C-D208-4429-897B-24B2822119B9}"/>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8094BBE7-74C3-4909-9574-4DA87944179A}"/>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737D77F6-6AEF-49BF-89A9-C9FF69033D47}"/>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05A73E56-4C75-4C70-8B63-70947C48797E}"/>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D4A54"/>
          </a:solidFill>
          <a:ln xmlns:a="http://schemas.openxmlformats.org/drawingml/2006/main" w="635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EBB23B12-BCA4-424C-8FE1-2D180528018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99FA3365-8491-4F41-A0F2-4FA29A7D125D}"/>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D230E613-FDC2-4E66-9E7B-4D5C95EF39CF}"/>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GitHub protocols on a pinned snapshot, including fair manual placement and bounded GEPA</a:t>
            </a:r>
          </a:p>
        </p:txBody>
      </p:sp>
      <p:sp>
        <p:nvSpPr>
          <p:cNvPr id="17" name="Text 15">
            <a:extLst xmlns:a="http://schemas.openxmlformats.org/drawingml/2006/main">
              <a:ext uri="{FF2B5EF4-FFF2-40B4-BE49-F238E27FC236}">
                <a16:creationId xmlns:a16="http://schemas.microsoft.com/office/drawing/2014/main" id="{1B948390-B14D-4647-BA84-7CF4BFE05E20}"/>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8788B302-7A5D-4704-819B-E5A242049B0E}"/>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2055DDA-DCE2-4BE6-9B77-5E5D173C9292}"/>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4EA3B0"/>
          </a:solidFill>
          <a:ln xmlns:a="http://schemas.openxmlformats.org/drawingml/2006/main" w="6350">
            <a:solidFill>
              <a:srgbClr val="4EA3B0"/>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778701BA-80F6-4A11-90D6-A64C32D2A8EC}"/>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3756D15D-FCC2-424E-AC51-6ADD411F817B}"/>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D4A54"/>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0A6A0F85-B5F7-4568-B7CB-A92F97E72034}"/>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7798A"/>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1F1939E1-1D2F-43B8-ADC3-7BE5A24590D1}"/>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A4247"/>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F2850125-E4B1-427D-80D2-842BDE397861}"/>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366B3631-4CB3-4776-AEEB-40B3C4EE3C6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D4A54"/>
                </a:solidFill>
                <a:latin typeface="Calibri"/>
                <a:ea typeface="Calibri"/>
                <a:cs typeface="Calibri"/>
              </a:rPr>
              <a:t>Every rejected candidate, the archived failed pilot, and the unsupported claims are retained rather than pruned </a:t>
            </a:r>
            <a:r>
              <a:rPr sz="1250">
                <a:solidFill>
                  <a:srgbClr val="2A4247"/>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205770492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F5691BB-F8F4-4F55-AE25-55A95992BC78}"/>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3918F5A-7648-42E4-9F1D-7A493878B376}"/>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CC72D636-DC95-4E7A-B3E1-CFB1EA379D4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1  ·  RQ1 AND RQ3</a:t>
            </a:r>
          </a:p>
        </p:txBody>
      </p:sp>
      <p:sp>
        <p:nvSpPr>
          <p:cNvPr id="5" name="Text 3">
            <a:extLst xmlns:a="http://schemas.openxmlformats.org/drawingml/2006/main">
              <a:ext uri="{FF2B5EF4-FFF2-40B4-BE49-F238E27FC236}">
                <a16:creationId xmlns:a16="http://schemas.microsoft.com/office/drawing/2014/main" id="{E59296BF-6542-42B5-8FEE-F0F4D5FDC0A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Provenance succeeds far more often than certification</a:t>
            </a:r>
          </a:p>
        </p:txBody>
      </p:sp>
      <p:sp>
        <p:nvSpPr>
          <p:cNvPr id="6" name="Text 4">
            <a:extLst xmlns:a="http://schemas.openxmlformats.org/drawingml/2006/main">
              <a:ext uri="{FF2B5EF4-FFF2-40B4-BE49-F238E27FC236}">
                <a16:creationId xmlns:a16="http://schemas.microsoft.com/office/drawing/2014/main" id="{6737B239-C842-46DA-BC8C-A6B118080E30}"/>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Recurrence is fragmented: 714 candidate families exist, only 32 have support of at least five, and the best reaches 26 groups.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Of 32 attempted families, 12 synthesize. Their 36 held-out windows give 24 passes, 12 abstentions and zero wrong executions.</a:t>
            </a:r>
          </a:p>
          <a:p xmlns:a="http://schemas.openxmlformats.org/drawingml/2006/main">
            <a:pPr marL="342900" indent="-342900">
              <a:lnSpc>
                <a:spcPct val="106000"/>
              </a:lnSpc>
              <a:spcAft>
                <a:spcPts val="700"/>
              </a:spcAft>
              <a:buChar char="•"/>
            </a:pPr>
            <a:r>
              <a:rPr sz="1250">
                <a:solidFill>
                  <a:srgbClr val="2A4247"/>
                </a:solidFill>
                <a:latin typeface="Calibri"/>
                <a:ea typeface="Calibri"/>
                <a:cs typeface="Calibri"/>
              </a:rPr>
              <a:t>Zero wrong does not certify the programs. The gate needs 92 zero-violation groups, so every family retires.</a:t>
            </a:r>
          </a:p>
        </p:txBody>
      </p:sp>
      <p:sp>
        <p:nvSpPr>
          <p:cNvPr id="7" name="Shape 5">
            <a:extLst xmlns:a="http://schemas.openxmlformats.org/drawingml/2006/main">
              <a:ext uri="{FF2B5EF4-FFF2-40B4-BE49-F238E27FC236}">
                <a16:creationId xmlns:a16="http://schemas.microsoft.com/office/drawing/2014/main" id="{412FA6D3-11AB-47F2-A16B-D22BFC9E1699}"/>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D13EBD82-61B3-4F57-BF79-FBE7B8621F89}"/>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C4A2C"/>
                </a:solidFill>
                <a:latin typeface="Calibri"/>
                <a:ea typeface="Calibri"/>
                <a:cs typeface="Calibri"/>
              </a:rPr>
              <a:t>A scientifically useful negative result. </a:t>
            </a:r>
            <a:r>
              <a:rPr sz="1200">
                <a:solidFill>
                  <a:srgbClr val="5A3A2E"/>
                </a:solidFill>
                <a:latin typeface="Calibri"/>
                <a:ea typeface="Calibri"/>
                <a:cs typeface="Calibri"/>
              </a:rPr>
              <a:t>It is what distinguishes a guarded compiler from a recurrence-only macro miner — and it exposes the data requirement instead of hiding it in a heuristic.</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fbf31868e22641f2"/>
          </a:graphicData>
        </a:graphic>
      </p:graphicFrame>
      <p:sp>
        <p:nvSpPr>
          <p:cNvPr id="10" name="Shape 7">
            <a:extLst xmlns:a="http://schemas.openxmlformats.org/drawingml/2006/main">
              <a:ext uri="{FF2B5EF4-FFF2-40B4-BE49-F238E27FC236}">
                <a16:creationId xmlns:a16="http://schemas.microsoft.com/office/drawing/2014/main" id="{7DC29135-2AA7-4BD6-BF8E-88873473266D}"/>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F211DEC-2EA4-4607-A409-8F586FBB606C}"/>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1,207 / 1,415</a:t>
            </a:r>
          </a:p>
        </p:txBody>
      </p:sp>
      <p:sp>
        <p:nvSpPr>
          <p:cNvPr id="12" name="Text 9">
            <a:extLst xmlns:a="http://schemas.openxmlformats.org/drawingml/2006/main">
              <a:ext uri="{FF2B5EF4-FFF2-40B4-BE49-F238E27FC236}">
                <a16:creationId xmlns:a16="http://schemas.microsoft.com/office/drawing/2014/main" id="{59B7B2B2-A0A9-412F-9EA1-D2E556D64D8F}"/>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complete groundable windows (85.3%)</a:t>
            </a:r>
          </a:p>
        </p:txBody>
      </p:sp>
      <p:sp>
        <p:nvSpPr>
          <p:cNvPr id="13" name="Shape 10">
            <a:extLst xmlns:a="http://schemas.openxmlformats.org/drawingml/2006/main">
              <a:ext uri="{FF2B5EF4-FFF2-40B4-BE49-F238E27FC236}">
                <a16:creationId xmlns:a16="http://schemas.microsoft.com/office/drawing/2014/main" id="{BE36B501-3E6A-4230-949A-2D303D7FCEC4}"/>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9020143-E86F-43A4-A12D-E9FD1CCF41A6}"/>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12 / 32</a:t>
            </a:r>
          </a:p>
        </p:txBody>
      </p:sp>
      <p:sp>
        <p:nvSpPr>
          <p:cNvPr id="15" name="Text 12">
            <a:extLst xmlns:a="http://schemas.openxmlformats.org/drawingml/2006/main">
              <a:ext uri="{FF2B5EF4-FFF2-40B4-BE49-F238E27FC236}">
                <a16:creationId xmlns:a16="http://schemas.microsoft.com/office/drawing/2014/main" id="{D5C0C69D-954F-450D-A35E-F30883501906}"/>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families synthesized</a:t>
            </a:r>
          </a:p>
        </p:txBody>
      </p:sp>
      <p:sp>
        <p:nvSpPr>
          <p:cNvPr id="16" name="Shape 13">
            <a:extLst xmlns:a="http://schemas.openxmlformats.org/drawingml/2006/main">
              <a:ext uri="{FF2B5EF4-FFF2-40B4-BE49-F238E27FC236}">
                <a16:creationId xmlns:a16="http://schemas.microsoft.com/office/drawing/2014/main" id="{4394EC85-84FA-4799-8DE4-99AC2ED94F1D}"/>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E0F55307-349B-4E2E-8925-B8FE5BD7652D}"/>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D4A54"/>
                </a:solidFill>
                <a:latin typeface="Cambria"/>
                <a:ea typeface="Cambria"/>
                <a:cs typeface="Cambria"/>
              </a:rPr>
              <a:t>24 / 12 / 0</a:t>
            </a:r>
          </a:p>
        </p:txBody>
      </p:sp>
      <p:sp>
        <p:nvSpPr>
          <p:cNvPr id="18" name="Text 15">
            <a:extLst xmlns:a="http://schemas.openxmlformats.org/drawingml/2006/main">
              <a:ext uri="{FF2B5EF4-FFF2-40B4-BE49-F238E27FC236}">
                <a16:creationId xmlns:a16="http://schemas.microsoft.com/office/drawing/2014/main" id="{539E32D6-A5C0-48F8-81D8-DE797BCE28AA}"/>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held-out pass / abstain / wrong</a:t>
            </a:r>
          </a:p>
        </p:txBody>
      </p:sp>
      <p:sp>
        <p:nvSpPr>
          <p:cNvPr id="19" name="Shape 16">
            <a:extLst xmlns:a="http://schemas.openxmlformats.org/drawingml/2006/main">
              <a:ext uri="{FF2B5EF4-FFF2-40B4-BE49-F238E27FC236}">
                <a16:creationId xmlns:a16="http://schemas.microsoft.com/office/drawing/2014/main" id="{C42A4D82-4243-4E57-95B7-00B12A2AF0B1}"/>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BB611D54-3BAD-438B-8219-5D8CCEC58682}"/>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C4A2C"/>
                </a:solidFill>
                <a:latin typeface="Cambria"/>
                <a:ea typeface="Cambria"/>
                <a:cs typeface="Cambria"/>
              </a:rPr>
              <a:t>0</a:t>
            </a:r>
          </a:p>
        </p:txBody>
      </p:sp>
      <p:sp>
        <p:nvSpPr>
          <p:cNvPr id="21" name="Text 18">
            <a:extLst xmlns:a="http://schemas.openxmlformats.org/drawingml/2006/main">
              <a:ext uri="{FF2B5EF4-FFF2-40B4-BE49-F238E27FC236}">
                <a16:creationId xmlns:a16="http://schemas.microsoft.com/office/drawing/2014/main" id="{133DF6E6-86BE-41B9-A082-812D5F75D287}"/>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certifiable families</a:t>
            </a:r>
          </a:p>
        </p:txBody>
      </p:sp>
    </p:spTree>
    <p:extLst>
      <p:ext uri="{BB962C8B-B14F-4D97-AF65-F5344CB8AC3E}">
        <p14:creationId xmlns:p14="http://schemas.microsoft.com/office/powerpoint/2010/main" val="21011268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DE81562-3DB8-4773-B1D9-427C1FB3731F}"/>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F999CC3-0252-4B1C-BF4F-668AFC3BB06A}"/>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15</a:t>
            </a:r>
          </a:p>
        </p:txBody>
      </p:sp>
      <p:sp>
        <p:nvSpPr>
          <p:cNvPr id="4" name="Text 2">
            <a:extLst xmlns:a="http://schemas.openxmlformats.org/drawingml/2006/main">
              <a:ext uri="{FF2B5EF4-FFF2-40B4-BE49-F238E27FC236}">
                <a16:creationId xmlns:a16="http://schemas.microsoft.com/office/drawing/2014/main" id="{9E5E8EF0-CFC6-444B-839A-8900320F00A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2  ·  RQ2</a:t>
            </a:r>
          </a:p>
        </p:txBody>
      </p:sp>
      <p:sp>
        <p:nvSpPr>
          <p:cNvPr id="5" name="Text 3">
            <a:extLst xmlns:a="http://schemas.openxmlformats.org/drawingml/2006/main">
              <a:ext uri="{FF2B5EF4-FFF2-40B4-BE49-F238E27FC236}">
                <a16:creationId xmlns:a16="http://schemas.microsoft.com/office/drawing/2014/main" id="{E9228F54-4A6C-402E-AA6A-0F6F3A4C6E59}"/>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30 unseen real issues: 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5f6ce53ac87b4f49"/>
          </a:graphicData>
        </a:graphic>
      </p:graphicFrame>
      <p:sp>
        <p:nvSpPr>
          <p:cNvPr id="7" name="Shape 4">
            <a:extLst xmlns:a="http://schemas.openxmlformats.org/drawingml/2006/main">
              <a:ext uri="{FF2B5EF4-FFF2-40B4-BE49-F238E27FC236}">
                <a16:creationId xmlns:a16="http://schemas.microsoft.com/office/drawing/2014/main" id="{45704B42-9677-4652-8760-E67B295D4349}"/>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7D9DFB5-DCA4-4302-BA74-440B3B228B79}"/>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D0A0162E-77CC-4AFD-BC20-AD3B6489442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A4247"/>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50E1DC71-4E09-4B0B-8E3E-C512C6CBA908}"/>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13412F7F-013A-4E69-B783-9E26B4392C63}"/>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9B5AB5BA-ED1F-40AB-81DB-8636FD501A78}"/>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387C16C2-6ACE-48B4-B11A-C8014E1632E7}"/>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E00A489F-FAB4-4C74-B5F9-0DA16E5A8CFC}"/>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E3E24E26-E84A-42CF-9467-4AAEBAF597E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A327BD91-5B93-4387-B815-943124911252}"/>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269E3F82-A10D-40A6-8F94-8292238CC9AF}"/>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48836F9C-65BF-4F65-A828-D36C49535DCE}"/>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EE1AAA35-A411-4AAF-94A7-535985A77430}"/>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B4698BFD-FDEE-48F5-8299-11E445313A0E}"/>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D4A54"/>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64DFC59B-103C-4E36-B510-F8E99E81E1D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002E8C43-7C67-4F1E-B040-6D2A35E2E13B}"/>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EE6A5351-486D-42F6-9548-BC83AAFD9092}"/>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7798A"/>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137DF8EF-3E3A-4676-80F9-460B00C7D1DD}"/>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F767A"/>
                </a:solidFill>
                <a:latin typeface="Calibri"/>
                <a:ea typeface="Calibri"/>
                <a:cs typeface="Calibri"/>
              </a:rPr>
              <a:t>exact task contracts</a:t>
            </a:r>
          </a:p>
        </p:txBody>
      </p:sp>
    </p:spTree>
    <p:extLst>
      <p:ext uri="{BB962C8B-B14F-4D97-AF65-F5344CB8AC3E}">
        <p14:creationId xmlns:p14="http://schemas.microsoft.com/office/powerpoint/2010/main" val="146793308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648F763-0DA1-445C-8B22-3B232FD3549D}"/>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2D39A5C-A0BB-493A-961D-BB56C17247B3}"/>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34192B08-7E5F-4BAE-867E-C382569C37A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3  ·  THE DEPTH TRADE-OFF</a:t>
            </a:r>
          </a:p>
        </p:txBody>
      </p:sp>
      <p:sp>
        <p:nvSpPr>
          <p:cNvPr id="5" name="Text 3">
            <a:extLst xmlns:a="http://schemas.openxmlformats.org/drawingml/2006/main">
              <a:ext uri="{FF2B5EF4-FFF2-40B4-BE49-F238E27FC236}">
                <a16:creationId xmlns:a16="http://schemas.microsoft.com/office/drawing/2014/main" id="{56EEDE8D-F6DA-4182-B384-73AAA509CEEE}"/>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Preservation is not invariant to how deep you compile</a:t>
            </a:r>
          </a:p>
        </p:txBody>
      </p:sp>
      <p:sp>
        <p:nvSpPr>
          <p:cNvPr id="6" name="Shape 4">
            <a:extLst xmlns:a="http://schemas.openxmlformats.org/drawingml/2006/main">
              <a:ext uri="{FF2B5EF4-FFF2-40B4-BE49-F238E27FC236}">
                <a16:creationId xmlns:a16="http://schemas.microsoft.com/office/drawing/2014/main" id="{49B143FF-AA44-44A7-9965-903566F2A6E2}"/>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B1B3B84F-7979-4670-AB8F-F10CE22867A5}"/>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D4A54"/>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E43D4DC8-4A8F-4BC6-BECF-021E46A20554}"/>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4F3B46DF-0E84-456A-B702-59434AF1CA1E}"/>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1B8F2EC5-1D48-4620-AD78-E44B037A1D0E}"/>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D618EEB-DEC1-4CEE-8A99-E2932409A992}"/>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8711EA13-0217-4EFA-99B0-29F68076D0E8}"/>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2D54B73A-1A4C-4B58-8828-76FB6A464CA9}"/>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288892AB-4974-4D5C-A047-C95F922CFF0E}"/>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9BD8D5BF-4A3D-4DBA-B0E3-7E322C4BCE12}"/>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9907535A-F0C6-4B7B-9180-E50B137AF74E}"/>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B44028FC-F452-408D-BF00-3D6BE3AE3895}"/>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C4A2C"/>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A217BEE7-E54E-4778-9121-0237826661F5}"/>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F767A"/>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D70E72A3-2532-4F59-8263-F17418220CBD}"/>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7F18F047-1C2D-49A4-AA8E-8B767CD7D8DB}"/>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E19E88E0-AC30-4FFA-BE22-CB33E6D12C6B}"/>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80EF22BE-20A0-4D2D-B1C2-7154B1691322}"/>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CB81D0AB-9DA6-4F25-B0B8-6B23834C81DF}"/>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C4A2C"/>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262BFC05-D779-4E11-B3F1-E1DE6AEF8E32}"/>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3A5257"/>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45C8EFF6-713D-484F-8D23-D7732AA9852E}"/>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3A2E"/>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952FEFA3-B6D0-4705-9454-6F562B25BCF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FB5F9349-A0CC-430A-B8CF-5CC55368DF4E}"/>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D16C8558-8EAC-42A6-8CD6-4A62FE6D6F9E}"/>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16DA0EF4-0DF9-4C9F-A13D-E774C88667F2}"/>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3B73DB76-0581-47F8-9F9F-E1D47B7BC35C}"/>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A4247"/>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869883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9419D8-2B2E-4F09-8376-2350BC6D58EF}"/>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DC70FA9-5223-422F-8CCA-AE950A8800F7}"/>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82F24F00-EBDC-488F-9EA8-B0FE561F039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4  ·  RQ4</a:t>
            </a:r>
          </a:p>
        </p:txBody>
      </p:sp>
      <p:sp>
        <p:nvSpPr>
          <p:cNvPr id="5" name="Text 3">
            <a:extLst xmlns:a="http://schemas.openxmlformats.org/drawingml/2006/main">
              <a:ext uri="{FF2B5EF4-FFF2-40B4-BE49-F238E27FC236}">
                <a16:creationId xmlns:a16="http://schemas.microsoft.com/office/drawing/2014/main" id="{7BFD3F25-80B5-407B-AFE6-382E8DE3C39B}"/>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Token saving and cost saving can have opposite signs</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6529d3fdfbc94ff7"/>
          </a:graphicData>
        </a:graphic>
      </p:graphicFrame>
      <p:sp>
        <p:nvSpPr>
          <p:cNvPr id="7" name="Shape 4">
            <a:extLst xmlns:a="http://schemas.openxmlformats.org/drawingml/2006/main">
              <a:ext uri="{FF2B5EF4-FFF2-40B4-BE49-F238E27FC236}">
                <a16:creationId xmlns:a16="http://schemas.microsoft.com/office/drawing/2014/main" id="{B163CF5D-FAF2-41D0-8AC4-444BACBD2870}"/>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521BC01-B774-4D4F-9678-7B8F961FC590}"/>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D4A54"/>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649EA69D-571E-4481-B987-D6E66CD57FB9}"/>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3A5257"/>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60CBA5CC-2442-45C8-824D-9C518E74C053}"/>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4EA8F315-1F11-4F77-8CA8-8C7458C875E3}"/>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258EC6DE-19C7-4B1C-A1CC-2DD145DBCB06}"/>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BF17A57B-BCAD-4795-80E5-85BCABEA95D7}"/>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5F1ED2F-8C12-4FC9-8F59-F23A94373945}"/>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E41D426D-B9C8-43FD-8228-0816FB9942DF}"/>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A3A2E"/>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22755F6F-0ABF-4475-AD95-5B102D7A2EB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A4247"/>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58171926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4028E39-32C1-43E6-BDB4-59E72E7A6019}"/>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375D2F9-6904-495D-929D-659A34152333}"/>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0126D1AA-AD8A-46B9-BCC5-7C505E4C6C8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THE COMPARATOR THAT MATTERS</a:t>
            </a:r>
          </a:p>
        </p:txBody>
      </p:sp>
      <p:sp>
        <p:nvSpPr>
          <p:cNvPr id="5" name="Text 3">
            <a:extLst xmlns:a="http://schemas.openxmlformats.org/drawingml/2006/main">
              <a:ext uri="{FF2B5EF4-FFF2-40B4-BE49-F238E27FC236}">
                <a16:creationId xmlns:a16="http://schemas.microsoft.com/office/drawing/2014/main" id="{D74512B7-17E5-4D3D-B608-1089FF0E82E9}"/>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Before GCS, the hand macro is the stronger fixed-workflow baseline</a:t>
            </a:r>
          </a:p>
        </p:txBody>
      </p:sp>
      <p:sp>
        <p:nvSpPr>
          <p:cNvPr id="6" name="Text 4">
            <a:extLst xmlns:a="http://schemas.openxmlformats.org/drawingml/2006/main">
              <a:ext uri="{FF2B5EF4-FFF2-40B4-BE49-F238E27FC236}">
                <a16:creationId xmlns:a16="http://schemas.microsoft.com/office/drawing/2014/main" id="{83EAE4CD-3153-4741-8F3B-AD9F950E0636}"/>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Against partial GRC, the hand-written composite matches exact quality and request savings while using one interface and fewer tokens. This is the correct baseline for a stable read set.</a:t>
            </a:r>
          </a:p>
        </p:txBody>
      </p:sp>
      <p:sp>
        <p:nvSpPr>
          <p:cNvPr id="7" name="Text 5">
            <a:extLst xmlns:a="http://schemas.openxmlformats.org/drawingml/2006/main">
              <a:ext uri="{FF2B5EF4-FFF2-40B4-BE49-F238E27FC236}">
                <a16:creationId xmlns:a16="http://schemas.microsoft.com/office/drawing/2014/main" id="{465A4AFA-9977-49A2-9AA7-DF0BD7D95ECD}"/>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Tier-1 support evidence gathering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0.726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0.755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Permissioned RAG knowledge assistant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0.335</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0.718</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Multi-agent incident triage</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0.922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0.780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Multi-tenant MCP ops (negative control)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0.724</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1.000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macro</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Order-fulfillment exception handling</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0.661</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0.642</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GAC</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63AAB81D-1C3B-448F-915B-71FF28060537}"/>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F767A"/>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036EAB61-6670-4F1D-94DA-7EF6AD6EA4AA}"/>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E71ACDBA-5C44-48EB-953A-9DFDC94D7010}"/>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E505A6E6-BD1D-482E-AC23-940EA5F5DBEF}"/>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BB2EFDEF-DD02-449B-8774-3D78806C789C}"/>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6F9554DB-0F93-4610-B2CF-20AE6B3EB248}"/>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200D553-F517-440A-8612-A0089360A9AE}"/>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A4F68ED1-384A-42EE-A8BC-CF2B49AD2FE8}"/>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B1823758-D638-4F8A-A9BC-14B395B77FB6}"/>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443CA312-A127-4628-9B85-60A1FBDD9AF9}"/>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AABE4EAE-1A8F-4BEA-9788-A257E96AE5E3}"/>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530C6C4F-39DC-4D00-9CC5-2B089063F384}"/>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E9437180-D84B-45A1-BD55-DCB946BFCD49}"/>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Live confirmation: </a:t>
            </a:r>
            <a:r>
              <a:rPr sz="1200">
                <a:solidFill>
                  <a:srgbClr val="2A4247"/>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51422219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4028E39-32C1-43E6-BDB4-59E72E7A6019}"/>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375D2F9-6904-495D-929D-659A34152333}"/>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0126D1AA-AD8A-46B9-BCC5-7C505E4C6C8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COMPARATORS  ·  FAIR PRE-MODEL PLACEMENT + GEPA</a:t>
            </a:r>
          </a:p>
        </p:txBody>
      </p:sp>
      <p:sp>
        <p:nvSpPr>
          <p:cNvPr id="5" name="Text 3">
            <a:extLst xmlns:a="http://schemas.openxmlformats.org/drawingml/2006/main">
              <a:ext uri="{FF2B5EF4-FFF2-40B4-BE49-F238E27FC236}">
                <a16:creationId xmlns:a16="http://schemas.microsoft.com/office/drawing/2014/main" id="{D74512B7-17E5-4D3D-B608-1089FF0E82E9}"/>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83EAE4CD-3153-4741-8F3B-AD9F950E0636}"/>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A4247"/>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465A4AFA-9977-49A2-9AA7-DF0BD7D95ECD}"/>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7798A"/>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0D4A54"/>
                    </a:solidFill>
                  </a:tcPr>
                </a:tc>
              </a:tr>
              <a:tr h="301752">
                <a:tc>
                  <a:txBody>
                    <a:bodyPr/>
                    <a:lstStyle/>
                    <a:p>
                      <a:pPr marL="0" indent="0">
                        <a:buNone/>
                      </a:pPr>
                      <a:r>
                        <a:rPr sz="1050">
                          <a:solidFill>
                            <a:srgbClr val="2A4247"/>
                          </a:solidFill>
                          <a:latin typeface="Calibri"/>
                          <a:ea typeface="Calibri"/>
                          <a:cs typeface="Calibri"/>
                        </a:rPr>
                        <a:t>Unchanged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GEPA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4.0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3.0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GCS</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r h="301752">
                <a:tc>
                  <a:txBody>
                    <a:bodyPr/>
                    <a:lstStyle/>
                    <a:p>
                      <a:pPr marL="0" indent="0">
                        <a:buNone/>
                      </a:pPr>
                      <a:r>
                        <a:rPr sz="1050">
                          <a:solidFill>
                            <a:srgbClr val="2A4247"/>
                          </a:solidFill>
                          <a:latin typeface="Calibri"/>
                          <a:ea typeface="Calibri"/>
                          <a:cs typeface="Calibri"/>
                        </a:rPr>
                        <a:t>GCS + seed</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c>
                  <a:txBody>
                    <a:bodyPr/>
                    <a:lstStyle/>
                    <a:p>
                      <a:pPr marL="0" indent="0" algn="ctr">
                        <a:buNone/>
                      </a:pPr>
                      <a:r>
                        <a:rPr sz="1050" b="1">
                          <a:solidFill>
                            <a:srgbClr val="AC4A2C"/>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FFFFF"/>
                    </a:solidFill>
                  </a:tcPr>
                </a:tc>
              </a:tr>
              <a:tr h="301752">
                <a:tc>
                  <a:txBody>
                    <a:bodyPr/>
                    <a:lstStyle/>
                    <a:p>
                      <a:pPr marL="0" indent="0">
                        <a:buNone/>
                      </a:pPr>
                      <a:r>
                        <a:rPr sz="1050">
                          <a:solidFill>
                            <a:srgbClr val="2A4247"/>
                          </a:solidFill>
                          <a:latin typeface="Calibri"/>
                          <a:ea typeface="Calibri"/>
                          <a:cs typeface="Calibri"/>
                        </a:rPr>
                        <a:t>Manual pre-model</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a:solidFill>
                            <a:srgbClr val="2A4247"/>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1.0</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c>
                  <a:txBody>
                    <a:bodyPr/>
                    <a:lstStyle/>
                    <a:p>
                      <a:pPr marL="0" indent="0" algn="ctr">
                        <a:buNone/>
                      </a:pPr>
                      <a:r>
                        <a:rPr sz="1050" b="1">
                          <a:solidFill>
                            <a:srgbClr val="17798A"/>
                          </a:solidFill>
                          <a:latin typeface="Calibri"/>
                          <a:ea typeface="Calibri"/>
                          <a:cs typeface="Calibri"/>
                        </a:rPr>
                        <a:t>6/6</a:t>
                      </a:r>
                    </a:p>
                  </a:txBody>
                  <a:tcPr marL="82296" marR="82296" marT="36576" marB="36576" anchor="ctr">
                    <a:lnL w="6350">
                      <a:solidFill>
                        <a:srgbClr val="D3E3E6"/>
                      </a:solidFill>
                      <a:prstDash val="solid"/>
                    </a:lnL>
                    <a:lnR w="6350">
                      <a:solidFill>
                        <a:srgbClr val="D3E3E6"/>
                      </a:solidFill>
                      <a:prstDash val="solid"/>
                    </a:lnR>
                    <a:lnT w="6350">
                      <a:solidFill>
                        <a:srgbClr val="D3E3E6"/>
                      </a:solidFill>
                      <a:prstDash val="solid"/>
                    </a:lnT>
                    <a:lnB w="6350">
                      <a:solidFill>
                        <a:srgbClr val="D3E3E6"/>
                      </a:solidFill>
                      <a:prstDash val="solid"/>
                    </a:lnB>
                    <a:solidFill>
                      <a:srgbClr val="F5FAFB"/>
                    </a:solidFill>
                  </a:tcPr>
                </a:tc>
              </a:tr>
            </a:tbl>
          </a:graphicData>
        </a:graphic>
      </p:graphicFrame>
      <p:sp>
        <p:nvSpPr>
          <p:cNvPr id="9" name="Text 6">
            <a:extLst xmlns:a="http://schemas.openxmlformats.org/drawingml/2006/main">
              <a:ext uri="{FF2B5EF4-FFF2-40B4-BE49-F238E27FC236}">
                <a16:creationId xmlns:a16="http://schemas.microsoft.com/office/drawing/2014/main" id="{63AAB81D-1C3B-448F-915B-71FF28060537}"/>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C4A2C"/>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036EAB61-6670-4F1D-94DA-7EF6AD6EA4AA}"/>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E71ACDBA-5C44-48EB-953A-9DFDC94D7010}"/>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E505A6E6-BD1D-482E-AC23-940EA5F5DBEF}"/>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BB2EFDEF-DD02-449B-8774-3D78806C789C}"/>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C4A2C"/>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6F9554DB-0F93-4610-B2CF-20AE6B3EB248}"/>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A3A2E"/>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200D553-F517-440A-8612-A0089360A9AE}"/>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AFB"/>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A4F68ED1-384A-42EE-A8BC-CF2B49AD2FE8}"/>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B1823758-D638-4F8A-A9BC-14B395B77FB6}"/>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443CA312-A127-4628-9B85-60A1FBDD9AF9}"/>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D4A54"/>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AABE4EAE-1A8F-4BEA-9788-A257E96AE5E3}"/>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A4247"/>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530C6C4F-39DC-4D00-9CC5-2B089063F384}"/>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E9437180-D84B-45A1-BD55-DCB946BFCD49}"/>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D4A54"/>
                </a:solidFill>
                <a:latin typeface="Calibri"/>
                <a:ea typeface="Calibri"/>
                <a:cs typeface="Calibri"/>
              </a:rPr>
              <a:t>Fair placement removes the confound: GCS and manual execution tie structurally at 6/6 exact quality. GEPA retains its seed after 14 task evaluations; 59 optimization requests are accounted separately. One family, six held-out cases.</a:t>
            </a:r>
          </a:p>
        </p:txBody>
      </p:sp>
    </p:spTree>
    <p:extLst>
      <p:ext uri="{BB962C8B-B14F-4D97-AF65-F5344CB8AC3E}">
        <p14:creationId xmlns:p14="http://schemas.microsoft.com/office/powerpoint/2010/main" val="5142221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82CE1B7-FD5D-4C08-9A69-86B0D5A6D85E}"/>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6D726E8-B814-483E-A19A-269CE41309AA}"/>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EE3F99E5-FC45-406C-BA9F-B945090A124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RESULT 5  ·  RQ5</a:t>
            </a:r>
          </a:p>
        </p:txBody>
      </p:sp>
      <p:sp>
        <p:nvSpPr>
          <p:cNvPr id="5" name="Text 3">
            <a:extLst xmlns:a="http://schemas.openxmlformats.org/drawingml/2006/main">
              <a:ext uri="{FF2B5EF4-FFF2-40B4-BE49-F238E27FC236}">
                <a16:creationId xmlns:a16="http://schemas.microsoft.com/office/drawing/2014/main" id="{CF8DAC78-396D-4514-B87C-4469A91DF23D}"/>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A portfolio layer that only compares things it has measured</a:t>
            </a:r>
          </a:p>
        </p:txBody>
      </p:sp>
      <p:sp>
        <p:nvSpPr>
          <p:cNvPr id="6" name="Text 4">
            <a:extLst xmlns:a="http://schemas.openxmlformats.org/drawingml/2006/main">
              <a:ext uri="{FF2B5EF4-FFF2-40B4-BE49-F238E27FC236}">
                <a16:creationId xmlns:a16="http://schemas.microsoft.com/office/drawing/2014/main" id="{E73BB0A9-8D65-4F9A-A459-AC5AFAC107A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A4247"/>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6ef1693e41bf49a1"/>
          </a:graphicData>
        </a:graphic>
      </p:graphicFrame>
      <p:sp>
        <p:nvSpPr>
          <p:cNvPr id="8" name="Text 5">
            <a:extLst xmlns:a="http://schemas.openxmlformats.org/drawingml/2006/main">
              <a:ext uri="{FF2B5EF4-FFF2-40B4-BE49-F238E27FC236}">
                <a16:creationId xmlns:a16="http://schemas.microsoft.com/office/drawing/2014/main" id="{CC4C23D0-ABB8-4368-B7E0-E06F28BE6305}"/>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F767A"/>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B96EF5AA-65AC-46CA-A19E-5163CD5284F5}"/>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49FC87D3-6679-435C-91DD-D2271562D36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7798A"/>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751C0B1F-C4AC-4011-8B10-4AA9ED1AD3BE}"/>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7798A"/>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6D6F7C54-5FF4-41E6-B92D-F7E70A03D346}"/>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4374FB40-31A3-4904-8444-3F048CCA0705}"/>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16E1033E-9B4B-449E-96DD-DC83B223C4E9}"/>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EED169C7-DED1-456F-9274-8399C24325FB}"/>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D5F02AA8-D833-4675-883D-22BA0EBEEC77}"/>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23F25084-A1AD-4338-9322-74EE5DEE7213}"/>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2D78065D-E3F3-47BA-B7AC-E07732A7188E}"/>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BE3DD901-BEF1-47ED-8B81-BB5D015CD6E5}"/>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DBAA49D8-F19E-4FC1-BFC5-1C8C7EAE7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384DB8D4-1D71-46AB-9C16-992AB54A2527}"/>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D4A54"/>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3D22BA26-12B0-413E-BFEC-63DFD80BD4AD}"/>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A4247"/>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D8CD1E18-7DD1-4E58-9A8E-C0EA842F6B15}"/>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F767A"/>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115C1C3C-ABFB-4606-85CE-BB3A487F7047}"/>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7ECE7"/>
          </a:solidFill>
          <a:ln xmlns:a="http://schemas.openxmlformats.org/drawingml/2006/main" w="9525">
            <a:solidFill>
              <a:srgbClr val="EBD5CC"/>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A53647CE-6F46-495F-B54E-9181AEA2FA13}"/>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A3A2E"/>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25923966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9C484A9-60E9-4C13-8DB8-998046EBCD75}"/>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FB2B5"/>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E41A3FC-A51D-4566-8882-318AD033E9BC}"/>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FB2B5"/>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C014ACE8-694D-414A-923F-14D785F7E39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7798A"/>
                </a:solidFill>
                <a:latin typeface="Calibri"/>
                <a:ea typeface="Calibri"/>
                <a:cs typeface="Calibri"/>
              </a:rPr>
              <a:t>LIMITATIONS AND THREATS TO VALIDITY</a:t>
            </a:r>
          </a:p>
        </p:txBody>
      </p:sp>
      <p:sp>
        <p:nvSpPr>
          <p:cNvPr id="5" name="Text 3">
            <a:extLst xmlns:a="http://schemas.openxmlformats.org/drawingml/2006/main">
              <a:ext uri="{FF2B5EF4-FFF2-40B4-BE49-F238E27FC236}">
                <a16:creationId xmlns:a16="http://schemas.microsoft.com/office/drawing/2014/main" id="{B1F5451E-F603-465B-A467-EB18D624D0DF}"/>
              </a:ext>
            </a:extLst>
          </p:cNvPr>
          <p:cNvSpPr>
            <a:spLocks xmlns:a="http://schemas.openxmlformats.org/drawingml/2006/main" noGrp="1"/>
          </p:cNvSpPr>
          <p:nvPr/>
        </p:nvSpPr>
        <p:spPr>
          <a:xfrm xmlns:a="http://schemas.openxmlformats.org/drawingml/2006/main">
            <a:off x="640080" y="658368"/>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D4A54"/>
                </a:solidFill>
                <a:latin typeface="Cambria"/>
                <a:ea typeface="Cambria"/>
                <a:cs typeface="Cambria"/>
              </a:rPr>
              <a:t>Five claims the evidence deliberately does not support</a:t>
            </a:r>
          </a:p>
        </p:txBody>
      </p:sp>
      <p:sp>
        <p:nvSpPr>
          <p:cNvPr id="6" name="Shape 4">
            <a:extLst xmlns:a="http://schemas.openxmlformats.org/drawingml/2006/main">
              <a:ext uri="{FF2B5EF4-FFF2-40B4-BE49-F238E27FC236}">
                <a16:creationId xmlns:a16="http://schemas.microsoft.com/office/drawing/2014/main" id="{6FCFF69F-71AA-4D4E-8B22-4AB9C0E6B63D}"/>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BCFE44EE-2AD9-4AD1-B706-45FF6771ECF7}"/>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650ABD3A-92A2-4331-ABA9-3D0C0D2DB6CC}"/>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F25EBBCB-7F6D-41F1-B45F-598CAC371736}"/>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00E88583-3E49-45F6-AA22-C0768EECBB70}"/>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9F347DB2-5012-4294-9667-8A374CF201E0}"/>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B0BD6C2-8FA4-4620-A7F6-EF0B36F1E311}"/>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44B094D6-AD66-40BC-86F3-BE455320C99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C76BEAF0-2836-4015-BF00-3EB6775988FC}"/>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91F3BC9E-A3EF-4170-9B46-25E353C3760B}"/>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9CDB2293-9679-44B4-9BA8-A12C55286DA2}"/>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807F8545-F75B-4F4F-A9C6-AB1A0E4CDD34}"/>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86243D4E-A7FC-427F-AFC6-885E30D7B4B0}"/>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16AA156F-9DF5-4D67-B64A-5530666EEA23}"/>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FCC98C4A-5A0F-4B32-B419-1EDC24B1A28B}"/>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B7E6EE65-EA28-4A20-9F56-59DA19CFBF5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0D0F0514-EAA7-46B3-8D7E-B2771B2505B9}"/>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C9657B51-3476-463B-BE72-7E03FC4013AA}"/>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BC940A75-A8AF-4E13-AE4E-97FAF4DBC46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379B5C7E-C0A4-4D8E-B5CB-47C4C48E18AB}"/>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AB55D738-D8F2-45C7-87F2-351135CA87D9}"/>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7ECE7"/>
          </a:solidFill>
          <a:ln xmlns:a="http://schemas.openxmlformats.org/drawingml/2006/main" w="9525">
            <a:solidFill>
              <a:srgbClr val="EBD5CC"/>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3F576C4E-8B6B-459C-95A5-668F15E2C9A8}"/>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C4A2C"/>
          </a:solidFill>
          <a:ln xmlns:a="http://schemas.openxmlformats.org/drawingml/2006/main" w="6350">
            <a:solidFill>
              <a:srgbClr val="AC4A2C"/>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02D8A6D-B0C8-4026-8B2E-8DBE7DC6B1F8}"/>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CC0234D1-4E7E-4885-BB27-0399DBF8A4D8}"/>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C4A2C"/>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AA5CFC16-7381-427A-8620-144C8F9614D8}"/>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A3226"/>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BAB74900-0D2B-46F6-AD61-29974109B849}"/>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AF3F5"/>
          </a:solidFill>
          <a:ln xmlns:a="http://schemas.openxmlformats.org/drawingml/2006/main" w="9525">
            <a:solidFill>
              <a:srgbClr val="D3E3E6"/>
            </a:solidFill>
            <a:prstDash val="solid"/>
          </a:ln>
          <a:effectLst xmlns:a="http://schemas.openxmlformats.org/drawingml/2006/main">
            <a:outerShdw blurRad="114300" dist="17780" dir="5400000" algn="bl" rotWithShape="0">
              <a:srgbClr val="8FA9AE">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766A1D64-FF9F-42BE-9770-68C8919FFF67}"/>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D4A54"/>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2CF41F15-ABE8-4B8C-A3D9-C8701D6723C2}"/>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A4247"/>
                </a:solidFill>
                <a:latin typeface="Calibri"/>
                <a:ea typeface="Calibri"/>
                <a:cs typeface="Calibri"/>
              </a:rPr>
              <a:t>Discovery is costly; risk is artifact-specific</a:t>
            </a:r>
          </a:p>
        </p:txBody>
      </p:sp>
    </p:spTree>
    <p:extLst>
      <p:ext uri="{BB962C8B-B14F-4D97-AF65-F5344CB8AC3E}">
        <p14:creationId xmlns:p14="http://schemas.microsoft.com/office/powerpoint/2010/main" val="406618266"/>
      </p:ext>
    </p:extLst>
  </p:cSld>
</p:sld>
</file>

<file path=ppt/slides/slide22.xml><?xml version="1.0" encoding="utf-8"?>
<p:sld xmlns:p="http://schemas.openxmlformats.org/presentationml/2006/main">
  <p:cSld>
    <p:bg>
      <p:bgPr>
        <a:solidFill xmlns:a="http://schemas.openxmlformats.org/drawingml/2006/main">
          <a:srgbClr val="0E272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5404C00-2709-4DA5-843A-AD2CD4303187}"/>
              </a:ext>
            </a:extLst>
          </p:cNvPr>
          <p:cNvSpPr>
            <a:spLocks xmlns:a="http://schemas.openxmlformats.org/drawingml/2006/main" noGrp="1"/>
          </p:cNvSpPr>
          <p:nvPr/>
        </p:nvSpPr>
        <p:spPr>
          <a:xfrm xmlns:a="http://schemas.openxmlformats.org/drawingml/2006/main">
            <a:off x="640080" y="63276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4C6B70"/>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DB1CC54-5A97-4E4C-BBE2-F7307BFAFE0B}"/>
              </a:ext>
            </a:extLst>
          </p:cNvPr>
          <p:cNvSpPr>
            <a:spLocks xmlns:a="http://schemas.openxmlformats.org/drawingml/2006/main" noGrp="1"/>
          </p:cNvSpPr>
          <p:nvPr/>
        </p:nvSpPr>
        <p:spPr>
          <a:xfrm xmlns:a="http://schemas.openxmlformats.org/drawingml/2006/main">
            <a:off x="10637215" y="6327648"/>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4C6B70"/>
                </a:solidFill>
                <a:latin typeface="Calibri"/>
                <a:ea typeface="Calibri"/>
                <a:cs typeface="Calibri"/>
              </a:rPr>
              <a:t>22</a:t>
            </a:r>
          </a:p>
        </p:txBody>
      </p:sp>
      <p:sp>
        <p:nvSpPr>
          <p:cNvPr id="4" name="Shape 2">
            <a:extLst xmlns:a="http://schemas.openxmlformats.org/drawingml/2006/main">
              <a:ext uri="{FF2B5EF4-FFF2-40B4-BE49-F238E27FC236}">
                <a16:creationId xmlns:a16="http://schemas.microsoft.com/office/drawing/2014/main" id="{02F49E45-B5CF-4AF7-B9E9-78BC8C08B7F2}"/>
              </a:ext>
            </a:extLst>
          </p:cNvPr>
          <p:cNvSpPr>
            <a:spLocks xmlns:a="http://schemas.openxmlformats.org/drawingml/2006/main" noGrp="1"/>
          </p:cNvSpPr>
          <p:nvPr/>
        </p:nvSpPr>
        <p:spPr>
          <a:xfrm xmlns:a="http://schemas.openxmlformats.org/drawingml/2006/main">
            <a:off x="11201400" y="4892040"/>
            <a:ext cx="4023360" cy="4023360"/>
          </a:xfrm>
          <a:prstGeom xmlns:a="http://schemas.openxmlformats.org/drawingml/2006/main" prst="ellipse">
            <a:avLst/>
          </a:prstGeom>
          <a:solidFill xmlns:a="http://schemas.openxmlformats.org/drawingml/2006/main">
            <a:srgbClr val="0D4A54">
              <a:alpha val="55000"/>
            </a:srgbClr>
          </a:solidFill>
          <a:ln xmlns:a="http://schemas.openxmlformats.org/drawingml/2006/main" w="12700">
            <a:solidFill>
              <a:srgbClr val="0D4A54"/>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740F362A-C568-4C7D-BC58-36638ADF0340}"/>
              </a:ext>
            </a:extLst>
          </p:cNvPr>
          <p:cNvSpPr>
            <a:spLocks xmlns:a="http://schemas.openxmlformats.org/drawingml/2006/main" noGrp="1"/>
          </p:cNvSpPr>
          <p:nvPr/>
        </p:nvSpPr>
        <p:spPr>
          <a:xfrm xmlns:a="http://schemas.openxmlformats.org/drawingml/2006/main">
            <a:off x="11932920" y="5623560"/>
            <a:ext cx="2011680" cy="2011680"/>
          </a:xfrm>
          <a:prstGeom xmlns:a="http://schemas.openxmlformats.org/drawingml/2006/main" prst="ellipse">
            <a:avLst/>
          </a:prstGeom>
          <a:solidFill xmlns:a="http://schemas.openxmlformats.org/drawingml/2006/main">
            <a:srgbClr val="17798A">
              <a:alpha val="50000"/>
            </a:srgbClr>
          </a:solidFill>
          <a:ln xmlns:a="http://schemas.openxmlformats.org/drawingml/2006/main" w="1270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E53FE9D9-B567-4443-8A3D-A9D9EED3553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EA3B0"/>
                </a:solidFill>
                <a:latin typeface="Calibri"/>
                <a:ea typeface="Calibri"/>
                <a:cs typeface="Calibri"/>
              </a:rPr>
              <a:t>TAKEAWAYS</a:t>
            </a:r>
          </a:p>
        </p:txBody>
      </p:sp>
      <p:sp>
        <p:nvSpPr>
          <p:cNvPr id="7" name="Text 5">
            <a:extLst xmlns:a="http://schemas.openxmlformats.org/drawingml/2006/main">
              <a:ext uri="{FF2B5EF4-FFF2-40B4-BE49-F238E27FC236}">
                <a16:creationId xmlns:a16="http://schemas.microsoft.com/office/drawing/2014/main" id="{E28C376E-D60D-40EB-8C85-ECF2ABD48D46}"/>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agent optimizer by what it refuses, not only by what it compresses</a:t>
            </a:r>
          </a:p>
        </p:txBody>
      </p:sp>
      <p:sp>
        <p:nvSpPr>
          <p:cNvPr id="8" name="Shape 6">
            <a:extLst xmlns:a="http://schemas.openxmlformats.org/drawingml/2006/main">
              <a:ext uri="{FF2B5EF4-FFF2-40B4-BE49-F238E27FC236}">
                <a16:creationId xmlns:a16="http://schemas.microsoft.com/office/drawing/2014/main" id="{076FAC6B-AAE9-44AB-931B-FA18970F6A8E}"/>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AAD2E14-4836-4F66-BC22-63D6C1294AE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91EE7DCA-CA40-4F09-8726-78031AAA3C5F}"/>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62533E1E-5F51-40B8-849A-4D0D67318DF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C02C807E-0255-458A-928B-1AC2808CF8CB}"/>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BE0532F0-139F-4963-8A4C-0E0C3A7E6664}"/>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F6C217D7-52C9-4C92-8569-2E3842A04315}"/>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4F81520C-21D6-4356-BADA-5BE64118A256}"/>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DED4DF9F-284C-46D3-8747-7C40C36C4BC1}"/>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5EC8D5AB-ABF6-48BE-AFF4-1EFD84FD531E}"/>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5FF1CCFE-2E3D-41CA-B2F3-11DE8B137822}"/>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4174AEFA-D447-4C87-9225-B8B11DF93956}"/>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2E8AC3E7-E7DF-46A8-9866-A2FF4A8C6081}"/>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7798A"/>
          </a:solidFill>
          <a:ln xmlns:a="http://schemas.openxmlformats.org/drawingml/2006/main" w="6350">
            <a:solidFill>
              <a:srgbClr val="17798A"/>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AA66EFEB-2281-4812-9A46-230C9DB798B0}"/>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6521E63D-E734-476A-B3CA-28E9F216DE14}"/>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FDD6B79F-BC8D-4278-8D24-08C53ED921FC}"/>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CC7CE"/>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A54A34A9-2406-4C43-B673-246F4A35BDB6}"/>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C6B70"/>
                </a:solidFill>
                <a:latin typeface="Calibri"/>
                <a:ea typeface="Calibri"/>
                <a:cs typeface="Calibri"/>
              </a:rPr>
              <a:t>Compiling Recurrent Agent Workflows into Guarded Programs  ·  artifact includes pinned data snapshots, raw results, and an adversarial self-review</a:t>
            </a:r>
          </a:p>
        </p:txBody>
      </p:sp>
    </p:spTree>
    <p:extLst>
      <p:ext uri="{BB962C8B-B14F-4D97-AF65-F5344CB8AC3E}">
        <p14:creationId xmlns:p14="http://schemas.microsoft.com/office/powerpoint/2010/main" val="943430613"/>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2026-08-05T04:12:53.1300000Z</dcterms:created>
  <dcterms:modified xsi:type="dcterms:W3CDTF">2026-08-05T04:12:53.1300000Z</dcterms:modified>
</coreProperties>
</file>