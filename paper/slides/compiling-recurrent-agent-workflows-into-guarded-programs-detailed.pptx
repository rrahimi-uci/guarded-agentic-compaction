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Default Extension="xlsx" ContentType="application/vnd.openxmlformats-officedocument.spreadsheetml.sheet"/>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Masters/theme/theme2.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&#65279;<?xml version="1.0" encoding="utf-8"?><Relationships xmlns="http://schemas.openxmlformats.org/package/2006/relationships"><Relationship Type="http://schemas.openxmlformats.org/package/2006/relationships/metadata/core-properties" Target="/docProps/core.xml" Id="Rb5fba717a89a4a8d" /><Relationship Type="http://schemas.openxmlformats.org/officeDocument/2006/relationships/extended-properties" Target="/docProps/app.xml" Id="Rec0a11a0f7d2476a" /><Relationship Type="http://schemas.openxmlformats.org/officeDocument/2006/relationships/officeDocument" Target="/ppt/presentation.xml" Id="R8fb890e8d14a4dc4" /></Relationships>
</file>

<file path=ppt/presentation.xml><?xml version="1.0" encoding="utf-8"?>
<p:presentation xmlns:p="http://schemas.openxmlformats.org/presentationml/2006/main">
  <p:sldMasterIdLst>
    <p:sldMasterId xmlns:r="http://schemas.openxmlformats.org/officeDocument/2006/relationships" id="2147483648" r:id="R3b91fed2d1a84883"/>
  </p:sldMasterIdLst>
  <p:notesMasterIdLst>
    <p:notesMasterId xmlns:r="http://schemas.openxmlformats.org/officeDocument/2006/relationships" r:id="Rd9d1863c62fe4132"/>
  </p:notesMasterIdLst>
  <p:sldIdLst>
    <p:sldId xmlns:r="http://schemas.openxmlformats.org/officeDocument/2006/relationships" id="256" r:id="Rgacsld01"/>
    <p:sldId xmlns:r="http://schemas.openxmlformats.org/officeDocument/2006/relationships" id="257" r:id="Rgacsld02"/>
    <p:sldId xmlns:r="http://schemas.openxmlformats.org/officeDocument/2006/relationships" id="258" r:id="Rgacsld03"/>
    <p:sldId xmlns:r="http://schemas.openxmlformats.org/officeDocument/2006/relationships" id="259" r:id="Rgacsld04"/>
    <p:sldId xmlns:r="http://schemas.openxmlformats.org/officeDocument/2006/relationships" id="260" r:id="Rgacsld05"/>
    <p:sldId xmlns:r="http://schemas.openxmlformats.org/officeDocument/2006/relationships" id="261" r:id="Rgacsld06"/>
    <p:sldId xmlns:r="http://schemas.openxmlformats.org/officeDocument/2006/relationships" id="262" r:id="Rgacsld07"/>
    <p:sldId xmlns:r="http://schemas.openxmlformats.org/officeDocument/2006/relationships" id="263" r:id="Rgacsld08"/>
    <p:sldId xmlns:r="http://schemas.openxmlformats.org/officeDocument/2006/relationships" id="264" r:id="Rgacsld09"/>
    <p:sldId xmlns:r="http://schemas.openxmlformats.org/officeDocument/2006/relationships" id="265" r:id="Rgacsld10"/>
    <p:sldId xmlns:r="http://schemas.openxmlformats.org/officeDocument/2006/relationships" id="266" r:id="Rgacsld11"/>
    <p:sldId xmlns:r="http://schemas.openxmlformats.org/officeDocument/2006/relationships" id="267" r:id="Rgacsld12"/>
    <p:sldId xmlns:r="http://schemas.openxmlformats.org/officeDocument/2006/relationships" id="268" r:id="Rgacsld13"/>
    <p:sldId xmlns:r="http://schemas.openxmlformats.org/officeDocument/2006/relationships" id="269" r:id="Rgacsld14"/>
    <p:sldId xmlns:r="http://schemas.openxmlformats.org/officeDocument/2006/relationships" id="270" r:id="Rgacsld15"/>
    <p:sldId xmlns:r="http://schemas.openxmlformats.org/officeDocument/2006/relationships" id="271" r:id="Rgacsld16"/>
    <p:sldId xmlns:r="http://schemas.openxmlformats.org/officeDocument/2006/relationships" id="272" r:id="Rgacsld17"/>
    <p:sldId xmlns:r="http://schemas.openxmlformats.org/officeDocument/2006/relationships" id="273" r:id="Rgacsld18"/>
    <p:sldId xmlns:r="http://schemas.openxmlformats.org/officeDocument/2006/relationships" id="274" r:id="Rgacsld19"/>
    <p:sldId xmlns:r="http://schemas.openxmlformats.org/officeDocument/2006/relationships" id="275" r:id="Rgacsld20"/>
    <p:sldId xmlns:r="http://schemas.openxmlformats.org/officeDocument/2006/relationships" id="276" r:id="Rgacsld21"/>
    <p:sldId xmlns:r="http://schemas.openxmlformats.org/officeDocument/2006/relationships" id="277" r:id="Rgacsld22"/>
    <p:sldId xmlns:r="http://schemas.openxmlformats.org/officeDocument/2006/relationships" id="278" r:id="Rgacsld23"/>
    <p:sldId xmlns:r="http://schemas.openxmlformats.org/officeDocument/2006/relationships" id="279" r:id="Rgacsld24"/>
    <p:sldId xmlns:r="http://schemas.openxmlformats.org/officeDocument/2006/relationships" id="280" r:id="Rgacsld25"/>
    <p:sldId xmlns:r="http://schemas.openxmlformats.org/officeDocument/2006/relationships" id="281" r:id="Rgacsld2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xml version="1.0" encoding="utf-8"?><Relationships xmlns="http://schemas.openxmlformats.org/package/2006/relationships"><Relationship Type="http://schemas.openxmlformats.org/officeDocument/2006/relationships/slideMaster" Target="/ppt/slideMasters/slideMaster1.xml" Id="R3b91fed2d1a84883" /><Relationship Type="http://schemas.openxmlformats.org/officeDocument/2006/relationships/theme" Target="/ppt/theme/theme1.xml" Id="Reab66932fb834c57" /><Relationship Type="http://schemas.openxmlformats.org/officeDocument/2006/relationships/notesMaster" Target="/ppt/notesMasters/notesMaster1.xml" Id="Rd9d1863c62fe4132" /><Relationship Type="http://schemas.openxmlformats.org/officeDocument/2006/relationships/presProps" Target="/ppt/presProps.xml" Id="R85ad0cc843bf4635" /><Relationship Type="http://schemas.openxmlformats.org/officeDocument/2006/relationships/viewProps" Target="/ppt/viewProps.xml" Id="R8877b10e550e4942" /><Relationship Type="http://schemas.openxmlformats.org/officeDocument/2006/relationships/tableStyles" Target="/ppt/tableStyles.xml" Id="Re9cfb3c2803b4b4a" /><Relationship Type="http://schemas.openxmlformats.org/officeDocument/2006/relationships/slide" Target="/ppt/slides/slide1.xml" Id="Rgacsld01" /><Relationship Type="http://schemas.openxmlformats.org/officeDocument/2006/relationships/slide" Target="/ppt/slides/slide2.xml" Id="Rgacsld02" /><Relationship Type="http://schemas.openxmlformats.org/officeDocument/2006/relationships/slide" Target="/ppt/slides/slide3.xml" Id="Rgacsld03" /><Relationship Type="http://schemas.openxmlformats.org/officeDocument/2006/relationships/slide" Target="/ppt/slides/slide4.xml" Id="Rgacsld04" /><Relationship Type="http://schemas.openxmlformats.org/officeDocument/2006/relationships/slide" Target="/ppt/slides/slide5.xml" Id="Rgacsld05" /><Relationship Type="http://schemas.openxmlformats.org/officeDocument/2006/relationships/slide" Target="/ppt/slides/slide6.xml" Id="Rgacsld06" /><Relationship Type="http://schemas.openxmlformats.org/officeDocument/2006/relationships/slide" Target="/ppt/slides/slide7.xml" Id="Rgacsld07" /><Relationship Type="http://schemas.openxmlformats.org/officeDocument/2006/relationships/slide" Target="/ppt/slides/slide8.xml" Id="Rgacsld08" /><Relationship Type="http://schemas.openxmlformats.org/officeDocument/2006/relationships/slide" Target="/ppt/slides/slide9.xml" Id="Rgacsld09" /><Relationship Type="http://schemas.openxmlformats.org/officeDocument/2006/relationships/slide" Target="/ppt/slides/slide10.xml" Id="Rgacsld10" /><Relationship Type="http://schemas.openxmlformats.org/officeDocument/2006/relationships/slide" Target="/ppt/slides/slide11.xml" Id="Rgacsld11" /><Relationship Type="http://schemas.openxmlformats.org/officeDocument/2006/relationships/slide" Target="/ppt/slides/slide12.xml" Id="Rgacsld12" /><Relationship Type="http://schemas.openxmlformats.org/officeDocument/2006/relationships/slide" Target="/ppt/slides/slide13.xml" Id="Rgacsld13" /><Relationship Type="http://schemas.openxmlformats.org/officeDocument/2006/relationships/slide" Target="/ppt/slides/slide14.xml" Id="Rgacsld14" /><Relationship Type="http://schemas.openxmlformats.org/officeDocument/2006/relationships/slide" Target="/ppt/slides/slide15.xml" Id="Rgacsld15" /><Relationship Type="http://schemas.openxmlformats.org/officeDocument/2006/relationships/slide" Target="/ppt/slides/slide16.xml" Id="Rgacsld16" /><Relationship Type="http://schemas.openxmlformats.org/officeDocument/2006/relationships/slide" Target="/ppt/slides/slide17.xml" Id="Rgacsld17" /><Relationship Type="http://schemas.openxmlformats.org/officeDocument/2006/relationships/slide" Target="/ppt/slides/slide18.xml" Id="Rgacsld18" /><Relationship Type="http://schemas.openxmlformats.org/officeDocument/2006/relationships/slide" Target="/ppt/slides/slide19.xml" Id="Rgacsld19" /><Relationship Type="http://schemas.openxmlformats.org/officeDocument/2006/relationships/slide" Target="/ppt/slides/slide20.xml" Id="Rgacsld20" /><Relationship Type="http://schemas.openxmlformats.org/officeDocument/2006/relationships/slide" Target="/ppt/slides/slide21.xml" Id="Rgacsld21" /><Relationship Type="http://schemas.openxmlformats.org/officeDocument/2006/relationships/slide" Target="/ppt/slides/slide22.xml" Id="Rgacsld22" /><Relationship Type="http://schemas.openxmlformats.org/officeDocument/2006/relationships/slide" Target="/ppt/slides/slide23.xml" Id="Rgacsld23" /><Relationship Type="http://schemas.openxmlformats.org/officeDocument/2006/relationships/slide" Target="/ppt/slides/slide24.xml" Id="Rgacsld24" /><Relationship Type="http://schemas.openxmlformats.org/officeDocument/2006/relationships/slide" Target="/ppt/slides/slide25.xml" Id="Rgacsld25" /><Relationship Type="http://schemas.openxmlformats.org/officeDocument/2006/relationships/slide" Target="/ppt/slides/slide26.xml" Id="Rgacsld26" /></Relationships>
</file>

<file path=ppt/charts/_rels/chart1.xml.rels><?xml version="1.0" encoding="utf-8"?><Relationships xmlns="http://schemas.openxmlformats.org/package/2006/relationships"><Relationship Type="http://schemas.openxmlformats.org/officeDocument/2006/relationships/package" Target="/ppt/embeddings/Microsoft_Excel_Worksheet1.xlsx" Id="rId1" /></Relationships>
</file>

<file path=ppt/charts/_rels/chart2.xml.rels><?xml version="1.0" encoding="utf-8"?><Relationships xmlns="http://schemas.openxmlformats.org/package/2006/relationships"><Relationship Type="http://schemas.openxmlformats.org/officeDocument/2006/relationships/package" Target="/ppt/embeddings/Microsoft_Excel_Worksheet2.xlsx" Id="rId1" /></Relationships>
</file>

<file path=ppt/charts/_rels/chart3.xml.rels><?xml version="1.0" encoding="utf-8"?><Relationships xmlns="http://schemas.openxmlformats.org/package/2006/relationships"><Relationship Type="http://schemas.openxmlformats.org/officeDocument/2006/relationships/package" Target="/ppt/embeddings/Microsoft_Excel_Worksheet3.xlsx" Id="rId1" /></Relationships>
</file>

<file path=ppt/charts/_rels/chart4.xml.rels><?xml version="1.0" encoding="utf-8"?><Relationships xmlns="http://schemas.openxmlformats.org/package/2006/relationships"><Relationship Type="http://schemas.openxmlformats.org/officeDocument/2006/relationships/package" Target="/ppt/embeddings/Microsoft_Excel_Worksheet4.xlsx" Id="rId1" /></Relationships>
</file>

<file path=ppt/charts/_rels/chart5.xml.rels><?xml version="1.0" encoding="utf-8"?><Relationships xmlns="http://schemas.openxmlformats.org/package/2006/relationships"><Relationship Type="http://schemas.openxmlformats.org/officeDocument/2006/relationships/package" Target="/ppt/embeddings/Microsoft_Excel_Worksheet5.xlsx" Id="rId1" /></Relationships>
</file>

<file path=ppt/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notesMasters/_rels/notesMaster1.xml.rels>&#65279;<?xml version="1.0" encoding="utf-8"?><Relationships xmlns="http://schemas.openxmlformats.org/package/2006/relationships"><Relationship Type="http://schemas.openxmlformats.org/officeDocument/2006/relationships/theme" Target="/ppt/notesMasters/theme/theme2.xml" Id="Rb0ab3f632ca045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Relationships xmlns="http://schemas.openxmlformats.org/package/2006/relationships"><Relationship Type="http://schemas.openxmlformats.org/officeDocument/2006/relationships/slide" Target="/ppt/slides/slide1.xml" Id="Rgacslide" /><Relationship Type="http://schemas.openxmlformats.org/officeDocument/2006/relationships/notesMaster" Target="/ppt/notesMasters/notesMaster1.xml" Id="Rgacnotesmaster" /></Relationships>
</file>

<file path=ppt/notesSlides/_rels/notesSlide2.xml.rels><?xml version="1.0" encoding="utf-8"?><Relationships xmlns="http://schemas.openxmlformats.org/package/2006/relationships"><Relationship Type="http://schemas.openxmlformats.org/officeDocument/2006/relationships/slide" Target="/ppt/slides/slide2.xml" Id="Rgacslide" /><Relationship Type="http://schemas.openxmlformats.org/officeDocument/2006/relationships/notesMaster" Target="/ppt/notesMasters/notesMaster1.xml" Id="Rgacnotesmaster" /></Relationships>
</file>

<file path=ppt/notesSlides/_rels/notesSlide3.xml.rels><?xml version="1.0" encoding="utf-8"?><Relationships xmlns="http://schemas.openxmlformats.org/package/2006/relationships"><Relationship Type="http://schemas.openxmlformats.org/officeDocument/2006/relationships/slide" Target="/ppt/slides/slide3.xml" Id="Rgacslide" /><Relationship Type="http://schemas.openxmlformats.org/officeDocument/2006/relationships/notesMaster" Target="/ppt/notesMasters/notesMaster1.xml" Id="Rgacnotesmaster" /></Relationships>
</file>

<file path=ppt/notesSlides/_rels/notesSlide4.xml.rels><?xml version="1.0" encoding="utf-8"?><Relationships xmlns="http://schemas.openxmlformats.org/package/2006/relationships"><Relationship Type="http://schemas.openxmlformats.org/officeDocument/2006/relationships/slide" Target="/ppt/slides/slide4.xml" Id="Rgacslide" /><Relationship Type="http://schemas.openxmlformats.org/officeDocument/2006/relationships/notesMaster" Target="/ppt/notesMasters/notesMaster1.xml" Id="Rgacnotesmaster" /></Relationships>
</file>

<file path=ppt/notesSlides/_rels/notesSlide5.xml.rels><?xml version="1.0" encoding="utf-8"?><Relationships xmlns="http://schemas.openxmlformats.org/package/2006/relationships"><Relationship Type="http://schemas.openxmlformats.org/officeDocument/2006/relationships/slide" Target="/ppt/slides/slide5.xml" Id="Rgacslide" /><Relationship Type="http://schemas.openxmlformats.org/officeDocument/2006/relationships/notesMaster" Target="/ppt/notesMasters/notesMaster1.xml" Id="Rgacnotesmaster" /></Relationships>
</file>

<file path=ppt/notesSlides/_rels/notesSlide6.xml.rels><?xml version="1.0" encoding="utf-8"?><Relationships xmlns="http://schemas.openxmlformats.org/package/2006/relationships"><Relationship Type="http://schemas.openxmlformats.org/officeDocument/2006/relationships/slide" Target="/ppt/slides/slide6.xml" Id="Rgacslide" /><Relationship Type="http://schemas.openxmlformats.org/officeDocument/2006/relationships/notesMaster" Target="/ppt/notesMasters/notesMaster1.xml" Id="Rgacnotesmaster" /></Relationships>
</file>

<file path=ppt/notesSlides/_rels/notesSlide7.xml.rels><?xml version="1.0" encoding="utf-8"?><Relationships xmlns="http://schemas.openxmlformats.org/package/2006/relationships"><Relationship Type="http://schemas.openxmlformats.org/officeDocument/2006/relationships/slide" Target="/ppt/slides/slide7.xml" Id="Rgacslide" /><Relationship Type="http://schemas.openxmlformats.org/officeDocument/2006/relationships/notesMaster" Target="/ppt/notesMasters/notesMaster1.xml" Id="Rgacnotesmaster" /></Relationships>
</file>

<file path=ppt/notesSlides/_rels/notesSlide8.xml.rels><?xml version="1.0" encoding="utf-8"?><Relationships xmlns="http://schemas.openxmlformats.org/package/2006/relationships"><Relationship Type="http://schemas.openxmlformats.org/officeDocument/2006/relationships/slide" Target="/ppt/slides/slide8.xml" Id="Rgacslide" /><Relationship Type="http://schemas.openxmlformats.org/officeDocument/2006/relationships/notesMaster" Target="/ppt/notesMasters/notesMaster1.xml" Id="Rgacnotesmaster" /></Relationships>
</file>

<file path=ppt/notesSlides/_rels/notesSlide9.xml.rels><?xml version="1.0" encoding="utf-8"?><Relationships xmlns="http://schemas.openxmlformats.org/package/2006/relationships"><Relationship Type="http://schemas.openxmlformats.org/officeDocument/2006/relationships/slide" Target="/ppt/slides/slide9.xml" Id="Rgacslide" /><Relationship Type="http://schemas.openxmlformats.org/officeDocument/2006/relationships/notesMaster" Target="/ppt/notesMasters/notesMaster1.xml" Id="Rgacnotesmaster" /></Relationships>
</file>

<file path=ppt/notesSlides/_rels/notesSlide10.xml.rels><?xml version="1.0" encoding="utf-8"?><Relationships xmlns="http://schemas.openxmlformats.org/package/2006/relationships"><Relationship Type="http://schemas.openxmlformats.org/officeDocument/2006/relationships/slide" Target="/ppt/slides/slide10.xml" Id="Rgacslide" /><Relationship Type="http://schemas.openxmlformats.org/officeDocument/2006/relationships/notesMaster" Target="/ppt/notesMasters/notesMaster1.xml" Id="Rgacnotesmaster" /></Relationships>
</file>

<file path=ppt/notesSlides/_rels/notesSlide11.xml.rels><?xml version="1.0" encoding="utf-8"?><Relationships xmlns="http://schemas.openxmlformats.org/package/2006/relationships"><Relationship Type="http://schemas.openxmlformats.org/officeDocument/2006/relationships/slide" Target="/ppt/slides/slide11.xml" Id="Rgacslide" /><Relationship Type="http://schemas.openxmlformats.org/officeDocument/2006/relationships/notesMaster" Target="/ppt/notesMasters/notesMaster1.xml" Id="Rgacnotesmaster" /></Relationships>
</file>

<file path=ppt/notesSlides/_rels/notesSlide12.xml.rels><?xml version="1.0" encoding="utf-8"?><Relationships xmlns="http://schemas.openxmlformats.org/package/2006/relationships"><Relationship Type="http://schemas.openxmlformats.org/officeDocument/2006/relationships/slide" Target="/ppt/slides/slide12.xml" Id="Rgacslide" /><Relationship Type="http://schemas.openxmlformats.org/officeDocument/2006/relationships/notesMaster" Target="/ppt/notesMasters/notesMaster1.xml" Id="Rgacnotesmaster" /></Relationships>
</file>

<file path=ppt/notesSlides/_rels/notesSlide13.xml.rels><?xml version="1.0" encoding="utf-8"?><Relationships xmlns="http://schemas.openxmlformats.org/package/2006/relationships"><Relationship Type="http://schemas.openxmlformats.org/officeDocument/2006/relationships/slide" Target="/ppt/slides/slide13.xml" Id="Rgacslide" /><Relationship Type="http://schemas.openxmlformats.org/officeDocument/2006/relationships/notesMaster" Target="/ppt/notesMasters/notesMaster1.xml" Id="Rgacnotesmaster" /></Relationships>
</file>

<file path=ppt/notesSlides/_rels/notesSlide14.xml.rels><?xml version="1.0" encoding="utf-8"?><Relationships xmlns="http://schemas.openxmlformats.org/package/2006/relationships"><Relationship Type="http://schemas.openxmlformats.org/officeDocument/2006/relationships/slide" Target="/ppt/slides/slide14.xml" Id="Rgacslide" /><Relationship Type="http://schemas.openxmlformats.org/officeDocument/2006/relationships/notesMaster" Target="/ppt/notesMasters/notesMaster1.xml" Id="Rgacnotesmaster" /></Relationships>
</file>

<file path=ppt/notesSlides/_rels/notesSlide15.xml.rels><?xml version="1.0" encoding="utf-8"?><Relationships xmlns="http://schemas.openxmlformats.org/package/2006/relationships"><Relationship Type="http://schemas.openxmlformats.org/officeDocument/2006/relationships/slide" Target="/ppt/slides/slide15.xml" Id="Rgacslide" /><Relationship Type="http://schemas.openxmlformats.org/officeDocument/2006/relationships/notesMaster" Target="/ppt/notesMasters/notesMaster1.xml" Id="Rgacnotesmaster" /></Relationships>
</file>

<file path=ppt/notesSlides/_rels/notesSlide16.xml.rels><?xml version="1.0" encoding="utf-8"?><Relationships xmlns="http://schemas.openxmlformats.org/package/2006/relationships"><Relationship Type="http://schemas.openxmlformats.org/officeDocument/2006/relationships/slide" Target="/ppt/slides/slide16.xml" Id="Rgacslide" /><Relationship Type="http://schemas.openxmlformats.org/officeDocument/2006/relationships/notesMaster" Target="/ppt/notesMasters/notesMaster1.xml" Id="Rgacnotesmaster" /></Relationships>
</file>

<file path=ppt/notesSlides/_rels/notesSlide17.xml.rels><?xml version="1.0" encoding="utf-8"?><Relationships xmlns="http://schemas.openxmlformats.org/package/2006/relationships"><Relationship Type="http://schemas.openxmlformats.org/officeDocument/2006/relationships/slide" Target="/ppt/slides/slide17.xml" Id="Rgacslide" /><Relationship Type="http://schemas.openxmlformats.org/officeDocument/2006/relationships/notesMaster" Target="/ppt/notesMasters/notesMaster1.xml" Id="Rgacnotesmaster" /></Relationships>
</file>

<file path=ppt/notesSlides/_rels/notesSlide18.xml.rels><?xml version="1.0" encoding="utf-8"?><Relationships xmlns="http://schemas.openxmlformats.org/package/2006/relationships"><Relationship Type="http://schemas.openxmlformats.org/officeDocument/2006/relationships/slide" Target="/ppt/slides/slide18.xml" Id="Rgacslide" /><Relationship Type="http://schemas.openxmlformats.org/officeDocument/2006/relationships/notesMaster" Target="/ppt/notesMasters/notesMaster1.xml" Id="Rgacnotesmaster" /></Relationships>
</file>

<file path=ppt/notesSlides/_rels/notesSlide19.xml.rels><?xml version="1.0" encoding="utf-8"?><Relationships xmlns="http://schemas.openxmlformats.org/package/2006/relationships"><Relationship Type="http://schemas.openxmlformats.org/officeDocument/2006/relationships/slide" Target="/ppt/slides/slide19.xml" Id="Rgacslide" /><Relationship Type="http://schemas.openxmlformats.org/officeDocument/2006/relationships/notesMaster" Target="/ppt/notesMasters/notesMaster1.xml" Id="Rgacnotesmaster" /></Relationships>
</file>

<file path=ppt/notesSlides/_rels/notesSlide20.xml.rels><?xml version="1.0" encoding="utf-8"?><Relationships xmlns="http://schemas.openxmlformats.org/package/2006/relationships"><Relationship Type="http://schemas.openxmlformats.org/officeDocument/2006/relationships/slide" Target="/ppt/slides/slide20.xml" Id="Rgacslide" /><Relationship Type="http://schemas.openxmlformats.org/officeDocument/2006/relationships/notesMaster" Target="/ppt/notesMasters/notesMaster1.xml" Id="Rgacnotesmaster" /></Relationships>
</file>

<file path=ppt/notesSlides/_rels/notesSlide21.xml.rels><?xml version="1.0" encoding="utf-8"?><Relationships xmlns="http://schemas.openxmlformats.org/package/2006/relationships"><Relationship Type="http://schemas.openxmlformats.org/officeDocument/2006/relationships/slide" Target="/ppt/slides/slide21.xml" Id="Rgacslide" /><Relationship Type="http://schemas.openxmlformats.org/officeDocument/2006/relationships/notesMaster" Target="/ppt/notesMasters/notesMaster1.xml" Id="Rgacnotesmaster" /></Relationships>
</file>

<file path=ppt/notesSlides/_rels/notesSlide22.xml.rels><?xml version="1.0" encoding="utf-8"?><Relationships xmlns="http://schemas.openxmlformats.org/package/2006/relationships"><Relationship Type="http://schemas.openxmlformats.org/officeDocument/2006/relationships/slide" Target="/ppt/slides/slide22.xml" Id="Rgacslide" /><Relationship Type="http://schemas.openxmlformats.org/officeDocument/2006/relationships/notesMaster" Target="/ppt/notesMasters/notesMaster1.xml" Id="Rgacnotesmaster" /></Relationships>
</file>

<file path=ppt/notesSlides/_rels/notesSlide23.xml.rels><?xml version="1.0" encoding="utf-8"?><Relationships xmlns="http://schemas.openxmlformats.org/package/2006/relationships"><Relationship Type="http://schemas.openxmlformats.org/officeDocument/2006/relationships/slide" Target="/ppt/slides/slide23.xml" Id="Rgacslide" /><Relationship Type="http://schemas.openxmlformats.org/officeDocument/2006/relationships/notesMaster" Target="/ppt/notesMasters/notesMaster1.xml" Id="Rgacnotesmaster" /></Relationships>
</file>

<file path=ppt/notesSlides/_rels/notesSlide24.xml.rels><?xml version="1.0" encoding="utf-8"?><Relationships xmlns="http://schemas.openxmlformats.org/package/2006/relationships"><Relationship Type="http://schemas.openxmlformats.org/officeDocument/2006/relationships/slide" Target="/ppt/slides/slide24.xml" Id="Rgacslide" /><Relationship Type="http://schemas.openxmlformats.org/officeDocument/2006/relationships/notesMaster" Target="/ppt/notesMasters/notesMaster1.xml" Id="Rgacnotesmaster" /></Relationships>
</file>

<file path=ppt/notesSlides/_rels/notesSlide25.xml.rels><?xml version="1.0" encoding="utf-8"?><Relationships xmlns="http://schemas.openxmlformats.org/package/2006/relationships"><Relationship Type="http://schemas.openxmlformats.org/officeDocument/2006/relationships/slide" Target="/ppt/slides/slide25.xml" Id="Rgacslide" /><Relationship Type="http://schemas.openxmlformats.org/officeDocument/2006/relationships/notesMaster" Target="/ppt/notesMasters/notesMaster1.xml" Id="Rgacnotesmaster" /></Relationships>
</file>

<file path=ppt/notesSlides/_rels/notesSlide26.xml.rels><?xml version="1.0" encoding="utf-8"?><Relationships xmlns="http://schemas.openxmlformats.org/package/2006/relationships"><Relationship Type="http://schemas.openxmlformats.org/officeDocument/2006/relationships/slide" Target="/ppt/slides/slide26.xml" Id="Rgacslide" /><Relationship Type="http://schemas.openxmlformats.org/officeDocument/2006/relationships/notesMaster" Target="/ppt/notesMasters/notesMaster1.xml" Id="Rgacnotesmaster"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Everything before this slide is motivation; everything after it is the formal problem, stated narrowly enough to be refutable.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The method act. If a reviewer only remembers one thing from it, make it that every stage can return Retire with an attributed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From here on every number is paired with what it does not establish; that pairing is the point of the tier ordering.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c40cafd709489c"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9f63d9d27b6d4ec0" /><Relationship Type="http://schemas.openxmlformats.org/officeDocument/2006/relationships/slideLayout" Target="/ppt/slideLayouts/slideLayout2.xml" Id="Re9b9c0a98c2c455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b9c0a98c2c4553"/>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xml" Id="Rgacnotes" /></Relationships>
</file>

<file path=ppt/slides/_rels/slide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xml" Id="Rgacnotes" /></Relationships>
</file>

<file path=ppt/slides/_rels/slide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3.xml" Id="Rgacnotes" /></Relationships>
</file>

<file path=ppt/slides/_rels/slide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4.xml" Id="Rgacnotes" /></Relationships>
</file>

<file path=ppt/slides/_rels/slide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5.xml" Id="Rgacnotes" /></Relationships>
</file>

<file path=ppt/slides/_rels/slide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6.xml" Id="Rgacnotes" /></Relationships>
</file>

<file path=ppt/slides/_rels/slide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7.xml" Id="Rgacnotes" /></Relationships>
</file>

<file path=ppt/slides/_rels/slide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8.xml" Id="Rgacnotes" /></Relationships>
</file>

<file path=ppt/slides/_rels/slide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9.xml" Id="Rgacnotes" /></Relationships>
</file>

<file path=ppt/slides/_rels/slide1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0.xml" Id="Rgacnotes" /></Relationships>
</file>

<file path=ppt/slides/_rels/slide1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1.xml" Id="Rgacnotes" /></Relationships>
</file>

<file path=ppt/slides/_rels/slide1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2.xml" Id="Rgacnotes" /></Relationships>
</file>

<file path=ppt/slides/_rels/slide1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3.xml" Id="Rgacnotes" /></Relationships>
</file>

<file path=ppt/slides/_rels/slide1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4.xml" Id="Rgacnotes" /></Relationships>
</file>

<file path=ppt/slides/_rels/slide1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5.xml" Id="Rgacnotes" /></Relationships>
</file>

<file path=ppt/slides/_rels/slide1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6.xml" Id="Rgacnotes" /></Relationships>
</file>

<file path=ppt/slides/_rels/slide1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1.xml" Id="Ra5a344bc25c34004" /><Relationship Type="http://schemas.openxmlformats.org/officeDocument/2006/relationships/notesSlide" Target="/ppt/notesSlides/notesSlide17.xml" Id="Rgacnotes" /></Relationships>
</file>

<file path=ppt/slides/_rels/slide1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2.xml" Id="R4da551d5950f48b5" /><Relationship Type="http://schemas.openxmlformats.org/officeDocument/2006/relationships/notesSlide" Target="/ppt/notesSlides/notesSlide18.xml" Id="Rgacnotes" /></Relationships>
</file>

<file path=ppt/slides/_rels/slide1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3.xml" Id="Rb85f43d5fcbc4331" /><Relationship Type="http://schemas.openxmlformats.org/officeDocument/2006/relationships/notesSlide" Target="/ppt/notesSlides/notesSlide19.xml" Id="Rgacnotes" /></Relationships>
</file>

<file path=ppt/slides/_rels/slide2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0.xml" Id="Rgacnotes" /></Relationships>
</file>

<file path=ppt/slides/_rels/slide2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4.xml" Id="R2d8e65cbda95494b" /><Relationship Type="http://schemas.openxmlformats.org/officeDocument/2006/relationships/notesSlide" Target="/ppt/notesSlides/notesSlide21.xml" Id="Rgacnotes" /></Relationships>
</file>

<file path=ppt/slides/_rels/slide2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2.xml" Id="Rgacnotes" /></Relationships>
</file>

<file path=ppt/slides/_rels/slide2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3.xml" Id="Rgacnotes" /></Relationships>
</file>

<file path=ppt/slides/_rels/slide2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5.xml" Id="R51c0446875b84944" /><Relationship Type="http://schemas.openxmlformats.org/officeDocument/2006/relationships/notesSlide" Target="/ppt/notesSlides/notesSlide24.xml" Id="Rgacnotes" /></Relationships>
</file>

<file path=ppt/slides/_rels/slide2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5.xml" Id="Rgacnotes" /></Relationships>
</file>

<file path=ppt/slides/_rels/slide2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6.xml" Id="Rgacnotes" /></Relationships>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6750E6C-F6B4-4CAE-94C6-02C9BF4186BF}"/>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C7B56F2-88B9-4E37-95CD-8969BFB78A15}"/>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16B859BA-E41D-4730-814A-FD7477665BA5}"/>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2F01FC73-09EE-4519-8CC6-DABF71D3E6B7}"/>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220">
                <a:solidFill>
                  <a:srgbClr val="56B3BE"/>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D4CF04B9-FBB0-4B15-A16D-52F11A3302CE}"/>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nSpc>
                <a:spcPct val="100000"/>
              </a:lnSpc>
              <a:buNone/>
            </a:pPr>
            <a:r>
              <a:rPr sz="3300" b="1">
                <a:solidFill>
                  <a:srgbClr val="FFFFFF"/>
                </a:solidFill>
                <a:latin typeface="Cambria"/>
                <a:ea typeface="Cambria"/>
                <a:cs typeface="Cambria"/>
              </a:rPr>
              <a:t>From Traces to Guarded Programs: Evidence-Gated Compilation of Recurrent Agent Workflows</a:t>
            </a:r>
          </a:p>
        </p:txBody>
      </p:sp>
      <p:sp>
        <p:nvSpPr>
          <p:cNvPr id="7" name="Text 5">
            <a:extLst xmlns:a="http://schemas.openxmlformats.org/drawingml/2006/main">
              <a:ext uri="{FF2B5EF4-FFF2-40B4-BE49-F238E27FC236}">
                <a16:creationId xmlns:a16="http://schemas.microsoft.com/office/drawing/2014/main" id="{1EED095E-F259-4853-9D66-D73FB93CF756}"/>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BD0D6"/>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A67C9C4F-1B0B-4A15-ADA1-D8405C8CCF1F}"/>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3</a:t>
            </a:r>
          </a:p>
        </p:txBody>
      </p:sp>
      <p:sp>
        <p:nvSpPr>
          <p:cNvPr id="9" name="Text 7">
            <a:extLst xmlns:a="http://schemas.openxmlformats.org/drawingml/2006/main">
              <a:ext uri="{FF2B5EF4-FFF2-40B4-BE49-F238E27FC236}">
                <a16:creationId xmlns:a16="http://schemas.microsoft.com/office/drawing/2014/main" id="{1E677262-6F85-4E00-9C74-4A9BA5FEB14B}"/>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real workflow families with distinct tools and graders</a:t>
            </a:r>
          </a:p>
        </p:txBody>
      </p:sp>
      <p:sp>
        <p:nvSpPr>
          <p:cNvPr id="10" name="Text 8">
            <a:extLst xmlns:a="http://schemas.openxmlformats.org/drawingml/2006/main">
              <a:ext uri="{FF2B5EF4-FFF2-40B4-BE49-F238E27FC236}">
                <a16:creationId xmlns:a16="http://schemas.microsoft.com/office/drawing/2014/main" id="{F04A7E66-F8A9-422D-A710-4AC9B7A59095}"/>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90</a:t>
            </a:r>
          </a:p>
        </p:txBody>
      </p:sp>
      <p:sp>
        <p:nvSpPr>
          <p:cNvPr id="11" name="Text 9">
            <a:extLst xmlns:a="http://schemas.openxmlformats.org/drawingml/2006/main">
              <a:ext uri="{FF2B5EF4-FFF2-40B4-BE49-F238E27FC236}">
                <a16:creationId xmlns:a16="http://schemas.microsoft.com/office/drawing/2014/main" id="{6180F627-61B1-47C7-9C41-6B5516B1AF98}"/>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075E0008-8F90-4D14-B898-DBE33E47A141}"/>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D53EEDE0-C715-4CA3-A4E8-EA18ED7EE1C0}"/>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0057148A-BA07-4081-94BD-5F08AA207235}"/>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3597C"/>
                </a:solidFill>
                <a:latin typeface="Calibri"/>
                <a:ea typeface="Calibri"/>
                <a:cs typeface="Calibri"/>
              </a:rPr>
              <a:t>Prepared for engineering leadership  ·  JazzX AI  ·  August 2026</a:t>
            </a:r>
          </a:p>
        </p:txBody>
      </p:sp>
      <p:sp>
        <p:nvSpPr>
          <p:cNvPr id="200" name="Shape 200"/>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Tree>
    <p:extLst>
      <p:ext uri="{BB962C8B-B14F-4D97-AF65-F5344CB8AC3E}">
        <p14:creationId xmlns:p14="http://schemas.microsoft.com/office/powerpoint/2010/main" val="9301577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26FD71-BFC8-418B-8222-DF3E8474CB2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2047920-9B9B-4B47-B6A5-73329EF85FC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D02F57F9-D850-45B9-B512-D45AD192DD9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THE SHORT VERSION  ·  §1</a:t>
            </a:r>
          </a:p>
        </p:txBody>
      </p:sp>
      <p:sp>
        <p:nvSpPr>
          <p:cNvPr id="5" name="Text 3">
            <a:extLst xmlns:a="http://schemas.openxmlformats.org/drawingml/2006/main">
              <a:ext uri="{FF2B5EF4-FFF2-40B4-BE49-F238E27FC236}">
                <a16:creationId xmlns:a16="http://schemas.microsoft.com/office/drawing/2014/main" id="{10A06F07-F43A-495C-BC85-68040181E21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not permission</a:t>
            </a:r>
          </a:p>
        </p:txBody>
      </p:sp>
      <p:sp>
        <p:nvSpPr>
          <p:cNvPr id="6" name="Shape 4">
            <a:extLst xmlns:a="http://schemas.openxmlformats.org/drawingml/2006/main">
              <a:ext uri="{FF2B5EF4-FFF2-40B4-BE49-F238E27FC236}">
                <a16:creationId xmlns:a16="http://schemas.microsoft.com/office/drawing/2014/main" id="{B93749DC-61C9-4F64-BF2C-AA7F7313090D}"/>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37EDE80C-A9C8-4486-9C92-703FF5997F64}"/>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E1E3A"/>
                </a:solidFill>
                <a:latin typeface="Calibri"/>
                <a:ea typeface="Calibri"/>
                <a:cs typeface="Calibri"/>
              </a:rPr>
              <a:t>GAC supplies the missing admission argument: </a:t>
            </a:r>
            <a:r>
              <a:rPr sz="1400" b="1">
                <a:solidFill>
                  <a:srgbClr val="0E1E3A"/>
                </a:solidFill>
                <a:latin typeface="Calibri"/>
                <a:ea typeface="Calibri"/>
                <a:cs typeface="Calibri"/>
              </a:rPr>
              <a:t>typed value provenance, effect barriers, empirical contracts, and a finite-sample risk gate. </a:t>
            </a:r>
            <a:r>
              <a:rPr sz="1400">
                <a:solidFill>
                  <a:srgbClr val="0E1E3A"/>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ED869A4F-E7C6-47B8-96CE-BB33E5D1CA25}"/>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F6BBA54-37EA-4542-A5A4-C1D359A37D46}"/>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0A0E90CD-47AB-4827-ACD6-33F502F7D5B0}"/>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400944EB-9C20-411E-BDE3-2E56E0D1E247}"/>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EAF5CC96-E9CC-47B5-81F0-D8F6872EAA72}"/>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849AD39A-D9B9-4DCE-90D0-FCBBB6078CC2}"/>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237E7CAA-8895-4C46-BC46-63EFC6D47D66}"/>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9AD2204-D665-4926-B35F-629C34840457}"/>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0571923C-13B7-4A40-92DE-0A29A2A9BD85}"/>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FB7D2C0B-3562-42F2-A5BB-8130295D5265}"/>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6779508A-CB52-47B7-8F26-E5C2CD4ED2D0}"/>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0DD61E05-2397-4C86-99D2-57E3B84403A3}"/>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9C0D797D-8533-4F55-8EAE-C6215E3CB104}"/>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11BF4789-8E32-4C91-A126-7710FDC4C3A6}"/>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efficiency win is real but narrow: partial GRC removes model turns, not source reads.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composition beats partial GRC; when both execute before request one, manual and GCS tie structurally at 6/6 exact quality.</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Bounded official GEPA retains its seed. The contribution is guarded automatic specialization—not runtime dominance.</a:t>
            </a:r>
          </a:p>
        </p:txBody>
      </p:sp>
    </p:spTree>
    <p:extLst>
      <p:ext uri="{BB962C8B-B14F-4D97-AF65-F5344CB8AC3E}">
        <p14:creationId xmlns:p14="http://schemas.microsoft.com/office/powerpoint/2010/main" val="1523212986"/>
      </p:ext>
    </p:extLst>
  </p:cSld>
</p:sld>
</file>

<file path=ppt/slides/slide3.xml><?xml version="1.0" encoding="utf-8"?>
<p:sld xmlns:a="http://schemas.openxmlformats.org/drawingml/2006/main" xmlns:r="http://schemas.openxmlformats.org/officeDocument/2006/relationships" xmlns:p="http://schemas.openxmlformats.org/presentationml/2006/main">
  <p:cSld name="Divider 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3</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Problem formulation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Where a mature agent spends model calls, why recurrence alone cannot license removing them, and the narrow question this paper answers.</a:t>
            </a:r>
            <a:endParaRPr lang="en-US" sz="1350" dirty="0"/>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AF3448-9D1C-4E9D-AB67-ADCBF5F402B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E20E276-3249-440B-BC74-15FC9878CF3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C1315068-D942-4884-9783-33F6965DFD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§1</a:t>
            </a:r>
          </a:p>
        </p:txBody>
      </p:sp>
      <p:sp>
        <p:nvSpPr>
          <p:cNvPr id="5" name="Text 3">
            <a:extLst xmlns:a="http://schemas.openxmlformats.org/drawingml/2006/main">
              <a:ext uri="{FF2B5EF4-FFF2-40B4-BE49-F238E27FC236}">
                <a16:creationId xmlns:a16="http://schemas.microsoft.com/office/drawing/2014/main" id="{EF311AB1-99E3-4E2A-818B-577CB6CF188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model calls, three already decided</a:t>
            </a:r>
          </a:p>
        </p:txBody>
      </p:sp>
      <p:sp>
        <p:nvSpPr>
          <p:cNvPr id="6" name="Text 4">
            <a:extLst xmlns:a="http://schemas.openxmlformats.org/drawingml/2006/main">
              <a:ext uri="{FF2B5EF4-FFF2-40B4-BE49-F238E27FC236}">
                <a16:creationId xmlns:a16="http://schemas.microsoft.com/office/drawing/2014/main" id="{8CAE1848-9CDE-47FB-A3D8-4388DE88A56F}"/>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41FC3521-B687-4388-B39D-A9AE554F9CF8}"/>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A2B8E3F-517F-4D38-8D15-F7A499C071DC}"/>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93B2B"/>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466D98B1-6BD7-4BDE-8D61-205547E80D92}"/>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123DF31E-2DE4-4069-A652-17A30589F237}"/>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0B55B38B-B243-4EF7-B48C-DF75833B190B}"/>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89684D3D-44E2-4367-A330-465764D2AAA5}"/>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BFDBFE6E-5996-45D6-917D-CB4A01F022F9}"/>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36C8723D-995C-4D66-9C72-650D73C49A70}"/>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1AF948D2-68EB-4969-B6AF-D08EBFC2DC2E}"/>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7E176299-BE96-4753-9138-FFA9AD82C3F4}"/>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2D8C9BCF-5806-4F72-9CCA-4459CB1DE984}"/>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79879027-D642-490C-B273-171185A2958E}"/>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78AF11A8-0C22-49B2-BA17-A47A6A10F258}"/>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973CCE7-EC98-46A2-88F4-53F425622079}"/>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6EA6FC77-C48C-4ADF-AB30-1E781EA826BF}"/>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3D475265-992B-4880-8851-52827B717AAF}"/>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344C64CC-3DF8-436E-BF45-DBC92051C5CC}"/>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D9B9F2EE-22EE-45E6-AC65-80CA7B881717}"/>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7A38B241-F8CF-48F8-9F4F-5197CC2F40CC}"/>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21A473E9-8676-439B-B601-54549B0BB78A}"/>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597953E1-77F2-4FF7-9B52-D4798CB75710}"/>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09A1686-2727-4ECC-98EC-376816AF571B}"/>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1BE58250-F177-46D3-98F8-22983012C696}"/>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8FF8428D-A347-4D23-8CEB-06755335AD9E}"/>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8BB25EAB-6788-4EE6-B8F5-776F0B74EADB}"/>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FA365978-7EA2-44FC-A698-9505D91539F0}"/>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228698B0-8811-4894-84D8-6B0DEE949A9A}"/>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4CDE18E5-A478-4FF1-930F-EFB3F77FE72C}"/>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6C859DAD-36BC-4CB0-9294-74C887620015}"/>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AE4AB8E7-3BBA-45FE-847C-BF9CD1CC26BF}"/>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278C9B5C-AEFB-4BFA-B9F6-651FA37DE1ED}"/>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DE92498A-A8B9-4854-8198-E8587FF1E4C0}"/>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871D6144-8062-4A85-975C-C49B50692102}"/>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F618B81E-175A-428D-906B-7122D30397D0}"/>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8A2B2EA9-7DD3-4FCE-85DD-9D799A001BA1}"/>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5ACDAC87-381E-4944-A4F2-E3F3A47D2F3D}"/>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887BEE60-8E8E-4173-ABDE-3716655E5F50}"/>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3F95B0EB-4842-49D4-8145-B411AD98C6EB}"/>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4B60C8F7-9933-4AF9-9959-8508C9E7832D}"/>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62D39816-AAE7-4443-945D-68255C28C834}"/>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35D7E541-2EE7-4294-880A-7861216D8994}"/>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8E308A33-451D-49C7-8769-1B1C8629F89D}"/>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per episode</a:t>
            </a:r>
          </a:p>
        </p:txBody>
      </p:sp>
    </p:spTree>
    <p:extLst>
      <p:ext uri="{BB962C8B-B14F-4D97-AF65-F5344CB8AC3E}">
        <p14:creationId xmlns:p14="http://schemas.microsoft.com/office/powerpoint/2010/main" val="18242580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297D43-1CF0-44D0-889A-2DF13C2C665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4B39850-040F-4598-8805-BAD39476F5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DDA50451-75D4-46FA-8217-6744CC2BF19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WHY THIS IS NOT CACHING  ·  §1 AND §2.1</a:t>
            </a:r>
          </a:p>
        </p:txBody>
      </p:sp>
      <p:sp>
        <p:nvSpPr>
          <p:cNvPr id="5" name="Text 3">
            <a:extLst xmlns:a="http://schemas.openxmlformats.org/drawingml/2006/main">
              <a:ext uri="{FF2B5EF4-FFF2-40B4-BE49-F238E27FC236}">
                <a16:creationId xmlns:a16="http://schemas.microsoft.com/office/drawing/2014/main" id="{69F4269C-E352-46AC-ADB6-E4D83F090E8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hazards a cache cannot see</a:t>
            </a:r>
          </a:p>
        </p:txBody>
      </p:sp>
      <p:sp>
        <p:nvSpPr>
          <p:cNvPr id="6" name="Shape 4">
            <a:extLst xmlns:a="http://schemas.openxmlformats.org/drawingml/2006/main">
              <a:ext uri="{FF2B5EF4-FFF2-40B4-BE49-F238E27FC236}">
                <a16:creationId xmlns:a16="http://schemas.microsoft.com/office/drawing/2014/main" id="{5DF89634-3920-424A-A5BE-2C234472F21A}"/>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DB9B9608-DCE4-4915-ABD0-608DFBD2CAC0}"/>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A627C36-E9E1-4324-9BE3-FF20C39C9DA2}"/>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A446BA60-7D7A-4C32-A353-469F6A9BDCD4}"/>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8EBFD511-7BD9-42B5-AE5B-813EB4D06BA1}"/>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B47241FF-3680-4451-8167-2E6A46290738}"/>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46552CB-9093-4FA1-9E91-B158B651193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FD858A4B-CBAB-4BD6-B0F2-74763C8DC9C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5424F725-DE35-4747-B63D-F7A90A9E328F}"/>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50A692D7-526F-46FF-9A36-772E5678DA24}"/>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027F0ECB-F669-4BBC-9500-B33534375091}"/>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FA4C99EC-1669-4216-B128-7F10CCEC2768}"/>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350BBEF-6DB6-433A-9A25-547CA0A6E8D1}"/>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EAA5369F-873F-4E18-BDA6-FE15337B390D}"/>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A2621029-0697-4CF9-A653-9C7E21AF1690}"/>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FC8C6891-88B7-44EE-A60B-C3E6645D2295}"/>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3763AAAE-CDDF-45AC-AD11-EFEE8C59BA0E}"/>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892C6B72-0DFF-4E08-BB29-EE5A229215E3}"/>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D6850297-D567-4B0D-8C19-6417650545BF}"/>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FA5227F1-E23C-44C8-B574-42FFF55E9A1E}"/>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85DCB299-E345-435E-804C-2C959B613903}"/>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F469D7E6-BEDC-4363-887F-D85E921B1ADC}"/>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E1E3A"/>
                </a:solidFill>
                <a:latin typeface="Calibri"/>
                <a:ea typeface="Calibri"/>
                <a:cs typeface="Calibri"/>
              </a:rPr>
              <a:t>Deleting a model decision is a semantic change, not a memoization. </a:t>
            </a:r>
            <a:r>
              <a:rPr sz="1350">
                <a:solidFill>
                  <a:srgbClr val="24354F"/>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14509263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09B0BD-1FE8-4BBB-8518-82E3F2C8A8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B15D4E6-C2CE-4E8D-9CCD-866B8245A9C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C1A78A9A-62BF-4B3F-A489-FDB9612014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SCOPE  ·  §1</a:t>
            </a:r>
          </a:p>
        </p:txBody>
      </p:sp>
      <p:sp>
        <p:nvSpPr>
          <p:cNvPr id="5" name="Text 3">
            <a:extLst xmlns:a="http://schemas.openxmlformats.org/drawingml/2006/main">
              <a:ext uri="{FF2B5EF4-FFF2-40B4-BE49-F238E27FC236}">
                <a16:creationId xmlns:a16="http://schemas.microsoft.com/office/drawing/2014/main" id="{2A3679D4-4079-4B0F-B1B3-DAD2DCD6946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7D11688D-2A61-45C9-B235-C3C98822DA99}"/>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FECA9F78-8787-40F2-985D-902C00912994}"/>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0F17ABBA-6E79-4ADA-94FE-098EAD14D8FF}"/>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C10D3983-FFE4-48F7-B2D8-C07D6092248A}"/>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453B2623-1325-4BE4-BA04-D0874F7FD68E}"/>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4B328642-EE35-4228-8329-0731C95FAA14}"/>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09C9AC5D-E27C-40A0-B939-80A0D57033A4}"/>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BCBB2472-68BB-40B2-ACF2-23E07EFE1246}"/>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239B3286-BE19-48BE-8B98-8359E73C135C}"/>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E7B6BBB-C002-4980-86DA-5A48B61C56E5}"/>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03E9CE70-AB8E-45D7-A30B-838C8DB9BD64}"/>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F3594B28-A8E5-4F0E-A3DE-2E9E92A278E3}"/>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Across distinct real-record workflows, do guarded programs preserve exact outcomes while reducing requests, tokens, latency, and cost?</a:t>
            </a:r>
          </a:p>
        </p:txBody>
      </p:sp>
      <p:sp>
        <p:nvSpPr>
          <p:cNvPr id="18" name="Shape 16">
            <a:extLst xmlns:a="http://schemas.openxmlformats.org/drawingml/2006/main">
              <a:ext uri="{FF2B5EF4-FFF2-40B4-BE49-F238E27FC236}">
                <a16:creationId xmlns:a16="http://schemas.microsoft.com/office/drawing/2014/main" id="{E235BF1B-1BC4-4088-B0A8-FF8F59119738}"/>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538DA5F5-8FDF-4E94-A5FE-E2CAD022272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BA8D03DD-DF07-4C7B-A9BD-76DFFCAD956D}"/>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BF30076E-6F6E-45DA-A88B-317B9046F5C5}"/>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DAB9A639-E4DE-4E11-8386-CDA7AB948BB4}"/>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E5F9C64E-F43F-4009-B479-6D5A787B7EE3}"/>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C3E00CA9-A120-4A62-8C13-93A0BCC21F1B}"/>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0E821177-2C37-4788-B75E-112D648B76A6}"/>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ED6EB215-416B-46BC-91EE-22CC2E8A608F}"/>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E3C7C3D3-8D74-4E8A-870F-F6ECB2BA03B8}"/>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878EB5B8-6CBD-4073-9EA5-F45047556AFB}"/>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D3EA1D38-D026-4F21-9D5C-21C3B7A14AC8}"/>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718A49BE-00B7-49F1-BE05-D0ED068B9C62}"/>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52CB9732-0964-49B6-92E6-0254F47D5391}"/>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3A150DD1-1261-4132-8972-0C23CAB73482}"/>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153891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8C0FEF8-D1B8-4C42-939D-532B5B22B16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3EE5956-0FC3-4154-81DA-9FBD8CA576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E087E221-6415-4253-A6E6-027820523C8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FORMULATION  ·  §2.1–2.2</a:t>
            </a:r>
          </a:p>
        </p:txBody>
      </p:sp>
      <p:sp>
        <p:nvSpPr>
          <p:cNvPr id="5" name="Text 3">
            <a:extLst xmlns:a="http://schemas.openxmlformats.org/drawingml/2006/main">
              <a:ext uri="{FF2B5EF4-FFF2-40B4-BE49-F238E27FC236}">
                <a16:creationId xmlns:a16="http://schemas.microsoft.com/office/drawing/2014/main" id="{0464B6C0-799D-4E41-A9F5-8EAF2639599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Guarded specialization, defined</a:t>
            </a:r>
          </a:p>
        </p:txBody>
      </p:sp>
      <p:sp>
        <p:nvSpPr>
          <p:cNvPr id="6" name="Shape 4">
            <a:extLst xmlns:a="http://schemas.openxmlformats.org/drawingml/2006/main">
              <a:ext uri="{FF2B5EF4-FFF2-40B4-BE49-F238E27FC236}">
                <a16:creationId xmlns:a16="http://schemas.microsoft.com/office/drawing/2014/main" id="{A4C81A5C-EB14-4C59-BDFF-59A5BEB71BC3}"/>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8E064556-D108-478E-A988-B02B47CFDCA9}"/>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libri"/>
                <a:ea typeface="Calibri"/>
                <a:cs typeface="Calibri"/>
              </a:rPr>
              <a:t>Compaction</a:t>
            </a:r>
            <a:r>
              <a:rPr sz="1350">
                <a:solidFill>
                  <a:srgbClr val="24354F"/>
                </a:solidFill>
                <a:latin typeface="Calibri"/>
                <a:ea typeface="Calibri"/>
                <a:cs typeface="Calibri"/>
              </a:rPr>
              <a:t> names the mechanism; </a:t>
            </a:r>
            <a:r>
              <a:rPr sz="1350" b="1">
                <a:solidFill>
                  <a:srgbClr val="0E1E3A"/>
                </a:solidFill>
                <a:latin typeface="Calibri"/>
                <a:ea typeface="Calibri"/>
                <a:cs typeface="Calibri"/>
              </a:rPr>
              <a:t>specialization</a:t>
            </a:r>
            <a:r>
              <a:rPr sz="1350">
                <a:solidFill>
                  <a:srgbClr val="24354F"/>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AF9CA97C-E51A-4CF8-8338-9C0D8BAA8F2F}"/>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0AAE3BAF-9379-4D95-BF32-A76B961961F4}"/>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22FDF28-5094-4679-907D-4C9BB953560E}"/>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8AD9A2F4-B406-42A5-990A-40A119D4AB40}"/>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3E53EF85-1D50-465A-B568-051149872115}"/>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4891C1C0-36C7-4EAE-904B-A99B613DF521}"/>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84621B2C-BCCF-4335-9539-A199C2EB99B9}"/>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6ADE7319-9E41-4BC7-B88B-E69B45869110}"/>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478DF980-D53A-4BF5-A380-06B9AD223928}"/>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71166619-5DAA-4E64-97B8-15A035D4E59B}"/>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046C01BA-216D-49FA-877C-3804D4FDEA4F}"/>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63810474"/>
      </p:ext>
    </p:extLst>
  </p:cSld>
</p:sld>
</file>

<file path=ppt/slides/slide8.xml><?xml version="1.0" encoding="utf-8"?>
<p:sld xmlns:a="http://schemas.openxmlformats.org/drawingml/2006/main" xmlns:r="http://schemas.openxmlformats.org/officeDocument/2006/relationships" xmlns:p="http://schemas.openxmlformats.org/presentationml/2006/main">
  <p:cSld name="Divider 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8</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Guarded agentic compaction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Capture offline, compile offline, dispatch at the entry boundary — six independent rejection points, with refusal as the default output.</a:t>
            </a:r>
            <a:endParaRPr lang="en-US" sz="1350" dirty="0"/>
          </a:p>
        </p:txBody>
      </p:sp>
    </p:spTree>
  </p:cSld>
  <p:clrMapOvr>
    <a:masterClrMapping/>
  </p:clrMapOvr>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9560BA-A71B-485F-96AA-5595BB194F9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78D33C4-2CC4-4B1A-870E-4ECFAF6698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50C50895-8D42-4AD5-B1C9-651AA1AB8C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ARCHITECTURE  ·  FIGURE 1</a:t>
            </a:r>
          </a:p>
        </p:txBody>
      </p:sp>
      <p:sp>
        <p:nvSpPr>
          <p:cNvPr id="5" name="Text 3">
            <a:extLst xmlns:a="http://schemas.openxmlformats.org/drawingml/2006/main">
              <a:ext uri="{FF2B5EF4-FFF2-40B4-BE49-F238E27FC236}">
                <a16:creationId xmlns:a16="http://schemas.microsoft.com/office/drawing/2014/main" id="{3A75CA1B-7555-4D12-A5FB-1096566EE7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Capture, compile, dispatch at the boundary</a:t>
            </a:r>
          </a:p>
        </p:txBody>
      </p:sp>
      <p:sp>
        <p:nvSpPr>
          <p:cNvPr id="6" name="Shape 4">
            <a:extLst xmlns:a="http://schemas.openxmlformats.org/drawingml/2006/main">
              <a:ext uri="{FF2B5EF4-FFF2-40B4-BE49-F238E27FC236}">
                <a16:creationId xmlns:a16="http://schemas.microsoft.com/office/drawing/2014/main" id="{F9EDFA8E-3EF2-422D-A3CC-79F751589FCF}"/>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F185BE63-37BA-4457-A7FD-2E65E3B92F12}"/>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BF2C7AE-B2EA-4C52-A5F6-0F5BFB3749EE}"/>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8863FA41-2228-49F2-82FA-6C432B00C67C}"/>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DCE1ECAF-B277-4B13-86A7-EC15D2CEB714}"/>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24F45FCA-A67C-40C0-A49B-49F974DE4250}"/>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11105A26-031A-4474-85FA-55D06B20A53D}"/>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D824D06B-01AE-419C-88BD-193C825A39F3}"/>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1EDAD91-95E1-4340-9398-7FD64873D88A}"/>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54BBC272-8332-4EA8-848C-F9EEB2BAAC0B}"/>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3B49FD57-76B8-40ED-9376-845B8B2861CD}"/>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F83AC3DC-AF6F-427A-9137-FAC69C3D1D5F}"/>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BA74D2B3-97C2-4F2B-88E3-063BF86E6064}"/>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EC30F02-BA5C-4D1C-8848-4FC595604E0B}"/>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68AA64E-9D9B-4F18-88B6-7594A00BC8EF}"/>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B96E0FDD-555C-44CA-A5C4-DFD58BAF1565}"/>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E2E8EB78-7FA9-4D78-B29D-0DC9010CB7A7}"/>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C534B174-3F71-47B0-B911-73ADD937E586}"/>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02EBB907-A2AF-4E0D-8ECD-3185FA5489AE}"/>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C5A0E429-E3B8-40A1-B1D4-A1FA090F3099}"/>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C4034"/>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27D17A88-538D-4396-9B4F-2FCC0219E2A1}"/>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A6B84"/>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6415848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463343-8411-454C-881F-37DBCF64BC3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65682CA-2F23-4FBB-A036-74127A7A92A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74F57113-9DBC-4AB2-8DF0-3C4E1B43B2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690E60D8-38F7-4991-9F53-8C844F0602D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Refusal is the default output</a:t>
            </a:r>
          </a:p>
        </p:txBody>
      </p:sp>
      <p:sp>
        <p:nvSpPr>
          <p:cNvPr id="6" name="Shape 4">
            <a:extLst xmlns:a="http://schemas.openxmlformats.org/drawingml/2006/main">
              <a:ext uri="{FF2B5EF4-FFF2-40B4-BE49-F238E27FC236}">
                <a16:creationId xmlns:a16="http://schemas.microsoft.com/office/drawing/2014/main" id="{A284CB2C-E49F-43FD-A7BB-32CA0437183B}"/>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E1B63E11-FB0B-43EC-AD0D-C20FD7DFE7B0}"/>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FB3DDE34-0025-42AF-B7E5-D27964B04360}"/>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61EC3B28-7F4E-4424-A04D-365CBA800AF1}"/>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E65B62C0-31CA-470B-BA12-D0794BC5EC10}"/>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03BC0861-BE17-4D1C-91D1-E2E6251A81A4}"/>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4BC03B7C-C34F-4402-9E2D-9FE7DE72269F}"/>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6D68B0C7-47D9-4D12-9F5B-32FB79657946}"/>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91749DFB-5AFC-449C-BC8E-5E2DCECB7C77}"/>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E9AA917-353D-4595-BC19-ABB5DCA99D01}"/>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1C22343C-D2D2-4BF5-A15F-7701FD7DA7C8}"/>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6B0B8D03-C1A4-4235-A884-68ADC9C1FA30}"/>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3A5C0387-8DA9-40BD-AB04-D7682AAEC534}"/>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7BA02E3-3E29-470B-BB16-0A6B357818EA}"/>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FAA24A45-D4F0-43BE-99A6-0DE4787CBEDC}"/>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24DEE01D-5C74-46A4-BAA5-120A95F8F2E6}"/>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CE268CF3-F9CA-41A2-B249-47A228FEF71C}"/>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0508C35F-4E93-47AA-8594-309C856230A9}"/>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593B583A-1C0C-45AA-B782-EAEDE7FB8926}"/>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7A81CA33-AA66-41F9-90A4-BE3F9E52DE34}"/>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AF5BBFBA-14AC-44E6-AC88-93086E626617}"/>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24AEFE36-090A-4D12-BD3A-1DF32BD6943E}"/>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251D1C10-5275-4ED7-B5FE-E666E2D7FD7C}"/>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7DCD6411-970F-4F8F-941B-4807EC2962F6}"/>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46B92ED8-94D9-440E-A770-1867C0C5347A}"/>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11B4BE62-E326-4F83-96E4-121788BD6FA1}"/>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E1E3A"/>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8754347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2F69D1-D13E-4969-9D85-4CCACAA1B1A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7E3BECA-CECB-4386-895B-F625DAFE489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809693A6-0706-4A89-AF2A-F3D2751466F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2  ·  ALGORITHM 2 (BUILDPATG)</a:t>
            </a:r>
          </a:p>
        </p:txBody>
      </p:sp>
      <p:sp>
        <p:nvSpPr>
          <p:cNvPr id="5" name="Text 3">
            <a:extLst xmlns:a="http://schemas.openxmlformats.org/drawingml/2006/main">
              <a:ext uri="{FF2B5EF4-FFF2-40B4-BE49-F238E27FC236}">
                <a16:creationId xmlns:a16="http://schemas.microsoft.com/office/drawing/2014/main" id="{2B64F34A-B254-49BD-A4CD-A5D3E314330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No witness means a real model decision</a:t>
            </a:r>
          </a:p>
        </p:txBody>
      </p:sp>
      <p:sp>
        <p:nvSpPr>
          <p:cNvPr id="6" name="Text 4">
            <a:extLst xmlns:a="http://schemas.openxmlformats.org/drawingml/2006/main">
              <a:ext uri="{FF2B5EF4-FFF2-40B4-BE49-F238E27FC236}">
                <a16:creationId xmlns:a16="http://schemas.microsoft.com/office/drawing/2014/main" id="{248173A6-B479-4FF4-8B29-C5C345A64A93}"/>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61140B0E-BB7D-474B-818A-0008F0AE3DB9}"/>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2F027AD5-0F17-4D39-9D10-663F812D81C5}"/>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64CFF7F-9A2F-4694-A6C0-1BBDB90C3BB8}"/>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7649C324-2353-49AC-BF8C-C6CF1C06B713}"/>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75412321-77D5-4C4F-B563-63D22EB6CDF5}"/>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A03BCE9A-E982-451B-BBE7-742BC4666A42}"/>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208CB3D3-581E-42D1-A8C4-16C07BC4DDEA}"/>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53E9B184-6671-4727-B932-15A9445B4981}"/>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BD0F779B-BC49-4DAC-B1DB-A0FF955ACBB1}"/>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97A79260-6D75-4F41-BE1B-D3327C604F55}"/>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8F594075-9AD0-4248-AC1F-435DCDB89F03}"/>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4A75E002-7DCB-4E25-B357-4084DE856003}"/>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802F6FF-FEAB-4C01-BD0F-B6B615E970C0}"/>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A62FA1B8-3C9B-4688-8282-403A3F3D5E46}"/>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44331F44-637D-453A-BD2E-D54E961E3506}"/>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36F6A371-4DFA-499A-97D5-1272AF05145A}"/>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F32DE538-5691-46F8-8B2C-CB017EF00172}"/>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18428371-CC92-4303-92E9-6792FC4F674B}"/>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F440EF11-63C2-4579-9D70-6BB4CFCD1DDC}"/>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in candidate set</a:t>
            </a:r>
          </a:p>
          <a:p xmlns:a="http://schemas.openxmlformats.org/drawingml/2006/main">
            <a:pPr marL="0" indent="0">
              <a:lnSpc>
                <a:spcPct val="100000"/>
              </a:lnSpc>
              <a:buNone/>
            </a:pPr>
            <a:r>
              <a:rPr sz="1050">
                <a:solidFill>
                  <a:srgbClr val="5A6B84"/>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F3B4142A-904F-476B-A883-DBBC7C51180A}"/>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B1DA1710-BE5A-44F8-A235-3D561FAF4642}"/>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57B7E323-6733-488D-8394-1724C1E2761A}"/>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uniquely resolved</a:t>
            </a:r>
          </a:p>
          <a:p xmlns:a="http://schemas.openxmlformats.org/drawingml/2006/main">
            <a:pPr marL="0" indent="0">
              <a:lnSpc>
                <a:spcPct val="100000"/>
              </a:lnSpc>
              <a:buNone/>
            </a:pPr>
            <a:r>
              <a:rPr sz="1050">
                <a:solidFill>
                  <a:srgbClr val="5A6B84"/>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9143FEE1-ABC9-43F9-959F-4D5D83C6AADC}"/>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4EC6C7B2-F818-4FC2-92AF-13C93CD11460}"/>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572A2EDE-6786-4553-8A54-A742E12DA182}"/>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ambiguous</a:t>
            </a:r>
          </a:p>
          <a:p xmlns:a="http://schemas.openxmlformats.org/drawingml/2006/main">
            <a:pPr marL="0" indent="0">
              <a:lnSpc>
                <a:spcPct val="100000"/>
              </a:lnSpc>
              <a:buNone/>
            </a:pPr>
            <a:r>
              <a:rPr sz="1050">
                <a:solidFill>
                  <a:srgbClr val="5A6B84"/>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D4E327FE-93BF-42BA-AD2E-8ABFC7DEEDE3}"/>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7875D040-091A-4128-8950-B66B2863EC6A}"/>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DB3B3BBD-112B-40F8-A3E8-7FE22EB813DD}"/>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no candidate</a:t>
            </a:r>
          </a:p>
          <a:p xmlns:a="http://schemas.openxmlformats.org/drawingml/2006/main">
            <a:pPr marL="0" indent="0">
              <a:lnSpc>
                <a:spcPct val="100000"/>
              </a:lnSpc>
              <a:buNone/>
            </a:pPr>
            <a:r>
              <a:rPr sz="1050">
                <a:solidFill>
                  <a:srgbClr val="5A6B84"/>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6FBBC74B-E676-4138-BDDF-BEB9D6788753}"/>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0A08448E-5E40-4FB3-80B8-72A4EAAEFB14}"/>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C7114E29-8120-487B-AB25-F9213EEDD96E}"/>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candidate-edge</a:t>
            </a:r>
          </a:p>
          <a:p xmlns:a="http://schemas.openxmlformats.org/drawingml/2006/main">
            <a:pPr marL="0" indent="0">
              <a:lnSpc>
                <a:spcPct val="100000"/>
              </a:lnSpc>
              <a:buNone/>
            </a:pPr>
            <a:r>
              <a:rPr sz="1050">
                <a:solidFill>
                  <a:srgbClr val="5A6B84"/>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73EFA6ED-0EB3-4DE6-ADF2-4ACACD5FEF38}"/>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4494679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5CBA41-998D-4FF6-903F-EE8F5D1AB1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90E23FA-6050-4BCA-B56F-8B8910FBBC9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D630172D-3630-4776-8C40-F73A64AEC6E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RUNTIME  ·  §3.7 AND ALGORITHM 4</a:t>
            </a:r>
          </a:p>
        </p:txBody>
      </p:sp>
      <p:sp>
        <p:nvSpPr>
          <p:cNvPr id="5" name="Text 3">
            <a:extLst xmlns:a="http://schemas.openxmlformats.org/drawingml/2006/main">
              <a:ext uri="{FF2B5EF4-FFF2-40B4-BE49-F238E27FC236}">
                <a16:creationId xmlns:a16="http://schemas.microsoft.com/office/drawing/2014/main" id="{72791DE8-73BB-4AFA-B3CB-FF14837ED29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artifact usually declines to run</a:t>
            </a:r>
          </a:p>
        </p:txBody>
      </p:sp>
      <p:sp>
        <p:nvSpPr>
          <p:cNvPr id="6" name="Text 4">
            <a:extLst xmlns:a="http://schemas.openxmlformats.org/drawingml/2006/main">
              <a:ext uri="{FF2B5EF4-FFF2-40B4-BE49-F238E27FC236}">
                <a16:creationId xmlns:a16="http://schemas.microsoft.com/office/drawing/2014/main" id="{CC5907B7-4AD0-40E6-8854-FD4593571151}"/>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5A120A7B-7F85-48D6-91A4-A39CB655A034}"/>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C314809-047B-4372-AAC1-935BB4273F83}"/>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9BF7E44F-31C3-4FCE-AFD0-EC4A95549B23}"/>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854CEB4D-879A-4BEF-91E3-94F681820FFD}"/>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DB497C9B-4B5F-4EC3-99E4-84B3F6633BB5}"/>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C7FBD978-567A-41B8-8202-363B6DE71E6C}"/>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9E1B4DBF-1B01-4007-9254-6554A733530C}"/>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82A87AB6-592F-4BF4-9218-5B5CF1DA5EED}"/>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2339E1C2-D714-472F-A89A-39275A8B8BDD}"/>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2352C736-7AFF-4C22-8900-6D5C6E03E822}"/>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2F85E978-7E0E-4428-A8D1-D4111820017B}"/>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76C74BA5-DC5F-4199-B2E6-DE16F8649244}"/>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FD9EDB59-E31D-4304-BC3F-41BFF9459124}"/>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AE23F0FD-0E82-4739-B55D-335625E492A6}"/>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9FE4EC21-B139-4DAA-88FE-01EA4388E4A9}"/>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109BCAA4-A339-478F-9D7D-4AA587BBE78B}"/>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21059934-D422-4B46-BFF7-5FE07CAEA3CA}"/>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72AB11F6-4B36-48E8-A7AE-826F67AF586E}"/>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7AD8BBE9-EBAF-4283-8916-EF28313BEEB5}"/>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DISPATCH IS SELECTIVE — SIX CHECKS, THEN ONE OF SEVEN TERMINAL EDGES</a:t>
            </a:r>
          </a:p>
        </p:txBody>
      </p:sp>
      <p:sp>
        <p:nvSpPr>
          <p:cNvPr id="26" name="Shape 24">
            <a:extLst xmlns:a="http://schemas.openxmlformats.org/drawingml/2006/main">
              <a:ext uri="{FF2B5EF4-FFF2-40B4-BE49-F238E27FC236}">
                <a16:creationId xmlns:a16="http://schemas.microsoft.com/office/drawing/2014/main" id="{6069E951-8DCE-4493-B900-D31E4090240D}"/>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91213B52-1BAB-4853-9531-F3708AF8DD23}"/>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3087BEA7-A4A7-4B1E-B053-060799D4B43C}"/>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ABEF2AC-D623-4957-BA66-95C9C94C593D}"/>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AE946F25-650D-4B67-8787-40084F2EA7A8}"/>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5BE80A4D-02B5-4ED7-8AF8-9F32B8675E9E}"/>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AD4D67D0-E287-44D5-A095-EE29A1020A56}"/>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5878663A-7B4E-44F5-B8D1-0F41FAFEE92F}"/>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2256A2C5-CE64-48C2-9871-E62F13F17808}"/>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BCA77008-A005-4696-82B3-3D47704A8052}"/>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FFE9084B-CD9F-44F8-89DC-9318553DDC17}"/>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D2CF96D3-6DBB-4303-8FE4-A11E000A76F8}"/>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55C62C77-9F7F-445F-9E04-4DC6ABDB2488}"/>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48CCE24F-9C3B-46B5-B93C-BC04A499B281}"/>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F8A99"/>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BF72CBEB-D1CB-41ED-B057-8EFE7E309D09}"/>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3AC213B7-8C59-49A7-BA32-83612397981F}"/>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04305CCB-F252-43C6-99FB-085B56BAF430}"/>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6CBB8149-63E7-4A64-A72B-0B1800CE6EB3}"/>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E1E3A"/>
                </a:solidFill>
                <a:latin typeface="Cambria"/>
                <a:ea typeface="Cambria"/>
                <a:cs typeface="Cambria"/>
              </a:rPr>
              <a:t>5</a:t>
            </a:r>
          </a:p>
        </p:txBody>
      </p:sp>
      <p:sp>
        <p:nvSpPr>
          <p:cNvPr id="44" name="Text 42">
            <a:extLst xmlns:a="http://schemas.openxmlformats.org/drawingml/2006/main">
              <a:ext uri="{FF2B5EF4-FFF2-40B4-BE49-F238E27FC236}">
                <a16:creationId xmlns:a16="http://schemas.microsoft.com/office/drawing/2014/main" id="{0B8DDFD0-4E78-44ED-B4CC-FA2287F601BF}"/>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E2E8A682-45D9-466B-9B44-D3EDAD0F259B}"/>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7DB65A75-CFC1-4DF1-8DF9-FF25E28CEF3B}"/>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5735086B-EBC0-4E03-A428-110AE136F914}"/>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93B2B"/>
                </a:solidFill>
                <a:latin typeface="Cambria"/>
                <a:ea typeface="Cambria"/>
                <a:cs typeface="Cambria"/>
              </a:rPr>
              <a:t>1</a:t>
            </a:r>
          </a:p>
        </p:txBody>
      </p:sp>
      <p:sp>
        <p:nvSpPr>
          <p:cNvPr id="48" name="Text 46">
            <a:extLst xmlns:a="http://schemas.openxmlformats.org/drawingml/2006/main">
              <a:ext uri="{FF2B5EF4-FFF2-40B4-BE49-F238E27FC236}">
                <a16:creationId xmlns:a16="http://schemas.microsoft.com/office/drawing/2014/main" id="{BBFF69CD-FC2E-4884-BFED-E6D387C1B218}"/>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4B33A21B-4658-4C13-B6C6-AFD517B44912}"/>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 post-commit failure. An external commitment happened — the runtime does not feign rollback.</a:t>
            </a:r>
          </a:p>
        </p:txBody>
      </p:sp>
      <p:sp>
        <p:nvSpPr>
          <p:cNvPr id="50" name="Shape 48">
            <a:extLst xmlns:a="http://schemas.openxmlformats.org/drawingml/2006/main">
              <a:ext uri="{FF2B5EF4-FFF2-40B4-BE49-F238E27FC236}">
                <a16:creationId xmlns:a16="http://schemas.microsoft.com/office/drawing/2014/main" id="{75E896B5-C4F9-4DE4-9C8E-107CA7F2621B}"/>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D2FE1A86-D2BF-41D6-90F0-7EEE3BF3022F}"/>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E1E3A"/>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8181589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8DA75E-6F49-4D2D-A221-C511A75011B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CE99979-E267-4D39-9253-7BC389EA4A8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AB0C95FD-2058-4346-AA23-8A95C433DCE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6  ·  §3.5 AND ALGORITHM 3</a:t>
            </a:r>
          </a:p>
        </p:txBody>
      </p:sp>
      <p:sp>
        <p:nvSpPr>
          <p:cNvPr id="5" name="Text 3">
            <a:extLst xmlns:a="http://schemas.openxmlformats.org/drawingml/2006/main">
              <a:ext uri="{FF2B5EF4-FFF2-40B4-BE49-F238E27FC236}">
                <a16:creationId xmlns:a16="http://schemas.microsoft.com/office/drawing/2014/main" id="{4A3D8B0C-56F7-40E2-943D-358448B33C2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An exact gate is a data-hungry gate</a:t>
            </a:r>
          </a:p>
        </p:txBody>
      </p:sp>
      <p:sp>
        <p:nvSpPr>
          <p:cNvPr id="6" name="Text 4">
            <a:extLst xmlns:a="http://schemas.openxmlformats.org/drawingml/2006/main">
              <a:ext uri="{FF2B5EF4-FFF2-40B4-BE49-F238E27FC236}">
                <a16:creationId xmlns:a16="http://schemas.microsoft.com/office/drawing/2014/main" id="{E1093DB8-F1BF-492A-B0BC-B7AE7C7C17A0}"/>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score model and the eleven-threshold grid are frozen before any calibration group is seen. That is what makes a union bound legitimate.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For each threshold the compiler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654EF96E-0CA4-497E-B708-ECE91B5A1F33}"/>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6BEDA9A-EC64-4F3C-8C21-79A8E7942114}"/>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144C2540-40E1-4E94-BC8C-494F8C154813}"/>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C4034"/>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034376D7-C442-43EE-B8DF-589B6699E3E7}"/>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7E000CB5-F6C7-46C1-BB8B-30189FE72492}"/>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1A10A0C2-1FF0-4CCD-B83A-C573662C7673}"/>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268708BD-0956-4AC7-9B6D-4BB1EBCFC6A1}"/>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905B5889-708E-4251-B068-F18575014DEA}"/>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DCFF0E06-FC0A-4619-9307-D818B05D2758}"/>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F7C73F8C-AE19-4EAF-B818-96685851794F}"/>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2CFC8FE3-B1AB-4186-A8C5-FF0D077AA6C0}"/>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6EAE12AE-7D64-4A5D-B094-C95D4C40A8B0}"/>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55EB7B9E-7678-4FA5-AC7B-8CA990B28CA1}"/>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F8A99"/>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CDBCEF4B-0F2F-4080-8D1A-C2BEC2DDCEBE}"/>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3037723F-64C7-4DEF-9781-54AD75C73F30}"/>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B4E26691-8857-4ADB-A150-CE3F1A41AB8A}"/>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94578AB1-9521-42B2-AC47-9E3368B73E9E}"/>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E1E3A"/>
                </a:solidFill>
                <a:latin typeface="Calibri"/>
                <a:ea typeface="Calibri"/>
                <a:cs typeface="Calibri"/>
              </a:rPr>
              <a:t>Independence is load-bearing. </a:t>
            </a:r>
            <a:r>
              <a:rPr sz="1200">
                <a:solidFill>
                  <a:srgbClr val="24354F"/>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87724993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120F78-4269-4412-BDC9-0EB87DD12ED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35AD63B-A434-4B30-80F5-17A9AFD71E2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843257D8-EB9A-4338-9747-851E36D269A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3  ·  §3.1–3.2</a:t>
            </a:r>
          </a:p>
        </p:txBody>
      </p:sp>
      <p:sp>
        <p:nvSpPr>
          <p:cNvPr id="5" name="Text 3">
            <a:extLst xmlns:a="http://schemas.openxmlformats.org/drawingml/2006/main">
              <a:ext uri="{FF2B5EF4-FFF2-40B4-BE49-F238E27FC236}">
                <a16:creationId xmlns:a16="http://schemas.microsoft.com/office/drawing/2014/main" id="{B7D635AE-FE64-46DC-9528-92DBC9F26B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Decline before you build</a:t>
            </a:r>
          </a:p>
        </p:txBody>
      </p:sp>
      <p:sp>
        <p:nvSpPr>
          <p:cNvPr id="6" name="Text 4">
            <a:extLst xmlns:a="http://schemas.openxmlformats.org/drawingml/2006/main">
              <a:ext uri="{FF2B5EF4-FFF2-40B4-BE49-F238E27FC236}">
                <a16:creationId xmlns:a16="http://schemas.microsoft.com/office/drawing/2014/main" id="{CF91DAB5-45B1-42E8-BC23-1688F29297E9}"/>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64479950-7165-4AFB-8914-303D2EF0D019}"/>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6146D52-ED36-4B02-8B76-BA29F6DAB6D5}"/>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E1E3A"/>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20457904-46E0-41F8-9F53-7AD2B865DC58}"/>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A6B84"/>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F8067CE0-010E-4461-80F9-CF471B0AE886}"/>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2F95AC69-DCC1-4D20-A8CC-3F2AB8417719}"/>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4354F"/>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57DF3CE3-257C-4F3B-AE4B-722D5E87F879}"/>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1863342-29DE-46CD-9DDF-97C142AB10D0}"/>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C3137D35-D186-4382-AB6D-CDFAE06BF90E}"/>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36105770-8589-4913-9375-5C6968A77A17}"/>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87AD7028-96B7-44EB-B59B-9BB386ED8928}"/>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38ECB354-D2D2-4FF2-9C9F-F30A99F32F6D}"/>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31C2ED5F-3EC1-4384-A070-0C270C4A7E1E}"/>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852744D2-B358-4A6F-9144-3AA0941A5305}"/>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A18F46A5-C4A7-473B-8FF6-326AEF327157}"/>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7A6B45F9-9005-474D-9BD5-4ED2F6585450}"/>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E1E3A"/>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6F036B53-2507-4F07-A5C0-26A9E8901EBA}"/>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C5EDB61B-213C-44BC-92A4-86F90F4E55FF}"/>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F8A99"/>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7B776363-DB2D-4495-839B-21621D597D37}"/>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766C07EB-B63D-451C-8DCD-6005A60251A1}"/>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A6B84"/>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332198809"/>
      </p:ext>
    </p:extLst>
  </p:cSld>
</p:sld>
</file>

<file path=ppt/slides/slide15.xml><?xml version="1.0" encoding="utf-8"?>
<p:sld xmlns:a="http://schemas.openxmlformats.org/drawingml/2006/main" xmlns:r="http://schemas.openxmlformats.org/officeDocument/2006/relationships" xmlns:p="http://schemas.openxmlformats.org/presentationml/2006/main">
  <p:cSld name="Divider I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15</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Evidence and results</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Three evidence tiers, six directional hypotheses, and every result reported with its denominator and its refusals intact.</a:t>
            </a:r>
            <a:endParaRPr lang="en-US" sz="1350" dirty="0"/>
          </a:p>
        </p:txBody>
      </p:sp>
    </p:spTree>
  </p:cSld>
  <p:clrMapOvr>
    <a:masterClrMapping/>
  </p:clrMapOvr>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151E1D-6EA2-4EDF-9AD2-E05293B925E0}"/>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C780F97-1E7C-41F7-9090-EC32E1AACA8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9F5362ED-C83D-4CC3-807D-93E9B070586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METHODOLOGY  ·  §4.1  ·  TABLE 3</a:t>
            </a:r>
          </a:p>
        </p:txBody>
      </p:sp>
      <p:sp>
        <p:nvSpPr>
          <p:cNvPr id="5" name="Text 3">
            <a:extLst xmlns:a="http://schemas.openxmlformats.org/drawingml/2006/main">
              <a:ext uri="{FF2B5EF4-FFF2-40B4-BE49-F238E27FC236}">
                <a16:creationId xmlns:a16="http://schemas.microsoft.com/office/drawing/2014/main" id="{CC086FBB-E1F4-4E21-B240-1A19B6BE1B3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tiers, ordered by what they license</a:t>
            </a:r>
          </a:p>
        </p:txBody>
      </p:sp>
      <p:sp>
        <p:nvSpPr>
          <p:cNvPr id="6" name="Shape 4">
            <a:extLst xmlns:a="http://schemas.openxmlformats.org/drawingml/2006/main">
              <a:ext uri="{FF2B5EF4-FFF2-40B4-BE49-F238E27FC236}">
                <a16:creationId xmlns:a16="http://schemas.microsoft.com/office/drawing/2014/main" id="{D48DD201-4982-43E3-A0E6-504B50FE181B}"/>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FBA94E6-7AF2-4824-A62A-3D1E6BEF3FFD}"/>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5A0AF059-CAEF-4576-9928-342F7364E925}"/>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C1186A53-D808-4943-A911-928C05C986DC}"/>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559AAD1-8C0B-4022-B43C-E403F00BEA21}"/>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AE206B25-9596-4216-9362-B65DA01A9434}"/>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D72D27B0-DA6B-4797-BB6D-9470107FCEA5}"/>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68640B0A-6636-4F4D-8622-C96F24ECD15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101DD1A2-D3AA-4FC4-B309-1022F7D0079F}"/>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E0A945E2-BCEB-4B51-9ABB-FC8EB1CA6D43}"/>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101DBD44-E4F5-4C06-8C69-52728C6F7D08}"/>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Three primary GitHub workflow families plus scoped ablations on a pinned snapshot</a:t>
            </a:r>
          </a:p>
        </p:txBody>
      </p:sp>
      <p:sp>
        <p:nvSpPr>
          <p:cNvPr id="17" name="Text 15">
            <a:extLst xmlns:a="http://schemas.openxmlformats.org/drawingml/2006/main">
              <a:ext uri="{FF2B5EF4-FFF2-40B4-BE49-F238E27FC236}">
                <a16:creationId xmlns:a16="http://schemas.microsoft.com/office/drawing/2014/main" id="{A5E5A5F4-D876-4E8F-86C6-7AD8272F562F}"/>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E649A01C-4253-400B-89F0-EC3D9FEB0E3F}"/>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F716F0D7-D270-48D2-B2C3-8A52844E3C69}"/>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04387B9-A092-42EF-ADEF-046ACE8E27A6}"/>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64C060F6-ACFA-4DFE-AED2-6733B856AB2E}"/>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7467E476-2527-44B2-9490-6805D9BD3E59}"/>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E2E3491B-9659-47EE-9046-4428F565E9A8}"/>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924F397C-F645-4F46-B810-786F8E42FF5A}"/>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A6C8C80-C1FB-4DAC-9903-A251D1DF9BE8}"/>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libri"/>
                <a:ea typeface="Calibri"/>
                <a:cs typeface="Calibri"/>
              </a:rPr>
              <a:t>Every rejected candidate, the archived failed pilot, and the unsupported claims are retained rather than pruned </a:t>
            </a:r>
            <a:r>
              <a:rPr sz="1250">
                <a:solidFill>
                  <a:srgbClr val="24354F"/>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1227253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RQ1 AND RQ3  ·  §5.1  ·  TABLE 4</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Replay passes; the gate still refuses</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One NESTFUL trace looks like an obvious macro:</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subtract(60,50) → divide(result,50) → multiply(result,100)</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Grounded, executable, and recurrent at the raw sequence level (33 records).</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93B2B"/>
                </a:solidFill>
                <a:latin typeface="Calibri"/>
                <a:ea typeface="Calibri"/>
                <a:cs typeface="Calibri"/>
              </a:rPr>
              <a:t>Naive rule: recurrence + replay → ship.</a:t>
            </a:r>
            <a:r>
              <a:rPr sz="1200">
                <a:solidFill>
                  <a:srgbClr val="5C4034"/>
                </a:solidFill>
                <a:latin typeface="Calibri"/>
                <a:ea typeface="Calibri"/>
                <a:cs typeface="Calibri"/>
              </a:rPr>
              <a:t>GAC: 26 groups &lt; 92 required → 0 certifiable families → RETIRE to baseline.</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a5a344bc25c34004"/>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5,531 / 5,746</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candidate producers (96.3%)</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33</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raw sequence support</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24 / 12 / 0</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replay pass / abstain / wrong</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26 / 92</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best family / gate minimum</a:t>
            </a:r>
          </a:p>
        </p:txBody>
      </p:sp>
    </p:spTree>
    <p:extLst>
      <p:ext uri="{BB962C8B-B14F-4D97-AF65-F5344CB8AC3E}">
        <p14:creationId xmlns:p14="http://schemas.microsoft.com/office/powerpoint/2010/main" val="13853761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RQ6  ·  §5.2  ·  TABLE 5</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Efficiency transfers, not dominance</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Issue-type routing, PR-outcome audit, and backlog-attention routing use distinct tools and exact graders over one pinned public snapshot, with all 90 held-out records pairwise disjoint.</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Compiled programs reach 90/90 exact outcomes versus 89/90 baseline (exact McNemar p=1; pooled compiled-only discordance bound 3.3%). Weighted reductions: requests 66.6%, visible interfaces 44.2%, tokens 63.1%, observed latency 64.2%, and cost 58.7%.</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All three artifacts are calibrated at the registered α=.05 over 92 zero-violation groups.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programs also reach 90/90, so the learned result is transfer and automation—not runtime superiority.</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00" b="1">
                <a:solidFill>
                  <a:srgbClr val="A93B2B"/>
                </a:solidFill>
                <a:latin typeface="Calibri"/>
                <a:ea typeface="Calibri"/>
                <a:cs typeface="Calibri"/>
              </a:rPr>
              <a:t>The two new families compile verified three-read pre-model programs; the original issue family retains its conservative two-read prefix. Both newer families are cache-cold in every arm, so part of the 32.0–75.3% cost range is prompt-cache warmth rather than compiled depth; provider-side break-even is 411, 182, and 181 episodes against 132 paid discovery episodes each. The study changes decision and tools, but not repository or time: cross-repository and time-forward transfer remain open.</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4da551d5950f48b5"/>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89 → 90 / 90</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baseline → compiled exact</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−66.6 / −63.1%</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requests / total tokens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−64.2 / −58.7%</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latency / estimated cost</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90 / 90</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manual exact; no runtime dominance</a:t>
            </a:r>
          </a:p>
        </p:txBody>
      </p:sp>
    </p:spTree>
    <p:extLst>
      <p:ext uri="{BB962C8B-B14F-4D97-AF65-F5344CB8AC3E}">
        <p14:creationId xmlns:p14="http://schemas.microsoft.com/office/powerpoint/2010/main" val="138537613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2CF15DC-1301-4621-81E9-2DCAEE7AE5F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5A30271-264E-47D1-9785-F977FECEEDF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AE6CDDA3-6432-436D-A8CD-C01F91B4A10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6</a:t>
            </a:r>
          </a:p>
        </p:txBody>
      </p:sp>
      <p:sp>
        <p:nvSpPr>
          <p:cNvPr id="5" name="Text 3">
            <a:extLst xmlns:a="http://schemas.openxmlformats.org/drawingml/2006/main">
              <a:ext uri="{FF2B5EF4-FFF2-40B4-BE49-F238E27FC236}">
                <a16:creationId xmlns:a16="http://schemas.microsoft.com/office/drawing/2014/main" id="{1A6B1FDE-60A5-4E6A-ADD8-1A4C23E9750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b85f43d5fcbc4331"/>
          </a:graphicData>
        </a:graphic>
      </p:graphicFrame>
      <p:sp>
        <p:nvSpPr>
          <p:cNvPr id="7" name="Shape 4">
            <a:extLst xmlns:a="http://schemas.openxmlformats.org/drawingml/2006/main">
              <a:ext uri="{FF2B5EF4-FFF2-40B4-BE49-F238E27FC236}">
                <a16:creationId xmlns:a16="http://schemas.microsoft.com/office/drawing/2014/main" id="{3C1760E1-20A0-445F-A11B-0E8EDB139EAE}"/>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5B524CE7-F7B0-4AD3-9C5E-3718B7F80E65}"/>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53DCA59F-7599-418A-8691-5B7A9529E74E}"/>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A310976C-1FCD-425E-BACF-61EF3671BD91}"/>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84F8FB49-2683-441E-868D-CC974D7075AF}"/>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14B24EDE-E6A2-4C00-B9EB-337D4178152D}"/>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B2C5662A-EEE5-4A40-A0A2-412894DFBF62}"/>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426A1291-3D81-43AE-8C19-503F6AD58286}"/>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B9708C38-4EBA-4DF0-897D-916FFF212A3B}"/>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09E1A7C9-F4DC-4759-9A1E-11C1CE81CD4D}"/>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59ADD08D-5F65-4789-85DD-6F7B89726500}"/>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A57FD9B9-796C-4F22-8285-351D925BEEF6}"/>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1CB1C4A9-FEBE-4DF5-B21D-C50FFA328D45}"/>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D1B1EAEC-6FF9-4B96-964C-CD8193213CE8}"/>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5165A77B-E0D8-419F-83D0-4D0162EBB382}"/>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30EAF532-5324-4564-B163-BDD562FFBC08}"/>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54AC4035-0DA8-4801-85D9-6E19723F3703}"/>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3F0C3B58-819F-4796-A159-0201DDF15B53}"/>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exact task contracts</a:t>
            </a:r>
          </a:p>
        </p:txBody>
      </p:sp>
    </p:spTree>
    <p:extLst>
      <p:ext uri="{BB962C8B-B14F-4D97-AF65-F5344CB8AC3E}">
        <p14:creationId xmlns:p14="http://schemas.microsoft.com/office/powerpoint/2010/main" val="143933951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DEPTH TRADE-OFF  ·  §5.3  ·  TABLES 6 AND 7</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Deeper compilation costs preservation</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93B2B"/>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4354F"/>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20141524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E62FA1-9C7E-4242-89B0-4F3B5B51694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0B2760F-1F6E-4DBF-B79E-6FBBFAEFB8A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2C7FED2E-1F58-473D-87EB-3DE4EC0AB12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RQ4  ·  §5.4  ·  FIGURE 6</a:t>
            </a:r>
          </a:p>
        </p:txBody>
      </p:sp>
      <p:sp>
        <p:nvSpPr>
          <p:cNvPr id="5" name="Text 3">
            <a:extLst xmlns:a="http://schemas.openxmlformats.org/drawingml/2006/main">
              <a:ext uri="{FF2B5EF4-FFF2-40B4-BE49-F238E27FC236}">
                <a16:creationId xmlns:a16="http://schemas.microsoft.com/office/drawing/2014/main" id="{76F0EF70-AC54-4FB5-8418-7333D6F9404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Token saving is not cost saving</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2d8e65cbda95494b"/>
          </a:graphicData>
        </a:graphic>
      </p:graphicFrame>
      <p:sp>
        <p:nvSpPr>
          <p:cNvPr id="7" name="Shape 4">
            <a:extLst xmlns:a="http://schemas.openxmlformats.org/drawingml/2006/main">
              <a:ext uri="{FF2B5EF4-FFF2-40B4-BE49-F238E27FC236}">
                <a16:creationId xmlns:a16="http://schemas.microsoft.com/office/drawing/2014/main" id="{A25CA3EA-5BC0-43B6-91B9-C0D0C0B5BF99}"/>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208D9B6-B2AA-4F88-9EF0-305DB4B0F4F1}"/>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5118268C-D78D-4146-A8ED-A41CD5EECF74}"/>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A18B45D6-22DB-4431-A239-B800415667ED}"/>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92A1F32D-5FD6-493D-AFEC-BD6F64F9224C}"/>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D10BA4EC-5970-4F9B-BA9B-347F7F8137CD}"/>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97EF3A1A-CD11-4258-93D5-A3113F1BBB4E}"/>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0D61E25-733A-4AA4-AC69-D55EDFC620F4}"/>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D9A40B7B-99E4-4AFC-9DEF-9D2D71070C60}"/>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FC389CD1-071A-43F3-8B18-2F7C73B5B8EA}"/>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4354F"/>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1111143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COMPARATOR THAT MATTERS  ·  §5.6  ·  TABLE 8</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Before GCS, the hand macro wins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150">
                <a:solidFill>
                  <a:srgbClr val="24354F"/>
                </a:solidFill>
                <a:latin typeface="Calibri"/>
                <a:ea typeface="Calibri"/>
                <a:cs typeface="Calibri"/>
              </a:rPr>
              <a:t>Against partial GRC, the hand-written composite matches exact quality and request savings while using one interface and fewer tokens. Priced with prompt-cache reuse the gap narrows to 30.9% fewer tokens for 8.0% lower cost, because interface fusion destroys the repeated prefix. This is the correct baseline for a stable read set.</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Tier-1 support evidence gathering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0.726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0.755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Permissioned RAG knowledge assistant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0.335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0.718</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Multi-agent incident triage</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0.922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0.780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Multi-tenant MCP ops (negative control)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0.724</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1.000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Order-fulfillment exception handling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0.661</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0.642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A6B84"/>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Live confirmation: </a:t>
            </a:r>
            <a:r>
              <a:rPr sz="1200">
                <a:solidFill>
                  <a:srgbClr val="24354F"/>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159616672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FAIR PLACEMENT AND BOUNDED GEPA  ·  §5.7–5.8  ·  TABLES 10 AND 11</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Fair placement ties GCS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Unchanged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GEPA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GCS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GCS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Manual pre-model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Fair placement removes the confound: GCS and manual execution tie structurally at 6/6 exact quality. GEPA retains its seed after 14 task evaluations; 59 optimization requests are accounted separately. The GCS artifact is calibrated at α=.10 (88/92, bound 0.052) and would retire at the registered α=.05. One family, six held-out cases.</a:t>
            </a:r>
          </a:p>
        </p:txBody>
      </p:sp>
    </p:spTree>
    <p:extLst>
      <p:ext uri="{BB962C8B-B14F-4D97-AF65-F5344CB8AC3E}">
        <p14:creationId xmlns:p14="http://schemas.microsoft.com/office/powerpoint/2010/main" val="15961667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B62D4-A055-431D-9A50-FC46F2DB89A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2E5A502-BD9B-4E91-9668-D81A17304D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FB4E40D5-8E47-48CA-85EF-C4E6C1F391A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RQ5  ·  §3.6 AND §5.9  ·  TABLE 15</a:t>
            </a:r>
          </a:p>
        </p:txBody>
      </p:sp>
      <p:sp>
        <p:nvSpPr>
          <p:cNvPr id="5" name="Text 3">
            <a:extLst xmlns:a="http://schemas.openxmlformats.org/drawingml/2006/main">
              <a:ext uri="{FF2B5EF4-FFF2-40B4-BE49-F238E27FC236}">
                <a16:creationId xmlns:a16="http://schemas.microsoft.com/office/drawing/2014/main" id="{F41C5DE9-65D9-44FB-8981-F21943BDD3E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Only measured actions get compared</a:t>
            </a:r>
          </a:p>
        </p:txBody>
      </p:sp>
      <p:sp>
        <p:nvSpPr>
          <p:cNvPr id="6" name="Text 4">
            <a:extLst xmlns:a="http://schemas.openxmlformats.org/drawingml/2006/main">
              <a:ext uri="{FF2B5EF4-FFF2-40B4-BE49-F238E27FC236}">
                <a16:creationId xmlns:a16="http://schemas.microsoft.com/office/drawing/2014/main" id="{EE041533-057F-47B1-87D2-CE9A749349FF}"/>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51c0446875b84944"/>
          </a:graphicData>
        </a:graphic>
      </p:graphicFrame>
      <p:sp>
        <p:nvSpPr>
          <p:cNvPr id="8" name="Text 5">
            <a:extLst xmlns:a="http://schemas.openxmlformats.org/drawingml/2006/main">
              <a:ext uri="{FF2B5EF4-FFF2-40B4-BE49-F238E27FC236}">
                <a16:creationId xmlns:a16="http://schemas.microsoft.com/office/drawing/2014/main" id="{84B85584-8FB7-428B-ADCD-1333020A1F57}"/>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CE4D95AB-3025-48B2-935D-1CE1B8EBE492}"/>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FA1A0E64-343F-42EE-9DAD-BFA7756EDA46}"/>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27A7C42E-850A-4031-99EF-930328C3A570}"/>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F8A99"/>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D8EEE5FB-5D37-489B-BE90-55C87DDE1A70}"/>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69913375-9FBC-429E-9EAD-B4AB4648ACF6}"/>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9AFCC980-7F4E-4936-98F3-E7727123BB28}"/>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30E158D9-0C88-4CE8-9971-B37E42E1D0C5}"/>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540848B0-6666-4F58-83F1-D593E878E905}"/>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B930B890-7507-495A-AF55-A71D06DB1D4A}"/>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FFF7BB22-CA3D-4A10-A3BF-18B2AB29F79C}"/>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5BE8E4F5-FD0E-456D-A5D2-20B9CD055EBC}"/>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9E340F49-CEFC-495C-ADBE-C7727A680479}"/>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A97EE732-5994-4804-8A6B-FAA56814EFBC}"/>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8122E63C-4286-4A13-8EC3-E5B8CD34E00F}"/>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F9FEE5A4-3C75-4890-A57C-7F380DBF6340}"/>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3C18BD0D-2531-4AA4-BA35-7565A4014475}"/>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0F42DCE0-32B3-4991-AE72-90AEF0F22F22}"/>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73800972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265BE1-5C53-474F-BE6A-30893090402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B6F6C15-6955-4C05-8D57-E58839BF8CA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10A134EC-D31D-458A-B907-3E86865D66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3E02682A-0E24-4A78-970A-81AC7E4667B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Five claims the evidence does not support</a:t>
            </a:r>
          </a:p>
        </p:txBody>
      </p:sp>
      <p:sp>
        <p:nvSpPr>
          <p:cNvPr id="6" name="Shape 4">
            <a:extLst xmlns:a="http://schemas.openxmlformats.org/drawingml/2006/main">
              <a:ext uri="{FF2B5EF4-FFF2-40B4-BE49-F238E27FC236}">
                <a16:creationId xmlns:a16="http://schemas.microsoft.com/office/drawing/2014/main" id="{AE840CFF-CD8E-4440-967F-6E1CD7C06595}"/>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8D1BFB8-D5B7-46E6-81B1-B40F8E659321}"/>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2CD1E39-270F-48F4-9E23-A83D48F8BDA6}"/>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655360FF-7954-4905-B440-90218AB6AC22}"/>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77EFA25F-B0A5-4BE3-9F89-EE33ED2EC48F}"/>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On the sealed artifact every threshold below 0.14 admits nothing and every threshold at or above it admits all 92, with zero violations throughout. The score was fitted with zero positive examples over eight observations, so it behaves as an all-or-none support test, not a risk–coverage frontier.</a:t>
            </a:r>
          </a:p>
        </p:txBody>
      </p:sp>
      <p:sp>
        <p:nvSpPr>
          <p:cNvPr id="11" name="Shape 9">
            <a:extLst xmlns:a="http://schemas.openxmlformats.org/drawingml/2006/main">
              <a:ext uri="{FF2B5EF4-FFF2-40B4-BE49-F238E27FC236}">
                <a16:creationId xmlns:a16="http://schemas.microsoft.com/office/drawing/2014/main" id="{34CAC08B-7BDA-492D-A68C-11CFDCDD983A}"/>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EE7A285F-EF22-4F6C-A52F-620C4A9F6E5F}"/>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E3110B5B-4B4D-44BF-9490-8E5AA3E191C6}"/>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B6529097-9775-4A1B-BCBB-0E03342FDFB8}"/>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E73C4AC8-E5C7-4281-AE9C-99DA57ED74BC}"/>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09B90D5F-33D9-49A9-86ED-058E609C9DD5}"/>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D8D3289F-95F4-4CF9-BE76-362BCE27C8CD}"/>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EBE4766-91F0-4505-868E-312D91E60C76}"/>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79894871-6C08-449C-AA29-EAECB3772C7F}"/>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1CEEF0F4-4C6C-461B-96DF-C0BBCB423622}"/>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9A8F9EAD-9096-46D7-9754-6EED070B2278}"/>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166DE5C2-0A00-4898-86DC-1A0EDF2448A3}"/>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491CDB2B-266D-4FCC-9B85-31BF0212DB0F}"/>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78C6D54D-8BD7-45B9-BA24-89B8543B8725}"/>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BD8BBC92-79E2-4DCA-AF0B-0B833A91AA35}"/>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64CAF294-4C9F-4875-9099-DCF55FB65DCD}"/>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8A28BD87-56A2-436A-BA6F-8C7AFF1D8472}"/>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1D264393-1C5A-4EAD-91BE-F62F0FBE4117}"/>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A21A40CA-ACB9-4041-873E-0397D288CE52}"/>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3F888D91-2C9D-424D-A3FB-569C1FC3CA11}"/>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843722B8-41BC-4D8E-8E4A-9B04F7EE91F0}"/>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A3197AD0-AC77-4266-B1D4-5857C8F95943}"/>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19B37DD1-8A12-49DE-A1A5-3B78B62D13BB}"/>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GCS / GEPA results hold at α=.10, not the registered .05</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Break-even 181–411 episodes; part of the cost range is cache warmth</a:t>
            </a:r>
          </a:p>
        </p:txBody>
      </p:sp>
    </p:spTree>
    <p:extLst>
      <p:ext uri="{BB962C8B-B14F-4D97-AF65-F5344CB8AC3E}">
        <p14:creationId xmlns:p14="http://schemas.microsoft.com/office/powerpoint/2010/main" val="1557051848"/>
      </p:ext>
    </p:extLst>
  </p:cSld>
</p:sld>
</file>

<file path=ppt/slides/slide26.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6B370F-363E-47DF-8867-4D89469BA84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5CC9964-6348-4851-AA21-0D8353B17AE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26</a:t>
            </a:r>
          </a:p>
        </p:txBody>
      </p:sp>
      <p:sp>
        <p:nvSpPr>
          <p:cNvPr id="4" name="Shape 2">
            <a:extLst xmlns:a="http://schemas.openxmlformats.org/drawingml/2006/main">
              <a:ext uri="{FF2B5EF4-FFF2-40B4-BE49-F238E27FC236}">
                <a16:creationId xmlns:a16="http://schemas.microsoft.com/office/drawing/2014/main" id="{F836C73E-6C82-403A-9EB0-F3F8D2DAA808}"/>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C0D24668-6789-4CF7-8100-E69F70C15422}"/>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45E863D1-4299-46EE-8DE1-7E6285F856E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56B3BE"/>
                </a:solidFill>
                <a:latin typeface="Calibri"/>
                <a:ea typeface="Calibri"/>
                <a:cs typeface="Calibri"/>
              </a:rPr>
              <a:t>CONCLUSION  ·  §9</a:t>
            </a:r>
          </a:p>
        </p:txBody>
      </p:sp>
      <p:sp>
        <p:nvSpPr>
          <p:cNvPr id="7" name="Text 5">
            <a:extLst xmlns:a="http://schemas.openxmlformats.org/drawingml/2006/main">
              <a:ext uri="{FF2B5EF4-FFF2-40B4-BE49-F238E27FC236}">
                <a16:creationId xmlns:a16="http://schemas.microsoft.com/office/drawing/2014/main" id="{60D63703-DAA5-43B0-837F-BAD5531EDE31}"/>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optimizer by what it refuses</a:t>
            </a:r>
          </a:p>
        </p:txBody>
      </p:sp>
      <p:sp>
        <p:nvSpPr>
          <p:cNvPr id="8" name="Shape 6">
            <a:extLst xmlns:a="http://schemas.openxmlformats.org/drawingml/2006/main">
              <a:ext uri="{FF2B5EF4-FFF2-40B4-BE49-F238E27FC236}">
                <a16:creationId xmlns:a16="http://schemas.microsoft.com/office/drawing/2014/main" id="{C8940D96-B8C5-476A-9AA1-67EE701E03FB}"/>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B708CE1A-5C76-447E-B8D1-A624A423EB66}"/>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06AEDDBB-277A-4C83-93A0-F1438F65AB7D}"/>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B32AA8A9-EBDC-45A7-AD9C-B8078B66B527}"/>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03E76A61-8706-455E-BE38-0DBDC20F3030}"/>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4A53C96-8C0E-4F10-9F91-43DE89A2D02F}"/>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61A0776A-DA36-4730-8486-8B095A033000}"/>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D7D79267-D55C-4C6D-B1C3-21FBC3691AF1}"/>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126A3CE9-394B-4A50-8EF7-25B8A89B0090}"/>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961BEF0-24DE-4935-A926-0EE7E8A132D8}"/>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DFA4CE4C-26CA-4F4D-A39B-345C2D6FD1CD}"/>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7077E7A0-51BB-41AF-A268-1468065F3CA0}"/>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319577E4-9A6A-403A-97FF-0182FB9260ED}"/>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EDBBEFC0-C6B5-4719-93C6-899C57FDDDC9}"/>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294A87B6-9AB9-498A-9E15-96CD619D584B}"/>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82CAC90F-D137-4C3F-996B-1682BD995ED2}"/>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44C465B5-1DF8-4F77-B099-B017F50C7AE0}"/>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3597C"/>
                </a:solidFill>
                <a:latin typeface="Calibri"/>
                <a:ea typeface="Calibri"/>
                <a:cs typeface="Calibri"/>
              </a:rPr>
              <a:t>From Traces to Guarded Programs: Evidence-Gated Compilation of Recurrent Agent Workflows  ·  artifact includes pinned data snapshots, raw results, and an adversarial self-review</a:t>
            </a:r>
          </a:p>
        </p:txBody>
      </p:sp>
    </p:spTree>
    <p:extLst>
      <p:ext uri="{BB962C8B-B14F-4D97-AF65-F5344CB8AC3E}">
        <p14:creationId xmlns:p14="http://schemas.microsoft.com/office/powerpoint/2010/main" val="1289244142"/>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From Traces to Guarded Programs: Evidence-Gated Compilation of Recurrent Agent Workflows</dc:title>
  <dcterms:created xsi:type="dcterms:W3CDTF">2026-08-07T04:35:21.7750000Z</dcterms:created>
  <dcterms:modified xsi:type="dcterms:W3CDTF">2026-08-07T04:35:21.7750000Z</dcterms:modified>
</coreProperties>
</file>