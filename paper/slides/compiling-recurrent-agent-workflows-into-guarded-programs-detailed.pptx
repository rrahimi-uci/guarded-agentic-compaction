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859c8616b84f3d" /><Relationship Type="http://schemas.openxmlformats.org/officeDocument/2006/relationships/extended-properties" Target="/docProps/app.xml" Id="R0a278efaa1964120" /><Relationship Type="http://schemas.openxmlformats.org/officeDocument/2006/relationships/officeDocument" Target="/ppt/presentation.xml" Id="Rce7d2516be5a48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75f5598afe4933"/>
  </p:sldMasterIdLst>
  <p:notesMasterIdLst>
    <p:notesMasterId xmlns:r="http://schemas.openxmlformats.org/officeDocument/2006/relationships" r:id="R3f169f8780bc4e04"/>
  </p:notesMasterIdLst>
  <p:sldIdLst>
    <p:sldId xmlns:r="http://schemas.openxmlformats.org/officeDocument/2006/relationships" id="256" r:id="Rf9d149d3a2574e63"/>
    <p:sldId xmlns:r="http://schemas.openxmlformats.org/officeDocument/2006/relationships" id="257" r:id="R30974db5a53b4548"/>
    <p:sldId xmlns:r="http://schemas.openxmlformats.org/officeDocument/2006/relationships" id="258" r:id="Rfc394de8a7044f03"/>
    <p:sldId xmlns:r="http://schemas.openxmlformats.org/officeDocument/2006/relationships" id="259" r:id="R8ffc8990b9b44db4"/>
    <p:sldId xmlns:r="http://schemas.openxmlformats.org/officeDocument/2006/relationships" id="260" r:id="Rad77fd32c6db454f"/>
    <p:sldId xmlns:r="http://schemas.openxmlformats.org/officeDocument/2006/relationships" id="261" r:id="R3809c7e23e3940a2"/>
    <p:sldId xmlns:r="http://schemas.openxmlformats.org/officeDocument/2006/relationships" id="262" r:id="R5385eae36d254a37"/>
    <p:sldId xmlns:r="http://schemas.openxmlformats.org/officeDocument/2006/relationships" id="263" r:id="R2d88edff455143f5"/>
    <p:sldId xmlns:r="http://schemas.openxmlformats.org/officeDocument/2006/relationships" id="264" r:id="Ra26d3f0de2724097"/>
    <p:sldId xmlns:r="http://schemas.openxmlformats.org/officeDocument/2006/relationships" id="265" r:id="R52bf6e67788546d4"/>
    <p:sldId xmlns:r="http://schemas.openxmlformats.org/officeDocument/2006/relationships" id="266" r:id="R3fb89384f71b44b1"/>
    <p:sldId xmlns:r="http://schemas.openxmlformats.org/officeDocument/2006/relationships" id="267" r:id="R792a141d2a0d44ec"/>
    <p:sldId xmlns:r="http://schemas.openxmlformats.org/officeDocument/2006/relationships" id="268" r:id="Rcd34142236f34f70"/>
    <p:sldId xmlns:r="http://schemas.openxmlformats.org/officeDocument/2006/relationships" id="269" r:id="Rfefc17c6e323406f"/>
    <p:sldId xmlns:r="http://schemas.openxmlformats.org/officeDocument/2006/relationships" id="270" r:id="Rd72ace04cbdb4d8f"/>
    <p:sldId xmlns:r="http://schemas.openxmlformats.org/officeDocument/2006/relationships" id="271" r:id="R12218f182f1a4142"/>
    <p:sldId xmlns:r="http://schemas.openxmlformats.org/officeDocument/2006/relationships" id="272" r:id="Rf6d2ef96b4e34590"/>
    <p:sldId xmlns:r="http://schemas.openxmlformats.org/officeDocument/2006/relationships" id="273" r:id="R807f23ba3cb94161"/>
    <p:sldId xmlns:r="http://schemas.openxmlformats.org/officeDocument/2006/relationships" id="274" r:id="R80a9dbeabcf84725"/>
    <p:sldId xmlns:r="http://schemas.openxmlformats.org/officeDocument/2006/relationships" id="275" r:id="R029f63d606a74aa2"/>
    <p:sldId xmlns:r="http://schemas.openxmlformats.org/officeDocument/2006/relationships" id="276" r:id="Rd5164a9d515143f8"/>
    <p:sldId xmlns:r="http://schemas.openxmlformats.org/officeDocument/2006/relationships" id="277" r:id="R2e4e801978844029"/>
    <p:sldId xmlns:r="http://schemas.openxmlformats.org/officeDocument/2006/relationships" id="278" r:id="R2f25e72b336a4069"/>
    <p:sldId xmlns:r="http://schemas.openxmlformats.org/officeDocument/2006/relationships" id="279" r:id="Ref493ba8d9db490a"/>
    <p:sldId xmlns:r="http://schemas.openxmlformats.org/officeDocument/2006/relationships" id="280" r:id="Reec6567ffb3f4c3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75f5598afe4933" /><Relationship Type="http://schemas.openxmlformats.org/officeDocument/2006/relationships/theme" Target="/ppt/theme/theme1.xml" Id="R0a03caa648e64dad" /><Relationship Type="http://schemas.openxmlformats.org/officeDocument/2006/relationships/notesMaster" Target="/ppt/notesMasters/notesMaster1.xml" Id="R3f169f8780bc4e04" /><Relationship Type="http://schemas.openxmlformats.org/officeDocument/2006/relationships/presProps" Target="/ppt/presProps.xml" Id="Re657d1ce8c3740f4" /><Relationship Type="http://schemas.openxmlformats.org/officeDocument/2006/relationships/viewProps" Target="/ppt/viewProps.xml" Id="Rafe032ffec80455a" /><Relationship Type="http://schemas.openxmlformats.org/officeDocument/2006/relationships/tableStyles" Target="/ppt/tableStyles.xml" Id="Rb9ecd5ab85864ef4" /><Relationship Type="http://schemas.openxmlformats.org/officeDocument/2006/relationships/slide" Target="/ppt/slides/slide1.xml" Id="Rf9d149d3a2574e63" /><Relationship Type="http://schemas.openxmlformats.org/officeDocument/2006/relationships/slide" Target="/ppt/slides/slide2.xml" Id="R30974db5a53b4548" /><Relationship Type="http://schemas.openxmlformats.org/officeDocument/2006/relationships/slide" Target="/ppt/slides/slide3.xml" Id="Rfc394de8a7044f03" /><Relationship Type="http://schemas.openxmlformats.org/officeDocument/2006/relationships/slide" Target="/ppt/slides/slide4.xml" Id="R8ffc8990b9b44db4" /><Relationship Type="http://schemas.openxmlformats.org/officeDocument/2006/relationships/slide" Target="/ppt/slides/slide5.xml" Id="Rad77fd32c6db454f" /><Relationship Type="http://schemas.openxmlformats.org/officeDocument/2006/relationships/slide" Target="/ppt/slides/slide6.xml" Id="R3809c7e23e3940a2" /><Relationship Type="http://schemas.openxmlformats.org/officeDocument/2006/relationships/slide" Target="/ppt/slides/slide7.xml" Id="R5385eae36d254a37" /><Relationship Type="http://schemas.openxmlformats.org/officeDocument/2006/relationships/slide" Target="/ppt/slides/slide8.xml" Id="R2d88edff455143f5" /><Relationship Type="http://schemas.openxmlformats.org/officeDocument/2006/relationships/slide" Target="/ppt/slides/slide9.xml" Id="Ra26d3f0de2724097" /><Relationship Type="http://schemas.openxmlformats.org/officeDocument/2006/relationships/slide" Target="/ppt/slides/slide10.xml" Id="R52bf6e67788546d4" /><Relationship Type="http://schemas.openxmlformats.org/officeDocument/2006/relationships/slide" Target="/ppt/slides/slide11.xml" Id="R3fb89384f71b44b1" /><Relationship Type="http://schemas.openxmlformats.org/officeDocument/2006/relationships/slide" Target="/ppt/slides/slide12.xml" Id="R792a141d2a0d44ec" /><Relationship Type="http://schemas.openxmlformats.org/officeDocument/2006/relationships/slide" Target="/ppt/slides/slide13.xml" Id="Rcd34142236f34f70" /><Relationship Type="http://schemas.openxmlformats.org/officeDocument/2006/relationships/slide" Target="/ppt/slides/slide14.xml" Id="Rfefc17c6e323406f" /><Relationship Type="http://schemas.openxmlformats.org/officeDocument/2006/relationships/slide" Target="/ppt/slides/slide15.xml" Id="Rd72ace04cbdb4d8f" /><Relationship Type="http://schemas.openxmlformats.org/officeDocument/2006/relationships/slide" Target="/ppt/slides/slide16.xml" Id="R12218f182f1a4142" /><Relationship Type="http://schemas.openxmlformats.org/officeDocument/2006/relationships/slide" Target="/ppt/slides/slide17.xml" Id="Rf6d2ef96b4e34590" /><Relationship Type="http://schemas.openxmlformats.org/officeDocument/2006/relationships/slide" Target="/ppt/slides/slide18.xml" Id="R807f23ba3cb94161" /><Relationship Type="http://schemas.openxmlformats.org/officeDocument/2006/relationships/slide" Target="/ppt/slides/slide19.xml" Id="R80a9dbeabcf84725" /><Relationship Type="http://schemas.openxmlformats.org/officeDocument/2006/relationships/slide" Target="/ppt/slides/slide20.xml" Id="R029f63d606a74aa2" /><Relationship Type="http://schemas.openxmlformats.org/officeDocument/2006/relationships/slide" Target="/ppt/slides/slide21.xml" Id="Rd5164a9d515143f8" /><Relationship Type="http://schemas.openxmlformats.org/officeDocument/2006/relationships/slide" Target="/ppt/slides/slide22.xml" Id="R2e4e801978844029" /><Relationship Type="http://schemas.openxmlformats.org/officeDocument/2006/relationships/slide" Target="/ppt/slides/slide23.xml" Id="R2f25e72b336a4069" /><Relationship Type="http://schemas.openxmlformats.org/officeDocument/2006/relationships/slide" Target="/ppt/slides/slide24.xml" Id="Ref493ba8d9db490a" /><Relationship Type="http://schemas.openxmlformats.org/officeDocument/2006/relationships/slide" Target="/ppt/slides/slide25.xml" Id="Reec6567ffb3f4c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56b1b365b384b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1c5989817e4226" /><Relationship Type="http://schemas.openxmlformats.org/officeDocument/2006/relationships/notesMaster" Target="/ppt/notesMasters/notesMaster1.xml" Id="Rac25157e4b3647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9f8afd46fa40fc" /><Relationship Type="http://schemas.openxmlformats.org/officeDocument/2006/relationships/notesMaster" Target="/ppt/notesMasters/notesMaster1.xml" Id="R1a8ee63e97bc49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00e44e68b54d1f" /><Relationship Type="http://schemas.openxmlformats.org/officeDocument/2006/relationships/notesMaster" Target="/ppt/notesMasters/notesMaster1.xml" Id="R7cdacbfc5ab348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9658e2e7b44d83" /><Relationship Type="http://schemas.openxmlformats.org/officeDocument/2006/relationships/notesMaster" Target="/ppt/notesMasters/notesMaster1.xml" Id="R44c6a3d9ccd34a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7c4ab7ea16460f" /><Relationship Type="http://schemas.openxmlformats.org/officeDocument/2006/relationships/notesMaster" Target="/ppt/notesMasters/notesMaster1.xml" Id="R00e908aacb6248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5801dbaacf4e3a" /><Relationship Type="http://schemas.openxmlformats.org/officeDocument/2006/relationships/notesMaster" Target="/ppt/notesMasters/notesMaster1.xml" Id="R90efe6eec7e242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d80e864c4a4de0" /><Relationship Type="http://schemas.openxmlformats.org/officeDocument/2006/relationships/notesMaster" Target="/ppt/notesMasters/notesMaster1.xml" Id="R3ae70172126a49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4b507a4fa34444" /><Relationship Type="http://schemas.openxmlformats.org/officeDocument/2006/relationships/notesMaster" Target="/ppt/notesMasters/notesMaster1.xml" Id="R91c690e5398d4c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0117a952334197" /><Relationship Type="http://schemas.openxmlformats.org/officeDocument/2006/relationships/notesMaster" Target="/ppt/notesMasters/notesMaster1.xml" Id="Ra70c38f075084da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b360c1e9e044b9" /><Relationship Type="http://schemas.openxmlformats.org/officeDocument/2006/relationships/notesMaster" Target="/ppt/notesMasters/notesMaster1.xml" Id="Ra109d58c50914c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63c22d6a2d4c4f" /><Relationship Type="http://schemas.openxmlformats.org/officeDocument/2006/relationships/notesMaster" Target="/ppt/notesMasters/notesMaster1.xml" Id="R33404477f2a1416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f4149d8a93144da" /><Relationship Type="http://schemas.openxmlformats.org/officeDocument/2006/relationships/notesMaster" Target="/ppt/notesMasters/notesMaster1.xml" Id="R471f0101c3e04bc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42bdbf73c3a4259" /><Relationship Type="http://schemas.openxmlformats.org/officeDocument/2006/relationships/notesMaster" Target="/ppt/notesMasters/notesMaster1.xml" Id="R87a72a710f6d4ab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26bf006f0154fe4" /><Relationship Type="http://schemas.openxmlformats.org/officeDocument/2006/relationships/notesMaster" Target="/ppt/notesMasters/notesMaster1.xml" Id="R76243f68b9e644b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6f5257f7cf04d63" /><Relationship Type="http://schemas.openxmlformats.org/officeDocument/2006/relationships/notesMaster" Target="/ppt/notesMasters/notesMaster1.xml" Id="R20cccb14f65c4d0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2856e463f1a49c1" /><Relationship Type="http://schemas.openxmlformats.org/officeDocument/2006/relationships/notesMaster" Target="/ppt/notesMasters/notesMaster1.xml" Id="R416f25f526294f0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f2f90de501c46a7" /><Relationship Type="http://schemas.openxmlformats.org/officeDocument/2006/relationships/notesMaster" Target="/ppt/notesMasters/notesMaster1.xml" Id="R34addbf8806b4e5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8f9345012234268" /><Relationship Type="http://schemas.openxmlformats.org/officeDocument/2006/relationships/notesMaster" Target="/ppt/notesMasters/notesMaster1.xml" Id="Ra05ba7bc225a473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ee0f0f9a76843c0" /><Relationship Type="http://schemas.openxmlformats.org/officeDocument/2006/relationships/notesMaster" Target="/ppt/notesMasters/notesMaster1.xml" Id="R620dcfa8c7c84cf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bedec7e0a8a45e2" /><Relationship Type="http://schemas.openxmlformats.org/officeDocument/2006/relationships/notesMaster" Target="/ppt/notesMasters/notesMaster1.xml" Id="Rf5e6d98bf8db4e7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d3146ae48d94896" /><Relationship Type="http://schemas.openxmlformats.org/officeDocument/2006/relationships/notesMaster" Target="/ppt/notesMasters/notesMaster1.xml" Id="R81920f603f5a42d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d5118dc114d47b2" /><Relationship Type="http://schemas.openxmlformats.org/officeDocument/2006/relationships/notesMaster" Target="/ppt/notesMasters/notesMaster1.xml" Id="R3dcb8eab2cfd4ef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5be66c531614390" /><Relationship Type="http://schemas.openxmlformats.org/officeDocument/2006/relationships/notesMaster" Target="/ppt/notesMasters/notesMaster1.xml" Id="Rf7628fd3e22346d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9e7ed4053fc455c" /><Relationship Type="http://schemas.openxmlformats.org/officeDocument/2006/relationships/notesMaster" Target="/ppt/notesMasters/notesMaster1.xml" Id="R720d49d8e66141a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3e8ec087b164f0c" /><Relationship Type="http://schemas.openxmlformats.org/officeDocument/2006/relationships/notesMaster" Target="/ppt/notesMasters/notesMaster1.xml" Id="R1d127761578242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7d7f51a96a49c4" /></Relationships>
</file>

<file path=ppt/slideLayouts/slideLayout1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ab872a5bb744a4" /><Relationship Type="http://schemas.openxmlformats.org/officeDocument/2006/relationships/theme" Target="/ppt/theme/theme1.xml" Id="Rf7a3eb5e2b6f4003" /><Relationship Type="http://schemas.openxmlformats.org/officeDocument/2006/relationships/slideLayout" Target="/ppt/slideLayouts/slideLayout2.xml" Id="Ra93e2634ed5a4d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8" r:id="Reaab872a5bb744a4"/>
    <p:sldLayoutId xmlns:r="http://schemas.openxmlformats.org/officeDocument/2006/relationships" id="2147483649" r:id="Ra93e2634ed5a4d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f76c2d882d41ba" /><Relationship Type="http://schemas.openxmlformats.org/officeDocument/2006/relationships/notesSlide" Target="/ppt/notesSlides/notesSlide1.xml" Id="Rcba00f7b55d34f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bcc1ea0d0d48bf" /><Relationship Type="http://schemas.openxmlformats.org/officeDocument/2006/relationships/notesSlide" Target="/ppt/notesSlides/notesSlide2.xml" Id="R6bfba59467c145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49ff9284314442" /><Relationship Type="http://schemas.openxmlformats.org/officeDocument/2006/relationships/notesSlide" Target="/ppt/notesSlides/notesSlide3.xml" Id="R63d16e00f17044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c24f0aef1441d7" /><Relationship Type="http://schemas.openxmlformats.org/officeDocument/2006/relationships/notesSlide" Target="/ppt/notesSlides/notesSlide4.xml" Id="R4afdc8ab0c0e41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636331aab04317" /><Relationship Type="http://schemas.openxmlformats.org/officeDocument/2006/relationships/notesSlide" Target="/ppt/notesSlides/notesSlide5.xml" Id="R2a648053ea6741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f5782d79f24730" /><Relationship Type="http://schemas.openxmlformats.org/officeDocument/2006/relationships/notesSlide" Target="/ppt/notesSlides/notesSlide6.xml" Id="R7485e8af3f4b4a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7037114bf14041" /><Relationship Type="http://schemas.openxmlformats.org/officeDocument/2006/relationships/notesSlide" Target="/ppt/notesSlides/notesSlide7.xml" Id="R695b3265e79140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f2d475a1bd4288" /><Relationship Type="http://schemas.openxmlformats.org/officeDocument/2006/relationships/notesSlide" Target="/ppt/notesSlides/notesSlide8.xml" Id="R729802895ec2453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e9738843744ebd" /><Relationship Type="http://schemas.openxmlformats.org/officeDocument/2006/relationships/notesSlide" Target="/ppt/notesSlides/notesSlide9.xml" Id="R0b138379194047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f3e9ebc59e473e" /><Relationship Type="http://schemas.openxmlformats.org/officeDocument/2006/relationships/notesSlide" Target="/ppt/notesSlides/notesSlide10.xml" Id="R2ec2569bbb084f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438e2d7735438a" /><Relationship Type="http://schemas.openxmlformats.org/officeDocument/2006/relationships/notesSlide" Target="/ppt/notesSlides/notesSlide11.xml" Id="Rbb59fdcf6f4c4e8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e623e588d644ad" /><Relationship Type="http://schemas.openxmlformats.org/officeDocument/2006/relationships/notesSlide" Target="/ppt/notesSlides/notesSlide12.xml" Id="Rac33aa9f6b574a2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a53a1b0b2e4ed7" /><Relationship Type="http://schemas.openxmlformats.org/officeDocument/2006/relationships/notesSlide" Target="/ppt/notesSlides/notesSlide13.xml" Id="Rbdb83e9b015440d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e96af89d0d4b2c" /><Relationship Type="http://schemas.openxmlformats.org/officeDocument/2006/relationships/notesSlide" Target="/ppt/notesSlides/notesSlide14.xml" Id="R30a23f5458e8436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94332a586647a9" /><Relationship Type="http://schemas.openxmlformats.org/officeDocument/2006/relationships/notesSlide" Target="/ppt/notesSlides/notesSlide15.xml" Id="R0222017986ec40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4ec682253f436b" /><Relationship Type="http://schemas.openxmlformats.org/officeDocument/2006/relationships/notesSlide" Target="/ppt/notesSlides/notesSlide16.xml" Id="R8c74eebed4c0400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17769acec64388" /><Relationship Type="http://schemas.openxmlformats.org/officeDocument/2006/relationships/notesSlide" Target="/ppt/notesSlides/notesSlide17.xml" Id="R27303fe85728440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c1f1ded7c4e26" /><Relationship Type="http://schemas.openxmlformats.org/officeDocument/2006/relationships/notesSlide" Target="/ppt/notesSlides/notesSlide18.xml" Id="R1a95566c1b5244c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6181d14c64bc6" /><Relationship Type="http://schemas.openxmlformats.org/officeDocument/2006/relationships/notesSlide" Target="/ppt/notesSlides/notesSlide19.xml" Id="R9f567a864a4c40a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388221d1764607" /><Relationship Type="http://schemas.openxmlformats.org/officeDocument/2006/relationships/notesSlide" Target="/ppt/notesSlides/notesSlide20.xml" Id="R3f93e7952c94420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dd37e0c8f49ee" /><Relationship Type="http://schemas.openxmlformats.org/officeDocument/2006/relationships/notesSlide" Target="/ppt/notesSlides/notesSlide21.xml" Id="Raec2eac6000a4f0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dae9a07034898" /><Relationship Type="http://schemas.openxmlformats.org/officeDocument/2006/relationships/notesSlide" Target="/ppt/notesSlides/notesSlide22.xml" Id="Ra9dca241b1e141f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cffe6b5884dd4" /><Relationship Type="http://schemas.openxmlformats.org/officeDocument/2006/relationships/notesSlide" Target="/ppt/notesSlides/notesSlide23.xml" Id="R4557936061754f0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f88d918bd4ea6" /><Relationship Type="http://schemas.openxmlformats.org/officeDocument/2006/relationships/notesSlide" Target="/ppt/notesSlides/notesSlide24.xml" Id="R592b8da0b39e41d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f3ac3fe144016" /><Relationship Type="http://schemas.openxmlformats.org/officeDocument/2006/relationships/notesSlide" Target="/ppt/notesSlides/notesSlide25.xml" Id="Rac2beae6796b423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493136-0906-49C7-AD75-2FCFD3F4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7B187-A3B6-4A26-B08C-D9CB405F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AGENT WORKFLOW OPTIMIZATION · RESEARCH PAPER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304ED-8BC8-4410-86BF-26B80CE1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8286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Compiling Recurrent Agent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Workflows into Guarded Programs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22AD7-899E-4B96-B84D-74C3CD5E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62250"/>
            <a:ext cx="7334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FD8F5"/>
                </a:solidFill>
                <a:latin typeface="Arial"/>
                <a:ea typeface="Arial"/>
                <a:cs typeface="Arial"/>
              </a:rPr>
              <a:t>Trace-derived specialization with typed provenance, hard effect barriers, exact admission, and default abstention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90EAA-2028-43ED-B740-B15B14A3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7239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D30"/>
          </a:solidFill>
          <a:ln xmlns:a="http://schemas.openxmlformats.org/drawingml/2006/main" w="19050">
            <a:solidFill>
              <a:srgbClr val="26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1A614C-D10F-4158-9A6D-CCA9A982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0490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3D"/>
          </a:solidFill>
          <a:ln xmlns:a="http://schemas.openxmlformats.org/drawingml/2006/main" w="19050">
            <a:solidFill>
              <a:srgbClr val="BFD8F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49B9F-A54B-4244-BCCF-A5826EDF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6002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B6BDEC-6597-4C0D-AE78-038BA046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21945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TRACE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0603F9-F378-440B-A81D-E271175D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667125"/>
            <a:ext cx="22098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→  PROGRAM  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0329C-2782-4D2A-A0E6-684EFCEA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71950"/>
            <a:ext cx="2095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44029-E307-4F76-A181-3C92A8EB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38625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GUARD · GATE · 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EBB24C-55AC-4925-83B0-0EEDD633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Reza Rahimi, PhD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26B100-7C93-49F7-AD0D-C7458078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Public artifact · August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08469-DF15-47DF-BD2B-363D482B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agent-compaction · publication deck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851A9D-17C6-4EC8-B22B-D0E3E7AF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012048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72C973-2751-41E8-89F2-048DC468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E60171-4A0F-463C-9678-5344AD8E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CORE 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AB5BB4-829B-49E4-A2D6-D4E86314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Recurrence is evidence of repetition—not permission to remove a model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F0BCC5-EA04-4638-966F-7B430F15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2454A-5034-4523-AC40-0408E26A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091E32-9CAA-4BC3-9059-6FE5C33E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EEBE59-B6C8-4D99-9FC8-011BEF94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333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40A9F-C34A-4320-925B-527EBD06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28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Observed recurrence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DF1DCF-6922-4E05-A01F-B9A7F9D9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38425"/>
            <a:ext cx="20288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The same tool path appears across independent scenarios.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704C0-F8CE-42E9-AA84-D4083DCE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43840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A73856-113E-4106-BA5A-F48F16BA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190750"/>
            <a:ext cx="2333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0CDDB0-797F-4260-B425-8649076D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028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0D2C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0D2CF"/>
                </a:solidFill>
                <a:latin typeface="Arial"/>
                <a:ea typeface="Arial"/>
                <a:cs typeface="Arial"/>
              </a:rPr>
              <a:t>Typed provenance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9F3007-7AEC-466B-BD0F-EDE5FFE3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38425"/>
            <a:ext cx="20288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Every argument resolves from entry state or prior results.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3A765-B45A-4FB6-8E90-1A7AAD13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3840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C8B5B7-E55F-48AA-A054-A5871204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90750"/>
            <a:ext cx="2333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5CD3A4-8FBA-44D0-A6EE-7B32BB9D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43150"/>
            <a:ext cx="2028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Admissibility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296351-9B4B-4298-A808-E1BF3876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38425"/>
            <a:ext cx="20288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Effects, position, manifests, and contracts all permit replacement.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49FD39-F263-4302-84D0-31AC4EB5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43840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FE802B-A8C0-4E58-B9AB-24B5D3AF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2057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85D449-9A3B-4604-87DB-D127413B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43150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Dispatch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A060C7-E2BE-42F2-B010-1D477142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38425"/>
            <a:ext cx="1752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Only a calibrated, pinned artifact may run.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91CFE0-797F-4B17-B752-51DA520E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52292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9525">
            <a:solidFill>
              <a:srgbClr val="E0564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0EAD8B-747B-4558-BFBD-1E11AC72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838575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ANY HARD BARRIER → RETIRE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B6E04C-1603-40A9-8425-75B01878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19575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unknown/write effect · approval · handoff · ungrounded value · incompatible manifest · unsupported position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BBE9BD-B4E8-44FA-9B36-FC56ACAA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5191125"/>
            <a:ext cx="6724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optimizer's valid output is often no program.</a:t>
            </a:r>
          </a:p>
        </p:txBody>
      </p:sp>
    </p:spTree>
    <p:extLst>
      <p:ext uri="{BB962C8B-B14F-4D97-AF65-F5344CB8AC3E}">
        <p14:creationId xmlns:p14="http://schemas.microsoft.com/office/powerpoint/2010/main" val="8162725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D901B1-A1AB-40DC-87C1-A0FBF067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58F84-5A9F-4AD3-B75F-4710CEAF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D32F7-1DAD-44C2-9381-0363505C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One typed execution seam separates frameworks from optimization policy.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1D950-AC99-4DE1-BF82-A69E4808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EC8F6F-7CC0-4E7E-B7B2-955913F5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771C1D-3076-423A-A9FA-64CCFA0B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CFF3D2-9F0D-4350-B712-863ABDA0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225165-1BD6-48CB-BD93-6EDD16B9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SDK traces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88A35B-DFB6-4C91-AEBE-1895049C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2892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model · tool · handoff ·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D09B78-EE04-4CC9-8269-1F7DE6523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47950"/>
            <a:ext cx="323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5CE8F1-E935-4CAA-A124-AA07E9DB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812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755290-ED76-4B91-AFDF-713A1358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336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Episode 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B96F72-8B23-4E50-AFD9-B8FCFC1B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2892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typed events · entry state · manifest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678A7A-6512-43D6-82CE-0E075951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47950"/>
            <a:ext cx="323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6D131F-DEAC-46D0-BD47-180CB9EC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812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55CCA9-9B24-41B3-88EB-99386635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336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0D2C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0D2CF"/>
                </a:solidFill>
                <a:latin typeface="Arial"/>
                <a:ea typeface="Arial"/>
                <a:cs typeface="Arial"/>
              </a:rPr>
              <a:t>Offline compiler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D8C3B3-6B42-4F1E-B0AF-93EF2FE8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2892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provenance · mining · synthesis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5A5067-FDBA-45DF-9B86-F7278A39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47950"/>
            <a:ext cx="323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35026B-7333-436D-9C76-2B925669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812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3BF4B7-97D2-4ADB-BB95-1AA33EE6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0D2C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0D2CF"/>
                </a:solidFill>
                <a:latin typeface="Arial"/>
                <a:ea typeface="Arial"/>
                <a:cs typeface="Arial"/>
              </a:rPr>
              <a:t>Signed registry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402968-A84D-4FBB-90FC-971E75F5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2892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program · guards · verifier · pins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111FCF-9D11-40F1-9556-E0E52F06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647950"/>
            <a:ext cx="323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0E0EE1-BC3E-4A6C-8CD7-2897EA05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3812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5527BE-FD60-4DA3-907F-B9134E03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336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Runtime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A0FF20-91B5-432E-AD64-DF7A603B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28925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dispatch · stage · verify · fallback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F0448F-9B57-45C6-B568-02CFB0E1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867150"/>
            <a:ext cx="37909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014B17-70FE-4BA4-84E7-1D865BF2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076700"/>
            <a:ext cx="3295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FRAMEWORK-NEUTRAL CORE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076B50-BEAF-4D4C-9E42-4DF96F98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410075"/>
            <a:ext cx="3028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Canonical JSONL + strict Episode IR; OpenAI Agents SDK is an adapter, not the algorithm.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28FF47-F8E0-463F-9DAA-F1F11D73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67150"/>
            <a:ext cx="37909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92C768-34ED-44EA-BF3E-657B4AFE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76700"/>
            <a:ext cx="3295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RUNTIME SAFETY BOUNDARY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415950-59A4-4C91-9A90-876EE37E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0075"/>
            <a:ext cx="3028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A guard miss or clean failure returns the unchanged agent; dirty failure becomes an incident.</a:t>
            </a:r>
          </a:p>
        </p:txBody>
      </p:sp>
    </p:spTree>
    <p:extLst>
      <p:ext uri="{BB962C8B-B14F-4D97-AF65-F5344CB8AC3E}">
        <p14:creationId xmlns:p14="http://schemas.microsoft.com/office/powerpoint/2010/main" val="91793185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435496-342B-4A86-9294-4322A48E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691A07-8ED1-4A66-86F8-A31819E1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COMPILER CASCADE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F73322-7CE7-4775-B66F-BCADB2DF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Six independent rejection points make abstention observable and auditable.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73E4AC-31A5-4FC2-B1F3-4B64719D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06E21-BB09-4B87-AC30-51F8E29C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9E89A-9276-4092-B748-41C51B6D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0CEC1C-F54B-4FEB-957C-21663626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2164FC-8C7F-41ED-B1E6-911D48C0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98DCDA-1799-41D4-8C37-39B556A7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Partition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B1A1E-9722-4E71-A027-A70B0AE7E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compatibility key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9F9FCE-FFCB-471C-828E-D053EEB1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63A5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A5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8F9F3D-4A5C-4B18-88F4-D67D0A7B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5F9B42-0D01-4ACB-89A0-8177FA2B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DAEA15-2D22-44AE-8848-CA65B9BC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Provenance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857ABF-5CEB-4FCA-822D-7D980C0E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ground arguments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F9BE56-FD01-4BAE-A022-3725C517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63A5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A5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C2CB55-726D-4C44-BC74-14844A31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0D2AAD-8772-4E22-B065-35DD2BA6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C9BBF6-71C0-4ABA-9875-43130BE3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Mine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3B8E55-7A25-4661-A7D3-0F3473C2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recurrent prefix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E1D614-98A0-4897-90ED-450BF8EF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63A5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A5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4748C7-B35F-4F3A-B885-94E6C170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3EB203-0456-4A67-AE7E-D18F6D3A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0E63A6-3D4A-4A67-B704-77FF51A7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Feasibility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73E462-671B-4CEB-A52F-46E21F5E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effects + position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F31766-1D7C-40FD-8671-7A721B9E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63A5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A5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866022-5482-431B-BDDE-43BDD873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96A80C-8EC0-4DCB-B62E-7DEBAE78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4387CD-DD61-4B1F-8B7C-DDFF922F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Synthesize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08BBA8-78CD-46FC-B420-FEE7295E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closed 23-op DSL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B259D8-8A0A-4AD3-9523-C17CBDD4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63A5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A5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949DE3-C936-437D-AF77-EE66DED7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09550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D5A11B-4A76-4EEB-ABE3-341EC265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47900"/>
            <a:ext cx="438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DAD1DB-F72A-4D85-8442-D4AD3303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7241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Calibrate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6CBF65-D99E-402B-9CE6-4201F088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05150"/>
            <a:ext cx="1257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exact risk gate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417BB6-D8EA-4179-ACA9-AA0E36CC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109347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9525">
            <a:solidFill>
              <a:srgbClr val="E0564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B8538B-26E7-402F-A12B-574EB156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71975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RETIRE PATH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568571-D01E-4C93-BB32-33663173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324350"/>
            <a:ext cx="876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A rejected family is retained with a reason; no stage can statistically override a structural barrier.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C40324-8D25-468A-AC2C-F502958D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95825"/>
            <a:ext cx="800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This converts compiler refusal from an error into a measured result.</a:t>
            </a:r>
          </a:p>
        </p:txBody>
      </p:sp>
    </p:spTree>
    <p:extLst>
      <p:ext uri="{BB962C8B-B14F-4D97-AF65-F5344CB8AC3E}">
        <p14:creationId xmlns:p14="http://schemas.microsoft.com/office/powerpoint/2010/main" val="16043373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1360B9-ED8D-4E45-9E08-7B847A56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9CDC6D-B2C5-44F7-9F68-523E06DC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RUNTIME SEMANTICS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4CC40-991B-452A-813E-A778A9CE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Fallback is exact only before the host has crossed a clean commit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967436-4EB9-4405-A7C6-361A6E8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323FB-EA01-4594-8645-F13A69ED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C57C8-5B63-4553-B280-92C62DB9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B098E2-066B-4427-9E02-C39D0CE5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165D0F-4D42-4583-A0B2-34E4A067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RESOLVE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B9825-F582-404C-BFB3-4C098E60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219325"/>
            <a:ext cx="304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7F1AD-1877-41ED-8F4A-BAE66968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2B6C9-1536-4B12-903A-654FC68BB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GUARD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12D8F-9C94-4C3C-B726-F3C8C418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19325"/>
            <a:ext cx="304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49494-140C-4F14-8615-B81FD529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694515-C696-455F-A5EF-89043B2C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E2FCCC-6846-41CA-BB64-7DEF30F6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19325"/>
            <a:ext cx="304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384501-AB1A-4C82-8C1D-F2F38D80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2C120B-78EC-4B94-9EE1-C3B96C14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STAGE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5224F7-2783-4915-88A6-AB8669C7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19325"/>
            <a:ext cx="304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4DFC7D-DC26-481F-A69B-DE1CE225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34BC31-2211-4636-A87E-B815D1D5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INTERPRET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D9794A-3338-470C-8C6B-6BEC63C9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19325"/>
            <a:ext cx="304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2AD0B0-3838-40E2-BF91-4D088D04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288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9DE296-C145-4CED-907B-FDB4A385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95525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E0F548-7EE3-4981-A38E-F439A15F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6B590A-A3CD-4DBB-904A-CE1627F6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480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BEFORE COMMIT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93CF1B-D2D9-430B-9933-9B55278F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1581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guard miss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gate miss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clean failure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7EAFC6-B34A-4EE3-A7A6-466BC82A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962400"/>
            <a:ext cx="1181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→ unchanged</a:t>
            </a:r>
          </a:p>
          <a:p xmlns:a="http://schemas.openxmlformats.org/drawingml/2006/main">
            <a:pPr algn="r">
              <a:buNone/>
              <a:defRPr sz="112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8DC141-3F1D-4B96-8548-7BA61C80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38500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255779-A18E-4F51-B907-2DE9C824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480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AFTER CLEAN VERIFY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78181D-55E9-4F2D-B489-EA8015C0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790950"/>
            <a:ext cx="2762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checked artifact output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3C1ADD-3A9C-4137-AD08-303632EF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67200"/>
            <a:ext cx="15525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→ compacted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275510-2177-4B3F-BE3C-78877E35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38500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9525">
            <a:solidFill>
              <a:srgbClr val="E0564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36D38F-6A92-4472-AA1B-A0E46FBA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480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DIRTY FAILURE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BA78BE-700A-42A6-80A1-4975F947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90950"/>
            <a:ext cx="2762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write or external effect may have committed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459EBE-1847-48C7-8D35-631E3B2E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267200"/>
            <a:ext cx="1628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→ incident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B580E7-94BF-4A14-9017-5FC352CF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67325"/>
            <a:ext cx="9753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9DB0C8"/>
                </a:solidFill>
                <a:latin typeface="Georgia"/>
                <a:ea typeface="Georgia"/>
                <a:cs typeface="Georgia"/>
              </a:defRPr>
            </a:pPr>
            <a:r>
              <a:rPr sz="1650" b="0">
                <a:solidFill>
                  <a:srgbClr val="9DB0C8"/>
                </a:solidFill>
                <a:latin typeface="Georgia"/>
                <a:ea typeface="Georgia"/>
                <a:cs typeface="Georgia"/>
              </a:rPr>
              <a:t>The model-boundary adapter cannot un-emit host history; the outer runner owns exact restoration.</a:t>
            </a:r>
          </a:p>
        </p:txBody>
      </p:sp>
    </p:spTree>
    <p:extLst>
      <p:ext uri="{BB962C8B-B14F-4D97-AF65-F5344CB8AC3E}">
        <p14:creationId xmlns:p14="http://schemas.microsoft.com/office/powerpoint/2010/main" val="203388854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15F995-EF43-4515-8AD2-FD5DE9F4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D09792-F48F-4530-A76A-97178A98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EVIDENCE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FD44B-AA78-45CF-9CE5-42608CCB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Three tiers answer different questions; none substitutes for another.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22456-380C-432D-BA32-DC75534C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6E9F2-3EC1-4429-8078-00415AEF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1C019E-6809-4BEF-8303-4B7B6C55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84A35-429B-4BA1-B043-5FECE01D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76450"/>
            <a:ext cx="33337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108F5-4614-4FA1-B7A0-A2B8E272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76450"/>
            <a:ext cx="47625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2CF6C4-6C7E-4287-B18C-E7612A85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TIER 1 · NESTFUL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55E832-0901-4DDF-8A27-C5C09A68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1460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1,415 episodes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31EAE2-36CE-41EB-8BBE-0EB37694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29337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Public executable benchmark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Tests provenance, synthesis, replay, and statistical retirement.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Provider-free; not a planning benchmark.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76BB3-6799-43FA-96F5-D08FC06D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76450"/>
            <a:ext cx="33337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359237-8582-4CF4-9C6A-0B2F9D2D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76450"/>
            <a:ext cx="47625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94A7C5-9F66-401A-9055-E2EFCD73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4790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TIER 2 · GITHUB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DEF8B1-3B8A-4095-9373-5CBAD67F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51460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132 → 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24D5D2-01ED-4B7F-8E5F-B9637DC2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009900"/>
            <a:ext cx="29337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Real public issue records + live provider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Tests quality, requests, tokens, latency, cost, and depth sensitivity.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Primary confirmatory study: 30 fresh records.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37DC81-7EF0-481F-8461-4387096B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76450"/>
            <a:ext cx="33337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5A4F6B-3F5E-447F-9482-BA61616C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76450"/>
            <a:ext cx="47625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B41233-A7B6-4576-AF36-6AA804B7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4790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TIER 3 ·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10EA69-1454-4C46-8EF4-E7764AE8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1460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8 conditions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2F117F-FAD1-414E-9BDE-79A0BCC3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09900"/>
            <a:ext cx="29337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Real SDK/runtime + live provider against deterministic local services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Tests branching, pagination, writes, handoffs, refusal, and routing.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Business records are fictional.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92E131-4F05-4BEB-B582-715D45DE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524500"/>
            <a:ext cx="9105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3C56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3C56B"/>
                </a:solidFill>
                <a:latin typeface="Arial"/>
                <a:ea typeface="Arial"/>
                <a:cs typeface="Arial"/>
              </a:rPr>
              <a:t>Multidomain evidence remains preflight-only and is excluded from optimization claims.</a:t>
            </a:r>
          </a:p>
        </p:txBody>
      </p:sp>
    </p:spTree>
    <p:extLst>
      <p:ext uri="{BB962C8B-B14F-4D97-AF65-F5344CB8AC3E}">
        <p14:creationId xmlns:p14="http://schemas.microsoft.com/office/powerpoint/2010/main" val="5210468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7AE5FB-5E79-490E-AC50-7683E231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AA862-39DB-4746-88C3-10EC8ED1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REAL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4D943-59ED-4D7D-9EB3-B48607EA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A path can recur 132 times and still contain an argument the trace cannot justify.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13359-7698-4A0E-B377-0AB3B13F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1CEA2-C9C2-4557-8F5F-D2DCAE29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178E2C-B8E5-47EC-96C0-EBD31B02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F382BC-803B-4112-95C4-F7BB510D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0750"/>
            <a:ext cx="2095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7B7975-3F3A-4B94-AA00-79FE6F26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Read issue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EE43C3-B2EB-4450-8217-6C04D25F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38425"/>
            <a:ext cx="1790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issue number ← entry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7CB6F-0921-4EBE-888F-D846485A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5745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65FB4B-311F-4E03-B4B4-B6F5E10A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190750"/>
            <a:ext cx="2095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29D703-F6CE-4421-A1CE-28BC4E39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431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Read labels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C3F37-1D7F-4C28-BB93-4098E65B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38425"/>
            <a:ext cx="1790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issue number ← step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1DC86-05F4-4114-A740-39153680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5745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40B530-58EF-43D5-B44E-D0152325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90750"/>
            <a:ext cx="2095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04AE2F-FC6E-4548-8AF6-280484BA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431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Read comments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8512AE-B78A-4CAD-893E-D815A8ED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38425"/>
            <a:ext cx="1790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limit = 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CA9DEB-8346-4B83-AAB6-8A3C3E52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57450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E8CB7F-729A-4AF5-A5CD-920F0E55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190750"/>
            <a:ext cx="2095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170C71-F199-4280-8CF0-31DAD2A2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431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D039E2-1CDE-4349-83F7-C4F3C6A2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38425"/>
            <a:ext cx="1790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model continuation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00B40F-C00A-4907-8839-0B10DC54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71850"/>
            <a:ext cx="2095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9525">
            <a:solidFill>
              <a:srgbClr val="E0564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B7CF25-0518-48F6-B0D3-C3AB2DC1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1828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UNGROUNDED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02AC7C-A8A5-4010-92FA-53AE90CB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29050"/>
            <a:ext cx="1638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no stable expression for comment limit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144F08-6E3D-4BF5-B904-F6497ABF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132/132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15ABE0-AC49-4E78-8129-7E7E19EC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same three-read order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39426C-36FE-44DE-837D-94900CD4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130/132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8FEC62-D3F6-4E3E-A51B-49C65A25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340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exact-source task pass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16E88A-2CC3-47EC-9C92-10BCED42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7625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2 reads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775CFA-729C-4198-A3F0-AAD21EBF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3340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compiled prefix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3005EB-9F58-4616-812A-C2EF7DFA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7625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08A7F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08A7F"/>
                </a:solidFill>
                <a:latin typeface="Georgia"/>
                <a:ea typeface="Georgia"/>
                <a:cs typeface="Georgia"/>
              </a:rPr>
              <a:t>1 read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FC800E-9FCB-4559-B2F0-C1D120FF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340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left to the agent</a:t>
            </a:r>
          </a:p>
        </p:txBody>
      </p:sp>
    </p:spTree>
    <p:extLst>
      <p:ext uri="{BB962C8B-B14F-4D97-AF65-F5344CB8AC3E}">
        <p14:creationId xmlns:p14="http://schemas.microsoft.com/office/powerpoint/2010/main" val="145784739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C7A9BD-F7F7-4873-8815-5174210B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C374F8-39D8-45CE-A549-6B3432F6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PRIMARY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82725-D5D8-4F2C-BE91-1D80F3DA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groundable two-read prefix halves model requests at 30/30 observed quality.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6EB43D-8DD7-4232-8D91-C18D5916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3C0AE-50B8-4A42-8DBE-4B93D328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37714-081C-4F83-9A8F-6AD1E312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86EE4-5C70-450E-809A-A30AAED5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2143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30/30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767996-5248-43A2-BDEC-F126AD1E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exact factual + task contracts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67E969-E8E8-4586-92ED-4EDEA3737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981200"/>
            <a:ext cx="2143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−50.0%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FDDE92-C8D0-4766-9631-0FF3A548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52700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provider requests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32C4E-90D4-4350-88DC-C2E826D8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981200"/>
            <a:ext cx="2143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−39.5%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0FFC3-D093-482E-82E4-16E3AF1D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552700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total tokens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DE5FC5-1603-4C06-BD0D-403D704A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81200"/>
            <a:ext cx="2143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−51.7%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B4A4FF-2163-429B-A20F-D7506A33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52700"/>
            <a:ext cx="2143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observed wall latency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F81A1E-14D7-4432-BD1F-CF4356AE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Provider requests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E07677-5269-4EAB-A500-2FCF7FF2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590925"/>
            <a:ext cx="514350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4B747C-34D9-4375-8F1F-DD5D660B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590925"/>
            <a:ext cx="25717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B522C6-DC92-457B-9827-24DC12FA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55282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50.0%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20CB06-04AB-4E53-91AC-B3BE8A02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Total tokens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7CD785-F9CB-4667-AE29-AF932CFA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29075"/>
            <a:ext cx="514350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B01B82-DDD1-49E3-8440-9E73EEE0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29075"/>
            <a:ext cx="2031683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60D2CF"/>
          </a:solidFill>
          <a:ln xmlns:a="http://schemas.openxmlformats.org/drawingml/2006/main" w="0">
            <a:solidFill>
              <a:srgbClr val="60D2C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6A85A3-CA76-4819-87B7-9EDD6AFD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909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39.5%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1A8DB9-C404-4703-85B3-9CED30B1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3865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Wall latency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7E0C04-0DA5-43A7-BFFD-99CCC04B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467225"/>
            <a:ext cx="514350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FEC39C-34C9-40F4-9FF2-98442207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467225"/>
            <a:ext cx="265919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1F4428-7CF3-4368-8879-93B7B54A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42912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51.7%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33BF21-98F7-4B7B-BEC6-4AB839ED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Estimated cost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BF17EA-0B06-4118-84CD-766F93DA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05375"/>
            <a:ext cx="514350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7B44B7-5666-400D-83DE-D1BCEA40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05375"/>
            <a:ext cx="164592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3C56B"/>
          </a:solidFill>
          <a:ln xmlns:a="http://schemas.openxmlformats.org/drawingml/2006/main" w="0">
            <a:solidFill>
              <a:srgbClr val="F3C56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D85DC8-788C-4363-98E4-08F4D217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672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32.0%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825F49-E2F1-432E-8F3C-2193CD53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62350"/>
            <a:ext cx="21907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7E0646-EE1F-425D-B84C-1662B9D3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6235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241045-43CF-40C3-A257-BBFD2824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733800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WHAT STAYED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623160-41D9-4309-AAAB-88F224C6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000500"/>
            <a:ext cx="1790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0% tools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32F862-25BE-43B0-A165-832CAE1C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495800"/>
            <a:ext cx="17907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Three necessary reads remain. The compiler removed repeated model choices—not evidence acquisition.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D0AC68-9494-46F8-B4FA-91F37B41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62625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Observed preservation on one domain; the 95% upper bound on compiler-only discordance is still 9.5%.</a:t>
            </a:r>
          </a:p>
        </p:txBody>
      </p:sp>
    </p:spTree>
    <p:extLst>
      <p:ext uri="{BB962C8B-B14F-4D97-AF65-F5344CB8AC3E}">
        <p14:creationId xmlns:p14="http://schemas.microsoft.com/office/powerpoint/2010/main" val="207816765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9B3F45-BACD-452A-A8F9-75BFE5EB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2EE161-DB90-4992-98D7-F0333975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COMPARATOR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C78842-11C2-44DF-8D7F-6A7F153F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For this fixed workflow, hand-written composition remains the stronger baseline.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B09FC5-F8F2-4FFA-ABDA-2C89C5F6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D63F8-82F0-4086-8957-F26C3C33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DF6ABD-B581-4E7D-B33B-184B0EE7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9E5B92-CFE7-43B2-8AA0-0B84ADE4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RELATIVE TO UNCHANGED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711D5-E847-43A5-BB30-EC85979B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Requests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CE99C0-C9EF-457E-A861-02602425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00300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AE41D5-9A98-419E-BC51-CE9A7B81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00300"/>
            <a:ext cx="2925536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3A714C-8671-4A14-826B-35E579BD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5267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compiler 50.0%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A748E8-6BAF-4D9C-8E60-DDEA39C8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76525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A0F5C1-304E-4B3C-B9EF-5081D94B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76525"/>
            <a:ext cx="2925536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F4F847-426B-494D-9709-E422C325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 50.0%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B4E80C-2CFE-4602-8310-A2BE19E0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Tool calls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E1C9E7-70B8-4F75-8964-26971543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1350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504934-973F-4D97-A7EC-ABAE8059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1350"/>
            <a:ext cx="0" cy="152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4F92FE-E404-4CB3-83B9-0F1980C7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3372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compiler 0.0%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71EFEE-37FD-4222-B256-9D411CD3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57575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81AE7A-561F-495D-AE4C-DF428ECD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57575"/>
            <a:ext cx="3902665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6A0D04-F8E1-463A-87B7-87015365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099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 66.7%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F80F7E-88DA-4CCA-AEDF-C6518872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433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Tokens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BE8ACE-B40B-42EB-8A1D-39F344DB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62400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25AD77-A7B8-473F-B9FB-79878401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62400"/>
            <a:ext cx="231117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BFD918-7FE0-4D04-A509-1947C8C5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1477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compiler 39.5%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694AE0-596D-4EC6-B20C-04E732B4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38625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6FA406-0EC3-44CD-86EF-FA79BC94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38625"/>
            <a:ext cx="3405324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9D6E82-99C9-4AD5-89CD-B4015DAF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910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 58.2%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30B5F9-DDA4-4CBE-8806-09B3EC2F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Cost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EAEBC2-0070-4658-97A8-FF63836F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43450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A2C5D5-217C-48B1-A848-3972B659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43450"/>
            <a:ext cx="1872343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3AB90A-FB96-48F8-82C6-3FEAD9E7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9582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compiler 32.0%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6031CB-F067-4D2E-97C4-80BD5866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19675"/>
            <a:ext cx="4095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377385-A8AF-408D-A88D-F85E1022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19675"/>
            <a:ext cx="2194152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895323-BA11-4F5A-8976-011445A7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720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 37.5%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B5392C-BFD2-4855-9953-10F03DFC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62200"/>
            <a:ext cx="32004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ECD076-938D-46EB-944F-3A936B50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62200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77B03C-C6DF-427F-91E2-FB28F642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533650"/>
            <a:ext cx="2800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A9D447-E0C8-4AB6-8276-18E6E1F9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800350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Macro wins 3/4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50A5AB-10DB-44B0-8178-EE1ABED9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295650"/>
            <a:ext cx="28003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Both arms pass 30/30. The macro matches request savings while using one tool call and fewer tokens. The compiler's lower observed mean latency is uncertain because its paired interval versus the macro crosses zero.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A37464-43E7-4D2E-8FE7-53EC342A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772150"/>
            <a:ext cx="883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Learned compilation must beat—or justify itself against—ordinary software composition.</a:t>
            </a:r>
          </a:p>
        </p:txBody>
      </p:sp>
    </p:spTree>
    <p:extLst>
      <p:ext uri="{BB962C8B-B14F-4D97-AF65-F5344CB8AC3E}">
        <p14:creationId xmlns:p14="http://schemas.microsoft.com/office/powerpoint/2010/main" val="148853450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A8DFBE-2B21-42AF-897C-A747E31A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FBBB2-3398-4011-9E83-67AB10F9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DEPTH ABLATION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B3140-47F0-4A73-AAB3-7CFE9012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One extra compiled read bought efficiency—and lost a factual contract.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E95F8-7614-4CC7-997F-DD997288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10A7FB-95BA-4E16-85B3-591C0D53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A5D33-1D67-4C81-B033-32FD9B3C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BE77B6-92AA-47C2-8A86-486DC0E4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BAE54C-7AFD-478E-A93E-FC48E54A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8AE18-218A-4CC7-8C0A-B6463D79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436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TWO-READ PREFIX · PRIMARY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63D9E4-B26F-4722-957F-78F95C79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4362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30 / 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311938-6683-43FB-99A9-74DABCDC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43624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Grounded issue + label reads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Agent retains comments and answer generation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Observed factual contract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C20745-6587-4159-98F6-D5BBFD9F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Requests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94B7ED-B5F7-44AF-8F9D-2FC77836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133975"/>
            <a:ext cx="14287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EFA0F4-D267-4F21-9543-6CCDF440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133975"/>
            <a:ext cx="714375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78BC33-830F-4C2C-B798-F772BE42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0958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50.0%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DF57D2-A841-4A37-B429-2774904E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7645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3937EA-1E57-4126-B898-FBEA12F1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76450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2DB82D-9871-460C-B6A0-6DA5C0C3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436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THREE-READ PREFIX · EARLIER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F79B12-8B06-4D0C-8FC6-DDFF602E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14600"/>
            <a:ext cx="4362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17 / 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CF5490-AD25-492A-AC2E-2C9ADC60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09900"/>
            <a:ext cx="43624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Compiled comments despite continuation risk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Issue 6602 drops a Markdown URL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Observed factual contract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16F87-A595-47B8-9BC2-6A2FA0B3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054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Requests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538F78-BCF3-4B05-9B07-A36CB1BC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133975"/>
            <a:ext cx="14287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F3BD6D-48F3-46F1-8B07-8D582AAF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133975"/>
            <a:ext cx="1071563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E4EA94-B057-4477-8691-E79DF48B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0958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75.0%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2C165B-F2E8-4096-B311-3F68377D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086100"/>
            <a:ext cx="933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2F4B24-084E-4237-A11A-4683168C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581400"/>
            <a:ext cx="1162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+25 pts saving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6BDB75-26D7-450F-A0FF-5BB5B58F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943350"/>
            <a:ext cx="57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93AD15-A780-4450-965A-D0C4775E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8674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The calibrated tool program does not certify the downstream model continuation.</a:t>
            </a:r>
          </a:p>
        </p:txBody>
      </p:sp>
    </p:spTree>
    <p:extLst>
      <p:ext uri="{BB962C8B-B14F-4D97-AF65-F5344CB8AC3E}">
        <p14:creationId xmlns:p14="http://schemas.microsoft.com/office/powerpoint/2010/main" val="71358645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82105A-F6E2-4697-98D3-AB6F0C33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59E0F3-1CFB-451C-AC0D-AA1A48A6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PROSPECTIVE PORTFOLIO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3D396C-7541-49FF-94D4-760958A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Frozen paired evidence selects a review action—not a claim of universal superiority.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78D74-2AB1-4020-A396-DD7E3482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BE48B-FE92-4097-9CDE-D5676194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AC6EB2-3FE0-4E7D-832F-C34738FE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A5210B-25DB-4B1B-AA9C-6EB6B58C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3143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30 independent calibration groups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DB08F6-AFC8-4555-AF67-B65AA826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Compiler utility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5D281A-567C-465E-B019-ADCC4B51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05075"/>
            <a:ext cx="37147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D8CCE8-1821-45FD-8FFE-20AEE020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05075"/>
            <a:ext cx="1214723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CF061C-8246-40A6-B090-0FF76FA7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4669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32.7%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D0704C-8425-4F65-91D7-E55AEE85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Macro utility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A5824A-08F2-4C17-9C23-A07F5975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38475"/>
            <a:ext cx="37147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5E73EF-C0DC-45CF-82DF-D764435C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38475"/>
            <a:ext cx="1816513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787961-8E30-490F-9E33-5E398A3A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003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48.9%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3C204C-8446-4277-85C7-CCF909D8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52700"/>
            <a:ext cx="3619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0">
            <a:solidFill>
              <a:srgbClr val="2B18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F5459C-A2A9-4BBA-9D57-6CE395C7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193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 SELECTED · HUMAN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BEAD7A-31CB-475D-B78D-4B0CD853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289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decision + weights + compatibility key + source digest frozen before fresh records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869B00-E615-4204-9D3E-507D3652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8036B-EC67-4D73-B4E8-F12E4B4F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86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12/12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B39230-DDB3-4FEF-B116-317DD9E8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fresh factual + task pass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3FE117-E270-41B4-A0C5-AF334350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286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−50.0%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3BCCCC-7900-4082-994A-99154CC3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57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provider requests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32D805-5DC7-40AE-A70D-2750BD3D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286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−66.7%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1BF4F2-ABEC-4546-8E8B-FD065294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857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tool calls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E245AD-28ED-4FDB-8072-CBE978BE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86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−59.2%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DCB6A8-6A5B-4767-B3DC-D69CCA2E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57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total tokens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778526-EF5A-4AE4-A3B2-D4189F2B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286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3C56B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3C56B"/>
                </a:solidFill>
                <a:latin typeface="Georgia"/>
                <a:ea typeface="Georgia"/>
                <a:cs typeface="Georgia"/>
              </a:rPr>
              <a:t>−40.6%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8FA5F5-BCAA-450A-BB7B-DB09B042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857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estimated cost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2EA38F-1D99-4FD0-B775-00D7142F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810250"/>
            <a:ext cx="914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One workflow family; no evidence yet that portfolio selection outperforms a static always-macro policy.</a:t>
            </a:r>
          </a:p>
        </p:txBody>
      </p:sp>
    </p:spTree>
    <p:extLst>
      <p:ext uri="{BB962C8B-B14F-4D97-AF65-F5344CB8AC3E}">
        <p14:creationId xmlns:p14="http://schemas.microsoft.com/office/powerpoint/2010/main" val="7453438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2E57ED-579B-413B-A8E5-CD94540B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37FF6F-8CA6-432C-89FB-93E5B141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NESTFUL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F1973-9429-47BA-B3AA-EE5B5DDD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true producer is usually found—but rarely justified enough to ship.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110FB-8DAF-46E5-A916-0986A2A0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AF99B2-72AE-47F2-AD5F-AC6EDED8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AF677-6C68-465B-9469-6715E2E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0D0413-E435-4D8B-AFF8-E892DD8D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96.3%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AD508-08D5-45F0-B9DB-301B70CE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2381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expected producer in candidates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30C26-6399-44BF-A2F7-26C9EB9F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6215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08A7F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08A7F"/>
                </a:solidFill>
                <a:latin typeface="Georgia"/>
                <a:ea typeface="Georgia"/>
                <a:cs typeface="Georgia"/>
              </a:rPr>
              <a:t>80.7%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1021DE-30A6-40B2-91FF-C04F0F35F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33650"/>
            <a:ext cx="2381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unique producer resolution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0AF320-506A-4865-8832-15BBA461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24 / 12 / 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C91396-7F5B-441C-9164-9E19B99C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33650"/>
            <a:ext cx="2381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pass / abstain / wrong replays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38B056-E9A9-4F2C-ACE3-BDDF1581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6215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1,415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41E436-EEC4-466C-B644-D01C64E8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33650"/>
            <a:ext cx="2381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executable episodes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F4D5BB-BC9B-401C-BCB9-11BCED8A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43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Calibration support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DAF64D-8D66-4E1E-B50E-3E7135C9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9429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B75F10-7000-4176-B858-EDA5A9AB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2664929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A19B96-9454-4E02-80EC-B4C6A15D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max observed 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417B02-57B2-48D7-83B3-49F008C4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838575"/>
            <a:ext cx="285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E2AEDE-9912-4600-B3AE-3411CB0C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51485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required 92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7E3C7C-FEEA-4CBF-84E2-8CD91DB3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53000"/>
            <a:ext cx="3467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0">
            <a:solidFill>
              <a:srgbClr val="2B182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42EBF-34BA-482C-AF1C-56C22706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1967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ALL 714 FAMILIES RETIRE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C7A227-2654-4E60-9535-AB95C2BB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619750"/>
            <a:ext cx="8686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High candidate recall is not unique grounding; correct replay is not finite-sample certification.</a:t>
            </a:r>
          </a:p>
        </p:txBody>
      </p:sp>
    </p:spTree>
    <p:extLst>
      <p:ext uri="{BB962C8B-B14F-4D97-AF65-F5344CB8AC3E}">
        <p14:creationId xmlns:p14="http://schemas.microsoft.com/office/powerpoint/2010/main" val="195387077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90B14D-A4C6-4DFA-8EEC-706CC957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B6EE6-45B0-4D07-B260-A7CF8B11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OPERATIONAL SHAPES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234BF-1A72-4441-AF65-87ED717A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correct optimization sometimes stops before a write—or refuses completely.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3C80D-7B8D-4E06-9EFE-D985173F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95558-038F-4F31-953E-96E53841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4266FA-C786-4B40-BEFC-B5B38177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362C47-0429-47CF-9D20-7D4D6BF6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238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CC21A-8C28-413D-8528-D48E3D68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4705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PARTIAL COMPACTION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8ABE46-C0FC-4ED2-8F54-AD9A1ED4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09900"/>
            <a:ext cx="876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C88C6-3C4B-4F50-B02F-33D34727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765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D3B93E-6280-45C9-9A2E-9B811EFB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009900"/>
            <a:ext cx="228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763A7-D27A-41B5-9439-E90F75B8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009900"/>
            <a:ext cx="876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063AA5-02A7-48A9-BB23-1CAE824B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0765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BRANCH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F6301-67CC-4CE8-B5C2-E1AE56AA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9900"/>
            <a:ext cx="228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3AAA86-AAF5-4CD9-A5C8-F7913708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876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9A899-1461-44AC-B82C-B82AA5CC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765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DECIDE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0B3E0C-721E-420A-9E21-D832FECE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009900"/>
            <a:ext cx="228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AC9740-3C8D-4EBE-BF50-98A1150B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09900"/>
            <a:ext cx="876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29E6A2-2BEA-42EE-A978-3EB416E0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765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WRITE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7FF94E-EF75-4AB9-8DFD-6EDAF22F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528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compile evidence turns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7363AA-EA38-4612-AFF1-35ACACC8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752850"/>
            <a:ext cx="2381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retain decision + irreversible write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361481-02F6-4E72-810F-79F493CED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29150"/>
            <a:ext cx="447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Demo E: model calls 7 → 2; quality unchanged.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D51ECC-9E0C-4593-8F14-91787F8A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81200"/>
            <a:ext cx="5238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3423D9-4E95-4B45-91D3-9C2666F2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09800"/>
            <a:ext cx="4705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REFUSAL CONTROLS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4A199-4540-4D5F-A538-3DA2DAA3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1390650" cy="14287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104ACF-900A-40D5-8C01-CC96EECC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026E74-FC35-41C5-8176-C40E08A0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57500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MCP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B12774-0F12-4A28-8FB9-94D2FCC3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62300"/>
            <a:ext cx="990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undeclared effects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D71C39-CBBA-4797-8AD5-5F7062D2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86050"/>
            <a:ext cx="1390650" cy="14287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EB0164-4F38-4100-84AD-72E29A3F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860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51BE56-178D-4396-8054-08FA2ED8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57500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LOOP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DAA660-AEB9-4302-8632-A002631D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62300"/>
            <a:ext cx="990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adapter cannot advance safely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85AD84-6116-4084-A552-0D0B6299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86050"/>
            <a:ext cx="1390650" cy="14287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298D72-912A-45A0-A5E5-92C7D9BD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860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9E2EC0-907D-4F1F-A246-43DA664A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57500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DRIFT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B168F6-4BB4-4504-9872-3ABF0E0C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162300"/>
            <a:ext cx="990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entry schema mismatches pin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2C4B5A-FA4D-4F30-8AE9-75771A4E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2915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Each returns the exact baseline model-call count at unchanged quality.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5C8363-5F7D-4736-8968-25AA3A924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57875"/>
            <a:ext cx="853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9DB0C8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9DB0C8"/>
                </a:solidFill>
                <a:latin typeface="Georgia"/>
                <a:ea typeface="Georgia"/>
                <a:cs typeface="Georgia"/>
              </a:rPr>
              <a:t>A refusal is a successful safety outcome, not a missing benchmark win.</a:t>
            </a:r>
          </a:p>
        </p:txBody>
      </p:sp>
    </p:spTree>
    <p:extLst>
      <p:ext uri="{BB962C8B-B14F-4D97-AF65-F5344CB8AC3E}">
        <p14:creationId xmlns:p14="http://schemas.microsoft.com/office/powerpoint/2010/main" val="73823224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53FBF9-D985-4454-82A6-B6FB1EA8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BBEFD7-94E6-4674-8BA4-D706C77E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COST REALITY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340954-727D-4ABB-A396-5FF0945E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Fewer tokens can cost more when compaction destroys a warm prompt prefix.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446EF-540B-46CB-AAB8-3D2170C3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89FCB-5744-4850-A43C-5020654E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FB2473-76ED-4DD8-AFBA-2E89A2FA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5E8091-B4CF-4A34-A236-D503CC2D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9B2E8C-C9BD-43E6-893C-57B4962F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422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BASELINE LOOP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7B1D54-3613-4BA1-9A2E-9B0A6BA1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289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long prefix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CA62C0-F768-4BC8-BA17-AB14D708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981325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346534-85F9-4735-8575-6225925F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003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 cache write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AFF303-BDFE-4C2A-B6CB-30E129C6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4290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+ repeated cheap reads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A46F62-0FBD-4967-805F-909C97DF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0"/>
            <a:ext cx="4000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96–98% cached-input share in comparable baselines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464AF1-A594-4590-9CA0-C86A31CA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3360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EEE2D-18B1-4B05-8EEF-F2C87623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62200"/>
            <a:ext cx="422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COMPACTED ROUTE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118947-1D04-4F01-A972-7C43B6EF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289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new prefix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D1F0AB-3118-45D4-B072-DB9BB8BA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81325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9D878-0517-4618-A970-8AF95992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003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cache write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B8E44C-CAE9-46DB-88F7-0E75C5B7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290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3C56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C56B"/>
                </a:solidFill>
                <a:latin typeface="Arial"/>
                <a:ea typeface="Arial"/>
                <a:cs typeface="Arial"/>
              </a:rPr>
              <a:t>little amortization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247E99-F8E7-4998-A07F-23DBC776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00500"/>
            <a:ext cx="4000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Demo F: −16.8% tokens yet +123.0% estimated cost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49524E-3D4B-4DE9-B578-73652964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1975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1725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Optimize the invoice, not a token proxy—and counterbalance cache warmth.</a:t>
            </a:r>
          </a:p>
        </p:txBody>
      </p:sp>
    </p:spTree>
    <p:extLst>
      <p:ext uri="{BB962C8B-B14F-4D97-AF65-F5344CB8AC3E}">
        <p14:creationId xmlns:p14="http://schemas.microsoft.com/office/powerpoint/2010/main" val="125163728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091C4B-1E0E-4861-BAD3-CA4E291F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30E512-7742-4E96-9422-43FBFF73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ASSURANCE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3165C0-8D59-406C-A91F-3631DFB1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artifact is reproducible; the evidence is not production certification.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6CF010-2B40-4899-93FB-F7D9AA91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4AE67C-7749-4782-B9BC-BCFE1FF5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Guarded agentic compaction · paper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4D6C6-E709-48F0-804D-597F7A2B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96244-3462-4B4C-A3D3-5C9D0EFF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3337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E7D68-2F30-4D2E-90F7-17589A77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4762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37818E-C791-4E0F-9A6A-D0ECA123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VERIFIED IMPLEMENTATION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6C5DB5-4A84-4F6C-9CF3-C68DEC06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311 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1C88FF-FB13-4B47-A17D-32713880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2933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Canonical atomic JSONL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Strict typed Episode IR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OpenAI Agents SDK adapter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Compiler + runtime + portfolio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Continuation guard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472E8-B08C-4D09-9182-A8053C6B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95500"/>
            <a:ext cx="33337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20D753-7168-4539-A3E0-84FA3E51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95500"/>
            <a:ext cx="4762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4D1BF-DEA4-4B8C-8476-2842B883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6695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ARTIFACT INTEGRITY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59AB21-A80A-4023-B34B-3597A983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53365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1,292 checks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0DC64E-5FC1-4E4E-AB4B-23FEB70F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028950"/>
            <a:ext cx="2933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Two LaTeX builds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Claim/evidence validator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Sealed result digests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Provider-free reproduction path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No MLflow dependency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35F4C2-D8AC-4078-B157-7DCE0DAB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95500"/>
            <a:ext cx="33337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B4BD76-3A50-4772-AAFA-A23636B9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95500"/>
            <a:ext cx="4762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B3E061-3604-4C14-AE5E-1B59367F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6695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NOT ESTABLISHED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2E1820-0619-4E1A-9804-1EB07C44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3365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5 boundaries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2575D-3D66-4C32-BD79-02B5E7D0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2933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Production safety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Cross-domain non-inferiority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Learned gate discrimination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Deterministic free text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Universal macro superiority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D68F17-37B2-49DA-8477-E5378BCD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Next: powered time-forward multi-domain trials, continuation admission, cache-aware economics, and drift monitoring.</a:t>
            </a:r>
          </a:p>
        </p:txBody>
      </p:sp>
    </p:spTree>
    <p:extLst>
      <p:ext uri="{BB962C8B-B14F-4D97-AF65-F5344CB8AC3E}">
        <p14:creationId xmlns:p14="http://schemas.microsoft.com/office/powerpoint/2010/main" val="88588765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A60156-8F46-48CE-AC51-3165F039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109D27-B235-4A59-B0A3-AB0A4287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TAKEAWAY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E8DC28-84FF-4810-9389-89F1FFC8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72390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Compile the grounded prefix.</a:t>
            </a:r>
          </a:p>
          <a:p xmlns:a="http://schemas.openxmlformats.org/drawingml/2006/main">
            <a:pPr algn="l">
              <a:buNone/>
              <a:defRPr sz="3225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Keep the unresolved decision.</a:t>
            </a:r>
          </a:p>
          <a:p xmlns:a="http://schemas.openxmlformats.org/drawingml/2006/main">
            <a:pPr algn="l">
              <a:buNone/>
              <a:defRPr sz="3225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Treat abstention as success.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3BC01-45A7-46B4-A606-F9B98A91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23431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D209D6-1FF0-426C-AF79-FEDE28AB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DAFB7-AEFE-4180-B7B3-0632F2B3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767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TRACES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4B721-E6C5-4221-B38A-A7E2CD5F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establish recurrence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D008-FE29-48E5-8EFE-A91AB9C9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714750"/>
            <a:ext cx="23431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862286-71EB-44EC-8F6E-30C36FB4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671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02694B-9B49-45EE-B897-4BF51B92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2767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PROVENANCE + EFFECTS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A8C528-6452-4BAE-80D7-1E704E0F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5148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establish structural admissibility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3BE2E0-8725-41D0-B2BB-4207F93D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14750"/>
            <a:ext cx="23431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72E964-2C19-4D46-81FC-6534757B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671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1528EB-F8DC-4250-AF02-2E65F00C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767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CONTRACTS + 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E0BFC2-83D4-4C26-B4BD-5868553E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148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bound observed dispatch 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E37F10-A6C4-49D2-96B5-80F608C1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14750"/>
            <a:ext cx="23431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536C24-053D-41D6-A0B5-37346DF5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8671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15E1B6-93B9-4C0A-84E0-7FE69008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2767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FALLBACK + INCIDENT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F70D46-3E56-4913-A808-3C16636B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5148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preserve runtime semantics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CDF7AC-69C7-435F-A7E7-5C9EACED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505450"/>
            <a:ext cx="37338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0">
            <a:solidFill>
              <a:srgbClr val="2B182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899AA3-0D7F-4646-97CB-98D30EBE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572125"/>
            <a:ext cx="3733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RECURRENCE ≠ ADMISSIBILITY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E66DC4-1D06-44F7-9BD1-560D328D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github.com/rrahimi-uci/agent-compaction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4BBCDD-802D-4ED7-A66B-DF0364F2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531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Questions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1A419F-5BE1-4FB8-AE17-A6DC79BE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66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Compiling Recurrent Agent Workflows into Guarded Programs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83B512-96F3-4725-BD18-AE048B9F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7999465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13EA9D-1C4B-4BF3-93F0-C90BF2B5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DEE9DE8-52A0-4816-B7EB-54B4D1F9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"/>
            <a:ext cx="476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F49F6EE-9F9F-4915-BF99-1C4EB276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APPENDIX INDEX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16558C-FA17-4298-81AF-A91E820F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Nine evidence views make the result—and its limits—auditable.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1CC81A-A3AB-4223-8A3F-FF881C55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C8AF46-62D6-48B0-ADF7-B68D315E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923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Navigation · slides 18–25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453E23-AA41-4AFD-8FE3-A3BA8185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B4C664-3600-4AAE-B95B-CF8EB111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43100"/>
            <a:ext cx="590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BCED95-20BE-4AD5-893C-3A8BDA22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9621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Absolute results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86C16D-54EF-4870-A1CC-857AB6C1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669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means · requests · tools · tokens · latency · cost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4876D3-7F98-4DCB-88F9-9B81FCC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2890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A150E0-2608-4E59-B481-D6E4CC23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943100"/>
            <a:ext cx="590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19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8216AD-1DA6-4A8B-93CC-EF0014D2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9621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Paired uncertainty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9C4C1D-4824-4487-BF24-441FC7A4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2669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bootstrap intervals · signed-rank tests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CDB4C7-8EE6-420D-A200-EEA599B0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62890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EF8B58-DBB3-4BA0-A8F5-C7AB0BB5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590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20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AE796C-C20C-497C-A3F0-6E592CFD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146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Depth sensitivity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645A8B-781E-4920-A0F3-400E1D79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194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two-read versus three-read factuality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298569-12A1-4178-BDF3-25C31320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8140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464EE6-8113-4347-BB32-2506B495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895600"/>
            <a:ext cx="590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80AAF2-49B9-410C-A500-82B6779A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9146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Determinism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BB29DE-7460-4246-8D48-B6AD7986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2194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decision · trace · byte-exact agreement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0F4C23-79AE-49DC-8A77-9D90C795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58140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B8CB46-7225-4C26-96E5-B572059C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48100"/>
            <a:ext cx="590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22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63EDB3-C417-4A8B-8BA6-6A29AA12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8671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NESTFUL funnel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F391E8-AA71-4F0E-8BF4-6089A622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719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recall · ambiguity · synthesis · gate support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460258-50CE-49F3-B655-18B11739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3390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E7089B-D632-4622-B2F9-391AD4EA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848100"/>
            <a:ext cx="590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23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4C5B31-5EA7-4ACF-A4C7-46E09392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8671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Cache economics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9DC79A-E952-4EB7-94B1-4F4AD366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1719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token saving versus invoice saving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22E829-0CA3-41B1-827C-1063BA03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53390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76B682-9B08-474F-8E68-0C77D736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00600"/>
            <a:ext cx="590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EF235A-3539-425F-A1AE-EE029B1D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196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Portfolio detail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7CB269-4B20-4AD8-BDD4-F541D088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244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calibration decision · fresh cohort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92C92F0-3E7E-40BA-9D40-94851E26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48640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49C2DD-F1CD-4BF1-AA18-51443B23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800600"/>
            <a:ext cx="590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25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A34CFD-B2C2-42AA-8CC9-DBA7068A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8196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411B2C-16EE-4533-9EF9-60598EEA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51244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evidence classes · exclusions · reproduction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15CF7A-46FB-475F-8344-826647F0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548640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C00CF9-926D-4859-AEA7-EBC86ED9B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24550"/>
            <a:ext cx="3886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32B35"/>
          </a:solidFill>
          <a:ln xmlns:a="http://schemas.openxmlformats.org/drawingml/2006/main" w="0">
            <a:solidFill>
              <a:srgbClr val="132B3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B46CFE8-C50C-421B-BE87-91230E54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72175"/>
            <a:ext cx="38862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CORE TALK REMAINS SLIDES 01–16</a:t>
            </a:r>
          </a:p>
        </p:txBody>
      </p:sp>
    </p:spTree>
    <p:extLst>
      <p:ext uri="{BB962C8B-B14F-4D97-AF65-F5344CB8AC3E}">
        <p14:creationId xmlns:p14="http://schemas.microsoft.com/office/powerpoint/2010/main" val="115602132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8C686A-69F3-41A2-8518-454B43B7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C65C7C5-CD63-4A58-B140-EE63135E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"/>
            <a:ext cx="476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346B890-A068-4F98-B7EA-C40E1C536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PRIMARY STUDY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80BBFD-AA1C-41F8-BAF4-83726744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macro is the stronger fixed-workflow comparator—even when the compiler is faster on average.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01AF02-5258-476B-8B7B-A14FEB2F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AD19A9-106C-4B9E-968B-F0A5ADC8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923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Source: paper/tables/natural_replication_results.tex · n=30 fresh public issues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F0B4B-03FB-4B85-8916-6E122FC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B234C2-C3B0-40E8-8D96-569A3966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1004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58D72B-280A-443E-BD15-8A2B66BE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85975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Condition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AED7D-83A4-4557-B8CD-213F04D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8597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Requests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5DC6FD-D681-4AA5-BC18-8535D685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85975"/>
            <a:ext cx="80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Tools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AC7063-F7EB-4555-9045-A4F30F11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Tokens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17B1D-75E5-4D42-BC48-71E22975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8597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Wall (s)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2641F1-C592-4B53-BD36-FEB50EA0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85975"/>
            <a:ext cx="1285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Cost / issue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527CCD-037E-4EA5-9122-7CDA5F2B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08597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Exact 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030DCA-65A9-4228-B88F-9A47C640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28925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0AB554-308E-4C48-BC97-F4869382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Unchanged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9EAB70-3DDA-47AD-B1E0-A0BFD3DE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2412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26B89E-F2B8-4F6A-B86A-25327A60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24125"/>
            <a:ext cx="80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315F4B-81AF-4278-8334-A7E2935E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2412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4,259.4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B537C8-BF43-46C5-85DD-E3ACD9C4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241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6.16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19BA79-1BDF-454A-8A4C-DEB57659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24125"/>
            <a:ext cx="1285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$0.000872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3709FD-640E-469B-98CE-413ABD98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5241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30 / 30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ACC90D-0180-471F-9EF4-79347909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10048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B35"/>
          </a:solidFill>
          <a:ln xmlns:a="http://schemas.openxmlformats.org/drawingml/2006/main" w="0">
            <a:solidFill>
              <a:srgbClr val="132B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F9A8A5-7B68-405A-B20A-B3322B52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7075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5AA1A3-C872-430F-90C5-DDEF6DD4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62275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Two-read compiler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737AB3-7653-40A3-BBF4-5AD509CC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6227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687141-304F-4312-B45E-F960CBDC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62275"/>
            <a:ext cx="80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83C994-A0E2-460C-A970-931CD944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622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2,576.5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833EC3-63C9-4AEA-AAE2-F2F9A03C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6227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2.97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8C215D-2377-4760-9BF1-E1F90B82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62275"/>
            <a:ext cx="1285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$0.000593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9FDDE5-6779-44EA-B777-919ADB37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96227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30 / 30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C68A1A-DBEC-4F16-8888-AA1EEEF1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05225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69A96D-055C-4D25-91A8-9D58939C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0425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Hand-written macro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6F324C-C88A-4DFA-8A9B-410E57B9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0042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F61B94-B0A3-4445-8AC7-6D60A303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400425"/>
            <a:ext cx="80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642082-70EC-43BB-901B-E502C40A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0042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1,780.8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7191EC-E739-4F74-9A04-CE67DE62E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004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3.25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99C3737-AEBC-49A4-9CDA-4BD5196D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00425"/>
            <a:ext cx="1285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$0.000545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13E69D3-5BED-4642-A28F-21FDDDF2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4004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30 / 30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502CE6-14F7-4400-A7A9-2281BBDC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REDUCTION VS UNCHANGED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827A14-BA0E-4515-AA8C-3D1E64B4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Requests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B41D38-D5C4-4BB9-B7B8-665DE62F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25717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F94FB6-2938-4406-BF00-35A3F3BB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1836964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4E7440-A6FD-4652-90C9-86863DE6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40055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A445F9-A81E-40C6-B9C9-6218CE98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76775"/>
            <a:ext cx="25717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C572863-A6B6-43D4-964E-D0AA0B37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76775"/>
            <a:ext cx="1836964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824C47-047D-4AFA-8DF4-05BC5E73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2915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1FA36F-A1CB-44D4-BA6D-901AA18D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7205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Tool calls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CD64E8F-6E00-48C9-89D3-6787D642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00625"/>
            <a:ext cx="25717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9437619-F5A7-490A-8964-550CCA4B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00625"/>
            <a:ext cx="3810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9C8526F-BC54-42E2-933F-2C962624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530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CFB9EF5-97D3-4E79-A519-EA0DCD40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229225"/>
            <a:ext cx="25717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D5B084D-AC97-4E71-BA53-A1845320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229225"/>
            <a:ext cx="245051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65D8242-0B8D-428C-A4E4-A4C1CF0F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1816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67%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2D10363-1D39-4B7B-890B-A93F2362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196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Total tokens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5EAAD20-13D5-4AEE-9BBD-0E04FFCE2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448175"/>
            <a:ext cx="25717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66C885D-78F6-4BB1-802F-2F222325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448175"/>
            <a:ext cx="1451202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6374254-A1D3-45F9-83F7-96814173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40055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7476845-1B89-40EC-A7C9-4146F279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76775"/>
            <a:ext cx="25717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2CF4C4-FFDF-4303-AF63-F5A9924D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76775"/>
            <a:ext cx="2138226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03930A1-43E8-4A92-A712-79652B29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62915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58%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64661BB-C2A1-461A-A945-6C23FB92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7205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Estimated cost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BC3F57D-70B0-458A-9401-CDF335AC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000625"/>
            <a:ext cx="25717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1107628-4EDC-4022-BF16-63B293500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000625"/>
            <a:ext cx="1175657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0E0C617-6E87-4181-B0D1-EE4AD955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9530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32%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B091261-EB69-4C48-9807-F2897B91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229225"/>
            <a:ext cx="25717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BBCD0C7-10F5-4CD8-8199-BFCDC812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229225"/>
            <a:ext cx="1377723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65AF8DE-0C3E-4F24-B5E5-38FD8C31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1816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38%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8B18262-59AC-459C-9FD3-72B04C46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867400"/>
            <a:ext cx="3105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F2C57A5-FF3C-495E-87AB-451FA570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915025"/>
            <a:ext cx="31051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BLUE COMPILER · CORAL MACRO</a:t>
            </a:r>
          </a:p>
        </p:txBody>
      </p:sp>
    </p:spTree>
    <p:extLst>
      <p:ext uri="{BB962C8B-B14F-4D97-AF65-F5344CB8AC3E}">
        <p14:creationId xmlns:p14="http://schemas.microsoft.com/office/powerpoint/2010/main" val="136483358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7772CA-2280-4A1A-9EB4-6CFFCAB2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6F9C10C-FD79-452F-85A6-FA3B08D1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"/>
            <a:ext cx="476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7D5E81C-510D-4B2E-8A9A-1DA3DA61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PAIRED UNCERTAINTY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24224B-5AD0-46B8-BC2E-C498D1D0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Efficiency intervals exclude zero; observed quality still does not establish non-inferiority.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9E573C-BE11-4595-88EF-4E097E0E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E85A69-9CF3-4072-B904-EEB6FCE6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923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Source: github_natural_replication/results.json · paired bootstrap 95% CI · unadjusted Wilcoxon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0E55B5-6D9E-4819-A290-9957227B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EBB9AB-8604-4D4D-B391-85244B6E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33600"/>
            <a:ext cx="95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B0C8"/>
          </a:solidFill>
          <a:ln xmlns:a="http://schemas.openxmlformats.org/drawingml/2006/main" w="0">
            <a:solidFill>
              <a:srgbClr val="9DB0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84800B-3764-42D9-930D-D2A70642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6007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8123DA-E981-47A5-8D66-797B19AD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6071" y="2133600"/>
            <a:ext cx="95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911C1B-CD8E-471E-9A38-ADE31395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7471" y="56007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10%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A92B99-9F0D-4F81-A5BC-C9CCD933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9393" y="2133600"/>
            <a:ext cx="95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FC1AFC-2B26-49A5-96FF-F3942369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0793" y="56007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A0CD69-50AD-401C-9AB4-8723096E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714" y="2133600"/>
            <a:ext cx="95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743025-320C-4498-BE0E-63FADD34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114" y="56007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A3B7D9-6417-4674-B919-A81A4DE5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6036" y="2133600"/>
            <a:ext cx="95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CD1B29-6A97-4FA3-96FF-3CFF2BAC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436" y="56007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56CFB9-5902-4C91-A675-6304E13D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9357" y="2133600"/>
            <a:ext cx="95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709E58-4977-4AC6-80B3-CD72F92C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0757" y="56007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C01322-B2AF-47F2-A25C-B2C28B5C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2679" y="2133600"/>
            <a:ext cx="95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0629D8-F8C3-4A74-938D-1648371F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4079" y="56007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60%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DD2BF5-D2A4-4749-AC50-10012898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133600"/>
            <a:ext cx="95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60BBA8-FA4C-4225-A79F-F8DF235D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6007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70%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0DA349-5EB0-46D9-AD54-A7C2B7FA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47850"/>
            <a:ext cx="6953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REDUCTION VS UNCHANGED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D7478B-3F30-4FE5-94CA-97F9E64D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Provider requests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76F9ED-562F-4E92-9E5B-01FD726A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9357" y="2571750"/>
            <a:ext cx="285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AF9BAD-DDF7-4728-83A0-BD12E7CF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9357" y="249555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4A5660-1419-4130-987F-9E386248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9357" y="249555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8937C6-044C-43F5-B5F7-78FB580A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2682" y="2514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9A0516-1AFA-4FC3-93E1-30D5A39B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307" y="2266950"/>
            <a:ext cx="80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50.0%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15EB62-374B-4C89-A212-B98033AC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45745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p=4.32e−8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D01485-834B-4EC5-B726-5EAFD41D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Total tokens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64E2BA-CEC7-4379-9679-7205D1C3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705" y="3352800"/>
            <a:ext cx="40726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6F2518-3040-425A-B4B7-69E268C1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705" y="32766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184601-5360-4B68-8A32-8A65C41E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967" y="32766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65FEDD-B683-421C-A817-DF358556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695" y="3295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FC09B1-18F4-4F55-ACC1-0215E909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6320" y="3048000"/>
            <a:ext cx="80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39.5%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3182B50-1F45-400F-9A54-E4F6F7BC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323850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p=1.86e−9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5ED1538-55E6-4CD9-9BE1-A5B0E818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0025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Wall latency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ED6007-356B-401C-9FD7-686F5947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899" y="4133850"/>
            <a:ext cx="176811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37E036-E9C1-44DB-B3C6-E5B0151C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899" y="405765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3D3C1E6-0AF4-4B02-8A01-E2CFEEA8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2011" y="405765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C50887-49A7-483D-B735-0FCFF34B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1547" y="40767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C0C05F-E0BA-4A4A-887F-75B70B71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8172" y="3829050"/>
            <a:ext cx="80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51.7%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19DD509-DB4B-443D-9B79-BBD4DC46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01955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p=1.86e−9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C9FADF-97D5-48B1-BA35-4ABB6237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Estimated cost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834B92-0ACA-46BC-9BB2-D1DF868F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4317" y="4914900"/>
            <a:ext cx="824457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AAEA400-2CAC-49E9-A592-BE1CEBE3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4317" y="48387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42229F-8D89-4A13-8E0E-D111CF80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8774" y="48387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22B0D16-8DA6-489C-9B61-0EC46497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704" y="48577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0545E3A-ACB5-4323-A290-4DD85CCA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1329" y="4610100"/>
            <a:ext cx="80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32.0%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6C30F34-5FE2-4B1D-A98C-BBAD9F85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0060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p=3.73e−9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D9C1C93-3510-4525-BD69-3DA5412B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394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9525">
            <a:solidFill>
              <a:srgbClr val="E0564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4C9E8FF-7A53-4B34-9A8F-E9807B40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53125"/>
            <a:ext cx="1045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Quality: 0 compiler-only failures in 30 pairs; one-sided 95% discordance upper bound = 9.5%. This is not equivalence.</a:t>
            </a:r>
          </a:p>
        </p:txBody>
      </p:sp>
    </p:spTree>
    <p:extLst>
      <p:ext uri="{BB962C8B-B14F-4D97-AF65-F5344CB8AC3E}">
        <p14:creationId xmlns:p14="http://schemas.microsoft.com/office/powerpoint/2010/main" val="116189072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48B313-BC50-415A-B2AC-93EBE9F5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AF15605-01EC-4216-95FE-1025BBBB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"/>
            <a:ext cx="476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CB76924-C3A6-476B-A99F-0981DB9D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DEPTH SENSITIVITY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4084FC-8C8B-416B-8F03-8985FCF4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Compiling the third read increases every saving—and breaks one exact-source contract.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0E530D-A9DE-4B2B-9C94-6B8F48E89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AC4E96-6DDF-4E34-B5DD-59414EE0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923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Sources: natural_replication_results.tex; natural_live_results.tex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EFAFB-6F04-470B-A83C-43C22985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53F335-AFDF-4567-9F71-4E371BDF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9763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32FE9-992B-4B3F-818C-EBDC8CAD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0027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497314-83DB-4EC0-B8A8-1B7D7A3C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0027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CB46E1-6488-4C44-BEA6-FBF0EB67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200275"/>
            <a:ext cx="1000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Requests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D9C0F6-8A0B-4467-B0E1-E04A9AF8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00275"/>
            <a:ext cx="904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Tokens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4352C9-1BC4-44E1-AA09-EEC390B7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00275"/>
            <a:ext cx="933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Latency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5CD531-3048-4FBE-92BA-9A8806CE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0027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Cost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474EE0-8973-4BE9-90CE-08392235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00275"/>
            <a:ext cx="1000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Factual 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454F1C-B5E6-438F-BF83-C9215B44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200275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95% discord. cap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C0B40-167B-41A5-BF5E-4D48B11B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14600"/>
            <a:ext cx="97631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B35"/>
          </a:solidFill>
          <a:ln xmlns:a="http://schemas.openxmlformats.org/drawingml/2006/main" w="0">
            <a:solidFill>
              <a:srgbClr val="132B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137024-7B7A-45E7-A554-35A4398F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38475"/>
            <a:ext cx="9763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BD20C-48D2-4549-88B0-2615C841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3842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Two-read prefix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EAF449-8D47-43AF-8761-20914511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6384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65D70D-DD33-4898-9D6F-88896956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38425"/>
            <a:ext cx="1000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−50.0%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7CEFE0-9E4B-464A-B5FE-8A9AEC2E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38425"/>
            <a:ext cx="904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−39.5%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00E717-DDB7-453A-88B2-F32ED745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38425"/>
            <a:ext cx="933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−51.7%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37A321-BEA0-4A33-B4E5-11DE5CA4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63842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−32.0%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75FD6F-5EE7-4613-9515-0C644162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38425"/>
            <a:ext cx="1000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30 / 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24EAF5-472A-4D3B-97D3-CD658CC8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638425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9.5%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1E04B0-D7A9-4A28-BFE5-CF2D409F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71875"/>
            <a:ext cx="9763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E01713-3B7B-4437-A4DC-9534F6D1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7182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Three-read prefix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47020B-BAF0-402A-BBA6-90C65321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718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7FC67F-88BB-41FF-B21D-5052CE6E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71825"/>
            <a:ext cx="1000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−75.0%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712136-B4A2-49A0-9690-32658960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171825"/>
            <a:ext cx="904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−66.0%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1828C0-9035-465B-9EE1-3971B592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71825"/>
            <a:ext cx="933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−76.4%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0E7AB1-05FC-47C4-97B8-CBE8DE6C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7182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−48.7%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BBA5A6-5672-4D93-A427-37D3073F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71825"/>
            <a:ext cx="1000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17 / 18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53CAEF-FC43-48AA-8D2F-DC928C01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171825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08A7F"/>
                </a:solidFill>
                <a:latin typeface="Arial"/>
                <a:ea typeface="Arial"/>
                <a:cs typeface="Arial"/>
              </a:rPr>
              <a:t>23.8%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44371B-CF76-4094-A679-7053247D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91000"/>
            <a:ext cx="2095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+25 pts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138760-1FAF-4EF8-ADAA-E1C7FEBC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7677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additional request saving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7894FE-A5F6-4F06-B00E-224890FF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91000"/>
            <a:ext cx="2095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+26.5 pts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C895AC-BE34-4233-BDE7-67E0DB78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7677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additional token saving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2B6C51-7091-4003-8A51-9FEFCA23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91000"/>
            <a:ext cx="2095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08A7F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F08A7F"/>
                </a:solidFill>
                <a:latin typeface="Georgia"/>
                <a:ea typeface="Georgia"/>
                <a:cs typeface="Georgia"/>
              </a:rPr>
              <a:t>1 miss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0BB391-8D29-48E0-9678-A6CEAF59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7677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Markdown URL dropped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38DD1A-22BD-403C-97E6-5C147870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91000"/>
            <a:ext cx="2095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45 / 45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EC48E9-97AF-4377-ADCE-57B3136B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7677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clean tool-program replays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41DAF0-7A39-4814-8B12-ECC92A8A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03632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3FDD49E-0BF3-4BF4-ACA2-554080B2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5816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Boundary revealed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AD6CB78-1FA9-4423-98D2-04BB4E12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562600"/>
            <a:ext cx="802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The calibrated tool program can be correct while the downstream model continuation alters source facts.</a:t>
            </a:r>
          </a:p>
        </p:txBody>
      </p:sp>
    </p:spTree>
    <p:extLst>
      <p:ext uri="{BB962C8B-B14F-4D97-AF65-F5344CB8AC3E}">
        <p14:creationId xmlns:p14="http://schemas.microsoft.com/office/powerpoint/2010/main" val="162857828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F1023E-37E8-4B25-A554-C24CF437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54E582F-679B-40A8-BDBB-69A4C766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"/>
            <a:ext cx="476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5639B7A-43BA-4739-AF1B-6EBE65E6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REPEATABILITY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17996-5195-429F-946D-92AD795A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Compaction preserves categorical decisions—but does not stabilize free-text answers.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F0816-A3FA-4B5A-81DF-01548C21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631B86-5368-41FB-BDDB-96D1C0CE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923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Source: github_natural_replication/results.json · 10 repeated issues per arm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C4BB4-48A3-415C-8BEC-9D943EED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24DDC-97DB-445B-B8C4-60B88813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Decision agreement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2E62DB-EC9F-4194-B036-C8B7182D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05050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4BAD22-D4BF-429B-AEA2-2508BEDA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05050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14A72F-DEED-43B1-8788-DDFAD0D6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669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Unchanged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B063F2-D53A-4ADB-AD3B-AFECCD44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266950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D14FFF-B280-4F70-AEB4-6DEEEFF0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431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A7F56F-E2DD-418A-9F1F-AC4676CF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431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39F1C9-610F-4099-8F6A-307E6CDB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0507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Compiler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84A1E0-6CB4-465F-B14F-A2BC5A3B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505075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7C61E2-2A7B-4049-A0BA-AD69EE64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204891-067A-4F2D-96A4-930B4C6A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B6A4A-F283-4A7E-AD23-A90AECC4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432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D8F701-5372-43C6-AC3C-D4F28FB3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43200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8FD808-3092-42AE-9135-91313D55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Tool-trace agreement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F4AB96-F6AA-451C-8554-179FC81A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AF7327-D2C5-4374-B409-1150AF0B9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55721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A745B0-108E-4754-8A53-0FF770A1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861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Unchanged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6E2502-9CC9-439A-8E5C-CAC708F4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86150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90%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1464EF-93D4-479F-A669-FE8295E8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623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E40338-F9C2-42D9-9C11-6B651B17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62375"/>
            <a:ext cx="55721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FADA76-F9BB-4E8F-BAAB-639B5D3D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72427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Compiler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732F9-7390-4AA4-94C9-BF7EFDB5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724275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90%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B0A00E-A6EC-4E8B-99B0-CD327757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00500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CEF02E-6796-4BD6-AFDA-6449943D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00500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A901B5-67D5-4E6E-8C84-22A7ED94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624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9A46F0-C879-469C-93EC-83997EA9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962400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8EA1D-AC11-47A7-B339-3DEB7884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Byte-exact answer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982B34-000C-4F0B-B9ED-0BD3DD8B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43450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CD7655-E3F4-4971-9DE5-35C3C762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43450"/>
            <a:ext cx="433387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EE94DB-C736-4FFC-B4F4-8C9BFE78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7053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Unchanged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BE7905-F48D-42D1-871B-E2F3953A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05350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70%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B00F9F-6FC2-4264-AD54-D78EDDBB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815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61AA5D-7CBD-40F2-AAC0-8704E8CF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81575"/>
            <a:ext cx="37147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022886-6680-4E26-87E5-363F5F23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4347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Compiler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DEEC18-6BCF-4A5F-818E-F7E183FA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943475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60%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454043-F0BA-4E34-8A45-EBB82D8A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219700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D2DAACF-FF2A-4780-A757-C864EFBB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219700"/>
            <a:ext cx="24765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40716C-0E6C-4E34-8845-93423545B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1816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Macro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67E1E3B-DDC6-4774-AAEC-C29D2CD2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181600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69B5298-5E36-49E2-ADE9-72DEDB10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924550"/>
            <a:ext cx="502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0">
            <a:solidFill>
              <a:srgbClr val="2B182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D3DAD9F-FC27-45F7-891B-AB63A77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972175"/>
            <a:ext cx="50292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DECISION CONSISTENCY ≠ TEXT DETERMINISM</a:t>
            </a:r>
          </a:p>
        </p:txBody>
      </p:sp>
    </p:spTree>
    <p:extLst>
      <p:ext uri="{BB962C8B-B14F-4D97-AF65-F5344CB8AC3E}">
        <p14:creationId xmlns:p14="http://schemas.microsoft.com/office/powerpoint/2010/main" val="203421279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5DC6D4-F5F9-4759-983C-834016BC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D8CBF50-2928-49D0-8324-331D6C30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"/>
            <a:ext cx="476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14537FB-A362-4E65-B09D-C189B3B1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BENCHMARK FUNNEL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751F0F-45AC-4B24-A537-8E6F1AAF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Each assurance layer narrows 1,415 executable episodes to zero certifiable families.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C1D58-FFA5-4608-A126-AA60573B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7F9AC8-C80D-4F82-8F3B-DB3DCEDF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923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Source: paper/results/nestful/results.json · public NESTFUL benchmark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64804-6CE4-4B40-807D-BF6A62D1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A95C8D-61D6-4B16-8D43-B3B99BDD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342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BFD8F5"/>
          </a:solidFill>
          <a:ln xmlns:a="http://schemas.openxmlformats.org/drawingml/2006/main" w="0">
            <a:solidFill>
              <a:srgbClr val="BFD8F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68E354-C5D2-48C7-9689-480B6BD9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383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Executable episodes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2FD751-47A0-46C9-8DCC-8098FD1C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383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1415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CD252A-5C5F-49CF-A587-47B00011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66975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7221EB-0DBC-4DA2-88B0-2DB4494D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075" y="2724150"/>
            <a:ext cx="2924949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0D2CF"/>
          </a:solidFill>
          <a:ln xmlns:a="http://schemas.openxmlformats.org/drawingml/2006/main" w="0">
            <a:solidFill>
              <a:srgbClr val="60D2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D04BE0-54ED-4EC5-8686-0F0B9189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622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Complete groundable windows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EC277D-C673-4B21-BE60-35D5A5A8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622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60D2CF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60D2CF"/>
                </a:solidFill>
                <a:latin typeface="Georgia"/>
                <a:ea typeface="Georgia"/>
                <a:cs typeface="Georgia"/>
              </a:rPr>
              <a:t>1207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A77117-F650-4A77-AF5E-90DCDA9E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190875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71295E-33BE-4B68-9BBA-E1D38A42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560" y="3448050"/>
            <a:ext cx="212598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9EB3EB-E338-4068-B4EB-7E27A365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86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Families support ≥5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8D9F68-B5E9-451E-B432-B7C4DEAF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861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32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7A9845-1F12-4579-BFD5-3D0F85E2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914775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0C40B5-905B-4D0D-A31F-F25A0AD4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5460" y="4171950"/>
            <a:ext cx="144018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C56B"/>
          </a:solidFill>
          <a:ln xmlns:a="http://schemas.openxmlformats.org/drawingml/2006/main" w="0">
            <a:solidFill>
              <a:srgbClr val="F3C56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AC4F48-4968-4898-B0CD-F7C5B599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2100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Synthesized families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7930DB-3356-46DB-A317-3E90C8C6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00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F3C56B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F3C56B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08AA50-D5D1-4707-957F-E697F512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638675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130270-3DD2-4894-A75A-C407E70B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940" y="4895850"/>
            <a:ext cx="61722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E2D7F6-D64C-4441-A2B2-F9A19079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9339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Certifiable families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A5CB96-1B0C-46D4-BE2A-5834E015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9339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F08A7F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F08A7F"/>
                </a:solidFill>
                <a:latin typeface="Georgia"/>
                <a:ea typeface="Georgia"/>
                <a:cs typeface="Georgia"/>
              </a:rPr>
              <a:t>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EDCB71-F506-4B2C-8A5A-18BF1D97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05050"/>
            <a:ext cx="3810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8B11F9-DE5E-4302-AE78-59FC11D1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09825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Provenance audit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7195DD-FB54-446A-B97D-B0689A74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409825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92C215-B87A-43E5-8662-34B325F5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33725"/>
            <a:ext cx="381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42D1DD-2B89-4137-99ED-281B9F86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47975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Producer candidate recall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CD9D96-233F-42B8-B03B-D6116AD3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847975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96.3%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C8F79D-0E21-471C-A46B-07743DC6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52825"/>
            <a:ext cx="381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BAA1D6-C9D5-4D9B-984B-2EB20033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67075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Unique resolution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D241EB-8C3D-4CA5-945B-76B8CB10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67075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80.7%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2C46DB-E3D4-494C-95BB-FB07C98B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971925"/>
            <a:ext cx="381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911623-094B-479C-B91D-29C89E02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686175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Candidate-edge precision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693002-EC90-4792-BAAB-29545021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86175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84.3%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B37C3B-ADE5-4D71-9BB8-1EDF13F5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91025"/>
            <a:ext cx="381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4B9472-B11D-4FB4-87B0-19C80B66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105275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Replay pass / abstain / wrong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4EB081-9C4F-4491-9D72-3157FCE2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105275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24 / 12 / 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D22DBDC-04F7-4732-BBFD-7E1DD86A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00550"/>
            <a:ext cx="3810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B35"/>
          </a:solidFill>
          <a:ln xmlns:a="http://schemas.openxmlformats.org/drawingml/2006/main" w="0">
            <a:solidFill>
              <a:srgbClr val="132B35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9373C7C-2860-421B-B638-738EA8C5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810125"/>
            <a:ext cx="381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16A6E3-B47F-4451-A9CA-2818FF05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24375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Max support / gate minimum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F9957D9-ACBB-45E0-86BF-615E9F14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24375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26 / 92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8696D2D-7512-438F-89CB-7F4C99A9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372100"/>
            <a:ext cx="3905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08A7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08A7F"/>
                </a:solidFill>
                <a:latin typeface="Georgia"/>
                <a:ea typeface="Georgia"/>
                <a:cs typeface="Georgia"/>
              </a:rPr>
              <a:t>High recall helps mining; it does not license dispatch.</a:t>
            </a:r>
          </a:p>
        </p:txBody>
      </p:sp>
    </p:spTree>
    <p:extLst>
      <p:ext uri="{BB962C8B-B14F-4D97-AF65-F5344CB8AC3E}">
        <p14:creationId xmlns:p14="http://schemas.microsoft.com/office/powerpoint/2010/main" val="40902784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3B0D74-D463-4F24-A65E-DDF0FC26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930CA1F-10E6-4AF8-AA18-3679A7B9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"/>
            <a:ext cx="476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9DB59EB-0730-4F53-9EF6-4C619604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CACHE ECONOMICS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55EFF0-065E-4C85-B39D-5D79D11B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Token savings and invoice savings diverge once prompt-cache warmth changes.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9205DD-29D8-45A0-BC76-CC11B966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4D3F8-E809-4CCB-9F8E-040FE794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923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Source: paper/tables/demo_suite.tex · Tier 3 live-provider control-flow suite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43F999-78A1-420A-94B9-E1D73F0D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298EE-B85D-4411-A972-7A9D7B06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15393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B0C8"/>
          </a:solidFill>
          <a:ln xmlns:a="http://schemas.openxmlformats.org/drawingml/2006/main" w="0">
            <a:solidFill>
              <a:srgbClr val="9DB0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147ED1-5933-47CF-9768-1CBDDD6F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002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B0C8"/>
          </a:solidFill>
          <a:ln xmlns:a="http://schemas.openxmlformats.org/drawingml/2006/main" w="0">
            <a:solidFill>
              <a:srgbClr val="9DB0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850134-0F27-480C-AF45-905C170A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00250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808FE8-AB56-47BC-8A62-63B0C93E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102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4ED6E9-E5EA-4657-BDBA-90DC3507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118" y="2000250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267575-F065-4DBC-B4E1-6890A705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1568" y="58102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B1822A-84C8-4BCD-AD85-EB2D7924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9235" y="2000250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F452DE-E4AA-4664-9F81-661BFB2C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685" y="58102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B49382-0BA3-4713-B434-06B615B9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353" y="2000250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729A40-412E-4078-8E4E-DB216189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7803" y="58102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60%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6D160B-A685-4979-9AA9-3DF2B05A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5471" y="2000250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AE29BE-D553-4EE8-95F3-02CDCE70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5921" y="58102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0FA61C-E117-4D4E-9A7C-96C20589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38107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C4338C-4BAC-476A-8F69-DB994F95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52382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-120%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24A30A-8076-40B8-B57B-25CA978B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30536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5DA4FB-FB00-4588-9B1A-BDBA3FEA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44811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-80%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1ED1A6-7D68-47F2-8673-D22B4B66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22964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4BAF84-7319-4573-8727-8F3133AE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37239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-40%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4FD4B9-BF7E-4BC4-99D8-5A987B6F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15393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B0C8"/>
          </a:solidFill>
          <a:ln xmlns:a="http://schemas.openxmlformats.org/drawingml/2006/main" w="0">
            <a:solidFill>
              <a:srgbClr val="9DB0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654556-17F9-4830-9254-1FD3D239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29668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F670B0-CBE8-4C15-A549-47A11998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07821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963CF4-B51B-4AB7-8747-9162D71F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2096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CD633E-B4E8-4CFA-A614-9C6ED5E2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00250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DA6DFD-14B4-425C-A658-5ABFC6D3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145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80A785-0503-43D4-9E93-9308B37A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60198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TOKEN SAVING 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8BA0E2-F489-410A-9F08-7FBE0DF0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↑ COST SAVING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C9031A-7761-4EE0-BD4F-EE219BF2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3833" y="204678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3F84A3-CAC1-461F-88D4-1895BC68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0958" y="1846761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CA7331-D123-40B7-A5FF-4642E754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5394" y="213346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9FE9EFB-03FE-417D-83A2-1759DB96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7769" y="2295389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D8D419-8D74-4C2D-85D9-569D7884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6879" y="2013177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D3A6"/>
          </a:solidFill>
          <a:ln xmlns:a="http://schemas.openxmlformats.org/drawingml/2006/main" w="0">
            <a:solidFill>
              <a:srgbClr val="63D3A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7BC72A-4BAF-4B58-8C00-B94EC148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6354" y="1927452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3E8F6F-F4EB-4ED3-814F-AEBA6AE0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076" y="349553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56B"/>
          </a:solidFill>
          <a:ln xmlns:a="http://schemas.openxmlformats.org/drawingml/2006/main" w="0">
            <a:solidFill>
              <a:srgbClr val="F3C56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AB8DDBA-0092-40AD-A142-ED77CB35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1051" y="3409814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3C56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3C56B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87304EF-D8FE-43DD-81E5-72E53746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4744" y="55245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0A0454-27F2-4499-9F19-70C6455A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5719" y="5419725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A264C3C-6AC5-4A7B-A4BE-97084E61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35225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B0C8"/>
          </a:solidFill>
          <a:ln xmlns:a="http://schemas.openxmlformats.org/drawingml/2006/main" w="0">
            <a:solidFill>
              <a:srgbClr val="9DB0C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67B9B56-B302-4FD3-8EB9-EE55865D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71281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01EF97D-1CB1-4B10-95C3-D0B80BCA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32870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D9F472A-D13E-415E-B206-9D5AA36E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42979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E′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9C1962A-5DAD-4A8A-93E8-83BEF7BF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31278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B5CAE7F-10C1-422B-A2E9-1E59B521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55659"/>
            <a:ext cx="438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E″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EDECEE-723E-4C61-BA9D-C5D835FD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52650"/>
            <a:ext cx="25146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E0134A1-FF3B-4AB4-B89A-A94B4664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241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Expected quadrant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86310BE-AE28-4D03-9BC1-7BD2F832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479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A–C save both tokens and dollars.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1494990-CACF-44F2-B537-89FDB804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19500"/>
            <a:ext cx="25146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9525">
            <a:solidFill>
              <a:srgbClr val="E0564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D3A4236-5B2E-4B8B-AE63-89E99E90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7909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Counterexample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16A3C2F-71CB-4769-B501-48503CD0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171950"/>
            <a:ext cx="2095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Demo F</a:t>
            </a:r>
          </a:p>
          <a:p xmlns:a="http://schemas.openxmlformats.org/drawingml/2006/main">
            <a:pPr algn="ctr">
              <a:defRPr sz="16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−16.8% tokens</a:t>
            </a:r>
          </a:p>
          <a:p xmlns:a="http://schemas.openxmlformats.org/drawingml/2006/main">
            <a:pPr algn="ctr">
              <a:defRPr sz="165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+123.0% cost</a:t>
            </a:r>
          </a:p>
        </p:txBody>
      </p:sp>
    </p:spTree>
    <p:extLst>
      <p:ext uri="{BB962C8B-B14F-4D97-AF65-F5344CB8AC3E}">
        <p14:creationId xmlns:p14="http://schemas.microsoft.com/office/powerpoint/2010/main" val="292206304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2FC8A4-6C76-46B9-8BA5-AB878E53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92A0B9E-18F3-416D-9824-DF59D830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"/>
            <a:ext cx="476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373F704-9DFD-4B8F-A50B-777D143D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PORTFOLIO DETAIL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8795D9-F3FF-4F37-999F-6AEACA750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The decision is prospective and risk-bounded—but still comes from one workflow family.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8B853-2CEA-4C06-AA6A-E980E1A2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1BF59B-AFA0-4C13-887A-2CBF8AB4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923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Source: paper/results/portfolio_live/results.json · 30 calibration groups + 12 fresh issues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A773C6-6FAE-4CBE-9FF1-71305CB9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097B0F-2F29-4B3B-8E9D-87BD07B2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81200"/>
            <a:ext cx="962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7FF03-F93B-4D71-9EEA-ACED47EA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8597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1233E-6394-4F0F-AEA8-A76AC5D3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085975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E8ED86-4429-4211-A44C-3413305C5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85975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Mean utility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9C23F-EC1C-4201-9AEB-4BB6613B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85975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Quality risk upper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9C49A3-247C-4B29-8EF7-F2C459B4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8597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Regret risk upper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BE1FB0-5C85-406B-89DE-80B2936F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085975"/>
            <a:ext cx="2238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FD7323-CBF7-40E5-B614-0EFB7DD0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67025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EDA1F4-6DFD-4395-AA09-14C3406B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Compile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464154-0B08-4DD2-8A51-A125C4D4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524125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3582BC-6FE0-436A-83E4-00E4451C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24125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0.327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937CD7-6208-4895-BC1A-16E84212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24125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0.136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E4ABB4-D559-4067-928A-366AA037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52412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0.136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318228-D89F-46C6-8CDF-9ED89EE0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24125"/>
            <a:ext cx="2238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admitted · automatic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D10EC2-A3EE-4D43-857B-3FF36027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76550"/>
            <a:ext cx="962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B35"/>
          </a:solidFill>
          <a:ln xmlns:a="http://schemas.openxmlformats.org/drawingml/2006/main" w="0">
            <a:solidFill>
              <a:srgbClr val="132B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159C3E-AAD1-44D2-8A61-26E5C929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43275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4B46D3-B536-4CF1-B34F-D11172EB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Macro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E2B147-850A-4E7A-99DB-FC657647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000375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72EA88-458F-47A9-B8E7-9C8A1D44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00375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0.489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072B76-C049-4CF6-9760-7F9AB87F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00375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0.136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5ED9A6-A58D-45FB-805F-59913150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00037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0.136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4EA7F5-DA24-47D7-B632-9FDB2205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000375"/>
            <a:ext cx="2238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selected · human review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0ABD1A-0152-4B1E-9E6D-C980179A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FRESH COHORT · SELECTED MACRO VS UNCHANGED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E262BE-5A5E-4156-B40E-BAA4A94D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3D3A6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63D3A6"/>
                </a:solidFill>
                <a:latin typeface="Georgia"/>
                <a:ea typeface="Georgia"/>
                <a:cs typeface="Georgia"/>
              </a:rPr>
              <a:t>12 / 12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23926D-D848-4897-997F-AEAB0B0F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Exact contracts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2EAEEE-773E-421C-9DC8-7E534D3D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0957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−50.0%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93A359-633F-45DF-9108-B09FD295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5720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Requests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96233E-06D6-454F-8AFB-98BF32FE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−66.7%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8D5ABD-6C71-4680-9B18-B69B58AB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5720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Tools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455A13-C468-4C24-858E-4CB702EE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957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−59.2%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48E0DD-8E79-4154-B088-817E7AA5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720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Tokens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0B2038-A11F-44A0-B25A-A812AE4E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957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FD8F5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BFD8F5"/>
                </a:solidFill>
                <a:latin typeface="Georgia"/>
                <a:ea typeface="Georgia"/>
                <a:cs typeface="Georgia"/>
              </a:rPr>
              <a:t>−71.6%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22242A-3249-4770-A109-DC647FE4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720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Latency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F97F97-C020-4103-B740-FA86481C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0957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3C56B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F3C56B"/>
                </a:solidFill>
                <a:latin typeface="Georgia"/>
                <a:ea typeface="Georgia"/>
                <a:cs typeface="Georgia"/>
              </a:rPr>
              <a:t>−40.6%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E15218-A503-4AB8-B3C0-D5476B34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5720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Cost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3B30A2-2680-4785-80B5-F07000B1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43500"/>
            <a:ext cx="103251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01D30"/>
          </a:solidFill>
          <a:ln xmlns:a="http://schemas.openxmlformats.org/drawingml/2006/main" w="9525">
            <a:solidFill>
              <a:srgbClr val="263A55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9204CF-AD65-4CB1-A711-95B121DC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14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What this proves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C509138-76DD-4027-9812-12204C12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86375"/>
            <a:ext cx="7524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F7F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7FC"/>
                </a:solidFill>
                <a:latin typeface="Arial"/>
                <a:ea typeface="Arial"/>
                <a:cs typeface="Arial"/>
              </a:rPr>
              <a:t>The frozen reviewed choice preserved 12/12 contracts and reduced resources on fresh records.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2C5667-6468-4CE3-A816-5A8FBEB2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What it does not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E64E6C-9FE9-4B0D-88A0-CCABF1AD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959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Portfolio selection beating a static macro policy across heterogeneous families.</a:t>
            </a:r>
          </a:p>
        </p:txBody>
      </p:sp>
    </p:spTree>
    <p:extLst>
      <p:ext uri="{BB962C8B-B14F-4D97-AF65-F5344CB8AC3E}">
        <p14:creationId xmlns:p14="http://schemas.microsoft.com/office/powerpoint/2010/main" val="67836781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96E3AC-111E-4B57-9CF5-6DA3090E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9A2CA92-B448-410E-9E31-5599C6A9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"/>
            <a:ext cx="476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8A7F"/>
          </a:solidFill>
          <a:ln xmlns:a="http://schemas.openxmlformats.org/drawingml/2006/main" w="0">
            <a:solidFill>
              <a:srgbClr val="F08A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86B2134-17CE-49B7-AED3-08EF6FCE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EVIDENCE REGISTER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F2EEAA-F4C8-409E-BA87-7490EAFB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3F7FC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3F7FC"/>
                </a:solidFill>
                <a:latin typeface="Georgia"/>
                <a:ea typeface="Georgia"/>
                <a:cs typeface="Georgia"/>
              </a:rPr>
              <a:t>Every displayed number maps to sealed evidence; preflight remains outside the result set.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59E8A-9951-4AA8-9DFF-E99EA52C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F2658C-07D1-440A-A383-0E77073C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923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Reproduce: paper/README.md · validate: paper/scripts/validate_artifacts.py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020057-E6C2-48D1-BEF7-2475423B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533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FE19C-33F2-4A41-BA22-FEC46007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81200"/>
            <a:ext cx="10810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26E07A-3B2D-464C-A663-C27F54B3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8597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CE4DBC-6427-4588-93A1-423B1F8B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08597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Substrate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831344-011C-4992-8F37-C5AD42BA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08597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Question answered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E6E0BB-B566-4666-8D0F-26F9BE93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085975"/>
            <a:ext cx="3667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Boundary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CD5579-5A08-47E0-9919-745AC7F2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47975"/>
            <a:ext cx="10810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26AB3C-A528-49F3-892A-286E3ED6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241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GitHub replication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03B82B-9A08-46D7-A649-1A44AD28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5241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public records + live provider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6DE8B0-A257-4E88-9743-F00F180E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52412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quality + resources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32DCF8-82F8-4000-85EF-63F422CB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524125"/>
            <a:ext cx="3667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30 held-out groups; one domain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A05210-A65B-44CC-8FED-6545D4DF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05175"/>
            <a:ext cx="10810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86B818-B0F4-4BE8-A293-2C75857C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813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Aggressive GitHub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2F1142-0351-4727-A311-D9BA4D71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9813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public records + live provider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4BD016-2804-480F-9ED2-D362F3E8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8132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depth sensitivity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46E7AD-434E-4750-B097-CF6CAA62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81325"/>
            <a:ext cx="3667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18 groups; one factual miss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47F0B6-AD18-4498-8F15-9E944CF2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62375"/>
            <a:ext cx="10810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2E258A-A2B2-4928-A7E3-D99BA03A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385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NESTFUL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50F6CF-3838-47F3-884C-20403B18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34385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public executable benchmark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45EBCF-AA78-4814-81C8-3A40085C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43852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provenance + refusal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83B07E-90D5-47AD-89B0-F9885405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38525"/>
            <a:ext cx="3667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provider-free; not planning quality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CCD643-BDFC-4272-9881-C818213B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9575"/>
            <a:ext cx="10810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0F8662-2E03-47FA-AE44-DBDE4F44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957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Tier 3 suite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BFF5C1-31A4-4D53-B32D-FB669964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38957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live provider + local services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C4DBE2-AE1B-4027-A1B7-EC704833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89572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control-flow semantics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9D77E0-8602-4D27-B7CE-7D9E9A27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895725"/>
            <a:ext cx="3667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fictional business records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0CA6E9-0A15-49FD-96D6-629FE9A1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76775"/>
            <a:ext cx="10810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30D111-01C8-4D63-B8F2-54C56EF7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529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Portfolio pilot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135B78-A86D-4E44-9BCD-09497F87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3529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frozen evidence + fresh cohort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19A14F-D40A-4271-9111-FD1A1A65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35292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prospective action choice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149217-C510-4F21-8771-5810C444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352925"/>
            <a:ext cx="3667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one family; review required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C4BE325-B691-4884-B8CF-4BE783AA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33975"/>
            <a:ext cx="10810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A55"/>
          </a:solidFill>
          <a:ln xmlns:a="http://schemas.openxmlformats.org/drawingml/2006/main" w="0">
            <a:solidFill>
              <a:srgbClr val="263A5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09BA67D-C0D9-4565-B971-43CF054C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01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DB0C8"/>
                </a:solidFill>
                <a:latin typeface="Arial"/>
                <a:ea typeface="Arial"/>
                <a:cs typeface="Arial"/>
              </a:rPr>
              <a:t>Multidomain preflight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122D7A0-C974-4D7F-84D4-7B9F1105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810125"/>
            <a:ext cx="2047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HMDA + vulnerabilities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F038958-ED07-45B4-9A7E-317A59F5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81012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DB0C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DB0C8"/>
                </a:solidFill>
                <a:latin typeface="Arial"/>
                <a:ea typeface="Arial"/>
                <a:cs typeface="Arial"/>
              </a:rPr>
              <a:t>data/control feasibility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A0B0E3-9789-4BD4-A6A2-27C581BC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10125"/>
            <a:ext cx="3667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08A7F"/>
                </a:solidFill>
                <a:latin typeface="Arial"/>
                <a:ea typeface="Arial"/>
                <a:cs typeface="Arial"/>
              </a:rPr>
              <a:t>zero optimization/provider result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8D3779-4385-4F46-BDEB-F3206D03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57850"/>
            <a:ext cx="2952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4AEBF1B-41F0-48B5-A352-E353C76B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05475"/>
            <a:ext cx="2952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3D3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D3A6"/>
                </a:solidFill>
                <a:latin typeface="Arial"/>
                <a:ea typeface="Arial"/>
                <a:cs typeface="Arial"/>
              </a:rPr>
              <a:t>311 TESTS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B4B090E-B519-4E20-99DD-CCE74F18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657850"/>
            <a:ext cx="2952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5263D"/>
          </a:solidFill>
          <a:ln xmlns:a="http://schemas.openxmlformats.org/drawingml/2006/main" w="0">
            <a:solidFill>
              <a:srgbClr val="15263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1C0D071-625F-4015-9A6A-8ABF65F3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705475"/>
            <a:ext cx="2952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FD8F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FD8F5"/>
                </a:solidFill>
                <a:latin typeface="Arial"/>
                <a:ea typeface="Arial"/>
                <a:cs typeface="Arial"/>
              </a:rPr>
              <a:t>1,300 ARTIFACT CHECKS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C0A3A8-BBBF-4A79-8CB0-6CBB52CC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657850"/>
            <a:ext cx="2952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1820"/>
          </a:solidFill>
          <a:ln xmlns:a="http://schemas.openxmlformats.org/drawingml/2006/main" w="0">
            <a:solidFill>
              <a:srgbClr val="2B182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155CDDA-C10D-4C6E-AA7F-C48BEBD8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705475"/>
            <a:ext cx="2952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08A7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08A7F"/>
                </a:solidFill>
                <a:latin typeface="Arial"/>
                <a:ea typeface="Arial"/>
                <a:cs typeface="Arial"/>
              </a:rPr>
              <a:t>NO NEW PROVIDER CALLS</a:t>
            </a:r>
          </a:p>
        </p:txBody>
      </p:sp>
    </p:spTree>
    <p:extLst>
      <p:ext uri="{BB962C8B-B14F-4D97-AF65-F5344CB8AC3E}">
        <p14:creationId xmlns:p14="http://schemas.microsoft.com/office/powerpoint/2010/main" val="7487019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2026-08-04T21:27:47.1130000Z</dcterms:created>
  <dcterms:modified xsi:type="dcterms:W3CDTF">2026-08-04T21:27:47.1140000Z</dcterms:modified>
</coreProperties>
</file>