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2.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3.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4.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373e4af69bd4191" /><Relationship Type="http://schemas.openxmlformats.org/officeDocument/2006/relationships/extended-properties" Target="/docProps/app.xml" Id="R4fb3177a2bd0407f" /><Relationship Type="http://schemas.openxmlformats.org/officeDocument/2006/relationships/officeDocument" Target="/ppt/presentation.xml" Id="Ree32c9d157c94304" /></Relationships>
</file>

<file path=ppt/presentation.xml><?xml version="1.0" encoding="utf-8"?>
<p:presentation xmlns:p="http://schemas.openxmlformats.org/presentationml/2006/main">
  <p:sldMasterIdLst>
    <p:sldMasterId xmlns:r="http://schemas.openxmlformats.org/officeDocument/2006/relationships" id="2147483648" r:id="R4d54938c56c1459f"/>
  </p:sldMasterIdLst>
  <p:notesMasterIdLst>
    <p:notesMasterId xmlns:r="http://schemas.openxmlformats.org/officeDocument/2006/relationships" r:id="Rd1b1ba0ed3664dcf"/>
  </p:notesMasterIdLst>
  <p:sldIdLst>
    <p:sldId xmlns:r="http://schemas.openxmlformats.org/officeDocument/2006/relationships" id="256" r:id="Ra8075f56125e4c50"/>
    <p:sldId xmlns:r="http://schemas.openxmlformats.org/officeDocument/2006/relationships" id="257" r:id="Ra3cc7db8dc2c4345"/>
    <p:sldId xmlns:r="http://schemas.openxmlformats.org/officeDocument/2006/relationships" id="258" r:id="R24bcf55c67484055"/>
    <p:sldId xmlns:r="http://schemas.openxmlformats.org/officeDocument/2006/relationships" id="259" r:id="Rcde26e5d0f334ded"/>
    <p:sldId xmlns:r="http://schemas.openxmlformats.org/officeDocument/2006/relationships" id="260" r:id="R5ebed289247a4f9e"/>
    <p:sldId xmlns:r="http://schemas.openxmlformats.org/officeDocument/2006/relationships" id="261" r:id="R779d44e2f06a4e0c"/>
    <p:sldId xmlns:r="http://schemas.openxmlformats.org/officeDocument/2006/relationships" id="262" r:id="Ra6e58c26d82d42e5"/>
    <p:sldId xmlns:r="http://schemas.openxmlformats.org/officeDocument/2006/relationships" id="263" r:id="R849e1870b40b4df1"/>
    <p:sldId xmlns:r="http://schemas.openxmlformats.org/officeDocument/2006/relationships" id="264" r:id="R9eaae41acc684bf1"/>
    <p:sldId xmlns:r="http://schemas.openxmlformats.org/officeDocument/2006/relationships" id="265" r:id="R4e9a00344afa4523"/>
    <p:sldId xmlns:r="http://schemas.openxmlformats.org/officeDocument/2006/relationships" id="266" r:id="Ra2ae5e7bb8624656"/>
    <p:sldId xmlns:r="http://schemas.openxmlformats.org/officeDocument/2006/relationships" id="267" r:id="Rf8ef055cc7b34e10"/>
    <p:sldId xmlns:r="http://schemas.openxmlformats.org/officeDocument/2006/relationships" id="268" r:id="R953652ed69c345b0"/>
    <p:sldId xmlns:r="http://schemas.openxmlformats.org/officeDocument/2006/relationships" id="269" r:id="R066e56a96d044836"/>
    <p:sldId xmlns:r="http://schemas.openxmlformats.org/officeDocument/2006/relationships" id="270" r:id="R6f2f1fcad0da4cd1"/>
    <p:sldId xmlns:r="http://schemas.openxmlformats.org/officeDocument/2006/relationships" id="271" r:id="R4d42602ddf874cd8"/>
    <p:sldId xmlns:r="http://schemas.openxmlformats.org/officeDocument/2006/relationships" id="272" r:id="Rd18f029871f04eab"/>
    <p:sldId xmlns:r="http://schemas.openxmlformats.org/officeDocument/2006/relationships" id="273" r:id="R5514ffbc36c740d3"/>
    <p:sldId xmlns:r="http://schemas.openxmlformats.org/officeDocument/2006/relationships" id="274" r:id="R1e15875a64f84d00"/>
    <p:sldId xmlns:r="http://schemas.openxmlformats.org/officeDocument/2006/relationships" id="275" r:id="Rb2ad3f82a6c44335"/>
    <p:sldId xmlns:r="http://schemas.openxmlformats.org/officeDocument/2006/relationships" id="276" r:id="Rbeb39582c7fa4bae"/>
    <p:sldId xmlns:r="http://schemas.openxmlformats.org/officeDocument/2006/relationships" id="277" r:id="Raaab8223c23747c0"/>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4d54938c56c1459f" /><Relationship Type="http://schemas.openxmlformats.org/officeDocument/2006/relationships/theme" Target="/ppt/theme/theme1.xml" Id="R2f429080cd6a45a5" /><Relationship Type="http://schemas.openxmlformats.org/officeDocument/2006/relationships/notesMaster" Target="/ppt/notesMasters/notesMaster1.xml" Id="Rd1b1ba0ed3664dcf" /><Relationship Type="http://schemas.openxmlformats.org/officeDocument/2006/relationships/presProps" Target="/ppt/presProps.xml" Id="R1dd0b1c4b3f4461f" /><Relationship Type="http://schemas.openxmlformats.org/officeDocument/2006/relationships/viewProps" Target="/ppt/viewProps.xml" Id="R026f111d59c94a4e" /><Relationship Type="http://schemas.openxmlformats.org/officeDocument/2006/relationships/tableStyles" Target="/ppt/tableStyles.xml" Id="R77d21ac7b985478e" /><Relationship Type="http://schemas.openxmlformats.org/officeDocument/2006/relationships/slide" Target="/ppt/slides/slide1.xml" Id="Ra8075f56125e4c50" /><Relationship Type="http://schemas.openxmlformats.org/officeDocument/2006/relationships/slide" Target="/ppt/slides/slide2.xml" Id="Ra3cc7db8dc2c4345" /><Relationship Type="http://schemas.openxmlformats.org/officeDocument/2006/relationships/slide" Target="/ppt/slides/slide3.xml" Id="R24bcf55c67484055" /><Relationship Type="http://schemas.openxmlformats.org/officeDocument/2006/relationships/slide" Target="/ppt/slides/slide4.xml" Id="Rcde26e5d0f334ded" /><Relationship Type="http://schemas.openxmlformats.org/officeDocument/2006/relationships/slide" Target="/ppt/slides/slide5.xml" Id="R5ebed289247a4f9e" /><Relationship Type="http://schemas.openxmlformats.org/officeDocument/2006/relationships/slide" Target="/ppt/slides/slide6.xml" Id="R779d44e2f06a4e0c" /><Relationship Type="http://schemas.openxmlformats.org/officeDocument/2006/relationships/slide" Target="/ppt/slides/slide7.xml" Id="Ra6e58c26d82d42e5" /><Relationship Type="http://schemas.openxmlformats.org/officeDocument/2006/relationships/slide" Target="/ppt/slides/slide8.xml" Id="R849e1870b40b4df1" /><Relationship Type="http://schemas.openxmlformats.org/officeDocument/2006/relationships/slide" Target="/ppt/slides/slide9.xml" Id="R9eaae41acc684bf1" /><Relationship Type="http://schemas.openxmlformats.org/officeDocument/2006/relationships/slide" Target="/ppt/slides/slide10.xml" Id="R4e9a00344afa4523" /><Relationship Type="http://schemas.openxmlformats.org/officeDocument/2006/relationships/slide" Target="/ppt/slides/slide11.xml" Id="Ra2ae5e7bb8624656" /><Relationship Type="http://schemas.openxmlformats.org/officeDocument/2006/relationships/slide" Target="/ppt/slides/slide12.xml" Id="Rf8ef055cc7b34e10" /><Relationship Type="http://schemas.openxmlformats.org/officeDocument/2006/relationships/slide" Target="/ppt/slides/slide13.xml" Id="R953652ed69c345b0" /><Relationship Type="http://schemas.openxmlformats.org/officeDocument/2006/relationships/slide" Target="/ppt/slides/slide14.xml" Id="R066e56a96d044836" /><Relationship Type="http://schemas.openxmlformats.org/officeDocument/2006/relationships/slide" Target="/ppt/slides/slide15.xml" Id="R6f2f1fcad0da4cd1" /><Relationship Type="http://schemas.openxmlformats.org/officeDocument/2006/relationships/slide" Target="/ppt/slides/slide16.xml" Id="R4d42602ddf874cd8" /><Relationship Type="http://schemas.openxmlformats.org/officeDocument/2006/relationships/slide" Target="/ppt/slides/slide17.xml" Id="Rd18f029871f04eab" /><Relationship Type="http://schemas.openxmlformats.org/officeDocument/2006/relationships/slide" Target="/ppt/slides/slide18.xml" Id="R5514ffbc36c740d3" /><Relationship Type="http://schemas.openxmlformats.org/officeDocument/2006/relationships/slide" Target="/ppt/slides/slide19.xml" Id="R1e15875a64f84d00" /><Relationship Type="http://schemas.openxmlformats.org/officeDocument/2006/relationships/slide" Target="/ppt/slides/slide20.xml" Id="Rb2ad3f82a6c44335" /><Relationship Type="http://schemas.openxmlformats.org/officeDocument/2006/relationships/slide" Target="/ppt/slides/slide21.xml" Id="Rbeb39582c7fa4bae" /><Relationship Type="http://schemas.openxmlformats.org/officeDocument/2006/relationships/slide" Target="/ppt/slides/slide22.xml" Id="Raaab8223c23747c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ece4a4b892984e4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6371cee7e9e4f9d" /><Relationship Type="http://schemas.openxmlformats.org/officeDocument/2006/relationships/notesMaster" Target="/ppt/notesMasters/notesMaster1.xml" Id="R9a23057ab51045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ae9785012ad416a" /><Relationship Type="http://schemas.openxmlformats.org/officeDocument/2006/relationships/notesMaster" Target="/ppt/notesMasters/notesMaster1.xml" Id="R48466ec92f2d4642" /></Relationships>
</file>

<file path=ppt/notesSlides/_rels/notesSlide3.xml.rels>&#65279;<?xml version="1.0" encoding="utf-8"?><Relationships xmlns="http://schemas.openxmlformats.org/package/2006/relationships"><Relationship Type="http://schemas.openxmlformats.org/officeDocument/2006/relationships/slide" Target="/ppt/slides/slide3.xml" Id="R550c6c26feef4d6b" /><Relationship Type="http://schemas.openxmlformats.org/officeDocument/2006/relationships/notesMaster" Target="/ppt/notesMasters/notesMaster1.xml" Id="R5b42e3ff21a2453b" /></Relationships>
</file>

<file path=ppt/notesSlides/_rels/notesSlide4.xml.rels>&#65279;<?xml version="1.0" encoding="utf-8"?><Relationships xmlns="http://schemas.openxmlformats.org/package/2006/relationships"><Relationship Type="http://schemas.openxmlformats.org/officeDocument/2006/relationships/slide" Target="/ppt/slides/slide4.xml" Id="R0a4b7aaccf9a4851" /><Relationship Type="http://schemas.openxmlformats.org/officeDocument/2006/relationships/notesMaster" Target="/ppt/notesMasters/notesMaster1.xml" Id="R6f78855250a94edc" /></Relationships>
</file>

<file path=ppt/notesSlides/_rels/notesSlide5.xml.rels>&#65279;<?xml version="1.0" encoding="utf-8"?><Relationships xmlns="http://schemas.openxmlformats.org/package/2006/relationships"><Relationship Type="http://schemas.openxmlformats.org/officeDocument/2006/relationships/slide" Target="/ppt/slides/slide5.xml" Id="R31084166258e419e" /><Relationship Type="http://schemas.openxmlformats.org/officeDocument/2006/relationships/notesMaster" Target="/ppt/notesMasters/notesMaster1.xml" Id="R37f51267b24f45f7" /></Relationships>
</file>

<file path=ppt/notesSlides/_rels/notesSlide6.xml.rels>&#65279;<?xml version="1.0" encoding="utf-8"?><Relationships xmlns="http://schemas.openxmlformats.org/package/2006/relationships"><Relationship Type="http://schemas.openxmlformats.org/officeDocument/2006/relationships/slide" Target="/ppt/slides/slide6.xml" Id="Raea2c82847d04e61" /><Relationship Type="http://schemas.openxmlformats.org/officeDocument/2006/relationships/notesMaster" Target="/ppt/notesMasters/notesMaster1.xml" Id="Rb4dd8448995841a5" /></Relationships>
</file>

<file path=ppt/notesSlides/_rels/notesSlide7.xml.rels>&#65279;<?xml version="1.0" encoding="utf-8"?><Relationships xmlns="http://schemas.openxmlformats.org/package/2006/relationships"><Relationship Type="http://schemas.openxmlformats.org/officeDocument/2006/relationships/slide" Target="/ppt/slides/slide7.xml" Id="R64abc06688804ba2" /><Relationship Type="http://schemas.openxmlformats.org/officeDocument/2006/relationships/notesMaster" Target="/ppt/notesMasters/notesMaster1.xml" Id="R219cabdf96604a00" /></Relationships>
</file>

<file path=ppt/notesSlides/_rels/notesSlide8.xml.rels>&#65279;<?xml version="1.0" encoding="utf-8"?><Relationships xmlns="http://schemas.openxmlformats.org/package/2006/relationships"><Relationship Type="http://schemas.openxmlformats.org/officeDocument/2006/relationships/slide" Target="/ppt/slides/slide8.xml" Id="Re78de37ccdc4472d" /><Relationship Type="http://schemas.openxmlformats.org/officeDocument/2006/relationships/notesMaster" Target="/ppt/notesMasters/notesMaster1.xml" Id="Refc816c4b7814900" /></Relationships>
</file>

<file path=ppt/notesSlides/_rels/notesSlide9.xml.rels>&#65279;<?xml version="1.0" encoding="utf-8"?><Relationships xmlns="http://schemas.openxmlformats.org/package/2006/relationships"><Relationship Type="http://schemas.openxmlformats.org/officeDocument/2006/relationships/slide" Target="/ppt/slides/slide9.xml" Id="Rd36d58cdf8234bda" /><Relationship Type="http://schemas.openxmlformats.org/officeDocument/2006/relationships/notesMaster" Target="/ppt/notesMasters/notesMaster1.xml" Id="R576b004fa7364b0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cef51fdfe314be3" /><Relationship Type="http://schemas.openxmlformats.org/officeDocument/2006/relationships/notesMaster" Target="/ppt/notesMasters/notesMaster1.xml" Id="R23baf01784d74ac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3801629fffa49d9" /><Relationship Type="http://schemas.openxmlformats.org/officeDocument/2006/relationships/notesMaster" Target="/ppt/notesMasters/notesMaster1.xml" Id="R65b2b1b755a1421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7fe84a52b8e454e" /><Relationship Type="http://schemas.openxmlformats.org/officeDocument/2006/relationships/notesMaster" Target="/ppt/notesMasters/notesMaster1.xml" Id="Rd61649a0b10544c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8154db6390f46ce" /><Relationship Type="http://schemas.openxmlformats.org/officeDocument/2006/relationships/notesMaster" Target="/ppt/notesMasters/notesMaster1.xml" Id="Rcff270adeb74468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e67bd8b4ca54392" /><Relationship Type="http://schemas.openxmlformats.org/officeDocument/2006/relationships/notesMaster" Target="/ppt/notesMasters/notesMaster1.xml" Id="R90ab42b806884bb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d5ccbc225e54030" /><Relationship Type="http://schemas.openxmlformats.org/officeDocument/2006/relationships/notesMaster" Target="/ppt/notesMasters/notesMaster1.xml" Id="R89673b0d1c4a4c6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f22f6643a5a4e8f" /><Relationship Type="http://schemas.openxmlformats.org/officeDocument/2006/relationships/notesMaster" Target="/ppt/notesMasters/notesMaster1.xml" Id="R8883e362aa744e7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6664c9955be4eb9" /><Relationship Type="http://schemas.openxmlformats.org/officeDocument/2006/relationships/notesMaster" Target="/ppt/notesMasters/notesMaster1.xml" Id="R46915f2f4a45434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2b1f57bdb6f4b90" /><Relationship Type="http://schemas.openxmlformats.org/officeDocument/2006/relationships/notesMaster" Target="/ppt/notesMasters/notesMaster1.xml" Id="R71ff7da728ab480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7e42225e25b4394" /><Relationship Type="http://schemas.openxmlformats.org/officeDocument/2006/relationships/notesMaster" Target="/ppt/notesMasters/notesMaster1.xml" Id="Rdc2fbe6a8ff141b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cfb5f6afaab4219" /><Relationship Type="http://schemas.openxmlformats.org/officeDocument/2006/relationships/notesMaster" Target="/ppt/notesMasters/notesMaster1.xml" Id="R4f29abc8a850435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f4dffb1c0a243d1" /><Relationship Type="http://schemas.openxmlformats.org/officeDocument/2006/relationships/notesMaster" Target="/ppt/notesMasters/notesMaster1.xml" Id="R3eb319ef8639495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5656ef6d78f4e5b" /><Relationship Type="http://schemas.openxmlformats.org/officeDocument/2006/relationships/notesMaster" Target="/ppt/notesMasters/notesMaster1.xml" Id="R11840bb4d1df472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Framing: this is a paper about the admission argument for deleting model decisions, not a paper about speed. The headline engineering result is a 50% request reduction with task quality preserved; the headline scientific result is that most recurrent regions cannot be certified at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honest ledger. The paper's claims register (Table 9) gives seven of thirteen claims a negative verdict — C5 to C9 plus C12 and C13 — and the six that stand carry explicit scope caveats. That discipline is the reason to trust the ones that do stand.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Baseline figures are the mean per-episode measurements from the expanded 30-record replication (Table 2). Three of the four model turns are pure tool selection over a path every one of 132 discovery traces took.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whole argument for why an agent optimizer needs more machinery than a cache. Each hazard maps to a specific rejection point in the compiler.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RQ3 and RQ4 are the unusual ones: the paper treats refusal and residual failure as first-class results rather than as caveats.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right-hand column is drawn verbatim from the paper's own boundary statement. Read it out loud in a review — it is what makes the left column credible.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asymmetry that makes the design defensible: statistics can only ever narrow what a structurally admissible artifact is allowed to do. They can never widen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cascade order is load-bearing: the cheap structural checks run before the expensive statistical ones, and the feasibility estimator can decline a workload before any synthesis cost is incurred. Caveat to state if asked: the perturbation suite needs a sandbox, and the headline live artifact records perturbations_claimed: false — it was never adversarially challenged.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96.3% is candidate recall and close to definitional. The load-bearing number is 80.7% unique resolution — that is what synthesis can actually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to dwell on for anyone worried about blast radius. Of the seven terminal runtime edges, five return the unchanged agent, one raises an incident rather than feigning a rollback, and only one compacts. There is no silent-degradation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someone asks 'why 92?', the answer is: alpha .05, delta .10, eleven grid thresholds, and zero observed violations. It is a consequence of the configuration, not a discovered property of any workload.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Practical framing for a platform team: this is the cheap triage question. If the ceiling on your workload is 15%, stop — no compiler will beat that, and you have saved the discovery spend.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Tier separation is the methodological contribution most reviewers will respect: no tier is asked to license a claim it cannot support.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tool-call bar: the compiler keeps all three reads. It removes model-mediated decisions, not evidence acquisition. The macro removes reads because a human redesigned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McNemar carries almost no information at these sample sizes: p = 1 in both arms. The informative quantity is the one-sided exact bound on the paired degradation rate — 9.5% for the 30-record two-read arm with zero compiler-only failures, and 23.8% for the 18-record three-read arm with its single discordance. Perfect or near-perfect observed agreement is compatible with an operationally unacceptable rate; a predeclared non-inferiority margin of a few points would need hundreds of sealed pairs per domain.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only Demo F clears the noise floor set by the refusing controls, and even there the magnitude is indicative. The direction is what the data supports.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Paired two-sided Wilcoxon p = 0.000488 for tokens, latency, and cost. The value of this design is the ordering: decide, hash the calibration file, then draw the fresh cohort.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paper's claims register (Table 9) gives a negative verdict to seven of thirteen claims: C5, C6, C7 and C9 and C13 not supported, C8 not evaluated, C12 not implemented. C10 and C11 are verified but scoped — one is a provider-free counterfactual, the other holds on a single workflow family. Reading that table is the fastest way to calibrate how much of this is deployable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framing sentence from the paper's conclusion: an agent optimizer should be judged not only by what it compresses, but by whether it can explain and enforce when it must not compile.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33a998a24b14244" /></Relationships>
</file>

<file path=ppt/slideLayouts/slideLayout2.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537bb7ef8a8a41c9" /><Relationship Type="http://schemas.openxmlformats.org/officeDocument/2006/relationships/slideLayout" Target="/ppt/slideLayouts/slideLayout2.xml" Id="Rd722325d7cf64591"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722325d7cf64591"/>
  </p:sldLayoutIdLst>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841e5d5956e64a20" /><Relationship Type="http://schemas.openxmlformats.org/officeDocument/2006/relationships/notesSlide" Target="/ppt/notesSlides/notesSlide1.xml" Id="R51dd7fc8cc3f4703"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f9a57132477c4417" /><Relationship Type="http://schemas.openxmlformats.org/officeDocument/2006/relationships/notesSlide" Target="/ppt/notesSlides/notesSlide2.xml" Id="R33f67d6544394659"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e970a77977124176" /><Relationship Type="http://schemas.openxmlformats.org/officeDocument/2006/relationships/notesSlide" Target="/ppt/notesSlides/notesSlide3.xml" Id="R690c66f6106e477a"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265bd8deaf104f32" /><Relationship Type="http://schemas.openxmlformats.org/officeDocument/2006/relationships/notesSlide" Target="/ppt/notesSlides/notesSlide4.xml" Id="Rbfe2c096f58045d1"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e53f2bd1d38c4522" /><Relationship Type="http://schemas.openxmlformats.org/officeDocument/2006/relationships/notesSlide" Target="/ppt/notesSlides/notesSlide5.xml" Id="Rd8c3f37b0cc34178"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5722c053010e41d3" /><Relationship Type="http://schemas.openxmlformats.org/officeDocument/2006/relationships/notesSlide" Target="/ppt/notesSlides/notesSlide6.xml" Id="R867941349a0b4c7b"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6697f2bed53e458a" /><Relationship Type="http://schemas.openxmlformats.org/officeDocument/2006/relationships/notesSlide" Target="/ppt/notesSlides/notesSlide7.xml" Id="Rf4d45fc2f6ca49e1"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aa2e01d15dcc4dd7" /><Relationship Type="http://schemas.openxmlformats.org/officeDocument/2006/relationships/notesSlide" Target="/ppt/notesSlides/notesSlide8.xml" Id="Rabb54a407e7d4792"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d9af2267ba9243af" /><Relationship Type="http://schemas.openxmlformats.org/officeDocument/2006/relationships/notesSlide" Target="/ppt/notesSlides/notesSlide9.xml" Id="R64768ca0505b470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cc4ceb3352384d00" /><Relationship Type="http://schemas.openxmlformats.org/officeDocument/2006/relationships/notesSlide" Target="/ppt/notesSlides/notesSlide10.xml" Id="Rabd3a8d226754ae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6c1a6118224f4238" /><Relationship Type="http://schemas.openxmlformats.org/officeDocument/2006/relationships/notesSlide" Target="/ppt/notesSlides/notesSlide11.xml" Id="R78f1bf7868164b6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ee4d82f6511345bb" /><Relationship Type="http://schemas.openxmlformats.org/officeDocument/2006/relationships/notesSlide" Target="/ppt/notesSlides/notesSlide12.xml" Id="Rf07af577d85748e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289274cfd17a4f07" /><Relationship Type="http://schemas.openxmlformats.org/officeDocument/2006/relationships/notesSlide" Target="/ppt/notesSlides/notesSlide13.xml" Id="R7ad2a0bdecad439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96600e2b15d140eb" /><Relationship Type="http://schemas.openxmlformats.org/officeDocument/2006/relationships/chart" Target="/ppt/slides/charts/chart1.xml" Id="Reea853aca92a4cfb" /><Relationship Type="http://schemas.openxmlformats.org/officeDocument/2006/relationships/notesSlide" Target="/ppt/notesSlides/notesSlide14.xml" Id="R7b6504496007482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0b2659607a5542f3" /><Relationship Type="http://schemas.openxmlformats.org/officeDocument/2006/relationships/chart" Target="/ppt/slides/charts/chart2.xml" Id="R3449963e262e476c" /><Relationship Type="http://schemas.openxmlformats.org/officeDocument/2006/relationships/notesSlide" Target="/ppt/notesSlides/notesSlide15.xml" Id="R16299e87cde7439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61dde926802a4204" /><Relationship Type="http://schemas.openxmlformats.org/officeDocument/2006/relationships/notesSlide" Target="/ppt/notesSlides/notesSlide16.xml" Id="R713d879c6490433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2.xml" Id="Rabb15a6e5e374966" /><Relationship Type="http://schemas.openxmlformats.org/officeDocument/2006/relationships/chart" Target="/ppt/slides/charts/chart3.xml" Id="R7f56c977bce348c3" /><Relationship Type="http://schemas.openxmlformats.org/officeDocument/2006/relationships/notesSlide" Target="/ppt/notesSlides/notesSlide17.xml" Id="R6aa5dd72a8c5487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xml" Id="Rc73d14ddf2d44cb7" /><Relationship Type="http://schemas.openxmlformats.org/officeDocument/2006/relationships/notesSlide" Target="/ppt/notesSlides/notesSlide18.xml" Id="R29d54fb76fa0413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2.xml" Id="Rb4dbb21df7384eb9" /><Relationship Type="http://schemas.openxmlformats.org/officeDocument/2006/relationships/notesSlide" Target="/ppt/notesSlides/notesSlide19.xml" Id="R6973930436cb408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xml" Id="R9d40beaa9aaa4e93" /><Relationship Type="http://schemas.openxmlformats.org/officeDocument/2006/relationships/chart" Target="/ppt/slides/charts/chart4.xml" Id="Rbcbff712ee0449ad" /><Relationship Type="http://schemas.openxmlformats.org/officeDocument/2006/relationships/notesSlide" Target="/ppt/notesSlides/notesSlide20.xml" Id="R69200590affd4af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2.xml" Id="Rd7a57c0c1214459b" /><Relationship Type="http://schemas.openxmlformats.org/officeDocument/2006/relationships/notesSlide" Target="/ppt/notesSlides/notesSlide21.xml" Id="Rba839d1deffe424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2.xml" Id="Rce8364e516164e41" /><Relationship Type="http://schemas.openxmlformats.org/officeDocument/2006/relationships/notesSlide" Target="/ppt/notesSlides/notesSlide22.xml" Id="R0f63cb972acb42a9" /></Relationships>
</file>

<file path=ppt/slides/charts/chart1.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NESTFUL: independent group records available vs required</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Group records</c:v>
                </c:pt>
              </c:strCache>
            </c:strRef>
          </c:tx>
          <c:spPr>
            <a:solidFill xmlns:a="http://schemas.openxmlformats.org/drawingml/2006/main">
              <a:srgbClr val="17798A"/>
            </a:solidFill>
          </c:spPr>
          <c:dPt>
            <c:idx val="1"/>
            <c:spPr>
              <a:solidFill xmlns:a="http://schemas.openxmlformats.org/drawingml/2006/main">
                <a:srgbClr val="AC4A2C"/>
              </a:solidFill>
            </c:spPr>
          </c:dPt>
          <c:cat>
            <c:strRef>
              <c:f>Sheet1!$A$2:$A$3</c:f>
              <c:strCache>
                <c:ptCount val="2"/>
                <c:pt idx="0">
                  <c:v>Best family support</c:v>
                </c:pt>
                <c:pt idx="1">
                  <c:v>Gate requirement</c:v>
                </c:pt>
              </c:strCache>
            </c:strRef>
          </c:cat>
          <c:val>
            <c:numRef>
              <c:f>Sheet1!$B$2:$B$3</c:f>
              <c:numCache>
                <c:formatCode>General</c:formatCode>
                <c:ptCount val="2"/>
                <c:pt idx="0">
                  <c:v>26</c:v>
                </c:pt>
                <c:pt idx="1">
                  <c:v>92</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6EEF0"/>
              </a:solidFill>
              <a:prstDash val="solid"/>
            </a:ln>
          </c:spPr>
        </c:majorGridlines>
        <c:numFmt formatCode="General"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charts/chart2.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Resource use per episode, normalized to the unchanged agent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Unchanged agent</c:v>
                </c:pt>
              </c:strCache>
            </c:strRef>
          </c:tx>
          <c:spPr>
            <a:solidFill xmlns:a="http://schemas.openxmlformats.org/drawingml/2006/main">
              <a:srgbClr val="9CC7CE"/>
            </a:solidFill>
          </c:spPr>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GAC two-read prefix</c:v>
                </c:pt>
              </c:strCache>
            </c:strRef>
          </c:tx>
          <c:spPr>
            <a:solidFill xmlns:a="http://schemas.openxmlformats.org/drawingml/2006/main">
              <a:srgbClr val="17798A"/>
            </a:solidFill>
          </c:spPr>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ser>
        <c:ser>
          <c:idx val="2"/>
          <c:order val="2"/>
          <c:tx>
            <c:strRef>
              <c:f>Sheet1!$D$1</c:f>
              <c:strCache>
                <c:ptCount val="1"/>
                <c:pt idx="0">
                  <c:v>Hand-written macro</c:v>
                </c:pt>
              </c:strCache>
            </c:strRef>
          </c:tx>
          <c:spPr>
            <a:solidFill xmlns:a="http://schemas.openxmlformats.org/drawingml/2006/main">
              <a:srgbClr val="AC4A2C"/>
            </a:solidFill>
          </c:spPr>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33.3</c:v>
                </c:pt>
                <c:pt idx="2">
                  <c:v>41.8</c:v>
                </c:pt>
                <c:pt idx="3">
                  <c:v>52.8</c:v>
                </c:pt>
                <c:pt idx="4">
                  <c:v>62.5</c:v>
                </c:pt>
              </c:numCache>
            </c:numRef>
          </c:val>
        </c:ser>
        <c:dLbls>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10"/>
        </c:scaling>
        <c:delete val="0"/>
        <c:axPos val="l"/>
        <c:majorGridlines>
          <c:spPr>
            <a:ln xmlns:a="http://schemas.openxmlformats.org/drawingml/2006/main" w="9525">
              <a:solidFill>
                <a:srgbClr val="E6EEF0"/>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A4247"/>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3.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Saving versus baseline per demonstration condition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Tokens saved</c:v>
                </c:pt>
              </c:strCache>
            </c:strRef>
          </c:tx>
          <c:spPr>
            <a:solidFill xmlns:a="http://schemas.openxmlformats.org/drawingml/2006/main">
              <a:srgbClr val="17798A"/>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Sheet1!$B$2:$B$7</c:f>
              <c:numCache>
                <c:formatCode>General</c:formatCode>
                <c:ptCount val="6"/>
                <c:pt idx="0">
                  <c:v>79.6</c:v>
                </c:pt>
                <c:pt idx="1">
                  <c:v>76.3</c:v>
                </c:pt>
                <c:pt idx="2">
                  <c:v>73.8</c:v>
                </c:pt>
                <c:pt idx="3">
                  <c:v>66.4</c:v>
                </c:pt>
                <c:pt idx="4">
                  <c:v>16.8</c:v>
                </c:pt>
                <c:pt idx="5">
                  <c:v>-0.2</c:v>
                </c:pt>
              </c:numCache>
            </c:numRef>
          </c:val>
        </c:ser>
        <c:ser>
          <c:idx val="1"/>
          <c:order val="1"/>
          <c:tx>
            <c:strRef>
              <c:f>Sheet1!$C$1</c:f>
              <c:strCache>
                <c:ptCount val="1"/>
                <c:pt idx="0">
                  <c:v>Cost saved</c:v>
                </c:pt>
              </c:strCache>
            </c:strRef>
          </c:tx>
          <c:spPr>
            <a:solidFill xmlns:a="http://schemas.openxmlformats.org/drawingml/2006/main">
              <a:srgbClr val="AC4A2C"/>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Sheet1!$C$2:$C$7</c:f>
              <c:numCache>
                <c:formatCode>General</c:formatCode>
                <c:ptCount val="6"/>
                <c:pt idx="0">
                  <c:v>73.6</c:v>
                </c:pt>
                <c:pt idx="1">
                  <c:v>68.7</c:v>
                </c:pt>
                <c:pt idx="2">
                  <c:v>75.5</c:v>
                </c:pt>
                <c:pt idx="3">
                  <c:v>-8.3</c:v>
                </c:pt>
                <c:pt idx="4">
                  <c:v>-123</c:v>
                </c:pt>
                <c:pt idx="5">
                  <c:v>-55.4</c:v>
                </c:pt>
              </c:numCache>
            </c:numRef>
          </c:val>
        </c:ser>
        <c:dLbls>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00"/>
          <c:min val="-150"/>
        </c:scaling>
        <c:delete val="0"/>
        <c:axPos val="l"/>
        <c:majorGridlines>
          <c:spPr>
            <a:ln xmlns:a="http://schemas.openxmlformats.org/drawingml/2006/main" w="9525">
              <a:solidFill>
                <a:srgbClr val="E6EEF0"/>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A4247"/>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4.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050" b="0" i="0" u="none">
                <a:solidFill>
                  <a:srgbClr val="5F767A"/>
                </a:solidFill>
                <a:latin typeface="Calibri"/>
                <a:ea typeface="Calibri"/>
                <a:cs typeface="Calibri"/>
              </a:rPr>
              <a:t>Mean paired portfolio utility on 30 frozen calibration groups (pp)</a:t>
            </a:r>
          </a:p>
        </c:rich>
      </c:tx>
      <c:overlay val="0"/>
      <c:txPr>
        <a:bodyPr xmlns:a="http://schemas.openxmlformats.org/drawingml/2006/main" anchorCtr="1"/>
        <a:lstStyle xmlns:a="http://schemas.openxmlformats.org/drawingml/2006/main"/>
        <a:p xmlns:a="http://schemas.openxmlformats.org/drawingml/2006/main">
          <a:pPr>
            <a:defRPr sz="1050" b="0" i="0" u="none">
              <a:solidFill>
                <a:srgbClr val="5F767A"/>
              </a:solidFill>
              <a:latin typeface="Calibri"/>
              <a:ea typeface="Calibri"/>
              <a:cs typeface="Calibri"/>
            </a:defRPr>
          </a:pPr>
        </a:p>
      </c:txPr>
    </c:title>
    <c:autoTitleDeleted val="0"/>
    <c:plotArea>
      <c:layout/>
      <c:barChart>
        <c:barDir val="bar"/>
        <c:grouping val="clustered"/>
        <c:varyColors val="0"/>
        <c:ser>
          <c:idx val="0"/>
          <c:order val="0"/>
          <c:tx>
            <c:strRef>
              <c:f>Sheet1!$B$1</c:f>
              <c:strCache>
                <c:ptCount val="1"/>
                <c:pt idx="0">
                  <c:v>Mean paired utility</c:v>
                </c:pt>
              </c:strCache>
            </c:strRef>
          </c:tx>
          <c:spPr>
            <a:solidFill xmlns:a="http://schemas.openxmlformats.org/drawingml/2006/main">
              <a:srgbClr val="AC4A2C"/>
            </a:solidFill>
          </c:spPr>
          <c:dPt>
            <c:idx val="1"/>
            <c:spPr>
              <a:solidFill xmlns:a="http://schemas.openxmlformats.org/drawingml/2006/main">
                <a:srgbClr val="17798A"/>
              </a:solidFill>
            </c:spPr>
          </c:dPt>
          <c:cat>
            <c:strRef>
              <c:f>Sheet1!$A$2:$A$3</c:f>
              <c:strCache>
                <c:ptCount val="2"/>
                <c:pt idx="0">
                  <c:v>Hand-written macro</c:v>
                </c:pt>
                <c:pt idx="1">
                  <c:v>Learned compiler</c:v>
                </c:pt>
              </c:strCache>
            </c:strRef>
          </c:cat>
          <c:val>
            <c:numRef>
              <c:f>Sheet1!$B$2:$B$3</c:f>
              <c:numCache>
                <c:formatCode>General</c:formatCode>
                <c:ptCount val="2"/>
                <c:pt idx="0">
                  <c:v>48.9</c:v>
                </c:pt>
                <c:pt idx="1">
                  <c:v>32.7</c:v>
                </c:pt>
              </c:numCache>
            </c:numRef>
          </c:val>
        </c:ser>
        <c:dLbls>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sourceLinked="1"/>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0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60"/>
        </c:scaling>
        <c:delete val="0"/>
        <c:axPos val="b"/>
        <c:majorGridlines>
          <c:spPr>
            <a:ln xmlns:a="http://schemas.openxmlformats.org/drawingml/2006/main" w="9525">
              <a:solidFill>
                <a:srgbClr val="E6EEF0"/>
              </a:solidFill>
              <a:prstDash val="solid"/>
            </a:ln>
          </c:spPr>
        </c:majorGridlines>
        <c:numFmt formatCode="General" sourceLinked="0"/>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slide1.xml><?xml version="1.0" encoding="utf-8"?>
<p:sld xmlns:p="http://schemas.openxmlformats.org/presentationml/2006/main">
  <p:cSld>
    <p:bg>
      <p:bgPr>
        <a:solidFill xmlns:a="http://schemas.openxmlformats.org/drawingml/2006/main">
          <a:srgbClr val="0E272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D61F51B4-D095-4C69-8F36-3748018B997E}"/>
              </a:ext>
            </a:extLst>
          </p:cNvPr>
          <p:cNvSpPr>
            <a:spLocks xmlns:a="http://schemas.openxmlformats.org/drawingml/2006/main" noGrp="1"/>
          </p:cNvSpPr>
          <p:nvPr/>
        </p:nvSpPr>
        <p:spPr>
          <a:xfrm xmlns:a="http://schemas.openxmlformats.org/drawingml/2006/main">
            <a:off x="8686800" y="-1371600"/>
            <a:ext cx="5852160" cy="5852160"/>
          </a:xfrm>
          <a:prstGeom xmlns:a="http://schemas.openxmlformats.org/drawingml/2006/main" prst="ellipse">
            <a:avLst/>
          </a:prstGeom>
          <a:solidFill xmlns:a="http://schemas.openxmlformats.org/drawingml/2006/main">
            <a:srgbClr val="0D4A54">
              <a:alpha val="55000"/>
            </a:srgbClr>
          </a:solidFill>
          <a:ln xmlns:a="http://schemas.openxmlformats.org/drawingml/2006/main" w="1270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BAAB226B-BD0B-4577-B0D1-DA6270C7958B}"/>
              </a:ext>
            </a:extLst>
          </p:cNvPr>
          <p:cNvSpPr>
            <a:spLocks xmlns:a="http://schemas.openxmlformats.org/drawingml/2006/main" noGrp="1"/>
          </p:cNvSpPr>
          <p:nvPr/>
        </p:nvSpPr>
        <p:spPr>
          <a:xfrm xmlns:a="http://schemas.openxmlformats.org/drawingml/2006/main">
            <a:off x="9966960" y="-91440"/>
            <a:ext cx="3291840" cy="3291840"/>
          </a:xfrm>
          <a:prstGeom xmlns:a="http://schemas.openxmlformats.org/drawingml/2006/main" prst="ellipse">
            <a:avLst/>
          </a:prstGeom>
          <a:solidFill xmlns:a="http://schemas.openxmlformats.org/drawingml/2006/main">
            <a:srgbClr val="17798A">
              <a:alpha val="45000"/>
            </a:srgbClr>
          </a:solidFill>
          <a:ln xmlns:a="http://schemas.openxmlformats.org/drawingml/2006/main" w="1270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4" name="Shape 2">
            <a:extLst xmlns:a="http://schemas.openxmlformats.org/drawingml/2006/main">
              <a:ext uri="{FF2B5EF4-FFF2-40B4-BE49-F238E27FC236}">
                <a16:creationId xmlns:a16="http://schemas.microsoft.com/office/drawing/2014/main" id="{6E1D850B-C7F1-40AB-88C8-719E258C0B1D}"/>
              </a:ext>
            </a:extLst>
          </p:cNvPr>
          <p:cNvSpPr>
            <a:spLocks xmlns:a="http://schemas.openxmlformats.org/drawingml/2006/main" noGrp="1"/>
          </p:cNvSpPr>
          <p:nvPr/>
        </p:nvSpPr>
        <p:spPr>
          <a:xfrm xmlns:a="http://schemas.openxmlformats.org/drawingml/2006/main">
            <a:off x="10835640" y="777240"/>
            <a:ext cx="1554480" cy="1554480"/>
          </a:xfrm>
          <a:prstGeom xmlns:a="http://schemas.openxmlformats.org/drawingml/2006/main" prst="ellipse">
            <a:avLst/>
          </a:prstGeom>
          <a:solidFill xmlns:a="http://schemas.openxmlformats.org/drawingml/2006/main">
            <a:srgbClr val="4EA3B0">
              <a:alpha val="70000"/>
            </a:srgbClr>
          </a:solidFill>
          <a:ln xmlns:a="http://schemas.openxmlformats.org/drawingml/2006/main" w="1270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5" name="Text 3">
            <a:extLst xmlns:a="http://schemas.openxmlformats.org/drawingml/2006/main">
              <a:ext uri="{FF2B5EF4-FFF2-40B4-BE49-F238E27FC236}">
                <a16:creationId xmlns:a16="http://schemas.microsoft.com/office/drawing/2014/main" id="{57D06B23-2FB0-44DA-B867-50D356754394}"/>
              </a:ext>
            </a:extLst>
          </p:cNvPr>
          <p:cNvSpPr>
            <a:spLocks xmlns:a="http://schemas.openxmlformats.org/drawingml/2006/main" noGrp="1"/>
          </p:cNvSpPr>
          <p:nvPr/>
        </p:nvSpPr>
        <p:spPr>
          <a:xfrm xmlns:a="http://schemas.openxmlformats.org/drawingml/2006/main">
            <a:off x="640080" y="1417320"/>
            <a:ext cx="7863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4EA3B0"/>
                </a:solidFill>
                <a:latin typeface="Calibri"/>
                <a:ea typeface="Calibri"/>
                <a:cs typeface="Calibri"/>
              </a:rPr>
              <a:t>PAPER REVIEW  ·  AGENT INFRASTRUCTURE</a:t>
            </a:r>
          </a:p>
        </p:txBody>
      </p:sp>
      <p:sp>
        <p:nvSpPr>
          <p:cNvPr id="6" name="Text 4">
            <a:extLst xmlns:a="http://schemas.openxmlformats.org/drawingml/2006/main">
              <a:ext uri="{FF2B5EF4-FFF2-40B4-BE49-F238E27FC236}">
                <a16:creationId xmlns:a16="http://schemas.microsoft.com/office/drawing/2014/main" id="{5F6A5AA7-77FF-4601-89D8-D37F5D471A6C}"/>
              </a:ext>
            </a:extLst>
          </p:cNvPr>
          <p:cNvSpPr>
            <a:spLocks xmlns:a="http://schemas.openxmlformats.org/drawingml/2006/main" noGrp="1"/>
          </p:cNvSpPr>
          <p:nvPr/>
        </p:nvSpPr>
        <p:spPr>
          <a:xfrm xmlns:a="http://schemas.openxmlformats.org/drawingml/2006/main">
            <a:off x="640080" y="1828800"/>
            <a:ext cx="8138160"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3700" b="1">
                <a:solidFill>
                  <a:srgbClr val="FFFFFF"/>
                </a:solidFill>
                <a:latin typeface="Cambria"/>
                <a:ea typeface="Cambria"/>
                <a:cs typeface="Cambria"/>
              </a:rPr>
              <a:t>Compiling Recurrent Agent Workflows into Guarded Programs</a:t>
            </a:r>
          </a:p>
        </p:txBody>
      </p:sp>
      <p:sp>
        <p:nvSpPr>
          <p:cNvPr id="7" name="Text 5">
            <a:extLst xmlns:a="http://schemas.openxmlformats.org/drawingml/2006/main">
              <a:ext uri="{FF2B5EF4-FFF2-40B4-BE49-F238E27FC236}">
                <a16:creationId xmlns:a16="http://schemas.microsoft.com/office/drawing/2014/main" id="{B0321330-7E06-4AD7-87C8-7ED9B9084749}"/>
              </a:ext>
            </a:extLst>
          </p:cNvPr>
          <p:cNvSpPr>
            <a:spLocks xmlns:a="http://schemas.openxmlformats.org/drawingml/2006/main" noGrp="1"/>
          </p:cNvSpPr>
          <p:nvPr/>
        </p:nvSpPr>
        <p:spPr>
          <a:xfrm xmlns:a="http://schemas.openxmlformats.org/drawingml/2006/main">
            <a:off x="640080" y="3611880"/>
            <a:ext cx="768096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b="1">
                <a:solidFill>
                  <a:srgbClr val="FFFFFF"/>
                </a:solidFill>
                <a:latin typeface="Calibri"/>
                <a:ea typeface="Calibri"/>
                <a:cs typeface="Calibri"/>
              </a:rPr>
              <a:t>Guarded Agentic Compaction (GAC). </a:t>
            </a:r>
            <a:r>
              <a:rPr sz="1500">
                <a:solidFill>
                  <a:srgbClr val="9CC7CE"/>
                </a:solidFill>
                <a:latin typeface="Calibri"/>
                <a:ea typeface="Calibri"/>
                <a:cs typeface="Calibri"/>
              </a:rPr>
              <a:t>What evidence licenses deleting a recurring model decision — and when an optimizer is obliged to refuse.</a:t>
            </a:r>
          </a:p>
        </p:txBody>
      </p:sp>
      <p:sp>
        <p:nvSpPr>
          <p:cNvPr id="8" name="Text 6">
            <a:extLst xmlns:a="http://schemas.openxmlformats.org/drawingml/2006/main">
              <a:ext uri="{FF2B5EF4-FFF2-40B4-BE49-F238E27FC236}">
                <a16:creationId xmlns:a16="http://schemas.microsoft.com/office/drawing/2014/main" id="{25A009CE-16D9-4EDD-8E4C-951D18957AD3}"/>
              </a:ext>
            </a:extLst>
          </p:cNvPr>
          <p:cNvSpPr>
            <a:spLocks xmlns:a="http://schemas.openxmlformats.org/drawingml/2006/main" noGrp="1"/>
          </p:cNvSpPr>
          <p:nvPr/>
        </p:nvSpPr>
        <p:spPr>
          <a:xfrm xmlns:a="http://schemas.openxmlformats.org/drawingml/2006/main">
            <a:off x="64008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4EA3B0"/>
                </a:solidFill>
                <a:latin typeface="Cambria"/>
                <a:ea typeface="Cambria"/>
                <a:cs typeface="Cambria"/>
              </a:rPr>
              <a:t>1</a:t>
            </a:r>
          </a:p>
        </p:txBody>
      </p:sp>
      <p:sp>
        <p:nvSpPr>
          <p:cNvPr id="9" name="Text 7">
            <a:extLst xmlns:a="http://schemas.openxmlformats.org/drawingml/2006/main">
              <a:ext uri="{FF2B5EF4-FFF2-40B4-BE49-F238E27FC236}">
                <a16:creationId xmlns:a16="http://schemas.microsoft.com/office/drawing/2014/main" id="{3086E477-44D5-4C15-9308-B6CBB1B1B57E}"/>
              </a:ext>
            </a:extLst>
          </p:cNvPr>
          <p:cNvSpPr>
            <a:spLocks xmlns:a="http://schemas.openxmlformats.org/drawingml/2006/main" noGrp="1"/>
          </p:cNvSpPr>
          <p:nvPr/>
        </p:nvSpPr>
        <p:spPr>
          <a:xfrm xmlns:a="http://schemas.openxmlformats.org/drawingml/2006/main">
            <a:off x="120700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9CC7CE"/>
                </a:solidFill>
                <a:latin typeface="Calibri"/>
                <a:ea typeface="Calibri"/>
                <a:cs typeface="Calibri"/>
              </a:rPr>
              <a:t>public executable benchmark (NESTFUL, 1,415 episodes)</a:t>
            </a:r>
          </a:p>
        </p:txBody>
      </p:sp>
      <p:sp>
        <p:nvSpPr>
          <p:cNvPr id="10" name="Text 8">
            <a:extLst xmlns:a="http://schemas.openxmlformats.org/drawingml/2006/main">
              <a:ext uri="{FF2B5EF4-FFF2-40B4-BE49-F238E27FC236}">
                <a16:creationId xmlns:a16="http://schemas.microsoft.com/office/drawing/2014/main" id="{E4A916D7-57FA-4290-9891-13877C24AF45}"/>
              </a:ext>
            </a:extLst>
          </p:cNvPr>
          <p:cNvSpPr>
            <a:spLocks xmlns:a="http://schemas.openxmlformats.org/drawingml/2006/main" noGrp="1"/>
          </p:cNvSpPr>
          <p:nvPr/>
        </p:nvSpPr>
        <p:spPr>
          <a:xfrm xmlns:a="http://schemas.openxmlformats.org/drawingml/2006/main">
            <a:off x="342900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4EA3B0"/>
                </a:solidFill>
                <a:latin typeface="Cambria"/>
                <a:ea typeface="Cambria"/>
                <a:cs typeface="Cambria"/>
              </a:rPr>
              <a:t>5</a:t>
            </a:r>
          </a:p>
        </p:txBody>
      </p:sp>
      <p:sp>
        <p:nvSpPr>
          <p:cNvPr id="11" name="Text 9">
            <a:extLst xmlns:a="http://schemas.openxmlformats.org/drawingml/2006/main">
              <a:ext uri="{FF2B5EF4-FFF2-40B4-BE49-F238E27FC236}">
                <a16:creationId xmlns:a16="http://schemas.microsoft.com/office/drawing/2014/main" id="{B2D3148D-E97D-462C-A163-3E90D368EFB6}"/>
              </a:ext>
            </a:extLst>
          </p:cNvPr>
          <p:cNvSpPr>
            <a:spLocks xmlns:a="http://schemas.openxmlformats.org/drawingml/2006/main" noGrp="1"/>
          </p:cNvSpPr>
          <p:nvPr/>
        </p:nvSpPr>
        <p:spPr>
          <a:xfrm xmlns:a="http://schemas.openxmlformats.org/drawingml/2006/main">
            <a:off x="399592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9CC7CE"/>
                </a:solidFill>
                <a:latin typeface="Calibri"/>
                <a:ea typeface="Calibri"/>
                <a:cs typeface="Calibri"/>
              </a:rPr>
              <a:t>live-provider protocols on real public GitHub records</a:t>
            </a:r>
          </a:p>
        </p:txBody>
      </p:sp>
      <p:sp>
        <p:nvSpPr>
          <p:cNvPr id="12" name="Text 10">
            <a:extLst xmlns:a="http://schemas.openxmlformats.org/drawingml/2006/main">
              <a:ext uri="{FF2B5EF4-FFF2-40B4-BE49-F238E27FC236}">
                <a16:creationId xmlns:a16="http://schemas.microsoft.com/office/drawing/2014/main" id="{5F7724F2-BDDA-4CDE-80AD-D36C8ECA5150}"/>
              </a:ext>
            </a:extLst>
          </p:cNvPr>
          <p:cNvSpPr>
            <a:spLocks xmlns:a="http://schemas.openxmlformats.org/drawingml/2006/main" noGrp="1"/>
          </p:cNvSpPr>
          <p:nvPr/>
        </p:nvSpPr>
        <p:spPr>
          <a:xfrm xmlns:a="http://schemas.openxmlformats.org/drawingml/2006/main">
            <a:off x="621792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4EA3B0"/>
                </a:solidFill>
                <a:latin typeface="Cambria"/>
                <a:ea typeface="Cambria"/>
                <a:cs typeface="Cambria"/>
              </a:rPr>
              <a:t>8</a:t>
            </a:r>
          </a:p>
        </p:txBody>
      </p:sp>
      <p:sp>
        <p:nvSpPr>
          <p:cNvPr id="13" name="Text 11">
            <a:extLst xmlns:a="http://schemas.openxmlformats.org/drawingml/2006/main">
              <a:ext uri="{FF2B5EF4-FFF2-40B4-BE49-F238E27FC236}">
                <a16:creationId xmlns:a16="http://schemas.microsoft.com/office/drawing/2014/main" id="{57E88CD6-2A04-43C5-BAD1-E94416D7F578}"/>
              </a:ext>
            </a:extLst>
          </p:cNvPr>
          <p:cNvSpPr>
            <a:spLocks xmlns:a="http://schemas.openxmlformats.org/drawingml/2006/main" noGrp="1"/>
          </p:cNvSpPr>
          <p:nvPr/>
        </p:nvSpPr>
        <p:spPr>
          <a:xfrm xmlns:a="http://schemas.openxmlformats.org/drawingml/2006/main">
            <a:off x="678484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9CC7CE"/>
                </a:solidFill>
                <a:latin typeface="Calibri"/>
                <a:ea typeface="Calibri"/>
                <a:cs typeface="Calibri"/>
              </a:rPr>
              <a:t>conditions in a controlled workflow-shape suite</a:t>
            </a:r>
          </a:p>
        </p:txBody>
      </p:sp>
      <p:sp>
        <p:nvSpPr>
          <p:cNvPr id="14" name="Text 12">
            <a:extLst xmlns:a="http://schemas.openxmlformats.org/drawingml/2006/main">
              <a:ext uri="{FF2B5EF4-FFF2-40B4-BE49-F238E27FC236}">
                <a16:creationId xmlns:a16="http://schemas.microsoft.com/office/drawing/2014/main" id="{AF264D3D-B656-4927-9AD3-1830D37272BF}"/>
              </a:ext>
            </a:extLst>
          </p:cNvPr>
          <p:cNvSpPr>
            <a:spLocks xmlns:a="http://schemas.openxmlformats.org/drawingml/2006/main" noGrp="1"/>
          </p:cNvSpPr>
          <p:nvPr/>
        </p:nvSpPr>
        <p:spPr>
          <a:xfrm xmlns:a="http://schemas.openxmlformats.org/drawingml/2006/main">
            <a:off x="640080" y="5989320"/>
            <a:ext cx="8229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4C6B70"/>
                </a:solidFill>
                <a:latin typeface="Calibri"/>
                <a:ea typeface="Calibri"/>
                <a:cs typeface="Calibri"/>
              </a:rPr>
              <a:t>Prepared for engineering leadership  ·  JazzX AI  ·  August 2026</a:t>
            </a:r>
          </a:p>
        </p:txBody>
      </p:sp>
    </p:spTree>
    <p:extLst>
      <p:ext uri="{BB962C8B-B14F-4D97-AF65-F5344CB8AC3E}">
        <p14:creationId xmlns:p14="http://schemas.microsoft.com/office/powerpoint/2010/main" val="9257779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55406C2-444F-42D1-B891-120729CD2D31}"/>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46C02314-4649-46F7-9304-CD472E5786CE}"/>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a:t>
            </a:r>
          </a:p>
        </p:txBody>
      </p:sp>
      <p:sp>
        <p:nvSpPr>
          <p:cNvPr id="4" name="Text 2">
            <a:extLst xmlns:a="http://schemas.openxmlformats.org/drawingml/2006/main">
              <a:ext uri="{FF2B5EF4-FFF2-40B4-BE49-F238E27FC236}">
                <a16:creationId xmlns:a16="http://schemas.microsoft.com/office/drawing/2014/main" id="{CB5C920E-AF7B-466C-977A-380D034401C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THE SHORT VERSION</a:t>
            </a:r>
          </a:p>
        </p:txBody>
      </p:sp>
      <p:sp>
        <p:nvSpPr>
          <p:cNvPr id="5" name="Text 3">
            <a:extLst xmlns:a="http://schemas.openxmlformats.org/drawingml/2006/main">
              <a:ext uri="{FF2B5EF4-FFF2-40B4-BE49-F238E27FC236}">
                <a16:creationId xmlns:a16="http://schemas.microsoft.com/office/drawing/2014/main" id="{884CE860-A193-434D-AC5E-2D8285725F4F}"/>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Recurrence tells you a region repeats — not that it may be replaced</a:t>
            </a:r>
          </a:p>
        </p:txBody>
      </p:sp>
      <p:sp>
        <p:nvSpPr>
          <p:cNvPr id="6" name="Shape 4">
            <a:extLst xmlns:a="http://schemas.openxmlformats.org/drawingml/2006/main">
              <a:ext uri="{FF2B5EF4-FFF2-40B4-BE49-F238E27FC236}">
                <a16:creationId xmlns:a16="http://schemas.microsoft.com/office/drawing/2014/main" id="{C0116E85-AAAE-4779-8493-B503E98E792A}"/>
              </a:ext>
            </a:extLst>
          </p:cNvPr>
          <p:cNvSpPr>
            <a:spLocks xmlns:a="http://schemas.openxmlformats.org/drawingml/2006/main" noGrp="1"/>
          </p:cNvSpPr>
          <p:nvPr/>
        </p:nvSpPr>
        <p:spPr>
          <a:xfrm xmlns:a="http://schemas.openxmlformats.org/drawingml/2006/main">
            <a:off x="640080" y="1371600"/>
            <a:ext cx="10911535" cy="841248"/>
          </a:xfrm>
          <a:prstGeom xmlns:a="http://schemas.openxmlformats.org/drawingml/2006/main" prst="roundRect">
            <a:avLst>
              <a:gd name="adj" fmla="val 5435"/>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DB8FA57D-0DA9-4C7F-B1EE-6FAD9077F78D}"/>
              </a:ext>
            </a:extLst>
          </p:cNvPr>
          <p:cNvSpPr>
            <a:spLocks xmlns:a="http://schemas.openxmlformats.org/drawingml/2006/main" noGrp="1"/>
          </p:cNvSpPr>
          <p:nvPr/>
        </p:nvSpPr>
        <p:spPr>
          <a:xfrm xmlns:a="http://schemas.openxmlformats.org/drawingml/2006/main">
            <a:off x="896112" y="1481328"/>
            <a:ext cx="10399471"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400">
                <a:solidFill>
                  <a:srgbClr val="0D4A54"/>
                </a:solidFill>
                <a:latin typeface="Calibri"/>
                <a:ea typeface="Calibri"/>
                <a:cs typeface="Calibri"/>
              </a:rPr>
              <a:t>GAC supplies the missing admission argument: </a:t>
            </a:r>
            <a:r>
              <a:rPr sz="1400" b="1">
                <a:solidFill>
                  <a:srgbClr val="0D4A54"/>
                </a:solidFill>
                <a:latin typeface="Calibri"/>
                <a:ea typeface="Calibri"/>
                <a:cs typeface="Calibri"/>
              </a:rPr>
              <a:t>typed value provenance, effect barriers, empirical contracts, and a finite-sample risk gate. </a:t>
            </a:r>
            <a:r>
              <a:rPr sz="1400">
                <a:solidFill>
                  <a:srgbClr val="0D4A54"/>
                </a:solidFill>
                <a:latin typeface="Calibri"/>
                <a:ea typeface="Calibri"/>
                <a:cs typeface="Calibri"/>
              </a:rPr>
              <a:t>Its default output is refusal — the compiler either emits a guarded artifact or keeps the agent unchanged.</a:t>
            </a:r>
          </a:p>
        </p:txBody>
      </p:sp>
      <p:sp>
        <p:nvSpPr>
          <p:cNvPr id="8" name="Shape 6">
            <a:extLst xmlns:a="http://schemas.openxmlformats.org/drawingml/2006/main">
              <a:ext uri="{FF2B5EF4-FFF2-40B4-BE49-F238E27FC236}">
                <a16:creationId xmlns:a16="http://schemas.microsoft.com/office/drawing/2014/main" id="{C4857744-83B9-4138-BD54-D5D3F2F2F6AF}"/>
              </a:ext>
            </a:extLst>
          </p:cNvPr>
          <p:cNvSpPr>
            <a:spLocks xmlns:a="http://schemas.openxmlformats.org/drawingml/2006/main" noGrp="1"/>
          </p:cNvSpPr>
          <p:nvPr/>
        </p:nvSpPr>
        <p:spPr>
          <a:xfrm xmlns:a="http://schemas.openxmlformats.org/drawingml/2006/main">
            <a:off x="640080"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FC234B2A-081F-4997-9844-CF404BC05C04}"/>
              </a:ext>
            </a:extLst>
          </p:cNvPr>
          <p:cNvSpPr>
            <a:spLocks xmlns:a="http://schemas.openxmlformats.org/drawingml/2006/main" noGrp="1"/>
          </p:cNvSpPr>
          <p:nvPr/>
        </p:nvSpPr>
        <p:spPr>
          <a:xfrm xmlns:a="http://schemas.openxmlformats.org/drawingml/2006/main">
            <a:off x="804672"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D4A54"/>
                </a:solidFill>
                <a:latin typeface="Cambria"/>
                <a:ea typeface="Cambria"/>
                <a:cs typeface="Cambria"/>
              </a:rPr>
              <a:t>50%</a:t>
            </a:r>
          </a:p>
        </p:txBody>
      </p:sp>
      <p:sp>
        <p:nvSpPr>
          <p:cNvPr id="10" name="Text 8">
            <a:extLst xmlns:a="http://schemas.openxmlformats.org/drawingml/2006/main">
              <a:ext uri="{FF2B5EF4-FFF2-40B4-BE49-F238E27FC236}">
                <a16:creationId xmlns:a16="http://schemas.microsoft.com/office/drawing/2014/main" id="{DBFF50B2-4239-4DF3-A57D-7BE8E3B8DA6E}"/>
              </a:ext>
            </a:extLst>
          </p:cNvPr>
          <p:cNvSpPr>
            <a:spLocks xmlns:a="http://schemas.openxmlformats.org/drawingml/2006/main" noGrp="1"/>
          </p:cNvSpPr>
          <p:nvPr/>
        </p:nvSpPr>
        <p:spPr>
          <a:xfrm xmlns:a="http://schemas.openxmlformats.org/drawingml/2006/main">
            <a:off x="804672"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fewer provider requests on 30 unseen real GitHub issues — with 30/30 task contracts held</a:t>
            </a:r>
          </a:p>
        </p:txBody>
      </p:sp>
      <p:sp>
        <p:nvSpPr>
          <p:cNvPr id="11" name="Shape 9">
            <a:extLst xmlns:a="http://schemas.openxmlformats.org/drawingml/2006/main">
              <a:ext uri="{FF2B5EF4-FFF2-40B4-BE49-F238E27FC236}">
                <a16:creationId xmlns:a16="http://schemas.microsoft.com/office/drawing/2014/main" id="{1C145ED0-C837-4090-8AF0-27F7B5AEE49E}"/>
              </a:ext>
            </a:extLst>
          </p:cNvPr>
          <p:cNvSpPr>
            <a:spLocks xmlns:a="http://schemas.openxmlformats.org/drawingml/2006/main" noGrp="1"/>
          </p:cNvSpPr>
          <p:nvPr/>
        </p:nvSpPr>
        <p:spPr>
          <a:xfrm xmlns:a="http://schemas.openxmlformats.org/drawingml/2006/main">
            <a:off x="3436544"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16660549-1CC2-41AF-8210-C3AAEEADBC2C}"/>
              </a:ext>
            </a:extLst>
          </p:cNvPr>
          <p:cNvSpPr>
            <a:spLocks xmlns:a="http://schemas.openxmlformats.org/drawingml/2006/main" noGrp="1"/>
          </p:cNvSpPr>
          <p:nvPr/>
        </p:nvSpPr>
        <p:spPr>
          <a:xfrm xmlns:a="http://schemas.openxmlformats.org/drawingml/2006/main">
            <a:off x="3601136"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C4A2C"/>
                </a:solidFill>
                <a:latin typeface="Cambria"/>
                <a:ea typeface="Cambria"/>
                <a:cs typeface="Cambria"/>
              </a:rPr>
              <a:t>0 of 32</a:t>
            </a:r>
          </a:p>
        </p:txBody>
      </p:sp>
      <p:sp>
        <p:nvSpPr>
          <p:cNvPr id="13" name="Text 11">
            <a:extLst xmlns:a="http://schemas.openxmlformats.org/drawingml/2006/main">
              <a:ext uri="{FF2B5EF4-FFF2-40B4-BE49-F238E27FC236}">
                <a16:creationId xmlns:a16="http://schemas.microsoft.com/office/drawing/2014/main" id="{64008871-96FF-4F8D-98DD-49E989F859EA}"/>
              </a:ext>
            </a:extLst>
          </p:cNvPr>
          <p:cNvSpPr>
            <a:spLocks xmlns:a="http://schemas.openxmlformats.org/drawingml/2006/main" noGrp="1"/>
          </p:cNvSpPr>
          <p:nvPr/>
        </p:nvSpPr>
        <p:spPr>
          <a:xfrm xmlns:a="http://schemas.openxmlformats.org/drawingml/2006/main">
            <a:off x="3601136"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recurrent NESTFUL families clear the configured admission gate; every one retires</a:t>
            </a:r>
          </a:p>
        </p:txBody>
      </p:sp>
      <p:sp>
        <p:nvSpPr>
          <p:cNvPr id="14" name="Shape 12">
            <a:extLst xmlns:a="http://schemas.openxmlformats.org/drawingml/2006/main">
              <a:ext uri="{FF2B5EF4-FFF2-40B4-BE49-F238E27FC236}">
                <a16:creationId xmlns:a16="http://schemas.microsoft.com/office/drawing/2014/main" id="{73D41BB5-07A0-45F8-9199-04850BF4891F}"/>
              </a:ext>
            </a:extLst>
          </p:cNvPr>
          <p:cNvSpPr>
            <a:spLocks xmlns:a="http://schemas.openxmlformats.org/drawingml/2006/main" noGrp="1"/>
          </p:cNvSpPr>
          <p:nvPr/>
        </p:nvSpPr>
        <p:spPr>
          <a:xfrm xmlns:a="http://schemas.openxmlformats.org/drawingml/2006/main">
            <a:off x="6233008"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7312A036-5995-474B-8715-58B6CEDE5D2B}"/>
              </a:ext>
            </a:extLst>
          </p:cNvPr>
          <p:cNvSpPr>
            <a:spLocks xmlns:a="http://schemas.openxmlformats.org/drawingml/2006/main" noGrp="1"/>
          </p:cNvSpPr>
          <p:nvPr/>
        </p:nvSpPr>
        <p:spPr>
          <a:xfrm xmlns:a="http://schemas.openxmlformats.org/drawingml/2006/main">
            <a:off x="6397600"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D4A54"/>
                </a:solidFill>
                <a:latin typeface="Cambria"/>
                <a:ea typeface="Cambria"/>
                <a:cs typeface="Cambria"/>
              </a:rPr>
              <a:t>96.3%</a:t>
            </a:r>
          </a:p>
        </p:txBody>
      </p:sp>
      <p:sp>
        <p:nvSpPr>
          <p:cNvPr id="16" name="Text 14">
            <a:extLst xmlns:a="http://schemas.openxmlformats.org/drawingml/2006/main">
              <a:ext uri="{FF2B5EF4-FFF2-40B4-BE49-F238E27FC236}">
                <a16:creationId xmlns:a16="http://schemas.microsoft.com/office/drawing/2014/main" id="{2C841C3B-69BA-4739-A408-BFF2ECE47A49}"/>
              </a:ext>
            </a:extLst>
          </p:cNvPr>
          <p:cNvSpPr>
            <a:spLocks xmlns:a="http://schemas.openxmlformats.org/drawingml/2006/main" noGrp="1"/>
          </p:cNvSpPr>
          <p:nvPr/>
        </p:nvSpPr>
        <p:spPr>
          <a:xfrm xmlns:a="http://schemas.openxmlformats.org/drawingml/2006/main">
            <a:off x="6397600"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provenance candidate recall across 5,746 dependency slots — but only 80.7% resolve uniquely</a:t>
            </a:r>
          </a:p>
        </p:txBody>
      </p:sp>
      <p:sp>
        <p:nvSpPr>
          <p:cNvPr id="17" name="Shape 15">
            <a:extLst xmlns:a="http://schemas.openxmlformats.org/drawingml/2006/main">
              <a:ext uri="{FF2B5EF4-FFF2-40B4-BE49-F238E27FC236}">
                <a16:creationId xmlns:a16="http://schemas.microsoft.com/office/drawing/2014/main" id="{42306E0F-5588-4F3C-A711-319E06C5A3F6}"/>
              </a:ext>
            </a:extLst>
          </p:cNvPr>
          <p:cNvSpPr>
            <a:spLocks xmlns:a="http://schemas.openxmlformats.org/drawingml/2006/main" noGrp="1"/>
          </p:cNvSpPr>
          <p:nvPr/>
        </p:nvSpPr>
        <p:spPr>
          <a:xfrm xmlns:a="http://schemas.openxmlformats.org/drawingml/2006/main">
            <a:off x="9029471"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4731466A-4E17-4D0D-8F95-93B5087DDC47}"/>
              </a:ext>
            </a:extLst>
          </p:cNvPr>
          <p:cNvSpPr>
            <a:spLocks xmlns:a="http://schemas.openxmlformats.org/drawingml/2006/main" noGrp="1"/>
          </p:cNvSpPr>
          <p:nvPr/>
        </p:nvSpPr>
        <p:spPr>
          <a:xfrm xmlns:a="http://schemas.openxmlformats.org/drawingml/2006/main">
            <a:off x="9194063"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C4A2C"/>
                </a:solidFill>
                <a:latin typeface="Cambria"/>
                <a:ea typeface="Cambria"/>
                <a:cs typeface="Cambria"/>
              </a:rPr>
              <a:t>+123%</a:t>
            </a:r>
          </a:p>
        </p:txBody>
      </p:sp>
      <p:sp>
        <p:nvSpPr>
          <p:cNvPr id="19" name="Text 17">
            <a:extLst xmlns:a="http://schemas.openxmlformats.org/drawingml/2006/main">
              <a:ext uri="{FF2B5EF4-FFF2-40B4-BE49-F238E27FC236}">
                <a16:creationId xmlns:a16="http://schemas.microsoft.com/office/drawing/2014/main" id="{B08BBA3A-EB0B-4450-AD2E-C7E0AB8724DA}"/>
              </a:ext>
            </a:extLst>
          </p:cNvPr>
          <p:cNvSpPr>
            <a:spLocks xmlns:a="http://schemas.openxmlformats.org/drawingml/2006/main" noGrp="1"/>
          </p:cNvSpPr>
          <p:nvPr/>
        </p:nvSpPr>
        <p:spPr>
          <a:xfrm xmlns:a="http://schemas.openxmlformats.org/drawingml/2006/main">
            <a:off x="9194063"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cost on a −16.8% token saving: prompt-cache economics, not token count, decides the invoice</a:t>
            </a:r>
          </a:p>
        </p:txBody>
      </p:sp>
      <p:sp>
        <p:nvSpPr>
          <p:cNvPr id="20" name="Text 18">
            <a:extLst xmlns:a="http://schemas.openxmlformats.org/drawingml/2006/main">
              <a:ext uri="{FF2B5EF4-FFF2-40B4-BE49-F238E27FC236}">
                <a16:creationId xmlns:a16="http://schemas.microsoft.com/office/drawing/2014/main" id="{D88E2468-C586-4C36-AB9B-D564EFA78173}"/>
              </a:ext>
            </a:extLst>
          </p:cNvPr>
          <p:cNvSpPr>
            <a:spLocks xmlns:a="http://schemas.openxmlformats.org/drawingml/2006/main" noGrp="1"/>
          </p:cNvSpPr>
          <p:nvPr/>
        </p:nvSpPr>
        <p:spPr>
          <a:xfrm xmlns:a="http://schemas.openxmlformats.org/drawingml/2006/main">
            <a:off x="640080" y="4261104"/>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WHAT LEADERSHIP SHOULD TAKE AWAY</a:t>
            </a:r>
          </a:p>
        </p:txBody>
      </p:sp>
      <p:sp>
        <p:nvSpPr>
          <p:cNvPr id="21" name="Text 19">
            <a:extLst xmlns:a="http://schemas.openxmlformats.org/drawingml/2006/main">
              <a:ext uri="{FF2B5EF4-FFF2-40B4-BE49-F238E27FC236}">
                <a16:creationId xmlns:a16="http://schemas.microsoft.com/office/drawing/2014/main" id="{649E7329-BE8D-476C-8533-742ABBFECDBA}"/>
              </a:ext>
            </a:extLst>
          </p:cNvPr>
          <p:cNvSpPr>
            <a:spLocks xmlns:a="http://schemas.openxmlformats.org/drawingml/2006/main" noGrp="1"/>
          </p:cNvSpPr>
          <p:nvPr/>
        </p:nvSpPr>
        <p:spPr>
          <a:xfrm xmlns:a="http://schemas.openxmlformats.org/drawingml/2006/main">
            <a:off x="640080" y="4553712"/>
            <a:ext cx="10911535"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The efficiency win is real but narrow: partial GRC removes redundant model turns, not the source reads that gather evidence.</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Manual composition beats partial GRC on this fixed workflow; GCS later removes the measured provider-visible macro's extra model turn at equal 12/12 quality.</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That result is post-study and one-family: the best equally pre-executed manual comparator remains untested.</a:t>
            </a:r>
          </a:p>
        </p:txBody>
      </p:sp>
    </p:spTree>
    <p:extLst>
      <p:ext uri="{BB962C8B-B14F-4D97-AF65-F5344CB8AC3E}">
        <p14:creationId xmlns:p14="http://schemas.microsoft.com/office/powerpoint/2010/main" val="69598275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ABFB197-DCC3-4D24-A86A-BF4D64A0DB5B}"/>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70CCD614-0278-47D2-95A1-FDE14E2B0970}"/>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3</a:t>
            </a:r>
          </a:p>
        </p:txBody>
      </p:sp>
      <p:sp>
        <p:nvSpPr>
          <p:cNvPr id="4" name="Text 2">
            <a:extLst xmlns:a="http://schemas.openxmlformats.org/drawingml/2006/main">
              <a:ext uri="{FF2B5EF4-FFF2-40B4-BE49-F238E27FC236}">
                <a16:creationId xmlns:a16="http://schemas.microsoft.com/office/drawing/2014/main" id="{6228B9FC-67A2-4B72-A844-34C05684229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PROBLEM</a:t>
            </a:r>
          </a:p>
        </p:txBody>
      </p:sp>
      <p:sp>
        <p:nvSpPr>
          <p:cNvPr id="5" name="Text 3">
            <a:extLst xmlns:a="http://schemas.openxmlformats.org/drawingml/2006/main">
              <a:ext uri="{FF2B5EF4-FFF2-40B4-BE49-F238E27FC236}">
                <a16:creationId xmlns:a16="http://schemas.microsoft.com/office/drawing/2014/main" id="{A16478AB-2F7A-4FFA-A2AA-65757FCA83D5}"/>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Four model calls for three decisions the trace already fixed</a:t>
            </a:r>
          </a:p>
        </p:txBody>
      </p:sp>
      <p:sp>
        <p:nvSpPr>
          <p:cNvPr id="6" name="Text 4">
            <a:extLst xmlns:a="http://schemas.openxmlformats.org/drawingml/2006/main">
              <a:ext uri="{FF2B5EF4-FFF2-40B4-BE49-F238E27FC236}">
                <a16:creationId xmlns:a16="http://schemas.microsoft.com/office/drawing/2014/main" id="{EEDE2664-E862-4C1B-A62B-7E8BC05F616C}"/>
              </a:ext>
            </a:extLst>
          </p:cNvPr>
          <p:cNvSpPr>
            <a:spLocks xmlns:a="http://schemas.openxmlformats.org/drawingml/2006/main" noGrp="1"/>
          </p:cNvSpPr>
          <p:nvPr/>
        </p:nvSpPr>
        <p:spPr>
          <a:xfrm xmlns:a="http://schemas.openxmlformats.org/drawingml/2006/main">
            <a:off x="640080" y="1481328"/>
            <a:ext cx="562356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300">
                <a:solidFill>
                  <a:srgbClr val="2A4247"/>
                </a:solidFill>
                <a:latin typeface="Calibri"/>
                <a:ea typeface="Calibri"/>
                <a:cs typeface="Calibri"/>
              </a:rPr>
              <a:t>The standard reason–act loop delegates every tool boundary to the model: model, tool, model, tool, and so on.</a:t>
            </a:r>
          </a:p>
          <a:p xmlns:a="http://schemas.openxmlformats.org/drawingml/2006/main">
            <a:pPr marL="342900" indent="-342900">
              <a:lnSpc>
                <a:spcPct val="106000"/>
              </a:lnSpc>
              <a:spcAft>
                <a:spcPts val="700"/>
              </a:spcAft>
              <a:buChar char="•"/>
            </a:pPr>
            <a:r>
              <a:rPr sz="1300">
                <a:solidFill>
                  <a:srgbClr val="2A4247"/>
                </a:solidFill>
                <a:latin typeface="Calibri"/>
                <a:ea typeface="Calibri"/>
                <a:cs typeface="Calibri"/>
              </a:rPr>
              <a:t>That flexibility is valuable while a workflow is novel. At scale, mature agents revisit the same read-only evidence prefix with the same data dependencies.</a:t>
            </a:r>
          </a:p>
          <a:p xmlns:a="http://schemas.openxmlformats.org/drawingml/2006/main">
            <a:pPr marL="342900" indent="-342900">
              <a:lnSpc>
                <a:spcPct val="106000"/>
              </a:lnSpc>
              <a:spcAft>
                <a:spcPts val="700"/>
              </a:spcAft>
              <a:buChar char="•"/>
            </a:pPr>
            <a:r>
              <a:rPr sz="1300">
                <a:solidFill>
                  <a:srgbClr val="2A4247"/>
                </a:solidFill>
                <a:latin typeface="Calibri"/>
                <a:ea typeface="Calibri"/>
                <a:cs typeface="Calibri"/>
              </a:rPr>
              <a:t>Repeating the model decision then consumes latency, tokens, and money without adding useful adaptation.</a:t>
            </a:r>
          </a:p>
        </p:txBody>
      </p:sp>
      <p:sp>
        <p:nvSpPr>
          <p:cNvPr id="7" name="Shape 5">
            <a:extLst xmlns:a="http://schemas.openxmlformats.org/drawingml/2006/main">
              <a:ext uri="{FF2B5EF4-FFF2-40B4-BE49-F238E27FC236}">
                <a16:creationId xmlns:a16="http://schemas.microsoft.com/office/drawing/2014/main" id="{93B41482-413E-4AC2-9B55-EF87892A1A38}"/>
              </a:ext>
            </a:extLst>
          </p:cNvPr>
          <p:cNvSpPr>
            <a:spLocks xmlns:a="http://schemas.openxmlformats.org/drawingml/2006/main" noGrp="1"/>
          </p:cNvSpPr>
          <p:nvPr/>
        </p:nvSpPr>
        <p:spPr>
          <a:xfrm xmlns:a="http://schemas.openxmlformats.org/drawingml/2006/main">
            <a:off x="640080" y="4041648"/>
            <a:ext cx="5623560" cy="960120"/>
          </a:xfrm>
          <a:prstGeom xmlns:a="http://schemas.openxmlformats.org/drawingml/2006/main" prst="roundRect">
            <a:avLst>
              <a:gd name="adj" fmla="val 4762"/>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52DE20E-E7E6-43A6-A033-5C204674CCB4}"/>
              </a:ext>
            </a:extLst>
          </p:cNvPr>
          <p:cNvSpPr>
            <a:spLocks xmlns:a="http://schemas.openxmlformats.org/drawingml/2006/main" noGrp="1"/>
          </p:cNvSpPr>
          <p:nvPr/>
        </p:nvSpPr>
        <p:spPr>
          <a:xfrm xmlns:a="http://schemas.openxmlformats.org/drawingml/2006/main">
            <a:off x="896112" y="4224528"/>
            <a:ext cx="5120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AC4A2C"/>
                </a:solidFill>
                <a:latin typeface="Cambria"/>
                <a:ea typeface="Cambria"/>
                <a:cs typeface="Cambria"/>
              </a:rPr>
              <a:t>“A fast wrong workflow is worse than a slow agent.”</a:t>
            </a:r>
          </a:p>
        </p:txBody>
      </p:sp>
      <p:sp>
        <p:nvSpPr>
          <p:cNvPr id="9" name="Shape 7">
            <a:extLst xmlns:a="http://schemas.openxmlformats.org/drawingml/2006/main">
              <a:ext uri="{FF2B5EF4-FFF2-40B4-BE49-F238E27FC236}">
                <a16:creationId xmlns:a16="http://schemas.microsoft.com/office/drawing/2014/main" id="{43E9C31C-3E9B-4B3C-915B-12BBE2536BF3}"/>
              </a:ext>
            </a:extLst>
          </p:cNvPr>
          <p:cNvSpPr>
            <a:spLocks xmlns:a="http://schemas.openxmlformats.org/drawingml/2006/main" noGrp="1"/>
          </p:cNvSpPr>
          <p:nvPr/>
        </p:nvSpPr>
        <p:spPr>
          <a:xfrm xmlns:a="http://schemas.openxmlformats.org/drawingml/2006/main">
            <a:off x="6720840" y="1481328"/>
            <a:ext cx="4828032" cy="3520440"/>
          </a:xfrm>
          <a:prstGeom xmlns:a="http://schemas.openxmlformats.org/drawingml/2006/main" prst="roundRect">
            <a:avLst>
              <a:gd name="adj" fmla="val 1299"/>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9BD10761-F69A-484D-81B3-D1F02E8F7636}"/>
              </a:ext>
            </a:extLst>
          </p:cNvPr>
          <p:cNvSpPr>
            <a:spLocks xmlns:a="http://schemas.openxmlformats.org/drawingml/2006/main" noGrp="1"/>
          </p:cNvSpPr>
          <p:nvPr/>
        </p:nvSpPr>
        <p:spPr>
          <a:xfrm xmlns:a="http://schemas.openxmlformats.org/drawingml/2006/main">
            <a:off x="6995160" y="1664208"/>
            <a:ext cx="427939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MEASURED BASELINE — ONE GITHUB TRIAGE EPISODE</a:t>
            </a:r>
          </a:p>
        </p:txBody>
      </p:sp>
      <p:sp>
        <p:nvSpPr>
          <p:cNvPr id="11" name="Shape 9">
            <a:extLst xmlns:a="http://schemas.openxmlformats.org/drawingml/2006/main">
              <a:ext uri="{FF2B5EF4-FFF2-40B4-BE49-F238E27FC236}">
                <a16:creationId xmlns:a16="http://schemas.microsoft.com/office/drawing/2014/main" id="{A3F7C4DD-C1F6-45F4-9CDC-8C973208BF92}"/>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EF3A89DF-719D-4CB2-9099-44A8FABA531F}"/>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13" name="Text 11">
            <a:extLst xmlns:a="http://schemas.openxmlformats.org/drawingml/2006/main">
              <a:ext uri="{FF2B5EF4-FFF2-40B4-BE49-F238E27FC236}">
                <a16:creationId xmlns:a16="http://schemas.microsoft.com/office/drawing/2014/main" id="{2EB5CBC6-A47A-49DA-8835-462D0DC16675}"/>
              </a:ext>
            </a:extLst>
          </p:cNvPr>
          <p:cNvSpPr>
            <a:spLocks xmlns:a="http://schemas.openxmlformats.org/drawingml/2006/main" noGrp="1"/>
          </p:cNvSpPr>
          <p:nvPr/>
        </p:nvSpPr>
        <p:spPr>
          <a:xfrm xmlns:a="http://schemas.openxmlformats.org/drawingml/2006/main">
            <a:off x="7342632" y="20482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14" name="Text 12">
            <a:extLst xmlns:a="http://schemas.openxmlformats.org/drawingml/2006/main">
              <a:ext uri="{FF2B5EF4-FFF2-40B4-BE49-F238E27FC236}">
                <a16:creationId xmlns:a16="http://schemas.microsoft.com/office/drawing/2014/main" id="{AE009AE8-6A71-4E6D-8058-9989009BF583}"/>
              </a:ext>
            </a:extLst>
          </p:cNvPr>
          <p:cNvSpPr>
            <a:spLocks xmlns:a="http://schemas.openxmlformats.org/drawingml/2006/main" noGrp="1"/>
          </p:cNvSpPr>
          <p:nvPr/>
        </p:nvSpPr>
        <p:spPr>
          <a:xfrm xmlns:a="http://schemas.openxmlformats.org/drawingml/2006/main">
            <a:off x="8860536" y="20482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select tool</a:t>
            </a:r>
          </a:p>
        </p:txBody>
      </p:sp>
      <p:sp>
        <p:nvSpPr>
          <p:cNvPr id="15" name="Shape 13">
            <a:extLst xmlns:a="http://schemas.openxmlformats.org/drawingml/2006/main">
              <a:ext uri="{FF2B5EF4-FFF2-40B4-BE49-F238E27FC236}">
                <a16:creationId xmlns:a16="http://schemas.microsoft.com/office/drawing/2014/main" id="{F7614E32-9702-457E-81FA-4A2C627B23C5}"/>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A63BF632-770F-42D3-BC50-F72072E9B812}"/>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17" name="Text 15">
            <a:extLst xmlns:a="http://schemas.openxmlformats.org/drawingml/2006/main">
              <a:ext uri="{FF2B5EF4-FFF2-40B4-BE49-F238E27FC236}">
                <a16:creationId xmlns:a16="http://schemas.microsoft.com/office/drawing/2014/main" id="{0C45B305-B337-4C08-BFD7-667318E3137B}"/>
              </a:ext>
            </a:extLst>
          </p:cNvPr>
          <p:cNvSpPr>
            <a:spLocks xmlns:a="http://schemas.openxmlformats.org/drawingml/2006/main" noGrp="1"/>
          </p:cNvSpPr>
          <p:nvPr/>
        </p:nvSpPr>
        <p:spPr>
          <a:xfrm xmlns:a="http://schemas.openxmlformats.org/drawingml/2006/main">
            <a:off x="7342632" y="24140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D4A54"/>
                </a:solidFill>
                <a:latin typeface="Calibri"/>
                <a:ea typeface="Calibri"/>
                <a:cs typeface="Calibri"/>
              </a:rPr>
              <a:t>tool call</a:t>
            </a:r>
          </a:p>
        </p:txBody>
      </p:sp>
      <p:sp>
        <p:nvSpPr>
          <p:cNvPr id="18" name="Text 16">
            <a:extLst xmlns:a="http://schemas.openxmlformats.org/drawingml/2006/main">
              <a:ext uri="{FF2B5EF4-FFF2-40B4-BE49-F238E27FC236}">
                <a16:creationId xmlns:a16="http://schemas.microsoft.com/office/drawing/2014/main" id="{1F25B78F-88A0-43DE-A7AE-DFAC128989AA}"/>
              </a:ext>
            </a:extLst>
          </p:cNvPr>
          <p:cNvSpPr>
            <a:spLocks xmlns:a="http://schemas.openxmlformats.org/drawingml/2006/main" noGrp="1"/>
          </p:cNvSpPr>
          <p:nvPr/>
        </p:nvSpPr>
        <p:spPr>
          <a:xfrm xmlns:a="http://schemas.openxmlformats.org/drawingml/2006/main">
            <a:off x="8860536" y="24140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read issue record</a:t>
            </a:r>
          </a:p>
        </p:txBody>
      </p:sp>
      <p:sp>
        <p:nvSpPr>
          <p:cNvPr id="19" name="Shape 17">
            <a:extLst xmlns:a="http://schemas.openxmlformats.org/drawingml/2006/main">
              <a:ext uri="{FF2B5EF4-FFF2-40B4-BE49-F238E27FC236}">
                <a16:creationId xmlns:a16="http://schemas.microsoft.com/office/drawing/2014/main" id="{CDBCA5DA-5BBD-4DBC-A7C3-F648103A6BE2}"/>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C4B7A24B-23D9-4902-8811-D1BCFFB08AAD}"/>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1" name="Text 19">
            <a:extLst xmlns:a="http://schemas.openxmlformats.org/drawingml/2006/main">
              <a:ext uri="{FF2B5EF4-FFF2-40B4-BE49-F238E27FC236}">
                <a16:creationId xmlns:a16="http://schemas.microsoft.com/office/drawing/2014/main" id="{AC662C5C-1519-417C-93FE-0B3C7324D619}"/>
              </a:ext>
            </a:extLst>
          </p:cNvPr>
          <p:cNvSpPr>
            <a:spLocks xmlns:a="http://schemas.openxmlformats.org/drawingml/2006/main" noGrp="1"/>
          </p:cNvSpPr>
          <p:nvPr/>
        </p:nvSpPr>
        <p:spPr>
          <a:xfrm xmlns:a="http://schemas.openxmlformats.org/drawingml/2006/main">
            <a:off x="7342632" y="277977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22" name="Text 20">
            <a:extLst xmlns:a="http://schemas.openxmlformats.org/drawingml/2006/main">
              <a:ext uri="{FF2B5EF4-FFF2-40B4-BE49-F238E27FC236}">
                <a16:creationId xmlns:a16="http://schemas.microsoft.com/office/drawing/2014/main" id="{8C3522BF-6CFD-4334-BDBC-B36BEF904794}"/>
              </a:ext>
            </a:extLst>
          </p:cNvPr>
          <p:cNvSpPr>
            <a:spLocks xmlns:a="http://schemas.openxmlformats.org/drawingml/2006/main" noGrp="1"/>
          </p:cNvSpPr>
          <p:nvPr/>
        </p:nvSpPr>
        <p:spPr>
          <a:xfrm xmlns:a="http://schemas.openxmlformats.org/drawingml/2006/main">
            <a:off x="8860536" y="277977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select tool</a:t>
            </a:r>
          </a:p>
        </p:txBody>
      </p:sp>
      <p:sp>
        <p:nvSpPr>
          <p:cNvPr id="23" name="Shape 21">
            <a:extLst xmlns:a="http://schemas.openxmlformats.org/drawingml/2006/main">
              <a:ext uri="{FF2B5EF4-FFF2-40B4-BE49-F238E27FC236}">
                <a16:creationId xmlns:a16="http://schemas.microsoft.com/office/drawing/2014/main" id="{B7368845-B573-4304-8416-72E4AA4446CC}"/>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357DCD30-08C2-412E-AAA2-4E03A59D86D8}"/>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25" name="Text 23">
            <a:extLst xmlns:a="http://schemas.openxmlformats.org/drawingml/2006/main">
              <a:ext uri="{FF2B5EF4-FFF2-40B4-BE49-F238E27FC236}">
                <a16:creationId xmlns:a16="http://schemas.microsoft.com/office/drawing/2014/main" id="{2633ADF5-376A-48D0-9CA5-D3284EA4FD31}"/>
              </a:ext>
            </a:extLst>
          </p:cNvPr>
          <p:cNvSpPr>
            <a:spLocks xmlns:a="http://schemas.openxmlformats.org/drawingml/2006/main" noGrp="1"/>
          </p:cNvSpPr>
          <p:nvPr/>
        </p:nvSpPr>
        <p:spPr>
          <a:xfrm xmlns:a="http://schemas.openxmlformats.org/drawingml/2006/main">
            <a:off x="7342632" y="314553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D4A54"/>
                </a:solidFill>
                <a:latin typeface="Calibri"/>
                <a:ea typeface="Calibri"/>
                <a:cs typeface="Calibri"/>
              </a:rPr>
              <a:t>tool call</a:t>
            </a:r>
          </a:p>
        </p:txBody>
      </p:sp>
      <p:sp>
        <p:nvSpPr>
          <p:cNvPr id="26" name="Text 24">
            <a:extLst xmlns:a="http://schemas.openxmlformats.org/drawingml/2006/main">
              <a:ext uri="{FF2B5EF4-FFF2-40B4-BE49-F238E27FC236}">
                <a16:creationId xmlns:a16="http://schemas.microsoft.com/office/drawing/2014/main" id="{E9529929-7CB4-4827-8C3E-A2300BEC87B4}"/>
              </a:ext>
            </a:extLst>
          </p:cNvPr>
          <p:cNvSpPr>
            <a:spLocks xmlns:a="http://schemas.openxmlformats.org/drawingml/2006/main" noGrp="1"/>
          </p:cNvSpPr>
          <p:nvPr/>
        </p:nvSpPr>
        <p:spPr>
          <a:xfrm xmlns:a="http://schemas.openxmlformats.org/drawingml/2006/main">
            <a:off x="8860536" y="314553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read labels</a:t>
            </a:r>
          </a:p>
        </p:txBody>
      </p:sp>
      <p:sp>
        <p:nvSpPr>
          <p:cNvPr id="27" name="Shape 25">
            <a:extLst xmlns:a="http://schemas.openxmlformats.org/drawingml/2006/main">
              <a:ext uri="{FF2B5EF4-FFF2-40B4-BE49-F238E27FC236}">
                <a16:creationId xmlns:a16="http://schemas.microsoft.com/office/drawing/2014/main" id="{F9E2ACEB-DDC1-4BB0-84F6-EE9DF5E2E7F0}"/>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EA566150-6D2D-4AEC-A0AF-6EE245F91CF9}"/>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9" name="Text 27">
            <a:extLst xmlns:a="http://schemas.openxmlformats.org/drawingml/2006/main">
              <a:ext uri="{FF2B5EF4-FFF2-40B4-BE49-F238E27FC236}">
                <a16:creationId xmlns:a16="http://schemas.microsoft.com/office/drawing/2014/main" id="{A8A59620-3C7C-4F00-9C12-942828702CE2}"/>
              </a:ext>
            </a:extLst>
          </p:cNvPr>
          <p:cNvSpPr>
            <a:spLocks xmlns:a="http://schemas.openxmlformats.org/drawingml/2006/main" noGrp="1"/>
          </p:cNvSpPr>
          <p:nvPr/>
        </p:nvSpPr>
        <p:spPr>
          <a:xfrm xmlns:a="http://schemas.openxmlformats.org/drawingml/2006/main">
            <a:off x="7342632" y="351129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30" name="Text 28">
            <a:extLst xmlns:a="http://schemas.openxmlformats.org/drawingml/2006/main">
              <a:ext uri="{FF2B5EF4-FFF2-40B4-BE49-F238E27FC236}">
                <a16:creationId xmlns:a16="http://schemas.microsoft.com/office/drawing/2014/main" id="{50119F68-A745-4FAD-B41B-73AC9FDED90C}"/>
              </a:ext>
            </a:extLst>
          </p:cNvPr>
          <p:cNvSpPr>
            <a:spLocks xmlns:a="http://schemas.openxmlformats.org/drawingml/2006/main" noGrp="1"/>
          </p:cNvSpPr>
          <p:nvPr/>
        </p:nvSpPr>
        <p:spPr>
          <a:xfrm xmlns:a="http://schemas.openxmlformats.org/drawingml/2006/main">
            <a:off x="8860536" y="351129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select tool</a:t>
            </a:r>
          </a:p>
        </p:txBody>
      </p:sp>
      <p:sp>
        <p:nvSpPr>
          <p:cNvPr id="31" name="Shape 29">
            <a:extLst xmlns:a="http://schemas.openxmlformats.org/drawingml/2006/main">
              <a:ext uri="{FF2B5EF4-FFF2-40B4-BE49-F238E27FC236}">
                <a16:creationId xmlns:a16="http://schemas.microsoft.com/office/drawing/2014/main" id="{27F3CF90-2EC5-4CFA-BBDE-8477020AE306}"/>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B0979228-BCD3-4944-A7FA-303E1596B24A}"/>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33" name="Text 31">
            <a:extLst xmlns:a="http://schemas.openxmlformats.org/drawingml/2006/main">
              <a:ext uri="{FF2B5EF4-FFF2-40B4-BE49-F238E27FC236}">
                <a16:creationId xmlns:a16="http://schemas.microsoft.com/office/drawing/2014/main" id="{0D058477-9BEF-494C-BB9B-2E68984499D1}"/>
              </a:ext>
            </a:extLst>
          </p:cNvPr>
          <p:cNvSpPr>
            <a:spLocks xmlns:a="http://schemas.openxmlformats.org/drawingml/2006/main" noGrp="1"/>
          </p:cNvSpPr>
          <p:nvPr/>
        </p:nvSpPr>
        <p:spPr>
          <a:xfrm xmlns:a="http://schemas.openxmlformats.org/drawingml/2006/main">
            <a:off x="7342632" y="38770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D4A54"/>
                </a:solidFill>
                <a:latin typeface="Calibri"/>
                <a:ea typeface="Calibri"/>
                <a:cs typeface="Calibri"/>
              </a:rPr>
              <a:t>tool call</a:t>
            </a:r>
          </a:p>
        </p:txBody>
      </p:sp>
      <p:sp>
        <p:nvSpPr>
          <p:cNvPr id="34" name="Text 32">
            <a:extLst xmlns:a="http://schemas.openxmlformats.org/drawingml/2006/main">
              <a:ext uri="{FF2B5EF4-FFF2-40B4-BE49-F238E27FC236}">
                <a16:creationId xmlns:a16="http://schemas.microsoft.com/office/drawing/2014/main" id="{89B0099D-98AE-4B33-B5B8-2C4BE7C0C00E}"/>
              </a:ext>
            </a:extLst>
          </p:cNvPr>
          <p:cNvSpPr>
            <a:spLocks xmlns:a="http://schemas.openxmlformats.org/drawingml/2006/main" noGrp="1"/>
          </p:cNvSpPr>
          <p:nvPr/>
        </p:nvSpPr>
        <p:spPr>
          <a:xfrm xmlns:a="http://schemas.openxmlformats.org/drawingml/2006/main">
            <a:off x="8860536" y="38770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read 3 comments</a:t>
            </a:r>
          </a:p>
        </p:txBody>
      </p:sp>
      <p:sp>
        <p:nvSpPr>
          <p:cNvPr id="35" name="Shape 33">
            <a:extLst xmlns:a="http://schemas.openxmlformats.org/drawingml/2006/main">
              <a:ext uri="{FF2B5EF4-FFF2-40B4-BE49-F238E27FC236}">
                <a16:creationId xmlns:a16="http://schemas.microsoft.com/office/drawing/2014/main" id="{6EA54B28-AC15-42A9-9C7E-645DB20738C9}"/>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E69D8D6E-8ACD-49F2-98EA-B323800DBFB2}"/>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37" name="Text 35">
            <a:extLst xmlns:a="http://schemas.openxmlformats.org/drawingml/2006/main">
              <a:ext uri="{FF2B5EF4-FFF2-40B4-BE49-F238E27FC236}">
                <a16:creationId xmlns:a16="http://schemas.microsoft.com/office/drawing/2014/main" id="{6B6F7FD4-6D51-410D-9973-4ED9D6E832DF}"/>
              </a:ext>
            </a:extLst>
          </p:cNvPr>
          <p:cNvSpPr>
            <a:spLocks xmlns:a="http://schemas.openxmlformats.org/drawingml/2006/main" noGrp="1"/>
          </p:cNvSpPr>
          <p:nvPr/>
        </p:nvSpPr>
        <p:spPr>
          <a:xfrm xmlns:a="http://schemas.openxmlformats.org/drawingml/2006/main">
            <a:off x="7342632" y="42428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38" name="Text 36">
            <a:extLst xmlns:a="http://schemas.openxmlformats.org/drawingml/2006/main">
              <a:ext uri="{FF2B5EF4-FFF2-40B4-BE49-F238E27FC236}">
                <a16:creationId xmlns:a16="http://schemas.microsoft.com/office/drawing/2014/main" id="{1DE343D1-B13B-4268-A4E6-7601A36E7717}"/>
              </a:ext>
            </a:extLst>
          </p:cNvPr>
          <p:cNvSpPr>
            <a:spLocks xmlns:a="http://schemas.openxmlformats.org/drawingml/2006/main" noGrp="1"/>
          </p:cNvSpPr>
          <p:nvPr/>
        </p:nvSpPr>
        <p:spPr>
          <a:xfrm xmlns:a="http://schemas.openxmlformats.org/drawingml/2006/main">
            <a:off x="8860536" y="42428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render answer</a:t>
            </a:r>
          </a:p>
        </p:txBody>
      </p:sp>
      <p:sp>
        <p:nvSpPr>
          <p:cNvPr id="39" name="Shape 37">
            <a:extLst xmlns:a="http://schemas.openxmlformats.org/drawingml/2006/main">
              <a:ext uri="{FF2B5EF4-FFF2-40B4-BE49-F238E27FC236}">
                <a16:creationId xmlns:a16="http://schemas.microsoft.com/office/drawing/2014/main" id="{3E0CDB52-937B-4EB3-8B2C-D04484BE3B31}"/>
              </a:ext>
            </a:extLst>
          </p:cNvPr>
          <p:cNvSpPr>
            <a:spLocks xmlns:a="http://schemas.openxmlformats.org/drawingml/2006/main" noGrp="1"/>
          </p:cNvSpPr>
          <p:nvPr/>
        </p:nvSpPr>
        <p:spPr>
          <a:xfrm xmlns:a="http://schemas.openxmlformats.org/drawingml/2006/main">
            <a:off x="7013448" y="4590288"/>
            <a:ext cx="4242816" cy="0"/>
          </a:xfrm>
          <a:prstGeom xmlns:a="http://schemas.openxmlformats.org/drawingml/2006/main" prst="line">
            <a:avLst/>
          </a:prstGeom>
          <a:noFill xmlns:a="http://schemas.openxmlformats.org/drawingml/2006/main"/>
          <a:ln xmlns:a="http://schemas.openxmlformats.org/drawingml/2006/main" w="12700">
            <a:solidFill>
              <a:srgbClr val="DCE8EA"/>
            </a:solidFill>
            <a:prstDash val="solid"/>
          </a:ln>
        </p:spPr>
        <p:txBody>
          <a:bodyPr xmlns:a="http://schemas.openxmlformats.org/drawingml/2006/main"/>
          <a:lstStyle xmlns:a="http://schemas.openxmlformats.org/drawingml/2006/main"/>
          <a:p xmlns:a="http://schemas.openxmlformats.org/drawingml/2006/main"/>
        </p:txBody>
      </p:sp>
      <p:sp>
        <p:nvSpPr>
          <p:cNvPr id="40" name="Text 38">
            <a:extLst xmlns:a="http://schemas.openxmlformats.org/drawingml/2006/main">
              <a:ext uri="{FF2B5EF4-FFF2-40B4-BE49-F238E27FC236}">
                <a16:creationId xmlns:a16="http://schemas.microsoft.com/office/drawing/2014/main" id="{48ED31E9-D47A-4B0E-A9B5-3F02B44CBEC5}"/>
              </a:ext>
            </a:extLst>
          </p:cNvPr>
          <p:cNvSpPr>
            <a:spLocks xmlns:a="http://schemas.openxmlformats.org/drawingml/2006/main" noGrp="1"/>
          </p:cNvSpPr>
          <p:nvPr/>
        </p:nvSpPr>
        <p:spPr>
          <a:xfrm xmlns:a="http://schemas.openxmlformats.org/drawingml/2006/main">
            <a:off x="7013448" y="4681728"/>
            <a:ext cx="4242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D4A54"/>
                </a:solidFill>
                <a:latin typeface="Calibri"/>
                <a:ea typeface="Calibri"/>
                <a:cs typeface="Calibri"/>
              </a:rPr>
              <a:t>4 provider responses  ·  3 read-only tool calls</a:t>
            </a:r>
          </a:p>
        </p:txBody>
      </p:sp>
      <p:sp>
        <p:nvSpPr>
          <p:cNvPr id="41" name="Text 39">
            <a:extLst xmlns:a="http://schemas.openxmlformats.org/drawingml/2006/main">
              <a:ext uri="{FF2B5EF4-FFF2-40B4-BE49-F238E27FC236}">
                <a16:creationId xmlns:a16="http://schemas.microsoft.com/office/drawing/2014/main" id="{0F346172-D4ED-4F5D-9D0C-C3C98DA36D28}"/>
              </a:ext>
            </a:extLst>
          </p:cNvPr>
          <p:cNvSpPr>
            <a:spLocks xmlns:a="http://schemas.openxmlformats.org/drawingml/2006/main" noGrp="1"/>
          </p:cNvSpPr>
          <p:nvPr/>
        </p:nvSpPr>
        <p:spPr>
          <a:xfrm xmlns:a="http://schemas.openxmlformats.org/drawingml/2006/main">
            <a:off x="640080"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4.0</a:t>
            </a:r>
          </a:p>
        </p:txBody>
      </p:sp>
      <p:sp>
        <p:nvSpPr>
          <p:cNvPr id="42" name="Text 40">
            <a:extLst xmlns:a="http://schemas.openxmlformats.org/drawingml/2006/main">
              <a:ext uri="{FF2B5EF4-FFF2-40B4-BE49-F238E27FC236}">
                <a16:creationId xmlns:a16="http://schemas.microsoft.com/office/drawing/2014/main" id="{FABC9EC0-2E7A-409E-803D-6A0AF5BEDA96}"/>
              </a:ext>
            </a:extLst>
          </p:cNvPr>
          <p:cNvSpPr>
            <a:spLocks xmlns:a="http://schemas.openxmlformats.org/drawingml/2006/main" noGrp="1"/>
          </p:cNvSpPr>
          <p:nvPr/>
        </p:nvSpPr>
        <p:spPr>
          <a:xfrm xmlns:a="http://schemas.openxmlformats.org/drawingml/2006/main">
            <a:off x="640080"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requests</a:t>
            </a:r>
          </a:p>
        </p:txBody>
      </p:sp>
      <p:sp>
        <p:nvSpPr>
          <p:cNvPr id="43" name="Text 41">
            <a:extLst xmlns:a="http://schemas.openxmlformats.org/drawingml/2006/main">
              <a:ext uri="{FF2B5EF4-FFF2-40B4-BE49-F238E27FC236}">
                <a16:creationId xmlns:a16="http://schemas.microsoft.com/office/drawing/2014/main" id="{379CEFAE-D684-4868-90BD-364FC73A9961}"/>
              </a:ext>
            </a:extLst>
          </p:cNvPr>
          <p:cNvSpPr>
            <a:spLocks xmlns:a="http://schemas.openxmlformats.org/drawingml/2006/main" noGrp="1"/>
          </p:cNvSpPr>
          <p:nvPr/>
        </p:nvSpPr>
        <p:spPr>
          <a:xfrm xmlns:a="http://schemas.openxmlformats.org/drawingml/2006/main">
            <a:off x="3367964"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4,259</a:t>
            </a:r>
          </a:p>
        </p:txBody>
      </p:sp>
      <p:sp>
        <p:nvSpPr>
          <p:cNvPr id="44" name="Text 42">
            <a:extLst xmlns:a="http://schemas.openxmlformats.org/drawingml/2006/main">
              <a:ext uri="{FF2B5EF4-FFF2-40B4-BE49-F238E27FC236}">
                <a16:creationId xmlns:a16="http://schemas.microsoft.com/office/drawing/2014/main" id="{48DE4C6D-5F93-4FB8-BDE3-5793A317F8E0}"/>
              </a:ext>
            </a:extLst>
          </p:cNvPr>
          <p:cNvSpPr>
            <a:spLocks xmlns:a="http://schemas.openxmlformats.org/drawingml/2006/main" noGrp="1"/>
          </p:cNvSpPr>
          <p:nvPr/>
        </p:nvSpPr>
        <p:spPr>
          <a:xfrm xmlns:a="http://schemas.openxmlformats.org/drawingml/2006/main">
            <a:off x="3367964"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tokens</a:t>
            </a:r>
          </a:p>
        </p:txBody>
      </p:sp>
      <p:sp>
        <p:nvSpPr>
          <p:cNvPr id="45" name="Text 43">
            <a:extLst xmlns:a="http://schemas.openxmlformats.org/drawingml/2006/main">
              <a:ext uri="{FF2B5EF4-FFF2-40B4-BE49-F238E27FC236}">
                <a16:creationId xmlns:a16="http://schemas.microsoft.com/office/drawing/2014/main" id="{2E447A3C-088D-4711-B388-C41FF087854A}"/>
              </a:ext>
            </a:extLst>
          </p:cNvPr>
          <p:cNvSpPr>
            <a:spLocks xmlns:a="http://schemas.openxmlformats.org/drawingml/2006/main" noGrp="1"/>
          </p:cNvSpPr>
          <p:nvPr/>
        </p:nvSpPr>
        <p:spPr>
          <a:xfrm xmlns:a="http://schemas.openxmlformats.org/drawingml/2006/main">
            <a:off x="6095848"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6.16 s</a:t>
            </a:r>
          </a:p>
        </p:txBody>
      </p:sp>
      <p:sp>
        <p:nvSpPr>
          <p:cNvPr id="46" name="Text 44">
            <a:extLst xmlns:a="http://schemas.openxmlformats.org/drawingml/2006/main">
              <a:ext uri="{FF2B5EF4-FFF2-40B4-BE49-F238E27FC236}">
                <a16:creationId xmlns:a16="http://schemas.microsoft.com/office/drawing/2014/main" id="{219447C6-A35F-441E-82DC-2BB4D3A679FA}"/>
              </a:ext>
            </a:extLst>
          </p:cNvPr>
          <p:cNvSpPr>
            <a:spLocks xmlns:a="http://schemas.openxmlformats.org/drawingml/2006/main" noGrp="1"/>
          </p:cNvSpPr>
          <p:nvPr/>
        </p:nvSpPr>
        <p:spPr>
          <a:xfrm xmlns:a="http://schemas.openxmlformats.org/drawingml/2006/main">
            <a:off x="6095848"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wall time</a:t>
            </a:r>
          </a:p>
        </p:txBody>
      </p:sp>
      <p:sp>
        <p:nvSpPr>
          <p:cNvPr id="47" name="Text 45">
            <a:extLst xmlns:a="http://schemas.openxmlformats.org/drawingml/2006/main">
              <a:ext uri="{FF2B5EF4-FFF2-40B4-BE49-F238E27FC236}">
                <a16:creationId xmlns:a16="http://schemas.microsoft.com/office/drawing/2014/main" id="{83575E35-5B89-482D-A926-8A8FAF8B436F}"/>
              </a:ext>
            </a:extLst>
          </p:cNvPr>
          <p:cNvSpPr>
            <a:spLocks xmlns:a="http://schemas.openxmlformats.org/drawingml/2006/main" noGrp="1"/>
          </p:cNvSpPr>
          <p:nvPr/>
        </p:nvSpPr>
        <p:spPr>
          <a:xfrm xmlns:a="http://schemas.openxmlformats.org/drawingml/2006/main">
            <a:off x="8823731"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$0.00087</a:t>
            </a:r>
          </a:p>
        </p:txBody>
      </p:sp>
      <p:sp>
        <p:nvSpPr>
          <p:cNvPr id="48" name="Text 46">
            <a:extLst xmlns:a="http://schemas.openxmlformats.org/drawingml/2006/main">
              <a:ext uri="{FF2B5EF4-FFF2-40B4-BE49-F238E27FC236}">
                <a16:creationId xmlns:a16="http://schemas.microsoft.com/office/drawing/2014/main" id="{FE969CE5-37F6-4A43-9D65-4719DE2C7788}"/>
              </a:ext>
            </a:extLst>
          </p:cNvPr>
          <p:cNvSpPr>
            <a:spLocks xmlns:a="http://schemas.openxmlformats.org/drawingml/2006/main" noGrp="1"/>
          </p:cNvSpPr>
          <p:nvPr/>
        </p:nvSpPr>
        <p:spPr>
          <a:xfrm xmlns:a="http://schemas.openxmlformats.org/drawingml/2006/main">
            <a:off x="8823731"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per episode</a:t>
            </a:r>
          </a:p>
        </p:txBody>
      </p:sp>
    </p:spTree>
    <p:extLst>
      <p:ext uri="{BB962C8B-B14F-4D97-AF65-F5344CB8AC3E}">
        <p14:creationId xmlns:p14="http://schemas.microsoft.com/office/powerpoint/2010/main" val="8428296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BC6645B-6E6F-4BD9-AB16-07DD30E29337}"/>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0DA78FA1-F78B-4F01-BAD6-3367F1DE6E3E}"/>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4</a:t>
            </a:r>
          </a:p>
        </p:txBody>
      </p:sp>
      <p:sp>
        <p:nvSpPr>
          <p:cNvPr id="4" name="Text 2">
            <a:extLst xmlns:a="http://schemas.openxmlformats.org/drawingml/2006/main">
              <a:ext uri="{FF2B5EF4-FFF2-40B4-BE49-F238E27FC236}">
                <a16:creationId xmlns:a16="http://schemas.microsoft.com/office/drawing/2014/main" id="{18F8B7C3-53CA-4020-A13E-FFF557A0D13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WHY THIS IS NOT CACHING</a:t>
            </a:r>
          </a:p>
        </p:txBody>
      </p:sp>
      <p:sp>
        <p:nvSpPr>
          <p:cNvPr id="5" name="Text 3">
            <a:extLst xmlns:a="http://schemas.openxmlformats.org/drawingml/2006/main">
              <a:ext uri="{FF2B5EF4-FFF2-40B4-BE49-F238E27FC236}">
                <a16:creationId xmlns:a16="http://schemas.microsoft.com/office/drawing/2014/main" id="{62A84075-CA64-453B-8B06-EBD872E183B0}"/>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Four ways a repeated region can still be inadmissible</a:t>
            </a:r>
          </a:p>
        </p:txBody>
      </p:sp>
      <p:sp>
        <p:nvSpPr>
          <p:cNvPr id="6" name="Shape 4">
            <a:extLst xmlns:a="http://schemas.openxmlformats.org/drawingml/2006/main">
              <a:ext uri="{FF2B5EF4-FFF2-40B4-BE49-F238E27FC236}">
                <a16:creationId xmlns:a16="http://schemas.microsoft.com/office/drawing/2014/main" id="{12CA80D1-A563-4B47-9268-B79DE99D887D}"/>
              </a:ext>
            </a:extLst>
          </p:cNvPr>
          <p:cNvSpPr>
            <a:spLocks xmlns:a="http://schemas.openxmlformats.org/drawingml/2006/main" noGrp="1"/>
          </p:cNvSpPr>
          <p:nvPr/>
        </p:nvSpPr>
        <p:spPr>
          <a:xfrm xmlns:a="http://schemas.openxmlformats.org/drawingml/2006/main">
            <a:off x="640080" y="1463040"/>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E9634E4-B315-44BE-A1C2-8E9EAE8A579C}"/>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6FBBBE7-69F7-4C91-ADE1-C5F4774F0AEF}"/>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537554E5-8D4F-4415-958A-3F07904B6D35}"/>
              </a:ext>
            </a:extLst>
          </p:cNvPr>
          <p:cNvSpPr>
            <a:spLocks xmlns:a="http://schemas.openxmlformats.org/drawingml/2006/main" noGrp="1"/>
          </p:cNvSpPr>
          <p:nvPr/>
        </p:nvSpPr>
        <p:spPr>
          <a:xfrm xmlns:a="http://schemas.openxmlformats.org/drawingml/2006/main">
            <a:off x="1417320"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Ungrounded argument</a:t>
            </a:r>
          </a:p>
        </p:txBody>
      </p:sp>
      <p:sp>
        <p:nvSpPr>
          <p:cNvPr id="10" name="Text 8">
            <a:extLst xmlns:a="http://schemas.openxmlformats.org/drawingml/2006/main">
              <a:ext uri="{FF2B5EF4-FFF2-40B4-BE49-F238E27FC236}">
                <a16:creationId xmlns:a16="http://schemas.microsoft.com/office/drawing/2014/main" id="{A2DCA175-1F3F-4B9F-82AB-1806616C927A}"/>
              </a:ext>
            </a:extLst>
          </p:cNvPr>
          <p:cNvSpPr>
            <a:spLocks xmlns:a="http://schemas.openxmlformats.org/drawingml/2006/main" noGrp="1"/>
          </p:cNvSpPr>
          <p:nvPr/>
        </p:nvSpPr>
        <p:spPr>
          <a:xfrm xmlns:a="http://schemas.openxmlformats.org/drawingml/2006/main">
            <a:off x="1417320"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A tool argument may depend on a prior observation with no expression over entry state or earlier results. There is nothing to reconstruct it from.</a:t>
            </a:r>
          </a:p>
        </p:txBody>
      </p:sp>
      <p:sp>
        <p:nvSpPr>
          <p:cNvPr id="11" name="Shape 9">
            <a:extLst xmlns:a="http://schemas.openxmlformats.org/drawingml/2006/main">
              <a:ext uri="{FF2B5EF4-FFF2-40B4-BE49-F238E27FC236}">
                <a16:creationId xmlns:a16="http://schemas.microsoft.com/office/drawing/2014/main" id="{2AEA030B-DCA0-4175-ABAB-54A0297532B0}"/>
              </a:ext>
            </a:extLst>
          </p:cNvPr>
          <p:cNvSpPr>
            <a:spLocks xmlns:a="http://schemas.openxmlformats.org/drawingml/2006/main" noGrp="1"/>
          </p:cNvSpPr>
          <p:nvPr/>
        </p:nvSpPr>
        <p:spPr>
          <a:xfrm xmlns:a="http://schemas.openxmlformats.org/drawingml/2006/main">
            <a:off x="6251296" y="1463040"/>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FFA01044-F3F8-4E75-80AC-5E4C368139FF}"/>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40AE7DBA-677C-4316-8908-51943AEDC686}"/>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6C2F30E2-15C5-4EA9-A335-5A9A09A94112}"/>
              </a:ext>
            </a:extLst>
          </p:cNvPr>
          <p:cNvSpPr>
            <a:spLocks xmlns:a="http://schemas.openxmlformats.org/drawingml/2006/main" noGrp="1"/>
          </p:cNvSpPr>
          <p:nvPr/>
        </p:nvSpPr>
        <p:spPr>
          <a:xfrm xmlns:a="http://schemas.openxmlformats.org/drawingml/2006/main">
            <a:off x="7028536"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Undeclared or hidden effect</a:t>
            </a:r>
          </a:p>
        </p:txBody>
      </p:sp>
      <p:sp>
        <p:nvSpPr>
          <p:cNvPr id="15" name="Text 13">
            <a:extLst xmlns:a="http://schemas.openxmlformats.org/drawingml/2006/main">
              <a:ext uri="{FF2B5EF4-FFF2-40B4-BE49-F238E27FC236}">
                <a16:creationId xmlns:a16="http://schemas.microsoft.com/office/drawing/2014/main" id="{0B0C5CC9-555A-403A-A02D-8B7AAFF1E0E1}"/>
              </a:ext>
            </a:extLst>
          </p:cNvPr>
          <p:cNvSpPr>
            <a:spLocks xmlns:a="http://schemas.openxmlformats.org/drawingml/2006/main" noGrp="1"/>
          </p:cNvSpPr>
          <p:nvPr/>
        </p:nvSpPr>
        <p:spPr>
          <a:xfrm xmlns:a="http://schemas.openxmlformats.org/drawingml/2006/main">
            <a:off x="7028536"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A nominal read may carry an external effect. An effect the catalog does not declare cannot be shown safe to speculate on.</a:t>
            </a:r>
          </a:p>
        </p:txBody>
      </p:sp>
      <p:sp>
        <p:nvSpPr>
          <p:cNvPr id="16" name="Shape 14">
            <a:extLst xmlns:a="http://schemas.openxmlformats.org/drawingml/2006/main">
              <a:ext uri="{FF2B5EF4-FFF2-40B4-BE49-F238E27FC236}">
                <a16:creationId xmlns:a16="http://schemas.microsoft.com/office/drawing/2014/main" id="{D5C637DF-EE4B-4056-80B5-141F710422E7}"/>
              </a:ext>
            </a:extLst>
          </p:cNvPr>
          <p:cNvSpPr>
            <a:spLocks xmlns:a="http://schemas.openxmlformats.org/drawingml/2006/main" noGrp="1"/>
          </p:cNvSpPr>
          <p:nvPr/>
        </p:nvSpPr>
        <p:spPr>
          <a:xfrm xmlns:a="http://schemas.openxmlformats.org/drawingml/2006/main">
            <a:off x="640080" y="3218688"/>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2BAB4E82-E702-4CE9-A81E-B1A1BFE09FEB}"/>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81830F66-92D8-4949-A15F-1C7433A4C2C9}"/>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2FC881CD-47F1-4E8E-AAC2-6DC37A279442}"/>
              </a:ext>
            </a:extLst>
          </p:cNvPr>
          <p:cNvSpPr>
            <a:spLocks xmlns:a="http://schemas.openxmlformats.org/drawingml/2006/main" noGrp="1"/>
          </p:cNvSpPr>
          <p:nvPr/>
        </p:nvSpPr>
        <p:spPr>
          <a:xfrm xmlns:a="http://schemas.openxmlformats.org/drawingml/2006/main">
            <a:off x="1417320"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Barrier crossed</a:t>
            </a:r>
          </a:p>
        </p:txBody>
      </p:sp>
      <p:sp>
        <p:nvSpPr>
          <p:cNvPr id="20" name="Text 18">
            <a:extLst xmlns:a="http://schemas.openxmlformats.org/drawingml/2006/main">
              <a:ext uri="{FF2B5EF4-FFF2-40B4-BE49-F238E27FC236}">
                <a16:creationId xmlns:a16="http://schemas.microsoft.com/office/drawing/2014/main" id="{B9FBB159-C7D3-4A28-A5E4-83A8540581C8}"/>
              </a:ext>
            </a:extLst>
          </p:cNvPr>
          <p:cNvSpPr>
            <a:spLocks xmlns:a="http://schemas.openxmlformats.org/drawingml/2006/main" noGrp="1"/>
          </p:cNvSpPr>
          <p:nvPr/>
        </p:nvSpPr>
        <p:spPr>
          <a:xfrm xmlns:a="http://schemas.openxmlformats.org/drawingml/2006/main">
            <a:off x="1417320"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The repeated sequence may cross an approval, a write, a handoff, or a commit boundary. Those are hard barriers, not costs to trade off.</a:t>
            </a:r>
          </a:p>
        </p:txBody>
      </p:sp>
      <p:sp>
        <p:nvSpPr>
          <p:cNvPr id="21" name="Shape 19">
            <a:extLst xmlns:a="http://schemas.openxmlformats.org/drawingml/2006/main">
              <a:ext uri="{FF2B5EF4-FFF2-40B4-BE49-F238E27FC236}">
                <a16:creationId xmlns:a16="http://schemas.microsoft.com/office/drawing/2014/main" id="{4121BD3D-3B58-48CF-953D-DE434ADADCED}"/>
              </a:ext>
            </a:extLst>
          </p:cNvPr>
          <p:cNvSpPr>
            <a:spLocks xmlns:a="http://schemas.openxmlformats.org/drawingml/2006/main" noGrp="1"/>
          </p:cNvSpPr>
          <p:nvPr/>
        </p:nvSpPr>
        <p:spPr>
          <a:xfrm xmlns:a="http://schemas.openxmlformats.org/drawingml/2006/main">
            <a:off x="6251296" y="3218688"/>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1EC611F0-BC50-4569-80D4-F8C7BB897E37}"/>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FB046290-6E47-46A7-A1B7-29F49E2CB86D}"/>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1DDD5D53-7B4D-4C0F-A08E-88A89B6A59DA}"/>
              </a:ext>
            </a:extLst>
          </p:cNvPr>
          <p:cNvSpPr>
            <a:spLocks xmlns:a="http://schemas.openxmlformats.org/drawingml/2006/main" noGrp="1"/>
          </p:cNvSpPr>
          <p:nvPr/>
        </p:nvSpPr>
        <p:spPr>
          <a:xfrm xmlns:a="http://schemas.openxmlformats.org/drawingml/2006/main">
            <a:off x="7028536"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Drift on the next input</a:t>
            </a:r>
          </a:p>
        </p:txBody>
      </p:sp>
      <p:sp>
        <p:nvSpPr>
          <p:cNvPr id="25" name="Text 23">
            <a:extLst xmlns:a="http://schemas.openxmlformats.org/drawingml/2006/main">
              <a:ext uri="{FF2B5EF4-FFF2-40B4-BE49-F238E27FC236}">
                <a16:creationId xmlns:a16="http://schemas.microsoft.com/office/drawing/2014/main" id="{7E274ED7-F3D9-497A-AFFC-C69A22AE69FA}"/>
              </a:ext>
            </a:extLst>
          </p:cNvPr>
          <p:cNvSpPr>
            <a:spLocks xmlns:a="http://schemas.openxmlformats.org/drawingml/2006/main" noGrp="1"/>
          </p:cNvSpPr>
          <p:nvPr/>
        </p:nvSpPr>
        <p:spPr>
          <a:xfrm xmlns:a="http://schemas.openxmlformats.org/drawingml/2006/main">
            <a:off x="7028536"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An input resembling the training trace may violate a permission, freshness, or schema constraint that held when the trace was recorded.</a:t>
            </a:r>
          </a:p>
        </p:txBody>
      </p:sp>
      <p:sp>
        <p:nvSpPr>
          <p:cNvPr id="26" name="Shape 24">
            <a:extLst xmlns:a="http://schemas.openxmlformats.org/drawingml/2006/main">
              <a:ext uri="{FF2B5EF4-FFF2-40B4-BE49-F238E27FC236}">
                <a16:creationId xmlns:a16="http://schemas.microsoft.com/office/drawing/2014/main" id="{C6C6F19B-0EE3-4621-ACE9-E09BA9F26E0F}"/>
              </a:ext>
            </a:extLst>
          </p:cNvPr>
          <p:cNvSpPr>
            <a:spLocks xmlns:a="http://schemas.openxmlformats.org/drawingml/2006/main" noGrp="1"/>
          </p:cNvSpPr>
          <p:nvPr/>
        </p:nvSpPr>
        <p:spPr>
          <a:xfrm xmlns:a="http://schemas.openxmlformats.org/drawingml/2006/main">
            <a:off x="640080" y="4754880"/>
            <a:ext cx="10911535" cy="960120"/>
          </a:xfrm>
          <a:prstGeom xmlns:a="http://schemas.openxmlformats.org/drawingml/2006/main" prst="roundRect">
            <a:avLst>
              <a:gd name="adj" fmla="val 4762"/>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1CA8744D-C78D-4658-9ACE-CF17B1B32C0F}"/>
              </a:ext>
            </a:extLst>
          </p:cNvPr>
          <p:cNvSpPr>
            <a:spLocks xmlns:a="http://schemas.openxmlformats.org/drawingml/2006/main" noGrp="1"/>
          </p:cNvSpPr>
          <p:nvPr/>
        </p:nvSpPr>
        <p:spPr>
          <a:xfrm xmlns:a="http://schemas.openxmlformats.org/drawingml/2006/main">
            <a:off x="914400" y="493776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50" b="1">
                <a:solidFill>
                  <a:srgbClr val="0D4A54"/>
                </a:solidFill>
                <a:latin typeface="Calibri"/>
                <a:ea typeface="Calibri"/>
                <a:cs typeface="Calibri"/>
              </a:rPr>
              <a:t>Deleting a model decision is a semantic change, not a memoization. </a:t>
            </a:r>
            <a:r>
              <a:rPr sz="1350">
                <a:solidFill>
                  <a:srgbClr val="2A4247"/>
                </a:solidFill>
                <a:latin typeface="Calibri"/>
                <a:ea typeface="Calibri"/>
                <a:cs typeface="Calibri"/>
              </a:rPr>
              <a:t>Every one of these hazards is checked structurally — no amount of statistical evidence can override a barrier hit.</a:t>
            </a:r>
          </a:p>
        </p:txBody>
      </p:sp>
    </p:spTree>
    <p:extLst>
      <p:ext uri="{BB962C8B-B14F-4D97-AF65-F5344CB8AC3E}">
        <p14:creationId xmlns:p14="http://schemas.microsoft.com/office/powerpoint/2010/main" val="134362879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C9F38AF-5CF5-4C5C-BC80-DC4511CFBE4E}"/>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FDA4A9D-25EE-421A-A198-2ECCB1B61F09}"/>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5</a:t>
            </a:r>
          </a:p>
        </p:txBody>
      </p:sp>
      <p:sp>
        <p:nvSpPr>
          <p:cNvPr id="4" name="Text 2">
            <a:extLst xmlns:a="http://schemas.openxmlformats.org/drawingml/2006/main">
              <a:ext uri="{FF2B5EF4-FFF2-40B4-BE49-F238E27FC236}">
                <a16:creationId xmlns:a16="http://schemas.microsoft.com/office/drawing/2014/main" id="{87A38A09-9F9C-491C-B11C-2E48F6712F73}"/>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SCOPE</a:t>
            </a:r>
          </a:p>
        </p:txBody>
      </p:sp>
      <p:sp>
        <p:nvSpPr>
          <p:cNvPr id="5" name="Text 3">
            <a:extLst xmlns:a="http://schemas.openxmlformats.org/drawingml/2006/main">
              <a:ext uri="{FF2B5EF4-FFF2-40B4-BE49-F238E27FC236}">
                <a16:creationId xmlns:a16="http://schemas.microsoft.com/office/drawing/2014/main" id="{0E842083-EB41-495D-A73F-C1FF795DCB72}"/>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The question, stated narrowly</a:t>
            </a:r>
          </a:p>
        </p:txBody>
      </p:sp>
      <p:sp>
        <p:nvSpPr>
          <p:cNvPr id="6" name="Shape 4">
            <a:extLst xmlns:a="http://schemas.openxmlformats.org/drawingml/2006/main">
              <a:ext uri="{FF2B5EF4-FFF2-40B4-BE49-F238E27FC236}">
                <a16:creationId xmlns:a16="http://schemas.microsoft.com/office/drawing/2014/main" id="{9D9A3FD4-8BE3-45A0-AAB8-09946BCC2F97}"/>
              </a:ext>
            </a:extLst>
          </p:cNvPr>
          <p:cNvSpPr>
            <a:spLocks xmlns:a="http://schemas.openxmlformats.org/drawingml/2006/main" noGrp="1"/>
          </p:cNvSpPr>
          <p:nvPr/>
        </p:nvSpPr>
        <p:spPr>
          <a:xfrm xmlns:a="http://schemas.openxmlformats.org/drawingml/2006/main">
            <a:off x="640080" y="1389888"/>
            <a:ext cx="10911535" cy="1207008"/>
          </a:xfrm>
          <a:prstGeom xmlns:a="http://schemas.openxmlformats.org/drawingml/2006/main" prst="roundRect">
            <a:avLst>
              <a:gd name="adj" fmla="val 3788"/>
            </a:avLst>
          </a:prstGeom>
          <a:solidFill xmlns:a="http://schemas.openxmlformats.org/drawingml/2006/main">
            <a:srgbClr val="0D4A54"/>
          </a:solidFill>
          <a:ln xmlns:a="http://schemas.openxmlformats.org/drawingml/2006/main" w="9525">
            <a:solidFill>
              <a:srgbClr val="0D4A54"/>
            </a:solidFill>
            <a:prstDash val="solid"/>
          </a:ln>
          <a:effectLst xmlns:a="http://schemas.openxmlformats.org/drawingml/2006/main">
            <a:outerShdw blurRad="114300" dist="17780" dir="5400000" algn="bl" rotWithShape="0">
              <a:srgbClr val="8FA9AE">
                <a:alpha val="22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34FB3C2B-AED0-4CEF-B34E-49E28B6A3FD7}"/>
              </a:ext>
            </a:extLst>
          </p:cNvPr>
          <p:cNvSpPr>
            <a:spLocks xmlns:a="http://schemas.openxmlformats.org/drawingml/2006/main" noGrp="1"/>
          </p:cNvSpPr>
          <p:nvPr/>
        </p:nvSpPr>
        <p:spPr>
          <a:xfrm xmlns:a="http://schemas.openxmlformats.org/drawingml/2006/main">
            <a:off x="1051560" y="1536192"/>
            <a:ext cx="100885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4000"/>
              </a:lnSpc>
              <a:buNone/>
            </a:pPr>
            <a:r>
              <a:rPr sz="1550" i="1">
                <a:solidFill>
                  <a:srgbClr val="FFFFFF"/>
                </a:solidFill>
                <a:latin typeface="Cambria"/>
                <a:ea typeface="Cambria"/>
                <a:cs typeface="Cambria"/>
              </a:rPr>
              <a:t>Given historical executions of a tool-using agent, identify a deterministic region that can replace model-mediated control flow, and dispatch it only where observable evidence supports that replacement.</a:t>
            </a:r>
          </a:p>
        </p:txBody>
      </p:sp>
      <p:sp>
        <p:nvSpPr>
          <p:cNvPr id="8" name="Text 6">
            <a:extLst xmlns:a="http://schemas.openxmlformats.org/drawingml/2006/main">
              <a:ext uri="{FF2B5EF4-FFF2-40B4-BE49-F238E27FC236}">
                <a16:creationId xmlns:a16="http://schemas.microsoft.com/office/drawing/2014/main" id="{72A88180-A477-4FF1-864E-3E94BFF1F821}"/>
              </a:ext>
            </a:extLst>
          </p:cNvPr>
          <p:cNvSpPr>
            <a:spLocks xmlns:a="http://schemas.openxmlformats.org/drawingml/2006/main" noGrp="1"/>
          </p:cNvSpPr>
          <p:nvPr/>
        </p:nvSpPr>
        <p:spPr>
          <a:xfrm xmlns:a="http://schemas.openxmlformats.org/drawingml/2006/main">
            <a:off x="640080" y="283464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FIVE RESEARCH QUESTIONS</a:t>
            </a:r>
          </a:p>
        </p:txBody>
      </p:sp>
      <p:sp>
        <p:nvSpPr>
          <p:cNvPr id="9" name="Shape 7">
            <a:extLst xmlns:a="http://schemas.openxmlformats.org/drawingml/2006/main">
              <a:ext uri="{FF2B5EF4-FFF2-40B4-BE49-F238E27FC236}">
                <a16:creationId xmlns:a16="http://schemas.microsoft.com/office/drawing/2014/main" id="{9B6680E0-701B-4E38-8EA1-0EDD54656B24}"/>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D1B2F5DB-06D8-4C10-8984-618434A473AA}"/>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1" name="Text 9">
            <a:extLst xmlns:a="http://schemas.openxmlformats.org/drawingml/2006/main">
              <a:ext uri="{FF2B5EF4-FFF2-40B4-BE49-F238E27FC236}">
                <a16:creationId xmlns:a16="http://schemas.microsoft.com/office/drawing/2014/main" id="{25D4A52C-E9F4-4BF0-B4D8-23737D7F512C}"/>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RQ1</a:t>
            </a:r>
          </a:p>
        </p:txBody>
      </p:sp>
      <p:sp>
        <p:nvSpPr>
          <p:cNvPr id="12" name="Text 10">
            <a:extLst xmlns:a="http://schemas.openxmlformats.org/drawingml/2006/main">
              <a:ext uri="{FF2B5EF4-FFF2-40B4-BE49-F238E27FC236}">
                <a16:creationId xmlns:a16="http://schemas.microsoft.com/office/drawing/2014/main" id="{691F27F4-B7A4-4327-B455-43427509A1D8}"/>
              </a:ext>
            </a:extLst>
          </p:cNvPr>
          <p:cNvSpPr>
            <a:spLocks xmlns:a="http://schemas.openxmlformats.org/drawingml/2006/main" noGrp="1"/>
          </p:cNvSpPr>
          <p:nvPr/>
        </p:nvSpPr>
        <p:spPr>
          <a:xfrm xmlns:a="http://schemas.openxmlformats.org/drawingml/2006/main">
            <a:off x="1261872" y="3145536"/>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Can typed trace provenance reconstruct the dependencies needed to synthesize recurrent tool programs?</a:t>
            </a:r>
          </a:p>
        </p:txBody>
      </p:sp>
      <p:sp>
        <p:nvSpPr>
          <p:cNvPr id="13" name="Shape 11">
            <a:extLst xmlns:a="http://schemas.openxmlformats.org/drawingml/2006/main">
              <a:ext uri="{FF2B5EF4-FFF2-40B4-BE49-F238E27FC236}">
                <a16:creationId xmlns:a16="http://schemas.microsoft.com/office/drawing/2014/main" id="{53ACD803-B185-4898-B6A3-E52AF117BC94}"/>
              </a:ext>
            </a:extLst>
          </p:cNvPr>
          <p:cNvSpPr>
            <a:spLocks xmlns:a="http://schemas.openxmlformats.org/drawingml/2006/main" noGrp="1"/>
          </p:cNvSpPr>
          <p:nvPr/>
        </p:nvSpPr>
        <p:spPr>
          <a:xfrm xmlns:a="http://schemas.openxmlformats.org/drawingml/2006/main">
            <a:off x="640080" y="3657600"/>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7C07A3C4-5545-46E5-9E84-6C49EEF539BB}"/>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EFF6A3E0-15CF-4CE0-A122-BA26C963764C}"/>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6" name="Text 14">
            <a:extLst xmlns:a="http://schemas.openxmlformats.org/drawingml/2006/main">
              <a:ext uri="{FF2B5EF4-FFF2-40B4-BE49-F238E27FC236}">
                <a16:creationId xmlns:a16="http://schemas.microsoft.com/office/drawing/2014/main" id="{B46C40F5-0148-4E4A-B728-A9FE799720FB}"/>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RQ2</a:t>
            </a:r>
          </a:p>
        </p:txBody>
      </p:sp>
      <p:sp>
        <p:nvSpPr>
          <p:cNvPr id="17" name="Text 15">
            <a:extLst xmlns:a="http://schemas.openxmlformats.org/drawingml/2006/main">
              <a:ext uri="{FF2B5EF4-FFF2-40B4-BE49-F238E27FC236}">
                <a16:creationId xmlns:a16="http://schemas.microsoft.com/office/drawing/2014/main" id="{EDA6DF17-275A-4F0B-8A3B-48598F948161}"/>
              </a:ext>
            </a:extLst>
          </p:cNvPr>
          <p:cNvSpPr>
            <a:spLocks xmlns:a="http://schemas.openxmlformats.org/drawingml/2006/main" noGrp="1"/>
          </p:cNvSpPr>
          <p:nvPr/>
        </p:nvSpPr>
        <p:spPr>
          <a:xfrm xmlns:a="http://schemas.openxmlformats.org/drawingml/2006/main">
            <a:off x="1261872" y="3749040"/>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On unseen real records, how do partial GRC, manual composition, and GCS trade factual quality against requests, tokens, latency, and cost?</a:t>
            </a:r>
          </a:p>
        </p:txBody>
      </p:sp>
      <p:sp>
        <p:nvSpPr>
          <p:cNvPr id="18" name="Shape 16">
            <a:extLst xmlns:a="http://schemas.openxmlformats.org/drawingml/2006/main">
              <a:ext uri="{FF2B5EF4-FFF2-40B4-BE49-F238E27FC236}">
                <a16:creationId xmlns:a16="http://schemas.microsoft.com/office/drawing/2014/main" id="{2857323C-E02D-4A5D-8742-3EB9414315E6}"/>
              </a:ext>
            </a:extLst>
          </p:cNvPr>
          <p:cNvSpPr>
            <a:spLocks xmlns:a="http://schemas.openxmlformats.org/drawingml/2006/main" noGrp="1"/>
          </p:cNvSpPr>
          <p:nvPr/>
        </p:nvSpPr>
        <p:spPr>
          <a:xfrm xmlns:a="http://schemas.openxmlformats.org/drawingml/2006/main">
            <a:off x="640080" y="4261104"/>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68C2954C-339C-41CD-8548-DF1154545F02}"/>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11749EE6-AF43-48DB-A833-B1EAD90539D6}"/>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1" name="Text 19">
            <a:extLst xmlns:a="http://schemas.openxmlformats.org/drawingml/2006/main">
              <a:ext uri="{FF2B5EF4-FFF2-40B4-BE49-F238E27FC236}">
                <a16:creationId xmlns:a16="http://schemas.microsoft.com/office/drawing/2014/main" id="{15532A2B-5042-492D-BF6B-54D23D8EBDBF}"/>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RQ3</a:t>
            </a:r>
          </a:p>
        </p:txBody>
      </p:sp>
      <p:sp>
        <p:nvSpPr>
          <p:cNvPr id="22" name="Text 20">
            <a:extLst xmlns:a="http://schemas.openxmlformats.org/drawingml/2006/main">
              <a:ext uri="{FF2B5EF4-FFF2-40B4-BE49-F238E27FC236}">
                <a16:creationId xmlns:a16="http://schemas.microsoft.com/office/drawing/2014/main" id="{FD364F9E-92F8-4D9E-A4B3-BE2D3C3F4DF0}"/>
              </a:ext>
            </a:extLst>
          </p:cNvPr>
          <p:cNvSpPr>
            <a:spLocks xmlns:a="http://schemas.openxmlformats.org/drawingml/2006/main" noGrp="1"/>
          </p:cNvSpPr>
          <p:nvPr/>
        </p:nvSpPr>
        <p:spPr>
          <a:xfrm xmlns:a="http://schemas.openxmlformats.org/drawingml/2006/main">
            <a:off x="1261872" y="4352544"/>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Does exact selective admission reject recurrent families when calibration support is inadequate?</a:t>
            </a:r>
          </a:p>
        </p:txBody>
      </p:sp>
      <p:sp>
        <p:nvSpPr>
          <p:cNvPr id="23" name="Shape 21">
            <a:extLst xmlns:a="http://schemas.openxmlformats.org/drawingml/2006/main">
              <a:ext uri="{FF2B5EF4-FFF2-40B4-BE49-F238E27FC236}">
                <a16:creationId xmlns:a16="http://schemas.microsoft.com/office/drawing/2014/main" id="{F2561A5C-9968-4752-A779-42028912209F}"/>
              </a:ext>
            </a:extLst>
          </p:cNvPr>
          <p:cNvSpPr>
            <a:spLocks xmlns:a="http://schemas.openxmlformats.org/drawingml/2006/main" noGrp="1"/>
          </p:cNvSpPr>
          <p:nvPr/>
        </p:nvSpPr>
        <p:spPr>
          <a:xfrm xmlns:a="http://schemas.openxmlformats.org/drawingml/2006/main">
            <a:off x="640080" y="4864608"/>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24" name="Shape 22">
            <a:extLst xmlns:a="http://schemas.openxmlformats.org/drawingml/2006/main">
              <a:ext uri="{FF2B5EF4-FFF2-40B4-BE49-F238E27FC236}">
                <a16:creationId xmlns:a16="http://schemas.microsoft.com/office/drawing/2014/main" id="{0392A439-6EC2-485F-A167-DEE08642C753}"/>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9FC60366-6837-4BEC-A41B-FDE65735D4D1}"/>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6" name="Text 24">
            <a:extLst xmlns:a="http://schemas.openxmlformats.org/drawingml/2006/main">
              <a:ext uri="{FF2B5EF4-FFF2-40B4-BE49-F238E27FC236}">
                <a16:creationId xmlns:a16="http://schemas.microsoft.com/office/drawing/2014/main" id="{4AF06532-2C98-4AD0-9038-D2B67AC7D59D}"/>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RQ4</a:t>
            </a:r>
          </a:p>
        </p:txBody>
      </p:sp>
      <p:sp>
        <p:nvSpPr>
          <p:cNvPr id="27" name="Text 25">
            <a:extLst xmlns:a="http://schemas.openxmlformats.org/drawingml/2006/main">
              <a:ext uri="{FF2B5EF4-FFF2-40B4-BE49-F238E27FC236}">
                <a16:creationId xmlns:a16="http://schemas.microsoft.com/office/drawing/2014/main" id="{26FF2DC8-E07B-45F0-A313-2889E1D0AF8D}"/>
              </a:ext>
            </a:extLst>
          </p:cNvPr>
          <p:cNvSpPr>
            <a:spLocks xmlns:a="http://schemas.openxmlformats.org/drawingml/2006/main" noGrp="1"/>
          </p:cNvSpPr>
          <p:nvPr/>
        </p:nvSpPr>
        <p:spPr>
          <a:xfrm xmlns:a="http://schemas.openxmlformats.org/drawingml/2006/main">
            <a:off x="1261872" y="4956048"/>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Which failure modes remain after structural compilation — and what does compaction not improve?</a:t>
            </a:r>
          </a:p>
        </p:txBody>
      </p:sp>
      <p:sp>
        <p:nvSpPr>
          <p:cNvPr id="28" name="Shape 26">
            <a:extLst xmlns:a="http://schemas.openxmlformats.org/drawingml/2006/main">
              <a:ext uri="{FF2B5EF4-FFF2-40B4-BE49-F238E27FC236}">
                <a16:creationId xmlns:a16="http://schemas.microsoft.com/office/drawing/2014/main" id="{FD49C9C2-ED4A-4A26-AABE-63A7D4BEE23E}"/>
              </a:ext>
            </a:extLst>
          </p:cNvPr>
          <p:cNvSpPr>
            <a:spLocks xmlns:a="http://schemas.openxmlformats.org/drawingml/2006/main" noGrp="1"/>
          </p:cNvSpPr>
          <p:nvPr/>
        </p:nvSpPr>
        <p:spPr>
          <a:xfrm xmlns:a="http://schemas.openxmlformats.org/drawingml/2006/main">
            <a:off x="640080" y="5468112"/>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29" name="Shape 27">
            <a:extLst xmlns:a="http://schemas.openxmlformats.org/drawingml/2006/main">
              <a:ext uri="{FF2B5EF4-FFF2-40B4-BE49-F238E27FC236}">
                <a16:creationId xmlns:a16="http://schemas.microsoft.com/office/drawing/2014/main" id="{B6CE1371-81CF-4BA7-99A3-88CCE6B91298}"/>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ellipse">
            <a:avLst/>
          </a:prstGeom>
          <a:solidFill xmlns:a="http://schemas.openxmlformats.org/drawingml/2006/main">
            <a:srgbClr val="4EA3B0"/>
          </a:solidFill>
          <a:ln xmlns:a="http://schemas.openxmlformats.org/drawingml/2006/main" w="635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7FC1D093-7ED8-462C-8286-B404EB12607B}"/>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31" name="Text 29">
            <a:extLst xmlns:a="http://schemas.openxmlformats.org/drawingml/2006/main">
              <a:ext uri="{FF2B5EF4-FFF2-40B4-BE49-F238E27FC236}">
                <a16:creationId xmlns:a16="http://schemas.microsoft.com/office/drawing/2014/main" id="{5EBF2569-74A3-40E6-ABEE-D66946D7C2A8}"/>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RQ5</a:t>
            </a:r>
          </a:p>
        </p:txBody>
      </p:sp>
      <p:sp>
        <p:nvSpPr>
          <p:cNvPr id="32" name="Text 30">
            <a:extLst xmlns:a="http://schemas.openxmlformats.org/drawingml/2006/main">
              <a:ext uri="{FF2B5EF4-FFF2-40B4-BE49-F238E27FC236}">
                <a16:creationId xmlns:a16="http://schemas.microsoft.com/office/drawing/2014/main" id="{EF9D92A3-89D1-4D7A-B4D7-00B4971E00BA}"/>
              </a:ext>
            </a:extLst>
          </p:cNvPr>
          <p:cNvSpPr>
            <a:spLocks xmlns:a="http://schemas.openxmlformats.org/drawingml/2006/main" noGrp="1"/>
          </p:cNvSpPr>
          <p:nvPr/>
        </p:nvSpPr>
        <p:spPr>
          <a:xfrm xmlns:a="http://schemas.openxmlformats.org/drawingml/2006/main">
            <a:off x="1261872" y="5559552"/>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Can group-level paired evidence select a risk-bounded action before a fresh cohort is seen?</a:t>
            </a:r>
          </a:p>
        </p:txBody>
      </p:sp>
    </p:spTree>
    <p:extLst>
      <p:ext uri="{BB962C8B-B14F-4D97-AF65-F5344CB8AC3E}">
        <p14:creationId xmlns:p14="http://schemas.microsoft.com/office/powerpoint/2010/main" val="79371826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BB67CA1-CFEA-4957-AE8B-EA9BF678D433}"/>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C388BAC-0C00-43E6-97D5-4A768B911BDE}"/>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6</a:t>
            </a:r>
          </a:p>
        </p:txBody>
      </p:sp>
      <p:sp>
        <p:nvSpPr>
          <p:cNvPr id="4" name="Text 2">
            <a:extLst xmlns:a="http://schemas.openxmlformats.org/drawingml/2006/main">
              <a:ext uri="{FF2B5EF4-FFF2-40B4-BE49-F238E27FC236}">
                <a16:creationId xmlns:a16="http://schemas.microsoft.com/office/drawing/2014/main" id="{01537B0F-22D2-4ABC-8B67-10D02776883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DEFINITION</a:t>
            </a:r>
          </a:p>
        </p:txBody>
      </p:sp>
      <p:sp>
        <p:nvSpPr>
          <p:cNvPr id="5" name="Text 3">
            <a:extLst xmlns:a="http://schemas.openxmlformats.org/drawingml/2006/main">
              <a:ext uri="{FF2B5EF4-FFF2-40B4-BE49-F238E27FC236}">
                <a16:creationId xmlns:a16="http://schemas.microsoft.com/office/drawing/2014/main" id="{AF41F639-8494-4523-B27E-211A285AE3A0}"/>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A guarded specialization of the routine part of a workflow</a:t>
            </a:r>
          </a:p>
        </p:txBody>
      </p:sp>
      <p:sp>
        <p:nvSpPr>
          <p:cNvPr id="6" name="Shape 4">
            <a:extLst xmlns:a="http://schemas.openxmlformats.org/drawingml/2006/main">
              <a:ext uri="{FF2B5EF4-FFF2-40B4-BE49-F238E27FC236}">
                <a16:creationId xmlns:a16="http://schemas.microsoft.com/office/drawing/2014/main" id="{000142AA-F295-4B8A-9710-F42606C475FE}"/>
              </a:ext>
            </a:extLst>
          </p:cNvPr>
          <p:cNvSpPr>
            <a:spLocks xmlns:a="http://schemas.openxmlformats.org/drawingml/2006/main" noGrp="1"/>
          </p:cNvSpPr>
          <p:nvPr/>
        </p:nvSpPr>
        <p:spPr>
          <a:xfrm xmlns:a="http://schemas.openxmlformats.org/drawingml/2006/main">
            <a:off x="640080" y="1371600"/>
            <a:ext cx="10911535" cy="786384"/>
          </a:xfrm>
          <a:prstGeom xmlns:a="http://schemas.openxmlformats.org/drawingml/2006/main" prst="roundRect">
            <a:avLst>
              <a:gd name="adj" fmla="val 5814"/>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FDC8F925-764D-4F60-94E5-74486166BC43}"/>
              </a:ext>
            </a:extLst>
          </p:cNvPr>
          <p:cNvSpPr>
            <a:spLocks xmlns:a="http://schemas.openxmlformats.org/drawingml/2006/main" noGrp="1"/>
          </p:cNvSpPr>
          <p:nvPr/>
        </p:nvSpPr>
        <p:spPr>
          <a:xfrm xmlns:a="http://schemas.openxmlformats.org/drawingml/2006/main">
            <a:off x="914400" y="1481328"/>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D4A54"/>
                </a:solidFill>
                <a:latin typeface="Calibri"/>
                <a:ea typeface="Calibri"/>
                <a:cs typeface="Calibri"/>
              </a:rPr>
              <a:t>Compaction</a:t>
            </a:r>
            <a:r>
              <a:rPr sz="1350">
                <a:solidFill>
                  <a:srgbClr val="2A4247"/>
                </a:solidFill>
                <a:latin typeface="Calibri"/>
                <a:ea typeface="Calibri"/>
                <a:cs typeface="Calibri"/>
              </a:rPr>
              <a:t> names the mechanism; </a:t>
            </a:r>
            <a:r>
              <a:rPr sz="1350" b="1">
                <a:solidFill>
                  <a:srgbClr val="0D4A54"/>
                </a:solidFill>
                <a:latin typeface="Calibri"/>
                <a:ea typeface="Calibri"/>
                <a:cs typeface="Calibri"/>
              </a:rPr>
              <a:t>specialization</a:t>
            </a:r>
            <a:r>
              <a:rPr sz="1350">
                <a:solidFill>
                  <a:srgbClr val="2A4247"/>
                </a:solidFill>
                <a:latin typeface="Calibri"/>
                <a:ea typeface="Calibri"/>
                <a:cs typeface="Calibri"/>
              </a:rPr>
              <a:t> names what it is allowed to do. Every decision the evidence does not determine stays with the model.</a:t>
            </a:r>
          </a:p>
        </p:txBody>
      </p:sp>
      <p:sp>
        <p:nvSpPr>
          <p:cNvPr id="8" name="Shape 6">
            <a:extLst xmlns:a="http://schemas.openxmlformats.org/drawingml/2006/main">
              <a:ext uri="{FF2B5EF4-FFF2-40B4-BE49-F238E27FC236}">
                <a16:creationId xmlns:a16="http://schemas.microsoft.com/office/drawing/2014/main" id="{3660DB4E-6C54-4ADF-8673-B405319A0C7F}"/>
              </a:ext>
            </a:extLst>
          </p:cNvPr>
          <p:cNvSpPr>
            <a:spLocks xmlns:a="http://schemas.openxmlformats.org/drawingml/2006/main" noGrp="1"/>
          </p:cNvSpPr>
          <p:nvPr/>
        </p:nvSpPr>
        <p:spPr>
          <a:xfrm xmlns:a="http://schemas.openxmlformats.org/drawingml/2006/main">
            <a:off x="640080" y="2377440"/>
            <a:ext cx="5300320" cy="2697480"/>
          </a:xfrm>
          <a:prstGeom xmlns:a="http://schemas.openxmlformats.org/drawingml/2006/main" prst="roundRect">
            <a:avLst>
              <a:gd name="adj" fmla="val 169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9" name="Shape 7">
            <a:extLst xmlns:a="http://schemas.openxmlformats.org/drawingml/2006/main">
              <a:ext uri="{FF2B5EF4-FFF2-40B4-BE49-F238E27FC236}">
                <a16:creationId xmlns:a16="http://schemas.microsoft.com/office/drawing/2014/main" id="{F0D8FDC0-5C3F-47C6-9F31-7B145D6A288F}"/>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AE0AB7C0-50AD-434C-97A7-3A0A1C4CA707}"/>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1" name="Text 9">
            <a:extLst xmlns:a="http://schemas.openxmlformats.org/drawingml/2006/main">
              <a:ext uri="{FF2B5EF4-FFF2-40B4-BE49-F238E27FC236}">
                <a16:creationId xmlns:a16="http://schemas.microsoft.com/office/drawing/2014/main" id="{BA2E8237-82B3-44BD-80C4-9A27413FF69A}"/>
              </a:ext>
            </a:extLst>
          </p:cNvPr>
          <p:cNvSpPr>
            <a:spLocks xmlns:a="http://schemas.openxmlformats.org/drawingml/2006/main" noGrp="1"/>
          </p:cNvSpPr>
          <p:nvPr/>
        </p:nvSpPr>
        <p:spPr>
          <a:xfrm xmlns:a="http://schemas.openxmlformats.org/drawingml/2006/main">
            <a:off x="1417320"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What it does</a:t>
            </a:r>
          </a:p>
        </p:txBody>
      </p:sp>
      <p:sp>
        <p:nvSpPr>
          <p:cNvPr id="12" name="Text 10">
            <a:extLst xmlns:a="http://schemas.openxmlformats.org/drawingml/2006/main">
              <a:ext uri="{FF2B5EF4-FFF2-40B4-BE49-F238E27FC236}">
                <a16:creationId xmlns:a16="http://schemas.microsoft.com/office/drawing/2014/main" id="{2BAED257-62F6-4C2D-AD2B-51B6BC58E10B}"/>
              </a:ext>
            </a:extLst>
          </p:cNvPr>
          <p:cNvSpPr>
            <a:spLocks xmlns:a="http://schemas.openxmlformats.org/drawingml/2006/main" noGrp="1"/>
          </p:cNvSpPr>
          <p:nvPr/>
        </p:nvSpPr>
        <p:spPr>
          <a:xfrm xmlns:a="http://schemas.openxmlformats.org/drawingml/2006/main">
            <a:off x="932688"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Reconstructs typed, value-level provenance for every tool argument in the region</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Synthesizes a readable program from a closed 23-operator library at depth ≤ 2</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Induces a hard guard and a post-execution verifier from the same traces</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Attaches an exact finite-sample bound on registered-contract violations</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Falls back to the unchanged agent on any precondition miss</a:t>
            </a:r>
          </a:p>
        </p:txBody>
      </p:sp>
      <p:sp>
        <p:nvSpPr>
          <p:cNvPr id="13" name="Shape 11">
            <a:extLst xmlns:a="http://schemas.openxmlformats.org/drawingml/2006/main">
              <a:ext uri="{FF2B5EF4-FFF2-40B4-BE49-F238E27FC236}">
                <a16:creationId xmlns:a16="http://schemas.microsoft.com/office/drawing/2014/main" id="{2C1F9B09-D7A0-46EA-AB01-3A0BA8ED8075}"/>
              </a:ext>
            </a:extLst>
          </p:cNvPr>
          <p:cNvSpPr>
            <a:spLocks xmlns:a="http://schemas.openxmlformats.org/drawingml/2006/main" noGrp="1"/>
          </p:cNvSpPr>
          <p:nvPr/>
        </p:nvSpPr>
        <p:spPr>
          <a:xfrm xmlns:a="http://schemas.openxmlformats.org/drawingml/2006/main">
            <a:off x="6251296" y="2377440"/>
            <a:ext cx="5300320" cy="2697480"/>
          </a:xfrm>
          <a:prstGeom xmlns:a="http://schemas.openxmlformats.org/drawingml/2006/main" prst="roundRect">
            <a:avLst>
              <a:gd name="adj" fmla="val 169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7CEC45E3-8BB9-43A5-A4E1-CAAFDEBC8FFB}"/>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7414D189-A8EE-410E-B2E4-658DA81CC025}"/>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31C6847A-34B1-4CB2-BB5A-8BC85BE9D160}"/>
              </a:ext>
            </a:extLst>
          </p:cNvPr>
          <p:cNvSpPr>
            <a:spLocks xmlns:a="http://schemas.openxmlformats.org/drawingml/2006/main" noGrp="1"/>
          </p:cNvSpPr>
          <p:nvPr/>
        </p:nvSpPr>
        <p:spPr>
          <a:xfrm xmlns:a="http://schemas.openxmlformats.org/drawingml/2006/main">
            <a:off x="7028536"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C4A2C"/>
                </a:solidFill>
                <a:latin typeface="Cambria"/>
                <a:ea typeface="Cambria"/>
                <a:cs typeface="Cambria"/>
              </a:rPr>
              <a:t>What it does not claim</a:t>
            </a:r>
          </a:p>
        </p:txBody>
      </p:sp>
      <p:sp>
        <p:nvSpPr>
          <p:cNvPr id="17" name="Text 15">
            <a:extLst xmlns:a="http://schemas.openxmlformats.org/drawingml/2006/main">
              <a:ext uri="{FF2B5EF4-FFF2-40B4-BE49-F238E27FC236}">
                <a16:creationId xmlns:a16="http://schemas.microsoft.com/office/drawing/2014/main" id="{02B6BC54-6E25-48CB-A38F-7A2369D095E3}"/>
              </a:ext>
            </a:extLst>
          </p:cNvPr>
          <p:cNvSpPr>
            <a:spLocks xmlns:a="http://schemas.openxmlformats.org/drawingml/2006/main" noGrp="1"/>
          </p:cNvSpPr>
          <p:nvPr/>
        </p:nvSpPr>
        <p:spPr>
          <a:xfrm xmlns:a="http://schemas.openxmlformats.org/drawingml/2006/main">
            <a:off x="6543904"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Universal semantic equivalence between agent and program</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Production certification — no canary, no live service, one snapshot domain</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Cross-domain generalization beyond the studied workflow family</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Fewer necessary tool calls — evidence acquisition is untouched</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Deterministic natural-language generation</a:t>
            </a:r>
          </a:p>
        </p:txBody>
      </p:sp>
      <p:sp>
        <p:nvSpPr>
          <p:cNvPr id="18" name="Text 16">
            <a:extLst xmlns:a="http://schemas.openxmlformats.org/drawingml/2006/main">
              <a:ext uri="{FF2B5EF4-FFF2-40B4-BE49-F238E27FC236}">
                <a16:creationId xmlns:a16="http://schemas.microsoft.com/office/drawing/2014/main" id="{7B8357CE-46B2-4CFC-8E03-D0C1AA461157}"/>
              </a:ext>
            </a:extLst>
          </p:cNvPr>
          <p:cNvSpPr>
            <a:spLocks xmlns:a="http://schemas.openxmlformats.org/drawingml/2006/main" noGrp="1"/>
          </p:cNvSpPr>
          <p:nvPr/>
        </p:nvSpPr>
        <p:spPr>
          <a:xfrm xmlns:a="http://schemas.openxmlformats.org/drawingml/2006/main">
            <a:off x="640080" y="5285232"/>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F767A"/>
                </a:solidFill>
                <a:latin typeface="Calibri"/>
                <a:ea typeface="Calibri"/>
                <a:cs typeface="Calibri"/>
              </a:rPr>
              <a:t>Shipped over one typed trace IR: guarded region compilation, guarded composite synthesis over admitted read programs, and trace-guided workflow specialization for routing.</a:t>
            </a:r>
          </a:p>
        </p:txBody>
      </p:sp>
    </p:spTree>
    <p:extLst>
      <p:ext uri="{BB962C8B-B14F-4D97-AF65-F5344CB8AC3E}">
        <p14:creationId xmlns:p14="http://schemas.microsoft.com/office/powerpoint/2010/main" val="196751029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9C067D7-8B6E-4039-AC82-40E89A4CE028}"/>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713BB51-F57B-4174-9495-4A1F2DD153BC}"/>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7</a:t>
            </a:r>
          </a:p>
        </p:txBody>
      </p:sp>
      <p:sp>
        <p:nvSpPr>
          <p:cNvPr id="4" name="Text 2">
            <a:extLst xmlns:a="http://schemas.openxmlformats.org/drawingml/2006/main">
              <a:ext uri="{FF2B5EF4-FFF2-40B4-BE49-F238E27FC236}">
                <a16:creationId xmlns:a16="http://schemas.microsoft.com/office/drawing/2014/main" id="{234F48A0-8114-4E37-8008-5112FA698764}"/>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ARCHITECTURE</a:t>
            </a:r>
          </a:p>
        </p:txBody>
      </p:sp>
      <p:sp>
        <p:nvSpPr>
          <p:cNvPr id="5" name="Text 3">
            <a:extLst xmlns:a="http://schemas.openxmlformats.org/drawingml/2006/main">
              <a:ext uri="{FF2B5EF4-FFF2-40B4-BE49-F238E27FC236}">
                <a16:creationId xmlns:a16="http://schemas.microsoft.com/office/drawing/2014/main" id="{FA1715D5-5908-48A3-9AA8-4E001FF2BE98}"/>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Capture offline, compile offline, resolve at the entry boundary</a:t>
            </a:r>
          </a:p>
        </p:txBody>
      </p:sp>
      <p:sp>
        <p:nvSpPr>
          <p:cNvPr id="6" name="Shape 4">
            <a:extLst xmlns:a="http://schemas.openxmlformats.org/drawingml/2006/main">
              <a:ext uri="{FF2B5EF4-FFF2-40B4-BE49-F238E27FC236}">
                <a16:creationId xmlns:a16="http://schemas.microsoft.com/office/drawing/2014/main" id="{27DD340C-2E6A-4C63-A5AE-F7056E2EB4E2}"/>
              </a:ext>
            </a:extLst>
          </p:cNvPr>
          <p:cNvSpPr>
            <a:spLocks xmlns:a="http://schemas.openxmlformats.org/drawingml/2006/main" noGrp="1"/>
          </p:cNvSpPr>
          <p:nvPr/>
        </p:nvSpPr>
        <p:spPr>
          <a:xfrm xmlns:a="http://schemas.openxmlformats.org/drawingml/2006/main">
            <a:off x="640080" y="1426464"/>
            <a:ext cx="3381146" cy="2724912"/>
          </a:xfrm>
          <a:prstGeom xmlns:a="http://schemas.openxmlformats.org/drawingml/2006/main" prst="roundRect">
            <a:avLst>
              <a:gd name="adj" fmla="val 167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097877C-DF32-42BC-AA50-193BF49323A7}"/>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03F8FA97-62E5-473A-902A-906B3DADFBB4}"/>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A</a:t>
            </a:r>
          </a:p>
        </p:txBody>
      </p:sp>
      <p:sp>
        <p:nvSpPr>
          <p:cNvPr id="9" name="Text 7">
            <a:extLst xmlns:a="http://schemas.openxmlformats.org/drawingml/2006/main">
              <a:ext uri="{FF2B5EF4-FFF2-40B4-BE49-F238E27FC236}">
                <a16:creationId xmlns:a16="http://schemas.microsoft.com/office/drawing/2014/main" id="{82D01E47-1643-449A-A83A-09E60220E471}"/>
              </a:ext>
            </a:extLst>
          </p:cNvPr>
          <p:cNvSpPr>
            <a:spLocks xmlns:a="http://schemas.openxmlformats.org/drawingml/2006/main" noGrp="1"/>
          </p:cNvSpPr>
          <p:nvPr/>
        </p:nvSpPr>
        <p:spPr>
          <a:xfrm xmlns:a="http://schemas.openxmlformats.org/drawingml/2006/main">
            <a:off x="1444752"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Capture</a:t>
            </a:r>
          </a:p>
        </p:txBody>
      </p:sp>
      <p:sp>
        <p:nvSpPr>
          <p:cNvPr id="10" name="Text 8">
            <a:extLst xmlns:a="http://schemas.openxmlformats.org/drawingml/2006/main">
              <a:ext uri="{FF2B5EF4-FFF2-40B4-BE49-F238E27FC236}">
                <a16:creationId xmlns:a16="http://schemas.microsoft.com/office/drawing/2014/main" id="{19A6C709-2C4A-47C3-A4D1-8601A0336676}"/>
              </a:ext>
            </a:extLst>
          </p:cNvPr>
          <p:cNvSpPr>
            <a:spLocks xmlns:a="http://schemas.openxmlformats.org/drawingml/2006/main" noGrp="1"/>
          </p:cNvSpPr>
          <p:nvPr/>
        </p:nvSpPr>
        <p:spPr>
          <a:xfrm xmlns:a="http://schemas.openxmlformats.org/drawingml/2006/main">
            <a:off x="932688"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Framework traces normalized into one typed Episode IR</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Entry snapshot, content-addressed manifest, ordered events, outcome</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Persisted as canonical JSONL with atomic replacement and strict validation</a:t>
            </a:r>
          </a:p>
        </p:txBody>
      </p:sp>
      <p:sp>
        <p:nvSpPr>
          <p:cNvPr id="11" name="Shape 9">
            <a:extLst xmlns:a="http://schemas.openxmlformats.org/drawingml/2006/main">
              <a:ext uri="{FF2B5EF4-FFF2-40B4-BE49-F238E27FC236}">
                <a16:creationId xmlns:a16="http://schemas.microsoft.com/office/drawing/2014/main" id="{136D134C-51DF-45E3-9318-5A7BC527EEC7}"/>
              </a:ext>
            </a:extLst>
          </p:cNvPr>
          <p:cNvSpPr>
            <a:spLocks xmlns:a="http://schemas.openxmlformats.org/drawingml/2006/main" noGrp="1"/>
          </p:cNvSpPr>
          <p:nvPr/>
        </p:nvSpPr>
        <p:spPr>
          <a:xfrm xmlns:a="http://schemas.openxmlformats.org/drawingml/2006/main">
            <a:off x="4094378" y="2587752"/>
            <a:ext cx="237744" cy="402336"/>
          </a:xfrm>
          <a:prstGeom xmlns:a="http://schemas.openxmlformats.org/drawingml/2006/main" prst="chevron">
            <a:avLst/>
          </a:prstGeom>
          <a:solidFill xmlns:a="http://schemas.openxmlformats.org/drawingml/2006/main">
            <a:srgbClr val="9CC7CE"/>
          </a:solidFill>
          <a:ln xmlns:a="http://schemas.openxmlformats.org/drawingml/2006/main" w="6350">
            <a:solidFill>
              <a:srgbClr val="9CC7CE"/>
            </a:solidFill>
            <a:prstDash val="solid"/>
          </a:ln>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BDD60231-3707-41AD-9DFA-475DB87ADC2F}"/>
              </a:ext>
            </a:extLst>
          </p:cNvPr>
          <p:cNvSpPr>
            <a:spLocks xmlns:a="http://schemas.openxmlformats.org/drawingml/2006/main" noGrp="1"/>
          </p:cNvSpPr>
          <p:nvPr/>
        </p:nvSpPr>
        <p:spPr>
          <a:xfrm xmlns:a="http://schemas.openxmlformats.org/drawingml/2006/main">
            <a:off x="4405274" y="1426464"/>
            <a:ext cx="3381146" cy="2724912"/>
          </a:xfrm>
          <a:prstGeom xmlns:a="http://schemas.openxmlformats.org/drawingml/2006/main" prst="roundRect">
            <a:avLst>
              <a:gd name="adj" fmla="val 167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8D8BB932-79B7-4139-B009-057591727F7D}"/>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ellipse">
            <a:avLst/>
          </a:prstGeom>
          <a:solidFill xmlns:a="http://schemas.openxmlformats.org/drawingml/2006/main">
            <a:srgbClr val="0D4A54"/>
          </a:solidFill>
          <a:ln xmlns:a="http://schemas.openxmlformats.org/drawingml/2006/main" w="635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A3A868EF-08BE-4BD0-B1C6-B420B0FE9CEA}"/>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B</a:t>
            </a:r>
          </a:p>
        </p:txBody>
      </p:sp>
      <p:sp>
        <p:nvSpPr>
          <p:cNvPr id="15" name="Text 13">
            <a:extLst xmlns:a="http://schemas.openxmlformats.org/drawingml/2006/main">
              <a:ext uri="{FF2B5EF4-FFF2-40B4-BE49-F238E27FC236}">
                <a16:creationId xmlns:a16="http://schemas.microsoft.com/office/drawing/2014/main" id="{90630511-88DC-4D12-AC5B-8F9D7838F699}"/>
              </a:ext>
            </a:extLst>
          </p:cNvPr>
          <p:cNvSpPr>
            <a:spLocks xmlns:a="http://schemas.openxmlformats.org/drawingml/2006/main" noGrp="1"/>
          </p:cNvSpPr>
          <p:nvPr/>
        </p:nvSpPr>
        <p:spPr>
          <a:xfrm xmlns:a="http://schemas.openxmlformats.org/drawingml/2006/main">
            <a:off x="5209946"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Offline compilation</a:t>
            </a:r>
          </a:p>
        </p:txBody>
      </p:sp>
      <p:sp>
        <p:nvSpPr>
          <p:cNvPr id="16" name="Text 14">
            <a:extLst xmlns:a="http://schemas.openxmlformats.org/drawingml/2006/main">
              <a:ext uri="{FF2B5EF4-FFF2-40B4-BE49-F238E27FC236}">
                <a16:creationId xmlns:a16="http://schemas.microsoft.com/office/drawing/2014/main" id="{687F3B3D-1252-4DB3-A721-0F70D5E2C627}"/>
              </a:ext>
            </a:extLst>
          </p:cNvPr>
          <p:cNvSpPr>
            <a:spLocks xmlns:a="http://schemas.openxmlformats.org/drawingml/2006/main" noGrp="1"/>
          </p:cNvSpPr>
          <p:nvPr/>
        </p:nvSpPr>
        <p:spPr>
          <a:xfrm xmlns:a="http://schemas.openxmlformats.org/drawingml/2006/main">
            <a:off x="4697882"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Touches no production traffic</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Six independent rejection points; any barrier hit returns Retire</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Emits an artifact only if the exact calibration bound clears the risk budget</a:t>
            </a:r>
          </a:p>
        </p:txBody>
      </p:sp>
      <p:sp>
        <p:nvSpPr>
          <p:cNvPr id="17" name="Shape 15">
            <a:extLst xmlns:a="http://schemas.openxmlformats.org/drawingml/2006/main">
              <a:ext uri="{FF2B5EF4-FFF2-40B4-BE49-F238E27FC236}">
                <a16:creationId xmlns:a16="http://schemas.microsoft.com/office/drawing/2014/main" id="{38EB57C9-42F3-4651-AF36-CFC2A139A7A0}"/>
              </a:ext>
            </a:extLst>
          </p:cNvPr>
          <p:cNvSpPr>
            <a:spLocks xmlns:a="http://schemas.openxmlformats.org/drawingml/2006/main" noGrp="1"/>
          </p:cNvSpPr>
          <p:nvPr/>
        </p:nvSpPr>
        <p:spPr>
          <a:xfrm xmlns:a="http://schemas.openxmlformats.org/drawingml/2006/main">
            <a:off x="7859573" y="2587752"/>
            <a:ext cx="237744" cy="402336"/>
          </a:xfrm>
          <a:prstGeom xmlns:a="http://schemas.openxmlformats.org/drawingml/2006/main" prst="chevron">
            <a:avLst/>
          </a:prstGeom>
          <a:solidFill xmlns:a="http://schemas.openxmlformats.org/drawingml/2006/main">
            <a:srgbClr val="9CC7CE"/>
          </a:solidFill>
          <a:ln xmlns:a="http://schemas.openxmlformats.org/drawingml/2006/main" w="6350">
            <a:solidFill>
              <a:srgbClr val="9CC7CE"/>
            </a:solidFill>
            <a:prstDash val="solid"/>
          </a:ln>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99AC3F95-970A-429E-AE5C-064FAB01B81E}"/>
              </a:ext>
            </a:extLst>
          </p:cNvPr>
          <p:cNvSpPr>
            <a:spLocks xmlns:a="http://schemas.openxmlformats.org/drawingml/2006/main" noGrp="1"/>
          </p:cNvSpPr>
          <p:nvPr/>
        </p:nvSpPr>
        <p:spPr>
          <a:xfrm xmlns:a="http://schemas.openxmlformats.org/drawingml/2006/main">
            <a:off x="8170469" y="1426464"/>
            <a:ext cx="3381146" cy="2724912"/>
          </a:xfrm>
          <a:prstGeom xmlns:a="http://schemas.openxmlformats.org/drawingml/2006/main" prst="roundRect">
            <a:avLst>
              <a:gd name="adj" fmla="val 167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18B6A46B-DB69-4C33-836F-F0B729DA5A8D}"/>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ellipse">
            <a:avLst/>
          </a:prstGeom>
          <a:solidFill xmlns:a="http://schemas.openxmlformats.org/drawingml/2006/main">
            <a:srgbClr val="4EA3B0"/>
          </a:solidFill>
          <a:ln xmlns:a="http://schemas.openxmlformats.org/drawingml/2006/main" w="635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9F0C98FB-CEBB-4FF5-B3BF-CBD70EDDADE4}"/>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C</a:t>
            </a:r>
          </a:p>
        </p:txBody>
      </p:sp>
      <p:sp>
        <p:nvSpPr>
          <p:cNvPr id="21" name="Text 19">
            <a:extLst xmlns:a="http://schemas.openxmlformats.org/drawingml/2006/main">
              <a:ext uri="{FF2B5EF4-FFF2-40B4-BE49-F238E27FC236}">
                <a16:creationId xmlns:a16="http://schemas.microsoft.com/office/drawing/2014/main" id="{9FCE5D7F-3232-4E01-A2EF-D2AD577D9BE3}"/>
              </a:ext>
            </a:extLst>
          </p:cNvPr>
          <p:cNvSpPr>
            <a:spLocks xmlns:a="http://schemas.openxmlformats.org/drawingml/2006/main" noGrp="1"/>
          </p:cNvSpPr>
          <p:nvPr/>
        </p:nvSpPr>
        <p:spPr>
          <a:xfrm xmlns:a="http://schemas.openxmlformats.org/drawingml/2006/main">
            <a:off x="8975141"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Runtime</a:t>
            </a:r>
          </a:p>
        </p:txBody>
      </p:sp>
      <p:sp>
        <p:nvSpPr>
          <p:cNvPr id="22" name="Text 20">
            <a:extLst xmlns:a="http://schemas.openxmlformats.org/drawingml/2006/main">
              <a:ext uri="{FF2B5EF4-FFF2-40B4-BE49-F238E27FC236}">
                <a16:creationId xmlns:a16="http://schemas.microsoft.com/office/drawing/2014/main" id="{BE316CC3-9161-4482-AFAD-448261D32742}"/>
              </a:ext>
            </a:extLst>
          </p:cNvPr>
          <p:cNvSpPr>
            <a:spLocks xmlns:a="http://schemas.openxmlformats.org/drawingml/2006/main" noGrp="1"/>
          </p:cNvSpPr>
          <p:nvPr/>
        </p:nvSpPr>
        <p:spPr>
          <a:xfrm xmlns:a="http://schemas.openxmlformats.org/drawingml/2006/main">
            <a:off x="8463077"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Bounded lookup by compatibility and partition</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Ordinary GRC: guard → gate → stage → interpret → verify → commit</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Eligible GCS: verify and project before provider request one</a:t>
            </a:r>
          </a:p>
        </p:txBody>
      </p:sp>
      <p:sp>
        <p:nvSpPr>
          <p:cNvPr id="23" name="Shape 21">
            <a:extLst xmlns:a="http://schemas.openxmlformats.org/drawingml/2006/main">
              <a:ext uri="{FF2B5EF4-FFF2-40B4-BE49-F238E27FC236}">
                <a16:creationId xmlns:a16="http://schemas.microsoft.com/office/drawing/2014/main" id="{16879C53-3364-4E90-9CF0-6495655A4319}"/>
              </a:ext>
            </a:extLst>
          </p:cNvPr>
          <p:cNvSpPr>
            <a:spLocks xmlns:a="http://schemas.openxmlformats.org/drawingml/2006/main" noGrp="1"/>
          </p:cNvSpPr>
          <p:nvPr/>
        </p:nvSpPr>
        <p:spPr>
          <a:xfrm xmlns:a="http://schemas.openxmlformats.org/drawingml/2006/main">
            <a:off x="640080" y="4443984"/>
            <a:ext cx="10911535" cy="1024128"/>
          </a:xfrm>
          <a:prstGeom xmlns:a="http://schemas.openxmlformats.org/drawingml/2006/main" prst="roundRect">
            <a:avLst>
              <a:gd name="adj" fmla="val 4464"/>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BA55EFD1-6358-4555-999A-7BFEAFB0B993}"/>
              </a:ext>
            </a:extLst>
          </p:cNvPr>
          <p:cNvSpPr>
            <a:spLocks xmlns:a="http://schemas.openxmlformats.org/drawingml/2006/main" noGrp="1"/>
          </p:cNvSpPr>
          <p:nvPr/>
        </p:nvSpPr>
        <p:spPr>
          <a:xfrm xmlns:a="http://schemas.openxmlformats.org/drawingml/2006/main">
            <a:off x="914400" y="4590288"/>
            <a:ext cx="1036289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C4A2C"/>
                </a:solidFill>
                <a:latin typeface="Calibri"/>
                <a:ea typeface="Calibri"/>
                <a:cs typeface="Calibri"/>
              </a:rPr>
              <a:t>HARD BARRIERS — NO STATISTICAL EVIDENCE CAN LICENSE AN ARTIFACT</a:t>
            </a:r>
          </a:p>
        </p:txBody>
      </p:sp>
      <p:sp>
        <p:nvSpPr>
          <p:cNvPr id="25" name="Text 23">
            <a:extLst xmlns:a="http://schemas.openxmlformats.org/drawingml/2006/main">
              <a:ext uri="{FF2B5EF4-FFF2-40B4-BE49-F238E27FC236}">
                <a16:creationId xmlns:a16="http://schemas.microsoft.com/office/drawing/2014/main" id="{56C91770-9DAF-4340-B48C-0A6C341BD432}"/>
              </a:ext>
            </a:extLst>
          </p:cNvPr>
          <p:cNvSpPr>
            <a:spLocks xmlns:a="http://schemas.openxmlformats.org/drawingml/2006/main" noGrp="1"/>
          </p:cNvSpPr>
          <p:nvPr/>
        </p:nvSpPr>
        <p:spPr>
          <a:xfrm xmlns:a="http://schemas.openxmlformats.org/drawingml/2006/main">
            <a:off x="914400" y="4882896"/>
            <a:ext cx="1036289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250">
                <a:solidFill>
                  <a:srgbClr val="5A3A2E"/>
                </a:solidFill>
                <a:latin typeface="Calibri"/>
                <a:ea typeface="Calibri"/>
                <a:cs typeface="Calibri"/>
              </a:rPr>
              <a:t>unknown or irreversible effect  ·  approval  ·  handoff  ·  ungrounded or ambiguous argument  ·  manifest or isolation mismatch  ·  non-prefix runtime position</a:t>
            </a:r>
          </a:p>
        </p:txBody>
      </p:sp>
      <p:sp>
        <p:nvSpPr>
          <p:cNvPr id="26" name="Text 24">
            <a:extLst xmlns:a="http://schemas.openxmlformats.org/drawingml/2006/main">
              <a:ext uri="{FF2B5EF4-FFF2-40B4-BE49-F238E27FC236}">
                <a16:creationId xmlns:a16="http://schemas.microsoft.com/office/drawing/2014/main" id="{D72314EA-C72A-4A8F-A372-1272AA261634}"/>
              </a:ext>
            </a:extLst>
          </p:cNvPr>
          <p:cNvSpPr>
            <a:spLocks xmlns:a="http://schemas.openxmlformats.org/drawingml/2006/main" noGrp="1"/>
          </p:cNvSpPr>
          <p:nvPr/>
        </p:nvSpPr>
        <p:spPr>
          <a:xfrm xmlns:a="http://schemas.openxmlformats.org/drawingml/2006/main">
            <a:off x="640080" y="566928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5F767A"/>
                </a:solidFill>
                <a:latin typeface="Calibri"/>
                <a:ea typeface="Calibri"/>
                <a:cs typeface="Calibri"/>
              </a:rPr>
              <a:t>The asymmetry is deliberate: statistics can only narrow what a structurally admissible artifact may do. They can never widen it.</a:t>
            </a:r>
          </a:p>
        </p:txBody>
      </p:sp>
    </p:spTree>
    <p:extLst>
      <p:ext uri="{BB962C8B-B14F-4D97-AF65-F5344CB8AC3E}">
        <p14:creationId xmlns:p14="http://schemas.microsoft.com/office/powerpoint/2010/main" val="105217223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691CFA9-633F-4814-93DA-ABC1D1F650C2}"/>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1BA691A-6ABF-423C-85FA-C28468545583}"/>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8</a:t>
            </a:r>
          </a:p>
        </p:txBody>
      </p:sp>
      <p:sp>
        <p:nvSpPr>
          <p:cNvPr id="4" name="Text 2">
            <a:extLst xmlns:a="http://schemas.openxmlformats.org/drawingml/2006/main">
              <a:ext uri="{FF2B5EF4-FFF2-40B4-BE49-F238E27FC236}">
                <a16:creationId xmlns:a16="http://schemas.microsoft.com/office/drawing/2014/main" id="{7C4F4140-CDCD-4407-8C7E-3A716D94781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OFFLINE COMPILATION</a:t>
            </a:r>
          </a:p>
        </p:txBody>
      </p:sp>
      <p:sp>
        <p:nvSpPr>
          <p:cNvPr id="5" name="Text 3">
            <a:extLst xmlns:a="http://schemas.openxmlformats.org/drawingml/2006/main">
              <a:ext uri="{FF2B5EF4-FFF2-40B4-BE49-F238E27FC236}">
                <a16:creationId xmlns:a16="http://schemas.microsoft.com/office/drawing/2014/main" id="{8DBA8B97-657A-4B19-9D45-073229180E5C}"/>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Six independent rejection points — refusal is the default output</a:t>
            </a:r>
          </a:p>
        </p:txBody>
      </p:sp>
      <p:sp>
        <p:nvSpPr>
          <p:cNvPr id="6" name="Shape 4">
            <a:extLst xmlns:a="http://schemas.openxmlformats.org/drawingml/2006/main">
              <a:ext uri="{FF2B5EF4-FFF2-40B4-BE49-F238E27FC236}">
                <a16:creationId xmlns:a16="http://schemas.microsoft.com/office/drawing/2014/main" id="{B44F8FDD-AAF9-47D2-9178-26372E71AD7D}"/>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7B57ECF5-2100-4AB4-8E67-2F1DEF9ACE57}"/>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1</a:t>
            </a:r>
          </a:p>
        </p:txBody>
      </p:sp>
      <p:sp>
        <p:nvSpPr>
          <p:cNvPr id="8" name="Text 6">
            <a:extLst xmlns:a="http://schemas.openxmlformats.org/drawingml/2006/main">
              <a:ext uri="{FF2B5EF4-FFF2-40B4-BE49-F238E27FC236}">
                <a16:creationId xmlns:a16="http://schemas.microsoft.com/office/drawing/2014/main" id="{EF052E00-EF6A-494D-BCCC-8422270622DE}"/>
              </a:ext>
            </a:extLst>
          </p:cNvPr>
          <p:cNvSpPr>
            <a:spLocks xmlns:a="http://schemas.openxmlformats.org/drawingml/2006/main" noGrp="1"/>
          </p:cNvSpPr>
          <p:nvPr/>
        </p:nvSpPr>
        <p:spPr>
          <a:xfrm xmlns:a="http://schemas.openxmlformats.org/drawingml/2006/main">
            <a:off x="1225296"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Qualify &amp; partition</a:t>
            </a:r>
          </a:p>
        </p:txBody>
      </p:sp>
      <p:sp>
        <p:nvSpPr>
          <p:cNvPr id="9" name="Text 7">
            <a:extLst xmlns:a="http://schemas.openxmlformats.org/drawingml/2006/main">
              <a:ext uri="{FF2B5EF4-FFF2-40B4-BE49-F238E27FC236}">
                <a16:creationId xmlns:a16="http://schemas.microsoft.com/office/drawing/2014/main" id="{BFFD3EE6-829C-4E85-BBFD-5E7CCC2585C0}"/>
              </a:ext>
            </a:extLst>
          </p:cNvPr>
          <p:cNvSpPr>
            <a:spLocks xmlns:a="http://schemas.openxmlformats.org/drawingml/2006/main" noGrp="1"/>
          </p:cNvSpPr>
          <p:nvPr/>
        </p:nvSpPr>
        <p:spPr>
          <a:xfrm xmlns:a="http://schemas.openxmlformats.org/drawingml/2006/main">
            <a:off x="1225296"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Drop partial runs, unpinned manifests, missing payloads. Partition by manifest, principal, isolation.</a:t>
            </a:r>
          </a:p>
        </p:txBody>
      </p:sp>
      <p:sp>
        <p:nvSpPr>
          <p:cNvPr id="10" name="Shape 8">
            <a:extLst xmlns:a="http://schemas.openxmlformats.org/drawingml/2006/main">
              <a:ext uri="{FF2B5EF4-FFF2-40B4-BE49-F238E27FC236}">
                <a16:creationId xmlns:a16="http://schemas.microsoft.com/office/drawing/2014/main" id="{3242F6EA-461B-49F1-9FB9-5EC62A4C40BD}"/>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32D7F6CA-AF18-4B69-B8EC-2E91C640E8FD}"/>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2</a:t>
            </a:r>
          </a:p>
        </p:txBody>
      </p:sp>
      <p:sp>
        <p:nvSpPr>
          <p:cNvPr id="12" name="Text 10">
            <a:extLst xmlns:a="http://schemas.openxmlformats.org/drawingml/2006/main">
              <a:ext uri="{FF2B5EF4-FFF2-40B4-BE49-F238E27FC236}">
                <a16:creationId xmlns:a16="http://schemas.microsoft.com/office/drawing/2014/main" id="{10501138-DDC6-45A3-8FDE-D605172A28C4}"/>
              </a:ext>
            </a:extLst>
          </p:cNvPr>
          <p:cNvSpPr>
            <a:spLocks xmlns:a="http://schemas.openxmlformats.org/drawingml/2006/main" noGrp="1"/>
          </p:cNvSpPr>
          <p:nvPr/>
        </p:nvSpPr>
        <p:spPr>
          <a:xfrm xmlns:a="http://schemas.openxmlformats.org/drawingml/2006/main">
            <a:off x="6836512"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Typed provenance</a:t>
            </a:r>
          </a:p>
        </p:txBody>
      </p:sp>
      <p:sp>
        <p:nvSpPr>
          <p:cNvPr id="13" name="Text 11">
            <a:extLst xmlns:a="http://schemas.openxmlformats.org/drawingml/2006/main">
              <a:ext uri="{FF2B5EF4-FFF2-40B4-BE49-F238E27FC236}">
                <a16:creationId xmlns:a16="http://schemas.microsoft.com/office/drawing/2014/main" id="{00F87D36-C4A6-4D2A-B35F-1FA05D50CF3B}"/>
              </a:ext>
            </a:extLst>
          </p:cNvPr>
          <p:cNvSpPr>
            <a:spLocks xmlns:a="http://schemas.openxmlformats.org/drawingml/2006/main" noGrp="1"/>
          </p:cNvSpPr>
          <p:nvPr/>
        </p:nvSpPr>
        <p:spPr>
          <a:xfrm xmlns:a="http://schemas.openxmlformats.org/drawingml/2006/main">
            <a:off x="6836512"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Build the program-argument trace graph. No witness or too many witnesses blocks the region.</a:t>
            </a:r>
          </a:p>
        </p:txBody>
      </p:sp>
      <p:sp>
        <p:nvSpPr>
          <p:cNvPr id="14" name="Shape 12">
            <a:extLst xmlns:a="http://schemas.openxmlformats.org/drawingml/2006/main">
              <a:ext uri="{FF2B5EF4-FFF2-40B4-BE49-F238E27FC236}">
                <a16:creationId xmlns:a16="http://schemas.microsoft.com/office/drawing/2014/main" id="{AB152570-18AC-4D6B-ACAA-73606D9B5E41}"/>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7E896B8F-B5D5-4AA2-9CFC-92D0EA46A6B5}"/>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3</a:t>
            </a:r>
          </a:p>
        </p:txBody>
      </p:sp>
      <p:sp>
        <p:nvSpPr>
          <p:cNvPr id="16" name="Text 14">
            <a:extLst xmlns:a="http://schemas.openxmlformats.org/drawingml/2006/main">
              <a:ext uri="{FF2B5EF4-FFF2-40B4-BE49-F238E27FC236}">
                <a16:creationId xmlns:a16="http://schemas.microsoft.com/office/drawing/2014/main" id="{39EFD2AA-A429-4833-A6BC-BE7C14EA4016}"/>
              </a:ext>
            </a:extLst>
          </p:cNvPr>
          <p:cNvSpPr>
            <a:spLocks xmlns:a="http://schemas.openxmlformats.org/drawingml/2006/main" noGrp="1"/>
          </p:cNvSpPr>
          <p:nvPr/>
        </p:nvSpPr>
        <p:spPr>
          <a:xfrm xmlns:a="http://schemas.openxmlformats.org/drawingml/2006/main">
            <a:off x="1225296"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Feasibility ceiling</a:t>
            </a:r>
          </a:p>
        </p:txBody>
      </p:sp>
      <p:sp>
        <p:nvSpPr>
          <p:cNvPr id="17" name="Text 15">
            <a:extLst xmlns:a="http://schemas.openxmlformats.org/drawingml/2006/main">
              <a:ext uri="{FF2B5EF4-FFF2-40B4-BE49-F238E27FC236}">
                <a16:creationId xmlns:a16="http://schemas.microsoft.com/office/drawing/2014/main" id="{58C82687-48A6-457D-8442-BF6C281A3776}"/>
              </a:ext>
            </a:extLst>
          </p:cNvPr>
          <p:cNvSpPr>
            <a:spLocks xmlns:a="http://schemas.openxmlformats.org/drawingml/2006/main" noGrp="1"/>
          </p:cNvSpPr>
          <p:nvPr/>
        </p:nvSpPr>
        <p:spPr>
          <a:xfrm xmlns:a="http://schemas.openxmlformats.org/drawingml/2006/main">
            <a:off x="1225296"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Compute the best achievable saving before paying for synthesis. Below target → decline.</a:t>
            </a:r>
          </a:p>
        </p:txBody>
      </p:sp>
      <p:sp>
        <p:nvSpPr>
          <p:cNvPr id="18" name="Shape 16">
            <a:extLst xmlns:a="http://schemas.openxmlformats.org/drawingml/2006/main">
              <a:ext uri="{FF2B5EF4-FFF2-40B4-BE49-F238E27FC236}">
                <a16:creationId xmlns:a16="http://schemas.microsoft.com/office/drawing/2014/main" id="{B7D8A3AF-1443-4623-AC34-A1E36AEFE62A}"/>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89C1CA70-5CFE-46D1-8A5F-0B339034F01B}"/>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4</a:t>
            </a:r>
          </a:p>
        </p:txBody>
      </p:sp>
      <p:sp>
        <p:nvSpPr>
          <p:cNvPr id="20" name="Text 18">
            <a:extLst xmlns:a="http://schemas.openxmlformats.org/drawingml/2006/main">
              <a:ext uri="{FF2B5EF4-FFF2-40B4-BE49-F238E27FC236}">
                <a16:creationId xmlns:a16="http://schemas.microsoft.com/office/drawing/2014/main" id="{048FACA7-4D80-4504-8F72-2CB400BD4B4E}"/>
              </a:ext>
            </a:extLst>
          </p:cNvPr>
          <p:cNvSpPr>
            <a:spLocks xmlns:a="http://schemas.openxmlformats.org/drawingml/2006/main" noGrp="1"/>
          </p:cNvSpPr>
          <p:nvPr/>
        </p:nvSpPr>
        <p:spPr>
          <a:xfrm xmlns:a="http://schemas.openxmlformats.org/drawingml/2006/main">
            <a:off x="6836512"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Bounded synthesis</a:t>
            </a:r>
          </a:p>
        </p:txBody>
      </p:sp>
      <p:sp>
        <p:nvSpPr>
          <p:cNvPr id="21" name="Text 19">
            <a:extLst xmlns:a="http://schemas.openxmlformats.org/drawingml/2006/main">
              <a:ext uri="{FF2B5EF4-FFF2-40B4-BE49-F238E27FC236}">
                <a16:creationId xmlns:a16="http://schemas.microsoft.com/office/drawing/2014/main" id="{B5DCC567-AFE7-4A40-B370-F8FB9DD81E96}"/>
              </a:ext>
            </a:extLst>
          </p:cNvPr>
          <p:cNvSpPr>
            <a:spLocks xmlns:a="http://schemas.openxmlformats.org/drawingml/2006/main" noGrp="1"/>
          </p:cNvSpPr>
          <p:nvPr/>
        </p:nvSpPr>
        <p:spPr>
          <a:xfrm xmlns:a="http://schemas.openxmlformats.org/drawingml/2006/main">
            <a:off x="6836512"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Search a 23-operator closed library at depth ≤ 2, refit group-wise. Ungroundable slot → skip.</a:t>
            </a:r>
          </a:p>
        </p:txBody>
      </p:sp>
      <p:sp>
        <p:nvSpPr>
          <p:cNvPr id="22" name="Shape 20">
            <a:extLst xmlns:a="http://schemas.openxmlformats.org/drawingml/2006/main">
              <a:ext uri="{FF2B5EF4-FFF2-40B4-BE49-F238E27FC236}">
                <a16:creationId xmlns:a16="http://schemas.microsoft.com/office/drawing/2014/main" id="{98749983-5E74-4339-AE7D-DD1469C96779}"/>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14D1A348-39FE-4617-AE61-A6747DAA948A}"/>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5</a:t>
            </a:r>
          </a:p>
        </p:txBody>
      </p:sp>
      <p:sp>
        <p:nvSpPr>
          <p:cNvPr id="24" name="Text 22">
            <a:extLst xmlns:a="http://schemas.openxmlformats.org/drawingml/2006/main">
              <a:ext uri="{FF2B5EF4-FFF2-40B4-BE49-F238E27FC236}">
                <a16:creationId xmlns:a16="http://schemas.microsoft.com/office/drawing/2014/main" id="{EF172C33-5494-456D-B37F-B0A34D396194}"/>
              </a:ext>
            </a:extLst>
          </p:cNvPr>
          <p:cNvSpPr>
            <a:spLocks xmlns:a="http://schemas.openxmlformats.org/drawingml/2006/main" noGrp="1"/>
          </p:cNvSpPr>
          <p:nvPr/>
        </p:nvSpPr>
        <p:spPr>
          <a:xfrm xmlns:a="http://schemas.openxmlformats.org/drawingml/2006/main">
            <a:off x="1225296"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Contracts &amp; challenge</a:t>
            </a:r>
          </a:p>
        </p:txBody>
      </p:sp>
      <p:sp>
        <p:nvSpPr>
          <p:cNvPr id="25" name="Text 23">
            <a:extLst xmlns:a="http://schemas.openxmlformats.org/drawingml/2006/main">
              <a:ext uri="{FF2B5EF4-FFF2-40B4-BE49-F238E27FC236}">
                <a16:creationId xmlns:a16="http://schemas.microsoft.com/office/drawing/2014/main" id="{2744CC00-0489-4F81-AC04-776217F2B71A}"/>
              </a:ext>
            </a:extLst>
          </p:cNvPr>
          <p:cNvSpPr>
            <a:spLocks xmlns:a="http://schemas.openxmlformats.org/drawingml/2006/main" noGrp="1"/>
          </p:cNvSpPr>
          <p:nvPr/>
        </p:nvSpPr>
        <p:spPr>
          <a:xfrm xmlns:a="http://schemas.openxmlformats.org/drawingml/2006/main">
            <a:off x="1225296"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Induce hard guard and verifier; replay, and perturb where a sandbox exists. A counterexample retires the family.</a:t>
            </a:r>
          </a:p>
        </p:txBody>
      </p:sp>
      <p:sp>
        <p:nvSpPr>
          <p:cNvPr id="26" name="Shape 24">
            <a:extLst xmlns:a="http://schemas.openxmlformats.org/drawingml/2006/main">
              <a:ext uri="{FF2B5EF4-FFF2-40B4-BE49-F238E27FC236}">
                <a16:creationId xmlns:a16="http://schemas.microsoft.com/office/drawing/2014/main" id="{98DE72EF-6D8F-4C74-8201-E624ACD1B8D6}"/>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ellipse">
            <a:avLst/>
          </a:prstGeom>
          <a:solidFill xmlns:a="http://schemas.openxmlformats.org/drawingml/2006/main">
            <a:srgbClr val="0D4A54"/>
          </a:solidFill>
          <a:ln xmlns:a="http://schemas.openxmlformats.org/drawingml/2006/main" w="635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37248FC4-FB3C-4E14-BD65-A543EB713923}"/>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6</a:t>
            </a:r>
          </a:p>
        </p:txBody>
      </p:sp>
      <p:sp>
        <p:nvSpPr>
          <p:cNvPr id="28" name="Text 26">
            <a:extLst xmlns:a="http://schemas.openxmlformats.org/drawingml/2006/main">
              <a:ext uri="{FF2B5EF4-FFF2-40B4-BE49-F238E27FC236}">
                <a16:creationId xmlns:a16="http://schemas.microsoft.com/office/drawing/2014/main" id="{93B593CA-A9CC-4D09-B6BF-FE30DB48719F}"/>
              </a:ext>
            </a:extLst>
          </p:cNvPr>
          <p:cNvSpPr>
            <a:spLocks xmlns:a="http://schemas.openxmlformats.org/drawingml/2006/main" noGrp="1"/>
          </p:cNvSpPr>
          <p:nvPr/>
        </p:nvSpPr>
        <p:spPr>
          <a:xfrm xmlns:a="http://schemas.openxmlformats.org/drawingml/2006/main">
            <a:off x="6836512"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Exact calibration</a:t>
            </a:r>
          </a:p>
        </p:txBody>
      </p:sp>
      <p:sp>
        <p:nvSpPr>
          <p:cNvPr id="29" name="Text 27">
            <a:extLst xmlns:a="http://schemas.openxmlformats.org/drawingml/2006/main">
              <a:ext uri="{FF2B5EF4-FFF2-40B4-BE49-F238E27FC236}">
                <a16:creationId xmlns:a16="http://schemas.microsoft.com/office/drawing/2014/main" id="{D495075C-4C52-4FF8-8AA6-01B2A19D8F9E}"/>
              </a:ext>
            </a:extLst>
          </p:cNvPr>
          <p:cNvSpPr>
            <a:spLocks xmlns:a="http://schemas.openxmlformats.org/drawingml/2006/main" noGrp="1"/>
          </p:cNvSpPr>
          <p:nvPr/>
        </p:nvSpPr>
        <p:spPr>
          <a:xfrm xmlns:a="http://schemas.openxmlformats.org/drawingml/2006/main">
            <a:off x="6836512"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One-sided Clopper–Pearson over a pre-frozen threshold grid. No admissible threshold → retire.</a:t>
            </a:r>
          </a:p>
        </p:txBody>
      </p:sp>
      <p:sp>
        <p:nvSpPr>
          <p:cNvPr id="30" name="Shape 28">
            <a:extLst xmlns:a="http://schemas.openxmlformats.org/drawingml/2006/main">
              <a:ext uri="{FF2B5EF4-FFF2-40B4-BE49-F238E27FC236}">
                <a16:creationId xmlns:a16="http://schemas.microsoft.com/office/drawing/2014/main" id="{FB0F4B66-E515-404A-98FF-0627177EA0BB}"/>
              </a:ext>
            </a:extLst>
          </p:cNvPr>
          <p:cNvSpPr>
            <a:spLocks xmlns:a="http://schemas.openxmlformats.org/drawingml/2006/main" noGrp="1"/>
          </p:cNvSpPr>
          <p:nvPr/>
        </p:nvSpPr>
        <p:spPr>
          <a:xfrm xmlns:a="http://schemas.openxmlformats.org/drawingml/2006/main">
            <a:off x="640080" y="4892040"/>
            <a:ext cx="10911535" cy="896112"/>
          </a:xfrm>
          <a:prstGeom xmlns:a="http://schemas.openxmlformats.org/drawingml/2006/main" prst="roundRect">
            <a:avLst>
              <a:gd name="adj" fmla="val 5102"/>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F5266C53-B785-4F19-A628-DC54A6B6B8F2}"/>
              </a:ext>
            </a:extLst>
          </p:cNvPr>
          <p:cNvSpPr>
            <a:spLocks xmlns:a="http://schemas.openxmlformats.org/drawingml/2006/main" noGrp="1"/>
          </p:cNvSpPr>
          <p:nvPr/>
        </p:nvSpPr>
        <p:spPr>
          <a:xfrm xmlns:a="http://schemas.openxmlformats.org/drawingml/2006/main">
            <a:off x="914400" y="502920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00" b="1">
                <a:solidFill>
                  <a:srgbClr val="0D4A54"/>
                </a:solidFill>
                <a:latin typeface="Calibri"/>
                <a:ea typeface="Calibri"/>
                <a:cs typeface="Calibri"/>
              </a:rPr>
              <a:t>Every rejection is recorded with its stage. The compiler still emits or retires; only after admission may GCS package a batchable read program behind a bounded projection.</a:t>
            </a:r>
          </a:p>
        </p:txBody>
      </p:sp>
    </p:spTree>
    <p:extLst>
      <p:ext uri="{BB962C8B-B14F-4D97-AF65-F5344CB8AC3E}">
        <p14:creationId xmlns:p14="http://schemas.microsoft.com/office/powerpoint/2010/main" val="17885197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75D2AE4-2EA6-4CBD-9ED6-EC05B892E88D}"/>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C699BA56-B8CC-40BC-BF2B-180F33C069E9}"/>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9</a:t>
            </a:r>
          </a:p>
        </p:txBody>
      </p:sp>
      <p:sp>
        <p:nvSpPr>
          <p:cNvPr id="4" name="Text 2">
            <a:extLst xmlns:a="http://schemas.openxmlformats.org/drawingml/2006/main">
              <a:ext uri="{FF2B5EF4-FFF2-40B4-BE49-F238E27FC236}">
                <a16:creationId xmlns:a16="http://schemas.microsoft.com/office/drawing/2014/main" id="{8CBB9103-1B61-4471-A11E-383CB9124CB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REJECTION POINT 2</a:t>
            </a:r>
          </a:p>
        </p:txBody>
      </p:sp>
      <p:sp>
        <p:nvSpPr>
          <p:cNvPr id="5" name="Text 3">
            <a:extLst xmlns:a="http://schemas.openxmlformats.org/drawingml/2006/main">
              <a:ext uri="{FF2B5EF4-FFF2-40B4-BE49-F238E27FC236}">
                <a16:creationId xmlns:a16="http://schemas.microsoft.com/office/drawing/2014/main" id="{2E106DD9-B6C0-42BB-9342-8A0A337B0A01}"/>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Typed provenance: a slot with no witness is a genuine model decision</a:t>
            </a:r>
          </a:p>
        </p:txBody>
      </p:sp>
      <p:sp>
        <p:nvSpPr>
          <p:cNvPr id="6" name="Text 4">
            <a:extLst xmlns:a="http://schemas.openxmlformats.org/drawingml/2006/main">
              <a:ext uri="{FF2B5EF4-FFF2-40B4-BE49-F238E27FC236}">
                <a16:creationId xmlns:a16="http://schemas.microsoft.com/office/drawing/2014/main" id="{5566A30E-FDD3-421E-9C31-36121FBB3D35}"/>
              </a:ext>
            </a:extLst>
          </p:cNvPr>
          <p:cNvSpPr>
            <a:spLocks xmlns:a="http://schemas.openxmlformats.org/drawingml/2006/main" noGrp="1"/>
          </p:cNvSpPr>
          <p:nvPr/>
        </p:nvSpPr>
        <p:spPr>
          <a:xfrm xmlns:a="http://schemas.openxmlformats.org/drawingml/2006/main">
            <a:off x="640080" y="1389888"/>
            <a:ext cx="10911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For each call-argument slot the program-argument trace graph searches entry-state and prior-result paths for typed values and bounded transforms. Exact matches, stable field paths, and library transformations become candidate producer edges.</a:t>
            </a:r>
          </a:p>
        </p:txBody>
      </p:sp>
      <p:sp>
        <p:nvSpPr>
          <p:cNvPr id="7" name="Shape 5">
            <a:extLst xmlns:a="http://schemas.openxmlformats.org/drawingml/2006/main">
              <a:ext uri="{FF2B5EF4-FFF2-40B4-BE49-F238E27FC236}">
                <a16:creationId xmlns:a16="http://schemas.microsoft.com/office/drawing/2014/main" id="{34D132E3-1FDB-49BF-8D8A-C2B96E586A7B}"/>
              </a:ext>
            </a:extLst>
          </p:cNvPr>
          <p:cNvSpPr>
            <a:spLocks xmlns:a="http://schemas.openxmlformats.org/drawingml/2006/main" noGrp="1"/>
          </p:cNvSpPr>
          <p:nvPr/>
        </p:nvSpPr>
        <p:spPr>
          <a:xfrm xmlns:a="http://schemas.openxmlformats.org/drawingml/2006/main">
            <a:off x="640080" y="2103120"/>
            <a:ext cx="3454298" cy="1572768"/>
          </a:xfrm>
          <a:prstGeom xmlns:a="http://schemas.openxmlformats.org/drawingml/2006/main" prst="roundRect">
            <a:avLst>
              <a:gd name="adj" fmla="val 290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Shape 6">
            <a:extLst xmlns:a="http://schemas.openxmlformats.org/drawingml/2006/main">
              <a:ext uri="{FF2B5EF4-FFF2-40B4-BE49-F238E27FC236}">
                <a16:creationId xmlns:a16="http://schemas.microsoft.com/office/drawing/2014/main" id="{965C6C7A-A4CF-4BD4-AAA0-D0731CB18D7B}"/>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4911733A-7B5A-495A-8BEE-3A9B8CFCCC93}"/>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0" name="Text 8">
            <a:extLst xmlns:a="http://schemas.openxmlformats.org/drawingml/2006/main">
              <a:ext uri="{FF2B5EF4-FFF2-40B4-BE49-F238E27FC236}">
                <a16:creationId xmlns:a16="http://schemas.microsoft.com/office/drawing/2014/main" id="{9CFF791F-002A-4F9A-A533-9ED7371A120E}"/>
              </a:ext>
            </a:extLst>
          </p:cNvPr>
          <p:cNvSpPr>
            <a:spLocks xmlns:a="http://schemas.openxmlformats.org/drawingml/2006/main" noGrp="1"/>
          </p:cNvSpPr>
          <p:nvPr/>
        </p:nvSpPr>
        <p:spPr>
          <a:xfrm xmlns:a="http://schemas.openxmlformats.org/drawingml/2006/main">
            <a:off x="1335024"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D4A54"/>
                </a:solidFill>
                <a:latin typeface="Cambria"/>
                <a:ea typeface="Cambria"/>
                <a:cs typeface="Cambria"/>
              </a:rPr>
              <a:t>Exactly one witness</a:t>
            </a:r>
          </a:p>
        </p:txBody>
      </p:sp>
      <p:sp>
        <p:nvSpPr>
          <p:cNvPr id="11" name="Text 9">
            <a:extLst xmlns:a="http://schemas.openxmlformats.org/drawingml/2006/main">
              <a:ext uri="{FF2B5EF4-FFF2-40B4-BE49-F238E27FC236}">
                <a16:creationId xmlns:a16="http://schemas.microsoft.com/office/drawing/2014/main" id="{246BB11D-1E8C-4237-82F9-537DE88F8492}"/>
              </a:ext>
            </a:extLst>
          </p:cNvPr>
          <p:cNvSpPr>
            <a:spLocks xmlns:a="http://schemas.openxmlformats.org/drawingml/2006/main" noGrp="1"/>
          </p:cNvSpPr>
          <p:nvPr/>
        </p:nvSpPr>
        <p:spPr>
          <a:xfrm xmlns:a="http://schemas.openxmlformats.org/drawingml/2006/main">
            <a:off x="914400"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Edge admitted. The minimum-description-length producer is recorded as the slot's provenance.</a:t>
            </a:r>
          </a:p>
        </p:txBody>
      </p:sp>
      <p:sp>
        <p:nvSpPr>
          <p:cNvPr id="12" name="Shape 10">
            <a:extLst xmlns:a="http://schemas.openxmlformats.org/drawingml/2006/main">
              <a:ext uri="{FF2B5EF4-FFF2-40B4-BE49-F238E27FC236}">
                <a16:creationId xmlns:a16="http://schemas.microsoft.com/office/drawing/2014/main" id="{93459DC0-8312-449C-BA86-FBFE0187EA46}"/>
              </a:ext>
            </a:extLst>
          </p:cNvPr>
          <p:cNvSpPr>
            <a:spLocks xmlns:a="http://schemas.openxmlformats.org/drawingml/2006/main" noGrp="1"/>
          </p:cNvSpPr>
          <p:nvPr/>
        </p:nvSpPr>
        <p:spPr>
          <a:xfrm xmlns:a="http://schemas.openxmlformats.org/drawingml/2006/main">
            <a:off x="4368698" y="2103120"/>
            <a:ext cx="3454298" cy="1572768"/>
          </a:xfrm>
          <a:prstGeom xmlns:a="http://schemas.openxmlformats.org/drawingml/2006/main" prst="roundRect">
            <a:avLst>
              <a:gd name="adj" fmla="val 2907"/>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B69874EA-84ED-4050-862A-B976E8EC0BA1}"/>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C3FB1472-D313-486B-9F6A-6E698D9DF62D}"/>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5" name="Text 13">
            <a:extLst xmlns:a="http://schemas.openxmlformats.org/drawingml/2006/main">
              <a:ext uri="{FF2B5EF4-FFF2-40B4-BE49-F238E27FC236}">
                <a16:creationId xmlns:a16="http://schemas.microsoft.com/office/drawing/2014/main" id="{89C9E306-AE45-40D3-BAE1-73FE7FC4FE74}"/>
              </a:ext>
            </a:extLst>
          </p:cNvPr>
          <p:cNvSpPr>
            <a:spLocks xmlns:a="http://schemas.openxmlformats.org/drawingml/2006/main" noGrp="1"/>
          </p:cNvSpPr>
          <p:nvPr/>
        </p:nvSpPr>
        <p:spPr>
          <a:xfrm xmlns:a="http://schemas.openxmlformats.org/drawingml/2006/main">
            <a:off x="5063642"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C4A2C"/>
                </a:solidFill>
                <a:latin typeface="Cambria"/>
                <a:ea typeface="Cambria"/>
                <a:cs typeface="Cambria"/>
              </a:rPr>
              <a:t>No witness</a:t>
            </a:r>
          </a:p>
        </p:txBody>
      </p:sp>
      <p:sp>
        <p:nvSpPr>
          <p:cNvPr id="16" name="Text 14">
            <a:extLst xmlns:a="http://schemas.openxmlformats.org/drawingml/2006/main">
              <a:ext uri="{FF2B5EF4-FFF2-40B4-BE49-F238E27FC236}">
                <a16:creationId xmlns:a16="http://schemas.microsoft.com/office/drawing/2014/main" id="{076A6327-541F-4239-91C2-8B3C448B11E0}"/>
              </a:ext>
            </a:extLst>
          </p:cNvPr>
          <p:cNvSpPr>
            <a:spLocks xmlns:a="http://schemas.openxmlformats.org/drawingml/2006/main" noGrp="1"/>
          </p:cNvSpPr>
          <p:nvPr/>
        </p:nvSpPr>
        <p:spPr>
          <a:xfrm xmlns:a="http://schemas.openxmlformats.org/drawingml/2006/main">
            <a:off x="4643018"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The slot is a real model decision. Region blocked — there is nothing to reconstruct it from.</a:t>
            </a:r>
          </a:p>
        </p:txBody>
      </p:sp>
      <p:sp>
        <p:nvSpPr>
          <p:cNvPr id="17" name="Shape 15">
            <a:extLst xmlns:a="http://schemas.openxmlformats.org/drawingml/2006/main">
              <a:ext uri="{FF2B5EF4-FFF2-40B4-BE49-F238E27FC236}">
                <a16:creationId xmlns:a16="http://schemas.microsoft.com/office/drawing/2014/main" id="{D2B3CF56-36FF-4843-A0A9-FD56E240B1BF}"/>
              </a:ext>
            </a:extLst>
          </p:cNvPr>
          <p:cNvSpPr>
            <a:spLocks xmlns:a="http://schemas.openxmlformats.org/drawingml/2006/main" noGrp="1"/>
          </p:cNvSpPr>
          <p:nvPr/>
        </p:nvSpPr>
        <p:spPr>
          <a:xfrm xmlns:a="http://schemas.openxmlformats.org/drawingml/2006/main">
            <a:off x="8097317" y="2103120"/>
            <a:ext cx="3454298" cy="1572768"/>
          </a:xfrm>
          <a:prstGeom xmlns:a="http://schemas.openxmlformats.org/drawingml/2006/main" prst="roundRect">
            <a:avLst>
              <a:gd name="adj" fmla="val 2907"/>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7A52D49C-3D54-4DB3-8C5A-1AAA977E00CB}"/>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47090BED-0F18-4C8B-B221-9623C4E02522}"/>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0" name="Text 18">
            <a:extLst xmlns:a="http://schemas.openxmlformats.org/drawingml/2006/main">
              <a:ext uri="{FF2B5EF4-FFF2-40B4-BE49-F238E27FC236}">
                <a16:creationId xmlns:a16="http://schemas.microsoft.com/office/drawing/2014/main" id="{C8AB27AC-FD36-4449-B6FE-4E7F51CFEA80}"/>
              </a:ext>
            </a:extLst>
          </p:cNvPr>
          <p:cNvSpPr>
            <a:spLocks xmlns:a="http://schemas.openxmlformats.org/drawingml/2006/main" noGrp="1"/>
          </p:cNvSpPr>
          <p:nvPr/>
        </p:nvSpPr>
        <p:spPr>
          <a:xfrm xmlns:a="http://schemas.openxmlformats.org/drawingml/2006/main">
            <a:off x="8792261"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C4A2C"/>
                </a:solidFill>
                <a:latin typeface="Cambria"/>
                <a:ea typeface="Cambria"/>
                <a:cs typeface="Cambria"/>
              </a:rPr>
              <a:t>Above the ambiguity cap</a:t>
            </a:r>
          </a:p>
        </p:txBody>
      </p:sp>
      <p:sp>
        <p:nvSpPr>
          <p:cNvPr id="21" name="Text 19">
            <a:extLst xmlns:a="http://schemas.openxmlformats.org/drawingml/2006/main">
              <a:ext uri="{FF2B5EF4-FFF2-40B4-BE49-F238E27FC236}">
                <a16:creationId xmlns:a16="http://schemas.microsoft.com/office/drawing/2014/main" id="{230401BD-FC5B-401B-B9B2-8C200D882498}"/>
              </a:ext>
            </a:extLst>
          </p:cNvPr>
          <p:cNvSpPr>
            <a:spLocks xmlns:a="http://schemas.openxmlformats.org/drawingml/2006/main" noGrp="1"/>
          </p:cNvSpPr>
          <p:nvPr/>
        </p:nvSpPr>
        <p:spPr>
          <a:xfrm xmlns:a="http://schemas.openxmlformats.org/drawingml/2006/main">
            <a:off x="8371637"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Too many plausible producers. Region blocked rather than defaulting to the cheapest explanation.</a:t>
            </a:r>
          </a:p>
        </p:txBody>
      </p:sp>
      <p:sp>
        <p:nvSpPr>
          <p:cNvPr id="22" name="Text 20">
            <a:extLst xmlns:a="http://schemas.openxmlformats.org/drawingml/2006/main">
              <a:ext uri="{FF2B5EF4-FFF2-40B4-BE49-F238E27FC236}">
                <a16:creationId xmlns:a16="http://schemas.microsoft.com/office/drawing/2014/main" id="{5383C563-7B96-437F-8F4E-619F570C6964}"/>
              </a:ext>
            </a:extLst>
          </p:cNvPr>
          <p:cNvSpPr>
            <a:spLocks xmlns:a="http://schemas.openxmlformats.org/drawingml/2006/main" noGrp="1"/>
          </p:cNvSpPr>
          <p:nvPr/>
        </p:nvSpPr>
        <p:spPr>
          <a:xfrm xmlns:a="http://schemas.openxmlformats.org/drawingml/2006/main">
            <a:off x="640080" y="3913632"/>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MEASURED ON NESTFUL — 5,746 DEPENDENCY SLOTS</a:t>
            </a:r>
          </a:p>
        </p:txBody>
      </p:sp>
      <p:sp>
        <p:nvSpPr>
          <p:cNvPr id="23" name="Shape 21">
            <a:extLst xmlns:a="http://schemas.openxmlformats.org/drawingml/2006/main">
              <a:ext uri="{FF2B5EF4-FFF2-40B4-BE49-F238E27FC236}">
                <a16:creationId xmlns:a16="http://schemas.microsoft.com/office/drawing/2014/main" id="{33B4C19E-F176-430A-AE1D-CEE808ECF05A}"/>
              </a:ext>
            </a:extLst>
          </p:cNvPr>
          <p:cNvSpPr>
            <a:spLocks xmlns:a="http://schemas.openxmlformats.org/drawingml/2006/main" noGrp="1"/>
          </p:cNvSpPr>
          <p:nvPr/>
        </p:nvSpPr>
        <p:spPr>
          <a:xfrm xmlns:a="http://schemas.openxmlformats.org/drawingml/2006/main">
            <a:off x="640080"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C6172FF6-277C-4720-86AB-8969F5016DCB}"/>
              </a:ext>
            </a:extLst>
          </p:cNvPr>
          <p:cNvSpPr>
            <a:spLocks xmlns:a="http://schemas.openxmlformats.org/drawingml/2006/main" noGrp="1"/>
          </p:cNvSpPr>
          <p:nvPr/>
        </p:nvSpPr>
        <p:spPr>
          <a:xfrm xmlns:a="http://schemas.openxmlformats.org/drawingml/2006/main">
            <a:off x="786384"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D4A54"/>
                </a:solidFill>
                <a:latin typeface="Cambria"/>
                <a:ea typeface="Cambria"/>
                <a:cs typeface="Cambria"/>
              </a:rPr>
              <a:t>5,531</a:t>
            </a:r>
          </a:p>
        </p:txBody>
      </p:sp>
      <p:sp>
        <p:nvSpPr>
          <p:cNvPr id="25" name="Text 23">
            <a:extLst xmlns:a="http://schemas.openxmlformats.org/drawingml/2006/main">
              <a:ext uri="{FF2B5EF4-FFF2-40B4-BE49-F238E27FC236}">
                <a16:creationId xmlns:a16="http://schemas.microsoft.com/office/drawing/2014/main" id="{59DBF53A-C3B8-414B-8D2F-3A66CE649DBC}"/>
              </a:ext>
            </a:extLst>
          </p:cNvPr>
          <p:cNvSpPr>
            <a:spLocks xmlns:a="http://schemas.openxmlformats.org/drawingml/2006/main" noGrp="1"/>
          </p:cNvSpPr>
          <p:nvPr/>
        </p:nvSpPr>
        <p:spPr>
          <a:xfrm xmlns:a="http://schemas.openxmlformats.org/drawingml/2006/main">
            <a:off x="786384"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in candidate set</a:t>
            </a:r>
          </a:p>
          <a:p xmlns:a="http://schemas.openxmlformats.org/drawingml/2006/main">
            <a:pPr marL="0" indent="0">
              <a:lnSpc>
                <a:spcPct val="100000"/>
              </a:lnSpc>
              <a:buNone/>
            </a:pPr>
            <a:r>
              <a:rPr sz="1050">
                <a:solidFill>
                  <a:srgbClr val="5F767A"/>
                </a:solidFill>
                <a:latin typeface="Calibri"/>
                <a:ea typeface="Calibri"/>
                <a:cs typeface="Calibri"/>
              </a:rPr>
              <a:t>96.3% recall</a:t>
            </a:r>
          </a:p>
        </p:txBody>
      </p:sp>
      <p:sp>
        <p:nvSpPr>
          <p:cNvPr id="26" name="Shape 24">
            <a:extLst xmlns:a="http://schemas.openxmlformats.org/drawingml/2006/main">
              <a:ext uri="{FF2B5EF4-FFF2-40B4-BE49-F238E27FC236}">
                <a16:creationId xmlns:a16="http://schemas.microsoft.com/office/drawing/2014/main" id="{20F472BD-CD87-44FB-9704-D2C92EC3B7E3}"/>
              </a:ext>
            </a:extLst>
          </p:cNvPr>
          <p:cNvSpPr>
            <a:spLocks xmlns:a="http://schemas.openxmlformats.org/drawingml/2006/main" noGrp="1"/>
          </p:cNvSpPr>
          <p:nvPr/>
        </p:nvSpPr>
        <p:spPr>
          <a:xfrm xmlns:a="http://schemas.openxmlformats.org/drawingml/2006/main">
            <a:off x="2866278"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BF463728-267E-4E91-870A-6D8B40BE7C5E}"/>
              </a:ext>
            </a:extLst>
          </p:cNvPr>
          <p:cNvSpPr>
            <a:spLocks xmlns:a="http://schemas.openxmlformats.org/drawingml/2006/main" noGrp="1"/>
          </p:cNvSpPr>
          <p:nvPr/>
        </p:nvSpPr>
        <p:spPr>
          <a:xfrm xmlns:a="http://schemas.openxmlformats.org/drawingml/2006/main">
            <a:off x="3012582"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D4A54"/>
                </a:solidFill>
                <a:latin typeface="Cambria"/>
                <a:ea typeface="Cambria"/>
                <a:cs typeface="Cambria"/>
              </a:rPr>
              <a:t>4,636</a:t>
            </a:r>
          </a:p>
        </p:txBody>
      </p:sp>
      <p:sp>
        <p:nvSpPr>
          <p:cNvPr id="28" name="Text 26">
            <a:extLst xmlns:a="http://schemas.openxmlformats.org/drawingml/2006/main">
              <a:ext uri="{FF2B5EF4-FFF2-40B4-BE49-F238E27FC236}">
                <a16:creationId xmlns:a16="http://schemas.microsoft.com/office/drawing/2014/main" id="{37E2A82B-9F32-4BAE-AA3B-46A5DF3F2D3E}"/>
              </a:ext>
            </a:extLst>
          </p:cNvPr>
          <p:cNvSpPr>
            <a:spLocks xmlns:a="http://schemas.openxmlformats.org/drawingml/2006/main" noGrp="1"/>
          </p:cNvSpPr>
          <p:nvPr/>
        </p:nvSpPr>
        <p:spPr>
          <a:xfrm xmlns:a="http://schemas.openxmlformats.org/drawingml/2006/main">
            <a:off x="3012582"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uniquely resolved</a:t>
            </a:r>
          </a:p>
          <a:p xmlns:a="http://schemas.openxmlformats.org/drawingml/2006/main">
            <a:pPr marL="0" indent="0">
              <a:lnSpc>
                <a:spcPct val="100000"/>
              </a:lnSpc>
              <a:buNone/>
            </a:pPr>
            <a:r>
              <a:rPr sz="1050">
                <a:solidFill>
                  <a:srgbClr val="5F767A"/>
                </a:solidFill>
                <a:latin typeface="Calibri"/>
                <a:ea typeface="Calibri"/>
                <a:cs typeface="Calibri"/>
              </a:rPr>
              <a:t>80.7%</a:t>
            </a:r>
          </a:p>
        </p:txBody>
      </p:sp>
      <p:sp>
        <p:nvSpPr>
          <p:cNvPr id="29" name="Shape 27">
            <a:extLst xmlns:a="http://schemas.openxmlformats.org/drawingml/2006/main">
              <a:ext uri="{FF2B5EF4-FFF2-40B4-BE49-F238E27FC236}">
                <a16:creationId xmlns:a16="http://schemas.microsoft.com/office/drawing/2014/main" id="{C07E1B5B-3180-4995-AD7D-DA2B0E443653}"/>
              </a:ext>
            </a:extLst>
          </p:cNvPr>
          <p:cNvSpPr>
            <a:spLocks xmlns:a="http://schemas.openxmlformats.org/drawingml/2006/main" noGrp="1"/>
          </p:cNvSpPr>
          <p:nvPr/>
        </p:nvSpPr>
        <p:spPr>
          <a:xfrm xmlns:a="http://schemas.openxmlformats.org/drawingml/2006/main">
            <a:off x="5092476"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C43C7B6F-4A59-4DD6-90EA-C7FF89C3D0CC}"/>
              </a:ext>
            </a:extLst>
          </p:cNvPr>
          <p:cNvSpPr>
            <a:spLocks xmlns:a="http://schemas.openxmlformats.org/drawingml/2006/main" noGrp="1"/>
          </p:cNvSpPr>
          <p:nvPr/>
        </p:nvSpPr>
        <p:spPr>
          <a:xfrm xmlns:a="http://schemas.openxmlformats.org/drawingml/2006/main">
            <a:off x="5238780"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C4A2C"/>
                </a:solidFill>
                <a:latin typeface="Cambria"/>
                <a:ea typeface="Cambria"/>
                <a:cs typeface="Cambria"/>
              </a:rPr>
              <a:t>895</a:t>
            </a:r>
          </a:p>
        </p:txBody>
      </p:sp>
      <p:sp>
        <p:nvSpPr>
          <p:cNvPr id="31" name="Text 29">
            <a:extLst xmlns:a="http://schemas.openxmlformats.org/drawingml/2006/main">
              <a:ext uri="{FF2B5EF4-FFF2-40B4-BE49-F238E27FC236}">
                <a16:creationId xmlns:a16="http://schemas.microsoft.com/office/drawing/2014/main" id="{7AE5B250-C391-47D5-BDF7-60FBAD0D8FB4}"/>
              </a:ext>
            </a:extLst>
          </p:cNvPr>
          <p:cNvSpPr>
            <a:spLocks xmlns:a="http://schemas.openxmlformats.org/drawingml/2006/main" noGrp="1"/>
          </p:cNvSpPr>
          <p:nvPr/>
        </p:nvSpPr>
        <p:spPr>
          <a:xfrm xmlns:a="http://schemas.openxmlformats.org/drawingml/2006/main">
            <a:off x="5238780"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ambiguous</a:t>
            </a:r>
          </a:p>
          <a:p xmlns:a="http://schemas.openxmlformats.org/drawingml/2006/main">
            <a:pPr marL="0" indent="0">
              <a:lnSpc>
                <a:spcPct val="100000"/>
              </a:lnSpc>
              <a:buNone/>
            </a:pPr>
            <a:r>
              <a:rPr sz="1050">
                <a:solidFill>
                  <a:srgbClr val="5F767A"/>
                </a:solidFill>
                <a:latin typeface="Calibri"/>
                <a:ea typeface="Calibri"/>
                <a:cs typeface="Calibri"/>
              </a:rPr>
              <a:t>15.6%</a:t>
            </a:r>
          </a:p>
        </p:txBody>
      </p:sp>
      <p:sp>
        <p:nvSpPr>
          <p:cNvPr id="32" name="Shape 30">
            <a:extLst xmlns:a="http://schemas.openxmlformats.org/drawingml/2006/main">
              <a:ext uri="{FF2B5EF4-FFF2-40B4-BE49-F238E27FC236}">
                <a16:creationId xmlns:a16="http://schemas.microsoft.com/office/drawing/2014/main" id="{C0023022-7E67-4F99-91BE-656971D14B31}"/>
              </a:ext>
            </a:extLst>
          </p:cNvPr>
          <p:cNvSpPr>
            <a:spLocks xmlns:a="http://schemas.openxmlformats.org/drawingml/2006/main" noGrp="1"/>
          </p:cNvSpPr>
          <p:nvPr/>
        </p:nvSpPr>
        <p:spPr>
          <a:xfrm xmlns:a="http://schemas.openxmlformats.org/drawingml/2006/main">
            <a:off x="7318675"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89BE4D85-F85B-4589-B93F-35BC85A78A17}"/>
              </a:ext>
            </a:extLst>
          </p:cNvPr>
          <p:cNvSpPr>
            <a:spLocks xmlns:a="http://schemas.openxmlformats.org/drawingml/2006/main" noGrp="1"/>
          </p:cNvSpPr>
          <p:nvPr/>
        </p:nvSpPr>
        <p:spPr>
          <a:xfrm xmlns:a="http://schemas.openxmlformats.org/drawingml/2006/main">
            <a:off x="7464979"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C4A2C"/>
                </a:solidFill>
                <a:latin typeface="Cambria"/>
                <a:ea typeface="Cambria"/>
                <a:cs typeface="Cambria"/>
              </a:rPr>
              <a:t>215</a:t>
            </a:r>
          </a:p>
        </p:txBody>
      </p:sp>
      <p:sp>
        <p:nvSpPr>
          <p:cNvPr id="34" name="Text 32">
            <a:extLst xmlns:a="http://schemas.openxmlformats.org/drawingml/2006/main">
              <a:ext uri="{FF2B5EF4-FFF2-40B4-BE49-F238E27FC236}">
                <a16:creationId xmlns:a16="http://schemas.microsoft.com/office/drawing/2014/main" id="{F4813B4F-601F-4381-819F-9CD63B1C7DEE}"/>
              </a:ext>
            </a:extLst>
          </p:cNvPr>
          <p:cNvSpPr>
            <a:spLocks xmlns:a="http://schemas.openxmlformats.org/drawingml/2006/main" noGrp="1"/>
          </p:cNvSpPr>
          <p:nvPr/>
        </p:nvSpPr>
        <p:spPr>
          <a:xfrm xmlns:a="http://schemas.openxmlformats.org/drawingml/2006/main">
            <a:off x="7464979"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no candidate</a:t>
            </a:r>
          </a:p>
          <a:p xmlns:a="http://schemas.openxmlformats.org/drawingml/2006/main">
            <a:pPr marL="0" indent="0">
              <a:lnSpc>
                <a:spcPct val="100000"/>
              </a:lnSpc>
              <a:buNone/>
            </a:pPr>
            <a:r>
              <a:rPr sz="1050">
                <a:solidFill>
                  <a:srgbClr val="5F767A"/>
                </a:solidFill>
                <a:latin typeface="Calibri"/>
                <a:ea typeface="Calibri"/>
                <a:cs typeface="Calibri"/>
              </a:rPr>
              <a:t>3.7%</a:t>
            </a:r>
          </a:p>
        </p:txBody>
      </p:sp>
      <p:sp>
        <p:nvSpPr>
          <p:cNvPr id="35" name="Shape 33">
            <a:extLst xmlns:a="http://schemas.openxmlformats.org/drawingml/2006/main">
              <a:ext uri="{FF2B5EF4-FFF2-40B4-BE49-F238E27FC236}">
                <a16:creationId xmlns:a16="http://schemas.microsoft.com/office/drawing/2014/main" id="{248D2624-374A-4AB9-8896-65259F9EF309}"/>
              </a:ext>
            </a:extLst>
          </p:cNvPr>
          <p:cNvSpPr>
            <a:spLocks xmlns:a="http://schemas.openxmlformats.org/drawingml/2006/main" noGrp="1"/>
          </p:cNvSpPr>
          <p:nvPr/>
        </p:nvSpPr>
        <p:spPr>
          <a:xfrm xmlns:a="http://schemas.openxmlformats.org/drawingml/2006/main">
            <a:off x="9544873"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2F4BE2C5-3D0C-4E06-B6C1-4B6FA6C12126}"/>
              </a:ext>
            </a:extLst>
          </p:cNvPr>
          <p:cNvSpPr>
            <a:spLocks xmlns:a="http://schemas.openxmlformats.org/drawingml/2006/main" noGrp="1"/>
          </p:cNvSpPr>
          <p:nvPr/>
        </p:nvSpPr>
        <p:spPr>
          <a:xfrm xmlns:a="http://schemas.openxmlformats.org/drawingml/2006/main">
            <a:off x="9691177"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C4A2C"/>
                </a:solidFill>
                <a:latin typeface="Cambria"/>
                <a:ea typeface="Cambria"/>
                <a:cs typeface="Cambria"/>
              </a:rPr>
              <a:t>84.3%</a:t>
            </a:r>
          </a:p>
        </p:txBody>
      </p:sp>
      <p:sp>
        <p:nvSpPr>
          <p:cNvPr id="37" name="Text 35">
            <a:extLst xmlns:a="http://schemas.openxmlformats.org/drawingml/2006/main">
              <a:ext uri="{FF2B5EF4-FFF2-40B4-BE49-F238E27FC236}">
                <a16:creationId xmlns:a16="http://schemas.microsoft.com/office/drawing/2014/main" id="{5A316A50-8233-43E4-969D-44A2A46BDA12}"/>
              </a:ext>
            </a:extLst>
          </p:cNvPr>
          <p:cNvSpPr>
            <a:spLocks xmlns:a="http://schemas.openxmlformats.org/drawingml/2006/main" noGrp="1"/>
          </p:cNvSpPr>
          <p:nvPr/>
        </p:nvSpPr>
        <p:spPr>
          <a:xfrm xmlns:a="http://schemas.openxmlformats.org/drawingml/2006/main">
            <a:off x="9691177"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candidate-edge</a:t>
            </a:r>
          </a:p>
          <a:p xmlns:a="http://schemas.openxmlformats.org/drawingml/2006/main">
            <a:pPr marL="0" indent="0">
              <a:lnSpc>
                <a:spcPct val="100000"/>
              </a:lnSpc>
              <a:buNone/>
            </a:pPr>
            <a:r>
              <a:rPr sz="1050">
                <a:solidFill>
                  <a:srgbClr val="5F767A"/>
                </a:solidFill>
                <a:latin typeface="Calibri"/>
                <a:ea typeface="Calibri"/>
                <a:cs typeface="Calibri"/>
              </a:rPr>
              <a:t>precision</a:t>
            </a:r>
          </a:p>
        </p:txBody>
      </p:sp>
      <p:sp>
        <p:nvSpPr>
          <p:cNvPr id="38" name="Text 36">
            <a:extLst xmlns:a="http://schemas.openxmlformats.org/drawingml/2006/main">
              <a:ext uri="{FF2B5EF4-FFF2-40B4-BE49-F238E27FC236}">
                <a16:creationId xmlns:a16="http://schemas.microsoft.com/office/drawing/2014/main" id="{9C5EE344-B5E2-4225-862D-090D9782A231}"/>
              </a:ext>
            </a:extLst>
          </p:cNvPr>
          <p:cNvSpPr>
            <a:spLocks xmlns:a="http://schemas.openxmlformats.org/drawingml/2006/main" noGrp="1"/>
          </p:cNvSpPr>
          <p:nvPr/>
        </p:nvSpPr>
        <p:spPr>
          <a:xfrm xmlns:a="http://schemas.openxmlformats.org/drawingml/2006/main">
            <a:off x="640080" y="5596128"/>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F767A"/>
                </a:solidFill>
                <a:latin typeface="Calibri"/>
                <a:ea typeface="Calibri"/>
                <a:cs typeface="Calibri"/>
              </a:rPr>
              <a:t>Recall measures search reachability, not dependency reconstruction: no non-empty candidate set ever omitted the true producer, so the 215 misses are exactly the slots with no candidate at all.</a:t>
            </a:r>
          </a:p>
        </p:txBody>
      </p:sp>
    </p:spTree>
    <p:extLst>
      <p:ext uri="{BB962C8B-B14F-4D97-AF65-F5344CB8AC3E}">
        <p14:creationId xmlns:p14="http://schemas.microsoft.com/office/powerpoint/2010/main" val="4866545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49661B0-CE61-45B7-9E25-42CF6789ADAD}"/>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858F0C2C-6ED7-4965-A025-EAE7DDF0FF66}"/>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10</a:t>
            </a:r>
          </a:p>
        </p:txBody>
      </p:sp>
      <p:sp>
        <p:nvSpPr>
          <p:cNvPr id="4" name="Text 2">
            <a:extLst xmlns:a="http://schemas.openxmlformats.org/drawingml/2006/main">
              <a:ext uri="{FF2B5EF4-FFF2-40B4-BE49-F238E27FC236}">
                <a16:creationId xmlns:a16="http://schemas.microsoft.com/office/drawing/2014/main" id="{3F524438-BB9C-4B5A-A2B9-69EAC9119E7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RUNTIME</a:t>
            </a:r>
          </a:p>
        </p:txBody>
      </p:sp>
      <p:sp>
        <p:nvSpPr>
          <p:cNvPr id="5" name="Text 3">
            <a:extLst xmlns:a="http://schemas.openxmlformats.org/drawingml/2006/main">
              <a:ext uri="{FF2B5EF4-FFF2-40B4-BE49-F238E27FC236}">
                <a16:creationId xmlns:a16="http://schemas.microsoft.com/office/drawing/2014/main" id="{2EF20036-DD00-49F5-BE4C-E80AB3A61423}"/>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The artifact carries its own preconditions — and usually declines</a:t>
            </a:r>
          </a:p>
        </p:txBody>
      </p:sp>
      <p:sp>
        <p:nvSpPr>
          <p:cNvPr id="6" name="Text 4">
            <a:extLst xmlns:a="http://schemas.openxmlformats.org/drawingml/2006/main">
              <a:ext uri="{FF2B5EF4-FFF2-40B4-BE49-F238E27FC236}">
                <a16:creationId xmlns:a16="http://schemas.microsoft.com/office/drawing/2014/main" id="{628BD7BB-70F6-49C8-A05B-163C46FD7D0E}"/>
              </a:ext>
            </a:extLst>
          </p:cNvPr>
          <p:cNvSpPr>
            <a:spLocks xmlns:a="http://schemas.openxmlformats.org/drawingml/2006/main" noGrp="1"/>
          </p:cNvSpPr>
          <p:nvPr/>
        </p:nvSpPr>
        <p:spPr>
          <a:xfrm xmlns:a="http://schemas.openxmlformats.org/drawingml/2006/main">
            <a:off x="640080" y="13716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5F767A"/>
                </a:solidFill>
                <a:latin typeface="Calibri"/>
                <a:ea typeface="Calibri"/>
                <a:cs typeface="Calibri"/>
              </a:rPr>
              <a:t>AN ADMITTED ARTIFACT IS A SIX-TUPLE</a:t>
            </a:r>
          </a:p>
        </p:txBody>
      </p:sp>
      <p:sp>
        <p:nvSpPr>
          <p:cNvPr id="7" name="Shape 5">
            <a:extLst xmlns:a="http://schemas.openxmlformats.org/drawingml/2006/main">
              <a:ext uri="{FF2B5EF4-FFF2-40B4-BE49-F238E27FC236}">
                <a16:creationId xmlns:a16="http://schemas.microsoft.com/office/drawing/2014/main" id="{E4B709A5-763D-4EE0-903C-6395CF429107}"/>
              </a:ext>
            </a:extLst>
          </p:cNvPr>
          <p:cNvSpPr>
            <a:spLocks xmlns:a="http://schemas.openxmlformats.org/drawingml/2006/main" noGrp="1"/>
          </p:cNvSpPr>
          <p:nvPr/>
        </p:nvSpPr>
        <p:spPr>
          <a:xfrm xmlns:a="http://schemas.openxmlformats.org/drawingml/2006/main">
            <a:off x="640080"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B090658-3E71-45D0-AE87-4A68A07B2C6B}"/>
              </a:ext>
            </a:extLst>
          </p:cNvPr>
          <p:cNvSpPr>
            <a:spLocks xmlns:a="http://schemas.openxmlformats.org/drawingml/2006/main" noGrp="1"/>
          </p:cNvSpPr>
          <p:nvPr/>
        </p:nvSpPr>
        <p:spPr>
          <a:xfrm xmlns:a="http://schemas.openxmlformats.org/drawingml/2006/main">
            <a:off x="640080"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P</a:t>
            </a:r>
          </a:p>
        </p:txBody>
      </p:sp>
      <p:sp>
        <p:nvSpPr>
          <p:cNvPr id="9" name="Text 7">
            <a:extLst xmlns:a="http://schemas.openxmlformats.org/drawingml/2006/main">
              <a:ext uri="{FF2B5EF4-FFF2-40B4-BE49-F238E27FC236}">
                <a16:creationId xmlns:a16="http://schemas.microsoft.com/office/drawing/2014/main" id="{5DA233CD-88C9-4AA4-A099-713234B3844B}"/>
              </a:ext>
            </a:extLst>
          </p:cNvPr>
          <p:cNvSpPr>
            <a:spLocks xmlns:a="http://schemas.openxmlformats.org/drawingml/2006/main" noGrp="1"/>
          </p:cNvSpPr>
          <p:nvPr/>
        </p:nvSpPr>
        <p:spPr>
          <a:xfrm xmlns:a="http://schemas.openxmlformats.org/drawingml/2006/main">
            <a:off x="713232"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deterministic program</a:t>
            </a:r>
          </a:p>
        </p:txBody>
      </p:sp>
      <p:sp>
        <p:nvSpPr>
          <p:cNvPr id="10" name="Shape 8">
            <a:extLst xmlns:a="http://schemas.openxmlformats.org/drawingml/2006/main">
              <a:ext uri="{FF2B5EF4-FFF2-40B4-BE49-F238E27FC236}">
                <a16:creationId xmlns:a16="http://schemas.microsoft.com/office/drawing/2014/main" id="{B0E972D7-B98A-4B7F-A3CB-BA3C6E48A632}"/>
              </a:ext>
            </a:extLst>
          </p:cNvPr>
          <p:cNvSpPr>
            <a:spLocks xmlns:a="http://schemas.openxmlformats.org/drawingml/2006/main" noGrp="1"/>
          </p:cNvSpPr>
          <p:nvPr/>
        </p:nvSpPr>
        <p:spPr>
          <a:xfrm xmlns:a="http://schemas.openxmlformats.org/drawingml/2006/main">
            <a:off x="2492197"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8E42EA21-4C28-49CF-AF7B-53FDE7911472}"/>
              </a:ext>
            </a:extLst>
          </p:cNvPr>
          <p:cNvSpPr>
            <a:spLocks xmlns:a="http://schemas.openxmlformats.org/drawingml/2006/main" noGrp="1"/>
          </p:cNvSpPr>
          <p:nvPr/>
        </p:nvSpPr>
        <p:spPr>
          <a:xfrm xmlns:a="http://schemas.openxmlformats.org/drawingml/2006/main">
            <a:off x="2492197"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H</a:t>
            </a:r>
          </a:p>
        </p:txBody>
      </p:sp>
      <p:sp>
        <p:nvSpPr>
          <p:cNvPr id="12" name="Text 10">
            <a:extLst xmlns:a="http://schemas.openxmlformats.org/drawingml/2006/main">
              <a:ext uri="{FF2B5EF4-FFF2-40B4-BE49-F238E27FC236}">
                <a16:creationId xmlns:a16="http://schemas.microsoft.com/office/drawing/2014/main" id="{425D9ED0-7559-4A51-9B58-420ABFB9FE65}"/>
              </a:ext>
            </a:extLst>
          </p:cNvPr>
          <p:cNvSpPr>
            <a:spLocks xmlns:a="http://schemas.openxmlformats.org/drawingml/2006/main" noGrp="1"/>
          </p:cNvSpPr>
          <p:nvPr/>
        </p:nvSpPr>
        <p:spPr>
          <a:xfrm xmlns:a="http://schemas.openxmlformats.org/drawingml/2006/main">
            <a:off x="2565349"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hard guard</a:t>
            </a:r>
          </a:p>
        </p:txBody>
      </p:sp>
      <p:sp>
        <p:nvSpPr>
          <p:cNvPr id="13" name="Shape 11">
            <a:extLst xmlns:a="http://schemas.openxmlformats.org/drawingml/2006/main">
              <a:ext uri="{FF2B5EF4-FFF2-40B4-BE49-F238E27FC236}">
                <a16:creationId xmlns:a16="http://schemas.microsoft.com/office/drawing/2014/main" id="{A8A146D2-341B-4E4B-BDA6-2647286F2BA5}"/>
              </a:ext>
            </a:extLst>
          </p:cNvPr>
          <p:cNvSpPr>
            <a:spLocks xmlns:a="http://schemas.openxmlformats.org/drawingml/2006/main" noGrp="1"/>
          </p:cNvSpPr>
          <p:nvPr/>
        </p:nvSpPr>
        <p:spPr>
          <a:xfrm xmlns:a="http://schemas.openxmlformats.org/drawingml/2006/main">
            <a:off x="4344314"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5F625A22-52E1-4B9C-A289-903526EE9071}"/>
              </a:ext>
            </a:extLst>
          </p:cNvPr>
          <p:cNvSpPr>
            <a:spLocks xmlns:a="http://schemas.openxmlformats.org/drawingml/2006/main" noGrp="1"/>
          </p:cNvSpPr>
          <p:nvPr/>
        </p:nvSpPr>
        <p:spPr>
          <a:xfrm xmlns:a="http://schemas.openxmlformats.org/drawingml/2006/main">
            <a:off x="4344314"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V</a:t>
            </a:r>
          </a:p>
        </p:txBody>
      </p:sp>
      <p:sp>
        <p:nvSpPr>
          <p:cNvPr id="15" name="Text 13">
            <a:extLst xmlns:a="http://schemas.openxmlformats.org/drawingml/2006/main">
              <a:ext uri="{FF2B5EF4-FFF2-40B4-BE49-F238E27FC236}">
                <a16:creationId xmlns:a16="http://schemas.microsoft.com/office/drawing/2014/main" id="{2C3BBD8A-4053-4B76-83B4-BEFC403ED863}"/>
              </a:ext>
            </a:extLst>
          </p:cNvPr>
          <p:cNvSpPr>
            <a:spLocks xmlns:a="http://schemas.openxmlformats.org/drawingml/2006/main" noGrp="1"/>
          </p:cNvSpPr>
          <p:nvPr/>
        </p:nvSpPr>
        <p:spPr>
          <a:xfrm xmlns:a="http://schemas.openxmlformats.org/drawingml/2006/main">
            <a:off x="4417466"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verifier</a:t>
            </a:r>
          </a:p>
        </p:txBody>
      </p:sp>
      <p:sp>
        <p:nvSpPr>
          <p:cNvPr id="16" name="Shape 14">
            <a:extLst xmlns:a="http://schemas.openxmlformats.org/drawingml/2006/main">
              <a:ext uri="{FF2B5EF4-FFF2-40B4-BE49-F238E27FC236}">
                <a16:creationId xmlns:a16="http://schemas.microsoft.com/office/drawing/2014/main" id="{F308FB9F-53E3-4746-B1F4-72463ED9FC78}"/>
              </a:ext>
            </a:extLst>
          </p:cNvPr>
          <p:cNvSpPr>
            <a:spLocks xmlns:a="http://schemas.openxmlformats.org/drawingml/2006/main" noGrp="1"/>
          </p:cNvSpPr>
          <p:nvPr/>
        </p:nvSpPr>
        <p:spPr>
          <a:xfrm xmlns:a="http://schemas.openxmlformats.org/drawingml/2006/main">
            <a:off x="6196432"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3D55F5C7-9A45-43DA-88AF-C3BDD1FC01BA}"/>
              </a:ext>
            </a:extLst>
          </p:cNvPr>
          <p:cNvSpPr>
            <a:spLocks xmlns:a="http://schemas.openxmlformats.org/drawingml/2006/main" noGrp="1"/>
          </p:cNvSpPr>
          <p:nvPr/>
        </p:nvSpPr>
        <p:spPr>
          <a:xfrm xmlns:a="http://schemas.openxmlformats.org/drawingml/2006/main">
            <a:off x="6196432"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q</a:t>
            </a:r>
          </a:p>
        </p:txBody>
      </p:sp>
      <p:sp>
        <p:nvSpPr>
          <p:cNvPr id="18" name="Text 16">
            <a:extLst xmlns:a="http://schemas.openxmlformats.org/drawingml/2006/main">
              <a:ext uri="{FF2B5EF4-FFF2-40B4-BE49-F238E27FC236}">
                <a16:creationId xmlns:a16="http://schemas.microsoft.com/office/drawing/2014/main" id="{93906ABE-B956-418E-B627-785986A86B25}"/>
              </a:ext>
            </a:extLst>
          </p:cNvPr>
          <p:cNvSpPr>
            <a:spLocks xmlns:a="http://schemas.openxmlformats.org/drawingml/2006/main" noGrp="1"/>
          </p:cNvSpPr>
          <p:nvPr/>
        </p:nvSpPr>
        <p:spPr>
          <a:xfrm xmlns:a="http://schemas.openxmlformats.org/drawingml/2006/main">
            <a:off x="6269584"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nonconformity score</a:t>
            </a:r>
          </a:p>
        </p:txBody>
      </p:sp>
      <p:sp>
        <p:nvSpPr>
          <p:cNvPr id="19" name="Shape 17">
            <a:extLst xmlns:a="http://schemas.openxmlformats.org/drawingml/2006/main">
              <a:ext uri="{FF2B5EF4-FFF2-40B4-BE49-F238E27FC236}">
                <a16:creationId xmlns:a16="http://schemas.microsoft.com/office/drawing/2014/main" id="{9ED9D82D-EF79-4806-B2BF-B9AE7BFE3EE2}"/>
              </a:ext>
            </a:extLst>
          </p:cNvPr>
          <p:cNvSpPr>
            <a:spLocks xmlns:a="http://schemas.openxmlformats.org/drawingml/2006/main" noGrp="1"/>
          </p:cNvSpPr>
          <p:nvPr/>
        </p:nvSpPr>
        <p:spPr>
          <a:xfrm xmlns:a="http://schemas.openxmlformats.org/drawingml/2006/main">
            <a:off x="8048549"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0B723998-CDBF-4A19-9871-D6DF3295AD7D}"/>
              </a:ext>
            </a:extLst>
          </p:cNvPr>
          <p:cNvSpPr>
            <a:spLocks xmlns:a="http://schemas.openxmlformats.org/drawingml/2006/main" noGrp="1"/>
          </p:cNvSpPr>
          <p:nvPr/>
        </p:nvSpPr>
        <p:spPr>
          <a:xfrm xmlns:a="http://schemas.openxmlformats.org/drawingml/2006/main">
            <a:off x="8048549"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η</a:t>
            </a:r>
          </a:p>
        </p:txBody>
      </p:sp>
      <p:sp>
        <p:nvSpPr>
          <p:cNvPr id="21" name="Text 19">
            <a:extLst xmlns:a="http://schemas.openxmlformats.org/drawingml/2006/main">
              <a:ext uri="{FF2B5EF4-FFF2-40B4-BE49-F238E27FC236}">
                <a16:creationId xmlns:a16="http://schemas.microsoft.com/office/drawing/2014/main" id="{29B02128-77D1-465C-A1E8-16B6C2E1F1D4}"/>
              </a:ext>
            </a:extLst>
          </p:cNvPr>
          <p:cNvSpPr>
            <a:spLocks xmlns:a="http://schemas.openxmlformats.org/drawingml/2006/main" noGrp="1"/>
          </p:cNvSpPr>
          <p:nvPr/>
        </p:nvSpPr>
        <p:spPr>
          <a:xfrm xmlns:a="http://schemas.openxmlformats.org/drawingml/2006/main">
            <a:off x="8121701"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calibrated threshold</a:t>
            </a:r>
          </a:p>
        </p:txBody>
      </p:sp>
      <p:sp>
        <p:nvSpPr>
          <p:cNvPr id="22" name="Shape 20">
            <a:extLst xmlns:a="http://schemas.openxmlformats.org/drawingml/2006/main">
              <a:ext uri="{FF2B5EF4-FFF2-40B4-BE49-F238E27FC236}">
                <a16:creationId xmlns:a16="http://schemas.microsoft.com/office/drawing/2014/main" id="{B168FC15-B5F2-4E41-B7F0-B47828256C6B}"/>
              </a:ext>
            </a:extLst>
          </p:cNvPr>
          <p:cNvSpPr>
            <a:spLocks xmlns:a="http://schemas.openxmlformats.org/drawingml/2006/main" noGrp="1"/>
          </p:cNvSpPr>
          <p:nvPr/>
        </p:nvSpPr>
        <p:spPr>
          <a:xfrm xmlns:a="http://schemas.openxmlformats.org/drawingml/2006/main">
            <a:off x="9900666"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859B5BD0-6729-455B-8EBC-32D56FEF6E20}"/>
              </a:ext>
            </a:extLst>
          </p:cNvPr>
          <p:cNvSpPr>
            <a:spLocks xmlns:a="http://schemas.openxmlformats.org/drawingml/2006/main" noGrp="1"/>
          </p:cNvSpPr>
          <p:nvPr/>
        </p:nvSpPr>
        <p:spPr>
          <a:xfrm xmlns:a="http://schemas.openxmlformats.org/drawingml/2006/main">
            <a:off x="9900666"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M</a:t>
            </a:r>
          </a:p>
        </p:txBody>
      </p:sp>
      <p:sp>
        <p:nvSpPr>
          <p:cNvPr id="24" name="Text 22">
            <a:extLst xmlns:a="http://schemas.openxmlformats.org/drawingml/2006/main">
              <a:ext uri="{FF2B5EF4-FFF2-40B4-BE49-F238E27FC236}">
                <a16:creationId xmlns:a16="http://schemas.microsoft.com/office/drawing/2014/main" id="{8C4CA187-2B7D-47BD-9AD0-1052888957C9}"/>
              </a:ext>
            </a:extLst>
          </p:cNvPr>
          <p:cNvSpPr>
            <a:spLocks xmlns:a="http://schemas.openxmlformats.org/drawingml/2006/main" noGrp="1"/>
          </p:cNvSpPr>
          <p:nvPr/>
        </p:nvSpPr>
        <p:spPr>
          <a:xfrm xmlns:a="http://schemas.openxmlformats.org/drawingml/2006/main">
            <a:off x="9973818"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manifest pins</a:t>
            </a:r>
          </a:p>
        </p:txBody>
      </p:sp>
      <p:sp>
        <p:nvSpPr>
          <p:cNvPr id="25" name="Text 23">
            <a:extLst xmlns:a="http://schemas.openxmlformats.org/drawingml/2006/main">
              <a:ext uri="{FF2B5EF4-FFF2-40B4-BE49-F238E27FC236}">
                <a16:creationId xmlns:a16="http://schemas.microsoft.com/office/drawing/2014/main" id="{1F2709FB-3195-4C21-A8D1-3EA602498EBB}"/>
              </a:ext>
            </a:extLst>
          </p:cNvPr>
          <p:cNvSpPr>
            <a:spLocks xmlns:a="http://schemas.openxmlformats.org/drawingml/2006/main" noGrp="1"/>
          </p:cNvSpPr>
          <p:nvPr/>
        </p:nvSpPr>
        <p:spPr>
          <a:xfrm xmlns:a="http://schemas.openxmlformats.org/drawingml/2006/main">
            <a:off x="640080" y="27432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5F767A"/>
                </a:solidFill>
                <a:latin typeface="Calibri"/>
                <a:ea typeface="Calibri"/>
                <a:cs typeface="Calibri"/>
              </a:rPr>
              <a:t>DISPATCH IS SELECTIVE — SIX CHECKS, THEN ONE OF SEVEN TERMINAL EDGES</a:t>
            </a:r>
          </a:p>
        </p:txBody>
      </p:sp>
      <p:sp>
        <p:nvSpPr>
          <p:cNvPr id="26" name="Shape 24">
            <a:extLst xmlns:a="http://schemas.openxmlformats.org/drawingml/2006/main">
              <a:ext uri="{FF2B5EF4-FFF2-40B4-BE49-F238E27FC236}">
                <a16:creationId xmlns:a16="http://schemas.microsoft.com/office/drawing/2014/main" id="{AEB1BAEE-19F7-414F-9C1E-A80B5D30F3EA}"/>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4706E754-51EC-47EA-8794-1F3EA0A2B830}"/>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resolve</a:t>
            </a:r>
          </a:p>
        </p:txBody>
      </p:sp>
      <p:sp>
        <p:nvSpPr>
          <p:cNvPr id="28" name="Shape 26">
            <a:extLst xmlns:a="http://schemas.openxmlformats.org/drawingml/2006/main">
              <a:ext uri="{FF2B5EF4-FFF2-40B4-BE49-F238E27FC236}">
                <a16:creationId xmlns:a16="http://schemas.microsoft.com/office/drawing/2014/main" id="{713628F2-C492-48A5-ACA5-48EF1329F841}"/>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010867FE-57FA-4375-8423-6F65CB25EDAF}"/>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signature</a:t>
            </a:r>
          </a:p>
        </p:txBody>
      </p:sp>
      <p:sp>
        <p:nvSpPr>
          <p:cNvPr id="30" name="Shape 28">
            <a:extLst xmlns:a="http://schemas.openxmlformats.org/drawingml/2006/main">
              <a:ext uri="{FF2B5EF4-FFF2-40B4-BE49-F238E27FC236}">
                <a16:creationId xmlns:a16="http://schemas.microsoft.com/office/drawing/2014/main" id="{6C0A7DFD-1A1E-4C3A-953A-B1E33AA157DD}"/>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19C4473E-EBC1-4E96-91FD-E9407199F6A1}"/>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guard</a:t>
            </a:r>
          </a:p>
        </p:txBody>
      </p:sp>
      <p:sp>
        <p:nvSpPr>
          <p:cNvPr id="32" name="Shape 30">
            <a:extLst xmlns:a="http://schemas.openxmlformats.org/drawingml/2006/main">
              <a:ext uri="{FF2B5EF4-FFF2-40B4-BE49-F238E27FC236}">
                <a16:creationId xmlns:a16="http://schemas.microsoft.com/office/drawing/2014/main" id="{77276FA9-7E80-493E-8305-B58B30E93E3F}"/>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F4963C3C-8505-4E2F-AE41-8719FC73584B}"/>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already-run</a:t>
            </a:r>
          </a:p>
        </p:txBody>
      </p:sp>
      <p:sp>
        <p:nvSpPr>
          <p:cNvPr id="34" name="Shape 32">
            <a:extLst xmlns:a="http://schemas.openxmlformats.org/drawingml/2006/main">
              <a:ext uri="{FF2B5EF4-FFF2-40B4-BE49-F238E27FC236}">
                <a16:creationId xmlns:a16="http://schemas.microsoft.com/office/drawing/2014/main" id="{2AE70FCF-2D02-4321-99EB-6471D30EB820}"/>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5" name="Text 33">
            <a:extLst xmlns:a="http://schemas.openxmlformats.org/drawingml/2006/main">
              <a:ext uri="{FF2B5EF4-FFF2-40B4-BE49-F238E27FC236}">
                <a16:creationId xmlns:a16="http://schemas.microsoft.com/office/drawing/2014/main" id="{A9531DAF-0EE9-44D4-B9B4-C5D52D1AC008}"/>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gate</a:t>
            </a:r>
          </a:p>
        </p:txBody>
      </p:sp>
      <p:sp>
        <p:nvSpPr>
          <p:cNvPr id="36" name="Shape 34">
            <a:extLst xmlns:a="http://schemas.openxmlformats.org/drawingml/2006/main">
              <a:ext uri="{FF2B5EF4-FFF2-40B4-BE49-F238E27FC236}">
                <a16:creationId xmlns:a16="http://schemas.microsoft.com/office/drawing/2014/main" id="{4141EBE4-D02C-48F5-ABAF-410D8B09E5C4}"/>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oundRect">
            <a:avLst>
              <a:gd name="adj" fmla="val 108696"/>
            </a:avLst>
          </a:prstGeom>
          <a:solidFill xmlns:a="http://schemas.openxmlformats.org/drawingml/2006/main">
            <a:srgbClr val="17798A"/>
          </a:solidFill>
          <a:ln xmlns:a="http://schemas.openxmlformats.org/drawingml/2006/main" w="9525">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37" name="Text 35">
            <a:extLst xmlns:a="http://schemas.openxmlformats.org/drawingml/2006/main">
              <a:ext uri="{FF2B5EF4-FFF2-40B4-BE49-F238E27FC236}">
                <a16:creationId xmlns:a16="http://schemas.microsoft.com/office/drawing/2014/main" id="{8D276765-BBB3-43EB-8442-5CC11841E511}"/>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stage → interpret → verify</a:t>
            </a:r>
          </a:p>
        </p:txBody>
      </p:sp>
      <p:sp>
        <p:nvSpPr>
          <p:cNvPr id="38" name="Shape 36">
            <a:extLst xmlns:a="http://schemas.openxmlformats.org/drawingml/2006/main">
              <a:ext uri="{FF2B5EF4-FFF2-40B4-BE49-F238E27FC236}">
                <a16:creationId xmlns:a16="http://schemas.microsoft.com/office/drawing/2014/main" id="{90DF0C52-3703-4B40-AD95-356E484B53E7}"/>
              </a:ext>
            </a:extLst>
          </p:cNvPr>
          <p:cNvSpPr>
            <a:spLocks xmlns:a="http://schemas.openxmlformats.org/drawingml/2006/main" noGrp="1"/>
          </p:cNvSpPr>
          <p:nvPr/>
        </p:nvSpPr>
        <p:spPr>
          <a:xfrm xmlns:a="http://schemas.openxmlformats.org/drawingml/2006/main">
            <a:off x="640080" y="3712464"/>
            <a:ext cx="3454298" cy="1536192"/>
          </a:xfrm>
          <a:prstGeom xmlns:a="http://schemas.openxmlformats.org/drawingml/2006/main" prst="roundRect">
            <a:avLst>
              <a:gd name="adj" fmla="val 297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9" name="Text 37">
            <a:extLst xmlns:a="http://schemas.openxmlformats.org/drawingml/2006/main">
              <a:ext uri="{FF2B5EF4-FFF2-40B4-BE49-F238E27FC236}">
                <a16:creationId xmlns:a16="http://schemas.microsoft.com/office/drawing/2014/main" id="{46CBF3C6-9AB2-4ECB-BA6E-8160B9917F04}"/>
              </a:ext>
            </a:extLst>
          </p:cNvPr>
          <p:cNvSpPr>
            <a:spLocks xmlns:a="http://schemas.openxmlformats.org/drawingml/2006/main" noGrp="1"/>
          </p:cNvSpPr>
          <p:nvPr/>
        </p:nvSpPr>
        <p:spPr>
          <a:xfrm xmlns:a="http://schemas.openxmlformats.org/drawingml/2006/main">
            <a:off x="896112"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7798A"/>
                </a:solidFill>
                <a:latin typeface="Cambria"/>
                <a:ea typeface="Cambria"/>
                <a:cs typeface="Cambria"/>
              </a:rPr>
              <a:t>1</a:t>
            </a:r>
          </a:p>
        </p:txBody>
      </p:sp>
      <p:sp>
        <p:nvSpPr>
          <p:cNvPr id="40" name="Text 38">
            <a:extLst xmlns:a="http://schemas.openxmlformats.org/drawingml/2006/main">
              <a:ext uri="{FF2B5EF4-FFF2-40B4-BE49-F238E27FC236}">
                <a16:creationId xmlns:a16="http://schemas.microsoft.com/office/drawing/2014/main" id="{B76F8E3E-0710-4BCD-A8E8-186921F97308}"/>
              </a:ext>
            </a:extLst>
          </p:cNvPr>
          <p:cNvSpPr>
            <a:spLocks xmlns:a="http://schemas.openxmlformats.org/drawingml/2006/main" noGrp="1"/>
          </p:cNvSpPr>
          <p:nvPr/>
        </p:nvSpPr>
        <p:spPr>
          <a:xfrm xmlns:a="http://schemas.openxmlformats.org/drawingml/2006/main">
            <a:off x="1508760"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D4A54"/>
                </a:solidFill>
                <a:latin typeface="Cambria"/>
                <a:ea typeface="Cambria"/>
                <a:cs typeface="Cambria"/>
              </a:rPr>
              <a:t>Compacted execution</a:t>
            </a:r>
          </a:p>
        </p:txBody>
      </p:sp>
      <p:sp>
        <p:nvSpPr>
          <p:cNvPr id="41" name="Text 39">
            <a:extLst xmlns:a="http://schemas.openxmlformats.org/drawingml/2006/main">
              <a:ext uri="{FF2B5EF4-FFF2-40B4-BE49-F238E27FC236}">
                <a16:creationId xmlns:a16="http://schemas.microsoft.com/office/drawing/2014/main" id="{BC80364D-6FB5-4CED-8938-57B689ECE036}"/>
              </a:ext>
            </a:extLst>
          </p:cNvPr>
          <p:cNvSpPr>
            <a:spLocks xmlns:a="http://schemas.openxmlformats.org/drawingml/2006/main" noGrp="1"/>
          </p:cNvSpPr>
          <p:nvPr/>
        </p:nvSpPr>
        <p:spPr>
          <a:xfrm xmlns:a="http://schemas.openxmlformats.org/drawingml/2006/main">
            <a:off x="914400"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3A5257"/>
                </a:solidFill>
                <a:latin typeface="Calibri"/>
                <a:ea typeface="Calibri"/>
                <a:cs typeface="Calibri"/>
              </a:rPr>
              <a:t>Guard, gate, program, and verifier all pass; effects commit.</a:t>
            </a:r>
          </a:p>
        </p:txBody>
      </p:sp>
      <p:sp>
        <p:nvSpPr>
          <p:cNvPr id="42" name="Shape 40">
            <a:extLst xmlns:a="http://schemas.openxmlformats.org/drawingml/2006/main">
              <a:ext uri="{FF2B5EF4-FFF2-40B4-BE49-F238E27FC236}">
                <a16:creationId xmlns:a16="http://schemas.microsoft.com/office/drawing/2014/main" id="{15498B2B-F394-4341-BAFF-F1E6B3D9FC4C}"/>
              </a:ext>
            </a:extLst>
          </p:cNvPr>
          <p:cNvSpPr>
            <a:spLocks xmlns:a="http://schemas.openxmlformats.org/drawingml/2006/main" noGrp="1"/>
          </p:cNvSpPr>
          <p:nvPr/>
        </p:nvSpPr>
        <p:spPr>
          <a:xfrm xmlns:a="http://schemas.openxmlformats.org/drawingml/2006/main">
            <a:off x="4368698" y="3712464"/>
            <a:ext cx="3454298" cy="1536192"/>
          </a:xfrm>
          <a:prstGeom xmlns:a="http://schemas.openxmlformats.org/drawingml/2006/main" prst="roundRect">
            <a:avLst>
              <a:gd name="adj" fmla="val 297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43" name="Text 41">
            <a:extLst xmlns:a="http://schemas.openxmlformats.org/drawingml/2006/main">
              <a:ext uri="{FF2B5EF4-FFF2-40B4-BE49-F238E27FC236}">
                <a16:creationId xmlns:a16="http://schemas.microsoft.com/office/drawing/2014/main" id="{E84D0347-8812-4434-8E6C-67D2E349B06C}"/>
              </a:ext>
            </a:extLst>
          </p:cNvPr>
          <p:cNvSpPr>
            <a:spLocks xmlns:a="http://schemas.openxmlformats.org/drawingml/2006/main" noGrp="1"/>
          </p:cNvSpPr>
          <p:nvPr/>
        </p:nvSpPr>
        <p:spPr>
          <a:xfrm xmlns:a="http://schemas.openxmlformats.org/drawingml/2006/main">
            <a:off x="4624730"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D4A54"/>
                </a:solidFill>
                <a:latin typeface="Cambria"/>
                <a:ea typeface="Cambria"/>
                <a:cs typeface="Cambria"/>
              </a:rPr>
              <a:t>5</a:t>
            </a:r>
          </a:p>
        </p:txBody>
      </p:sp>
      <p:sp>
        <p:nvSpPr>
          <p:cNvPr id="44" name="Text 42">
            <a:extLst xmlns:a="http://schemas.openxmlformats.org/drawingml/2006/main">
              <a:ext uri="{FF2B5EF4-FFF2-40B4-BE49-F238E27FC236}">
                <a16:creationId xmlns:a16="http://schemas.microsoft.com/office/drawing/2014/main" id="{C7324708-67DD-4E26-9678-A99C31232BBE}"/>
              </a:ext>
            </a:extLst>
          </p:cNvPr>
          <p:cNvSpPr>
            <a:spLocks xmlns:a="http://schemas.openxmlformats.org/drawingml/2006/main" noGrp="1"/>
          </p:cNvSpPr>
          <p:nvPr/>
        </p:nvSpPr>
        <p:spPr>
          <a:xfrm xmlns:a="http://schemas.openxmlformats.org/drawingml/2006/main">
            <a:off x="5237378"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D4A54"/>
                </a:solidFill>
                <a:latin typeface="Cambria"/>
                <a:ea typeface="Cambria"/>
                <a:cs typeface="Cambria"/>
              </a:rPr>
              <a:t>Baseline agent runs</a:t>
            </a:r>
          </a:p>
        </p:txBody>
      </p:sp>
      <p:sp>
        <p:nvSpPr>
          <p:cNvPr id="45" name="Text 43">
            <a:extLst xmlns:a="http://schemas.openxmlformats.org/drawingml/2006/main">
              <a:ext uri="{FF2B5EF4-FFF2-40B4-BE49-F238E27FC236}">
                <a16:creationId xmlns:a16="http://schemas.microsoft.com/office/drawing/2014/main" id="{772057D8-25EE-4D98-B604-E490C6D09195}"/>
              </a:ext>
            </a:extLst>
          </p:cNvPr>
          <p:cNvSpPr>
            <a:spLocks xmlns:a="http://schemas.openxmlformats.org/drawingml/2006/main" noGrp="1"/>
          </p:cNvSpPr>
          <p:nvPr/>
        </p:nvSpPr>
        <p:spPr>
          <a:xfrm xmlns:a="http://schemas.openxmlformats.org/drawingml/2006/main">
            <a:off x="4643018"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3A5257"/>
                </a:solidFill>
                <a:latin typeface="Calibri"/>
                <a:ea typeface="Calibri"/>
                <a:cs typeface="Calibri"/>
              </a:rPr>
              <a:t>Any precondition miss, calibrated abstention, shadow mode, or a clean pre-commit failure.</a:t>
            </a:r>
          </a:p>
        </p:txBody>
      </p:sp>
      <p:sp>
        <p:nvSpPr>
          <p:cNvPr id="46" name="Shape 44">
            <a:extLst xmlns:a="http://schemas.openxmlformats.org/drawingml/2006/main">
              <a:ext uri="{FF2B5EF4-FFF2-40B4-BE49-F238E27FC236}">
                <a16:creationId xmlns:a16="http://schemas.microsoft.com/office/drawing/2014/main" id="{31F1CFD4-C227-4857-A861-F48E4554A893}"/>
              </a:ext>
            </a:extLst>
          </p:cNvPr>
          <p:cNvSpPr>
            <a:spLocks xmlns:a="http://schemas.openxmlformats.org/drawingml/2006/main" noGrp="1"/>
          </p:cNvSpPr>
          <p:nvPr/>
        </p:nvSpPr>
        <p:spPr>
          <a:xfrm xmlns:a="http://schemas.openxmlformats.org/drawingml/2006/main">
            <a:off x="8097317" y="3712464"/>
            <a:ext cx="3454298" cy="1536192"/>
          </a:xfrm>
          <a:prstGeom xmlns:a="http://schemas.openxmlformats.org/drawingml/2006/main" prst="roundRect">
            <a:avLst>
              <a:gd name="adj" fmla="val 297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47" name="Text 45">
            <a:extLst xmlns:a="http://schemas.openxmlformats.org/drawingml/2006/main">
              <a:ext uri="{FF2B5EF4-FFF2-40B4-BE49-F238E27FC236}">
                <a16:creationId xmlns:a16="http://schemas.microsoft.com/office/drawing/2014/main" id="{5A33B91F-D998-49CB-965D-34F34201669C}"/>
              </a:ext>
            </a:extLst>
          </p:cNvPr>
          <p:cNvSpPr>
            <a:spLocks xmlns:a="http://schemas.openxmlformats.org/drawingml/2006/main" noGrp="1"/>
          </p:cNvSpPr>
          <p:nvPr/>
        </p:nvSpPr>
        <p:spPr>
          <a:xfrm xmlns:a="http://schemas.openxmlformats.org/drawingml/2006/main">
            <a:off x="8353349"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AC4A2C"/>
                </a:solidFill>
                <a:latin typeface="Cambria"/>
                <a:ea typeface="Cambria"/>
                <a:cs typeface="Cambria"/>
              </a:rPr>
              <a:t>1</a:t>
            </a:r>
          </a:p>
        </p:txBody>
      </p:sp>
      <p:sp>
        <p:nvSpPr>
          <p:cNvPr id="48" name="Text 46">
            <a:extLst xmlns:a="http://schemas.openxmlformats.org/drawingml/2006/main">
              <a:ext uri="{FF2B5EF4-FFF2-40B4-BE49-F238E27FC236}">
                <a16:creationId xmlns:a16="http://schemas.microsoft.com/office/drawing/2014/main" id="{7DF77F55-275F-4AB7-A846-1EF4B1275820}"/>
              </a:ext>
            </a:extLst>
          </p:cNvPr>
          <p:cNvSpPr>
            <a:spLocks xmlns:a="http://schemas.openxmlformats.org/drawingml/2006/main" noGrp="1"/>
          </p:cNvSpPr>
          <p:nvPr/>
        </p:nvSpPr>
        <p:spPr>
          <a:xfrm xmlns:a="http://schemas.openxmlformats.org/drawingml/2006/main">
            <a:off x="8965997"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C4A2C"/>
                </a:solidFill>
                <a:latin typeface="Cambria"/>
                <a:ea typeface="Cambria"/>
                <a:cs typeface="Cambria"/>
              </a:rPr>
              <a:t>Incident raised</a:t>
            </a:r>
          </a:p>
        </p:txBody>
      </p:sp>
      <p:sp>
        <p:nvSpPr>
          <p:cNvPr id="49" name="Text 47">
            <a:extLst xmlns:a="http://schemas.openxmlformats.org/drawingml/2006/main">
              <a:ext uri="{FF2B5EF4-FFF2-40B4-BE49-F238E27FC236}">
                <a16:creationId xmlns:a16="http://schemas.microsoft.com/office/drawing/2014/main" id="{F9BE1739-2F6A-41B3-8393-D5B9FD6EBE25}"/>
              </a:ext>
            </a:extLst>
          </p:cNvPr>
          <p:cNvSpPr>
            <a:spLocks xmlns:a="http://schemas.openxmlformats.org/drawingml/2006/main" noGrp="1"/>
          </p:cNvSpPr>
          <p:nvPr/>
        </p:nvSpPr>
        <p:spPr>
          <a:xfrm xmlns:a="http://schemas.openxmlformats.org/drawingml/2006/main">
            <a:off x="8371637"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3A5257"/>
                </a:solidFill>
                <a:latin typeface="Calibri"/>
                <a:ea typeface="Calibri"/>
                <a:cs typeface="Calibri"/>
              </a:rPr>
              <a:t>A post-commit failure. An external commitment happened — the runtime does not feign rollback.</a:t>
            </a:r>
          </a:p>
        </p:txBody>
      </p:sp>
      <p:sp>
        <p:nvSpPr>
          <p:cNvPr id="50" name="Shape 48">
            <a:extLst xmlns:a="http://schemas.openxmlformats.org/drawingml/2006/main">
              <a:ext uri="{FF2B5EF4-FFF2-40B4-BE49-F238E27FC236}">
                <a16:creationId xmlns:a16="http://schemas.microsoft.com/office/drawing/2014/main" id="{244AE9A6-042E-4DD8-9A93-73BECC022C6A}"/>
              </a:ext>
            </a:extLst>
          </p:cNvPr>
          <p:cNvSpPr>
            <a:spLocks xmlns:a="http://schemas.openxmlformats.org/drawingml/2006/main" noGrp="1"/>
          </p:cNvSpPr>
          <p:nvPr/>
        </p:nvSpPr>
        <p:spPr>
          <a:xfrm xmlns:a="http://schemas.openxmlformats.org/drawingml/2006/main">
            <a:off x="640080" y="5413248"/>
            <a:ext cx="10911535" cy="713232"/>
          </a:xfrm>
          <a:prstGeom xmlns:a="http://schemas.openxmlformats.org/drawingml/2006/main" prst="roundRect">
            <a:avLst>
              <a:gd name="adj" fmla="val 6410"/>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51" name="Text 49">
            <a:extLst xmlns:a="http://schemas.openxmlformats.org/drawingml/2006/main">
              <a:ext uri="{FF2B5EF4-FFF2-40B4-BE49-F238E27FC236}">
                <a16:creationId xmlns:a16="http://schemas.microsoft.com/office/drawing/2014/main" id="{D4BCB11A-CDD6-4C0D-9B24-B85814E8F7DD}"/>
              </a:ext>
            </a:extLst>
          </p:cNvPr>
          <p:cNvSpPr>
            <a:spLocks xmlns:a="http://schemas.openxmlformats.org/drawingml/2006/main" noGrp="1"/>
          </p:cNvSpPr>
          <p:nvPr/>
        </p:nvSpPr>
        <p:spPr>
          <a:xfrm xmlns:a="http://schemas.openxmlformats.org/drawingml/2006/main">
            <a:off x="914400" y="5504688"/>
            <a:ext cx="10362895"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D4A54"/>
                </a:solidFill>
                <a:latin typeface="Calibri"/>
                <a:ea typeface="Calibri"/>
                <a:cs typeface="Calibri"/>
              </a:rPr>
              <a:t>Caveat: exact fallback still requires a staging owner. The GCS pre-model path avoids post-emission rollback by verifying its continuation pin, program, and task projection before the provider sees the observation.</a:t>
            </a:r>
          </a:p>
        </p:txBody>
      </p:sp>
    </p:spTree>
    <p:extLst>
      <p:ext uri="{BB962C8B-B14F-4D97-AF65-F5344CB8AC3E}">
        <p14:creationId xmlns:p14="http://schemas.microsoft.com/office/powerpoint/2010/main" val="47397891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7D8803-0E5C-4AA4-A3F2-16E599EE1BD6}"/>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871BF5A0-8C9E-4275-ACF7-8EB01A3C90B0}"/>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11</a:t>
            </a:r>
          </a:p>
        </p:txBody>
      </p:sp>
      <p:sp>
        <p:nvSpPr>
          <p:cNvPr id="4" name="Text 2">
            <a:extLst xmlns:a="http://schemas.openxmlformats.org/drawingml/2006/main">
              <a:ext uri="{FF2B5EF4-FFF2-40B4-BE49-F238E27FC236}">
                <a16:creationId xmlns:a16="http://schemas.microsoft.com/office/drawing/2014/main" id="{C76B35DE-2C79-4950-97EE-E05396EF815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REJECTION POINT 6</a:t>
            </a:r>
          </a:p>
        </p:txBody>
      </p:sp>
      <p:sp>
        <p:nvSpPr>
          <p:cNvPr id="5" name="Text 3">
            <a:extLst xmlns:a="http://schemas.openxmlformats.org/drawingml/2006/main">
              <a:ext uri="{FF2B5EF4-FFF2-40B4-BE49-F238E27FC236}">
                <a16:creationId xmlns:a16="http://schemas.microsoft.com/office/drawing/2014/main" id="{2D474A0F-7C6B-47E3-B27D-07F95C1DCF7F}"/>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The admission gate is exact — and therefore data-hungry</a:t>
            </a:r>
          </a:p>
        </p:txBody>
      </p:sp>
      <p:sp>
        <p:nvSpPr>
          <p:cNvPr id="6" name="Text 4">
            <a:extLst xmlns:a="http://schemas.openxmlformats.org/drawingml/2006/main">
              <a:ext uri="{FF2B5EF4-FFF2-40B4-BE49-F238E27FC236}">
                <a16:creationId xmlns:a16="http://schemas.microsoft.com/office/drawing/2014/main" id="{750E5446-E590-41AD-8E42-7A2A67BB65B7}"/>
              </a:ext>
            </a:extLst>
          </p:cNvPr>
          <p:cNvSpPr>
            <a:spLocks xmlns:a="http://schemas.openxmlformats.org/drawingml/2006/main" noGrp="1"/>
          </p:cNvSpPr>
          <p:nvPr/>
        </p:nvSpPr>
        <p:spPr>
          <a:xfrm xmlns:a="http://schemas.openxmlformats.org/drawingml/2006/main">
            <a:off x="640080" y="1426464"/>
            <a:ext cx="5943600" cy="2148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The score model and the eleven-threshold grid are frozen before any calibration group is seen. That is what makes a union bound legitimate.</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For each threshold the compiler computes a one-sided Clopper–Pearson upper bound and selects the largest-coverage admissible one.</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If no threshold is admissible, the family retires. Normal retirement is a valid optimizer output, not an error path.</a:t>
            </a:r>
          </a:p>
        </p:txBody>
      </p:sp>
      <p:sp>
        <p:nvSpPr>
          <p:cNvPr id="7" name="Shape 5">
            <a:extLst xmlns:a="http://schemas.openxmlformats.org/drawingml/2006/main">
              <a:ext uri="{FF2B5EF4-FFF2-40B4-BE49-F238E27FC236}">
                <a16:creationId xmlns:a16="http://schemas.microsoft.com/office/drawing/2014/main" id="{65C89C70-6CF8-494C-A7FF-228AD3D046E9}"/>
              </a:ext>
            </a:extLst>
          </p:cNvPr>
          <p:cNvSpPr>
            <a:spLocks xmlns:a="http://schemas.openxmlformats.org/drawingml/2006/main" noGrp="1"/>
          </p:cNvSpPr>
          <p:nvPr/>
        </p:nvSpPr>
        <p:spPr>
          <a:xfrm xmlns:a="http://schemas.openxmlformats.org/drawingml/2006/main">
            <a:off x="640080" y="3730752"/>
            <a:ext cx="5943600" cy="1243584"/>
          </a:xfrm>
          <a:prstGeom xmlns:a="http://schemas.openxmlformats.org/drawingml/2006/main" prst="roundRect">
            <a:avLst>
              <a:gd name="adj" fmla="val 367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EAEA1759-44ED-4CEB-A4B2-74B7FCAB3704}"/>
              </a:ext>
            </a:extLst>
          </p:cNvPr>
          <p:cNvSpPr>
            <a:spLocks xmlns:a="http://schemas.openxmlformats.org/drawingml/2006/main" noGrp="1"/>
          </p:cNvSpPr>
          <p:nvPr/>
        </p:nvSpPr>
        <p:spPr>
          <a:xfrm xmlns:a="http://schemas.openxmlformats.org/drawingml/2006/main">
            <a:off x="896112" y="3858768"/>
            <a:ext cx="54864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AC4A2C"/>
                </a:solidFill>
                <a:latin typeface="Calibri"/>
                <a:ea typeface="Calibri"/>
                <a:cs typeface="Calibri"/>
              </a:rPr>
              <a:t>WHAT α ACTUALLY BOUNDS</a:t>
            </a:r>
          </a:p>
        </p:txBody>
      </p:sp>
      <p:sp>
        <p:nvSpPr>
          <p:cNvPr id="9" name="Text 7">
            <a:extLst xmlns:a="http://schemas.openxmlformats.org/drawingml/2006/main">
              <a:ext uri="{FF2B5EF4-FFF2-40B4-BE49-F238E27FC236}">
                <a16:creationId xmlns:a16="http://schemas.microsoft.com/office/drawing/2014/main" id="{C055873B-C334-42ED-B1B8-F338AEB2ECE5}"/>
              </a:ext>
            </a:extLst>
          </p:cNvPr>
          <p:cNvSpPr>
            <a:spLocks xmlns:a="http://schemas.openxmlformats.org/drawingml/2006/main" noGrp="1"/>
          </p:cNvSpPr>
          <p:nvPr/>
        </p:nvSpPr>
        <p:spPr>
          <a:xfrm xmlns:a="http://schemas.openxmlformats.org/drawingml/2006/main">
            <a:off x="896112" y="411480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5A3A2E"/>
                </a:solidFill>
                <a:latin typeface="Calibri"/>
                <a:ea typeface="Calibri"/>
                <a:cs typeface="Calibri"/>
              </a:rPr>
              <a:t>The rate at which a compiled region breaks its own registered contract — not the rate at which the agent's task outcome is wrong. The verifier is induced from the same traces the program was synthesized from.</a:t>
            </a:r>
          </a:p>
        </p:txBody>
      </p:sp>
      <p:sp>
        <p:nvSpPr>
          <p:cNvPr id="10" name="Shape 8">
            <a:extLst xmlns:a="http://schemas.openxmlformats.org/drawingml/2006/main">
              <a:ext uri="{FF2B5EF4-FFF2-40B4-BE49-F238E27FC236}">
                <a16:creationId xmlns:a16="http://schemas.microsoft.com/office/drawing/2014/main" id="{64DD237D-3F1B-44AB-93DC-AD9DA1ACAB52}"/>
              </a:ext>
            </a:extLst>
          </p:cNvPr>
          <p:cNvSpPr>
            <a:spLocks xmlns:a="http://schemas.openxmlformats.org/drawingml/2006/main" noGrp="1"/>
          </p:cNvSpPr>
          <p:nvPr/>
        </p:nvSpPr>
        <p:spPr>
          <a:xfrm xmlns:a="http://schemas.openxmlformats.org/drawingml/2006/main">
            <a:off x="6903720" y="1426464"/>
            <a:ext cx="4647895" cy="3547872"/>
          </a:xfrm>
          <a:prstGeom xmlns:a="http://schemas.openxmlformats.org/drawingml/2006/main" prst="roundRect">
            <a:avLst>
              <a:gd name="adj" fmla="val 1289"/>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07508A58-1D3A-4839-B4B8-78D2BAD5A646}"/>
              </a:ext>
            </a:extLst>
          </p:cNvPr>
          <p:cNvSpPr>
            <a:spLocks xmlns:a="http://schemas.openxmlformats.org/drawingml/2006/main" noGrp="1"/>
          </p:cNvSpPr>
          <p:nvPr/>
        </p:nvSpPr>
        <p:spPr>
          <a:xfrm xmlns:a="http://schemas.openxmlformats.org/drawingml/2006/main">
            <a:off x="7178040" y="1609344"/>
            <a:ext cx="409925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SAMPLE REQUIREMENT AT THE CONFIGURED SETTING</a:t>
            </a:r>
          </a:p>
        </p:txBody>
      </p:sp>
      <p:sp>
        <p:nvSpPr>
          <p:cNvPr id="12" name="Text 10">
            <a:extLst xmlns:a="http://schemas.openxmlformats.org/drawingml/2006/main">
              <a:ext uri="{FF2B5EF4-FFF2-40B4-BE49-F238E27FC236}">
                <a16:creationId xmlns:a16="http://schemas.microsoft.com/office/drawing/2014/main" id="{7B759EC5-3A3D-466B-AAE3-0CB31AED46EB}"/>
              </a:ext>
            </a:extLst>
          </p:cNvPr>
          <p:cNvSpPr>
            <a:spLocks xmlns:a="http://schemas.openxmlformats.org/drawingml/2006/main" noGrp="1"/>
          </p:cNvSpPr>
          <p:nvPr/>
        </p:nvSpPr>
        <p:spPr>
          <a:xfrm xmlns:a="http://schemas.openxmlformats.org/drawingml/2006/main">
            <a:off x="7178040" y="1938528"/>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α = .05</a:t>
            </a:r>
          </a:p>
        </p:txBody>
      </p:sp>
      <p:sp>
        <p:nvSpPr>
          <p:cNvPr id="13" name="Text 11">
            <a:extLst xmlns:a="http://schemas.openxmlformats.org/drawingml/2006/main">
              <a:ext uri="{FF2B5EF4-FFF2-40B4-BE49-F238E27FC236}">
                <a16:creationId xmlns:a16="http://schemas.microsoft.com/office/drawing/2014/main" id="{AE0EB1C8-71F2-4A26-9CFB-AD011CE21C71}"/>
              </a:ext>
            </a:extLst>
          </p:cNvPr>
          <p:cNvSpPr>
            <a:spLocks xmlns:a="http://schemas.openxmlformats.org/drawingml/2006/main" noGrp="1"/>
          </p:cNvSpPr>
          <p:nvPr/>
        </p:nvSpPr>
        <p:spPr>
          <a:xfrm xmlns:a="http://schemas.openxmlformats.org/drawingml/2006/main">
            <a:off x="8595360" y="1938528"/>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F767A"/>
                </a:solidFill>
                <a:latin typeface="Calibri"/>
                <a:ea typeface="Calibri"/>
                <a:cs typeface="Calibri"/>
              </a:rPr>
              <a:t>risk budget</a:t>
            </a:r>
          </a:p>
        </p:txBody>
      </p:sp>
      <p:sp>
        <p:nvSpPr>
          <p:cNvPr id="14" name="Text 12">
            <a:extLst xmlns:a="http://schemas.openxmlformats.org/drawingml/2006/main">
              <a:ext uri="{FF2B5EF4-FFF2-40B4-BE49-F238E27FC236}">
                <a16:creationId xmlns:a16="http://schemas.microsoft.com/office/drawing/2014/main" id="{946D1B34-B469-45F9-9214-0C3352EA6534}"/>
              </a:ext>
            </a:extLst>
          </p:cNvPr>
          <p:cNvSpPr>
            <a:spLocks xmlns:a="http://schemas.openxmlformats.org/drawingml/2006/main" noGrp="1"/>
          </p:cNvSpPr>
          <p:nvPr/>
        </p:nvSpPr>
        <p:spPr>
          <a:xfrm xmlns:a="http://schemas.openxmlformats.org/drawingml/2006/main">
            <a:off x="7178040" y="234086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δ = .10</a:t>
            </a:r>
          </a:p>
        </p:txBody>
      </p:sp>
      <p:sp>
        <p:nvSpPr>
          <p:cNvPr id="15" name="Text 13">
            <a:extLst xmlns:a="http://schemas.openxmlformats.org/drawingml/2006/main">
              <a:ext uri="{FF2B5EF4-FFF2-40B4-BE49-F238E27FC236}">
                <a16:creationId xmlns:a16="http://schemas.microsoft.com/office/drawing/2014/main" id="{CCC96CF4-039D-4451-9D33-8929052066B9}"/>
              </a:ext>
            </a:extLst>
          </p:cNvPr>
          <p:cNvSpPr>
            <a:spLocks xmlns:a="http://schemas.openxmlformats.org/drawingml/2006/main" noGrp="1"/>
          </p:cNvSpPr>
          <p:nvPr/>
        </p:nvSpPr>
        <p:spPr>
          <a:xfrm xmlns:a="http://schemas.openxmlformats.org/drawingml/2006/main">
            <a:off x="8595360" y="2340864"/>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F767A"/>
                </a:solidFill>
                <a:latin typeface="Calibri"/>
                <a:ea typeface="Calibri"/>
                <a:cs typeface="Calibri"/>
              </a:rPr>
              <a:t>confidence budget</a:t>
            </a:r>
          </a:p>
        </p:txBody>
      </p:sp>
      <p:sp>
        <p:nvSpPr>
          <p:cNvPr id="16" name="Text 14">
            <a:extLst xmlns:a="http://schemas.openxmlformats.org/drawingml/2006/main">
              <a:ext uri="{FF2B5EF4-FFF2-40B4-BE49-F238E27FC236}">
                <a16:creationId xmlns:a16="http://schemas.microsoft.com/office/drawing/2014/main" id="{461077D5-0308-4015-BA67-DE5C7AC718C0}"/>
              </a:ext>
            </a:extLst>
          </p:cNvPr>
          <p:cNvSpPr>
            <a:spLocks xmlns:a="http://schemas.openxmlformats.org/drawingml/2006/main" noGrp="1"/>
          </p:cNvSpPr>
          <p:nvPr/>
        </p:nvSpPr>
        <p:spPr>
          <a:xfrm xmlns:a="http://schemas.openxmlformats.org/drawingml/2006/main">
            <a:off x="7178040" y="274320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|Λ| = 11</a:t>
            </a:r>
          </a:p>
        </p:txBody>
      </p:sp>
      <p:sp>
        <p:nvSpPr>
          <p:cNvPr id="17" name="Text 15">
            <a:extLst xmlns:a="http://schemas.openxmlformats.org/drawingml/2006/main">
              <a:ext uri="{FF2B5EF4-FFF2-40B4-BE49-F238E27FC236}">
                <a16:creationId xmlns:a16="http://schemas.microsoft.com/office/drawing/2014/main" id="{4A7240D3-3B7C-4230-AAA6-C366D5327DAA}"/>
              </a:ext>
            </a:extLst>
          </p:cNvPr>
          <p:cNvSpPr>
            <a:spLocks xmlns:a="http://schemas.openxmlformats.org/drawingml/2006/main" noGrp="1"/>
          </p:cNvSpPr>
          <p:nvPr/>
        </p:nvSpPr>
        <p:spPr>
          <a:xfrm xmlns:a="http://schemas.openxmlformats.org/drawingml/2006/main">
            <a:off x="8595360" y="2743200"/>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F767A"/>
                </a:solidFill>
                <a:latin typeface="Calibri"/>
                <a:ea typeface="Calibri"/>
                <a:cs typeface="Calibri"/>
              </a:rPr>
              <a:t>frozen thresholds</a:t>
            </a:r>
          </a:p>
        </p:txBody>
      </p:sp>
      <p:sp>
        <p:nvSpPr>
          <p:cNvPr id="18" name="Shape 16">
            <a:extLst xmlns:a="http://schemas.openxmlformats.org/drawingml/2006/main">
              <a:ext uri="{FF2B5EF4-FFF2-40B4-BE49-F238E27FC236}">
                <a16:creationId xmlns:a16="http://schemas.microsoft.com/office/drawing/2014/main" id="{D1272C73-F7B4-4527-B93C-08FB54CE8A28}"/>
              </a:ext>
            </a:extLst>
          </p:cNvPr>
          <p:cNvSpPr>
            <a:spLocks xmlns:a="http://schemas.openxmlformats.org/drawingml/2006/main" noGrp="1"/>
          </p:cNvSpPr>
          <p:nvPr/>
        </p:nvSpPr>
        <p:spPr>
          <a:xfrm xmlns:a="http://schemas.openxmlformats.org/drawingml/2006/main">
            <a:off x="7178040" y="3200400"/>
            <a:ext cx="4099255" cy="0"/>
          </a:xfrm>
          <a:prstGeom xmlns:a="http://schemas.openxmlformats.org/drawingml/2006/main" prst="line">
            <a:avLst/>
          </a:prstGeom>
          <a:noFill xmlns:a="http://schemas.openxmlformats.org/drawingml/2006/main"/>
          <a:ln xmlns:a="http://schemas.openxmlformats.org/drawingml/2006/main" w="12700">
            <a:solidFill>
              <a:srgbClr val="DCE8EA"/>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87B60C6E-A039-4745-9A4A-38D727BC886D}"/>
              </a:ext>
            </a:extLst>
          </p:cNvPr>
          <p:cNvSpPr>
            <a:spLocks xmlns:a="http://schemas.openxmlformats.org/drawingml/2006/main" noGrp="1"/>
          </p:cNvSpPr>
          <p:nvPr/>
        </p:nvSpPr>
        <p:spPr>
          <a:xfrm xmlns:a="http://schemas.openxmlformats.org/drawingml/2006/main">
            <a:off x="7178040" y="3346704"/>
            <a:ext cx="13716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000" b="1">
                <a:solidFill>
                  <a:srgbClr val="17798A"/>
                </a:solidFill>
                <a:latin typeface="Cambria"/>
                <a:ea typeface="Cambria"/>
                <a:cs typeface="Cambria"/>
              </a:rPr>
              <a:t>92</a:t>
            </a:r>
          </a:p>
        </p:txBody>
      </p:sp>
      <p:sp>
        <p:nvSpPr>
          <p:cNvPr id="20" name="Text 18">
            <a:extLst xmlns:a="http://schemas.openxmlformats.org/drawingml/2006/main">
              <a:ext uri="{FF2B5EF4-FFF2-40B4-BE49-F238E27FC236}">
                <a16:creationId xmlns:a16="http://schemas.microsoft.com/office/drawing/2014/main" id="{A2D898AC-4A4D-422A-8079-550430C3B30F}"/>
              </a:ext>
            </a:extLst>
          </p:cNvPr>
          <p:cNvSpPr>
            <a:spLocks xmlns:a="http://schemas.openxmlformats.org/drawingml/2006/main" noGrp="1"/>
          </p:cNvSpPr>
          <p:nvPr/>
        </p:nvSpPr>
        <p:spPr>
          <a:xfrm xmlns:a="http://schemas.openxmlformats.org/drawingml/2006/main">
            <a:off x="8595360" y="3383280"/>
            <a:ext cx="263621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2A4247"/>
                </a:solidFill>
                <a:latin typeface="Calibri"/>
                <a:ea typeface="Calibri"/>
                <a:cs typeface="Calibri"/>
              </a:rPr>
              <a:t>independent zero-violation group records needed before any artifact can be admitted</a:t>
            </a:r>
          </a:p>
        </p:txBody>
      </p:sp>
      <p:sp>
        <p:nvSpPr>
          <p:cNvPr id="21" name="Text 19">
            <a:extLst xmlns:a="http://schemas.openxmlformats.org/drawingml/2006/main">
              <a:ext uri="{FF2B5EF4-FFF2-40B4-BE49-F238E27FC236}">
                <a16:creationId xmlns:a16="http://schemas.microsoft.com/office/drawing/2014/main" id="{CBD254C8-1F47-43AF-8990-B56F72B44277}"/>
              </a:ext>
            </a:extLst>
          </p:cNvPr>
          <p:cNvSpPr>
            <a:spLocks xmlns:a="http://schemas.openxmlformats.org/drawingml/2006/main" noGrp="1"/>
          </p:cNvSpPr>
          <p:nvPr/>
        </p:nvSpPr>
        <p:spPr>
          <a:xfrm xmlns:a="http://schemas.openxmlformats.org/drawingml/2006/main">
            <a:off x="7178040" y="4206240"/>
            <a:ext cx="409925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F767A"/>
                </a:solidFill>
                <a:latin typeface="Calibri"/>
                <a:ea typeface="Calibri"/>
                <a:cs typeface="Calibri"/>
              </a:rPr>
              <a:t>A design parameter as much as a data property: pre-committing to a single threshold instead of a grid of eleven drops the requirement to 45.</a:t>
            </a:r>
          </a:p>
        </p:txBody>
      </p:sp>
      <p:sp>
        <p:nvSpPr>
          <p:cNvPr id="22" name="Shape 20">
            <a:extLst xmlns:a="http://schemas.openxmlformats.org/drawingml/2006/main">
              <a:ext uri="{FF2B5EF4-FFF2-40B4-BE49-F238E27FC236}">
                <a16:creationId xmlns:a16="http://schemas.microsoft.com/office/drawing/2014/main" id="{510D53D7-6561-4FEE-B4FC-38775C9D3EC9}"/>
              </a:ext>
            </a:extLst>
          </p:cNvPr>
          <p:cNvSpPr>
            <a:spLocks xmlns:a="http://schemas.openxmlformats.org/drawingml/2006/main" noGrp="1"/>
          </p:cNvSpPr>
          <p:nvPr/>
        </p:nvSpPr>
        <p:spPr>
          <a:xfrm xmlns:a="http://schemas.openxmlformats.org/drawingml/2006/main">
            <a:off x="640080" y="5138928"/>
            <a:ext cx="10911535" cy="914400"/>
          </a:xfrm>
          <a:prstGeom xmlns:a="http://schemas.openxmlformats.org/drawingml/2006/main" prst="roundRect">
            <a:avLst>
              <a:gd name="adj" fmla="val 5000"/>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6E7D7C06-43F3-4C1B-9618-920565E54FE0}"/>
              </a:ext>
            </a:extLst>
          </p:cNvPr>
          <p:cNvSpPr>
            <a:spLocks xmlns:a="http://schemas.openxmlformats.org/drawingml/2006/main" noGrp="1"/>
          </p:cNvSpPr>
          <p:nvPr/>
        </p:nvSpPr>
        <p:spPr>
          <a:xfrm xmlns:a="http://schemas.openxmlformats.org/drawingml/2006/main">
            <a:off x="914400" y="5248656"/>
            <a:ext cx="1036289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0D4A54"/>
                </a:solidFill>
                <a:latin typeface="Calibri"/>
                <a:ea typeface="Calibri"/>
                <a:cs typeface="Calibri"/>
              </a:rPr>
              <a:t>Independence is load-bearing. </a:t>
            </a:r>
            <a:r>
              <a:rPr sz="1200">
                <a:solidFill>
                  <a:srgbClr val="2A4247"/>
                </a:solidFill>
                <a:latin typeface="Calibri"/>
                <a:ea typeface="Calibri"/>
                <a:cs typeface="Calibri"/>
              </a:rPr>
              <a:t>Groups from one repository, tenant, or time window are plausibly correlated; a clustered deployment must calibrate at the cluster level and check sensitivity with a block bootstrap or a beta-binomial model.</a:t>
            </a:r>
          </a:p>
        </p:txBody>
      </p:sp>
    </p:spTree>
    <p:extLst>
      <p:ext uri="{BB962C8B-B14F-4D97-AF65-F5344CB8AC3E}">
        <p14:creationId xmlns:p14="http://schemas.microsoft.com/office/powerpoint/2010/main" val="111801618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E86C07A-591F-49BB-9175-DD64C7B7BCAB}"/>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733B092-B919-4AF5-91EB-2BE374378B3F}"/>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12</a:t>
            </a:r>
          </a:p>
        </p:txBody>
      </p:sp>
      <p:sp>
        <p:nvSpPr>
          <p:cNvPr id="4" name="Text 2">
            <a:extLst xmlns:a="http://schemas.openxmlformats.org/drawingml/2006/main">
              <a:ext uri="{FF2B5EF4-FFF2-40B4-BE49-F238E27FC236}">
                <a16:creationId xmlns:a16="http://schemas.microsoft.com/office/drawing/2014/main" id="{98AB1D36-11AB-4CF1-9926-C9F6488AD2C0}"/>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REJECTION POINT 3</a:t>
            </a:r>
          </a:p>
        </p:txBody>
      </p:sp>
      <p:sp>
        <p:nvSpPr>
          <p:cNvPr id="5" name="Text 3">
            <a:extLst xmlns:a="http://schemas.openxmlformats.org/drawingml/2006/main">
              <a:ext uri="{FF2B5EF4-FFF2-40B4-BE49-F238E27FC236}">
                <a16:creationId xmlns:a16="http://schemas.microsoft.com/office/drawing/2014/main" id="{BB33693F-040B-443A-979D-CE4BF17743DD}"/>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Decline a workload before you build a compiler for it</a:t>
            </a:r>
          </a:p>
        </p:txBody>
      </p:sp>
      <p:sp>
        <p:nvSpPr>
          <p:cNvPr id="6" name="Text 4">
            <a:extLst xmlns:a="http://schemas.openxmlformats.org/drawingml/2006/main">
              <a:ext uri="{FF2B5EF4-FFF2-40B4-BE49-F238E27FC236}">
                <a16:creationId xmlns:a16="http://schemas.microsoft.com/office/drawing/2014/main" id="{CAB0D89D-DE54-463F-B4F2-31BD50BC9E8D}"/>
              </a:ext>
            </a:extLst>
          </p:cNvPr>
          <p:cNvSpPr>
            <a:spLocks xmlns:a="http://schemas.openxmlformats.org/drawingml/2006/main" noGrp="1"/>
          </p:cNvSpPr>
          <p:nvPr/>
        </p:nvSpPr>
        <p:spPr>
          <a:xfrm xmlns:a="http://schemas.openxmlformats.org/drawingml/2006/main">
            <a:off x="640080" y="1389888"/>
            <a:ext cx="6035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Before any synthesis runs, a feasibility estimator bounds what the compiler could achieve even with a perfect verifier and a gate that never abstains: the removable requests per dispatch, divided by the baseline requests per episode, scaled by the share of episodes holding an eligible region.</a:t>
            </a:r>
          </a:p>
        </p:txBody>
      </p:sp>
      <p:sp>
        <p:nvSpPr>
          <p:cNvPr id="7" name="Shape 5">
            <a:extLst xmlns:a="http://schemas.openxmlformats.org/drawingml/2006/main">
              <a:ext uri="{FF2B5EF4-FFF2-40B4-BE49-F238E27FC236}">
                <a16:creationId xmlns:a16="http://schemas.microsoft.com/office/drawing/2014/main" id="{BF62A44D-867B-471E-95B3-D68FDCBE3D60}"/>
              </a:ext>
            </a:extLst>
          </p:cNvPr>
          <p:cNvSpPr>
            <a:spLocks xmlns:a="http://schemas.openxmlformats.org/drawingml/2006/main" noGrp="1"/>
          </p:cNvSpPr>
          <p:nvPr/>
        </p:nvSpPr>
        <p:spPr>
          <a:xfrm xmlns:a="http://schemas.openxmlformats.org/drawingml/2006/main">
            <a:off x="640080" y="2880360"/>
            <a:ext cx="6035040" cy="1371600"/>
          </a:xfrm>
          <a:prstGeom xmlns:a="http://schemas.openxmlformats.org/drawingml/2006/main" prst="roundRect">
            <a:avLst>
              <a:gd name="adj" fmla="val 3333"/>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6987F948-CCAD-4E61-925C-0E9EBB201D95}"/>
              </a:ext>
            </a:extLst>
          </p:cNvPr>
          <p:cNvSpPr>
            <a:spLocks xmlns:a="http://schemas.openxmlformats.org/drawingml/2006/main" noGrp="1"/>
          </p:cNvSpPr>
          <p:nvPr/>
        </p:nvSpPr>
        <p:spPr>
          <a:xfrm xmlns:a="http://schemas.openxmlformats.org/drawingml/2006/main">
            <a:off x="932688" y="3054096"/>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i="1">
                <a:solidFill>
                  <a:srgbClr val="0D4A54"/>
                </a:solidFill>
                <a:latin typeface="Cambria"/>
                <a:ea typeface="Cambria"/>
                <a:cs typeface="Cambria"/>
              </a:rPr>
              <a:t>Δmax  =  φ k / nᴮ</a:t>
            </a:r>
          </a:p>
        </p:txBody>
      </p:sp>
      <p:sp>
        <p:nvSpPr>
          <p:cNvPr id="9" name="Text 7">
            <a:extLst xmlns:a="http://schemas.openxmlformats.org/drawingml/2006/main">
              <a:ext uri="{FF2B5EF4-FFF2-40B4-BE49-F238E27FC236}">
                <a16:creationId xmlns:a16="http://schemas.microsoft.com/office/drawing/2014/main" id="{68FF03E1-0A28-4AD9-870B-33ADD2B4C505}"/>
              </a:ext>
            </a:extLst>
          </p:cNvPr>
          <p:cNvSpPr>
            <a:spLocks xmlns:a="http://schemas.openxmlformats.org/drawingml/2006/main" noGrp="1"/>
          </p:cNvSpPr>
          <p:nvPr/>
        </p:nvSpPr>
        <p:spPr>
          <a:xfrm xmlns:a="http://schemas.openxmlformats.org/drawingml/2006/main">
            <a:off x="932688" y="3584448"/>
            <a:ext cx="5486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5F767A"/>
                </a:solidFill>
                <a:latin typeface="Calibri"/>
                <a:ea typeface="Calibri"/>
                <a:cs typeface="Calibri"/>
              </a:rPr>
              <a:t>φ = share of eligible episodes  ·  k = requests removed per dispatch  ·  nᴮ = baseline requests per episode</a:t>
            </a:r>
          </a:p>
        </p:txBody>
      </p:sp>
      <p:sp>
        <p:nvSpPr>
          <p:cNvPr id="10" name="Shape 8">
            <a:extLst xmlns:a="http://schemas.openxmlformats.org/drawingml/2006/main">
              <a:ext uri="{FF2B5EF4-FFF2-40B4-BE49-F238E27FC236}">
                <a16:creationId xmlns:a16="http://schemas.microsoft.com/office/drawing/2014/main" id="{9FC73853-ACA0-4DE8-B4C3-FC07572C407A}"/>
              </a:ext>
            </a:extLst>
          </p:cNvPr>
          <p:cNvSpPr>
            <a:spLocks xmlns:a="http://schemas.openxmlformats.org/drawingml/2006/main" noGrp="1"/>
          </p:cNvSpPr>
          <p:nvPr/>
        </p:nvSpPr>
        <p:spPr>
          <a:xfrm xmlns:a="http://schemas.openxmlformats.org/drawingml/2006/main">
            <a:off x="640080" y="4526280"/>
            <a:ext cx="6035040" cy="1243584"/>
          </a:xfrm>
          <a:prstGeom xmlns:a="http://schemas.openxmlformats.org/drawingml/2006/main" prst="roundRect">
            <a:avLst>
              <a:gd name="adj" fmla="val 367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556C5960-894E-460A-83E7-A866C5CF8F46}"/>
              </a:ext>
            </a:extLst>
          </p:cNvPr>
          <p:cNvSpPr>
            <a:spLocks xmlns:a="http://schemas.openxmlformats.org/drawingml/2006/main" noGrp="1"/>
          </p:cNvSpPr>
          <p:nvPr/>
        </p:nvSpPr>
        <p:spPr>
          <a:xfrm xmlns:a="http://schemas.openxmlformats.org/drawingml/2006/main">
            <a:off x="932688" y="4681728"/>
            <a:ext cx="5486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300">
                <a:solidFill>
                  <a:srgbClr val="2A4247"/>
                </a:solidFill>
                <a:latin typeface="Calibri"/>
                <a:ea typeface="Calibri"/>
                <a:cs typeface="Calibri"/>
              </a:rPr>
              <a:t>A workload whose ceiling is under the target can be declined without building a compiler for it — which makes a decisive negative answer cheap.</a:t>
            </a:r>
          </a:p>
        </p:txBody>
      </p:sp>
      <p:sp>
        <p:nvSpPr>
          <p:cNvPr id="12" name="Shape 10">
            <a:extLst xmlns:a="http://schemas.openxmlformats.org/drawingml/2006/main">
              <a:ext uri="{FF2B5EF4-FFF2-40B4-BE49-F238E27FC236}">
                <a16:creationId xmlns:a16="http://schemas.microsoft.com/office/drawing/2014/main" id="{5919E2FA-6F65-4E57-86D9-A4E174944757}"/>
              </a:ext>
            </a:extLst>
          </p:cNvPr>
          <p:cNvSpPr>
            <a:spLocks xmlns:a="http://schemas.openxmlformats.org/drawingml/2006/main" noGrp="1"/>
          </p:cNvSpPr>
          <p:nvPr/>
        </p:nvSpPr>
        <p:spPr>
          <a:xfrm xmlns:a="http://schemas.openxmlformats.org/drawingml/2006/main">
            <a:off x="7086600" y="1389888"/>
            <a:ext cx="4465015" cy="4379976"/>
          </a:xfrm>
          <a:prstGeom xmlns:a="http://schemas.openxmlformats.org/drawingml/2006/main" prst="roundRect">
            <a:avLst>
              <a:gd name="adj" fmla="val 1044"/>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766ACDA5-ED38-4AD3-88D1-02C95394B716}"/>
              </a:ext>
            </a:extLst>
          </p:cNvPr>
          <p:cNvSpPr>
            <a:spLocks xmlns:a="http://schemas.openxmlformats.org/drawingml/2006/main" noGrp="1"/>
          </p:cNvSpPr>
          <p:nvPr/>
        </p:nvSpPr>
        <p:spPr>
          <a:xfrm xmlns:a="http://schemas.openxmlformats.org/drawingml/2006/main">
            <a:off x="7360920" y="1572768"/>
            <a:ext cx="391637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WORKED EXAMPLE — THE FIXED-PREFIX GITHUB STUDY</a:t>
            </a:r>
          </a:p>
        </p:txBody>
      </p:sp>
      <p:sp>
        <p:nvSpPr>
          <p:cNvPr id="14" name="Text 12">
            <a:extLst xmlns:a="http://schemas.openxmlformats.org/drawingml/2006/main">
              <a:ext uri="{FF2B5EF4-FFF2-40B4-BE49-F238E27FC236}">
                <a16:creationId xmlns:a16="http://schemas.microsoft.com/office/drawing/2014/main" id="{0F321875-59B8-4FD0-A1CF-F3DB7BD76E92}"/>
              </a:ext>
            </a:extLst>
          </p:cNvPr>
          <p:cNvSpPr>
            <a:spLocks xmlns:a="http://schemas.openxmlformats.org/drawingml/2006/main" noGrp="1"/>
          </p:cNvSpPr>
          <p:nvPr/>
        </p:nvSpPr>
        <p:spPr>
          <a:xfrm xmlns:a="http://schemas.openxmlformats.org/drawingml/2006/main">
            <a:off x="7360920" y="19202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D4A54"/>
                </a:solidFill>
                <a:latin typeface="Cambria"/>
                <a:ea typeface="Cambria"/>
                <a:cs typeface="Cambria"/>
              </a:rPr>
              <a:t>φ = 1</a:t>
            </a:r>
          </a:p>
        </p:txBody>
      </p:sp>
      <p:sp>
        <p:nvSpPr>
          <p:cNvPr id="15" name="Text 13">
            <a:extLst xmlns:a="http://schemas.openxmlformats.org/drawingml/2006/main">
              <a:ext uri="{FF2B5EF4-FFF2-40B4-BE49-F238E27FC236}">
                <a16:creationId xmlns:a16="http://schemas.microsoft.com/office/drawing/2014/main" id="{86D83CF8-D836-4B03-9F3E-FB021E8816E0}"/>
              </a:ext>
            </a:extLst>
          </p:cNvPr>
          <p:cNvSpPr>
            <a:spLocks xmlns:a="http://schemas.openxmlformats.org/drawingml/2006/main" noGrp="1"/>
          </p:cNvSpPr>
          <p:nvPr/>
        </p:nvSpPr>
        <p:spPr>
          <a:xfrm xmlns:a="http://schemas.openxmlformats.org/drawingml/2006/main">
            <a:off x="8503920" y="19202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every episode holds an eligible region</a:t>
            </a:r>
          </a:p>
        </p:txBody>
      </p:sp>
      <p:sp>
        <p:nvSpPr>
          <p:cNvPr id="16" name="Text 14">
            <a:extLst xmlns:a="http://schemas.openxmlformats.org/drawingml/2006/main">
              <a:ext uri="{FF2B5EF4-FFF2-40B4-BE49-F238E27FC236}">
                <a16:creationId xmlns:a16="http://schemas.microsoft.com/office/drawing/2014/main" id="{5FCBCC7D-8FB6-4664-B089-6C4BF43669A2}"/>
              </a:ext>
            </a:extLst>
          </p:cNvPr>
          <p:cNvSpPr>
            <a:spLocks xmlns:a="http://schemas.openxmlformats.org/drawingml/2006/main" noGrp="1"/>
          </p:cNvSpPr>
          <p:nvPr/>
        </p:nvSpPr>
        <p:spPr>
          <a:xfrm xmlns:a="http://schemas.openxmlformats.org/drawingml/2006/main">
            <a:off x="7360920" y="23774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D4A54"/>
                </a:solidFill>
                <a:latin typeface="Cambria"/>
                <a:ea typeface="Cambria"/>
                <a:cs typeface="Cambria"/>
              </a:rPr>
              <a:t>k = 3</a:t>
            </a:r>
          </a:p>
        </p:txBody>
      </p:sp>
      <p:sp>
        <p:nvSpPr>
          <p:cNvPr id="17" name="Text 15">
            <a:extLst xmlns:a="http://schemas.openxmlformats.org/drawingml/2006/main">
              <a:ext uri="{FF2B5EF4-FFF2-40B4-BE49-F238E27FC236}">
                <a16:creationId xmlns:a16="http://schemas.microsoft.com/office/drawing/2014/main" id="{C6DE87CA-02AA-4251-BA2F-F5319D34C0EA}"/>
              </a:ext>
            </a:extLst>
          </p:cNvPr>
          <p:cNvSpPr>
            <a:spLocks xmlns:a="http://schemas.openxmlformats.org/drawingml/2006/main" noGrp="1"/>
          </p:cNvSpPr>
          <p:nvPr/>
        </p:nvSpPr>
        <p:spPr>
          <a:xfrm xmlns:a="http://schemas.openxmlformats.org/drawingml/2006/main">
            <a:off x="8503920" y="23774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three model requests removable</a:t>
            </a:r>
          </a:p>
        </p:txBody>
      </p:sp>
      <p:sp>
        <p:nvSpPr>
          <p:cNvPr id="18" name="Text 16">
            <a:extLst xmlns:a="http://schemas.openxmlformats.org/drawingml/2006/main">
              <a:ext uri="{FF2B5EF4-FFF2-40B4-BE49-F238E27FC236}">
                <a16:creationId xmlns:a16="http://schemas.microsoft.com/office/drawing/2014/main" id="{17071821-A321-4D3D-8190-D76076BAA12A}"/>
              </a:ext>
            </a:extLst>
          </p:cNvPr>
          <p:cNvSpPr>
            <a:spLocks xmlns:a="http://schemas.openxmlformats.org/drawingml/2006/main" noGrp="1"/>
          </p:cNvSpPr>
          <p:nvPr/>
        </p:nvSpPr>
        <p:spPr>
          <a:xfrm xmlns:a="http://schemas.openxmlformats.org/drawingml/2006/main">
            <a:off x="7360920" y="28346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D4A54"/>
                </a:solidFill>
                <a:latin typeface="Cambria"/>
                <a:ea typeface="Cambria"/>
                <a:cs typeface="Cambria"/>
              </a:rPr>
              <a:t>nᴮ = 4</a:t>
            </a:r>
          </a:p>
        </p:txBody>
      </p:sp>
      <p:sp>
        <p:nvSpPr>
          <p:cNvPr id="19" name="Text 17">
            <a:extLst xmlns:a="http://schemas.openxmlformats.org/drawingml/2006/main">
              <a:ext uri="{FF2B5EF4-FFF2-40B4-BE49-F238E27FC236}">
                <a16:creationId xmlns:a16="http://schemas.microsoft.com/office/drawing/2014/main" id="{E4D2923F-8807-4A01-8FCA-B59502314FC0}"/>
              </a:ext>
            </a:extLst>
          </p:cNvPr>
          <p:cNvSpPr>
            <a:spLocks xmlns:a="http://schemas.openxmlformats.org/drawingml/2006/main" noGrp="1"/>
          </p:cNvSpPr>
          <p:nvPr/>
        </p:nvSpPr>
        <p:spPr>
          <a:xfrm xmlns:a="http://schemas.openxmlformats.org/drawingml/2006/main">
            <a:off x="8503920" y="28346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four baseline requests per episode</a:t>
            </a:r>
          </a:p>
        </p:txBody>
      </p:sp>
      <p:sp>
        <p:nvSpPr>
          <p:cNvPr id="20" name="Shape 18">
            <a:extLst xmlns:a="http://schemas.openxmlformats.org/drawingml/2006/main">
              <a:ext uri="{FF2B5EF4-FFF2-40B4-BE49-F238E27FC236}">
                <a16:creationId xmlns:a16="http://schemas.microsoft.com/office/drawing/2014/main" id="{42E04EC7-1CEE-4402-AB1A-E3413098AD46}"/>
              </a:ext>
            </a:extLst>
          </p:cNvPr>
          <p:cNvSpPr>
            <a:spLocks xmlns:a="http://schemas.openxmlformats.org/drawingml/2006/main" noGrp="1"/>
          </p:cNvSpPr>
          <p:nvPr/>
        </p:nvSpPr>
        <p:spPr>
          <a:xfrm xmlns:a="http://schemas.openxmlformats.org/drawingml/2006/main">
            <a:off x="7360920" y="3364992"/>
            <a:ext cx="3916375" cy="0"/>
          </a:xfrm>
          <a:prstGeom xmlns:a="http://schemas.openxmlformats.org/drawingml/2006/main" prst="line">
            <a:avLst/>
          </a:prstGeom>
          <a:noFill xmlns:a="http://schemas.openxmlformats.org/drawingml/2006/main"/>
          <a:ln xmlns:a="http://schemas.openxmlformats.org/drawingml/2006/main" w="12700">
            <a:solidFill>
              <a:srgbClr val="DCE8EA"/>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CC8C1DBB-C8B5-4749-A7DE-3BA2B310A8DB}"/>
              </a:ext>
            </a:extLst>
          </p:cNvPr>
          <p:cNvSpPr>
            <a:spLocks xmlns:a="http://schemas.openxmlformats.org/drawingml/2006/main" noGrp="1"/>
          </p:cNvSpPr>
          <p:nvPr/>
        </p:nvSpPr>
        <p:spPr>
          <a:xfrm xmlns:a="http://schemas.openxmlformats.org/drawingml/2006/main">
            <a:off x="7360920"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0D4A54"/>
                </a:solidFill>
                <a:latin typeface="Cambria"/>
                <a:ea typeface="Cambria"/>
                <a:cs typeface="Cambria"/>
              </a:rPr>
              <a:t>0.750</a:t>
            </a:r>
          </a:p>
        </p:txBody>
      </p:sp>
      <p:sp>
        <p:nvSpPr>
          <p:cNvPr id="22" name="Text 20">
            <a:extLst xmlns:a="http://schemas.openxmlformats.org/drawingml/2006/main">
              <a:ext uri="{FF2B5EF4-FFF2-40B4-BE49-F238E27FC236}">
                <a16:creationId xmlns:a16="http://schemas.microsoft.com/office/drawing/2014/main" id="{685817D0-7222-4F63-898F-1D27A49208A6}"/>
              </a:ext>
            </a:extLst>
          </p:cNvPr>
          <p:cNvSpPr>
            <a:spLocks xmlns:a="http://schemas.openxmlformats.org/drawingml/2006/main" noGrp="1"/>
          </p:cNvSpPr>
          <p:nvPr/>
        </p:nvSpPr>
        <p:spPr>
          <a:xfrm xmlns:a="http://schemas.openxmlformats.org/drawingml/2006/main">
            <a:off x="7360920"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theoretical ceiling</a:t>
            </a:r>
          </a:p>
        </p:txBody>
      </p:sp>
      <p:sp>
        <p:nvSpPr>
          <p:cNvPr id="23" name="Text 21">
            <a:extLst xmlns:a="http://schemas.openxmlformats.org/drawingml/2006/main">
              <a:ext uri="{FF2B5EF4-FFF2-40B4-BE49-F238E27FC236}">
                <a16:creationId xmlns:a16="http://schemas.microsoft.com/office/drawing/2014/main" id="{8470BE62-3847-46DD-B0FF-3E074E97D0C7}"/>
              </a:ext>
            </a:extLst>
          </p:cNvPr>
          <p:cNvSpPr>
            <a:spLocks xmlns:a="http://schemas.openxmlformats.org/drawingml/2006/main" noGrp="1"/>
          </p:cNvSpPr>
          <p:nvPr/>
        </p:nvSpPr>
        <p:spPr>
          <a:xfrm xmlns:a="http://schemas.openxmlformats.org/drawingml/2006/main">
            <a:off x="9319108"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17798A"/>
                </a:solidFill>
                <a:latin typeface="Cambria"/>
                <a:ea typeface="Cambria"/>
                <a:cs typeface="Cambria"/>
              </a:rPr>
              <a:t>75.0%</a:t>
            </a:r>
          </a:p>
        </p:txBody>
      </p:sp>
      <p:sp>
        <p:nvSpPr>
          <p:cNvPr id="24" name="Text 22">
            <a:extLst xmlns:a="http://schemas.openxmlformats.org/drawingml/2006/main">
              <a:ext uri="{FF2B5EF4-FFF2-40B4-BE49-F238E27FC236}">
                <a16:creationId xmlns:a16="http://schemas.microsoft.com/office/drawing/2014/main" id="{82FC4435-A1CE-4234-B1FB-8D24D4C41ECA}"/>
              </a:ext>
            </a:extLst>
          </p:cNvPr>
          <p:cNvSpPr>
            <a:spLocks xmlns:a="http://schemas.openxmlformats.org/drawingml/2006/main" noGrp="1"/>
          </p:cNvSpPr>
          <p:nvPr/>
        </p:nvSpPr>
        <p:spPr>
          <a:xfrm xmlns:a="http://schemas.openxmlformats.org/drawingml/2006/main">
            <a:off x="9319108"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measured reduction</a:t>
            </a:r>
          </a:p>
        </p:txBody>
      </p:sp>
      <p:sp>
        <p:nvSpPr>
          <p:cNvPr id="25" name="Text 23">
            <a:extLst xmlns:a="http://schemas.openxmlformats.org/drawingml/2006/main">
              <a:ext uri="{FF2B5EF4-FFF2-40B4-BE49-F238E27FC236}">
                <a16:creationId xmlns:a16="http://schemas.microsoft.com/office/drawing/2014/main" id="{66BBD99E-6633-484F-B3A3-BA32DC787BA8}"/>
              </a:ext>
            </a:extLst>
          </p:cNvPr>
          <p:cNvSpPr>
            <a:spLocks xmlns:a="http://schemas.openxmlformats.org/drawingml/2006/main" noGrp="1"/>
          </p:cNvSpPr>
          <p:nvPr/>
        </p:nvSpPr>
        <p:spPr>
          <a:xfrm xmlns:a="http://schemas.openxmlformats.org/drawingml/2006/main">
            <a:off x="7360920" y="4590288"/>
            <a:ext cx="3916375"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i="1">
                <a:solidFill>
                  <a:srgbClr val="5F767A"/>
                </a:solidFill>
                <a:latin typeface="Calibri"/>
                <a:ea typeface="Calibri"/>
                <a:cs typeface="Calibri"/>
              </a:rPr>
              <a:t>A saturated ceiling carries no information about the compiler — it confirms only that the task fully determined the region, which for this workload it does.</a:t>
            </a:r>
          </a:p>
        </p:txBody>
      </p:sp>
    </p:spTree>
    <p:extLst>
      <p:ext uri="{BB962C8B-B14F-4D97-AF65-F5344CB8AC3E}">
        <p14:creationId xmlns:p14="http://schemas.microsoft.com/office/powerpoint/2010/main" val="1666322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CAEA51C-DC04-4D9D-87F6-0E59747CAFC7}"/>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6AA6934-D180-4E1A-8BCB-95FF0466F7F2}"/>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13</a:t>
            </a:r>
          </a:p>
        </p:txBody>
      </p:sp>
      <p:sp>
        <p:nvSpPr>
          <p:cNvPr id="4" name="Text 2">
            <a:extLst xmlns:a="http://schemas.openxmlformats.org/drawingml/2006/main">
              <a:ext uri="{FF2B5EF4-FFF2-40B4-BE49-F238E27FC236}">
                <a16:creationId xmlns:a16="http://schemas.microsoft.com/office/drawing/2014/main" id="{BC4BF76D-A0E1-4A18-9A2A-0AC6728EF621}"/>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METHODOLOGY</a:t>
            </a:r>
          </a:p>
        </p:txBody>
      </p:sp>
      <p:sp>
        <p:nvSpPr>
          <p:cNvPr id="5" name="Text 3">
            <a:extLst xmlns:a="http://schemas.openxmlformats.org/drawingml/2006/main">
              <a:ext uri="{FF2B5EF4-FFF2-40B4-BE49-F238E27FC236}">
                <a16:creationId xmlns:a16="http://schemas.microsoft.com/office/drawing/2014/main" id="{1F58B325-E994-490C-BA2B-8F93BA541CAF}"/>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Three evidence tiers, ordered by what each can license</a:t>
            </a:r>
          </a:p>
        </p:txBody>
      </p:sp>
      <p:sp>
        <p:nvSpPr>
          <p:cNvPr id="6" name="Shape 4">
            <a:extLst xmlns:a="http://schemas.openxmlformats.org/drawingml/2006/main">
              <a:ext uri="{FF2B5EF4-FFF2-40B4-BE49-F238E27FC236}">
                <a16:creationId xmlns:a16="http://schemas.microsoft.com/office/drawing/2014/main" id="{50E463DE-BDA0-465C-87E8-8E0C5CFB33FF}"/>
              </a:ext>
            </a:extLst>
          </p:cNvPr>
          <p:cNvSpPr>
            <a:spLocks xmlns:a="http://schemas.openxmlformats.org/drawingml/2006/main" noGrp="1"/>
          </p:cNvSpPr>
          <p:nvPr/>
        </p:nvSpPr>
        <p:spPr>
          <a:xfrm xmlns:a="http://schemas.openxmlformats.org/drawingml/2006/main">
            <a:off x="640080" y="1371600"/>
            <a:ext cx="3442106" cy="3529584"/>
          </a:xfrm>
          <a:prstGeom xmlns:a="http://schemas.openxmlformats.org/drawingml/2006/main" prst="roundRect">
            <a:avLst>
              <a:gd name="adj" fmla="val 132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A1254E37-5F86-4DF0-B085-25E369769789}"/>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A540120B-0A62-42BC-A19A-7C6EA2B8D30A}"/>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1</a:t>
            </a:r>
          </a:p>
        </p:txBody>
      </p:sp>
      <p:sp>
        <p:nvSpPr>
          <p:cNvPr id="9" name="Text 7">
            <a:extLst xmlns:a="http://schemas.openxmlformats.org/drawingml/2006/main">
              <a:ext uri="{FF2B5EF4-FFF2-40B4-BE49-F238E27FC236}">
                <a16:creationId xmlns:a16="http://schemas.microsoft.com/office/drawing/2014/main" id="{8645A66B-D013-499C-AB17-B2C67B0E3706}"/>
              </a:ext>
            </a:extLst>
          </p:cNvPr>
          <p:cNvSpPr>
            <a:spLocks xmlns:a="http://schemas.openxmlformats.org/drawingml/2006/main" noGrp="1"/>
          </p:cNvSpPr>
          <p:nvPr/>
        </p:nvSpPr>
        <p:spPr>
          <a:xfrm xmlns:a="http://schemas.openxmlformats.org/drawingml/2006/main">
            <a:off x="914400"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D4A54"/>
                </a:solidFill>
                <a:latin typeface="Cambria"/>
                <a:ea typeface="Cambria"/>
                <a:cs typeface="Cambria"/>
              </a:rPr>
              <a:t>External executable benchmark</a:t>
            </a:r>
          </a:p>
        </p:txBody>
      </p:sp>
      <p:sp>
        <p:nvSpPr>
          <p:cNvPr id="10" name="Text 8">
            <a:extLst xmlns:a="http://schemas.openxmlformats.org/drawingml/2006/main">
              <a:ext uri="{FF2B5EF4-FFF2-40B4-BE49-F238E27FC236}">
                <a16:creationId xmlns:a16="http://schemas.microsoft.com/office/drawing/2014/main" id="{649AAE12-7C74-49E2-87A6-5CBB9B95B8C3}"/>
              </a:ext>
            </a:extLst>
          </p:cNvPr>
          <p:cNvSpPr>
            <a:spLocks xmlns:a="http://schemas.openxmlformats.org/drawingml/2006/main" noGrp="1"/>
          </p:cNvSpPr>
          <p:nvPr/>
        </p:nvSpPr>
        <p:spPr>
          <a:xfrm xmlns:a="http://schemas.openxmlformats.org/drawingml/2006/main">
            <a:off x="914400"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7798A"/>
                </a:solidFill>
                <a:latin typeface="Calibri"/>
                <a:ea typeface="Calibri"/>
                <a:cs typeface="Calibri"/>
              </a:rPr>
              <a:t>NESTFUL — 1,415 executable episodes</a:t>
            </a:r>
          </a:p>
        </p:txBody>
      </p:sp>
      <p:sp>
        <p:nvSpPr>
          <p:cNvPr id="11" name="Text 9">
            <a:extLst xmlns:a="http://schemas.openxmlformats.org/drawingml/2006/main">
              <a:ext uri="{FF2B5EF4-FFF2-40B4-BE49-F238E27FC236}">
                <a16:creationId xmlns:a16="http://schemas.microsoft.com/office/drawing/2014/main" id="{ADBF844C-35DF-4EA2-A038-10EC9CB81C1E}"/>
              </a:ext>
            </a:extLst>
          </p:cNvPr>
          <p:cNvSpPr>
            <a:spLocks xmlns:a="http://schemas.openxmlformats.org/drawingml/2006/main" noGrp="1"/>
          </p:cNvSpPr>
          <p:nvPr/>
        </p:nvSpPr>
        <p:spPr>
          <a:xfrm xmlns:a="http://schemas.openxmlformats.org/drawingml/2006/main">
            <a:off x="932688"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Tests dependency reconstruction, synthesis, and refusal on public data</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No model calls at all; provider-free and fully reproducible</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Cannot speak to live efficiency or task quality</a:t>
            </a:r>
          </a:p>
        </p:txBody>
      </p:sp>
      <p:sp>
        <p:nvSpPr>
          <p:cNvPr id="12" name="Shape 10">
            <a:extLst xmlns:a="http://schemas.openxmlformats.org/drawingml/2006/main">
              <a:ext uri="{FF2B5EF4-FFF2-40B4-BE49-F238E27FC236}">
                <a16:creationId xmlns:a16="http://schemas.microsoft.com/office/drawing/2014/main" id="{A6751F93-AD5C-4F41-A6AC-E0F03CE7D5D8}"/>
              </a:ext>
            </a:extLst>
          </p:cNvPr>
          <p:cNvSpPr>
            <a:spLocks xmlns:a="http://schemas.openxmlformats.org/drawingml/2006/main" noGrp="1"/>
          </p:cNvSpPr>
          <p:nvPr/>
        </p:nvSpPr>
        <p:spPr>
          <a:xfrm xmlns:a="http://schemas.openxmlformats.org/drawingml/2006/main">
            <a:off x="4374794" y="1371600"/>
            <a:ext cx="3442106" cy="3529584"/>
          </a:xfrm>
          <a:prstGeom xmlns:a="http://schemas.openxmlformats.org/drawingml/2006/main" prst="roundRect">
            <a:avLst>
              <a:gd name="adj" fmla="val 132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8B2633D1-EA65-4854-9655-E368A426EAC0}"/>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ellipse">
            <a:avLst/>
          </a:prstGeom>
          <a:solidFill xmlns:a="http://schemas.openxmlformats.org/drawingml/2006/main">
            <a:srgbClr val="0D4A54"/>
          </a:solidFill>
          <a:ln xmlns:a="http://schemas.openxmlformats.org/drawingml/2006/main" w="635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A250AEB4-F0FE-411D-99AD-719B0CAED966}"/>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2</a:t>
            </a:r>
          </a:p>
        </p:txBody>
      </p:sp>
      <p:sp>
        <p:nvSpPr>
          <p:cNvPr id="15" name="Text 13">
            <a:extLst xmlns:a="http://schemas.openxmlformats.org/drawingml/2006/main">
              <a:ext uri="{FF2B5EF4-FFF2-40B4-BE49-F238E27FC236}">
                <a16:creationId xmlns:a16="http://schemas.microsoft.com/office/drawing/2014/main" id="{01D15DEE-FE06-4E49-9EA1-C2EED0797F70}"/>
              </a:ext>
            </a:extLst>
          </p:cNvPr>
          <p:cNvSpPr>
            <a:spLocks xmlns:a="http://schemas.openxmlformats.org/drawingml/2006/main" noGrp="1"/>
          </p:cNvSpPr>
          <p:nvPr/>
        </p:nvSpPr>
        <p:spPr>
          <a:xfrm xmlns:a="http://schemas.openxmlformats.org/drawingml/2006/main">
            <a:off x="4649114"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D4A54"/>
                </a:solidFill>
                <a:latin typeface="Cambria"/>
                <a:ea typeface="Cambria"/>
                <a:cs typeface="Cambria"/>
              </a:rPr>
              <a:t>Real records, live provider</a:t>
            </a:r>
          </a:p>
        </p:txBody>
      </p:sp>
      <p:sp>
        <p:nvSpPr>
          <p:cNvPr id="16" name="Text 14">
            <a:extLst xmlns:a="http://schemas.openxmlformats.org/drawingml/2006/main">
              <a:ext uri="{FF2B5EF4-FFF2-40B4-BE49-F238E27FC236}">
                <a16:creationId xmlns:a16="http://schemas.microsoft.com/office/drawing/2014/main" id="{95B6FCBB-D89B-45EE-B331-68BAA9E00872}"/>
              </a:ext>
            </a:extLst>
          </p:cNvPr>
          <p:cNvSpPr>
            <a:spLocks xmlns:a="http://schemas.openxmlformats.org/drawingml/2006/main" noGrp="1"/>
          </p:cNvSpPr>
          <p:nvPr/>
        </p:nvSpPr>
        <p:spPr>
          <a:xfrm xmlns:a="http://schemas.openxmlformats.org/drawingml/2006/main">
            <a:off x="4649114"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7798A"/>
                </a:solidFill>
                <a:latin typeface="Calibri"/>
                <a:ea typeface="Calibri"/>
                <a:cs typeface="Calibri"/>
              </a:rPr>
              <a:t>Five GitHub protocols on a pinned snapshot, including the fresh GCS/macro comparison</a:t>
            </a:r>
          </a:p>
        </p:txBody>
      </p:sp>
      <p:sp>
        <p:nvSpPr>
          <p:cNvPr id="17" name="Text 15">
            <a:extLst xmlns:a="http://schemas.openxmlformats.org/drawingml/2006/main">
              <a:ext uri="{FF2B5EF4-FFF2-40B4-BE49-F238E27FC236}">
                <a16:creationId xmlns:a16="http://schemas.microsoft.com/office/drawing/2014/main" id="{B1893B32-4AF1-4C9A-8ED6-E114045C9DC3}"/>
              </a:ext>
            </a:extLst>
          </p:cNvPr>
          <p:cNvSpPr>
            <a:spLocks xmlns:a="http://schemas.openxmlformats.org/drawingml/2006/main" noGrp="1"/>
          </p:cNvSpPr>
          <p:nvPr/>
        </p:nvSpPr>
        <p:spPr>
          <a:xfrm xmlns:a="http://schemas.openxmlformats.org/drawingml/2006/main">
            <a:off x="4667402"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Actual public issue records; deterministic local reads; live provider calls</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The natural-order protocols name no tool functions and no order; the first prescribes a fixed prefix as an ablation</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One repository, one snapshot, one model configuration</a:t>
            </a:r>
          </a:p>
        </p:txBody>
      </p:sp>
      <p:sp>
        <p:nvSpPr>
          <p:cNvPr id="18" name="Shape 16">
            <a:extLst xmlns:a="http://schemas.openxmlformats.org/drawingml/2006/main">
              <a:ext uri="{FF2B5EF4-FFF2-40B4-BE49-F238E27FC236}">
                <a16:creationId xmlns:a16="http://schemas.microsoft.com/office/drawing/2014/main" id="{7E4C0351-1C37-43C1-A5C7-83600C29AEF4}"/>
              </a:ext>
            </a:extLst>
          </p:cNvPr>
          <p:cNvSpPr>
            <a:spLocks xmlns:a="http://schemas.openxmlformats.org/drawingml/2006/main" noGrp="1"/>
          </p:cNvSpPr>
          <p:nvPr/>
        </p:nvSpPr>
        <p:spPr>
          <a:xfrm xmlns:a="http://schemas.openxmlformats.org/drawingml/2006/main">
            <a:off x="8109509" y="1371600"/>
            <a:ext cx="3442106" cy="3529584"/>
          </a:xfrm>
          <a:prstGeom xmlns:a="http://schemas.openxmlformats.org/drawingml/2006/main" prst="roundRect">
            <a:avLst>
              <a:gd name="adj" fmla="val 132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40B81364-EBAC-4569-86DC-D63941C6EAF2}"/>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ellipse">
            <a:avLst/>
          </a:prstGeom>
          <a:solidFill xmlns:a="http://schemas.openxmlformats.org/drawingml/2006/main">
            <a:srgbClr val="4EA3B0"/>
          </a:solidFill>
          <a:ln xmlns:a="http://schemas.openxmlformats.org/drawingml/2006/main" w="635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D73A4570-DBB8-4720-9ADD-0A6A02B3BC99}"/>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3</a:t>
            </a:r>
          </a:p>
        </p:txBody>
      </p:sp>
      <p:sp>
        <p:nvSpPr>
          <p:cNvPr id="21" name="Text 19">
            <a:extLst xmlns:a="http://schemas.openxmlformats.org/drawingml/2006/main">
              <a:ext uri="{FF2B5EF4-FFF2-40B4-BE49-F238E27FC236}">
                <a16:creationId xmlns:a16="http://schemas.microsoft.com/office/drawing/2014/main" id="{8A5CEB6A-95E8-412D-BC31-7539229C3778}"/>
              </a:ext>
            </a:extLst>
          </p:cNvPr>
          <p:cNvSpPr>
            <a:spLocks xmlns:a="http://schemas.openxmlformats.org/drawingml/2006/main" noGrp="1"/>
          </p:cNvSpPr>
          <p:nvPr/>
        </p:nvSpPr>
        <p:spPr>
          <a:xfrm xmlns:a="http://schemas.openxmlformats.org/drawingml/2006/main">
            <a:off x="8383829"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D4A54"/>
                </a:solidFill>
                <a:latin typeface="Cambria"/>
                <a:ea typeface="Cambria"/>
                <a:cs typeface="Cambria"/>
              </a:rPr>
              <a:t>Controlled demonstration suite</a:t>
            </a:r>
          </a:p>
        </p:txBody>
      </p:sp>
      <p:sp>
        <p:nvSpPr>
          <p:cNvPr id="22" name="Text 20">
            <a:extLst xmlns:a="http://schemas.openxmlformats.org/drawingml/2006/main">
              <a:ext uri="{FF2B5EF4-FFF2-40B4-BE49-F238E27FC236}">
                <a16:creationId xmlns:a16="http://schemas.microsoft.com/office/drawing/2014/main" id="{CB10EFA1-E2AB-4F31-A759-E2E506B1B668}"/>
              </a:ext>
            </a:extLst>
          </p:cNvPr>
          <p:cNvSpPr>
            <a:spLocks xmlns:a="http://schemas.openxmlformats.org/drawingml/2006/main" noGrp="1"/>
          </p:cNvSpPr>
          <p:nvPr/>
        </p:nvSpPr>
        <p:spPr>
          <a:xfrm xmlns:a="http://schemas.openxmlformats.org/drawingml/2006/main">
            <a:off x="8383829"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7798A"/>
                </a:solidFill>
                <a:latin typeface="Calibri"/>
                <a:ea typeface="Calibri"/>
                <a:cs typeface="Calibri"/>
              </a:rPr>
              <a:t>Six workflow shapes, eight conditions</a:t>
            </a:r>
          </a:p>
        </p:txBody>
      </p:sp>
      <p:sp>
        <p:nvSpPr>
          <p:cNvPr id="23" name="Text 21">
            <a:extLst xmlns:a="http://schemas.openxmlformats.org/drawingml/2006/main">
              <a:ext uri="{FF2B5EF4-FFF2-40B4-BE49-F238E27FC236}">
                <a16:creationId xmlns:a16="http://schemas.microsoft.com/office/drawing/2014/main" id="{27877A22-89B2-4D42-AA5D-7E4B5F4F9B46}"/>
              </a:ext>
            </a:extLst>
          </p:cNvPr>
          <p:cNvSpPr>
            <a:spLocks xmlns:a="http://schemas.openxmlformats.org/drawingml/2006/main" noGrp="1"/>
          </p:cNvSpPr>
          <p:nvPr/>
        </p:nvSpPr>
        <p:spPr>
          <a:xfrm xmlns:a="http://schemas.openxmlformats.org/drawingml/2006/main">
            <a:off x="8402117"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Covers branches, pagination, mandatory writes, handoffs, undeclared effects</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Three conditions are negative controls whose only correct outcome is refusal</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Business records are fictional — no real-world data claim</a:t>
            </a:r>
          </a:p>
        </p:txBody>
      </p:sp>
      <p:sp>
        <p:nvSpPr>
          <p:cNvPr id="24" name="Shape 22">
            <a:extLst xmlns:a="http://schemas.openxmlformats.org/drawingml/2006/main">
              <a:ext uri="{FF2B5EF4-FFF2-40B4-BE49-F238E27FC236}">
                <a16:creationId xmlns:a16="http://schemas.microsoft.com/office/drawing/2014/main" id="{72258A75-CE72-4F8A-B741-C10C9D18FCFD}"/>
              </a:ext>
            </a:extLst>
          </p:cNvPr>
          <p:cNvSpPr>
            <a:spLocks xmlns:a="http://schemas.openxmlformats.org/drawingml/2006/main" noGrp="1"/>
          </p:cNvSpPr>
          <p:nvPr/>
        </p:nvSpPr>
        <p:spPr>
          <a:xfrm xmlns:a="http://schemas.openxmlformats.org/drawingml/2006/main">
            <a:off x="640080" y="5138928"/>
            <a:ext cx="10911535" cy="786384"/>
          </a:xfrm>
          <a:prstGeom xmlns:a="http://schemas.openxmlformats.org/drawingml/2006/main" prst="roundRect">
            <a:avLst>
              <a:gd name="adj" fmla="val 5814"/>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ED5701AA-71F1-4876-BB06-AED206D3052A}"/>
              </a:ext>
            </a:extLst>
          </p:cNvPr>
          <p:cNvSpPr>
            <a:spLocks xmlns:a="http://schemas.openxmlformats.org/drawingml/2006/main" noGrp="1"/>
          </p:cNvSpPr>
          <p:nvPr/>
        </p:nvSpPr>
        <p:spPr>
          <a:xfrm xmlns:a="http://schemas.openxmlformats.org/drawingml/2006/main">
            <a:off x="914400" y="5248656"/>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D4A54"/>
                </a:solidFill>
                <a:latin typeface="Calibri"/>
                <a:ea typeface="Calibri"/>
                <a:cs typeface="Calibri"/>
              </a:rPr>
              <a:t>Every rejected candidate, the archived failed pilot, and the unsupported claims are retained rather than pruned </a:t>
            </a:r>
            <a:r>
              <a:rPr sz="1250">
                <a:solidFill>
                  <a:srgbClr val="2A4247"/>
                </a:solidFill>
                <a:latin typeface="Calibri"/>
                <a:ea typeface="Calibri"/>
                <a:cs typeface="Calibri"/>
              </a:rPr>
              <a:t>— so the denominator of each result stays visible.</a:t>
            </a:r>
          </a:p>
        </p:txBody>
      </p:sp>
    </p:spTree>
    <p:extLst>
      <p:ext uri="{BB962C8B-B14F-4D97-AF65-F5344CB8AC3E}">
        <p14:creationId xmlns:p14="http://schemas.microsoft.com/office/powerpoint/2010/main" val="134696195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F6C7933-F5EF-4DD6-9E7C-5FF082E49635}"/>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7C7BC70-727C-498B-A63B-4F2F5E885124}"/>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14</a:t>
            </a:r>
          </a:p>
        </p:txBody>
      </p:sp>
      <p:sp>
        <p:nvSpPr>
          <p:cNvPr id="4" name="Text 2">
            <a:extLst xmlns:a="http://schemas.openxmlformats.org/drawingml/2006/main">
              <a:ext uri="{FF2B5EF4-FFF2-40B4-BE49-F238E27FC236}">
                <a16:creationId xmlns:a16="http://schemas.microsoft.com/office/drawing/2014/main" id="{9CED4C8D-483F-4A7E-A418-C51534AA18C1}"/>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1  ·  RQ1 AND RQ3</a:t>
            </a:r>
          </a:p>
        </p:txBody>
      </p:sp>
      <p:sp>
        <p:nvSpPr>
          <p:cNvPr id="5" name="Text 3">
            <a:extLst xmlns:a="http://schemas.openxmlformats.org/drawingml/2006/main">
              <a:ext uri="{FF2B5EF4-FFF2-40B4-BE49-F238E27FC236}">
                <a16:creationId xmlns:a16="http://schemas.microsoft.com/office/drawing/2014/main" id="{6BA9C743-6411-4FA9-958E-FDF5E95C4647}"/>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Provenance succeeds far more often than certification</a:t>
            </a:r>
          </a:p>
        </p:txBody>
      </p:sp>
      <p:sp>
        <p:nvSpPr>
          <p:cNvPr id="6" name="Text 4">
            <a:extLst xmlns:a="http://schemas.openxmlformats.org/drawingml/2006/main">
              <a:ext uri="{FF2B5EF4-FFF2-40B4-BE49-F238E27FC236}">
                <a16:creationId xmlns:a16="http://schemas.microsoft.com/office/drawing/2014/main" id="{C313D3EB-17AC-43E0-A747-329724DD95F8}"/>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Recurrence is fragmented: 714 candidate families exist, only 32 have support of at least five, and the best reaches 26 groups.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Of 32 attempted families, 12 synthesize. Their 36 held-out windows give 24 passes, 12 abstentions and zero wrong executions.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Zero wrong does not certify the programs. The gate needs 92 zero-violation groups, so every family retires.</a:t>
            </a:r>
          </a:p>
        </p:txBody>
      </p:sp>
      <p:sp>
        <p:nvSpPr>
          <p:cNvPr id="7" name="Shape 5">
            <a:extLst xmlns:a="http://schemas.openxmlformats.org/drawingml/2006/main">
              <a:ext uri="{FF2B5EF4-FFF2-40B4-BE49-F238E27FC236}">
                <a16:creationId xmlns:a16="http://schemas.microsoft.com/office/drawing/2014/main" id="{F939D547-3307-4594-BDDE-89FBBFF02E26}"/>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47B2AE5D-6685-43DC-93AA-637D0C12C2B6}"/>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AC4A2C"/>
                </a:solidFill>
                <a:latin typeface="Calibri"/>
                <a:ea typeface="Calibri"/>
                <a:cs typeface="Calibri"/>
              </a:rPr>
              <a:t>A scientifically useful negative result. </a:t>
            </a:r>
            <a:r>
              <a:rPr sz="1200">
                <a:solidFill>
                  <a:srgbClr val="5A3A2E"/>
                </a:solidFill>
                <a:latin typeface="Calibri"/>
                <a:ea typeface="Calibri"/>
                <a:cs typeface="Calibri"/>
              </a:rPr>
              <a:t>It is what distinguishes a guarded compiler from a recurrence-only macro miner — and it exposes the data requirement instead of hiding it in a heuristic.</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eea853aca92a4cfb"/>
          </a:graphicData>
        </a:graphic>
      </p:graphicFrame>
      <p:sp>
        <p:nvSpPr>
          <p:cNvPr id="10" name="Shape 7">
            <a:extLst xmlns:a="http://schemas.openxmlformats.org/drawingml/2006/main">
              <a:ext uri="{FF2B5EF4-FFF2-40B4-BE49-F238E27FC236}">
                <a16:creationId xmlns:a16="http://schemas.microsoft.com/office/drawing/2014/main" id="{A9706CDF-0FE1-4BCA-846C-ED8660BFE9C8}"/>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0688F34F-485C-4211-9D2F-D54721826230}"/>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1,207 / 1,415</a:t>
            </a:r>
          </a:p>
        </p:txBody>
      </p:sp>
      <p:sp>
        <p:nvSpPr>
          <p:cNvPr id="12" name="Text 9">
            <a:extLst xmlns:a="http://schemas.openxmlformats.org/drawingml/2006/main">
              <a:ext uri="{FF2B5EF4-FFF2-40B4-BE49-F238E27FC236}">
                <a16:creationId xmlns:a16="http://schemas.microsoft.com/office/drawing/2014/main" id="{D99FE56C-C6B1-4B7F-86DB-FBE10DF81773}"/>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complete groundable windows (85.3%)</a:t>
            </a:r>
          </a:p>
        </p:txBody>
      </p:sp>
      <p:sp>
        <p:nvSpPr>
          <p:cNvPr id="13" name="Shape 10">
            <a:extLst xmlns:a="http://schemas.openxmlformats.org/drawingml/2006/main">
              <a:ext uri="{FF2B5EF4-FFF2-40B4-BE49-F238E27FC236}">
                <a16:creationId xmlns:a16="http://schemas.microsoft.com/office/drawing/2014/main" id="{8D7BF3CA-1C93-47A7-B1E0-2BC08F0BD20E}"/>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3CA2F270-EBCF-4363-8BAD-D4AF4672C11D}"/>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12 / 32</a:t>
            </a:r>
          </a:p>
        </p:txBody>
      </p:sp>
      <p:sp>
        <p:nvSpPr>
          <p:cNvPr id="15" name="Text 12">
            <a:extLst xmlns:a="http://schemas.openxmlformats.org/drawingml/2006/main">
              <a:ext uri="{FF2B5EF4-FFF2-40B4-BE49-F238E27FC236}">
                <a16:creationId xmlns:a16="http://schemas.microsoft.com/office/drawing/2014/main" id="{6C4834C0-2D61-498F-A2D2-045F36610535}"/>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families synthesized</a:t>
            </a:r>
          </a:p>
        </p:txBody>
      </p:sp>
      <p:sp>
        <p:nvSpPr>
          <p:cNvPr id="16" name="Shape 13">
            <a:extLst xmlns:a="http://schemas.openxmlformats.org/drawingml/2006/main">
              <a:ext uri="{FF2B5EF4-FFF2-40B4-BE49-F238E27FC236}">
                <a16:creationId xmlns:a16="http://schemas.microsoft.com/office/drawing/2014/main" id="{1349432D-03CF-4546-A405-6F164BE17ED8}"/>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65B92DF9-0B85-4C20-8185-60F2F1D07A55}"/>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24 / 12 / 0</a:t>
            </a:r>
          </a:p>
        </p:txBody>
      </p:sp>
      <p:sp>
        <p:nvSpPr>
          <p:cNvPr id="18" name="Text 15">
            <a:extLst xmlns:a="http://schemas.openxmlformats.org/drawingml/2006/main">
              <a:ext uri="{FF2B5EF4-FFF2-40B4-BE49-F238E27FC236}">
                <a16:creationId xmlns:a16="http://schemas.microsoft.com/office/drawing/2014/main" id="{CAD28E0D-8FDD-4107-B2D0-D0F230A50B93}"/>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held-out pass / abstain / wrong</a:t>
            </a:r>
          </a:p>
        </p:txBody>
      </p:sp>
      <p:sp>
        <p:nvSpPr>
          <p:cNvPr id="19" name="Shape 16">
            <a:extLst xmlns:a="http://schemas.openxmlformats.org/drawingml/2006/main">
              <a:ext uri="{FF2B5EF4-FFF2-40B4-BE49-F238E27FC236}">
                <a16:creationId xmlns:a16="http://schemas.microsoft.com/office/drawing/2014/main" id="{6DD6FC29-CEB8-4CE5-8C71-2B98A766F2CF}"/>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1AEB4289-D3A4-4D2F-8742-775FD5FCB132}"/>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C4A2C"/>
                </a:solidFill>
                <a:latin typeface="Cambria"/>
                <a:ea typeface="Cambria"/>
                <a:cs typeface="Cambria"/>
              </a:rPr>
              <a:t>0</a:t>
            </a:r>
          </a:p>
        </p:txBody>
      </p:sp>
      <p:sp>
        <p:nvSpPr>
          <p:cNvPr id="21" name="Text 18">
            <a:extLst xmlns:a="http://schemas.openxmlformats.org/drawingml/2006/main">
              <a:ext uri="{FF2B5EF4-FFF2-40B4-BE49-F238E27FC236}">
                <a16:creationId xmlns:a16="http://schemas.microsoft.com/office/drawing/2014/main" id="{3F28998E-FC3D-4A2E-8983-AD32BB62B2FA}"/>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certifiable families</a:t>
            </a:r>
          </a:p>
        </p:txBody>
      </p:sp>
    </p:spTree>
    <p:extLst>
      <p:ext uri="{BB962C8B-B14F-4D97-AF65-F5344CB8AC3E}">
        <p14:creationId xmlns:p14="http://schemas.microsoft.com/office/powerpoint/2010/main" val="131559660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9553275-1EA3-4BB9-BE9B-A84B11863B66}"/>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EB9E3515-E4CB-4267-B609-1023D62DF2E2}"/>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15</a:t>
            </a:r>
          </a:p>
        </p:txBody>
      </p:sp>
      <p:sp>
        <p:nvSpPr>
          <p:cNvPr id="4" name="Text 2">
            <a:extLst xmlns:a="http://schemas.openxmlformats.org/drawingml/2006/main">
              <a:ext uri="{FF2B5EF4-FFF2-40B4-BE49-F238E27FC236}">
                <a16:creationId xmlns:a16="http://schemas.microsoft.com/office/drawing/2014/main" id="{5F4CE21C-E36B-4768-AA90-25AE1D49005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2  ·  RQ2</a:t>
            </a:r>
          </a:p>
        </p:txBody>
      </p:sp>
      <p:sp>
        <p:nvSpPr>
          <p:cNvPr id="5" name="Text 3">
            <a:extLst xmlns:a="http://schemas.openxmlformats.org/drawingml/2006/main">
              <a:ext uri="{FF2B5EF4-FFF2-40B4-BE49-F238E27FC236}">
                <a16:creationId xmlns:a16="http://schemas.microsoft.com/office/drawing/2014/main" id="{E3544ADB-3F89-4DB9-9D44-A0D3F03C2CF7}"/>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30 unseen real issues: half the requests, quality held</a:t>
            </a:r>
          </a:p>
        </p:txBody>
      </p:sp>
      <p:graphicFrame>
        <p:nvGraphicFramePr>
          <p:cNvPr id="6" name="Chart 0"/>
          <p:cNvGraphicFramePr/>
          <p:nvPr/>
        </p:nvGraphicFramePr>
        <p:xfrm>
          <a:off xmlns:a="http://schemas.openxmlformats.org/drawingml/2006/main" x="640080" y="1371600"/>
          <a:ext xmlns:a="http://schemas.openxmlformats.org/drawingml/2006/main" cx="7452360" cy="3566160"/>
        </p:xfrm>
        <a:graphic xmlns:a="http://schemas.openxmlformats.org/drawingml/2006/main">
          <a:graphicData uri="http://schemas.openxmlformats.org/drawingml/2006/chart">
            <c:chart xmlns:r="http://schemas.openxmlformats.org/officeDocument/2006/relationships" xmlns:c="http://schemas.openxmlformats.org/drawingml/2006/chart" r:id="R3449963e262e476c"/>
          </a:graphicData>
        </a:graphic>
      </p:graphicFrame>
      <p:sp>
        <p:nvSpPr>
          <p:cNvPr id="7" name="Shape 4">
            <a:extLst xmlns:a="http://schemas.openxmlformats.org/drawingml/2006/main">
              <a:ext uri="{FF2B5EF4-FFF2-40B4-BE49-F238E27FC236}">
                <a16:creationId xmlns:a16="http://schemas.microsoft.com/office/drawing/2014/main" id="{5AE05AC0-163F-44C8-BB54-8BCCCBD30483}"/>
              </a:ext>
            </a:extLst>
          </p:cNvPr>
          <p:cNvSpPr>
            <a:spLocks xmlns:a="http://schemas.openxmlformats.org/drawingml/2006/main" noGrp="1"/>
          </p:cNvSpPr>
          <p:nvPr/>
        </p:nvSpPr>
        <p:spPr>
          <a:xfrm xmlns:a="http://schemas.openxmlformats.org/drawingml/2006/main">
            <a:off x="8321040" y="1371600"/>
            <a:ext cx="3230575" cy="3566160"/>
          </a:xfrm>
          <a:prstGeom xmlns:a="http://schemas.openxmlformats.org/drawingml/2006/main" prst="roundRect">
            <a:avLst>
              <a:gd name="adj" fmla="val 141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53E4B2F7-ACCD-4AC0-9906-AED4C538063A}"/>
              </a:ext>
            </a:extLst>
          </p:cNvPr>
          <p:cNvSpPr>
            <a:spLocks xmlns:a="http://schemas.openxmlformats.org/drawingml/2006/main" noGrp="1"/>
          </p:cNvSpPr>
          <p:nvPr/>
        </p:nvSpPr>
        <p:spPr>
          <a:xfrm xmlns:a="http://schemas.openxmlformats.org/drawingml/2006/main">
            <a:off x="8577072" y="1536192"/>
            <a:ext cx="271851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WHAT THE COMPILER ACTUALLY DID</a:t>
            </a:r>
          </a:p>
        </p:txBody>
      </p:sp>
      <p:sp>
        <p:nvSpPr>
          <p:cNvPr id="9" name="Text 6">
            <a:extLst xmlns:a="http://schemas.openxmlformats.org/drawingml/2006/main">
              <a:ext uri="{FF2B5EF4-FFF2-40B4-BE49-F238E27FC236}">
                <a16:creationId xmlns:a16="http://schemas.microsoft.com/office/drawing/2014/main" id="{45DACA85-FD33-4DA9-82C5-3476ADAC17C2}"/>
              </a:ext>
            </a:extLst>
          </p:cNvPr>
          <p:cNvSpPr>
            <a:spLocks xmlns:a="http://schemas.openxmlformats.org/drawingml/2006/main" noGrp="1"/>
          </p:cNvSpPr>
          <p:nvPr/>
        </p:nvSpPr>
        <p:spPr>
          <a:xfrm xmlns:a="http://schemas.openxmlformats.org/drawingml/2006/main">
            <a:off x="8595360" y="1828800"/>
            <a:ext cx="2681935"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All 132 discovery traces read record, then labels, then comments — with a prompt naming neither tools nor order.</a:t>
            </a:r>
          </a:p>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The natural caller chose different integer comment limits, so no trace-grounded expression reproduces that argument.</a:t>
            </a:r>
          </a:p>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The full three-read candidate was rejected as an ungroundable slot; the compiler emitted the two-read prefix instead.</a:t>
            </a:r>
          </a:p>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The gate admitted 92/92 calibration groups with zero registered violations; simultaneous upper bound 0.0498.</a:t>
            </a:r>
          </a:p>
        </p:txBody>
      </p:sp>
      <p:sp>
        <p:nvSpPr>
          <p:cNvPr id="10" name="Shape 7">
            <a:extLst xmlns:a="http://schemas.openxmlformats.org/drawingml/2006/main">
              <a:ext uri="{FF2B5EF4-FFF2-40B4-BE49-F238E27FC236}">
                <a16:creationId xmlns:a16="http://schemas.microsoft.com/office/drawing/2014/main" id="{80A30DC7-6C2D-4816-B9C3-2EE2D91D8122}"/>
              </a:ext>
            </a:extLst>
          </p:cNvPr>
          <p:cNvSpPr>
            <a:spLocks xmlns:a="http://schemas.openxmlformats.org/drawingml/2006/main" noGrp="1"/>
          </p:cNvSpPr>
          <p:nvPr/>
        </p:nvSpPr>
        <p:spPr>
          <a:xfrm xmlns:a="http://schemas.openxmlformats.org/drawingml/2006/main">
            <a:off x="640080"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5D9FC6BA-4F2F-4466-9662-EAEE9168288B}"/>
              </a:ext>
            </a:extLst>
          </p:cNvPr>
          <p:cNvSpPr>
            <a:spLocks xmlns:a="http://schemas.openxmlformats.org/drawingml/2006/main" noGrp="1"/>
          </p:cNvSpPr>
          <p:nvPr/>
        </p:nvSpPr>
        <p:spPr>
          <a:xfrm xmlns:a="http://schemas.openxmlformats.org/drawingml/2006/main">
            <a:off x="786384"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−50.0%</a:t>
            </a:r>
          </a:p>
        </p:txBody>
      </p:sp>
      <p:sp>
        <p:nvSpPr>
          <p:cNvPr id="12" name="Text 9">
            <a:extLst xmlns:a="http://schemas.openxmlformats.org/drawingml/2006/main">
              <a:ext uri="{FF2B5EF4-FFF2-40B4-BE49-F238E27FC236}">
                <a16:creationId xmlns:a16="http://schemas.microsoft.com/office/drawing/2014/main" id="{E0F0ACDD-253C-4EEF-965D-3DD3FFA412D1}"/>
              </a:ext>
            </a:extLst>
          </p:cNvPr>
          <p:cNvSpPr>
            <a:spLocks xmlns:a="http://schemas.openxmlformats.org/drawingml/2006/main" noGrp="1"/>
          </p:cNvSpPr>
          <p:nvPr/>
        </p:nvSpPr>
        <p:spPr>
          <a:xfrm xmlns:a="http://schemas.openxmlformats.org/drawingml/2006/main">
            <a:off x="786384"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provider requests</a:t>
            </a:r>
          </a:p>
        </p:txBody>
      </p:sp>
      <p:sp>
        <p:nvSpPr>
          <p:cNvPr id="13" name="Shape 10">
            <a:extLst xmlns:a="http://schemas.openxmlformats.org/drawingml/2006/main">
              <a:ext uri="{FF2B5EF4-FFF2-40B4-BE49-F238E27FC236}">
                <a16:creationId xmlns:a16="http://schemas.microsoft.com/office/drawing/2014/main" id="{FB034015-9CD5-410D-AA33-82F140CAD076}"/>
              </a:ext>
            </a:extLst>
          </p:cNvPr>
          <p:cNvSpPr>
            <a:spLocks xmlns:a="http://schemas.openxmlformats.org/drawingml/2006/main" noGrp="1"/>
          </p:cNvSpPr>
          <p:nvPr/>
        </p:nvSpPr>
        <p:spPr>
          <a:xfrm xmlns:a="http://schemas.openxmlformats.org/drawingml/2006/main">
            <a:off x="2866278"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E07F4613-7B80-401C-B492-33753E7D130F}"/>
              </a:ext>
            </a:extLst>
          </p:cNvPr>
          <p:cNvSpPr>
            <a:spLocks xmlns:a="http://schemas.openxmlformats.org/drawingml/2006/main" noGrp="1"/>
          </p:cNvSpPr>
          <p:nvPr/>
        </p:nvSpPr>
        <p:spPr>
          <a:xfrm xmlns:a="http://schemas.openxmlformats.org/drawingml/2006/main">
            <a:off x="3012582"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−39.5%</a:t>
            </a:r>
          </a:p>
        </p:txBody>
      </p:sp>
      <p:sp>
        <p:nvSpPr>
          <p:cNvPr id="15" name="Text 12">
            <a:extLst xmlns:a="http://schemas.openxmlformats.org/drawingml/2006/main">
              <a:ext uri="{FF2B5EF4-FFF2-40B4-BE49-F238E27FC236}">
                <a16:creationId xmlns:a16="http://schemas.microsoft.com/office/drawing/2014/main" id="{3ED651A5-0AC4-4388-9A57-8AE41BB17AF4}"/>
              </a:ext>
            </a:extLst>
          </p:cNvPr>
          <p:cNvSpPr>
            <a:spLocks xmlns:a="http://schemas.openxmlformats.org/drawingml/2006/main" noGrp="1"/>
          </p:cNvSpPr>
          <p:nvPr/>
        </p:nvSpPr>
        <p:spPr>
          <a:xfrm xmlns:a="http://schemas.openxmlformats.org/drawingml/2006/main">
            <a:off x="3012582"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total tokens</a:t>
            </a:r>
          </a:p>
        </p:txBody>
      </p:sp>
      <p:sp>
        <p:nvSpPr>
          <p:cNvPr id="16" name="Shape 13">
            <a:extLst xmlns:a="http://schemas.openxmlformats.org/drawingml/2006/main">
              <a:ext uri="{FF2B5EF4-FFF2-40B4-BE49-F238E27FC236}">
                <a16:creationId xmlns:a16="http://schemas.microsoft.com/office/drawing/2014/main" id="{38CA1435-96DF-4C3C-8B70-BA1F32912487}"/>
              </a:ext>
            </a:extLst>
          </p:cNvPr>
          <p:cNvSpPr>
            <a:spLocks xmlns:a="http://schemas.openxmlformats.org/drawingml/2006/main" noGrp="1"/>
          </p:cNvSpPr>
          <p:nvPr/>
        </p:nvSpPr>
        <p:spPr>
          <a:xfrm xmlns:a="http://schemas.openxmlformats.org/drawingml/2006/main">
            <a:off x="5092476"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20BD4638-5E81-41A5-A6EF-08BBB537BE2C}"/>
              </a:ext>
            </a:extLst>
          </p:cNvPr>
          <p:cNvSpPr>
            <a:spLocks xmlns:a="http://schemas.openxmlformats.org/drawingml/2006/main" noGrp="1"/>
          </p:cNvSpPr>
          <p:nvPr/>
        </p:nvSpPr>
        <p:spPr>
          <a:xfrm xmlns:a="http://schemas.openxmlformats.org/drawingml/2006/main">
            <a:off x="5238780"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−51.7%</a:t>
            </a:r>
          </a:p>
        </p:txBody>
      </p:sp>
      <p:sp>
        <p:nvSpPr>
          <p:cNvPr id="18" name="Text 15">
            <a:extLst xmlns:a="http://schemas.openxmlformats.org/drawingml/2006/main">
              <a:ext uri="{FF2B5EF4-FFF2-40B4-BE49-F238E27FC236}">
                <a16:creationId xmlns:a16="http://schemas.microsoft.com/office/drawing/2014/main" id="{CA2890FB-8590-425B-8013-7F5E34C291A9}"/>
              </a:ext>
            </a:extLst>
          </p:cNvPr>
          <p:cNvSpPr>
            <a:spLocks xmlns:a="http://schemas.openxmlformats.org/drawingml/2006/main" noGrp="1"/>
          </p:cNvSpPr>
          <p:nvPr/>
        </p:nvSpPr>
        <p:spPr>
          <a:xfrm xmlns:a="http://schemas.openxmlformats.org/drawingml/2006/main">
            <a:off x="5238780"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observed wall latency</a:t>
            </a:r>
          </a:p>
        </p:txBody>
      </p:sp>
      <p:sp>
        <p:nvSpPr>
          <p:cNvPr id="19" name="Shape 16">
            <a:extLst xmlns:a="http://schemas.openxmlformats.org/drawingml/2006/main">
              <a:ext uri="{FF2B5EF4-FFF2-40B4-BE49-F238E27FC236}">
                <a16:creationId xmlns:a16="http://schemas.microsoft.com/office/drawing/2014/main" id="{47CB0229-8601-4EEE-A841-5824F6DCDC7B}"/>
              </a:ext>
            </a:extLst>
          </p:cNvPr>
          <p:cNvSpPr>
            <a:spLocks xmlns:a="http://schemas.openxmlformats.org/drawingml/2006/main" noGrp="1"/>
          </p:cNvSpPr>
          <p:nvPr/>
        </p:nvSpPr>
        <p:spPr>
          <a:xfrm xmlns:a="http://schemas.openxmlformats.org/drawingml/2006/main">
            <a:off x="7318675"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B2E8E823-4D78-4EEF-9F47-1F5AC4B34A91}"/>
              </a:ext>
            </a:extLst>
          </p:cNvPr>
          <p:cNvSpPr>
            <a:spLocks xmlns:a="http://schemas.openxmlformats.org/drawingml/2006/main" noGrp="1"/>
          </p:cNvSpPr>
          <p:nvPr/>
        </p:nvSpPr>
        <p:spPr>
          <a:xfrm xmlns:a="http://schemas.openxmlformats.org/drawingml/2006/main">
            <a:off x="7464979"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−32.0%</a:t>
            </a:r>
          </a:p>
        </p:txBody>
      </p:sp>
      <p:sp>
        <p:nvSpPr>
          <p:cNvPr id="21" name="Text 18">
            <a:extLst xmlns:a="http://schemas.openxmlformats.org/drawingml/2006/main">
              <a:ext uri="{FF2B5EF4-FFF2-40B4-BE49-F238E27FC236}">
                <a16:creationId xmlns:a16="http://schemas.microsoft.com/office/drawing/2014/main" id="{A67E70DC-E9F3-453D-A8C2-658007CE8380}"/>
              </a:ext>
            </a:extLst>
          </p:cNvPr>
          <p:cNvSpPr>
            <a:spLocks xmlns:a="http://schemas.openxmlformats.org/drawingml/2006/main" noGrp="1"/>
          </p:cNvSpPr>
          <p:nvPr/>
        </p:nvSpPr>
        <p:spPr>
          <a:xfrm xmlns:a="http://schemas.openxmlformats.org/drawingml/2006/main">
            <a:off x="7464979"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estimated cost</a:t>
            </a:r>
          </a:p>
        </p:txBody>
      </p:sp>
      <p:sp>
        <p:nvSpPr>
          <p:cNvPr id="22" name="Shape 19">
            <a:extLst xmlns:a="http://schemas.openxmlformats.org/drawingml/2006/main">
              <a:ext uri="{FF2B5EF4-FFF2-40B4-BE49-F238E27FC236}">
                <a16:creationId xmlns:a16="http://schemas.microsoft.com/office/drawing/2014/main" id="{20E936FD-B21E-4A4B-8654-909A38A85608}"/>
              </a:ext>
            </a:extLst>
          </p:cNvPr>
          <p:cNvSpPr>
            <a:spLocks xmlns:a="http://schemas.openxmlformats.org/drawingml/2006/main" noGrp="1"/>
          </p:cNvSpPr>
          <p:nvPr/>
        </p:nvSpPr>
        <p:spPr>
          <a:xfrm xmlns:a="http://schemas.openxmlformats.org/drawingml/2006/main">
            <a:off x="9544873" y="5138928"/>
            <a:ext cx="2006742" cy="969264"/>
          </a:xfrm>
          <a:prstGeom xmlns:a="http://schemas.openxmlformats.org/drawingml/2006/main" prst="roundRect">
            <a:avLst>
              <a:gd name="adj" fmla="val 4717"/>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FFC26D4B-8598-45E1-8A4F-0DC92701CBFE}"/>
              </a:ext>
            </a:extLst>
          </p:cNvPr>
          <p:cNvSpPr>
            <a:spLocks xmlns:a="http://schemas.openxmlformats.org/drawingml/2006/main" noGrp="1"/>
          </p:cNvSpPr>
          <p:nvPr/>
        </p:nvSpPr>
        <p:spPr>
          <a:xfrm xmlns:a="http://schemas.openxmlformats.org/drawingml/2006/main">
            <a:off x="9691177"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7798A"/>
                </a:solidFill>
                <a:latin typeface="Cambria"/>
                <a:ea typeface="Cambria"/>
                <a:cs typeface="Cambria"/>
              </a:rPr>
              <a:t>30 / 30</a:t>
            </a:r>
          </a:p>
        </p:txBody>
      </p:sp>
      <p:sp>
        <p:nvSpPr>
          <p:cNvPr id="24" name="Text 21">
            <a:extLst xmlns:a="http://schemas.openxmlformats.org/drawingml/2006/main">
              <a:ext uri="{FF2B5EF4-FFF2-40B4-BE49-F238E27FC236}">
                <a16:creationId xmlns:a16="http://schemas.microsoft.com/office/drawing/2014/main" id="{538792A4-50E0-4747-BBF0-1898462C4F26}"/>
              </a:ext>
            </a:extLst>
          </p:cNvPr>
          <p:cNvSpPr>
            <a:spLocks xmlns:a="http://schemas.openxmlformats.org/drawingml/2006/main" noGrp="1"/>
          </p:cNvSpPr>
          <p:nvPr/>
        </p:nvSpPr>
        <p:spPr>
          <a:xfrm xmlns:a="http://schemas.openxmlformats.org/drawingml/2006/main">
            <a:off x="9691177"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exact task contracts</a:t>
            </a:r>
          </a:p>
        </p:txBody>
      </p:sp>
    </p:spTree>
    <p:extLst>
      <p:ext uri="{BB962C8B-B14F-4D97-AF65-F5344CB8AC3E}">
        <p14:creationId xmlns:p14="http://schemas.microsoft.com/office/powerpoint/2010/main" val="8624466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2706F30-9E4F-42CE-860B-D2B018B4DC8B}"/>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D552FDF-4B9F-4D37-9228-F0E5BE4A6FBE}"/>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16</a:t>
            </a:r>
          </a:p>
        </p:txBody>
      </p:sp>
      <p:sp>
        <p:nvSpPr>
          <p:cNvPr id="4" name="Text 2">
            <a:extLst xmlns:a="http://schemas.openxmlformats.org/drawingml/2006/main">
              <a:ext uri="{FF2B5EF4-FFF2-40B4-BE49-F238E27FC236}">
                <a16:creationId xmlns:a16="http://schemas.microsoft.com/office/drawing/2014/main" id="{1A959164-41AA-41BC-A644-840BCACBD2B3}"/>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3  ·  THE DEPTH TRADE-OFF</a:t>
            </a:r>
          </a:p>
        </p:txBody>
      </p:sp>
      <p:sp>
        <p:nvSpPr>
          <p:cNvPr id="5" name="Text 3">
            <a:extLst xmlns:a="http://schemas.openxmlformats.org/drawingml/2006/main">
              <a:ext uri="{FF2B5EF4-FFF2-40B4-BE49-F238E27FC236}">
                <a16:creationId xmlns:a16="http://schemas.microsoft.com/office/drawing/2014/main" id="{84D36AC8-ED79-4D2F-A380-AFC1E1FA2C18}"/>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Preservation is not invariant to how deep you compile</a:t>
            </a:r>
          </a:p>
        </p:txBody>
      </p:sp>
      <p:sp>
        <p:nvSpPr>
          <p:cNvPr id="6" name="Shape 4">
            <a:extLst xmlns:a="http://schemas.openxmlformats.org/drawingml/2006/main">
              <a:ext uri="{FF2B5EF4-FFF2-40B4-BE49-F238E27FC236}">
                <a16:creationId xmlns:a16="http://schemas.microsoft.com/office/drawing/2014/main" id="{DE26631C-C702-41B0-86EA-76920167ED7F}"/>
              </a:ext>
            </a:extLst>
          </p:cNvPr>
          <p:cNvSpPr>
            <a:spLocks xmlns:a="http://schemas.openxmlformats.org/drawingml/2006/main" noGrp="1"/>
          </p:cNvSpPr>
          <p:nvPr/>
        </p:nvSpPr>
        <p:spPr>
          <a:xfrm xmlns:a="http://schemas.openxmlformats.org/drawingml/2006/main">
            <a:off x="640080" y="1389888"/>
            <a:ext cx="5272888" cy="3200400"/>
          </a:xfrm>
          <a:prstGeom xmlns:a="http://schemas.openxmlformats.org/drawingml/2006/main" prst="roundRect">
            <a:avLst>
              <a:gd name="adj" fmla="val 1429"/>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0CF3704A-CA56-4137-AA47-9BE3A68D416D}"/>
              </a:ext>
            </a:extLst>
          </p:cNvPr>
          <p:cNvSpPr>
            <a:spLocks xmlns:a="http://schemas.openxmlformats.org/drawingml/2006/main" noGrp="1"/>
          </p:cNvSpPr>
          <p:nvPr/>
        </p:nvSpPr>
        <p:spPr>
          <a:xfrm xmlns:a="http://schemas.openxmlformats.org/drawingml/2006/main">
            <a:off x="932688"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D4A54"/>
                </a:solidFill>
                <a:latin typeface="Cambria"/>
                <a:ea typeface="Cambria"/>
                <a:cs typeface="Cambria"/>
              </a:rPr>
              <a:t>Two-read prefix</a:t>
            </a:r>
          </a:p>
        </p:txBody>
      </p:sp>
      <p:sp>
        <p:nvSpPr>
          <p:cNvPr id="8" name="Text 6">
            <a:extLst xmlns:a="http://schemas.openxmlformats.org/drawingml/2006/main">
              <a:ext uri="{FF2B5EF4-FFF2-40B4-BE49-F238E27FC236}">
                <a16:creationId xmlns:a16="http://schemas.microsoft.com/office/drawing/2014/main" id="{D4015760-2178-4E1C-BAE2-580E0906D11F}"/>
              </a:ext>
            </a:extLst>
          </p:cNvPr>
          <p:cNvSpPr>
            <a:spLocks xmlns:a="http://schemas.openxmlformats.org/drawingml/2006/main" noGrp="1"/>
          </p:cNvSpPr>
          <p:nvPr/>
        </p:nvSpPr>
        <p:spPr>
          <a:xfrm xmlns:a="http://schemas.openxmlformats.org/drawingml/2006/main">
            <a:off x="932688"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F767A"/>
                </a:solidFill>
                <a:latin typeface="Calibri"/>
                <a:ea typeface="Calibri"/>
                <a:cs typeface="Calibri"/>
              </a:rPr>
              <a:t>expanded replication, 30 issues</a:t>
            </a:r>
          </a:p>
        </p:txBody>
      </p:sp>
      <p:sp>
        <p:nvSpPr>
          <p:cNvPr id="9" name="Text 7">
            <a:extLst xmlns:a="http://schemas.openxmlformats.org/drawingml/2006/main">
              <a:ext uri="{FF2B5EF4-FFF2-40B4-BE49-F238E27FC236}">
                <a16:creationId xmlns:a16="http://schemas.microsoft.com/office/drawing/2014/main" id="{D28F1F19-C57B-4C96-A25D-93C9336EDBA2}"/>
              </a:ext>
            </a:extLst>
          </p:cNvPr>
          <p:cNvSpPr>
            <a:spLocks xmlns:a="http://schemas.openxmlformats.org/drawingml/2006/main" noGrp="1"/>
          </p:cNvSpPr>
          <p:nvPr/>
        </p:nvSpPr>
        <p:spPr>
          <a:xfrm xmlns:a="http://schemas.openxmlformats.org/drawingml/2006/main">
            <a:off x="932688"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−50.0%</a:t>
            </a:r>
          </a:p>
        </p:txBody>
      </p:sp>
      <p:sp>
        <p:nvSpPr>
          <p:cNvPr id="10" name="Text 8">
            <a:extLst xmlns:a="http://schemas.openxmlformats.org/drawingml/2006/main">
              <a:ext uri="{FF2B5EF4-FFF2-40B4-BE49-F238E27FC236}">
                <a16:creationId xmlns:a16="http://schemas.microsoft.com/office/drawing/2014/main" id="{D6354A36-D054-4659-82F0-E0E12AD7AF09}"/>
              </a:ext>
            </a:extLst>
          </p:cNvPr>
          <p:cNvSpPr>
            <a:spLocks xmlns:a="http://schemas.openxmlformats.org/drawingml/2006/main" noGrp="1"/>
          </p:cNvSpPr>
          <p:nvPr/>
        </p:nvSpPr>
        <p:spPr>
          <a:xfrm xmlns:a="http://schemas.openxmlformats.org/drawingml/2006/main">
            <a:off x="2514600"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provider requests</a:t>
            </a:r>
          </a:p>
        </p:txBody>
      </p:sp>
      <p:sp>
        <p:nvSpPr>
          <p:cNvPr id="11" name="Text 9">
            <a:extLst xmlns:a="http://schemas.openxmlformats.org/drawingml/2006/main">
              <a:ext uri="{FF2B5EF4-FFF2-40B4-BE49-F238E27FC236}">
                <a16:creationId xmlns:a16="http://schemas.microsoft.com/office/drawing/2014/main" id="{8B56560D-2D71-46D1-A7D0-710EB1EA17E1}"/>
              </a:ext>
            </a:extLst>
          </p:cNvPr>
          <p:cNvSpPr>
            <a:spLocks xmlns:a="http://schemas.openxmlformats.org/drawingml/2006/main" noGrp="1"/>
          </p:cNvSpPr>
          <p:nvPr/>
        </p:nvSpPr>
        <p:spPr>
          <a:xfrm xmlns:a="http://schemas.openxmlformats.org/drawingml/2006/main">
            <a:off x="932688"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−39.5%</a:t>
            </a:r>
          </a:p>
        </p:txBody>
      </p:sp>
      <p:sp>
        <p:nvSpPr>
          <p:cNvPr id="12" name="Text 10">
            <a:extLst xmlns:a="http://schemas.openxmlformats.org/drawingml/2006/main">
              <a:ext uri="{FF2B5EF4-FFF2-40B4-BE49-F238E27FC236}">
                <a16:creationId xmlns:a16="http://schemas.microsoft.com/office/drawing/2014/main" id="{93676C1F-91A4-41F6-97D7-34144B313E84}"/>
              </a:ext>
            </a:extLst>
          </p:cNvPr>
          <p:cNvSpPr>
            <a:spLocks xmlns:a="http://schemas.openxmlformats.org/drawingml/2006/main" noGrp="1"/>
          </p:cNvSpPr>
          <p:nvPr/>
        </p:nvSpPr>
        <p:spPr>
          <a:xfrm xmlns:a="http://schemas.openxmlformats.org/drawingml/2006/main">
            <a:off x="2514600"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total tokens</a:t>
            </a:r>
          </a:p>
        </p:txBody>
      </p:sp>
      <p:sp>
        <p:nvSpPr>
          <p:cNvPr id="13" name="Text 11">
            <a:extLst xmlns:a="http://schemas.openxmlformats.org/drawingml/2006/main">
              <a:ext uri="{FF2B5EF4-FFF2-40B4-BE49-F238E27FC236}">
                <a16:creationId xmlns:a16="http://schemas.microsoft.com/office/drawing/2014/main" id="{6647C1BD-131D-46DD-AC51-920FCB580967}"/>
              </a:ext>
            </a:extLst>
          </p:cNvPr>
          <p:cNvSpPr>
            <a:spLocks xmlns:a="http://schemas.openxmlformats.org/drawingml/2006/main" noGrp="1"/>
          </p:cNvSpPr>
          <p:nvPr/>
        </p:nvSpPr>
        <p:spPr>
          <a:xfrm xmlns:a="http://schemas.openxmlformats.org/drawingml/2006/main">
            <a:off x="932688"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30 / 30</a:t>
            </a:r>
          </a:p>
        </p:txBody>
      </p:sp>
      <p:sp>
        <p:nvSpPr>
          <p:cNvPr id="14" name="Text 12">
            <a:extLst xmlns:a="http://schemas.openxmlformats.org/drawingml/2006/main">
              <a:ext uri="{FF2B5EF4-FFF2-40B4-BE49-F238E27FC236}">
                <a16:creationId xmlns:a16="http://schemas.microsoft.com/office/drawing/2014/main" id="{93296786-8C77-4D95-8CDA-2ADBD336835F}"/>
              </a:ext>
            </a:extLst>
          </p:cNvPr>
          <p:cNvSpPr>
            <a:spLocks xmlns:a="http://schemas.openxmlformats.org/drawingml/2006/main" noGrp="1"/>
          </p:cNvSpPr>
          <p:nvPr/>
        </p:nvSpPr>
        <p:spPr>
          <a:xfrm xmlns:a="http://schemas.openxmlformats.org/drawingml/2006/main">
            <a:off x="2514600"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exact source contracts</a:t>
            </a:r>
          </a:p>
        </p:txBody>
      </p:sp>
      <p:sp>
        <p:nvSpPr>
          <p:cNvPr id="15" name="Text 13">
            <a:extLst xmlns:a="http://schemas.openxmlformats.org/drawingml/2006/main">
              <a:ext uri="{FF2B5EF4-FFF2-40B4-BE49-F238E27FC236}">
                <a16:creationId xmlns:a16="http://schemas.microsoft.com/office/drawing/2014/main" id="{FEBD2CA6-F42D-45C3-89D3-B600FECA6A03}"/>
              </a:ext>
            </a:extLst>
          </p:cNvPr>
          <p:cNvSpPr>
            <a:spLocks xmlns:a="http://schemas.openxmlformats.org/drawingml/2006/main" noGrp="1"/>
          </p:cNvSpPr>
          <p:nvPr/>
        </p:nvSpPr>
        <p:spPr>
          <a:xfrm xmlns:a="http://schemas.openxmlformats.org/drawingml/2006/main">
            <a:off x="932688"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F767A"/>
                </a:solidFill>
                <a:latin typeface="Calibri"/>
                <a:ea typeface="Calibri"/>
                <a:cs typeface="Calibri"/>
              </a:rPr>
              <a:t>Groundability proof permits only two of the three reads. Nothing is lost.</a:t>
            </a:r>
          </a:p>
        </p:txBody>
      </p:sp>
      <p:sp>
        <p:nvSpPr>
          <p:cNvPr id="16" name="Shape 14">
            <a:extLst xmlns:a="http://schemas.openxmlformats.org/drawingml/2006/main">
              <a:ext uri="{FF2B5EF4-FFF2-40B4-BE49-F238E27FC236}">
                <a16:creationId xmlns:a16="http://schemas.microsoft.com/office/drawing/2014/main" id="{3746EC86-9110-4F94-8D17-5704F28A439E}"/>
              </a:ext>
            </a:extLst>
          </p:cNvPr>
          <p:cNvSpPr>
            <a:spLocks xmlns:a="http://schemas.openxmlformats.org/drawingml/2006/main" noGrp="1"/>
          </p:cNvSpPr>
          <p:nvPr/>
        </p:nvSpPr>
        <p:spPr>
          <a:xfrm xmlns:a="http://schemas.openxmlformats.org/drawingml/2006/main">
            <a:off x="6278728" y="1389888"/>
            <a:ext cx="5272888" cy="3200400"/>
          </a:xfrm>
          <a:prstGeom xmlns:a="http://schemas.openxmlformats.org/drawingml/2006/main" prst="roundRect">
            <a:avLst>
              <a:gd name="adj" fmla="val 1429"/>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F15B39C9-7097-43AB-B254-16104660BCED}"/>
              </a:ext>
            </a:extLst>
          </p:cNvPr>
          <p:cNvSpPr>
            <a:spLocks xmlns:a="http://schemas.openxmlformats.org/drawingml/2006/main" noGrp="1"/>
          </p:cNvSpPr>
          <p:nvPr/>
        </p:nvSpPr>
        <p:spPr>
          <a:xfrm xmlns:a="http://schemas.openxmlformats.org/drawingml/2006/main">
            <a:off x="6571336"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AC4A2C"/>
                </a:solidFill>
                <a:latin typeface="Cambria"/>
                <a:ea typeface="Cambria"/>
                <a:cs typeface="Cambria"/>
              </a:rPr>
              <a:t>Three-read artifact</a:t>
            </a:r>
          </a:p>
        </p:txBody>
      </p:sp>
      <p:sp>
        <p:nvSpPr>
          <p:cNvPr id="18" name="Text 16">
            <a:extLst xmlns:a="http://schemas.openxmlformats.org/drawingml/2006/main">
              <a:ext uri="{FF2B5EF4-FFF2-40B4-BE49-F238E27FC236}">
                <a16:creationId xmlns:a16="http://schemas.microsoft.com/office/drawing/2014/main" id="{5F5785D0-99C5-4B5A-9F1D-A5C38AE46BBE}"/>
              </a:ext>
            </a:extLst>
          </p:cNvPr>
          <p:cNvSpPr>
            <a:spLocks xmlns:a="http://schemas.openxmlformats.org/drawingml/2006/main" noGrp="1"/>
          </p:cNvSpPr>
          <p:nvPr/>
        </p:nvSpPr>
        <p:spPr>
          <a:xfrm xmlns:a="http://schemas.openxmlformats.org/drawingml/2006/main">
            <a:off x="6571336"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F767A"/>
                </a:solidFill>
                <a:latin typeface="Calibri"/>
                <a:ea typeface="Calibri"/>
                <a:cs typeface="Calibri"/>
              </a:rPr>
              <a:t>earlier aggressive study, 18 issues</a:t>
            </a:r>
          </a:p>
        </p:txBody>
      </p:sp>
      <p:sp>
        <p:nvSpPr>
          <p:cNvPr id="19" name="Text 17">
            <a:extLst xmlns:a="http://schemas.openxmlformats.org/drawingml/2006/main">
              <a:ext uri="{FF2B5EF4-FFF2-40B4-BE49-F238E27FC236}">
                <a16:creationId xmlns:a16="http://schemas.microsoft.com/office/drawing/2014/main" id="{A30DC838-DC63-4A5E-8034-3648E1FA81D0}"/>
              </a:ext>
            </a:extLst>
          </p:cNvPr>
          <p:cNvSpPr>
            <a:spLocks xmlns:a="http://schemas.openxmlformats.org/drawingml/2006/main" noGrp="1"/>
          </p:cNvSpPr>
          <p:nvPr/>
        </p:nvSpPr>
        <p:spPr>
          <a:xfrm xmlns:a="http://schemas.openxmlformats.org/drawingml/2006/main">
            <a:off x="6571336"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C4A2C"/>
                </a:solidFill>
                <a:latin typeface="Cambria"/>
                <a:ea typeface="Cambria"/>
                <a:cs typeface="Cambria"/>
              </a:rPr>
              <a:t>−75.0%</a:t>
            </a:r>
          </a:p>
        </p:txBody>
      </p:sp>
      <p:sp>
        <p:nvSpPr>
          <p:cNvPr id="20" name="Text 18">
            <a:extLst xmlns:a="http://schemas.openxmlformats.org/drawingml/2006/main">
              <a:ext uri="{FF2B5EF4-FFF2-40B4-BE49-F238E27FC236}">
                <a16:creationId xmlns:a16="http://schemas.microsoft.com/office/drawing/2014/main" id="{F62A36AF-CAB6-451F-90BC-A60E8C7AAAF0}"/>
              </a:ext>
            </a:extLst>
          </p:cNvPr>
          <p:cNvSpPr>
            <a:spLocks xmlns:a="http://schemas.openxmlformats.org/drawingml/2006/main" noGrp="1"/>
          </p:cNvSpPr>
          <p:nvPr/>
        </p:nvSpPr>
        <p:spPr>
          <a:xfrm xmlns:a="http://schemas.openxmlformats.org/drawingml/2006/main">
            <a:off x="8153248"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provider requests</a:t>
            </a:r>
          </a:p>
        </p:txBody>
      </p:sp>
      <p:sp>
        <p:nvSpPr>
          <p:cNvPr id="21" name="Text 19">
            <a:extLst xmlns:a="http://schemas.openxmlformats.org/drawingml/2006/main">
              <a:ext uri="{FF2B5EF4-FFF2-40B4-BE49-F238E27FC236}">
                <a16:creationId xmlns:a16="http://schemas.microsoft.com/office/drawing/2014/main" id="{44014ED5-F2B3-404C-938A-8A18C3A9D6B5}"/>
              </a:ext>
            </a:extLst>
          </p:cNvPr>
          <p:cNvSpPr>
            <a:spLocks xmlns:a="http://schemas.openxmlformats.org/drawingml/2006/main" noGrp="1"/>
          </p:cNvSpPr>
          <p:nvPr/>
        </p:nvSpPr>
        <p:spPr>
          <a:xfrm xmlns:a="http://schemas.openxmlformats.org/drawingml/2006/main">
            <a:off x="6571336"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C4A2C"/>
                </a:solidFill>
                <a:latin typeface="Cambria"/>
                <a:ea typeface="Cambria"/>
                <a:cs typeface="Cambria"/>
              </a:rPr>
              <a:t>−66.0%</a:t>
            </a:r>
          </a:p>
        </p:txBody>
      </p:sp>
      <p:sp>
        <p:nvSpPr>
          <p:cNvPr id="22" name="Text 20">
            <a:extLst xmlns:a="http://schemas.openxmlformats.org/drawingml/2006/main">
              <a:ext uri="{FF2B5EF4-FFF2-40B4-BE49-F238E27FC236}">
                <a16:creationId xmlns:a16="http://schemas.microsoft.com/office/drawing/2014/main" id="{1811C409-DC78-46F5-B1C6-B0D9422DAE86}"/>
              </a:ext>
            </a:extLst>
          </p:cNvPr>
          <p:cNvSpPr>
            <a:spLocks xmlns:a="http://schemas.openxmlformats.org/drawingml/2006/main" noGrp="1"/>
          </p:cNvSpPr>
          <p:nvPr/>
        </p:nvSpPr>
        <p:spPr>
          <a:xfrm xmlns:a="http://schemas.openxmlformats.org/drawingml/2006/main">
            <a:off x="8153248"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total tokens</a:t>
            </a:r>
          </a:p>
        </p:txBody>
      </p:sp>
      <p:sp>
        <p:nvSpPr>
          <p:cNvPr id="23" name="Text 21">
            <a:extLst xmlns:a="http://schemas.openxmlformats.org/drawingml/2006/main">
              <a:ext uri="{FF2B5EF4-FFF2-40B4-BE49-F238E27FC236}">
                <a16:creationId xmlns:a16="http://schemas.microsoft.com/office/drawing/2014/main" id="{EBF58775-7F0F-4DE8-AFCD-C93A85E37E41}"/>
              </a:ext>
            </a:extLst>
          </p:cNvPr>
          <p:cNvSpPr>
            <a:spLocks xmlns:a="http://schemas.openxmlformats.org/drawingml/2006/main" noGrp="1"/>
          </p:cNvSpPr>
          <p:nvPr/>
        </p:nvSpPr>
        <p:spPr>
          <a:xfrm xmlns:a="http://schemas.openxmlformats.org/drawingml/2006/main">
            <a:off x="6571336"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C4A2C"/>
                </a:solidFill>
                <a:latin typeface="Cambria"/>
                <a:ea typeface="Cambria"/>
                <a:cs typeface="Cambria"/>
              </a:rPr>
              <a:t>17 / 18</a:t>
            </a:r>
          </a:p>
        </p:txBody>
      </p:sp>
      <p:sp>
        <p:nvSpPr>
          <p:cNvPr id="24" name="Text 22">
            <a:extLst xmlns:a="http://schemas.openxmlformats.org/drawingml/2006/main">
              <a:ext uri="{FF2B5EF4-FFF2-40B4-BE49-F238E27FC236}">
                <a16:creationId xmlns:a16="http://schemas.microsoft.com/office/drawing/2014/main" id="{821B4846-38B5-4D1F-A506-58512657C671}"/>
              </a:ext>
            </a:extLst>
          </p:cNvPr>
          <p:cNvSpPr>
            <a:spLocks xmlns:a="http://schemas.openxmlformats.org/drawingml/2006/main" noGrp="1"/>
          </p:cNvSpPr>
          <p:nvPr/>
        </p:nvSpPr>
        <p:spPr>
          <a:xfrm xmlns:a="http://schemas.openxmlformats.org/drawingml/2006/main">
            <a:off x="8153248"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exact source contracts</a:t>
            </a:r>
          </a:p>
        </p:txBody>
      </p:sp>
      <p:sp>
        <p:nvSpPr>
          <p:cNvPr id="25" name="Text 23">
            <a:extLst xmlns:a="http://schemas.openxmlformats.org/drawingml/2006/main">
              <a:ext uri="{FF2B5EF4-FFF2-40B4-BE49-F238E27FC236}">
                <a16:creationId xmlns:a16="http://schemas.microsoft.com/office/drawing/2014/main" id="{8B11F8F3-B6C7-4DD0-9292-33EB7A465B9D}"/>
              </a:ext>
            </a:extLst>
          </p:cNvPr>
          <p:cNvSpPr>
            <a:spLocks xmlns:a="http://schemas.openxmlformats.org/drawingml/2006/main" noGrp="1"/>
          </p:cNvSpPr>
          <p:nvPr/>
        </p:nvSpPr>
        <p:spPr>
          <a:xfrm xmlns:a="http://schemas.openxmlformats.org/drawingml/2006/main">
            <a:off x="6571336"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A3A2E"/>
                </a:solidFill>
                <a:latin typeface="Calibri"/>
                <a:ea typeface="Calibri"/>
                <a:cs typeface="Calibri"/>
              </a:rPr>
              <a:t>On one issue the source contained a Markdown link; the compiled continuation dropped the URL and returned only anchor text.</a:t>
            </a:r>
          </a:p>
        </p:txBody>
      </p:sp>
      <p:sp>
        <p:nvSpPr>
          <p:cNvPr id="26" name="Shape 24">
            <a:extLst xmlns:a="http://schemas.openxmlformats.org/drawingml/2006/main">
              <a:ext uri="{FF2B5EF4-FFF2-40B4-BE49-F238E27FC236}">
                <a16:creationId xmlns:a16="http://schemas.microsoft.com/office/drawing/2014/main" id="{1CE4F021-D3FD-4CB3-B2F6-5B61F8E16207}"/>
              </a:ext>
            </a:extLst>
          </p:cNvPr>
          <p:cNvSpPr>
            <a:spLocks xmlns:a="http://schemas.openxmlformats.org/drawingml/2006/main" noGrp="1"/>
          </p:cNvSpPr>
          <p:nvPr/>
        </p:nvSpPr>
        <p:spPr>
          <a:xfrm xmlns:a="http://schemas.openxmlformats.org/drawingml/2006/main">
            <a:off x="640080" y="4754880"/>
            <a:ext cx="10911535" cy="1371600"/>
          </a:xfrm>
          <a:prstGeom xmlns:a="http://schemas.openxmlformats.org/drawingml/2006/main" prst="roundRect">
            <a:avLst>
              <a:gd name="adj" fmla="val 3333"/>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F674FD1E-F0FE-4F77-B32F-77379E0CB1FD}"/>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F9CD963-4213-4B2D-A68A-92B6644C8573}"/>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CAB81B64-27CB-45C5-9243-042607CBECA8}"/>
              </a:ext>
            </a:extLst>
          </p:cNvPr>
          <p:cNvSpPr>
            <a:spLocks xmlns:a="http://schemas.openxmlformats.org/drawingml/2006/main" noGrp="1"/>
          </p:cNvSpPr>
          <p:nvPr/>
        </p:nvSpPr>
        <p:spPr>
          <a:xfrm xmlns:a="http://schemas.openxmlformats.org/drawingml/2006/main">
            <a:off x="1463040" y="4919472"/>
            <a:ext cx="98142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The miss fixes the gate's scope — and motivates a second layer</a:t>
            </a:r>
          </a:p>
        </p:txBody>
      </p:sp>
      <p:sp>
        <p:nvSpPr>
          <p:cNvPr id="30" name="Text 28">
            <a:extLst xmlns:a="http://schemas.openxmlformats.org/drawingml/2006/main">
              <a:ext uri="{FF2B5EF4-FFF2-40B4-BE49-F238E27FC236}">
                <a16:creationId xmlns:a16="http://schemas.microsoft.com/office/drawing/2014/main" id="{3E24692A-75C9-440D-A427-8E6DE389F816}"/>
              </a:ext>
            </a:extLst>
          </p:cNvPr>
          <p:cNvSpPr>
            <a:spLocks xmlns:a="http://schemas.openxmlformats.org/drawingml/2006/main" noGrp="1"/>
          </p:cNvSpPr>
          <p:nvPr/>
        </p:nvSpPr>
        <p:spPr>
          <a:xfrm xmlns:a="http://schemas.openxmlformats.org/drawingml/2006/main">
            <a:off x="1463040" y="5266944"/>
            <a:ext cx="972281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a:solidFill>
                  <a:srgbClr val="2A4247"/>
                </a:solidFill>
                <a:latin typeface="Calibri"/>
                <a:ea typeface="Calibri"/>
                <a:cs typeface="Calibri"/>
              </a:rPr>
              <a:t>Zero calibration violations concern the compiled tool program: grounded arguments, tool outputs, call counts, declared effects. The verifier never certified the downstream model continuation. A framework-neutral ContinuationGuard — checking the candidate answer, then a deterministic renderer, then baseline — detects the miss in provider-free replay and checked-renders it to 18/18. That is a demonstrated detection mechanism, not a live safety claim.</a:t>
            </a:r>
          </a:p>
        </p:txBody>
      </p:sp>
    </p:spTree>
    <p:extLst>
      <p:ext uri="{BB962C8B-B14F-4D97-AF65-F5344CB8AC3E}">
        <p14:creationId xmlns:p14="http://schemas.microsoft.com/office/powerpoint/2010/main" val="177035603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89A4212-7F51-4E92-A641-48476C9D0D79}"/>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83461DA4-2E70-471D-B050-ACD926ED2D47}"/>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17</a:t>
            </a:r>
          </a:p>
        </p:txBody>
      </p:sp>
      <p:sp>
        <p:nvSpPr>
          <p:cNvPr id="4" name="Text 2">
            <a:extLst xmlns:a="http://schemas.openxmlformats.org/drawingml/2006/main">
              <a:ext uri="{FF2B5EF4-FFF2-40B4-BE49-F238E27FC236}">
                <a16:creationId xmlns:a16="http://schemas.microsoft.com/office/drawing/2014/main" id="{407ACB59-E853-4771-AC18-B58BCD10787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4  ·  RQ4</a:t>
            </a:r>
          </a:p>
        </p:txBody>
      </p:sp>
      <p:sp>
        <p:nvSpPr>
          <p:cNvPr id="5" name="Text 3">
            <a:extLst xmlns:a="http://schemas.openxmlformats.org/drawingml/2006/main">
              <a:ext uri="{FF2B5EF4-FFF2-40B4-BE49-F238E27FC236}">
                <a16:creationId xmlns:a16="http://schemas.microsoft.com/office/drawing/2014/main" id="{2846E097-1551-40FD-B23B-8DADAC85E8F1}"/>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Token saving and cost saving can have opposite signs</a:t>
            </a:r>
          </a:p>
        </p:txBody>
      </p:sp>
      <p:graphicFrame>
        <p:nvGraphicFramePr>
          <p:cNvPr id="6" name="Chart 0"/>
          <p:cNvGraphicFramePr/>
          <p:nvPr/>
        </p:nvGraphicFramePr>
        <p:xfrm>
          <a:off xmlns:a="http://schemas.openxmlformats.org/drawingml/2006/main" x="640080" y="1371600"/>
          <a:ext xmlns:a="http://schemas.openxmlformats.org/drawingml/2006/main" cx="6858000" cy="3703320"/>
        </p:xfrm>
        <a:graphic xmlns:a="http://schemas.openxmlformats.org/drawingml/2006/main">
          <a:graphicData uri="http://schemas.openxmlformats.org/drawingml/2006/chart">
            <c:chart xmlns:r="http://schemas.openxmlformats.org/officeDocument/2006/relationships" xmlns:c="http://schemas.openxmlformats.org/drawingml/2006/chart" r:id="R7f56c977bce348c3"/>
          </a:graphicData>
        </a:graphic>
      </p:graphicFrame>
      <p:sp>
        <p:nvSpPr>
          <p:cNvPr id="7" name="Shape 4">
            <a:extLst xmlns:a="http://schemas.openxmlformats.org/drawingml/2006/main">
              <a:ext uri="{FF2B5EF4-FFF2-40B4-BE49-F238E27FC236}">
                <a16:creationId xmlns:a16="http://schemas.microsoft.com/office/drawing/2014/main" id="{E6673C37-C106-4E55-8D24-CCB6D44DAA8B}"/>
              </a:ext>
            </a:extLst>
          </p:cNvPr>
          <p:cNvSpPr>
            <a:spLocks xmlns:a="http://schemas.openxmlformats.org/drawingml/2006/main" noGrp="1"/>
          </p:cNvSpPr>
          <p:nvPr/>
        </p:nvSpPr>
        <p:spPr>
          <a:xfrm xmlns:a="http://schemas.openxmlformats.org/drawingml/2006/main">
            <a:off x="7726680" y="1371600"/>
            <a:ext cx="3824935" cy="1463040"/>
          </a:xfrm>
          <a:prstGeom xmlns:a="http://schemas.openxmlformats.org/drawingml/2006/main" prst="roundRect">
            <a:avLst>
              <a:gd name="adj" fmla="val 312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CB8E87FA-63B9-4261-B733-5D3E3A6DC28A}"/>
              </a:ext>
            </a:extLst>
          </p:cNvPr>
          <p:cNvSpPr>
            <a:spLocks xmlns:a="http://schemas.openxmlformats.org/drawingml/2006/main" noGrp="1"/>
          </p:cNvSpPr>
          <p:nvPr/>
        </p:nvSpPr>
        <p:spPr>
          <a:xfrm xmlns:a="http://schemas.openxmlformats.org/drawingml/2006/main">
            <a:off x="7964424" y="151790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0D4A54"/>
                </a:solidFill>
                <a:latin typeface="Cambria"/>
                <a:ea typeface="Cambria"/>
                <a:cs typeface="Cambria"/>
              </a:rPr>
              <a:t>Partial compaction is the correct outcome when a workflow commits</a:t>
            </a:r>
          </a:p>
        </p:txBody>
      </p:sp>
      <p:sp>
        <p:nvSpPr>
          <p:cNvPr id="9" name="Text 6">
            <a:extLst xmlns:a="http://schemas.openxmlformats.org/drawingml/2006/main">
              <a:ext uri="{FF2B5EF4-FFF2-40B4-BE49-F238E27FC236}">
                <a16:creationId xmlns:a16="http://schemas.microsoft.com/office/drawing/2014/main" id="{61492F0B-8870-4463-9235-BE098A79EBB4}"/>
              </a:ext>
            </a:extLst>
          </p:cNvPr>
          <p:cNvSpPr>
            <a:spLocks xmlns:a="http://schemas.openxmlformats.org/drawingml/2006/main" noGrp="1"/>
          </p:cNvSpPr>
          <p:nvPr/>
        </p:nvSpPr>
        <p:spPr>
          <a:xfrm xmlns:a="http://schemas.openxmlformats.org/drawingml/2006/main">
            <a:off x="7964424" y="199339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3A5257"/>
                </a:solidFill>
                <a:latin typeface="Calibri"/>
                <a:ea typeface="Calibri"/>
                <a:cs typeface="Calibri"/>
              </a:rPr>
              <a:t>Demo E ends every episode in an irreversible write, so model calls fall 7 → 2 rather than 7 → 1. Tokens fall 66.4% at unchanged quality. This is the shape most real operational workflows have.</a:t>
            </a:r>
          </a:p>
        </p:txBody>
      </p:sp>
      <p:sp>
        <p:nvSpPr>
          <p:cNvPr id="10" name="Shape 7">
            <a:extLst xmlns:a="http://schemas.openxmlformats.org/drawingml/2006/main">
              <a:ext uri="{FF2B5EF4-FFF2-40B4-BE49-F238E27FC236}">
                <a16:creationId xmlns:a16="http://schemas.microsoft.com/office/drawing/2014/main" id="{9CB43F25-F84C-48E6-B5FE-211105BDB4E1}"/>
              </a:ext>
            </a:extLst>
          </p:cNvPr>
          <p:cNvSpPr>
            <a:spLocks xmlns:a="http://schemas.openxmlformats.org/drawingml/2006/main" noGrp="1"/>
          </p:cNvSpPr>
          <p:nvPr/>
        </p:nvSpPr>
        <p:spPr>
          <a:xfrm xmlns:a="http://schemas.openxmlformats.org/drawingml/2006/main">
            <a:off x="7726680" y="3017520"/>
            <a:ext cx="3824935" cy="1463040"/>
          </a:xfrm>
          <a:prstGeom xmlns:a="http://schemas.openxmlformats.org/drawingml/2006/main" prst="roundRect">
            <a:avLst>
              <a:gd name="adj" fmla="val 312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3D43A330-A9DC-4AB5-9F76-A0CF1BFA98E2}"/>
              </a:ext>
            </a:extLst>
          </p:cNvPr>
          <p:cNvSpPr>
            <a:spLocks xmlns:a="http://schemas.openxmlformats.org/drawingml/2006/main" noGrp="1"/>
          </p:cNvSpPr>
          <p:nvPr/>
        </p:nvSpPr>
        <p:spPr>
          <a:xfrm xmlns:a="http://schemas.openxmlformats.org/drawingml/2006/main">
            <a:off x="7964424" y="316382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Refusal reproduces the baseline execution, not the baseline invoice</a:t>
            </a:r>
          </a:p>
        </p:txBody>
      </p:sp>
      <p:sp>
        <p:nvSpPr>
          <p:cNvPr id="12" name="Text 9">
            <a:extLst xmlns:a="http://schemas.openxmlformats.org/drawingml/2006/main">
              <a:ext uri="{FF2B5EF4-FFF2-40B4-BE49-F238E27FC236}">
                <a16:creationId xmlns:a16="http://schemas.microsoft.com/office/drawing/2014/main" id="{8496899E-8C66-4248-83E2-6E6E78E02B56}"/>
              </a:ext>
            </a:extLst>
          </p:cNvPr>
          <p:cNvSpPr>
            <a:spLocks xmlns:a="http://schemas.openxmlformats.org/drawingml/2006/main" noGrp="1"/>
          </p:cNvSpPr>
          <p:nvPr/>
        </p:nvSpPr>
        <p:spPr>
          <a:xfrm xmlns:a="http://schemas.openxmlformats.org/drawingml/2006/main">
            <a:off x="7964424" y="363931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A3A2E"/>
                </a:solidFill>
                <a:latin typeface="Calibri"/>
                <a:ea typeface="Calibri"/>
                <a:cs typeface="Calibri"/>
              </a:rPr>
              <a:t>Three negative controls return the baseline model-call count at identical quality — yet two bill 55.4% and 54.5% more on identical token counts. Prompt-cache warmth, not the refusal, changed the price.</a:t>
            </a:r>
          </a:p>
        </p:txBody>
      </p:sp>
      <p:sp>
        <p:nvSpPr>
          <p:cNvPr id="13" name="Shape 10">
            <a:extLst xmlns:a="http://schemas.openxmlformats.org/drawingml/2006/main">
              <a:ext uri="{FF2B5EF4-FFF2-40B4-BE49-F238E27FC236}">
                <a16:creationId xmlns:a16="http://schemas.microsoft.com/office/drawing/2014/main" id="{8DD7570E-21D3-4A54-BDC5-B4A0BD682A8D}"/>
              </a:ext>
            </a:extLst>
          </p:cNvPr>
          <p:cNvSpPr>
            <a:spLocks xmlns:a="http://schemas.openxmlformats.org/drawingml/2006/main" noGrp="1"/>
          </p:cNvSpPr>
          <p:nvPr/>
        </p:nvSpPr>
        <p:spPr>
          <a:xfrm xmlns:a="http://schemas.openxmlformats.org/drawingml/2006/main">
            <a:off x="7726680" y="4663440"/>
            <a:ext cx="3824935" cy="1700784"/>
          </a:xfrm>
          <a:prstGeom xmlns:a="http://schemas.openxmlformats.org/drawingml/2006/main" prst="roundRect">
            <a:avLst>
              <a:gd name="adj" fmla="val 2688"/>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01F8CD3C-003B-4308-B1F9-3D57206A747F}"/>
              </a:ext>
            </a:extLst>
          </p:cNvPr>
          <p:cNvSpPr>
            <a:spLocks xmlns:a="http://schemas.openxmlformats.org/drawingml/2006/main" noGrp="1"/>
          </p:cNvSpPr>
          <p:nvPr/>
        </p:nvSpPr>
        <p:spPr>
          <a:xfrm xmlns:a="http://schemas.openxmlformats.org/drawingml/2006/main">
            <a:off x="7964424" y="480974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The mechanism is prompt caching</a:t>
            </a:r>
          </a:p>
        </p:txBody>
      </p:sp>
      <p:sp>
        <p:nvSpPr>
          <p:cNvPr id="15" name="Text 12">
            <a:extLst xmlns:a="http://schemas.openxmlformats.org/drawingml/2006/main">
              <a:ext uri="{FF2B5EF4-FFF2-40B4-BE49-F238E27FC236}">
                <a16:creationId xmlns:a16="http://schemas.microsoft.com/office/drawing/2014/main" id="{46FBB58B-A5B8-4797-BC5B-6F5EABB9F002}"/>
              </a:ext>
            </a:extLst>
          </p:cNvPr>
          <p:cNvSpPr>
            <a:spLocks xmlns:a="http://schemas.openxmlformats.org/drawingml/2006/main" noGrp="1"/>
          </p:cNvSpPr>
          <p:nvPr/>
        </p:nvSpPr>
        <p:spPr>
          <a:xfrm xmlns:a="http://schemas.openxmlformats.org/drawingml/2006/main">
            <a:off x="7964424" y="5285232"/>
            <a:ext cx="3349447"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A3A2E"/>
                </a:solidFill>
                <a:latin typeface="Calibri"/>
                <a:ea typeface="Calibri"/>
                <a:cs typeface="Calibri"/>
              </a:rPr>
              <a:t>A seven-turn baseline pays one cache write over a long prefix then reads it six times. A two-turn compacted run pays the write with almost nothing to amortize against. Measured cached-input share falls 96% → 38% (E) and 98% → 58% (F).</a:t>
            </a:r>
          </a:p>
        </p:txBody>
      </p:sp>
      <p:sp>
        <p:nvSpPr>
          <p:cNvPr id="16" name="Text 13">
            <a:extLst xmlns:a="http://schemas.openxmlformats.org/drawingml/2006/main">
              <a:ext uri="{FF2B5EF4-FFF2-40B4-BE49-F238E27FC236}">
                <a16:creationId xmlns:a16="http://schemas.microsoft.com/office/drawing/2014/main" id="{1D52E68E-A45F-4E76-B21F-51E59208E7D8}"/>
              </a:ext>
            </a:extLst>
          </p:cNvPr>
          <p:cNvSpPr>
            <a:spLocks xmlns:a="http://schemas.openxmlformats.org/drawingml/2006/main" noGrp="1"/>
          </p:cNvSpPr>
          <p:nvPr/>
        </p:nvSpPr>
        <p:spPr>
          <a:xfrm xmlns:a="http://schemas.openxmlformats.org/drawingml/2006/main">
            <a:off x="640080" y="5212080"/>
            <a:ext cx="6858000"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50">
                <a:solidFill>
                  <a:srgbClr val="2A4247"/>
                </a:solidFill>
                <a:latin typeface="Calibri"/>
                <a:ea typeface="Calibri"/>
                <a:cs typeface="Calibri"/>
              </a:rPr>
              <a:t>Consequence for anyone building this: reporting token reduction as though it were cost reduction is unsafe. A workflow whose baseline is already cache-dominated has far less dollar headroom than its token headroom implies.</a:t>
            </a:r>
          </a:p>
        </p:txBody>
      </p:sp>
    </p:spTree>
    <p:extLst>
      <p:ext uri="{BB962C8B-B14F-4D97-AF65-F5344CB8AC3E}">
        <p14:creationId xmlns:p14="http://schemas.microsoft.com/office/powerpoint/2010/main" val="31817804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2C0D279-1504-432D-BBED-D777404DDBDE}"/>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CF7F5267-9315-4891-BF00-DF3D5A3D70DB}"/>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18</a:t>
            </a:r>
          </a:p>
        </p:txBody>
      </p:sp>
      <p:sp>
        <p:nvSpPr>
          <p:cNvPr id="4" name="Text 2">
            <a:extLst xmlns:a="http://schemas.openxmlformats.org/drawingml/2006/main">
              <a:ext uri="{FF2B5EF4-FFF2-40B4-BE49-F238E27FC236}">
                <a16:creationId xmlns:a16="http://schemas.microsoft.com/office/drawing/2014/main" id="{0B759F3C-4809-4FBD-9A19-D9BDBD6F182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THE COMPARATOR THAT MATTERS</a:t>
            </a:r>
          </a:p>
        </p:txBody>
      </p:sp>
      <p:sp>
        <p:nvSpPr>
          <p:cNvPr id="5" name="Text 3">
            <a:extLst xmlns:a="http://schemas.openxmlformats.org/drawingml/2006/main">
              <a:ext uri="{FF2B5EF4-FFF2-40B4-BE49-F238E27FC236}">
                <a16:creationId xmlns:a16="http://schemas.microsoft.com/office/drawing/2014/main" id="{54DBE803-C2DD-4131-ABBF-2A67D8DDC178}"/>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Before GCS, the hand macro is the stronger fixed-workflow baseline</a:t>
            </a:r>
          </a:p>
        </p:txBody>
      </p:sp>
      <p:sp>
        <p:nvSpPr>
          <p:cNvPr id="6" name="Text 4">
            <a:extLst xmlns:a="http://schemas.openxmlformats.org/drawingml/2006/main">
              <a:ext uri="{FF2B5EF4-FFF2-40B4-BE49-F238E27FC236}">
                <a16:creationId xmlns:a16="http://schemas.microsoft.com/office/drawing/2014/main" id="{85288096-E575-4C2F-A3E7-BA0E79AA216A}"/>
              </a:ext>
            </a:extLst>
          </p:cNvPr>
          <p:cNvSpPr>
            <a:spLocks xmlns:a="http://schemas.openxmlformats.org/drawingml/2006/main" noGrp="1"/>
          </p:cNvSpPr>
          <p:nvPr/>
        </p:nvSpPr>
        <p:spPr>
          <a:xfrm xmlns:a="http://schemas.openxmlformats.org/drawingml/2006/main">
            <a:off x="640080" y="137160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Against partial GRC, the hand-written composite matches exact quality and request savings while using one interface and fewer tokens. This is the correct baseline for a stable read set.</a:t>
            </a:r>
          </a:p>
        </p:txBody>
      </p:sp>
      <p:sp>
        <p:nvSpPr>
          <p:cNvPr id="7" name="Text 5">
            <a:extLst xmlns:a="http://schemas.openxmlformats.org/drawingml/2006/main">
              <a:ext uri="{FF2B5EF4-FFF2-40B4-BE49-F238E27FC236}">
                <a16:creationId xmlns:a16="http://schemas.microsoft.com/office/drawing/2014/main" id="{C0621218-F176-4CD7-AA70-4F571901DF6B}"/>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7798A"/>
                </a:solidFill>
                <a:latin typeface="Calibri"/>
                <a:ea typeface="Calibri"/>
                <a:cs typeface="Calibri"/>
              </a:rPr>
              <a:t>OFFLINE STRESS SUITE — PAIRED REQUEST RATIO VS THE UNCHANGED AGENT, LOWER IS BETTER</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Workload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GAC</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Wins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r>
              <a:tr h="301752">
                <a:tc>
                  <a:txBody>
                    <a:bodyPr/>
                    <a:lstStyle/>
                    <a:p>
                      <a:pPr marL="0" indent="0">
                        <a:buNone/>
                      </a:pPr>
                      <a:r>
                        <a:rPr sz="1050">
                          <a:solidFill>
                            <a:srgbClr val="2A4247"/>
                          </a:solidFill>
                          <a:latin typeface="Calibri"/>
                          <a:ea typeface="Calibri"/>
                          <a:cs typeface="Calibri"/>
                        </a:rPr>
                        <a:t>Tier-1 support evidence gathering</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0.726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0.755</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Permissioned RAG knowledge assistant</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0.335</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0.718</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Multi-agent incident triage</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0.922</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0.780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GAC</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Multi-tenant MCP ops (negative control)</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0.724</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1.000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Order-fulfillment exception handling</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0.661</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0.642</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GAC</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bl>
          </a:graphicData>
        </a:graphic>
      </p:graphicFrame>
      <p:sp>
        <p:nvSpPr>
          <p:cNvPr id="9" name="Text 6">
            <a:extLst xmlns:a="http://schemas.openxmlformats.org/drawingml/2006/main">
              <a:ext uri="{FF2B5EF4-FFF2-40B4-BE49-F238E27FC236}">
                <a16:creationId xmlns:a16="http://schemas.microsoft.com/office/drawing/2014/main" id="{0982597A-CA25-4A74-BA43-CE916C22DB9C}"/>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C4A2C"/>
                </a:solidFill>
                <a:latin typeface="Calibri"/>
                <a:ea typeface="Calibri"/>
                <a:cs typeface="Calibri"/>
              </a:rPr>
              <a:t>This substrate is simulated — a scripted policy stands in for the model at each boundary — so these ratios settle that the comparison was run, not the live question. </a:t>
            </a:r>
            <a:r>
              <a:rPr sz="1050" i="1">
                <a:solidFill>
                  <a:srgbClr val="5F767A"/>
                </a:solidFill>
                <a:latin typeface="Calibri"/>
                <a:ea typeface="Calibri"/>
                <a:cs typeface="Calibri"/>
              </a:rPr>
              <a:t>On the negative control the macro takes a 27.6% saving that GAC refuses because the tool effects are undeclared and the catalog fails closed: prudence or lost value depends on whether those tools really are read-only.</a:t>
            </a:r>
          </a:p>
        </p:txBody>
      </p:sp>
      <p:sp>
        <p:nvSpPr>
          <p:cNvPr id="10" name="Shape 7">
            <a:extLst xmlns:a="http://schemas.openxmlformats.org/drawingml/2006/main">
              <a:ext uri="{FF2B5EF4-FFF2-40B4-BE49-F238E27FC236}">
                <a16:creationId xmlns:a16="http://schemas.microsoft.com/office/drawing/2014/main" id="{C87DE052-D4FC-4914-927D-10DD14CD4B35}"/>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054CD327-64BE-4FA5-974F-EAED530D8071}"/>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2E886399-FA77-46E7-AF39-6729B4BCB29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71DADF03-553C-4D0C-930E-DC9C7FC3C0EB}"/>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C4A2C"/>
                </a:solidFill>
                <a:latin typeface="Cambria"/>
                <a:ea typeface="Cambria"/>
                <a:cs typeface="Cambria"/>
              </a:rPr>
              <a:t>Write the composite tool when…</a:t>
            </a:r>
          </a:p>
        </p:txBody>
      </p:sp>
      <p:sp>
        <p:nvSpPr>
          <p:cNvPr id="14" name="Text 11">
            <a:extLst xmlns:a="http://schemas.openxmlformats.org/drawingml/2006/main">
              <a:ext uri="{FF2B5EF4-FFF2-40B4-BE49-F238E27FC236}">
                <a16:creationId xmlns:a16="http://schemas.microsoft.com/office/drawing/2014/main" id="{B34CB675-8D0D-4FD7-A3C1-3710D182FC35}"/>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the read set is stable and low-entropy</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the effects are already understood by a human</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one interface redesign can fuse the reads</a:t>
            </a:r>
          </a:p>
        </p:txBody>
      </p:sp>
      <p:sp>
        <p:nvSpPr>
          <p:cNvPr id="15" name="Shape 12">
            <a:extLst xmlns:a="http://schemas.openxmlformats.org/drawingml/2006/main">
              <a:ext uri="{FF2B5EF4-FFF2-40B4-BE49-F238E27FC236}">
                <a16:creationId xmlns:a16="http://schemas.microsoft.com/office/drawing/2014/main" id="{330BA409-DD0A-4066-9AB8-55D80C3A2D51}"/>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FE1404C4-A8D9-4AF7-B8BE-D83874F4A303}"/>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28F35CF6-64EA-4B6C-93BB-84B82A388156}"/>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E2894A91-423A-4EB3-B773-A067BE0BF387}"/>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Compile when…</a:t>
            </a:r>
          </a:p>
        </p:txBody>
      </p:sp>
      <p:sp>
        <p:nvSpPr>
          <p:cNvPr id="8" name="Text 16">
            <a:extLst xmlns:a="http://schemas.openxmlformats.org/drawingml/2006/main">
              <a:ext uri="{FF2B5EF4-FFF2-40B4-BE49-F238E27FC236}">
                <a16:creationId xmlns:a16="http://schemas.microsoft.com/office/drawing/2014/main" id="{66DB7AFA-30B9-4B02-979E-5C73841399A8}"/>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which reads to make is itself the recurrent structure</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the region is branch-dependent</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manual discovery and maintenance would not amortize</a:t>
            </a:r>
          </a:p>
        </p:txBody>
      </p:sp>
      <p:sp>
        <p:nvSpPr>
          <p:cNvPr id="20" name="Shape 17">
            <a:extLst xmlns:a="http://schemas.openxmlformats.org/drawingml/2006/main">
              <a:ext uri="{FF2B5EF4-FFF2-40B4-BE49-F238E27FC236}">
                <a16:creationId xmlns:a16="http://schemas.microsoft.com/office/drawing/2014/main" id="{396A84DB-ABA9-47E1-9DC2-5562BB2DE627}"/>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6C6E4B08-E1D2-4269-9096-17AEAB1D867D}"/>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D4A54"/>
                </a:solidFill>
                <a:latin typeface="Calibri"/>
                <a:ea typeface="Calibri"/>
                <a:cs typeface="Calibri"/>
              </a:rPr>
              <a:t>Live confirmation: </a:t>
            </a:r>
            <a:r>
              <a:rPr sz="1200">
                <a:solidFill>
                  <a:srgbClr val="2A4247"/>
                </a:solidFill>
                <a:latin typeface="Calibri"/>
                <a:ea typeface="Calibri"/>
                <a:cs typeface="Calibri"/>
              </a:rPr>
              <a:t>on 30 real issues the macro matched the compiler's request count, used one tool call instead of three, and beat it on tokens (−58.2% vs −39.5%) and cost (−37.5% vs −32.0%). Only observed wall latency favoured the compiler — and that paired interval crosses zero.</a:t>
            </a:r>
          </a:p>
        </p:txBody>
      </p:sp>
    </p:spTree>
    <p:extLst>
      <p:ext uri="{BB962C8B-B14F-4D97-AF65-F5344CB8AC3E}">
        <p14:creationId xmlns:p14="http://schemas.microsoft.com/office/powerpoint/2010/main" val="142532489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2C0D279-1504-432D-BBED-D777404DDBDE}"/>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CF7F5267-9315-4891-BF00-DF3D5A3D70DB}"/>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19</a:t>
            </a:r>
          </a:p>
        </p:txBody>
      </p:sp>
      <p:sp>
        <p:nvSpPr>
          <p:cNvPr id="4" name="Text 2">
            <a:extLst xmlns:a="http://schemas.openxmlformats.org/drawingml/2006/main">
              <a:ext uri="{FF2B5EF4-FFF2-40B4-BE49-F238E27FC236}">
                <a16:creationId xmlns:a16="http://schemas.microsoft.com/office/drawing/2014/main" id="{0B759F3C-4809-4FBD-9A19-D9BDBD6F182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GCS  ·  FRESH REAL-PROVIDER COMPARISON</a:t>
            </a:r>
          </a:p>
        </p:txBody>
      </p:sp>
      <p:sp>
        <p:nvSpPr>
          <p:cNvPr id="5" name="Text 3">
            <a:extLst xmlns:a="http://schemas.openxmlformats.org/drawingml/2006/main">
              <a:ext uri="{FF2B5EF4-FFF2-40B4-BE49-F238E27FC236}">
                <a16:creationId xmlns:a16="http://schemas.microsoft.com/office/drawing/2014/main" id="{54DBE803-C2DD-4131-ABBF-2A67D8DDC178}"/>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GCS removes the measured macro's extra model turn</a:t>
            </a:r>
          </a:p>
        </p:txBody>
      </p:sp>
      <p:sp>
        <p:nvSpPr>
          <p:cNvPr id="6" name="Text 4">
            <a:extLst xmlns:a="http://schemas.openxmlformats.org/drawingml/2006/main">
              <a:ext uri="{FF2B5EF4-FFF2-40B4-BE49-F238E27FC236}">
                <a16:creationId xmlns:a16="http://schemas.microsoft.com/office/drawing/2014/main" id="{85288096-E575-4C2F-A3E7-BA0E79AA216A}"/>
              </a:ext>
            </a:extLst>
          </p:cNvPr>
          <p:cNvSpPr>
            <a:spLocks xmlns:a="http://schemas.openxmlformats.org/drawingml/2006/main" noGrp="1"/>
          </p:cNvSpPr>
          <p:nvPr/>
        </p:nvSpPr>
        <p:spPr>
          <a:xfrm xmlns:a="http://schemas.openxmlformats.org/drawingml/2006/main">
            <a:off x="640080" y="137160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Both arms pass 12/12 exact contracts. GCS executes the admitted three-read program before request one and returns one task-specific observation.</a:t>
            </a:r>
          </a:p>
        </p:txBody>
      </p:sp>
      <p:sp>
        <p:nvSpPr>
          <p:cNvPr id="7" name="Text 5">
            <a:extLst xmlns:a="http://schemas.openxmlformats.org/drawingml/2006/main">
              <a:ext uri="{FF2B5EF4-FFF2-40B4-BE49-F238E27FC236}">
                <a16:creationId xmlns:a16="http://schemas.microsoft.com/office/drawing/2014/main" id="{C0621218-F176-4CD7-AA70-4F571901DF6B}"/>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7798A"/>
                </a:solidFill>
                <a:latin typeface="Calibri"/>
                <a:ea typeface="Calibri"/>
                <a:cs typeface="Calibri"/>
              </a:rPr>
              <a:t>12 FRESH, CALIBRATION-DISJOINT PUBLIC ISSUES — LOWER RESOURCE USE IS BETTER</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Metric</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GCS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Result</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r>
              <a:tr h="301752">
                <a:tc>
                  <a:txBody>
                    <a:bodyPr/>
                    <a:lstStyle/>
                    <a:p>
                      <a:pPr marL="0" indent="0">
                        <a:buNone/>
                      </a:pPr>
                      <a:r>
                        <a:rPr sz="1050">
                          <a:solidFill>
                            <a:srgbClr val="2A4247"/>
                          </a:solidFill>
                          <a:latin typeface="Calibri"/>
                          <a:ea typeface="Calibri"/>
                          <a:cs typeface="Calibri"/>
                        </a:rPr>
                        <a:t>Provider requests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2.00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1.00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−50.0%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Tool interfaces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1.00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1.00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tie</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Total tokens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1,524</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931</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−38.9%</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Wall latency</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2,485 ms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1,490 ms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−40.0%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Estimated cost</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$0.000430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$0.000291</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−32.3%</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bl>
          </a:graphicData>
        </a:graphic>
      </p:graphicFrame>
      <p:sp>
        <p:nvSpPr>
          <p:cNvPr id="9" name="Text 6">
            <a:extLst xmlns:a="http://schemas.openxmlformats.org/drawingml/2006/main">
              <a:ext uri="{FF2B5EF4-FFF2-40B4-BE49-F238E27FC236}">
                <a16:creationId xmlns:a16="http://schemas.microsoft.com/office/drawing/2014/main" id="{0982597A-CA25-4A74-BA43-CE916C22DB9C}"/>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C4A2C"/>
                </a:solidFill>
                <a:latin typeface="Calibri"/>
                <a:ea typeface="Calibri"/>
                <a:cs typeface="Calibri"/>
              </a:rPr>
              <a:t>Real public issue records, live provider calls, counterbalanced order, and no overlap with 424 earlier issue IDs. Interfaces tie 1–1; source reads tie 3–3.</a:t>
            </a:r>
          </a:p>
        </p:txBody>
      </p:sp>
      <p:sp>
        <p:nvSpPr>
          <p:cNvPr id="10" name="Shape 7">
            <a:extLst xmlns:a="http://schemas.openxmlformats.org/drawingml/2006/main">
              <a:ext uri="{FF2B5EF4-FFF2-40B4-BE49-F238E27FC236}">
                <a16:creationId xmlns:a16="http://schemas.microsoft.com/office/drawing/2014/main" id="{C87DE052-D4FC-4914-927D-10DD14CD4B35}"/>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054CD327-64BE-4FA5-974F-EAED530D8071}"/>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2E886399-FA77-46E7-AF39-6729B4BCB29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71DADF03-553C-4D0C-930E-DC9C7FC3C0EB}"/>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C4A2C"/>
                </a:solidFill>
                <a:latin typeface="Cambria"/>
                <a:ea typeface="Cambria"/>
                <a:cs typeface="Cambria"/>
              </a:rPr>
              <a:t>GCS wins the measured interface when…</a:t>
            </a:r>
          </a:p>
        </p:txBody>
      </p:sp>
      <p:sp>
        <p:nvSpPr>
          <p:cNvPr id="14" name="Text 11">
            <a:extLst xmlns:a="http://schemas.openxmlformats.org/drawingml/2006/main">
              <a:ext uri="{FF2B5EF4-FFF2-40B4-BE49-F238E27FC236}">
                <a16:creationId xmlns:a16="http://schemas.microsoft.com/office/drawing/2014/main" id="{B34CB675-8D0D-4FD7-A3C1-3710D182FC35}"/>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the read program already passed admission</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task projection is live-out-only and bounded</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the continuation manifest is pinned exactly</a:t>
            </a:r>
          </a:p>
        </p:txBody>
      </p:sp>
      <p:sp>
        <p:nvSpPr>
          <p:cNvPr id="15" name="Shape 12">
            <a:extLst xmlns:a="http://schemas.openxmlformats.org/drawingml/2006/main">
              <a:ext uri="{FF2B5EF4-FFF2-40B4-BE49-F238E27FC236}">
                <a16:creationId xmlns:a16="http://schemas.microsoft.com/office/drawing/2014/main" id="{330BA409-DD0A-4066-9AB8-55D80C3A2D51}"/>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FE1404C4-A8D9-4AF7-B8BE-D83874F4A303}"/>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28F35CF6-64EA-4B6C-93BB-84B82A388156}"/>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E2894A91-423A-4EB3-B773-A067BE0BF387}"/>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The remaining comparator…</a:t>
            </a:r>
          </a:p>
        </p:txBody>
      </p:sp>
      <p:sp>
        <p:nvSpPr>
          <p:cNvPr id="8" name="Text 16">
            <a:extLst xmlns:a="http://schemas.openxmlformats.org/drawingml/2006/main">
              <a:ext uri="{FF2B5EF4-FFF2-40B4-BE49-F238E27FC236}">
                <a16:creationId xmlns:a16="http://schemas.microsoft.com/office/drawing/2014/main" id="{66DB7AFA-30B9-4B02-979E-5C73841399A8}"/>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an equally pre-executed manual macro</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the same projection and continuation contract</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multiple workflow families and time-forward drift</a:t>
            </a:r>
          </a:p>
        </p:txBody>
      </p:sp>
      <p:sp>
        <p:nvSpPr>
          <p:cNvPr id="20" name="Shape 17">
            <a:extLst xmlns:a="http://schemas.openxmlformats.org/drawingml/2006/main">
              <a:ext uri="{FF2B5EF4-FFF2-40B4-BE49-F238E27FC236}">
                <a16:creationId xmlns:a16="http://schemas.microsoft.com/office/drawing/2014/main" id="{396A84DB-ABA9-47E1-9DC2-5562BB2DE627}"/>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6C6E4B08-E1D2-4269-9096-17AEAB1D867D}"/>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D4A54"/>
                </a:solidFill>
                <a:latin typeface="Calibri"/>
                <a:ea typeface="Calibri"/>
                <a:cs typeface="Calibri"/>
              </a:rPr>
              <a:t>Placement explains the gain: the provider-visible macro spends one request selecting its composite and another answering; GCS verifies and executes before request one. This is exploratory one-family evidence and does not test an equally pre-executed manual macro.</a:t>
            </a:r>
          </a:p>
        </p:txBody>
      </p:sp>
    </p:spTree>
    <p:extLst>
      <p:ext uri="{BB962C8B-B14F-4D97-AF65-F5344CB8AC3E}">
        <p14:creationId xmlns:p14="http://schemas.microsoft.com/office/powerpoint/2010/main" val="142532489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C22F317-1A13-4777-915D-888161FB494C}"/>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19BDAEB5-C847-41EA-B8D8-38AB14741BAC}"/>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20</a:t>
            </a:r>
          </a:p>
        </p:txBody>
      </p:sp>
      <p:sp>
        <p:nvSpPr>
          <p:cNvPr id="4" name="Text 2">
            <a:extLst xmlns:a="http://schemas.openxmlformats.org/drawingml/2006/main">
              <a:ext uri="{FF2B5EF4-FFF2-40B4-BE49-F238E27FC236}">
                <a16:creationId xmlns:a16="http://schemas.microsoft.com/office/drawing/2014/main" id="{8A84BEE6-8C76-4E33-B8CD-9F8D51FF7A1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5  ·  RQ5</a:t>
            </a:r>
          </a:p>
        </p:txBody>
      </p:sp>
      <p:sp>
        <p:nvSpPr>
          <p:cNvPr id="5" name="Text 3">
            <a:extLst xmlns:a="http://schemas.openxmlformats.org/drawingml/2006/main">
              <a:ext uri="{FF2B5EF4-FFF2-40B4-BE49-F238E27FC236}">
                <a16:creationId xmlns:a16="http://schemas.microsoft.com/office/drawing/2014/main" id="{FB0FD7D5-0B49-40F2-B3D3-95445E18C181}"/>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A portfolio layer that only compares things it has measured</a:t>
            </a:r>
          </a:p>
        </p:txBody>
      </p:sp>
      <p:sp>
        <p:nvSpPr>
          <p:cNvPr id="6" name="Text 4">
            <a:extLst xmlns:a="http://schemas.openxmlformats.org/drawingml/2006/main">
              <a:ext uri="{FF2B5EF4-FFF2-40B4-BE49-F238E27FC236}">
                <a16:creationId xmlns:a16="http://schemas.microsoft.com/office/drawing/2014/main" id="{0B8A190D-8207-4321-A11C-9E46A287DB0D}"/>
              </a:ext>
            </a:extLst>
          </p:cNvPr>
          <p:cNvSpPr>
            <a:spLocks xmlns:a="http://schemas.openxmlformats.org/drawingml/2006/main" noGrp="1"/>
          </p:cNvSpPr>
          <p:nvPr/>
        </p:nvSpPr>
        <p:spPr>
          <a:xfrm xmlns:a="http://schemas.openxmlformats.org/drawingml/2006/main">
            <a:off x="640080" y="1408176"/>
            <a:ext cx="5943600" cy="1874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00">
                <a:solidFill>
                  <a:srgbClr val="2A4247"/>
                </a:solidFill>
                <a:latin typeface="Calibri"/>
                <a:ea typeface="Calibri"/>
                <a:cs typeface="Calibri"/>
              </a:rPr>
              <a:t>The compiler's action set stays binary. A separate layer consumes paired measurements for named actions on the same independent workflow groups.</a:t>
            </a:r>
          </a:p>
          <a:p xmlns:a="http://schemas.openxmlformats.org/drawingml/2006/main">
            <a:pPr marL="342900" indent="-342900">
              <a:lnSpc>
                <a:spcPct val="106000"/>
              </a:lnSpc>
              <a:spcAft>
                <a:spcPts val="700"/>
              </a:spcAft>
              <a:buChar char="•"/>
            </a:pPr>
            <a:r>
              <a:rPr sz="1200">
                <a:solidFill>
                  <a:srgbClr val="2A4247"/>
                </a:solidFill>
                <a:latin typeface="Calibri"/>
                <a:ea typeface="Calibri"/>
                <a:cs typeface="Calibri"/>
              </a:rPr>
              <a:t>Missing evidence creates no candidate row — an unmeasured action cannot be imputed into a recommendation.</a:t>
            </a:r>
          </a:p>
          <a:p xmlns:a="http://schemas.openxmlformats.org/drawingml/2006/main">
            <a:pPr marL="342900" indent="-342900">
              <a:lnSpc>
                <a:spcPct val="106000"/>
              </a:lnSpc>
              <a:spcAft>
                <a:spcPts val="700"/>
              </a:spcAft>
              <a:buChar char="•"/>
            </a:pPr>
            <a:r>
              <a:rPr sz="1200">
                <a:solidFill>
                  <a:srgbClr val="2A4247"/>
                </a:solidFill>
                <a:latin typeface="Calibri"/>
                <a:ea typeface="Calibri"/>
                <a:cs typeface="Calibri"/>
              </a:rPr>
              <a:t>Macros default to human review: the library returns a decision record, evidence, and rationale, never generated application code.</a:t>
            </a:r>
          </a:p>
        </p:txBody>
      </p:sp>
      <p:graphicFrame>
        <p:nvGraphicFramePr>
          <p:cNvPr id="7" name="Chart 0"/>
          <p:cNvGraphicFramePr/>
          <p:nvPr/>
        </p:nvGraphicFramePr>
        <p:xfrm>
          <a:off xmlns:a="http://schemas.openxmlformats.org/drawingml/2006/main" x="640080" y="3401568"/>
          <a:ext xmlns:a="http://schemas.openxmlformats.org/drawingml/2006/main" cx="5943600" cy="1572768"/>
        </p:xfrm>
        <a:graphic xmlns:a="http://schemas.openxmlformats.org/drawingml/2006/main">
          <a:graphicData uri="http://schemas.openxmlformats.org/drawingml/2006/chart">
            <c:chart xmlns:r="http://schemas.openxmlformats.org/officeDocument/2006/relationships" xmlns:c="http://schemas.openxmlformats.org/drawingml/2006/chart" r:id="Rbcbff712ee0449ad"/>
          </a:graphicData>
        </a:graphic>
      </p:graphicFrame>
      <p:sp>
        <p:nvSpPr>
          <p:cNvPr id="8" name="Text 5">
            <a:extLst xmlns:a="http://schemas.openxmlformats.org/drawingml/2006/main">
              <a:ext uri="{FF2B5EF4-FFF2-40B4-BE49-F238E27FC236}">
                <a16:creationId xmlns:a16="http://schemas.microsoft.com/office/drawing/2014/main" id="{450F6A55-666F-4C2B-A377-3701B7CC9214}"/>
              </a:ext>
            </a:extLst>
          </p:cNvPr>
          <p:cNvSpPr>
            <a:spLocks xmlns:a="http://schemas.openxmlformats.org/drawingml/2006/main" noGrp="1"/>
          </p:cNvSpPr>
          <p:nvPr/>
        </p:nvSpPr>
        <p:spPr>
          <a:xfrm xmlns:a="http://schemas.openxmlformats.org/drawingml/2006/main">
            <a:off x="640080" y="5084064"/>
            <a:ext cx="59436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5F767A"/>
                </a:solidFill>
                <a:latin typeface="Calibri"/>
                <a:ea typeface="Calibri"/>
                <a:cs typeface="Calibri"/>
              </a:rPr>
              <a:t>Both actions were admitted — zero quality failures, zero non-positive-utility groups, exact upper bounds 0.136 against a 15% pilot limit. The higher-utility macro was selected and flagged for explicit review.</a:t>
            </a:r>
          </a:p>
        </p:txBody>
      </p:sp>
      <p:sp>
        <p:nvSpPr>
          <p:cNvPr id="9" name="Shape 6">
            <a:extLst xmlns:a="http://schemas.openxmlformats.org/drawingml/2006/main">
              <a:ext uri="{FF2B5EF4-FFF2-40B4-BE49-F238E27FC236}">
                <a16:creationId xmlns:a16="http://schemas.microsoft.com/office/drawing/2014/main" id="{0AD97B5E-9BAC-4EF6-A238-AD7548E6FDB5}"/>
              </a:ext>
            </a:extLst>
          </p:cNvPr>
          <p:cNvSpPr>
            <a:spLocks xmlns:a="http://schemas.openxmlformats.org/drawingml/2006/main" noGrp="1"/>
          </p:cNvSpPr>
          <p:nvPr/>
        </p:nvSpPr>
        <p:spPr>
          <a:xfrm xmlns:a="http://schemas.openxmlformats.org/drawingml/2006/main">
            <a:off x="6949440" y="1408176"/>
            <a:ext cx="4602175" cy="3657600"/>
          </a:xfrm>
          <a:prstGeom xmlns:a="http://schemas.openxmlformats.org/drawingml/2006/main" prst="roundRect">
            <a:avLst>
              <a:gd name="adj" fmla="val 1250"/>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680B248A-0F83-4430-A60F-9F50289AF491}"/>
              </a:ext>
            </a:extLst>
          </p:cNvPr>
          <p:cNvSpPr>
            <a:spLocks xmlns:a="http://schemas.openxmlformats.org/drawingml/2006/main" noGrp="1"/>
          </p:cNvSpPr>
          <p:nvPr/>
        </p:nvSpPr>
        <p:spPr>
          <a:xfrm xmlns:a="http://schemas.openxmlformats.org/drawingml/2006/main">
            <a:off x="7223760" y="1572768"/>
            <a:ext cx="4053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PROSPECTIVE TEST — 12 FRESH PUBLIC ISSUES, DECISION FROZEN FIRST</a:t>
            </a:r>
          </a:p>
        </p:txBody>
      </p:sp>
      <p:sp>
        <p:nvSpPr>
          <p:cNvPr id="11" name="Text 8">
            <a:extLst xmlns:a="http://schemas.openxmlformats.org/drawingml/2006/main">
              <a:ext uri="{FF2B5EF4-FFF2-40B4-BE49-F238E27FC236}">
                <a16:creationId xmlns:a16="http://schemas.microsoft.com/office/drawing/2014/main" id="{A5E98FF0-D79D-4750-95A2-4079CDA12FA9}"/>
              </a:ext>
            </a:extLst>
          </p:cNvPr>
          <p:cNvSpPr>
            <a:spLocks xmlns:a="http://schemas.openxmlformats.org/drawingml/2006/main" noGrp="1"/>
          </p:cNvSpPr>
          <p:nvPr/>
        </p:nvSpPr>
        <p:spPr>
          <a:xfrm xmlns:a="http://schemas.openxmlformats.org/drawingml/2006/main">
            <a:off x="7223760" y="19202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17798A"/>
                </a:solidFill>
                <a:latin typeface="Cambria"/>
                <a:ea typeface="Cambria"/>
                <a:cs typeface="Cambria"/>
              </a:rPr>
              <a:t>12 / 12</a:t>
            </a:r>
          </a:p>
        </p:txBody>
      </p:sp>
      <p:sp>
        <p:nvSpPr>
          <p:cNvPr id="12" name="Text 9">
            <a:extLst xmlns:a="http://schemas.openxmlformats.org/drawingml/2006/main">
              <a:ext uri="{FF2B5EF4-FFF2-40B4-BE49-F238E27FC236}">
                <a16:creationId xmlns:a16="http://schemas.microsoft.com/office/drawing/2014/main" id="{21E1517A-5B2F-411A-A532-A05D3B1C06EC}"/>
              </a:ext>
            </a:extLst>
          </p:cNvPr>
          <p:cNvSpPr>
            <a:spLocks xmlns:a="http://schemas.openxmlformats.org/drawingml/2006/main" noGrp="1"/>
          </p:cNvSpPr>
          <p:nvPr/>
        </p:nvSpPr>
        <p:spPr>
          <a:xfrm xmlns:a="http://schemas.openxmlformats.org/drawingml/2006/main">
            <a:off x="8613648" y="19202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exact factual and full task contracts preserved</a:t>
            </a:r>
          </a:p>
        </p:txBody>
      </p:sp>
      <p:sp>
        <p:nvSpPr>
          <p:cNvPr id="13" name="Text 10">
            <a:extLst xmlns:a="http://schemas.openxmlformats.org/drawingml/2006/main">
              <a:ext uri="{FF2B5EF4-FFF2-40B4-BE49-F238E27FC236}">
                <a16:creationId xmlns:a16="http://schemas.microsoft.com/office/drawing/2014/main" id="{362E3831-1138-41F5-AE9A-580BF7E5D109}"/>
              </a:ext>
            </a:extLst>
          </p:cNvPr>
          <p:cNvSpPr>
            <a:spLocks xmlns:a="http://schemas.openxmlformats.org/drawingml/2006/main" noGrp="1"/>
          </p:cNvSpPr>
          <p:nvPr/>
        </p:nvSpPr>
        <p:spPr>
          <a:xfrm xmlns:a="http://schemas.openxmlformats.org/drawingml/2006/main">
            <a:off x="7223760" y="242316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−50.0%</a:t>
            </a:r>
          </a:p>
        </p:txBody>
      </p:sp>
      <p:sp>
        <p:nvSpPr>
          <p:cNvPr id="14" name="Text 11">
            <a:extLst xmlns:a="http://schemas.openxmlformats.org/drawingml/2006/main">
              <a:ext uri="{FF2B5EF4-FFF2-40B4-BE49-F238E27FC236}">
                <a16:creationId xmlns:a16="http://schemas.microsoft.com/office/drawing/2014/main" id="{4CF7735D-4CBA-4808-B76E-A8EB57CC084C}"/>
              </a:ext>
            </a:extLst>
          </p:cNvPr>
          <p:cNvSpPr>
            <a:spLocks xmlns:a="http://schemas.openxmlformats.org/drawingml/2006/main" noGrp="1"/>
          </p:cNvSpPr>
          <p:nvPr/>
        </p:nvSpPr>
        <p:spPr>
          <a:xfrm xmlns:a="http://schemas.openxmlformats.org/drawingml/2006/main">
            <a:off x="8613648" y="242316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provider requests (4 → 2)</a:t>
            </a:r>
          </a:p>
        </p:txBody>
      </p:sp>
      <p:sp>
        <p:nvSpPr>
          <p:cNvPr id="15" name="Text 12">
            <a:extLst xmlns:a="http://schemas.openxmlformats.org/drawingml/2006/main">
              <a:ext uri="{FF2B5EF4-FFF2-40B4-BE49-F238E27FC236}">
                <a16:creationId xmlns:a16="http://schemas.microsoft.com/office/drawing/2014/main" id="{7FE9E0A0-E91A-47D7-AB60-2E57D41FF363}"/>
              </a:ext>
            </a:extLst>
          </p:cNvPr>
          <p:cNvSpPr>
            <a:spLocks xmlns:a="http://schemas.openxmlformats.org/drawingml/2006/main" noGrp="1"/>
          </p:cNvSpPr>
          <p:nvPr/>
        </p:nvSpPr>
        <p:spPr>
          <a:xfrm xmlns:a="http://schemas.openxmlformats.org/drawingml/2006/main">
            <a:off x="7223760" y="292608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−66.7%</a:t>
            </a:r>
          </a:p>
        </p:txBody>
      </p:sp>
      <p:sp>
        <p:nvSpPr>
          <p:cNvPr id="16" name="Text 13">
            <a:extLst xmlns:a="http://schemas.openxmlformats.org/drawingml/2006/main">
              <a:ext uri="{FF2B5EF4-FFF2-40B4-BE49-F238E27FC236}">
                <a16:creationId xmlns:a16="http://schemas.microsoft.com/office/drawing/2014/main" id="{9E427EB9-B2C0-45AF-91A0-D509675412A0}"/>
              </a:ext>
            </a:extLst>
          </p:cNvPr>
          <p:cNvSpPr>
            <a:spLocks xmlns:a="http://schemas.openxmlformats.org/drawingml/2006/main" noGrp="1"/>
          </p:cNvSpPr>
          <p:nvPr/>
        </p:nvSpPr>
        <p:spPr>
          <a:xfrm xmlns:a="http://schemas.openxmlformats.org/drawingml/2006/main">
            <a:off x="8613648" y="292608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tool calls (3 → 1)</a:t>
            </a:r>
          </a:p>
        </p:txBody>
      </p:sp>
      <p:sp>
        <p:nvSpPr>
          <p:cNvPr id="17" name="Text 14">
            <a:extLst xmlns:a="http://schemas.openxmlformats.org/drawingml/2006/main">
              <a:ext uri="{FF2B5EF4-FFF2-40B4-BE49-F238E27FC236}">
                <a16:creationId xmlns:a16="http://schemas.microsoft.com/office/drawing/2014/main" id="{269A9ED8-86F4-46B2-AE0D-FD457290C40C}"/>
              </a:ext>
            </a:extLst>
          </p:cNvPr>
          <p:cNvSpPr>
            <a:spLocks xmlns:a="http://schemas.openxmlformats.org/drawingml/2006/main" noGrp="1"/>
          </p:cNvSpPr>
          <p:nvPr/>
        </p:nvSpPr>
        <p:spPr>
          <a:xfrm xmlns:a="http://schemas.openxmlformats.org/drawingml/2006/main">
            <a:off x="7223760" y="342900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−59.2%</a:t>
            </a:r>
          </a:p>
        </p:txBody>
      </p:sp>
      <p:sp>
        <p:nvSpPr>
          <p:cNvPr id="18" name="Text 15">
            <a:extLst xmlns:a="http://schemas.openxmlformats.org/drawingml/2006/main">
              <a:ext uri="{FF2B5EF4-FFF2-40B4-BE49-F238E27FC236}">
                <a16:creationId xmlns:a16="http://schemas.microsoft.com/office/drawing/2014/main" id="{E3651301-C52D-4758-BE0A-3784CF5B0AC2}"/>
              </a:ext>
            </a:extLst>
          </p:cNvPr>
          <p:cNvSpPr>
            <a:spLocks xmlns:a="http://schemas.openxmlformats.org/drawingml/2006/main" noGrp="1"/>
          </p:cNvSpPr>
          <p:nvPr/>
        </p:nvSpPr>
        <p:spPr>
          <a:xfrm xmlns:a="http://schemas.openxmlformats.org/drawingml/2006/main">
            <a:off x="8613648" y="342900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total tokens</a:t>
            </a:r>
          </a:p>
        </p:txBody>
      </p:sp>
      <p:sp>
        <p:nvSpPr>
          <p:cNvPr id="19" name="Text 16">
            <a:extLst xmlns:a="http://schemas.openxmlformats.org/drawingml/2006/main">
              <a:ext uri="{FF2B5EF4-FFF2-40B4-BE49-F238E27FC236}">
                <a16:creationId xmlns:a16="http://schemas.microsoft.com/office/drawing/2014/main" id="{62F51241-259D-4183-BE40-9D723FEECD11}"/>
              </a:ext>
            </a:extLst>
          </p:cNvPr>
          <p:cNvSpPr>
            <a:spLocks xmlns:a="http://schemas.openxmlformats.org/drawingml/2006/main" noGrp="1"/>
          </p:cNvSpPr>
          <p:nvPr/>
        </p:nvSpPr>
        <p:spPr>
          <a:xfrm xmlns:a="http://schemas.openxmlformats.org/drawingml/2006/main">
            <a:off x="7223760" y="393192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−40.6%</a:t>
            </a:r>
          </a:p>
        </p:txBody>
      </p:sp>
      <p:sp>
        <p:nvSpPr>
          <p:cNvPr id="20" name="Text 17">
            <a:extLst xmlns:a="http://schemas.openxmlformats.org/drawingml/2006/main">
              <a:ext uri="{FF2B5EF4-FFF2-40B4-BE49-F238E27FC236}">
                <a16:creationId xmlns:a16="http://schemas.microsoft.com/office/drawing/2014/main" id="{A87474DA-AABB-4654-9026-7AB8C18505F7}"/>
              </a:ext>
            </a:extLst>
          </p:cNvPr>
          <p:cNvSpPr>
            <a:spLocks xmlns:a="http://schemas.openxmlformats.org/drawingml/2006/main" noGrp="1"/>
          </p:cNvSpPr>
          <p:nvPr/>
        </p:nvSpPr>
        <p:spPr>
          <a:xfrm xmlns:a="http://schemas.openxmlformats.org/drawingml/2006/main">
            <a:off x="8613648" y="393192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estimated cost</a:t>
            </a:r>
          </a:p>
        </p:txBody>
      </p:sp>
      <p:sp>
        <p:nvSpPr>
          <p:cNvPr id="21" name="Text 18">
            <a:extLst xmlns:a="http://schemas.openxmlformats.org/drawingml/2006/main">
              <a:ext uri="{FF2B5EF4-FFF2-40B4-BE49-F238E27FC236}">
                <a16:creationId xmlns:a16="http://schemas.microsoft.com/office/drawing/2014/main" id="{A2E4302D-60F3-4DC7-83ED-D3875D5C47FC}"/>
              </a:ext>
            </a:extLst>
          </p:cNvPr>
          <p:cNvSpPr>
            <a:spLocks xmlns:a="http://schemas.openxmlformats.org/drawingml/2006/main" noGrp="1"/>
          </p:cNvSpPr>
          <p:nvPr/>
        </p:nvSpPr>
        <p:spPr>
          <a:xfrm xmlns:a="http://schemas.openxmlformats.org/drawingml/2006/main">
            <a:off x="7223760" y="44348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−71.6%</a:t>
            </a:r>
          </a:p>
        </p:txBody>
      </p:sp>
      <p:sp>
        <p:nvSpPr>
          <p:cNvPr id="22" name="Text 19">
            <a:extLst xmlns:a="http://schemas.openxmlformats.org/drawingml/2006/main">
              <a:ext uri="{FF2B5EF4-FFF2-40B4-BE49-F238E27FC236}">
                <a16:creationId xmlns:a16="http://schemas.microsoft.com/office/drawing/2014/main" id="{97975C15-34C9-473D-B672-0C9124C58A1D}"/>
              </a:ext>
            </a:extLst>
          </p:cNvPr>
          <p:cNvSpPr>
            <a:spLocks xmlns:a="http://schemas.openxmlformats.org/drawingml/2006/main" noGrp="1"/>
          </p:cNvSpPr>
          <p:nvPr/>
        </p:nvSpPr>
        <p:spPr>
          <a:xfrm xmlns:a="http://schemas.openxmlformats.org/drawingml/2006/main">
            <a:off x="8613648" y="44348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observed wall latency</a:t>
            </a:r>
          </a:p>
        </p:txBody>
      </p:sp>
      <p:sp>
        <p:nvSpPr>
          <p:cNvPr id="23" name="Text 20">
            <a:extLst xmlns:a="http://schemas.openxmlformats.org/drawingml/2006/main">
              <a:ext uri="{FF2B5EF4-FFF2-40B4-BE49-F238E27FC236}">
                <a16:creationId xmlns:a16="http://schemas.microsoft.com/office/drawing/2014/main" id="{C6E2B558-3B4B-4A2D-B713-057F629A49A7}"/>
              </a:ext>
            </a:extLst>
          </p:cNvPr>
          <p:cNvSpPr>
            <a:spLocks xmlns:a="http://schemas.openxmlformats.org/drawingml/2006/main" noGrp="1"/>
          </p:cNvSpPr>
          <p:nvPr/>
        </p:nvSpPr>
        <p:spPr>
          <a:xfrm xmlns:a="http://schemas.openxmlformats.org/drawingml/2006/main">
            <a:off x="7223760" y="5047488"/>
            <a:ext cx="4053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F767A"/>
                </a:solidFill>
                <a:latin typeface="Calibri"/>
                <a:ea typeface="Calibri"/>
                <a:cs typeface="Calibri"/>
              </a:rPr>
              <a:t>The action was fixed before the test records were chosen — which makes this more informative than another retrospective arm.</a:t>
            </a:r>
          </a:p>
        </p:txBody>
      </p:sp>
      <p:sp>
        <p:nvSpPr>
          <p:cNvPr id="24" name="Shape 21">
            <a:extLst xmlns:a="http://schemas.openxmlformats.org/drawingml/2006/main">
              <a:ext uri="{FF2B5EF4-FFF2-40B4-BE49-F238E27FC236}">
                <a16:creationId xmlns:a16="http://schemas.microsoft.com/office/drawing/2014/main" id="{9E814CE8-A60B-4B6C-B1F8-44204F78ECF7}"/>
              </a:ext>
            </a:extLst>
          </p:cNvPr>
          <p:cNvSpPr>
            <a:spLocks xmlns:a="http://schemas.openxmlformats.org/drawingml/2006/main" noGrp="1"/>
          </p:cNvSpPr>
          <p:nvPr/>
        </p:nvSpPr>
        <p:spPr>
          <a:xfrm xmlns:a="http://schemas.openxmlformats.org/drawingml/2006/main">
            <a:off x="6949440" y="5175504"/>
            <a:ext cx="4602175" cy="822960"/>
          </a:xfrm>
          <a:prstGeom xmlns:a="http://schemas.openxmlformats.org/drawingml/2006/main" prst="roundRect">
            <a:avLst>
              <a:gd name="adj" fmla="val 5556"/>
            </a:avLst>
          </a:prstGeom>
          <a:solidFill xmlns:a="http://schemas.openxmlformats.org/drawingml/2006/main">
            <a:srgbClr val="F7ECE7"/>
          </a:solidFill>
          <a:ln xmlns:a="http://schemas.openxmlformats.org/drawingml/2006/main" w="9525">
            <a:solidFill>
              <a:srgbClr val="EBD5CC"/>
            </a:solidFill>
            <a:prstDash val="solid"/>
          </a:ln>
        </p:spPr>
        <p:txBody>
          <a:bodyPr xmlns:a="http://schemas.openxmlformats.org/drawingml/2006/main"/>
          <a:lstStyle xmlns:a="http://schemas.openxmlformats.org/drawingml/2006/main"/>
          <a:p xmlns:a="http://schemas.openxmlformats.org/drawingml/2006/main"/>
        </p:txBody>
      </p:sp>
      <p:sp>
        <p:nvSpPr>
          <p:cNvPr id="25" name="Text 22">
            <a:extLst xmlns:a="http://schemas.openxmlformats.org/drawingml/2006/main">
              <a:ext uri="{FF2B5EF4-FFF2-40B4-BE49-F238E27FC236}">
                <a16:creationId xmlns:a16="http://schemas.microsoft.com/office/drawing/2014/main" id="{0B6276FF-7CD5-4724-B517-C31A43F0CB13}"/>
              </a:ext>
            </a:extLst>
          </p:cNvPr>
          <p:cNvSpPr>
            <a:spLocks xmlns:a="http://schemas.openxmlformats.org/drawingml/2006/main" noGrp="1"/>
          </p:cNvSpPr>
          <p:nvPr/>
        </p:nvSpPr>
        <p:spPr>
          <a:xfrm xmlns:a="http://schemas.openxmlformats.org/drawingml/2006/main">
            <a:off x="7205472" y="5266944"/>
            <a:ext cx="4090111"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a:solidFill>
                  <a:srgbClr val="5A3A2E"/>
                </a:solidFill>
                <a:latin typeface="Calibri"/>
                <a:ea typeface="Calibri"/>
                <a:cs typeface="Calibri"/>
              </a:rPr>
              <a:t>One family supplies both calibration and test, so this cannot distinguish selection from a static always-macro policy.</a:t>
            </a:r>
          </a:p>
        </p:txBody>
      </p:sp>
    </p:spTree>
    <p:extLst>
      <p:ext uri="{BB962C8B-B14F-4D97-AF65-F5344CB8AC3E}">
        <p14:creationId xmlns:p14="http://schemas.microsoft.com/office/powerpoint/2010/main" val="22366146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40A2B00-23BA-48B6-85CB-AC0C0A83F46C}"/>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0572F48A-AC12-4333-84DC-82585BB93564}"/>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21</a:t>
            </a:r>
          </a:p>
        </p:txBody>
      </p:sp>
      <p:sp>
        <p:nvSpPr>
          <p:cNvPr id="4" name="Text 2">
            <a:extLst xmlns:a="http://schemas.openxmlformats.org/drawingml/2006/main">
              <a:ext uri="{FF2B5EF4-FFF2-40B4-BE49-F238E27FC236}">
                <a16:creationId xmlns:a16="http://schemas.microsoft.com/office/drawing/2014/main" id="{E9B982BD-9944-4445-A52C-9FC80987CEB6}"/>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LIMITATIONS AND THREATS TO VALIDITY</a:t>
            </a:r>
          </a:p>
        </p:txBody>
      </p:sp>
      <p:sp>
        <p:nvSpPr>
          <p:cNvPr id="5" name="Text 3">
            <a:extLst xmlns:a="http://schemas.openxmlformats.org/drawingml/2006/main">
              <a:ext uri="{FF2B5EF4-FFF2-40B4-BE49-F238E27FC236}">
                <a16:creationId xmlns:a16="http://schemas.microsoft.com/office/drawing/2014/main" id="{3C05887B-50C0-4879-982A-3315573F3362}"/>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Five claims the evidence deliberately does not support</a:t>
            </a:r>
          </a:p>
        </p:txBody>
      </p:sp>
      <p:sp>
        <p:nvSpPr>
          <p:cNvPr id="6" name="Shape 4">
            <a:extLst xmlns:a="http://schemas.openxmlformats.org/drawingml/2006/main">
              <a:ext uri="{FF2B5EF4-FFF2-40B4-BE49-F238E27FC236}">
                <a16:creationId xmlns:a16="http://schemas.microsoft.com/office/drawing/2014/main" id="{2BAD5207-CA2D-468A-95FD-147446E98365}"/>
              </a:ext>
            </a:extLst>
          </p:cNvPr>
          <p:cNvSpPr>
            <a:spLocks xmlns:a="http://schemas.openxmlformats.org/drawingml/2006/main" noGrp="1"/>
          </p:cNvSpPr>
          <p:nvPr/>
        </p:nvSpPr>
        <p:spPr>
          <a:xfrm xmlns:a="http://schemas.openxmlformats.org/drawingml/2006/main">
            <a:off x="640080" y="1389888"/>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61DB1D3A-3485-4B02-AA10-B5225D7E2E33}"/>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77E0A5CA-8519-4246-80B3-7BA6F1629A68}"/>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C98BC01A-09F9-47F7-AB44-4C9CA36AB4D8}"/>
              </a:ext>
            </a:extLst>
          </p:cNvPr>
          <p:cNvSpPr>
            <a:spLocks xmlns:a="http://schemas.openxmlformats.org/drawingml/2006/main" noGrp="1"/>
          </p:cNvSpPr>
          <p:nvPr/>
        </p:nvSpPr>
        <p:spPr>
          <a:xfrm xmlns:a="http://schemas.openxmlformats.org/drawingml/2006/main">
            <a:off x="1298448"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The gate never discriminated</a:t>
            </a:r>
          </a:p>
        </p:txBody>
      </p:sp>
      <p:sp>
        <p:nvSpPr>
          <p:cNvPr id="10" name="Text 8">
            <a:extLst xmlns:a="http://schemas.openxmlformats.org/drawingml/2006/main">
              <a:ext uri="{FF2B5EF4-FFF2-40B4-BE49-F238E27FC236}">
                <a16:creationId xmlns:a16="http://schemas.microsoft.com/office/drawing/2014/main" id="{4C5CFF8E-C051-4D92-A440-4915385FE752}"/>
              </a:ext>
            </a:extLst>
          </p:cNvPr>
          <p:cNvSpPr>
            <a:spLocks xmlns:a="http://schemas.openxmlformats.org/drawingml/2006/main" noGrp="1"/>
          </p:cNvSpPr>
          <p:nvPr/>
        </p:nvSpPr>
        <p:spPr>
          <a:xfrm xmlns:a="http://schemas.openxmlformats.org/drawingml/2006/main">
            <a:off x="896112"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On the sealed artifact every threshold below 0.14 admits nothing and every threshold at or above it admits all 92, with zero violations throughout. The score was fitted with zero positive examples over eight observations, so it behaves as an all-or-none support test, not a risk–coverage frontier.</a:t>
            </a:r>
          </a:p>
        </p:txBody>
      </p:sp>
      <p:sp>
        <p:nvSpPr>
          <p:cNvPr id="11" name="Shape 9">
            <a:extLst xmlns:a="http://schemas.openxmlformats.org/drawingml/2006/main">
              <a:ext uri="{FF2B5EF4-FFF2-40B4-BE49-F238E27FC236}">
                <a16:creationId xmlns:a16="http://schemas.microsoft.com/office/drawing/2014/main" id="{A2DCB8B4-4CA5-4423-884D-EA781FAC4A60}"/>
              </a:ext>
            </a:extLst>
          </p:cNvPr>
          <p:cNvSpPr>
            <a:spLocks xmlns:a="http://schemas.openxmlformats.org/drawingml/2006/main" noGrp="1"/>
          </p:cNvSpPr>
          <p:nvPr/>
        </p:nvSpPr>
        <p:spPr>
          <a:xfrm xmlns:a="http://schemas.openxmlformats.org/drawingml/2006/main">
            <a:off x="4362602" y="1389888"/>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0D9D05F5-3063-4103-8F14-3BDFD79CEBBE}"/>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0F99A343-CC47-4359-BA86-08B9D90BBFD2}"/>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A6EEB3A3-DE56-4E81-B4D4-043CACF567BD}"/>
              </a:ext>
            </a:extLst>
          </p:cNvPr>
          <p:cNvSpPr>
            <a:spLocks xmlns:a="http://schemas.openxmlformats.org/drawingml/2006/main" noGrp="1"/>
          </p:cNvSpPr>
          <p:nvPr/>
        </p:nvSpPr>
        <p:spPr>
          <a:xfrm xmlns:a="http://schemas.openxmlformats.org/drawingml/2006/main">
            <a:off x="5020970"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Not production safe</a:t>
            </a:r>
          </a:p>
        </p:txBody>
      </p:sp>
      <p:sp>
        <p:nvSpPr>
          <p:cNvPr id="15" name="Text 13">
            <a:extLst xmlns:a="http://schemas.openxmlformats.org/drawingml/2006/main">
              <a:ext uri="{FF2B5EF4-FFF2-40B4-BE49-F238E27FC236}">
                <a16:creationId xmlns:a16="http://schemas.microsoft.com/office/drawing/2014/main" id="{F3F6E5CF-D85D-453F-ACAA-50208F5A0607}"/>
              </a:ext>
            </a:extLst>
          </p:cNvPr>
          <p:cNvSpPr>
            <a:spLocks xmlns:a="http://schemas.openxmlformats.org/drawingml/2006/main" noGrp="1"/>
          </p:cNvSpPr>
          <p:nvPr/>
        </p:nvSpPr>
        <p:spPr>
          <a:xfrm xmlns:a="http://schemas.openxmlformats.org/drawingml/2006/main">
            <a:off x="4618634"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No live GitHub service, no canary, no multi-domain test. The artifact was activated only under a lab-protocol flag. Registry immutability and signature verification were configured off in the reported run.</a:t>
            </a:r>
          </a:p>
        </p:txBody>
      </p:sp>
      <p:sp>
        <p:nvSpPr>
          <p:cNvPr id="16" name="Shape 14">
            <a:extLst xmlns:a="http://schemas.openxmlformats.org/drawingml/2006/main">
              <a:ext uri="{FF2B5EF4-FFF2-40B4-BE49-F238E27FC236}">
                <a16:creationId xmlns:a16="http://schemas.microsoft.com/office/drawing/2014/main" id="{C1B5F5F4-E926-4189-A335-06C9AC4C017A}"/>
              </a:ext>
            </a:extLst>
          </p:cNvPr>
          <p:cNvSpPr>
            <a:spLocks xmlns:a="http://schemas.openxmlformats.org/drawingml/2006/main" noGrp="1"/>
          </p:cNvSpPr>
          <p:nvPr/>
        </p:nvSpPr>
        <p:spPr>
          <a:xfrm xmlns:a="http://schemas.openxmlformats.org/drawingml/2006/main">
            <a:off x="8085125" y="1389888"/>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4F3C769A-E1A8-48BB-8B35-111668B0891E}"/>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744FA337-F2A8-4B06-9455-09D34F51E478}"/>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DA89E2A2-DC9E-402F-A300-2243CB026B4A}"/>
              </a:ext>
            </a:extLst>
          </p:cNvPr>
          <p:cNvSpPr>
            <a:spLocks xmlns:a="http://schemas.openxmlformats.org/drawingml/2006/main" noGrp="1"/>
          </p:cNvSpPr>
          <p:nvPr/>
        </p:nvSpPr>
        <p:spPr>
          <a:xfrm xmlns:a="http://schemas.openxmlformats.org/drawingml/2006/main">
            <a:off x="8743493"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Compaction did not stabilize text</a:t>
            </a:r>
          </a:p>
        </p:txBody>
      </p:sp>
      <p:sp>
        <p:nvSpPr>
          <p:cNvPr id="20" name="Text 18">
            <a:extLst xmlns:a="http://schemas.openxmlformats.org/drawingml/2006/main">
              <a:ext uri="{FF2B5EF4-FFF2-40B4-BE49-F238E27FC236}">
                <a16:creationId xmlns:a16="http://schemas.microsoft.com/office/drawing/2014/main" id="{3AB80F9F-5FDB-44C8-BA59-DFC30A456848}"/>
              </a:ext>
            </a:extLst>
          </p:cNvPr>
          <p:cNvSpPr>
            <a:spLocks xmlns:a="http://schemas.openxmlformats.org/drawingml/2006/main" noGrp="1"/>
          </p:cNvSpPr>
          <p:nvPr/>
        </p:nvSpPr>
        <p:spPr>
          <a:xfrm xmlns:a="http://schemas.openxmlformats.org/drawingml/2006/main">
            <a:off x="8341157"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Byte-exact answer agreement was 6/10 compiled versus 7/10 baseline on repeated issues. Structural determinism of the tool prefix improves by construction; free-form surface determinism does not.</a:t>
            </a:r>
          </a:p>
        </p:txBody>
      </p:sp>
      <p:sp>
        <p:nvSpPr>
          <p:cNvPr id="21" name="Shape 19">
            <a:extLst xmlns:a="http://schemas.openxmlformats.org/drawingml/2006/main">
              <a:ext uri="{FF2B5EF4-FFF2-40B4-BE49-F238E27FC236}">
                <a16:creationId xmlns:a16="http://schemas.microsoft.com/office/drawing/2014/main" id="{BB6AC263-A843-4279-AB44-1709FF978D4D}"/>
              </a:ext>
            </a:extLst>
          </p:cNvPr>
          <p:cNvSpPr>
            <a:spLocks xmlns:a="http://schemas.openxmlformats.org/drawingml/2006/main" noGrp="1"/>
          </p:cNvSpPr>
          <p:nvPr/>
        </p:nvSpPr>
        <p:spPr>
          <a:xfrm xmlns:a="http://schemas.openxmlformats.org/drawingml/2006/main">
            <a:off x="640080" y="3474720"/>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49536F3E-452B-41FF-9F67-B8E1853E2C47}"/>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CFD7988A-EDFD-408F-BC90-53C4A72B1226}"/>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0748FD60-96DA-40FB-AD4F-73ADB551506E}"/>
              </a:ext>
            </a:extLst>
          </p:cNvPr>
          <p:cNvSpPr>
            <a:spLocks xmlns:a="http://schemas.openxmlformats.org/drawingml/2006/main" noGrp="1"/>
          </p:cNvSpPr>
          <p:nvPr/>
        </p:nvSpPr>
        <p:spPr>
          <a:xfrm xmlns:a="http://schemas.openxmlformats.org/drawingml/2006/main">
            <a:off x="1298448"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Removing turns can remove guardrails</a:t>
            </a:r>
          </a:p>
        </p:txBody>
      </p:sp>
      <p:sp>
        <p:nvSpPr>
          <p:cNvPr id="25" name="Text 23">
            <a:extLst xmlns:a="http://schemas.openxmlformats.org/drawingml/2006/main">
              <a:ext uri="{FF2B5EF4-FFF2-40B4-BE49-F238E27FC236}">
                <a16:creationId xmlns:a16="http://schemas.microsoft.com/office/drawing/2014/main" id="{56E24E03-6E2D-4449-9B61-6B6480751AFC}"/>
              </a:ext>
            </a:extLst>
          </p:cNvPr>
          <p:cNvSpPr>
            <a:spLocks xmlns:a="http://schemas.openxmlformats.org/drawingml/2006/main" noGrp="1"/>
          </p:cNvSpPr>
          <p:nvPr/>
        </p:nvSpPr>
        <p:spPr>
          <a:xfrm xmlns:a="http://schemas.openxmlformats.org/drawingml/2006/main">
            <a:off x="896112"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Moderation, policy, and guardrail checks commonly run at model boundaries. A region deleting three of four boundaries risks deleting three of four evaluations — the effect catalog does not cover them, so the gap is untested rather than benign.</a:t>
            </a:r>
          </a:p>
        </p:txBody>
      </p:sp>
      <p:sp>
        <p:nvSpPr>
          <p:cNvPr id="26" name="Shape 24">
            <a:extLst xmlns:a="http://schemas.openxmlformats.org/drawingml/2006/main">
              <a:ext uri="{FF2B5EF4-FFF2-40B4-BE49-F238E27FC236}">
                <a16:creationId xmlns:a16="http://schemas.microsoft.com/office/drawing/2014/main" id="{DDD55207-63C0-4EE2-9DA1-E6B23B74C7AA}"/>
              </a:ext>
            </a:extLst>
          </p:cNvPr>
          <p:cNvSpPr>
            <a:spLocks xmlns:a="http://schemas.openxmlformats.org/drawingml/2006/main" noGrp="1"/>
          </p:cNvSpPr>
          <p:nvPr/>
        </p:nvSpPr>
        <p:spPr>
          <a:xfrm xmlns:a="http://schemas.openxmlformats.org/drawingml/2006/main">
            <a:off x="4362602" y="3474720"/>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F5E2784C-504B-4950-A81B-2A3BBCC1BC2C}"/>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C73CF81D-52B8-4DBF-A584-4709CA7528A5}"/>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8B676385-847B-43D2-BEA6-D1F0524E2360}"/>
              </a:ext>
            </a:extLst>
          </p:cNvPr>
          <p:cNvSpPr>
            <a:spLocks xmlns:a="http://schemas.openxmlformats.org/drawingml/2006/main" noGrp="1"/>
          </p:cNvSpPr>
          <p:nvPr/>
        </p:nvSpPr>
        <p:spPr>
          <a:xfrm xmlns:a="http://schemas.openxmlformats.org/drawingml/2006/main">
            <a:off x="5020970"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Latency is partly confounded</a:t>
            </a:r>
          </a:p>
        </p:txBody>
      </p:sp>
      <p:sp>
        <p:nvSpPr>
          <p:cNvPr id="30" name="Text 28">
            <a:extLst xmlns:a="http://schemas.openxmlformats.org/drawingml/2006/main">
              <a:ext uri="{FF2B5EF4-FFF2-40B4-BE49-F238E27FC236}">
                <a16:creationId xmlns:a16="http://schemas.microsoft.com/office/drawing/2014/main" id="{454EABE4-AD81-4BBF-A360-C6743C128446}"/>
              </a:ext>
            </a:extLst>
          </p:cNvPr>
          <p:cNvSpPr>
            <a:spLocks xmlns:a="http://schemas.openxmlformats.org/drawingml/2006/main" noGrp="1"/>
          </p:cNvSpPr>
          <p:nvPr/>
        </p:nvSpPr>
        <p:spPr>
          <a:xfrm xmlns:a="http://schemas.openxmlformats.org/drawingml/2006/main">
            <a:off x="4618634"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The fixed-prefix harness ran the whole baseline batch before the whole compiled batch. Request-count reduction is structural and unaffected, but the −85.0% wall-latency figure should be read as an observation under that ordering.</a:t>
            </a:r>
          </a:p>
        </p:txBody>
      </p:sp>
      <p:sp>
        <p:nvSpPr>
          <p:cNvPr id="31" name="Shape 29">
            <a:extLst xmlns:a="http://schemas.openxmlformats.org/drawingml/2006/main">
              <a:ext uri="{FF2B5EF4-FFF2-40B4-BE49-F238E27FC236}">
                <a16:creationId xmlns:a16="http://schemas.microsoft.com/office/drawing/2014/main" id="{CC366C70-CE70-443E-8C23-0F5D8435225E}"/>
              </a:ext>
            </a:extLst>
          </p:cNvPr>
          <p:cNvSpPr>
            <a:spLocks xmlns:a="http://schemas.openxmlformats.org/drawingml/2006/main" noGrp="1"/>
          </p:cNvSpPr>
          <p:nvPr/>
        </p:nvSpPr>
        <p:spPr>
          <a:xfrm xmlns:a="http://schemas.openxmlformats.org/drawingml/2006/main">
            <a:off x="8085125" y="3474720"/>
            <a:ext cx="3466490" cy="1847088"/>
          </a:xfrm>
          <a:prstGeom xmlns:a="http://schemas.openxmlformats.org/drawingml/2006/main" prst="roundRect">
            <a:avLst>
              <a:gd name="adj" fmla="val 2475"/>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A80C8FB2-17DB-4669-82FE-CFC469962F66}"/>
              </a:ext>
            </a:extLst>
          </p:cNvPr>
          <p:cNvSpPr>
            <a:spLocks xmlns:a="http://schemas.openxmlformats.org/drawingml/2006/main" noGrp="1"/>
          </p:cNvSpPr>
          <p:nvPr/>
        </p:nvSpPr>
        <p:spPr>
          <a:xfrm xmlns:a="http://schemas.openxmlformats.org/drawingml/2006/main">
            <a:off x="8341157" y="3639312"/>
            <a:ext cx="2954426"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0D4A54"/>
                </a:solidFill>
                <a:latin typeface="Cambria"/>
                <a:ea typeface="Cambria"/>
                <a:cs typeface="Cambria"/>
              </a:rPr>
              <a:t>Also worth knowing</a:t>
            </a:r>
          </a:p>
        </p:txBody>
      </p:sp>
      <p:sp>
        <p:nvSpPr>
          <p:cNvPr id="33" name="Text 31">
            <a:extLst xmlns:a="http://schemas.openxmlformats.org/drawingml/2006/main">
              <a:ext uri="{FF2B5EF4-FFF2-40B4-BE49-F238E27FC236}">
                <a16:creationId xmlns:a16="http://schemas.microsoft.com/office/drawing/2014/main" id="{C4B81BB0-D98D-451A-B2AB-4381CBA60557}"/>
              </a:ext>
            </a:extLst>
          </p:cNvPr>
          <p:cNvSpPr>
            <a:spLocks xmlns:a="http://schemas.openxmlformats.org/drawingml/2006/main" noGrp="1"/>
          </p:cNvSpPr>
          <p:nvPr/>
        </p:nvSpPr>
        <p:spPr>
          <a:xfrm xmlns:a="http://schemas.openxmlformats.org/drawingml/2006/main">
            <a:off x="8359445" y="3986784"/>
            <a:ext cx="291785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No perturbation challenge ran on the primary live artifact</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GCS is exploratory evidence from one workflow family</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No equally pre-executed manual-macro arm was tested</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Discovery is costly; risk is artifact-specific</a:t>
            </a:r>
          </a:p>
        </p:txBody>
      </p:sp>
    </p:spTree>
    <p:extLst>
      <p:ext uri="{BB962C8B-B14F-4D97-AF65-F5344CB8AC3E}">
        <p14:creationId xmlns:p14="http://schemas.microsoft.com/office/powerpoint/2010/main" val="1810271075"/>
      </p:ext>
    </p:extLst>
  </p:cSld>
</p:sld>
</file>

<file path=ppt/slides/slide22.xml><?xml version="1.0" encoding="utf-8"?>
<p:sld xmlns:p="http://schemas.openxmlformats.org/presentationml/2006/main">
  <p:cSld>
    <p:bg>
      <p:bgPr>
        <a:solidFill xmlns:a="http://schemas.openxmlformats.org/drawingml/2006/main">
          <a:srgbClr val="0E272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1D1474D-7142-4DF4-BAF5-29BC71641BD4}"/>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4C6B70"/>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C59BB8EC-461D-45FA-85EA-B34F6C792347}"/>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4C6B70"/>
                </a:solidFill>
                <a:latin typeface="Calibri"/>
                <a:ea typeface="Calibri"/>
                <a:cs typeface="Calibri"/>
              </a:rPr>
              <a:t>22</a:t>
            </a:r>
          </a:p>
        </p:txBody>
      </p:sp>
      <p:sp>
        <p:nvSpPr>
          <p:cNvPr id="4" name="Shape 2">
            <a:extLst xmlns:a="http://schemas.openxmlformats.org/drawingml/2006/main">
              <a:ext uri="{FF2B5EF4-FFF2-40B4-BE49-F238E27FC236}">
                <a16:creationId xmlns:a16="http://schemas.microsoft.com/office/drawing/2014/main" id="{8E6D97C5-423E-41B2-9D23-E5BB7919D0B4}"/>
              </a:ext>
            </a:extLst>
          </p:cNvPr>
          <p:cNvSpPr>
            <a:spLocks xmlns:a="http://schemas.openxmlformats.org/drawingml/2006/main" noGrp="1"/>
          </p:cNvSpPr>
          <p:nvPr/>
        </p:nvSpPr>
        <p:spPr>
          <a:xfrm xmlns:a="http://schemas.openxmlformats.org/drawingml/2006/main">
            <a:off x="11201400" y="4892040"/>
            <a:ext cx="4023360" cy="4023360"/>
          </a:xfrm>
          <a:prstGeom xmlns:a="http://schemas.openxmlformats.org/drawingml/2006/main" prst="ellipse">
            <a:avLst/>
          </a:prstGeom>
          <a:solidFill xmlns:a="http://schemas.openxmlformats.org/drawingml/2006/main">
            <a:srgbClr val="0D4A54">
              <a:alpha val="55000"/>
            </a:srgbClr>
          </a:solidFill>
          <a:ln xmlns:a="http://schemas.openxmlformats.org/drawingml/2006/main" w="1270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F9E79C12-8F44-4EED-B89E-6A32C16DD5DA}"/>
              </a:ext>
            </a:extLst>
          </p:cNvPr>
          <p:cNvSpPr>
            <a:spLocks xmlns:a="http://schemas.openxmlformats.org/drawingml/2006/main" noGrp="1"/>
          </p:cNvSpPr>
          <p:nvPr/>
        </p:nvSpPr>
        <p:spPr>
          <a:xfrm xmlns:a="http://schemas.openxmlformats.org/drawingml/2006/main">
            <a:off x="11932920" y="5623560"/>
            <a:ext cx="2011680" cy="2011680"/>
          </a:xfrm>
          <a:prstGeom xmlns:a="http://schemas.openxmlformats.org/drawingml/2006/main" prst="ellipse">
            <a:avLst/>
          </a:prstGeom>
          <a:solidFill xmlns:a="http://schemas.openxmlformats.org/drawingml/2006/main">
            <a:srgbClr val="17798A">
              <a:alpha val="50000"/>
            </a:srgbClr>
          </a:solidFill>
          <a:ln xmlns:a="http://schemas.openxmlformats.org/drawingml/2006/main" w="1270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AED4B47E-BCCA-401A-BE49-47975260C48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EA3B0"/>
                </a:solidFill>
                <a:latin typeface="Calibri"/>
                <a:ea typeface="Calibri"/>
                <a:cs typeface="Calibri"/>
              </a:rPr>
              <a:t>TAKEAWAYS</a:t>
            </a:r>
          </a:p>
        </p:txBody>
      </p:sp>
      <p:sp>
        <p:nvSpPr>
          <p:cNvPr id="7" name="Text 5">
            <a:extLst xmlns:a="http://schemas.openxmlformats.org/drawingml/2006/main">
              <a:ext uri="{FF2B5EF4-FFF2-40B4-BE49-F238E27FC236}">
                <a16:creationId xmlns:a16="http://schemas.microsoft.com/office/drawing/2014/main" id="{35EAFAA4-2311-489D-96AD-5EAAE795053D}"/>
              </a:ext>
            </a:extLst>
          </p:cNvPr>
          <p:cNvSpPr>
            <a:spLocks xmlns:a="http://schemas.openxmlformats.org/drawingml/2006/main" noGrp="1"/>
          </p:cNvSpPr>
          <p:nvPr/>
        </p:nvSpPr>
        <p:spPr>
          <a:xfrm xmlns:a="http://schemas.openxmlformats.org/drawingml/2006/main">
            <a:off x="640080" y="658368"/>
            <a:ext cx="103327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700" b="1">
                <a:solidFill>
                  <a:srgbClr val="FFFFFF"/>
                </a:solidFill>
                <a:latin typeface="Cambria"/>
                <a:ea typeface="Cambria"/>
                <a:cs typeface="Cambria"/>
              </a:rPr>
              <a:t>Judge an agent optimizer by what it refuses, not only by what it compresses</a:t>
            </a:r>
          </a:p>
        </p:txBody>
      </p:sp>
      <p:sp>
        <p:nvSpPr>
          <p:cNvPr id="8" name="Shape 6">
            <a:extLst xmlns:a="http://schemas.openxmlformats.org/drawingml/2006/main">
              <a:ext uri="{FF2B5EF4-FFF2-40B4-BE49-F238E27FC236}">
                <a16:creationId xmlns:a16="http://schemas.microsoft.com/office/drawing/2014/main" id="{E2622B89-B89C-4E8E-AC18-A931CFA433EF}"/>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3CBE8A3A-014C-44DF-8BF2-83A1406B9DE9}"/>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p>
        </p:txBody>
      </p:sp>
      <p:sp>
        <p:nvSpPr>
          <p:cNvPr id="10" name="Text 8">
            <a:extLst xmlns:a="http://schemas.openxmlformats.org/drawingml/2006/main">
              <a:ext uri="{FF2B5EF4-FFF2-40B4-BE49-F238E27FC236}">
                <a16:creationId xmlns:a16="http://schemas.microsoft.com/office/drawing/2014/main" id="{23C94934-3CF0-4DF7-9936-665779FD10B7}"/>
              </a:ext>
            </a:extLst>
          </p:cNvPr>
          <p:cNvSpPr>
            <a:spLocks xmlns:a="http://schemas.openxmlformats.org/drawingml/2006/main" noGrp="1"/>
          </p:cNvSpPr>
          <p:nvPr/>
        </p:nvSpPr>
        <p:spPr>
          <a:xfrm xmlns:a="http://schemas.openxmlformats.org/drawingml/2006/main">
            <a:off x="1207008"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The admission argument is the product</a:t>
            </a:r>
          </a:p>
        </p:txBody>
      </p:sp>
      <p:sp>
        <p:nvSpPr>
          <p:cNvPr id="11" name="Text 9">
            <a:extLst xmlns:a="http://schemas.openxmlformats.org/drawingml/2006/main">
              <a:ext uri="{FF2B5EF4-FFF2-40B4-BE49-F238E27FC236}">
                <a16:creationId xmlns:a16="http://schemas.microsoft.com/office/drawing/2014/main" id="{24315BE2-02A5-46F9-8EA4-276C2AF691BC}"/>
              </a:ext>
            </a:extLst>
          </p:cNvPr>
          <p:cNvSpPr>
            <a:spLocks xmlns:a="http://schemas.openxmlformats.org/drawingml/2006/main" noGrp="1"/>
          </p:cNvSpPr>
          <p:nvPr/>
        </p:nvSpPr>
        <p:spPr>
          <a:xfrm xmlns:a="http://schemas.openxmlformats.org/drawingml/2006/main">
            <a:off x="1207008"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Typed provenance, effect barriers, a position invariant, and an exact bound are what let you delete a model decision on purpose rather than by hope. Any optimizer we build should be able to explain its refusals.</a:t>
            </a:r>
          </a:p>
        </p:txBody>
      </p:sp>
      <p:sp>
        <p:nvSpPr>
          <p:cNvPr id="12" name="Shape 10">
            <a:extLst xmlns:a="http://schemas.openxmlformats.org/drawingml/2006/main">
              <a:ext uri="{FF2B5EF4-FFF2-40B4-BE49-F238E27FC236}">
                <a16:creationId xmlns:a16="http://schemas.microsoft.com/office/drawing/2014/main" id="{E13BCC94-1D36-44EC-B7DB-BBF34C24344B}"/>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893D4CBD-382C-4163-862C-D1DE09B84C5C}"/>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p>
        </p:txBody>
      </p:sp>
      <p:sp>
        <p:nvSpPr>
          <p:cNvPr id="14" name="Text 12">
            <a:extLst xmlns:a="http://schemas.openxmlformats.org/drawingml/2006/main">
              <a:ext uri="{FF2B5EF4-FFF2-40B4-BE49-F238E27FC236}">
                <a16:creationId xmlns:a16="http://schemas.microsoft.com/office/drawing/2014/main" id="{71D8958B-0C36-47DC-9C5E-1F176E52B21C}"/>
              </a:ext>
            </a:extLst>
          </p:cNvPr>
          <p:cNvSpPr>
            <a:spLocks xmlns:a="http://schemas.openxmlformats.org/drawingml/2006/main" noGrp="1"/>
          </p:cNvSpPr>
          <p:nvPr/>
        </p:nvSpPr>
        <p:spPr>
          <a:xfrm xmlns:a="http://schemas.openxmlformats.org/drawingml/2006/main">
            <a:off x="6528816"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Compile the choice, not the reads</a:t>
            </a:r>
          </a:p>
        </p:txBody>
      </p:sp>
      <p:sp>
        <p:nvSpPr>
          <p:cNvPr id="15" name="Text 13">
            <a:extLst xmlns:a="http://schemas.openxmlformats.org/drawingml/2006/main">
              <a:ext uri="{FF2B5EF4-FFF2-40B4-BE49-F238E27FC236}">
                <a16:creationId xmlns:a16="http://schemas.microsoft.com/office/drawing/2014/main" id="{B1728FC6-3A0E-45B6-86E9-3443618F7DDC}"/>
              </a:ext>
            </a:extLst>
          </p:cNvPr>
          <p:cNvSpPr>
            <a:spLocks xmlns:a="http://schemas.openxmlformats.org/drawingml/2006/main" noGrp="1"/>
          </p:cNvSpPr>
          <p:nvPr/>
        </p:nvSpPr>
        <p:spPr>
          <a:xfrm xmlns:a="http://schemas.openxmlformats.org/drawingml/2006/main">
            <a:off x="6528816"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Manual composition beats partial GRC on the stable workflow. GCS then beats the measured provider-visible macro by moving the admitted program before request one; an equally pre-executed manual macro remains the required comparator.</a:t>
            </a:r>
          </a:p>
        </p:txBody>
      </p:sp>
      <p:sp>
        <p:nvSpPr>
          <p:cNvPr id="16" name="Shape 14">
            <a:extLst xmlns:a="http://schemas.openxmlformats.org/drawingml/2006/main">
              <a:ext uri="{FF2B5EF4-FFF2-40B4-BE49-F238E27FC236}">
                <a16:creationId xmlns:a16="http://schemas.microsoft.com/office/drawing/2014/main" id="{5509F2DB-26F5-4BBC-81FA-C493A2118A68}"/>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6C26E7F5-8EE5-4B0F-91DB-0EDF222C81CE}"/>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p>
        </p:txBody>
      </p:sp>
      <p:sp>
        <p:nvSpPr>
          <p:cNvPr id="18" name="Text 16">
            <a:extLst xmlns:a="http://schemas.openxmlformats.org/drawingml/2006/main">
              <a:ext uri="{FF2B5EF4-FFF2-40B4-BE49-F238E27FC236}">
                <a16:creationId xmlns:a16="http://schemas.microsoft.com/office/drawing/2014/main" id="{04201D09-241D-48FA-A97D-2E94A8E87E12}"/>
              </a:ext>
            </a:extLst>
          </p:cNvPr>
          <p:cNvSpPr>
            <a:spLocks xmlns:a="http://schemas.openxmlformats.org/drawingml/2006/main" noGrp="1"/>
          </p:cNvSpPr>
          <p:nvPr/>
        </p:nvSpPr>
        <p:spPr>
          <a:xfrm xmlns:a="http://schemas.openxmlformats.org/drawingml/2006/main">
            <a:off x="1207008"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Price the cache, not the tokens</a:t>
            </a:r>
          </a:p>
        </p:txBody>
      </p:sp>
      <p:sp>
        <p:nvSpPr>
          <p:cNvPr id="19" name="Text 17">
            <a:extLst xmlns:a="http://schemas.openxmlformats.org/drawingml/2006/main">
              <a:ext uri="{FF2B5EF4-FFF2-40B4-BE49-F238E27FC236}">
                <a16:creationId xmlns:a16="http://schemas.microsoft.com/office/drawing/2014/main" id="{E2350BEF-A290-4D0E-945D-02BD99D958D6}"/>
              </a:ext>
            </a:extLst>
          </p:cNvPr>
          <p:cNvSpPr>
            <a:spLocks xmlns:a="http://schemas.openxmlformats.org/drawingml/2006/main" noGrp="1"/>
          </p:cNvSpPr>
          <p:nvPr/>
        </p:nvSpPr>
        <p:spPr>
          <a:xfrm xmlns:a="http://schemas.openxmlformats.org/drawingml/2006/main">
            <a:off x="1207008"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Removing turns fragments prompt-cache prefixes. A −16.8% token change billed +123%. Any internal savings model that counts only tokens and calls will mis-rank its own options.</a:t>
            </a:r>
          </a:p>
        </p:txBody>
      </p:sp>
      <p:sp>
        <p:nvSpPr>
          <p:cNvPr id="20" name="Shape 18">
            <a:extLst xmlns:a="http://schemas.openxmlformats.org/drawingml/2006/main">
              <a:ext uri="{FF2B5EF4-FFF2-40B4-BE49-F238E27FC236}">
                <a16:creationId xmlns:a16="http://schemas.microsoft.com/office/drawing/2014/main" id="{7AC90108-8CDA-4EBF-8EF7-09C7A0F70402}"/>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B8F2AE53-0E9B-47D1-AF56-B93E7DFC917B}"/>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p>
        </p:txBody>
      </p:sp>
      <p:sp>
        <p:nvSpPr>
          <p:cNvPr id="22" name="Text 20">
            <a:extLst xmlns:a="http://schemas.openxmlformats.org/drawingml/2006/main">
              <a:ext uri="{FF2B5EF4-FFF2-40B4-BE49-F238E27FC236}">
                <a16:creationId xmlns:a16="http://schemas.microsoft.com/office/drawing/2014/main" id="{ABDBD175-7DFB-4BC3-BC8B-5F93C6F6AE22}"/>
              </a:ext>
            </a:extLst>
          </p:cNvPr>
          <p:cNvSpPr>
            <a:spLocks xmlns:a="http://schemas.openxmlformats.org/drawingml/2006/main" noGrp="1"/>
          </p:cNvSpPr>
          <p:nvPr/>
        </p:nvSpPr>
        <p:spPr>
          <a:xfrm xmlns:a="http://schemas.openxmlformats.org/drawingml/2006/main">
            <a:off x="6528816"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Refusal needs a budget too</a:t>
            </a:r>
          </a:p>
        </p:txBody>
      </p:sp>
      <p:sp>
        <p:nvSpPr>
          <p:cNvPr id="23" name="Text 21">
            <a:extLst xmlns:a="http://schemas.openxmlformats.org/drawingml/2006/main">
              <a:ext uri="{FF2B5EF4-FFF2-40B4-BE49-F238E27FC236}">
                <a16:creationId xmlns:a16="http://schemas.microsoft.com/office/drawing/2014/main" id="{B500C245-BFAF-4DCB-8C51-510280C22588}"/>
              </a:ext>
            </a:extLst>
          </p:cNvPr>
          <p:cNvSpPr>
            <a:spLocks xmlns:a="http://schemas.openxmlformats.org/drawingml/2006/main" noGrp="1"/>
          </p:cNvSpPr>
          <p:nvPr/>
        </p:nvSpPr>
        <p:spPr>
          <a:xfrm xmlns:a="http://schemas.openxmlformats.org/drawingml/2006/main">
            <a:off x="6528816"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The configured gate demanded 92 independent zero-violation groups and rejected every recurrent family in a 1,415-episode benchmark. Decide the risk and confidence budget deliberately — it sets how much data admission costs.</a:t>
            </a:r>
          </a:p>
        </p:txBody>
      </p:sp>
      <p:sp>
        <p:nvSpPr>
          <p:cNvPr id="24" name="Text 22">
            <a:extLst xmlns:a="http://schemas.openxmlformats.org/drawingml/2006/main">
              <a:ext uri="{FF2B5EF4-FFF2-40B4-BE49-F238E27FC236}">
                <a16:creationId xmlns:a16="http://schemas.microsoft.com/office/drawing/2014/main" id="{302EF520-87A1-4312-9AD7-5AF1582F6E9F}"/>
              </a:ext>
            </a:extLst>
          </p:cNvPr>
          <p:cNvSpPr>
            <a:spLocks xmlns:a="http://schemas.openxmlformats.org/drawingml/2006/main" noGrp="1"/>
          </p:cNvSpPr>
          <p:nvPr/>
        </p:nvSpPr>
        <p:spPr>
          <a:xfrm xmlns:a="http://schemas.openxmlformats.org/drawingml/2006/main">
            <a:off x="640080" y="5943600"/>
            <a:ext cx="10332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C6B70"/>
                </a:solidFill>
                <a:latin typeface="Calibri"/>
                <a:ea typeface="Calibri"/>
                <a:cs typeface="Calibri"/>
              </a:rPr>
              <a:t>Compiling Recurrent Agent Workflows into Guarded Programs  ·  artifact includes pinned data snapshots, raw results, and an adversarial self-review</a:t>
            </a:r>
          </a:p>
        </p:txBody>
      </p:sp>
    </p:spTree>
    <p:extLst>
      <p:ext uri="{BB962C8B-B14F-4D97-AF65-F5344CB8AC3E}">
        <p14:creationId xmlns:p14="http://schemas.microsoft.com/office/powerpoint/2010/main" val="467078906"/>
      </p:ext>
    </p:extLst>
  </p:cSld>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2026-08-05T00:25:27.9590000Z</dcterms:created>
  <dcterms:modified xsi:type="dcterms:W3CDTF">2026-08-05T00:25:27.9590000Z</dcterms:modified>
</coreProperties>
</file>