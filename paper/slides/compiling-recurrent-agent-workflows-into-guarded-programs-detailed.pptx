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3.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4.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5.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f93737b04bf6451e"/>
    <p:sldId xmlns:r="http://schemas.openxmlformats.org/officeDocument/2006/relationships" id="257" r:id="Rc5f9c758726348de"/>
    <p:sldId xmlns:r="http://schemas.openxmlformats.org/officeDocument/2006/relationships" id="258" r:id="R1e56a1bae0104226"/>
    <p:sldId xmlns:r="http://schemas.openxmlformats.org/officeDocument/2006/relationships" id="259" r:id="Rc71e23c4d1e8446b"/>
    <p:sldId xmlns:r="http://schemas.openxmlformats.org/officeDocument/2006/relationships" id="260" r:id="R9657b371e7114e85"/>
    <p:sldId xmlns:r="http://schemas.openxmlformats.org/officeDocument/2006/relationships" id="261" r:id="Rd5eff45a8de548f6"/>
    <p:sldId xmlns:r="http://schemas.openxmlformats.org/officeDocument/2006/relationships" id="262" r:id="R0bfe3dc91c414645"/>
    <p:sldId xmlns:r="http://schemas.openxmlformats.org/officeDocument/2006/relationships" id="263" r:id="Raf8481ddfee24319"/>
    <p:sldId xmlns:r="http://schemas.openxmlformats.org/officeDocument/2006/relationships" id="264" r:id="R80363f276cc44963"/>
    <p:sldId xmlns:r="http://schemas.openxmlformats.org/officeDocument/2006/relationships" id="265" r:id="R1b75a605cfad4f46"/>
    <p:sldId xmlns:r="http://schemas.openxmlformats.org/officeDocument/2006/relationships" id="266" r:id="Ra29b4003fd6142a4"/>
    <p:sldId xmlns:r="http://schemas.openxmlformats.org/officeDocument/2006/relationships" id="267" r:id="R0e10cb8b429a473d"/>
    <p:sldId xmlns:r="http://schemas.openxmlformats.org/officeDocument/2006/relationships" id="268" r:id="R28d8c54b126e46b6"/>
    <p:sldId xmlns:r="http://schemas.openxmlformats.org/officeDocument/2006/relationships" id="269" r:id="Rf9949b1fe36045fe"/>
    <p:sldId xmlns:r="http://schemas.openxmlformats.org/officeDocument/2006/relationships" id="270" r:id="R4901a37a49c2464d"/>
    <p:sldId xmlns:r="http://schemas.openxmlformats.org/officeDocument/2006/relationships" id="271" r:id="R7eace5bdc09641d8"/>
    <p:sldId xmlns:r="http://schemas.openxmlformats.org/officeDocument/2006/relationships" id="272" r:id="Rba4ce52713bb4979"/>
    <p:sldId xmlns:r="http://schemas.openxmlformats.org/officeDocument/2006/relationships" id="273" r:id="Raeb712f68ae54d30"/>
    <p:sldId xmlns:r="http://schemas.openxmlformats.org/officeDocument/2006/relationships" id="274" r:id="Rafaf854ae72a40ce"/>
    <p:sldId xmlns:r="http://schemas.openxmlformats.org/officeDocument/2006/relationships" id="275" r:id="R1a70a509fa6043ce"/>
    <p:sldId xmlns:r="http://schemas.openxmlformats.org/officeDocument/2006/relationships" id="276" r:id="Ra6ab8ee14c62445c"/>
    <p:sldId xmlns:r="http://schemas.openxmlformats.org/officeDocument/2006/relationships" id="277" r:id="R545a205d38fc40d2"/>
    <p:sldId xmlns:r="http://schemas.openxmlformats.org/officeDocument/2006/relationships" id="278" r:id="Rdb2e4e95b07042e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f93737b04bf6451e" /><Relationship Type="http://schemas.openxmlformats.org/officeDocument/2006/relationships/slide" Target="/ppt/slides/slide2.xml" Id="Rc5f9c758726348de" /><Relationship Type="http://schemas.openxmlformats.org/officeDocument/2006/relationships/slide" Target="/ppt/slides/slide3.xml" Id="R1e56a1bae0104226" /><Relationship Type="http://schemas.openxmlformats.org/officeDocument/2006/relationships/slide" Target="/ppt/slides/slide4.xml" Id="Rc71e23c4d1e8446b" /><Relationship Type="http://schemas.openxmlformats.org/officeDocument/2006/relationships/slide" Target="/ppt/slides/slide5.xml" Id="R9657b371e7114e85" /><Relationship Type="http://schemas.openxmlformats.org/officeDocument/2006/relationships/slide" Target="/ppt/slides/slide6.xml" Id="Rd5eff45a8de548f6" /><Relationship Type="http://schemas.openxmlformats.org/officeDocument/2006/relationships/slide" Target="/ppt/slides/slide7.xml" Id="R0bfe3dc91c414645" /><Relationship Type="http://schemas.openxmlformats.org/officeDocument/2006/relationships/slide" Target="/ppt/slides/slide8.xml" Id="Raf8481ddfee24319" /><Relationship Type="http://schemas.openxmlformats.org/officeDocument/2006/relationships/slide" Target="/ppt/slides/slide9.xml" Id="R80363f276cc44963" /><Relationship Type="http://schemas.openxmlformats.org/officeDocument/2006/relationships/slide" Target="/ppt/slides/slide10.xml" Id="R1b75a605cfad4f46" /><Relationship Type="http://schemas.openxmlformats.org/officeDocument/2006/relationships/slide" Target="/ppt/slides/slide11.xml" Id="Ra29b4003fd6142a4" /><Relationship Type="http://schemas.openxmlformats.org/officeDocument/2006/relationships/slide" Target="/ppt/slides/slide12.xml" Id="R0e10cb8b429a473d" /><Relationship Type="http://schemas.openxmlformats.org/officeDocument/2006/relationships/slide" Target="/ppt/slides/slide13.xml" Id="R28d8c54b126e46b6" /><Relationship Type="http://schemas.openxmlformats.org/officeDocument/2006/relationships/slide" Target="/ppt/slides/slide14.xml" Id="Rf9949b1fe36045fe" /><Relationship Type="http://schemas.openxmlformats.org/officeDocument/2006/relationships/slide" Target="/ppt/slides/slide15.xml" Id="R4901a37a49c2464d" /><Relationship Type="http://schemas.openxmlformats.org/officeDocument/2006/relationships/slide" Target="/ppt/slides/slide16.xml" Id="R7eace5bdc09641d8" /><Relationship Type="http://schemas.openxmlformats.org/officeDocument/2006/relationships/slide" Target="/ppt/slides/slide17.xml" Id="Rba4ce52713bb4979" /><Relationship Type="http://schemas.openxmlformats.org/officeDocument/2006/relationships/slide" Target="/ppt/slides/slide18.xml" Id="Raeb712f68ae54d30" /><Relationship Type="http://schemas.openxmlformats.org/officeDocument/2006/relationships/slide" Target="/ppt/slides/slide19.xml" Id="Rafaf854ae72a40ce" /><Relationship Type="http://schemas.openxmlformats.org/officeDocument/2006/relationships/slide" Target="/ppt/slides/slide20.xml" Id="R1a70a509fa6043ce" /><Relationship Type="http://schemas.openxmlformats.org/officeDocument/2006/relationships/slide" Target="/ppt/slides/slide21.xml" Id="Ra6ab8ee14c62445c" /><Relationship Type="http://schemas.openxmlformats.org/officeDocument/2006/relationships/slide" Target="/ppt/slides/slide22.xml" Id="R545a205d38fc40d2" /><Relationship Type="http://schemas.openxmlformats.org/officeDocument/2006/relationships/slide" Target="/ppt/slides/slide23.xml" Id="Rdb2e4e95b07042e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4f578967db4f47" /><Relationship Type="http://schemas.openxmlformats.org/officeDocument/2006/relationships/notesMaster" Target="/ppt/notesMasters/notesMaster1.xml" Id="R3418de76842740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a09f816b2d4348" /><Relationship Type="http://schemas.openxmlformats.org/officeDocument/2006/relationships/notesMaster" Target="/ppt/notesMasters/notesMaster1.xml" Id="R7d393472bf7c4c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c9a7d04e50a4bbd" /><Relationship Type="http://schemas.openxmlformats.org/officeDocument/2006/relationships/notesMaster" Target="/ppt/notesMasters/notesMaster1.xml" Id="R08d5fd356e3b4b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b1577fe73f5a427a" /><Relationship Type="http://schemas.openxmlformats.org/officeDocument/2006/relationships/notesMaster" Target="/ppt/notesMasters/notesMaster1.xml" Id="R4ec78675ce9e41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b20607eccc74403" /><Relationship Type="http://schemas.openxmlformats.org/officeDocument/2006/relationships/notesMaster" Target="/ppt/notesMasters/notesMaster1.xml" Id="R5ef7728004604b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5bc5e73582407c" /><Relationship Type="http://schemas.openxmlformats.org/officeDocument/2006/relationships/notesMaster" Target="/ppt/notesMasters/notesMaster1.xml" Id="R3c2364f9111747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0f84cc1bc094df7" /><Relationship Type="http://schemas.openxmlformats.org/officeDocument/2006/relationships/notesMaster" Target="/ppt/notesMasters/notesMaster1.xml" Id="R487eec8f7ed84c4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872c1a28bb943ab" /><Relationship Type="http://schemas.openxmlformats.org/officeDocument/2006/relationships/notesMaster" Target="/ppt/notesMasters/notesMaster1.xml" Id="R5031bd0f8a4c42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630471b80ef46b8" /><Relationship Type="http://schemas.openxmlformats.org/officeDocument/2006/relationships/notesMaster" Target="/ppt/notesMasters/notesMaster1.xml" Id="Rd4046053ffe8469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ff71674ad0f48c4" /><Relationship Type="http://schemas.openxmlformats.org/officeDocument/2006/relationships/notesMaster" Target="/ppt/notesMasters/notesMaster1.xml" Id="R551515b391c24b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c6bc6157be64a32" /><Relationship Type="http://schemas.openxmlformats.org/officeDocument/2006/relationships/notesMaster" Target="/ppt/notesMasters/notesMaster1.xml" Id="R6438b715a8414d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c8046bdbd9047cd" /><Relationship Type="http://schemas.openxmlformats.org/officeDocument/2006/relationships/notesMaster" Target="/ppt/notesMasters/notesMaster1.xml" Id="R5a8ec5932abf42e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e1d6939948449b" /><Relationship Type="http://schemas.openxmlformats.org/officeDocument/2006/relationships/notesMaster" Target="/ppt/notesMasters/notesMaster1.xml" Id="Rb43e6ce7b9e4465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c762899a46b4d8f" /><Relationship Type="http://schemas.openxmlformats.org/officeDocument/2006/relationships/notesMaster" Target="/ppt/notesMasters/notesMaster1.xml" Id="Rb440dfa1e199432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d7ec1d907b448c" /><Relationship Type="http://schemas.openxmlformats.org/officeDocument/2006/relationships/notesMaster" Target="/ppt/notesMasters/notesMaster1.xml" Id="Rbe1f5b9ac27749e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fb66fa3a115426f" /><Relationship Type="http://schemas.openxmlformats.org/officeDocument/2006/relationships/notesMaster" Target="/ppt/notesMasters/notesMaster1.xml" Id="R51d847767d97444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6af36c6b9b14996" /><Relationship Type="http://schemas.openxmlformats.org/officeDocument/2006/relationships/notesMaster" Target="/ppt/notesMasters/notesMaster1.xml" Id="Rf01d79d6cfa64cd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1f419620e74fd4" /><Relationship Type="http://schemas.openxmlformats.org/officeDocument/2006/relationships/notesMaster" Target="/ppt/notesMasters/notesMaster1.xml" Id="Ra9b0683ada1c493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6706d6541a04292" /><Relationship Type="http://schemas.openxmlformats.org/officeDocument/2006/relationships/notesMaster" Target="/ppt/notesMasters/notesMaster1.xml" Id="Rb2ecf12b17664bd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1e2be9aec734dba" /><Relationship Type="http://schemas.openxmlformats.org/officeDocument/2006/relationships/notesMaster" Target="/ppt/notesMasters/notesMaster1.xml" Id="Rb8a9b43c21da4c0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871685520b844b9" /><Relationship Type="http://schemas.openxmlformats.org/officeDocument/2006/relationships/notesMaster" Target="/ppt/notesMasters/notesMaster1.xml" Id="R051293604c40432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087363a8a064066" /><Relationship Type="http://schemas.openxmlformats.org/officeDocument/2006/relationships/notesMaster" Target="/ppt/notesMasters/notesMaster1.xml" Id="R0c85a48646cc497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aeeaaabd9984949" /><Relationship Type="http://schemas.openxmlformats.org/officeDocument/2006/relationships/notesMaster" Target="/ppt/notesMasters/notesMaster1.xml" Id="R2ac90de08e8442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7d0c728d156e4a24" /><Relationship Type="http://schemas.openxmlformats.org/officeDocument/2006/relationships/notesSlide" Target="/ppt/notesSlides/notesSlide1.xml" Id="R63bec96a836f41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51a165ef2c684d7f" /><Relationship Type="http://schemas.openxmlformats.org/officeDocument/2006/relationships/notesSlide" Target="/ppt/notesSlides/notesSlide2.xml" Id="R751bdcc7f93049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f8126e4a8d284aeb" /><Relationship Type="http://schemas.openxmlformats.org/officeDocument/2006/relationships/notesSlide" Target="/ppt/notesSlides/notesSlide3.xml" Id="R3c6e4f1b2c5e4a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793557814c2e453e" /><Relationship Type="http://schemas.openxmlformats.org/officeDocument/2006/relationships/notesSlide" Target="/ppt/notesSlides/notesSlide4.xml" Id="R61cbef820be642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40c7d418eb1f47c0" /><Relationship Type="http://schemas.openxmlformats.org/officeDocument/2006/relationships/notesSlide" Target="/ppt/notesSlides/notesSlide5.xml" Id="R4b073fde285442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6c8ca8a3475b4dac" /><Relationship Type="http://schemas.openxmlformats.org/officeDocument/2006/relationships/notesSlide" Target="/ppt/notesSlides/notesSlide6.xml" Id="R9a4abefbf16e4f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d584e69401ce4bd0" /><Relationship Type="http://schemas.openxmlformats.org/officeDocument/2006/relationships/notesSlide" Target="/ppt/notesSlides/notesSlide7.xml" Id="Rc8f522529d1e4dfa"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4507f2f034114996" /><Relationship Type="http://schemas.openxmlformats.org/officeDocument/2006/relationships/notesSlide" Target="/ppt/notesSlides/notesSlide8.xml" Id="R2186948408b941fa"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a94d57003ae24017" /><Relationship Type="http://schemas.openxmlformats.org/officeDocument/2006/relationships/notesSlide" Target="/ppt/notesSlides/notesSlide9.xml" Id="R2e4fe6926a754e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9c7a59e46a734a10" /><Relationship Type="http://schemas.openxmlformats.org/officeDocument/2006/relationships/notesSlide" Target="/ppt/notesSlides/notesSlide10.xml" Id="Ra97277dc74ce46d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54977f8840914660" /><Relationship Type="http://schemas.openxmlformats.org/officeDocument/2006/relationships/notesSlide" Target="/ppt/notesSlides/notesSlide11.xml" Id="R6545d731df244cf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b053202258bf428f" /><Relationship Type="http://schemas.openxmlformats.org/officeDocument/2006/relationships/notesSlide" Target="/ppt/notesSlides/notesSlide12.xml" Id="Rb5e49f648f2a494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dc99594418024c62" /><Relationship Type="http://schemas.openxmlformats.org/officeDocument/2006/relationships/notesSlide" Target="/ppt/notesSlides/notesSlide13.xml" Id="Rd5d66e2c20cf4ca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de7c9a4318034cf4" /><Relationship Type="http://schemas.openxmlformats.org/officeDocument/2006/relationships/chart" Target="/ppt/slides/charts/chart1.xml" Id="Ra5a344bc25c34004" /><Relationship Type="http://schemas.openxmlformats.org/officeDocument/2006/relationships/notesSlide" Target="/ppt/notesSlides/notesSlide14.xml" Id="R136de6eedb3f4ac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669aae21598a4c25" /><Relationship Type="http://schemas.openxmlformats.org/officeDocument/2006/relationships/chart" Target="/ppt/slides/charts/chart2.xml" Id="R4da551d5950f48b5" /><Relationship Type="http://schemas.openxmlformats.org/officeDocument/2006/relationships/notesSlide" Target="/ppt/notesSlides/notesSlide15.xml" Id="R2bda71faf28e4a0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9025fbf154174c4b" /><Relationship Type="http://schemas.openxmlformats.org/officeDocument/2006/relationships/chart" Target="/ppt/slides/charts/chart3.xml" Id="Rb85f43d5fcbc4331" /><Relationship Type="http://schemas.openxmlformats.org/officeDocument/2006/relationships/notesSlide" Target="/ppt/notesSlides/notesSlide16.xml" Id="Rf8e971d401a643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ffa6ee75b1e448aa" /><Relationship Type="http://schemas.openxmlformats.org/officeDocument/2006/relationships/notesSlide" Target="/ppt/notesSlides/notesSlide17.xml" Id="R910d3c302ee64d3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00c731ef8ef34624" /><Relationship Type="http://schemas.openxmlformats.org/officeDocument/2006/relationships/chart" Target="/ppt/slides/charts/chart4.xml" Id="R2d8e65cbda95494b" /><Relationship Type="http://schemas.openxmlformats.org/officeDocument/2006/relationships/notesSlide" Target="/ppt/notesSlides/notesSlide18.xml" Id="R77c33dbb5cc647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d8bcb264d98a41b9" /><Relationship Type="http://schemas.openxmlformats.org/officeDocument/2006/relationships/notesSlide" Target="/ppt/notesSlides/notesSlide19.xml" Id="Rff85bb27874440b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51608d374f87476c" /><Relationship Type="http://schemas.openxmlformats.org/officeDocument/2006/relationships/notesSlide" Target="/ppt/notesSlides/notesSlide20.xml" Id="Rd6e82181d03e4d3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037f7f247b2f4f86" /><Relationship Type="http://schemas.openxmlformats.org/officeDocument/2006/relationships/chart" Target="/ppt/slides/charts/chart5.xml" Id="R51c0446875b84944" /><Relationship Type="http://schemas.openxmlformats.org/officeDocument/2006/relationships/notesSlide" Target="/ppt/notesSlides/notesSlide21.xml" Id="R46e1fa5c00db4b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d0ff0ba7bd8349fe" /><Relationship Type="http://schemas.openxmlformats.org/officeDocument/2006/relationships/notesSlide" Target="/ppt/notesSlides/notesSlide22.xml" Id="Re1683b07b95b4cb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000e59984da14921" /><Relationship Type="http://schemas.openxmlformats.org/officeDocument/2006/relationships/notesSlide" Target="/ppt/notesSlides/notesSlide23.xml" Id="R999d8cce606d4171"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CC7CE"/>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7798A"/>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C4A2C"/>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7798A"/>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C4A2C"/>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F767A"/>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F767A"/>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C4A2C"/>
            </a:solidFill>
          </c:spPr>
          <c:dPt>
            <c:idx val="1"/>
            <c:spPr>
              <a:solidFill xmlns:a="http://schemas.openxmlformats.org/drawingml/2006/main">
                <a:srgbClr val="17798A"/>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6EEF0"/>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8686800" y="-1371600"/>
            <a:ext cx="5852160" cy="58521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9966960" y="-91440"/>
            <a:ext cx="3291840" cy="3291840"/>
          </a:xfrm>
          <a:prstGeom xmlns:a="http://schemas.openxmlformats.org/drawingml/2006/main" prst="ellipse">
            <a:avLst/>
          </a:prstGeom>
          <a:solidFill xmlns:a="http://schemas.openxmlformats.org/drawingml/2006/main">
            <a:srgbClr val="17798A">
              <a:alpha val="45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0835640" y="777240"/>
            <a:ext cx="1554480" cy="1554480"/>
          </a:xfrm>
          <a:prstGeom xmlns:a="http://schemas.openxmlformats.org/drawingml/2006/main" prst="ellipse">
            <a:avLst/>
          </a:prstGeom>
          <a:solidFill xmlns:a="http://schemas.openxmlformats.org/drawingml/2006/main">
            <a:srgbClr val="4EA3B0">
              <a:alpha val="70000"/>
            </a:srgbClr>
          </a:solidFill>
          <a:ln xmlns:a="http://schemas.openxmlformats.org/drawingml/2006/main" w="1270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EA3B0"/>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37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CC7CE"/>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C6B70"/>
                </a:solidFill>
                <a:latin typeface="Calibri"/>
                <a:ea typeface="Calibri"/>
                <a:cs typeface="Calibri"/>
              </a:rPr>
              <a:t>Prepared for engineering leadership  ·  JazzX AI  ·  August 2026</a:t>
            </a:r>
          </a:p>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SHORT VERSION</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Recurrence tells you a region repeats — not that it may be replaced</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D4A54"/>
                </a:solidFill>
                <a:latin typeface="Calibri"/>
                <a:ea typeface="Calibri"/>
                <a:cs typeface="Calibri"/>
              </a:rPr>
              <a:t>GAC supplies the missing admission argument: </a:t>
            </a:r>
            <a:r>
              <a:rPr sz="1400" b="1">
                <a:solidFill>
                  <a:srgbClr val="0D4A54"/>
                </a:solidFill>
                <a:latin typeface="Calibri"/>
                <a:ea typeface="Calibri"/>
                <a:cs typeface="Calibri"/>
              </a:rPr>
              <a:t>typed value provenance, effect barriers, empirical contracts, and a finite-sample risk gate. </a:t>
            </a:r>
            <a:r>
              <a:rPr sz="1400">
                <a:solidFill>
                  <a:srgbClr val="0D4A54"/>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15232129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PROBLEM</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model calls for three decisions the trace already fixed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C4A2C"/>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D4A54"/>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WHY THIS IS NOT CACHING</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ways a repeated region can still be inadmissible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D4A54"/>
                </a:solidFill>
                <a:latin typeface="Calibri"/>
                <a:ea typeface="Calibri"/>
                <a:cs typeface="Calibri"/>
              </a:rPr>
              <a:t>Deleting a model decision is a semantic change, not a memoization. </a:t>
            </a:r>
            <a:r>
              <a:rPr sz="1350">
                <a:solidFill>
                  <a:srgbClr val="2A4247"/>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D4A54"/>
          </a:solidFill>
          <a:ln xmlns:a="http://schemas.openxmlformats.org/drawingml/2006/main" w="9525">
            <a:solidFill>
              <a:srgbClr val="0D4A54"/>
            </a:solidFill>
            <a:prstDash val="solid"/>
          </a:ln>
          <a:effectLst xmlns:a="http://schemas.openxmlformats.org/drawingml/2006/main">
            <a:outerShdw blurRad="114300" dist="17780" dir="5400000" algn="bl" rotWithShape="0">
              <a:srgbClr val="8FA9AE">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DEFINITION</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guarded specialization of the routine part of a workflow</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libri"/>
                <a:ea typeface="Calibri"/>
                <a:cs typeface="Calibri"/>
              </a:rPr>
              <a:t>Compaction</a:t>
            </a:r>
            <a:r>
              <a:rPr sz="1350">
                <a:solidFill>
                  <a:srgbClr val="2A4247"/>
                </a:solidFill>
                <a:latin typeface="Calibri"/>
                <a:ea typeface="Calibri"/>
                <a:cs typeface="Calibri"/>
              </a:rPr>
              <a:t> names the mechanism; </a:t>
            </a:r>
            <a:r>
              <a:rPr sz="1350" b="1">
                <a:solidFill>
                  <a:srgbClr val="0D4A54"/>
                </a:solidFill>
                <a:latin typeface="Calibri"/>
                <a:ea typeface="Calibri"/>
                <a:cs typeface="Calibri"/>
              </a:rPr>
              <a:t>specialization</a:t>
            </a:r>
            <a:r>
              <a:rPr sz="1350">
                <a:solidFill>
                  <a:srgbClr val="2A4247"/>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F767A"/>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ARCHITECTURE</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Capture offline, compile offline, resolve at the entry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C4A2C"/>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A3A2E"/>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F767A"/>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8</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OFFLINE COMPILATION</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Six independent rejection points — 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D4A54"/>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2</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Typed provenance: a slot with no witness is a genuine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in candidate set</a:t>
            </a:r>
          </a:p>
          <a:p xmlns:a="http://schemas.openxmlformats.org/drawingml/2006/main">
            <a:pPr marL="0" indent="0">
              <a:lnSpc>
                <a:spcPct val="100000"/>
              </a:lnSpc>
              <a:buNone/>
            </a:pPr>
            <a:r>
              <a:rPr sz="1050">
                <a:solidFill>
                  <a:srgbClr val="5F767A"/>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uniquely resolved</a:t>
            </a:r>
          </a:p>
          <a:p xmlns:a="http://schemas.openxmlformats.org/drawingml/2006/main">
            <a:pPr marL="0" indent="0">
              <a:lnSpc>
                <a:spcPct val="100000"/>
              </a:lnSpc>
              <a:buNone/>
            </a:pPr>
            <a:r>
              <a:rPr sz="1050">
                <a:solidFill>
                  <a:srgbClr val="5F767A"/>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ambiguous</a:t>
            </a:r>
          </a:p>
          <a:p xmlns:a="http://schemas.openxmlformats.org/drawingml/2006/main">
            <a:pPr marL="0" indent="0">
              <a:lnSpc>
                <a:spcPct val="100000"/>
              </a:lnSpc>
              <a:buNone/>
            </a:pPr>
            <a:r>
              <a:rPr sz="1050">
                <a:solidFill>
                  <a:srgbClr val="5F767A"/>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no candidate</a:t>
            </a:r>
          </a:p>
          <a:p xmlns:a="http://schemas.openxmlformats.org/drawingml/2006/main">
            <a:pPr marL="0" indent="0">
              <a:lnSpc>
                <a:spcPct val="100000"/>
              </a:lnSpc>
              <a:buNone/>
            </a:pPr>
            <a:r>
              <a:rPr sz="1050">
                <a:solidFill>
                  <a:srgbClr val="5F767A"/>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candidate-edge</a:t>
            </a:r>
          </a:p>
          <a:p xmlns:a="http://schemas.openxmlformats.org/drawingml/2006/main">
            <a:pPr marL="0" indent="0">
              <a:lnSpc>
                <a:spcPct val="100000"/>
              </a:lnSpc>
              <a:buNone/>
            </a:pPr>
            <a:r>
              <a:rPr sz="1050">
                <a:solidFill>
                  <a:srgbClr val="5F767A"/>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RUNTIME</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artifact carries its own preconditions — and usually declines</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DISPATCH IS SELECTIVE — SIX CHECKS, THEN ONE OF SEVEN TERMINAL EDGES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7798A"/>
          </a:solidFill>
          <a:ln xmlns:a="http://schemas.openxmlformats.org/drawingml/2006/main" w="9525">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798A"/>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D4A54"/>
                </a:solidFill>
                <a:latin typeface="Cambria"/>
                <a:ea typeface="Cambria"/>
                <a:cs typeface="Cambria"/>
              </a:rPr>
              <a:t>5</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C4A2C"/>
                </a:solidFill>
                <a:latin typeface="Cambria"/>
                <a:ea typeface="Cambria"/>
                <a:cs typeface="Cambria"/>
              </a:rPr>
              <a:t>1</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C4A2C"/>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 post-commit failure. An external commitment happened — the runtime does not feign rollback.</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D4A54"/>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6</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admission gate is exact — and therefore data-hungry</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score model and the eleven-threshold grid are frozen before any calibration group is seen. That is what makes a union bound legitimate.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For each threshold the compiler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AC4A2C"/>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A3A2E"/>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7798A"/>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A4247"/>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D4A54"/>
                </a:solidFill>
                <a:latin typeface="Calibri"/>
                <a:ea typeface="Calibri"/>
                <a:cs typeface="Calibri"/>
              </a:rPr>
              <a:t>Independence is load-bearing. </a:t>
            </a:r>
            <a:r>
              <a:rPr sz="1200">
                <a:solidFill>
                  <a:srgbClr val="2A4247"/>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3</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Decline a workload before you build a compiler for it</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D4A54"/>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F767A"/>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A4247"/>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D4A54"/>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7798A"/>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F767A"/>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METHODOLOGY</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Three evidence tiers, ordered by what each can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D4A54"/>
                </a:solidFill>
                <a:latin typeface="Calibri"/>
                <a:ea typeface="Calibri"/>
                <a:cs typeface="Calibri"/>
              </a:rPr>
              <a:t>Every rejected candidate, the archived failed pilot, and the unsupported claims are retained rather than pruned </a:t>
            </a:r>
            <a:r>
              <a:rPr sz="1250">
                <a:solidFill>
                  <a:srgbClr val="2A4247"/>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1  ·  RQ1 AND RQ3</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Provenance succeeds far more often than certification</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Recurrence is fragmented: 714 candidate families exist, only 32 have support of at least five, and the best reaches 26 groups.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Of 32 attempted families, 12 synthesize. Their 36 held-out windows give 24 passes, 12 abstentions and zero wrong executions.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Zero wrong does not certify the programs. The gate needs 92 zero-violation groups, so every family retires.</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A scientifically useful negative result. </a:t>
            </a:r>
            <a:r>
              <a:rPr sz="1200">
                <a:solidFill>
                  <a:srgbClr val="5A3A2E"/>
                </a:solidFill>
                <a:latin typeface="Calibri"/>
                <a:ea typeface="Calibri"/>
                <a:cs typeface="Calibri"/>
              </a:rPr>
              <a:t>It is what distinguishes a guarded compiler from a recurrence-only macro miner — and it exposes the data requirement instead of hiding it in a heuristic.</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1,207 / 1,415</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complete groundable windows (85.3%)</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 / 32</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families synthesized</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24 / 12 / 0</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held-out pass / abstain / wrong</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certifiable families</a:t>
            </a:r>
          </a:p>
        </p:txBody>
      </p:sp>
    </p:spTree>
    <p:extLst>
      <p:ext uri="{BB962C8B-B14F-4D97-AF65-F5344CB8AC3E}">
        <p14:creationId xmlns:p14="http://schemas.microsoft.com/office/powerpoint/2010/main" val="138537613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15</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RQ6  ·  WORKFLOW-FAMILY TRANSFER</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Efficiency transfers; manual programs remain the runtime baseline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The two new families compile verified three-read pre-model programs; the original issue family retains its conservative two-read prefix. Both newer families are cache-cold in every arm, so part of the 32.0–75.3% cost range is prompt-cache warmth rather than compiled depth; provider-side break-even is 411, 182, and 181 episodes against 132 paid discovery episodes each. The study changes decision and tools, but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RQ2</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30 unseen real issues: 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7798A"/>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3  ·  THE DEPTH TRADE-OFF</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Preservation is not invariant to how deep you compile</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D4A54"/>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C4A2C"/>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3A2E"/>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A4247"/>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4  ·  RQ4</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Token saving and cost saving can have opposite signs</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D4A54"/>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3A5257"/>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A4247"/>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COMPARATOR THAT MATTERS</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Before GCS, the hand macro is the stronger fixed-workflow baseline</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Tier-1 support evidence gathering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0.726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0.755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Permissioned RAG knowledge assistant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0.335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0.718</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Multi-agent incident triage</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0.922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0.780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Multi-tenant MCP ops (negative control)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0.724</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Order-fulfillment exception handling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0.661</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0.642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F767A"/>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Live confirmation: </a:t>
            </a:r>
            <a:r>
              <a:rPr sz="1200">
                <a:solidFill>
                  <a:srgbClr val="2A4247"/>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COMPARATORS  ·  FAIR PRE-MODEL PLACEMENT + GEPA</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Unchanged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GEPA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GCS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GCS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Manual pre-model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5  ·  RQ5</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portfolio layer that only compares things it has measured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7798A"/>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7ECE7"/>
          </a:solidFill>
          <a:ln xmlns:a="http://schemas.openxmlformats.org/drawingml/2006/main" w="9525">
            <a:solidFill>
              <a:srgbClr val="EBD5CC"/>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A3A2E"/>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LIMITATIONS AND THREATS TO VALIDITY</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Five claims the evidence deliberately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D4A54"/>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Break-even 181–411 episodes; part of the cost range is cache warmth</a:t>
            </a:r>
          </a:p>
        </p:txBody>
      </p:sp>
    </p:spTree>
    <p:extLst>
      <p:ext uri="{BB962C8B-B14F-4D97-AF65-F5344CB8AC3E}">
        <p14:creationId xmlns:p14="http://schemas.microsoft.com/office/powerpoint/2010/main" val="1557051848"/>
      </p:ext>
    </p:extLst>
  </p:cSld>
</p:sld>
</file>

<file path=ppt/slides/slide23.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4C6B70"/>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4C6B70"/>
                </a:solidFill>
                <a:latin typeface="Calibri"/>
                <a:ea typeface="Calibri"/>
                <a:cs typeface="Calibri"/>
              </a:rPr>
              <a:t>23</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01400" y="4892040"/>
            <a:ext cx="4023360" cy="40233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32920" y="5623560"/>
            <a:ext cx="2011680" cy="2011680"/>
          </a:xfrm>
          <a:prstGeom xmlns:a="http://schemas.openxmlformats.org/drawingml/2006/main" prst="ellipse">
            <a:avLst/>
          </a:prstGeom>
          <a:solidFill xmlns:a="http://schemas.openxmlformats.org/drawingml/2006/main">
            <a:srgbClr val="17798A">
              <a:alpha val="50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EA3B0"/>
                </a:solidFill>
                <a:latin typeface="Calibri"/>
                <a:ea typeface="Calibri"/>
                <a:cs typeface="Calibri"/>
              </a:rPr>
              <a:t>TAKEAWAYS</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agent optimizer by what it refuses, not only by what it compresses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C6B70"/>
                </a:solidFill>
                <a:latin typeface="Calibri"/>
                <a:ea typeface="Calibri"/>
                <a:cs typeface="Calibri"/>
              </a:rPr>
              <a:t>Compiling Recurrent Agent Workflows into Guarded Programs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2026-08-07T04:35:21.7750000Z</dcterms:created>
  <dcterms:modified xsi:type="dcterms:W3CDTF">2026-08-07T04:35:21.7750000Z</dcterms:modified>
</coreProperties>
</file>