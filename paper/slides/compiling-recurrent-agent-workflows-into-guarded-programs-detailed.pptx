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Default Extension="xlsx" ContentType="application/vnd.openxmlformats-officedocument.spreadsheetml.sheet"/>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&#65279;<?xml version="1.0" encoding="utf-8"?><Relationships xmlns="http://schemas.openxmlformats.org/package/2006/relationships"><Relationship Type="http://schemas.openxmlformats.org/package/2006/relationships/metadata/core-properties" Target="/docProps/core.xml" Id="Rb5fba717a89a4a8d" /><Relationship Type="http://schemas.openxmlformats.org/officeDocument/2006/relationships/extended-properties" Target="/docProps/app.xml" Id="Rec0a11a0f7d2476a" /><Relationship Type="http://schemas.openxmlformats.org/officeDocument/2006/relationships/officeDocument" Target="/ppt/presentation.xml" Id="R8fb890e8d14a4dc4" /></Relationships>
</file>

<file path=ppt/presentation.xml><?xml version="1.0" encoding="utf-8"?>
<p:presentation xmlns:p="http://schemas.openxmlformats.org/presentationml/2006/main">
  <p:sldMasterIdLst>
    <p:sldMasterId xmlns:r="http://schemas.openxmlformats.org/officeDocument/2006/relationships" id="2147483648" r:id="R3b91fed2d1a84883"/>
  </p:sldMasterIdLst>
  <p:notesMasterIdLst>
    <p:notesMasterId xmlns:r="http://schemas.openxmlformats.org/officeDocument/2006/relationships" r:id="Rd9d1863c62fe4132"/>
  </p:notesMasterIdLst>
  <p:sldIdLst>
    <p:sldId xmlns:r="http://schemas.openxmlformats.org/officeDocument/2006/relationships" id="256" r:id="Rgacsld01"/>
    <p:sldId xmlns:r="http://schemas.openxmlformats.org/officeDocument/2006/relationships" id="257" r:id="Rgacsld02"/>
    <p:sldId xmlns:r="http://schemas.openxmlformats.org/officeDocument/2006/relationships" id="258" r:id="Rgacsld03"/>
    <p:sldId xmlns:r="http://schemas.openxmlformats.org/officeDocument/2006/relationships" id="259" r:id="Rgacsld04"/>
    <p:sldId xmlns:r="http://schemas.openxmlformats.org/officeDocument/2006/relationships" id="260" r:id="Rgacsld05"/>
    <p:sldId xmlns:r="http://schemas.openxmlformats.org/officeDocument/2006/relationships" id="261" r:id="Rgacsld06"/>
    <p:sldId xmlns:r="http://schemas.openxmlformats.org/officeDocument/2006/relationships" id="262" r:id="Rgacsld07"/>
    <p:sldId xmlns:r="http://schemas.openxmlformats.org/officeDocument/2006/relationships" id="263" r:id="Rgacsld08"/>
    <p:sldId xmlns:r="http://schemas.openxmlformats.org/officeDocument/2006/relationships" id="264" r:id="Rgacsld09"/>
    <p:sldId xmlns:r="http://schemas.openxmlformats.org/officeDocument/2006/relationships" id="265" r:id="Rgacsld10"/>
    <p:sldId xmlns:r="http://schemas.openxmlformats.org/officeDocument/2006/relationships" id="266" r:id="Rgacsld11"/>
    <p:sldId xmlns:r="http://schemas.openxmlformats.org/officeDocument/2006/relationships" id="267" r:id="Rgacsld12"/>
    <p:sldId xmlns:r="http://schemas.openxmlformats.org/officeDocument/2006/relationships" id="268" r:id="Rgacsld13"/>
    <p:sldId xmlns:r="http://schemas.openxmlformats.org/officeDocument/2006/relationships" id="269" r:id="Rgacsld14"/>
    <p:sldId xmlns:r="http://schemas.openxmlformats.org/officeDocument/2006/relationships" id="270" r:id="Rgacsld15"/>
    <p:sldId xmlns:r="http://schemas.openxmlformats.org/officeDocument/2006/relationships" id="271" r:id="Rgacsld16"/>
    <p:sldId xmlns:r="http://schemas.openxmlformats.org/officeDocument/2006/relationships" id="272" r:id="Rgacsld17"/>
    <p:sldId xmlns:r="http://schemas.openxmlformats.org/officeDocument/2006/relationships" id="273" r:id="Rgacsld18"/>
    <p:sldId xmlns:r="http://schemas.openxmlformats.org/officeDocument/2006/relationships" id="274" r:id="Rgacsld19"/>
    <p:sldId xmlns:r="http://schemas.openxmlformats.org/officeDocument/2006/relationships" id="275" r:id="Rgacsld20"/>
    <p:sldId xmlns:r="http://schemas.openxmlformats.org/officeDocument/2006/relationships" id="276" r:id="Rgacsld21"/>
    <p:sldId xmlns:r="http://schemas.openxmlformats.org/officeDocument/2006/relationships" id="277" r:id="Rgacsld22"/>
    <p:sldId xmlns:r="http://schemas.openxmlformats.org/officeDocument/2006/relationships" id="278" r:id="Rgacsld23"/>
    <p:sldId xmlns:r="http://schemas.openxmlformats.org/officeDocument/2006/relationships" id="279" r:id="Rgacsld24"/>
    <p:sldId xmlns:r="http://schemas.openxmlformats.org/officeDocument/2006/relationships" id="280" r:id="Rgacsld25"/>
    <p:sldId xmlns:r="http://schemas.openxmlformats.org/officeDocument/2006/relationships" id="281" r:id="Rgacsld26"/>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Relationships xmlns="http://schemas.openxmlformats.org/package/2006/relationships"><Relationship Type="http://schemas.openxmlformats.org/officeDocument/2006/relationships/slideMaster" Target="/ppt/slideMasters/slideMaster1.xml" Id="R3b91fed2d1a84883" /><Relationship Type="http://schemas.openxmlformats.org/officeDocument/2006/relationships/theme" Target="/ppt/theme/theme1.xml" Id="Reab66932fb834c57" /><Relationship Type="http://schemas.openxmlformats.org/officeDocument/2006/relationships/notesMaster" Target="/ppt/notesMasters/notesMaster1.xml" Id="Rd9d1863c62fe4132" /><Relationship Type="http://schemas.openxmlformats.org/officeDocument/2006/relationships/presProps" Target="/ppt/presProps.xml" Id="R85ad0cc843bf4635" /><Relationship Type="http://schemas.openxmlformats.org/officeDocument/2006/relationships/viewProps" Target="/ppt/viewProps.xml" Id="R8877b10e550e4942" /><Relationship Type="http://schemas.openxmlformats.org/officeDocument/2006/relationships/tableStyles" Target="/ppt/tableStyles.xml" Id="Re9cfb3c2803b4b4a" /><Relationship Type="http://schemas.openxmlformats.org/officeDocument/2006/relationships/slide" Target="/ppt/slides/slide1.xml" Id="Rgacsld01" /><Relationship Type="http://schemas.openxmlformats.org/officeDocument/2006/relationships/slide" Target="/ppt/slides/slide2.xml" Id="Rgacsld02" /><Relationship Type="http://schemas.openxmlformats.org/officeDocument/2006/relationships/slide" Target="/ppt/slides/slide3.xml" Id="Rgacsld03" /><Relationship Type="http://schemas.openxmlformats.org/officeDocument/2006/relationships/slide" Target="/ppt/slides/slide4.xml" Id="Rgacsld04" /><Relationship Type="http://schemas.openxmlformats.org/officeDocument/2006/relationships/slide" Target="/ppt/slides/slide5.xml" Id="Rgacsld05" /><Relationship Type="http://schemas.openxmlformats.org/officeDocument/2006/relationships/slide" Target="/ppt/slides/slide6.xml" Id="Rgacsld06" /><Relationship Type="http://schemas.openxmlformats.org/officeDocument/2006/relationships/slide" Target="/ppt/slides/slide7.xml" Id="Rgacsld07" /><Relationship Type="http://schemas.openxmlformats.org/officeDocument/2006/relationships/slide" Target="/ppt/slides/slide8.xml" Id="Rgacsld08" /><Relationship Type="http://schemas.openxmlformats.org/officeDocument/2006/relationships/slide" Target="/ppt/slides/slide9.xml" Id="Rgacsld09" /><Relationship Type="http://schemas.openxmlformats.org/officeDocument/2006/relationships/slide" Target="/ppt/slides/slide10.xml" Id="Rgacsld10" /><Relationship Type="http://schemas.openxmlformats.org/officeDocument/2006/relationships/slide" Target="/ppt/slides/slide11.xml" Id="Rgacsld11" /><Relationship Type="http://schemas.openxmlformats.org/officeDocument/2006/relationships/slide" Target="/ppt/slides/slide12.xml" Id="Rgacsld12" /><Relationship Type="http://schemas.openxmlformats.org/officeDocument/2006/relationships/slide" Target="/ppt/slides/slide13.xml" Id="Rgacsld13" /><Relationship Type="http://schemas.openxmlformats.org/officeDocument/2006/relationships/slide" Target="/ppt/slides/slide14.xml" Id="Rgacsld14" /><Relationship Type="http://schemas.openxmlformats.org/officeDocument/2006/relationships/slide" Target="/ppt/slides/slide15.xml" Id="Rgacsld15" /><Relationship Type="http://schemas.openxmlformats.org/officeDocument/2006/relationships/slide" Target="/ppt/slides/slide16.xml" Id="Rgacsld16" /><Relationship Type="http://schemas.openxmlformats.org/officeDocument/2006/relationships/slide" Target="/ppt/slides/slide17.xml" Id="Rgacsld17" /><Relationship Type="http://schemas.openxmlformats.org/officeDocument/2006/relationships/slide" Target="/ppt/slides/slide18.xml" Id="Rgacsld18" /><Relationship Type="http://schemas.openxmlformats.org/officeDocument/2006/relationships/slide" Target="/ppt/slides/slide19.xml" Id="Rgacsld19" /><Relationship Type="http://schemas.openxmlformats.org/officeDocument/2006/relationships/slide" Target="/ppt/slides/slide20.xml" Id="Rgacsld20" /><Relationship Type="http://schemas.openxmlformats.org/officeDocument/2006/relationships/slide" Target="/ppt/slides/slide21.xml" Id="Rgacsld21" /><Relationship Type="http://schemas.openxmlformats.org/officeDocument/2006/relationships/slide" Target="/ppt/slides/slide22.xml" Id="Rgacsld22" /><Relationship Type="http://schemas.openxmlformats.org/officeDocument/2006/relationships/slide" Target="/ppt/slides/slide23.xml" Id="Rgacsld23" /><Relationship Type="http://schemas.openxmlformats.org/officeDocument/2006/relationships/slide" Target="/ppt/slides/slide24.xml" Id="Rgacsld24" /><Relationship Type="http://schemas.openxmlformats.org/officeDocument/2006/relationships/slide" Target="/ppt/slides/slide25.xml" Id="Rgacsld25" /><Relationship Type="http://schemas.openxmlformats.org/officeDocument/2006/relationships/slide" Target="/ppt/slides/slide26.xml" Id="Rgacsld26" /></Relationships>
</file>

<file path=ppt/charts/_rels/chart1.xml.rels><?xml version="1.0" encoding="utf-8"?><Relationships xmlns="http://schemas.openxmlformats.org/package/2006/relationships"><Relationship Type="http://schemas.openxmlformats.org/officeDocument/2006/relationships/package" Target="/ppt/embeddings/Microsoft_Excel_Worksheet1.xlsx" Id="rId1" /></Relationships>
</file>

<file path=ppt/charts/_rels/chart2.xml.rels><?xml version="1.0" encoding="utf-8"?><Relationships xmlns="http://schemas.openxmlformats.org/package/2006/relationships"><Relationship Type="http://schemas.openxmlformats.org/officeDocument/2006/relationships/package" Target="/ppt/embeddings/Microsoft_Excel_Worksheet2.xlsx" Id="rId1" /></Relationships>
</file>

<file path=ppt/charts/_rels/chart3.xml.rels><?xml version="1.0" encoding="utf-8"?><Relationships xmlns="http://schemas.openxmlformats.org/package/2006/relationships"><Relationship Type="http://schemas.openxmlformats.org/officeDocument/2006/relationships/package" Target="/ppt/embeddings/Microsoft_Excel_Worksheet3.xlsx" Id="rId1" /></Relationships>
</file>

<file path=ppt/charts/_rels/chart4.xml.rels><?xml version="1.0" encoding="utf-8"?><Relationships xmlns="http://schemas.openxmlformats.org/package/2006/relationships"><Relationship Type="http://schemas.openxmlformats.org/officeDocument/2006/relationships/package" Target="/ppt/embeddings/Microsoft_Excel_Worksheet4.xlsx" Id="rId1" /></Relationships>
</file>

<file path=ppt/charts/_rels/chart5.xml.rels><?xml version="1.0" encoding="utf-8"?><Relationships xmlns="http://schemas.openxmlformats.org/package/2006/relationships"><Relationship Type="http://schemas.openxmlformats.org/officeDocument/2006/relationships/package" Target="/ppt/embeddings/Microsoft_Excel_Worksheet5.xlsx" Id="rId1" /></Relationships>
</file>

<file path=ppt/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Token reduction by workflow family</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 reduction (%)</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Sheet1!$A$2:$A$4</c:f>
              <c:strCache>
                <c:ptCount val="3"/>
                <c:pt idx="0">
                  <c:v>Issue type</c:v>
                </c:pt>
                <c:pt idx="1">
                  <c:v>PR outcome</c:v>
                </c:pt>
                <c:pt idx="2">
                  <c:v>Backlog attention</c:v>
                </c:pt>
              </c:strCache>
            </c:strRef>
          </c:cat>
          <c:val>
            <c:numRef>
              <c:f>Sheet1!$B$2:$B$4</c:f>
              <c:numCache>
                <c:formatCode>General</c:formatCode>
                <c:ptCount val="3"/>
                <c:pt idx="0">
                  <c:v>39.5</c:v>
                </c:pt>
                <c:pt idx="1">
                  <c:v>80.8</c:v>
                </c:pt>
                <c:pt idx="2">
                  <c:v>81.4</c:v>
                </c:pt>
              </c:numCache>
            </c:numRef>
          </c:val>
        </c:ser>
        <c:dLbls>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0\%"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Resource use per episode,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5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ACL-scoped retrieval</c:v>
                </c:pt>
                <c:pt idx="2">
                  <c:v>C  handoff barrier</c:v>
                </c:pt>
                <c:pt idx="3">
                  <c:v>E  branches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charts/chart5.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portfolio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externalData xmlns:r="http://schemas.openxmlformats.org/officeDocument/2006/relationships"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2.xml" Id="Rb0ab3f632ca0450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Relationships xmlns="http://schemas.openxmlformats.org/package/2006/relationships"><Relationship Type="http://schemas.openxmlformats.org/officeDocument/2006/relationships/slide" Target="/ppt/slides/slide1.xml" Id="Rgacslide" /><Relationship Type="http://schemas.openxmlformats.org/officeDocument/2006/relationships/notesMaster" Target="/ppt/notesMasters/notesMaster1.xml" Id="Rgacnotesmaster" /></Relationships>
</file>

<file path=ppt/notesSlides/_rels/notesSlide2.xml.rels><?xml version="1.0" encoding="utf-8"?><Relationships xmlns="http://schemas.openxmlformats.org/package/2006/relationships"><Relationship Type="http://schemas.openxmlformats.org/officeDocument/2006/relationships/slide" Target="/ppt/slides/slide2.xml" Id="Rgacslide" /><Relationship Type="http://schemas.openxmlformats.org/officeDocument/2006/relationships/notesMaster" Target="/ppt/notesMasters/notesMaster1.xml" Id="Rgacnotesmaster" /></Relationships>
</file>

<file path=ppt/notesSlides/_rels/notesSlide3.xml.rels><?xml version="1.0" encoding="utf-8"?><Relationships xmlns="http://schemas.openxmlformats.org/package/2006/relationships"><Relationship Type="http://schemas.openxmlformats.org/officeDocument/2006/relationships/slide" Target="/ppt/slides/slide3.xml" Id="Rgacslide" /><Relationship Type="http://schemas.openxmlformats.org/officeDocument/2006/relationships/notesMaster" Target="/ppt/notesMasters/notesMaster1.xml" Id="Rgacnotesmaster" /></Relationships>
</file>

<file path=ppt/notesSlides/_rels/notesSlide4.xml.rels><?xml version="1.0" encoding="utf-8"?><Relationships xmlns="http://schemas.openxmlformats.org/package/2006/relationships"><Relationship Type="http://schemas.openxmlformats.org/officeDocument/2006/relationships/slide" Target="/ppt/slides/slide4.xml" Id="Rgacslide" /><Relationship Type="http://schemas.openxmlformats.org/officeDocument/2006/relationships/notesMaster" Target="/ppt/notesMasters/notesMaster1.xml" Id="Rgacnotesmaster" /></Relationships>
</file>

<file path=ppt/notesSlides/_rels/notesSlide5.xml.rels><?xml version="1.0" encoding="utf-8"?><Relationships xmlns="http://schemas.openxmlformats.org/package/2006/relationships"><Relationship Type="http://schemas.openxmlformats.org/officeDocument/2006/relationships/slide" Target="/ppt/slides/slide5.xml" Id="Rgacslide" /><Relationship Type="http://schemas.openxmlformats.org/officeDocument/2006/relationships/notesMaster" Target="/ppt/notesMasters/notesMaster1.xml" Id="Rgacnotesmaster" /></Relationships>
</file>

<file path=ppt/notesSlides/_rels/notesSlide6.xml.rels><?xml version="1.0" encoding="utf-8"?><Relationships xmlns="http://schemas.openxmlformats.org/package/2006/relationships"><Relationship Type="http://schemas.openxmlformats.org/officeDocument/2006/relationships/slide" Target="/ppt/slides/slide6.xml" Id="Rgacslide" /><Relationship Type="http://schemas.openxmlformats.org/officeDocument/2006/relationships/notesMaster" Target="/ppt/notesMasters/notesMaster1.xml" Id="Rgacnotesmaster" /></Relationships>
</file>

<file path=ppt/notesSlides/_rels/notesSlide7.xml.rels><?xml version="1.0" encoding="utf-8"?><Relationships xmlns="http://schemas.openxmlformats.org/package/2006/relationships"><Relationship Type="http://schemas.openxmlformats.org/officeDocument/2006/relationships/slide" Target="/ppt/slides/slide7.xml" Id="Rgacslide" /><Relationship Type="http://schemas.openxmlformats.org/officeDocument/2006/relationships/notesMaster" Target="/ppt/notesMasters/notesMaster1.xml" Id="Rgacnotesmaster" /></Relationships>
</file>

<file path=ppt/notesSlides/_rels/notesSlide8.xml.rels><?xml version="1.0" encoding="utf-8"?><Relationships xmlns="http://schemas.openxmlformats.org/package/2006/relationships"><Relationship Type="http://schemas.openxmlformats.org/officeDocument/2006/relationships/slide" Target="/ppt/slides/slide8.xml" Id="Rgacslide" /><Relationship Type="http://schemas.openxmlformats.org/officeDocument/2006/relationships/notesMaster" Target="/ppt/notesMasters/notesMaster1.xml" Id="Rgacnotesmaster" /></Relationships>
</file>

<file path=ppt/notesSlides/_rels/notesSlide9.xml.rels><?xml version="1.0" encoding="utf-8"?><Relationships xmlns="http://schemas.openxmlformats.org/package/2006/relationships"><Relationship Type="http://schemas.openxmlformats.org/officeDocument/2006/relationships/slide" Target="/ppt/slides/slide9.xml" Id="Rgacslide" /><Relationship Type="http://schemas.openxmlformats.org/officeDocument/2006/relationships/notesMaster" Target="/ppt/notesMasters/notesMaster1.xml" Id="Rgacnotesmaster" /></Relationships>
</file>

<file path=ppt/notesSlides/_rels/notesSlide10.xml.rels><?xml version="1.0" encoding="utf-8"?><Relationships xmlns="http://schemas.openxmlformats.org/package/2006/relationships"><Relationship Type="http://schemas.openxmlformats.org/officeDocument/2006/relationships/slide" Target="/ppt/slides/slide10.xml" Id="Rgacslide" /><Relationship Type="http://schemas.openxmlformats.org/officeDocument/2006/relationships/notesMaster" Target="/ppt/notesMasters/notesMaster1.xml" Id="Rgacnotesmaster" /></Relationships>
</file>

<file path=ppt/notesSlides/_rels/notesSlide11.xml.rels><?xml version="1.0" encoding="utf-8"?><Relationships xmlns="http://schemas.openxmlformats.org/package/2006/relationships"><Relationship Type="http://schemas.openxmlformats.org/officeDocument/2006/relationships/slide" Target="/ppt/slides/slide11.xml" Id="Rgacslide" /><Relationship Type="http://schemas.openxmlformats.org/officeDocument/2006/relationships/notesMaster" Target="/ppt/notesMasters/notesMaster1.xml" Id="Rgacnotesmaster" /></Relationships>
</file>

<file path=ppt/notesSlides/_rels/notesSlide12.xml.rels><?xml version="1.0" encoding="utf-8"?><Relationships xmlns="http://schemas.openxmlformats.org/package/2006/relationships"><Relationship Type="http://schemas.openxmlformats.org/officeDocument/2006/relationships/slide" Target="/ppt/slides/slide12.xml" Id="Rgacslide" /><Relationship Type="http://schemas.openxmlformats.org/officeDocument/2006/relationships/notesMaster" Target="/ppt/notesMasters/notesMaster1.xml" Id="Rgacnotesmaster" /></Relationships>
</file>

<file path=ppt/notesSlides/_rels/notesSlide13.xml.rels><?xml version="1.0" encoding="utf-8"?><Relationships xmlns="http://schemas.openxmlformats.org/package/2006/relationships"><Relationship Type="http://schemas.openxmlformats.org/officeDocument/2006/relationships/slide" Target="/ppt/slides/slide13.xml" Id="Rgacslide" /><Relationship Type="http://schemas.openxmlformats.org/officeDocument/2006/relationships/notesMaster" Target="/ppt/notesMasters/notesMaster1.xml" Id="Rgacnotesmaster" /></Relationships>
</file>

<file path=ppt/notesSlides/_rels/notesSlide14.xml.rels><?xml version="1.0" encoding="utf-8"?><Relationships xmlns="http://schemas.openxmlformats.org/package/2006/relationships"><Relationship Type="http://schemas.openxmlformats.org/officeDocument/2006/relationships/slide" Target="/ppt/slides/slide14.xml" Id="Rgacslide" /><Relationship Type="http://schemas.openxmlformats.org/officeDocument/2006/relationships/notesMaster" Target="/ppt/notesMasters/notesMaster1.xml" Id="Rgacnotesmaster" /></Relationships>
</file>

<file path=ppt/notesSlides/_rels/notesSlide15.xml.rels><?xml version="1.0" encoding="utf-8"?><Relationships xmlns="http://schemas.openxmlformats.org/package/2006/relationships"><Relationship Type="http://schemas.openxmlformats.org/officeDocument/2006/relationships/slide" Target="/ppt/slides/slide15.xml" Id="Rgacslide" /><Relationship Type="http://schemas.openxmlformats.org/officeDocument/2006/relationships/notesMaster" Target="/ppt/notesMasters/notesMaster1.xml" Id="Rgacnotesmaster" /></Relationships>
</file>

<file path=ppt/notesSlides/_rels/notesSlide16.xml.rels><?xml version="1.0" encoding="utf-8"?><Relationships xmlns="http://schemas.openxmlformats.org/package/2006/relationships"><Relationship Type="http://schemas.openxmlformats.org/officeDocument/2006/relationships/slide" Target="/ppt/slides/slide16.xml" Id="Rgacslide" /><Relationship Type="http://schemas.openxmlformats.org/officeDocument/2006/relationships/notesMaster" Target="/ppt/notesMasters/notesMaster1.xml" Id="Rgacnotesmaster" /></Relationships>
</file>

<file path=ppt/notesSlides/_rels/notesSlide17.xml.rels><?xml version="1.0" encoding="utf-8"?><Relationships xmlns="http://schemas.openxmlformats.org/package/2006/relationships"><Relationship Type="http://schemas.openxmlformats.org/officeDocument/2006/relationships/slide" Target="/ppt/slides/slide17.xml" Id="Rgacslide" /><Relationship Type="http://schemas.openxmlformats.org/officeDocument/2006/relationships/notesMaster" Target="/ppt/notesMasters/notesMaster1.xml" Id="Rgacnotesmaster" /></Relationships>
</file>

<file path=ppt/notesSlides/_rels/notesSlide18.xml.rels><?xml version="1.0" encoding="utf-8"?><Relationships xmlns="http://schemas.openxmlformats.org/package/2006/relationships"><Relationship Type="http://schemas.openxmlformats.org/officeDocument/2006/relationships/slide" Target="/ppt/slides/slide18.xml" Id="Rgacslide" /><Relationship Type="http://schemas.openxmlformats.org/officeDocument/2006/relationships/notesMaster" Target="/ppt/notesMasters/notesMaster1.xml" Id="Rgacnotesmaster" /></Relationships>
</file>

<file path=ppt/notesSlides/_rels/notesSlide19.xml.rels><?xml version="1.0" encoding="utf-8"?><Relationships xmlns="http://schemas.openxmlformats.org/package/2006/relationships"><Relationship Type="http://schemas.openxmlformats.org/officeDocument/2006/relationships/slide" Target="/ppt/slides/slide19.xml" Id="Rgacslide" /><Relationship Type="http://schemas.openxmlformats.org/officeDocument/2006/relationships/notesMaster" Target="/ppt/notesMasters/notesMaster1.xml" Id="Rgacnotesmaster" /></Relationships>
</file>

<file path=ppt/notesSlides/_rels/notesSlide20.xml.rels><?xml version="1.0" encoding="utf-8"?><Relationships xmlns="http://schemas.openxmlformats.org/package/2006/relationships"><Relationship Type="http://schemas.openxmlformats.org/officeDocument/2006/relationships/slide" Target="/ppt/slides/slide20.xml" Id="Rgacslide" /><Relationship Type="http://schemas.openxmlformats.org/officeDocument/2006/relationships/notesMaster" Target="/ppt/notesMasters/notesMaster1.xml" Id="Rgacnotesmaster" /></Relationships>
</file>

<file path=ppt/notesSlides/_rels/notesSlide21.xml.rels><?xml version="1.0" encoding="utf-8"?><Relationships xmlns="http://schemas.openxmlformats.org/package/2006/relationships"><Relationship Type="http://schemas.openxmlformats.org/officeDocument/2006/relationships/slide" Target="/ppt/slides/slide21.xml" Id="Rgacslide" /><Relationship Type="http://schemas.openxmlformats.org/officeDocument/2006/relationships/notesMaster" Target="/ppt/notesMasters/notesMaster1.xml" Id="Rgacnotesmaster" /></Relationships>
</file>

<file path=ppt/notesSlides/_rels/notesSlide22.xml.rels><?xml version="1.0" encoding="utf-8"?><Relationships xmlns="http://schemas.openxmlformats.org/package/2006/relationships"><Relationship Type="http://schemas.openxmlformats.org/officeDocument/2006/relationships/slide" Target="/ppt/slides/slide22.xml" Id="Rgacslide" /><Relationship Type="http://schemas.openxmlformats.org/officeDocument/2006/relationships/notesMaster" Target="/ppt/notesMasters/notesMaster1.xml" Id="Rgacnotesmaster" /></Relationships>
</file>

<file path=ppt/notesSlides/_rels/notesSlide23.xml.rels><?xml version="1.0" encoding="utf-8"?><Relationships xmlns="http://schemas.openxmlformats.org/package/2006/relationships"><Relationship Type="http://schemas.openxmlformats.org/officeDocument/2006/relationships/slide" Target="/ppt/slides/slide23.xml" Id="Rgacslide" /><Relationship Type="http://schemas.openxmlformats.org/officeDocument/2006/relationships/notesMaster" Target="/ppt/notesMasters/notesMaster1.xml" Id="Rgacnotesmaster" /></Relationships>
</file>

<file path=ppt/notesSlides/_rels/notesSlide24.xml.rels><?xml version="1.0" encoding="utf-8"?><Relationships xmlns="http://schemas.openxmlformats.org/package/2006/relationships"><Relationship Type="http://schemas.openxmlformats.org/officeDocument/2006/relationships/slide" Target="/ppt/slides/slide24.xml" Id="Rgacslide" /><Relationship Type="http://schemas.openxmlformats.org/officeDocument/2006/relationships/notesMaster" Target="/ppt/notesMasters/notesMaster1.xml" Id="Rgacnotesmaster" /></Relationships>
</file>

<file path=ppt/notesSlides/_rels/notesSlide25.xml.rels><?xml version="1.0" encoding="utf-8"?><Relationships xmlns="http://schemas.openxmlformats.org/package/2006/relationships"><Relationship Type="http://schemas.openxmlformats.org/officeDocument/2006/relationships/slide" Target="/ppt/slides/slide25.xml" Id="Rgacslide" /><Relationship Type="http://schemas.openxmlformats.org/officeDocument/2006/relationships/notesMaster" Target="/ppt/notesMasters/notesMaster1.xml" Id="Rgacnotesmaster" /></Relationships>
</file>

<file path=ppt/notesSlides/_rels/notesSlide26.xml.rels><?xml version="1.0" encoding="utf-8"?><Relationships xmlns="http://schemas.openxmlformats.org/package/2006/relationships"><Relationship Type="http://schemas.openxmlformats.org/officeDocument/2006/relationships/slide" Target="/ppt/slides/slide26.xml" Id="Rgacslide" /><Relationship Type="http://schemas.openxmlformats.org/officeDocument/2006/relationships/notesMaster" Target="/ppt/notesMasters/notesMaster1.xml" Id="Rgacnotesmaster"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Framing: this is a paper about the admission argument for deleting model decisions, not a paper about speed. The headline engineering result is a 50% request reduction with task quality preserved; the headline scientific result is that most recurrent regions cannot be certified at 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honest ledger. The paper's claims register (Table 9) gives seven of thirteen claims a negative verdict — C5 to C9 plus C12 and C13 — and the six that stand carry explicit scope caveats. That discipline is the reason to trust the ones that do stand.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Everything before this slide is motivation; everything after it is the formal problem, stated narrowly enough to be refutable.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figures are the mean per-episode measurements from the expanded 30-record replication (Table 2). Three of the four model turns are pure tool selection over a path every one of 132 discovery traces took.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whole argument for why an agent optimizer needs more machinery than a cache. Each hazard maps to a specific rejection point in the compiler.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ones: the paper treats refusal and residual failure as first-class results rather than as caveats.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right-hand column is drawn verbatim from the paper's own boundary statement. Read it out loud in a review — it is what makes the left column credible.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The method act. If a reviewer only remembers one thing from it, make it that every stage can return Retire with an attributed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asymmetry that makes the design defensible: statistics can only ever narrow what a structurally admissible artifact is allowed to do. They can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cascade order is load-bearing: the cheap structural checks run before the expensive statistical ones, and the feasibility estimator can decline a workload before any synthesis cost is incurred. Caveat to state if asked: the perturbation suite needs a sandbox, and the headline live artifact records perturbations_claimed: false — it was never adversarially challenged.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96.3% is candidate recall and close to definitional. The load-bearing number is 80.7% unique resolution — that is what synthesis can actually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to dwell on for anyone worried about blast radius. Of the seven terminal runtime edges, five return the unchanged agent, one raises an incident rather than feigning a rollback, and only one compacts. There is no silent-degradation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'why 92?', the answer is: alpha .05, delta .10, eleven grid thresholds, and zero observed violations. It is a consequence of the configuration, not a discovered property of any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Practical framing for a platform team: this is the cheap triage question. If the ceiling on your workload is 15%, stop — no compiler will beat that, and you have saved the discovery spend.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 break. From here on every number is paired with what it does not establish; that pairing is the point of the tier ordering.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contribution most reviewers will respect: no tier is asked to license a claim it cannot support.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Provider-free stage: about six seconds and 23.3 MiB peak memory over the pinned dataset. The compute is not the bottleneck — independent calibration support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 the tool-call bar: the compiler keeps all three reads. It removes model-mediated decisions, not evidence acquisition. The macro removes reads because a human redesigned the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McNemar carries almost no information at these sample sizes: p = 1 in both arms. The informative quantity is the one-sided exact bound on the paired degradation rate — 9.5% for the 30-record two-read arm with zero compiler-only failures, and 23.8% for the 18-record three-read arm with its single discordance. Perfect or near-perfect observed agreement is compatible with an operationally unacceptable rate; a predeclared non-inferiority margin of a few points would need hundreds of sealed pairs per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is careful that only Demo F clears the noise floor set by the refusing controls, and even there the magnitude is indicative. The direction is what the data supports.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an engineering leader should push on. The honest read: GAC is not a replacement for good interface design. It earns its keep where the choice of reads is itself the thing that recurs.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Paired two-sided Wilcoxon p = 0.000488 for tokens, latency, and cost. The value of this design is the ordering: decide, hash the calibration file, then draw the fresh cohort.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paper's claims register (Table 9) gives a negative verdict to seven of thirteen claims: C5, C6, C7 and C9 and C13 not supported, C8 not evaluated, C12 not implemented. C10 and C11 are verified but scoped — one is a provider-free counterfactual, the other holds on a single workflow family. Reading that table is the fastest way to calibrate how much of this is deployable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framing sentence from the paper's conclusion: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c40cafd709489c"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9f63d9d27b6d4ec0" /><Relationship Type="http://schemas.openxmlformats.org/officeDocument/2006/relationships/slideLayout" Target="/ppt/slideLayouts/slideLayout2.xml" Id="Re9b9c0a98c2c455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b9c0a98c2c4553"/>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xml" Id="Rgacnotes" /></Relationships>
</file>

<file path=ppt/slides/_rels/slide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xml" Id="Rgacnotes" /></Relationships>
</file>

<file path=ppt/slides/_rels/slide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3.xml" Id="Rgacnotes" /></Relationships>
</file>

<file path=ppt/slides/_rels/slide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4.xml" Id="Rgacnotes" /></Relationships>
</file>

<file path=ppt/slides/_rels/slide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5.xml" Id="Rgacnotes" /></Relationships>
</file>

<file path=ppt/slides/_rels/slide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6.xml" Id="Rgacnotes" /></Relationships>
</file>

<file path=ppt/slides/_rels/slide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7.xml" Id="Rgacnotes" /></Relationships>
</file>

<file path=ppt/slides/_rels/slide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8.xml" Id="Rgacnotes" /></Relationships>
</file>

<file path=ppt/slides/_rels/slide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9.xml" Id="Rgacnotes" /></Relationships>
</file>

<file path=ppt/slides/_rels/slide1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0.xml" Id="Rgacnotes" /></Relationships>
</file>

<file path=ppt/slides/_rels/slide1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1.xml" Id="Rgacnotes" /></Relationships>
</file>

<file path=ppt/slides/_rels/slide1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2.xml" Id="Rgacnotes" /></Relationships>
</file>

<file path=ppt/slides/_rels/slide1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3.xml" Id="Rgacnotes" /></Relationships>
</file>

<file path=ppt/slides/_rels/slide1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4.xml" Id="Rgacnotes" /></Relationships>
</file>

<file path=ppt/slides/_rels/slide1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5.xml" Id="Rgacnotes" /></Relationships>
</file>

<file path=ppt/slides/_rels/slide1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16.xml" Id="Rgacnotes" /></Relationships>
</file>

<file path=ppt/slides/_rels/slide17.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1.xml" Id="Ra5a344bc25c34004" /><Relationship Type="http://schemas.openxmlformats.org/officeDocument/2006/relationships/notesSlide" Target="/ppt/notesSlides/notesSlide17.xml" Id="Rgacnotes" /></Relationships>
</file>

<file path=ppt/slides/_rels/slide18.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2.xml" Id="R4da551d5950f48b5" /><Relationship Type="http://schemas.openxmlformats.org/officeDocument/2006/relationships/notesSlide" Target="/ppt/notesSlides/notesSlide18.xml" Id="Rgacnotes" /></Relationships>
</file>

<file path=ppt/slides/_rels/slide19.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3.xml" Id="Rb85f43d5fcbc4331" /><Relationship Type="http://schemas.openxmlformats.org/officeDocument/2006/relationships/notesSlide" Target="/ppt/notesSlides/notesSlide19.xml" Id="Rgacnotes" /></Relationships>
</file>

<file path=ppt/slides/_rels/slide20.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0.xml" Id="Rgacnotes" /></Relationships>
</file>

<file path=ppt/slides/_rels/slide21.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4.xml" Id="R2d8e65cbda95494b" /><Relationship Type="http://schemas.openxmlformats.org/officeDocument/2006/relationships/notesSlide" Target="/ppt/notesSlides/notesSlide21.xml" Id="Rgacnotes" /></Relationships>
</file>

<file path=ppt/slides/_rels/slide22.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2.xml" Id="Rgacnotes" /></Relationships>
</file>

<file path=ppt/slides/_rels/slide23.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3.xml" Id="Rgacnotes" /></Relationships>
</file>

<file path=ppt/slides/_rels/slide24.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chart" Target="/ppt/charts/chart5.xml" Id="R51c0446875b84944" /><Relationship Type="http://schemas.openxmlformats.org/officeDocument/2006/relationships/notesSlide" Target="/ppt/notesSlides/notesSlide24.xml" Id="Rgacnotes" /></Relationships>
</file>

<file path=ppt/slides/_rels/slide25.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5.xml" Id="Rgacnotes" /></Relationships>
</file>

<file path=ppt/slides/_rels/slide26.xml.rels><?xml version="1.0" encoding="utf-8"?><Relationships xmlns="http://schemas.openxmlformats.org/package/2006/relationships"><Relationship Type="http://schemas.openxmlformats.org/officeDocument/2006/relationships/slideLayout" Target="/ppt/slideLayouts/slideLayout2.xml" Id="Rgaclayout" /><Relationship Type="http://schemas.openxmlformats.org/officeDocument/2006/relationships/notesSlide" Target="/ppt/notesSlides/notesSlide26.xml" Id="Rgacnotes" /></Relationships>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6750E6C-F6B4-4CAE-94C6-02C9BF4186BF}"/>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C7B56F2-88B9-4E37-95CD-8969BFB78A15}"/>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16B859BA-E41D-4730-814A-FD7477665BA5}"/>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2F01FC73-09EE-4519-8CC6-DABF71D3E6B7}"/>
              </a:ext>
            </a:extLst>
          </p:cNvPr>
          <p:cNvSpPr>
            <a:spLocks xmlns:a="http://schemas.openxmlformats.org/drawingml/2006/main" noGrp="1"/>
          </p:cNvSpPr>
          <p:nvPr/>
        </p:nvSpPr>
        <p:spPr>
          <a:xfrm xmlns:a="http://schemas.openxmlformats.org/drawingml/2006/main">
            <a:off x="640080" y="1417320"/>
            <a:ext cx="7863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220">
                <a:solidFill>
                  <a:srgbClr val="56B3BE"/>
                </a:solidFill>
                <a:latin typeface="Calibri"/>
                <a:ea typeface="Calibri"/>
                <a:cs typeface="Calibri"/>
              </a:rPr>
              <a:t>PAPER REVIEW  ·  AGENT INFRASTRUCTURE</a:t>
            </a:r>
          </a:p>
        </p:txBody>
      </p:sp>
      <p:sp>
        <p:nvSpPr>
          <p:cNvPr id="6" name="Text 4">
            <a:extLst xmlns:a="http://schemas.openxmlformats.org/drawingml/2006/main">
              <a:ext uri="{FF2B5EF4-FFF2-40B4-BE49-F238E27FC236}">
                <a16:creationId xmlns:a16="http://schemas.microsoft.com/office/drawing/2014/main" id="{D4CF04B9-FBB0-4B15-A16D-52F11A3302CE}"/>
              </a:ext>
            </a:extLst>
          </p:cNvPr>
          <p:cNvSpPr>
            <a:spLocks xmlns:a="http://schemas.openxmlformats.org/drawingml/2006/main" noGrp="1"/>
          </p:cNvSpPr>
          <p:nvPr/>
        </p:nvSpPr>
        <p:spPr>
          <a:xfrm xmlns:a="http://schemas.openxmlformats.org/drawingml/2006/main">
            <a:off x="640080" y="1828800"/>
            <a:ext cx="8138160"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nSpc>
                <a:spcPct val="100000"/>
              </a:lnSpc>
              <a:buNone/>
            </a:pPr>
            <a:r>
              <a:rPr sz="3300" b="1">
                <a:solidFill>
                  <a:srgbClr val="FFFFFF"/>
                </a:solidFill>
                <a:latin typeface="Cambria"/>
                <a:ea typeface="Cambria"/>
                <a:cs typeface="Cambria"/>
              </a:rPr>
              <a:t>From Traces to Guarded Programs: Evidence-Gated Compilation of Recurrent Agent Workflows</a:t>
            </a:r>
          </a:p>
        </p:txBody>
      </p:sp>
      <p:sp>
        <p:nvSpPr>
          <p:cNvPr id="7" name="Text 5">
            <a:extLst xmlns:a="http://schemas.openxmlformats.org/drawingml/2006/main">
              <a:ext uri="{FF2B5EF4-FFF2-40B4-BE49-F238E27FC236}">
                <a16:creationId xmlns:a16="http://schemas.microsoft.com/office/drawing/2014/main" id="{1EED095E-F259-4853-9D66-D73FB93CF756}"/>
              </a:ext>
            </a:extLst>
          </p:cNvPr>
          <p:cNvSpPr>
            <a:spLocks xmlns:a="http://schemas.openxmlformats.org/drawingml/2006/main" noGrp="1"/>
          </p:cNvSpPr>
          <p:nvPr/>
        </p:nvSpPr>
        <p:spPr>
          <a:xfrm xmlns:a="http://schemas.openxmlformats.org/drawingml/2006/main">
            <a:off x="640080" y="3611880"/>
            <a:ext cx="768096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b="1">
                <a:solidFill>
                  <a:srgbClr val="FFFFFF"/>
                </a:solidFill>
                <a:latin typeface="Calibri"/>
                <a:ea typeface="Calibri"/>
                <a:cs typeface="Calibri"/>
              </a:rPr>
              <a:t>Guarded Agentic Compaction (GAC). </a:t>
            </a:r>
            <a:r>
              <a:rPr sz="1500">
                <a:solidFill>
                  <a:srgbClr val="9BD0D6"/>
                </a:solidFill>
                <a:latin typeface="Calibri"/>
                <a:ea typeface="Calibri"/>
                <a:cs typeface="Calibri"/>
              </a:rPr>
              <a:t>What evidence licenses deleting a recurring model decision — and when an optimizer is obliged to refuse.</a:t>
            </a:r>
          </a:p>
        </p:txBody>
      </p:sp>
      <p:sp>
        <p:nvSpPr>
          <p:cNvPr id="8" name="Text 6">
            <a:extLst xmlns:a="http://schemas.openxmlformats.org/drawingml/2006/main">
              <a:ext uri="{FF2B5EF4-FFF2-40B4-BE49-F238E27FC236}">
                <a16:creationId xmlns:a16="http://schemas.microsoft.com/office/drawing/2014/main" id="{A67C9C4F-1B0B-4A15-ADA1-D8405C8CCF1F}"/>
              </a:ext>
            </a:extLst>
          </p:cNvPr>
          <p:cNvSpPr>
            <a:spLocks xmlns:a="http://schemas.openxmlformats.org/drawingml/2006/main" noGrp="1"/>
          </p:cNvSpPr>
          <p:nvPr/>
        </p:nvSpPr>
        <p:spPr>
          <a:xfrm xmlns:a="http://schemas.openxmlformats.org/drawingml/2006/main">
            <a:off x="64008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3</a:t>
            </a:r>
          </a:p>
        </p:txBody>
      </p:sp>
      <p:sp>
        <p:nvSpPr>
          <p:cNvPr id="9" name="Text 7">
            <a:extLst xmlns:a="http://schemas.openxmlformats.org/drawingml/2006/main">
              <a:ext uri="{FF2B5EF4-FFF2-40B4-BE49-F238E27FC236}">
                <a16:creationId xmlns:a16="http://schemas.microsoft.com/office/drawing/2014/main" id="{1E677262-6F85-4E00-9C74-4A9BA5FEB14B}"/>
              </a:ext>
            </a:extLst>
          </p:cNvPr>
          <p:cNvSpPr>
            <a:spLocks xmlns:a="http://schemas.openxmlformats.org/drawingml/2006/main" noGrp="1"/>
          </p:cNvSpPr>
          <p:nvPr/>
        </p:nvSpPr>
        <p:spPr>
          <a:xfrm xmlns:a="http://schemas.openxmlformats.org/drawingml/2006/main">
            <a:off x="120700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real workflow families with distinct tools and graders</a:t>
            </a:r>
          </a:p>
        </p:txBody>
      </p:sp>
      <p:sp>
        <p:nvSpPr>
          <p:cNvPr id="10" name="Text 8">
            <a:extLst xmlns:a="http://schemas.openxmlformats.org/drawingml/2006/main">
              <a:ext uri="{FF2B5EF4-FFF2-40B4-BE49-F238E27FC236}">
                <a16:creationId xmlns:a16="http://schemas.microsoft.com/office/drawing/2014/main" id="{F04A7E66-F8A9-422D-A710-4AC9B7A59095}"/>
              </a:ext>
            </a:extLst>
          </p:cNvPr>
          <p:cNvSpPr>
            <a:spLocks xmlns:a="http://schemas.openxmlformats.org/drawingml/2006/main" noGrp="1"/>
          </p:cNvSpPr>
          <p:nvPr/>
        </p:nvSpPr>
        <p:spPr>
          <a:xfrm xmlns:a="http://schemas.openxmlformats.org/drawingml/2006/main">
            <a:off x="342900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90</a:t>
            </a:r>
          </a:p>
        </p:txBody>
      </p:sp>
      <p:sp>
        <p:nvSpPr>
          <p:cNvPr id="11" name="Text 9">
            <a:extLst xmlns:a="http://schemas.openxmlformats.org/drawingml/2006/main">
              <a:ext uri="{FF2B5EF4-FFF2-40B4-BE49-F238E27FC236}">
                <a16:creationId xmlns:a16="http://schemas.microsoft.com/office/drawing/2014/main" id="{6180F627-61B1-47C7-9C41-6B5516B1AF98}"/>
              </a:ext>
            </a:extLst>
          </p:cNvPr>
          <p:cNvSpPr>
            <a:spLocks xmlns:a="http://schemas.openxmlformats.org/drawingml/2006/main" noGrp="1"/>
          </p:cNvSpPr>
          <p:nvPr/>
        </p:nvSpPr>
        <p:spPr>
          <a:xfrm xmlns:a="http://schemas.openxmlformats.org/drawingml/2006/main">
            <a:off x="399592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live-provider protocols on real public GitHub records</a:t>
            </a:r>
          </a:p>
        </p:txBody>
      </p:sp>
      <p:sp>
        <p:nvSpPr>
          <p:cNvPr id="12" name="Text 10">
            <a:extLst xmlns:a="http://schemas.openxmlformats.org/drawingml/2006/main">
              <a:ext uri="{FF2B5EF4-FFF2-40B4-BE49-F238E27FC236}">
                <a16:creationId xmlns:a16="http://schemas.microsoft.com/office/drawing/2014/main" id="{075E0008-8F90-4D14-B898-DBE33E47A141}"/>
              </a:ext>
            </a:extLst>
          </p:cNvPr>
          <p:cNvSpPr>
            <a:spLocks xmlns:a="http://schemas.openxmlformats.org/drawingml/2006/main" noGrp="1"/>
          </p:cNvSpPr>
          <p:nvPr/>
        </p:nvSpPr>
        <p:spPr>
          <a:xfrm xmlns:a="http://schemas.openxmlformats.org/drawingml/2006/main">
            <a:off x="6217920" y="4709160"/>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56B3BE"/>
                </a:solidFill>
                <a:latin typeface="Cambria"/>
                <a:ea typeface="Cambria"/>
                <a:cs typeface="Cambria"/>
              </a:rPr>
              <a:t>8</a:t>
            </a:r>
          </a:p>
        </p:txBody>
      </p:sp>
      <p:sp>
        <p:nvSpPr>
          <p:cNvPr id="13" name="Text 11">
            <a:extLst xmlns:a="http://schemas.openxmlformats.org/drawingml/2006/main">
              <a:ext uri="{FF2B5EF4-FFF2-40B4-BE49-F238E27FC236}">
                <a16:creationId xmlns:a16="http://schemas.microsoft.com/office/drawing/2014/main" id="{D53EEDE0-C715-4CA3-A4E8-EA18ED7EE1C0}"/>
              </a:ext>
            </a:extLst>
          </p:cNvPr>
          <p:cNvSpPr>
            <a:spLocks xmlns:a="http://schemas.openxmlformats.org/drawingml/2006/main" noGrp="1"/>
          </p:cNvSpPr>
          <p:nvPr/>
        </p:nvSpPr>
        <p:spPr>
          <a:xfrm xmlns:a="http://schemas.openxmlformats.org/drawingml/2006/main">
            <a:off x="6784848" y="4736592"/>
            <a:ext cx="21031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conditions in a controlled workflow-shape suite</a:t>
            </a:r>
          </a:p>
        </p:txBody>
      </p:sp>
      <p:sp>
        <p:nvSpPr>
          <p:cNvPr id="14" name="Text 12">
            <a:extLst xmlns:a="http://schemas.openxmlformats.org/drawingml/2006/main">
              <a:ext uri="{FF2B5EF4-FFF2-40B4-BE49-F238E27FC236}">
                <a16:creationId xmlns:a16="http://schemas.microsoft.com/office/drawing/2014/main" id="{0057148A-BA07-4081-94BD-5F08AA207235}"/>
              </a:ext>
            </a:extLst>
          </p:cNvPr>
          <p:cNvSpPr>
            <a:spLocks xmlns:a="http://schemas.openxmlformats.org/drawingml/2006/main" noGrp="1"/>
          </p:cNvSpPr>
          <p:nvPr/>
        </p:nvSpPr>
        <p:spPr>
          <a:xfrm xmlns:a="http://schemas.openxmlformats.org/drawingml/2006/main">
            <a:off x="640080" y="598932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43597C"/>
                </a:solidFill>
                <a:latin typeface="Calibri"/>
                <a:ea typeface="Calibri"/>
                <a:cs typeface="Calibri"/>
              </a:rPr>
              <a:t>Prepared for engineering leadership  ·  JazzX AI  ·  August 2026</a:t>
            </a:r>
          </a:p>
        </p:txBody>
      </p:sp>
      <p:sp>
        <p:nvSpPr>
          <p:cNvPr id="200" name="Shape 200"/>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9301577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26FD71-BFC8-418B-8222-DF3E8474CB2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2047920-9B9B-4B47-B6A5-73329EF85FC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D02F57F9-D850-45B9-B512-D45AD192DD9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THE SHORT VERSION  ·  §1</a:t>
            </a:r>
          </a:p>
        </p:txBody>
      </p:sp>
      <p:sp>
        <p:nvSpPr>
          <p:cNvPr id="5" name="Text 3">
            <a:extLst xmlns:a="http://schemas.openxmlformats.org/drawingml/2006/main">
              <a:ext uri="{FF2B5EF4-FFF2-40B4-BE49-F238E27FC236}">
                <a16:creationId xmlns:a16="http://schemas.microsoft.com/office/drawing/2014/main" id="{10A06F07-F43A-495C-BC85-68040181E21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not permission</a:t>
            </a:r>
          </a:p>
        </p:txBody>
      </p:sp>
      <p:sp>
        <p:nvSpPr>
          <p:cNvPr id="6" name="Shape 4">
            <a:extLst xmlns:a="http://schemas.openxmlformats.org/drawingml/2006/main">
              <a:ext uri="{FF2B5EF4-FFF2-40B4-BE49-F238E27FC236}">
                <a16:creationId xmlns:a16="http://schemas.microsoft.com/office/drawing/2014/main" id="{B93749DC-61C9-4F64-BF2C-AA7F7313090D}"/>
              </a:ext>
            </a:extLst>
          </p:cNvPr>
          <p:cNvSpPr>
            <a:spLocks xmlns:a="http://schemas.openxmlformats.org/drawingml/2006/main" noGrp="1"/>
          </p:cNvSpPr>
          <p:nvPr/>
        </p:nvSpPr>
        <p:spPr>
          <a:xfrm xmlns:a="http://schemas.openxmlformats.org/drawingml/2006/main">
            <a:off x="640080" y="1371600"/>
            <a:ext cx="10911535" cy="841248"/>
          </a:xfrm>
          <a:prstGeom xmlns:a="http://schemas.openxmlformats.org/drawingml/2006/main" prst="roundRect">
            <a:avLst>
              <a:gd name="adj" fmla="val 543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37EDE80C-A9C8-4486-9C92-703FF5997F64}"/>
              </a:ext>
            </a:extLst>
          </p:cNvPr>
          <p:cNvSpPr>
            <a:spLocks xmlns:a="http://schemas.openxmlformats.org/drawingml/2006/main" noGrp="1"/>
          </p:cNvSpPr>
          <p:nvPr/>
        </p:nvSpPr>
        <p:spPr>
          <a:xfrm xmlns:a="http://schemas.openxmlformats.org/drawingml/2006/main">
            <a:off x="896112" y="1481328"/>
            <a:ext cx="10399471" cy="6217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400">
                <a:solidFill>
                  <a:srgbClr val="0E1E3A"/>
                </a:solidFill>
                <a:latin typeface="Calibri"/>
                <a:ea typeface="Calibri"/>
                <a:cs typeface="Calibri"/>
              </a:rPr>
              <a:t>GAC supplies the missing admission argument: </a:t>
            </a:r>
            <a:r>
              <a:rPr sz="1400" b="1">
                <a:solidFill>
                  <a:srgbClr val="0E1E3A"/>
                </a:solidFill>
                <a:latin typeface="Calibri"/>
                <a:ea typeface="Calibri"/>
                <a:cs typeface="Calibri"/>
              </a:rPr>
              <a:t>typed value provenance, effect barriers, empirical contracts, and a finite-sample risk gate. </a:t>
            </a:r>
            <a:r>
              <a:rPr sz="1400">
                <a:solidFill>
                  <a:srgbClr val="0E1E3A"/>
                </a:solidFill>
                <a:latin typeface="Calibri"/>
                <a:ea typeface="Calibri"/>
                <a:cs typeface="Calibri"/>
              </a:rPr>
              <a:t>Its default output is refusal — the compiler either emits a guarded artifact or keeps the agent unchanged.</a:t>
            </a:r>
          </a:p>
        </p:txBody>
      </p:sp>
      <p:sp>
        <p:nvSpPr>
          <p:cNvPr id="8" name="Shape 6">
            <a:extLst xmlns:a="http://schemas.openxmlformats.org/drawingml/2006/main">
              <a:ext uri="{FF2B5EF4-FFF2-40B4-BE49-F238E27FC236}">
                <a16:creationId xmlns:a16="http://schemas.microsoft.com/office/drawing/2014/main" id="{ED869A4F-E7C6-47B8-96CE-BB33E5D1CA25}"/>
              </a:ext>
            </a:extLst>
          </p:cNvPr>
          <p:cNvSpPr>
            <a:spLocks xmlns:a="http://schemas.openxmlformats.org/drawingml/2006/main" noGrp="1"/>
          </p:cNvSpPr>
          <p:nvPr/>
        </p:nvSpPr>
        <p:spPr>
          <a:xfrm xmlns:a="http://schemas.openxmlformats.org/drawingml/2006/main">
            <a:off x="640080"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FF6BBA54-37EA-4542-A5A4-C1D359A37D46}"/>
              </a:ext>
            </a:extLst>
          </p:cNvPr>
          <p:cNvSpPr>
            <a:spLocks xmlns:a="http://schemas.openxmlformats.org/drawingml/2006/main" noGrp="1"/>
          </p:cNvSpPr>
          <p:nvPr/>
        </p:nvSpPr>
        <p:spPr>
          <a:xfrm xmlns:a="http://schemas.openxmlformats.org/drawingml/2006/main">
            <a:off x="804672"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50%</a:t>
            </a:r>
          </a:p>
        </p:txBody>
      </p:sp>
      <p:sp>
        <p:nvSpPr>
          <p:cNvPr id="10" name="Text 8">
            <a:extLst xmlns:a="http://schemas.openxmlformats.org/drawingml/2006/main">
              <a:ext uri="{FF2B5EF4-FFF2-40B4-BE49-F238E27FC236}">
                <a16:creationId xmlns:a16="http://schemas.microsoft.com/office/drawing/2014/main" id="{0A0E90CD-47AB-4827-ACD6-33F502F7D5B0}"/>
              </a:ext>
            </a:extLst>
          </p:cNvPr>
          <p:cNvSpPr>
            <a:spLocks xmlns:a="http://schemas.openxmlformats.org/drawingml/2006/main" noGrp="1"/>
          </p:cNvSpPr>
          <p:nvPr/>
        </p:nvSpPr>
        <p:spPr>
          <a:xfrm xmlns:a="http://schemas.openxmlformats.org/drawingml/2006/main">
            <a:off x="804672"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fewer provider requests on 30 unseen real GitHub issues — with 30/30 task contracts held</a:t>
            </a:r>
          </a:p>
        </p:txBody>
      </p:sp>
      <p:sp>
        <p:nvSpPr>
          <p:cNvPr id="11" name="Shape 9">
            <a:extLst xmlns:a="http://schemas.openxmlformats.org/drawingml/2006/main">
              <a:ext uri="{FF2B5EF4-FFF2-40B4-BE49-F238E27FC236}">
                <a16:creationId xmlns:a16="http://schemas.microsoft.com/office/drawing/2014/main" id="{400944EB-9C20-411E-BDE3-2E56E0D1E247}"/>
              </a:ext>
            </a:extLst>
          </p:cNvPr>
          <p:cNvSpPr>
            <a:spLocks xmlns:a="http://schemas.openxmlformats.org/drawingml/2006/main" noGrp="1"/>
          </p:cNvSpPr>
          <p:nvPr/>
        </p:nvSpPr>
        <p:spPr>
          <a:xfrm xmlns:a="http://schemas.openxmlformats.org/drawingml/2006/main">
            <a:off x="3436544"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EAF5CC96-E9CC-47B5-81F0-D8F6872EAA72}"/>
              </a:ext>
            </a:extLst>
          </p:cNvPr>
          <p:cNvSpPr>
            <a:spLocks xmlns:a="http://schemas.openxmlformats.org/drawingml/2006/main" noGrp="1"/>
          </p:cNvSpPr>
          <p:nvPr/>
        </p:nvSpPr>
        <p:spPr>
          <a:xfrm xmlns:a="http://schemas.openxmlformats.org/drawingml/2006/main">
            <a:off x="3601136"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0 of 32</a:t>
            </a:r>
          </a:p>
        </p:txBody>
      </p:sp>
      <p:sp>
        <p:nvSpPr>
          <p:cNvPr id="13" name="Text 11">
            <a:extLst xmlns:a="http://schemas.openxmlformats.org/drawingml/2006/main">
              <a:ext uri="{FF2B5EF4-FFF2-40B4-BE49-F238E27FC236}">
                <a16:creationId xmlns:a16="http://schemas.microsoft.com/office/drawing/2014/main" id="{849AD39A-D9B9-4DCE-90D0-FCBBB6078CC2}"/>
              </a:ext>
            </a:extLst>
          </p:cNvPr>
          <p:cNvSpPr>
            <a:spLocks xmlns:a="http://schemas.openxmlformats.org/drawingml/2006/main" noGrp="1"/>
          </p:cNvSpPr>
          <p:nvPr/>
        </p:nvSpPr>
        <p:spPr>
          <a:xfrm xmlns:a="http://schemas.openxmlformats.org/drawingml/2006/main">
            <a:off x="3601136"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recurrent NESTFUL families clear the configured admission gate; every one retires</a:t>
            </a:r>
          </a:p>
        </p:txBody>
      </p:sp>
      <p:sp>
        <p:nvSpPr>
          <p:cNvPr id="14" name="Shape 12">
            <a:extLst xmlns:a="http://schemas.openxmlformats.org/drawingml/2006/main">
              <a:ext uri="{FF2B5EF4-FFF2-40B4-BE49-F238E27FC236}">
                <a16:creationId xmlns:a16="http://schemas.microsoft.com/office/drawing/2014/main" id="{237E7CAA-8895-4C46-BC46-63EFC6D47D66}"/>
              </a:ext>
            </a:extLst>
          </p:cNvPr>
          <p:cNvSpPr>
            <a:spLocks xmlns:a="http://schemas.openxmlformats.org/drawingml/2006/main" noGrp="1"/>
          </p:cNvSpPr>
          <p:nvPr/>
        </p:nvSpPr>
        <p:spPr>
          <a:xfrm xmlns:a="http://schemas.openxmlformats.org/drawingml/2006/main">
            <a:off x="6233008"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9AD2204-D665-4926-B35F-629C34840457}"/>
              </a:ext>
            </a:extLst>
          </p:cNvPr>
          <p:cNvSpPr>
            <a:spLocks xmlns:a="http://schemas.openxmlformats.org/drawingml/2006/main" noGrp="1"/>
          </p:cNvSpPr>
          <p:nvPr/>
        </p:nvSpPr>
        <p:spPr>
          <a:xfrm xmlns:a="http://schemas.openxmlformats.org/drawingml/2006/main">
            <a:off x="6397600"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0E1E3A"/>
                </a:solidFill>
                <a:latin typeface="Cambria"/>
                <a:ea typeface="Cambria"/>
                <a:cs typeface="Cambria"/>
              </a:rPr>
              <a:t>96.3%</a:t>
            </a:r>
          </a:p>
        </p:txBody>
      </p:sp>
      <p:sp>
        <p:nvSpPr>
          <p:cNvPr id="16" name="Text 14">
            <a:extLst xmlns:a="http://schemas.openxmlformats.org/drawingml/2006/main">
              <a:ext uri="{FF2B5EF4-FFF2-40B4-BE49-F238E27FC236}">
                <a16:creationId xmlns:a16="http://schemas.microsoft.com/office/drawing/2014/main" id="{0571923C-13B7-4A40-92DE-0A29A2A9BD85}"/>
              </a:ext>
            </a:extLst>
          </p:cNvPr>
          <p:cNvSpPr>
            <a:spLocks xmlns:a="http://schemas.openxmlformats.org/drawingml/2006/main" noGrp="1"/>
          </p:cNvSpPr>
          <p:nvPr/>
        </p:nvSpPr>
        <p:spPr>
          <a:xfrm xmlns:a="http://schemas.openxmlformats.org/drawingml/2006/main">
            <a:off x="6397600"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provenance candidate recall across 5,746 dependency slots — but only 80.7% resolve uniquely</a:t>
            </a:r>
          </a:p>
        </p:txBody>
      </p:sp>
      <p:sp>
        <p:nvSpPr>
          <p:cNvPr id="17" name="Shape 15">
            <a:extLst xmlns:a="http://schemas.openxmlformats.org/drawingml/2006/main">
              <a:ext uri="{FF2B5EF4-FFF2-40B4-BE49-F238E27FC236}">
                <a16:creationId xmlns:a16="http://schemas.microsoft.com/office/drawing/2014/main" id="{FB7D2C0B-3562-42F2-A5BB-8130295D5265}"/>
              </a:ext>
            </a:extLst>
          </p:cNvPr>
          <p:cNvSpPr>
            <a:spLocks xmlns:a="http://schemas.openxmlformats.org/drawingml/2006/main" noGrp="1"/>
          </p:cNvSpPr>
          <p:nvPr/>
        </p:nvSpPr>
        <p:spPr>
          <a:xfrm xmlns:a="http://schemas.openxmlformats.org/drawingml/2006/main">
            <a:off x="9029471" y="2487168"/>
            <a:ext cx="2522144"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6779508A-CB52-47B7-8F26-E5C2CD4ED2D0}"/>
              </a:ext>
            </a:extLst>
          </p:cNvPr>
          <p:cNvSpPr>
            <a:spLocks xmlns:a="http://schemas.openxmlformats.org/drawingml/2006/main" noGrp="1"/>
          </p:cNvSpPr>
          <p:nvPr/>
        </p:nvSpPr>
        <p:spPr>
          <a:xfrm xmlns:a="http://schemas.openxmlformats.org/drawingml/2006/main">
            <a:off x="9194063" y="2633472"/>
            <a:ext cx="2192960" cy="6517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800" b="1">
                <a:solidFill>
                  <a:srgbClr val="A93B2B"/>
                </a:solidFill>
                <a:latin typeface="Cambria"/>
                <a:ea typeface="Cambria"/>
                <a:cs typeface="Cambria"/>
              </a:rPr>
              <a:t>+123%</a:t>
            </a:r>
          </a:p>
        </p:txBody>
      </p:sp>
      <p:sp>
        <p:nvSpPr>
          <p:cNvPr id="19" name="Text 17">
            <a:extLst xmlns:a="http://schemas.openxmlformats.org/drawingml/2006/main">
              <a:ext uri="{FF2B5EF4-FFF2-40B4-BE49-F238E27FC236}">
                <a16:creationId xmlns:a16="http://schemas.microsoft.com/office/drawing/2014/main" id="{0DD61E05-2397-4C86-99D2-57E3B84403A3}"/>
              </a:ext>
            </a:extLst>
          </p:cNvPr>
          <p:cNvSpPr>
            <a:spLocks xmlns:a="http://schemas.openxmlformats.org/drawingml/2006/main" noGrp="1"/>
          </p:cNvSpPr>
          <p:nvPr/>
        </p:nvSpPr>
        <p:spPr>
          <a:xfrm xmlns:a="http://schemas.openxmlformats.org/drawingml/2006/main">
            <a:off x="9194063" y="3257824"/>
            <a:ext cx="2192960" cy="5577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5A6B84"/>
                </a:solidFill>
                <a:latin typeface="Calibri"/>
                <a:ea typeface="Calibri"/>
                <a:cs typeface="Calibri"/>
              </a:rPr>
              <a:t>cost on a −16.8% token saving: prompt-cache economics, not token count, decides the invoice</a:t>
            </a:r>
          </a:p>
        </p:txBody>
      </p:sp>
      <p:sp>
        <p:nvSpPr>
          <p:cNvPr id="20" name="Text 18">
            <a:extLst xmlns:a="http://schemas.openxmlformats.org/drawingml/2006/main">
              <a:ext uri="{FF2B5EF4-FFF2-40B4-BE49-F238E27FC236}">
                <a16:creationId xmlns:a16="http://schemas.microsoft.com/office/drawing/2014/main" id="{9C0D797D-8533-4F55-8EAE-C6215E3CB104}"/>
              </a:ext>
            </a:extLst>
          </p:cNvPr>
          <p:cNvSpPr>
            <a:spLocks xmlns:a="http://schemas.openxmlformats.org/drawingml/2006/main" noGrp="1"/>
          </p:cNvSpPr>
          <p:nvPr/>
        </p:nvSpPr>
        <p:spPr>
          <a:xfrm xmlns:a="http://schemas.openxmlformats.org/drawingml/2006/main">
            <a:off x="640080" y="4261104"/>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WHAT LEADERSHIP SHOULD TAKE AWAY</a:t>
            </a:r>
          </a:p>
        </p:txBody>
      </p:sp>
      <p:sp>
        <p:nvSpPr>
          <p:cNvPr id="21" name="Text 19">
            <a:extLst xmlns:a="http://schemas.openxmlformats.org/drawingml/2006/main">
              <a:ext uri="{FF2B5EF4-FFF2-40B4-BE49-F238E27FC236}">
                <a16:creationId xmlns:a16="http://schemas.microsoft.com/office/drawing/2014/main" id="{11BF4789-8E32-4C91-A126-7710FDC4C3A6}"/>
              </a:ext>
            </a:extLst>
          </p:cNvPr>
          <p:cNvSpPr>
            <a:spLocks xmlns:a="http://schemas.openxmlformats.org/drawingml/2006/main" noGrp="1"/>
          </p:cNvSpPr>
          <p:nvPr/>
        </p:nvSpPr>
        <p:spPr>
          <a:xfrm xmlns:a="http://schemas.openxmlformats.org/drawingml/2006/main">
            <a:off x="640080" y="4553712"/>
            <a:ext cx="10911535"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efficiency win is real but narrow: partial GRC removes model turns, not source reads.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composition beats partial GRC; when both execute before request one, manual and GCS tie structurally at 6/6 exact quality.</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Bounded official GEPA retains its seed. The contribution is guarded automatic specialization—not runtime dominance.</a:t>
            </a:r>
          </a:p>
        </p:txBody>
      </p:sp>
    </p:spTree>
    <p:extLst>
      <p:ext uri="{BB962C8B-B14F-4D97-AF65-F5344CB8AC3E}">
        <p14:creationId xmlns:p14="http://schemas.microsoft.com/office/powerpoint/2010/main" val="1523212986"/>
      </p:ext>
    </p:extLst>
  </p:cSld>
</p:sld>
</file>

<file path=ppt/slides/slide3.xml><?xml version="1.0" encoding="utf-8"?>
<p:sld xmlns:a="http://schemas.openxmlformats.org/drawingml/2006/main" xmlns:r="http://schemas.openxmlformats.org/officeDocument/2006/relationships" xmlns:p="http://schemas.openxmlformats.org/presentationml/2006/main">
  <p:cSld name="Divider 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3</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Where a mature agent spends model calls, why recurrence alone cannot license removing them, and the narrow question this paper answers.</a:t>
            </a:r>
            <a:endParaRPr lang="en-US" sz="1350" dirty="0"/>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AF3448-9D1C-4E9D-AB67-ADCBF5F402B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20E276-3249-440B-BC74-15FC9878CF3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C1315068-D942-4884-9783-33F6965DFDF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§1</a:t>
            </a:r>
          </a:p>
        </p:txBody>
      </p:sp>
      <p:sp>
        <p:nvSpPr>
          <p:cNvPr id="5" name="Text 3">
            <a:extLst xmlns:a="http://schemas.openxmlformats.org/drawingml/2006/main">
              <a:ext uri="{FF2B5EF4-FFF2-40B4-BE49-F238E27FC236}">
                <a16:creationId xmlns:a16="http://schemas.microsoft.com/office/drawing/2014/main" id="{EF311AB1-99E3-4E2A-818B-577CB6CF188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model calls, three already decided</a:t>
            </a:r>
          </a:p>
        </p:txBody>
      </p:sp>
      <p:sp>
        <p:nvSpPr>
          <p:cNvPr id="6" name="Text 4">
            <a:extLst xmlns:a="http://schemas.openxmlformats.org/drawingml/2006/main">
              <a:ext uri="{FF2B5EF4-FFF2-40B4-BE49-F238E27FC236}">
                <a16:creationId xmlns:a16="http://schemas.microsoft.com/office/drawing/2014/main" id="{8CAE1848-9CDE-47FB-A3D8-4388DE88A56F}"/>
              </a:ext>
            </a:extLst>
          </p:cNvPr>
          <p:cNvSpPr>
            <a:spLocks xmlns:a="http://schemas.openxmlformats.org/drawingml/2006/main" noGrp="1"/>
          </p:cNvSpPr>
          <p:nvPr/>
        </p:nvSpPr>
        <p:spPr>
          <a:xfrm xmlns:a="http://schemas.openxmlformats.org/drawingml/2006/main">
            <a:off x="640080" y="1481328"/>
            <a:ext cx="5623560" cy="23774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The standard reason–act loop delegates every tool boundary to the model: model, tool, model, tool, and so on.</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That flexibility is valuable while a workflow is novel. At scale, mature agents revisit the same read-only evidence prefix with the same data dependencies.</a:t>
            </a:r>
          </a:p>
          <a:p xmlns:a="http://schemas.openxmlformats.org/drawingml/2006/main">
            <a:pPr marL="342900" indent="-342900">
              <a:lnSpc>
                <a:spcPct val="106000"/>
              </a:lnSpc>
              <a:spcAft>
                <a:spcPts val="700"/>
              </a:spcAft>
              <a:buChar char="•"/>
            </a:pPr>
            <a:r>
              <a:rPr sz="1300">
                <a:solidFill>
                  <a:srgbClr val="24354F"/>
                </a:solidFill>
                <a:latin typeface="Calibri"/>
                <a:ea typeface="Calibri"/>
                <a:cs typeface="Calibri"/>
              </a:rPr>
              <a:t>Repeating the model decision then consumes latency, tokens, and money without adding useful adaptation.</a:t>
            </a:r>
          </a:p>
        </p:txBody>
      </p:sp>
      <p:sp>
        <p:nvSpPr>
          <p:cNvPr id="7" name="Shape 5">
            <a:extLst xmlns:a="http://schemas.openxmlformats.org/drawingml/2006/main">
              <a:ext uri="{FF2B5EF4-FFF2-40B4-BE49-F238E27FC236}">
                <a16:creationId xmlns:a16="http://schemas.microsoft.com/office/drawing/2014/main" id="{41FC3521-B687-4388-B39D-A9AE554F9CF8}"/>
              </a:ext>
            </a:extLst>
          </p:cNvPr>
          <p:cNvSpPr>
            <a:spLocks xmlns:a="http://schemas.openxmlformats.org/drawingml/2006/main" noGrp="1"/>
          </p:cNvSpPr>
          <p:nvPr/>
        </p:nvSpPr>
        <p:spPr>
          <a:xfrm xmlns:a="http://schemas.openxmlformats.org/drawingml/2006/main">
            <a:off x="640080" y="4041648"/>
            <a:ext cx="5623560" cy="960120"/>
          </a:xfrm>
          <a:prstGeom xmlns:a="http://schemas.openxmlformats.org/drawingml/2006/main" prst="roundRect">
            <a:avLst>
              <a:gd name="adj" fmla="val 476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A2B8E3F-517F-4D38-8D15-F7A499C071DC}"/>
              </a:ext>
            </a:extLst>
          </p:cNvPr>
          <p:cNvSpPr>
            <a:spLocks xmlns:a="http://schemas.openxmlformats.org/drawingml/2006/main" noGrp="1"/>
          </p:cNvSpPr>
          <p:nvPr/>
        </p:nvSpPr>
        <p:spPr>
          <a:xfrm xmlns:a="http://schemas.openxmlformats.org/drawingml/2006/main">
            <a:off x="896112" y="4224528"/>
            <a:ext cx="5120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A93B2B"/>
                </a:solidFill>
                <a:latin typeface="Cambria"/>
                <a:ea typeface="Cambria"/>
                <a:cs typeface="Cambria"/>
              </a:rPr>
              <a:t>“A fast wrong workflow is worse than a slow agent.”</a:t>
            </a:r>
          </a:p>
        </p:txBody>
      </p:sp>
      <p:sp>
        <p:nvSpPr>
          <p:cNvPr id="9" name="Shape 7">
            <a:extLst xmlns:a="http://schemas.openxmlformats.org/drawingml/2006/main">
              <a:ext uri="{FF2B5EF4-FFF2-40B4-BE49-F238E27FC236}">
                <a16:creationId xmlns:a16="http://schemas.microsoft.com/office/drawing/2014/main" id="{466D98B1-6BD7-4BDE-8D61-205547E80D92}"/>
              </a:ext>
            </a:extLst>
          </p:cNvPr>
          <p:cNvSpPr>
            <a:spLocks xmlns:a="http://schemas.openxmlformats.org/drawingml/2006/main" noGrp="1"/>
          </p:cNvSpPr>
          <p:nvPr/>
        </p:nvSpPr>
        <p:spPr>
          <a:xfrm xmlns:a="http://schemas.openxmlformats.org/drawingml/2006/main">
            <a:off x="6720840" y="1481328"/>
            <a:ext cx="4828032" cy="3520440"/>
          </a:xfrm>
          <a:prstGeom xmlns:a="http://schemas.openxmlformats.org/drawingml/2006/main" prst="roundRect">
            <a:avLst>
              <a:gd name="adj" fmla="val 129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123DF31E-2DE4-4069-A652-17A30589F237}"/>
              </a:ext>
            </a:extLst>
          </p:cNvPr>
          <p:cNvSpPr>
            <a:spLocks xmlns:a="http://schemas.openxmlformats.org/drawingml/2006/main" noGrp="1"/>
          </p:cNvSpPr>
          <p:nvPr/>
        </p:nvSpPr>
        <p:spPr>
          <a:xfrm xmlns:a="http://schemas.openxmlformats.org/drawingml/2006/main">
            <a:off x="6995160" y="1664208"/>
            <a:ext cx="4279392"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MEASURED BASELINE — ONE GITHUB TRIAGE EPISODE</a:t>
            </a:r>
          </a:p>
        </p:txBody>
      </p:sp>
      <p:sp>
        <p:nvSpPr>
          <p:cNvPr id="11" name="Shape 9">
            <a:extLst xmlns:a="http://schemas.openxmlformats.org/drawingml/2006/main">
              <a:ext uri="{FF2B5EF4-FFF2-40B4-BE49-F238E27FC236}">
                <a16:creationId xmlns:a16="http://schemas.microsoft.com/office/drawing/2014/main" id="{0B55B38B-B243-4EF7-B48C-DF75833B190B}"/>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89684D3D-44E2-4367-A330-465764D2AAA5}"/>
              </a:ext>
            </a:extLst>
          </p:cNvPr>
          <p:cNvSpPr>
            <a:spLocks xmlns:a="http://schemas.openxmlformats.org/drawingml/2006/main" noGrp="1"/>
          </p:cNvSpPr>
          <p:nvPr/>
        </p:nvSpPr>
        <p:spPr>
          <a:xfrm xmlns:a="http://schemas.openxmlformats.org/drawingml/2006/main">
            <a:off x="7013448" y="20665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13" name="Text 11">
            <a:extLst xmlns:a="http://schemas.openxmlformats.org/drawingml/2006/main">
              <a:ext uri="{FF2B5EF4-FFF2-40B4-BE49-F238E27FC236}">
                <a16:creationId xmlns:a16="http://schemas.microsoft.com/office/drawing/2014/main" id="{BFDBFE6E-5996-45D6-917D-CB4A01F022F9}"/>
              </a:ext>
            </a:extLst>
          </p:cNvPr>
          <p:cNvSpPr>
            <a:spLocks xmlns:a="http://schemas.openxmlformats.org/drawingml/2006/main" noGrp="1"/>
          </p:cNvSpPr>
          <p:nvPr/>
        </p:nvSpPr>
        <p:spPr>
          <a:xfrm xmlns:a="http://schemas.openxmlformats.org/drawingml/2006/main">
            <a:off x="7342632" y="20482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14" name="Text 12">
            <a:extLst xmlns:a="http://schemas.openxmlformats.org/drawingml/2006/main">
              <a:ext uri="{FF2B5EF4-FFF2-40B4-BE49-F238E27FC236}">
                <a16:creationId xmlns:a16="http://schemas.microsoft.com/office/drawing/2014/main" id="{36C8723D-995C-4D66-9C72-650D73C49A70}"/>
              </a:ext>
            </a:extLst>
          </p:cNvPr>
          <p:cNvSpPr>
            <a:spLocks xmlns:a="http://schemas.openxmlformats.org/drawingml/2006/main" noGrp="1"/>
          </p:cNvSpPr>
          <p:nvPr/>
        </p:nvSpPr>
        <p:spPr>
          <a:xfrm xmlns:a="http://schemas.openxmlformats.org/drawingml/2006/main">
            <a:off x="8860536" y="20482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15" name="Shape 13">
            <a:extLst xmlns:a="http://schemas.openxmlformats.org/drawingml/2006/main">
              <a:ext uri="{FF2B5EF4-FFF2-40B4-BE49-F238E27FC236}">
                <a16:creationId xmlns:a16="http://schemas.microsoft.com/office/drawing/2014/main" id="{1AF948D2-68EB-4969-B6AF-D08EBFC2DC2E}"/>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E176299-BE96-4753-9138-FFA9AD82C3F4}"/>
              </a:ext>
            </a:extLst>
          </p:cNvPr>
          <p:cNvSpPr>
            <a:spLocks xmlns:a="http://schemas.openxmlformats.org/drawingml/2006/main" noGrp="1"/>
          </p:cNvSpPr>
          <p:nvPr/>
        </p:nvSpPr>
        <p:spPr>
          <a:xfrm xmlns:a="http://schemas.openxmlformats.org/drawingml/2006/main">
            <a:off x="7013448" y="24323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17" name="Text 15">
            <a:extLst xmlns:a="http://schemas.openxmlformats.org/drawingml/2006/main">
              <a:ext uri="{FF2B5EF4-FFF2-40B4-BE49-F238E27FC236}">
                <a16:creationId xmlns:a16="http://schemas.microsoft.com/office/drawing/2014/main" id="{2D8C9BCF-5806-4F72-9CCA-4459CB1DE984}"/>
              </a:ext>
            </a:extLst>
          </p:cNvPr>
          <p:cNvSpPr>
            <a:spLocks xmlns:a="http://schemas.openxmlformats.org/drawingml/2006/main" noGrp="1"/>
          </p:cNvSpPr>
          <p:nvPr/>
        </p:nvSpPr>
        <p:spPr>
          <a:xfrm xmlns:a="http://schemas.openxmlformats.org/drawingml/2006/main">
            <a:off x="7342632" y="24140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18" name="Text 16">
            <a:extLst xmlns:a="http://schemas.openxmlformats.org/drawingml/2006/main">
              <a:ext uri="{FF2B5EF4-FFF2-40B4-BE49-F238E27FC236}">
                <a16:creationId xmlns:a16="http://schemas.microsoft.com/office/drawing/2014/main" id="{79879027-D642-490C-B273-171185A2958E}"/>
              </a:ext>
            </a:extLst>
          </p:cNvPr>
          <p:cNvSpPr>
            <a:spLocks xmlns:a="http://schemas.openxmlformats.org/drawingml/2006/main" noGrp="1"/>
          </p:cNvSpPr>
          <p:nvPr/>
        </p:nvSpPr>
        <p:spPr>
          <a:xfrm xmlns:a="http://schemas.openxmlformats.org/drawingml/2006/main">
            <a:off x="8860536" y="24140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issue record</a:t>
            </a:r>
          </a:p>
        </p:txBody>
      </p:sp>
      <p:sp>
        <p:nvSpPr>
          <p:cNvPr id="19" name="Shape 17">
            <a:extLst xmlns:a="http://schemas.openxmlformats.org/drawingml/2006/main">
              <a:ext uri="{FF2B5EF4-FFF2-40B4-BE49-F238E27FC236}">
                <a16:creationId xmlns:a16="http://schemas.microsoft.com/office/drawing/2014/main" id="{78AF11A8-0C22-49B2-BA17-A47A6A10F258}"/>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1973CCE7-EC98-46A2-88F4-53F425622079}"/>
              </a:ext>
            </a:extLst>
          </p:cNvPr>
          <p:cNvSpPr>
            <a:spLocks xmlns:a="http://schemas.openxmlformats.org/drawingml/2006/main" noGrp="1"/>
          </p:cNvSpPr>
          <p:nvPr/>
        </p:nvSpPr>
        <p:spPr>
          <a:xfrm xmlns:a="http://schemas.openxmlformats.org/drawingml/2006/main">
            <a:off x="7013448" y="279806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1" name="Text 19">
            <a:extLst xmlns:a="http://schemas.openxmlformats.org/drawingml/2006/main">
              <a:ext uri="{FF2B5EF4-FFF2-40B4-BE49-F238E27FC236}">
                <a16:creationId xmlns:a16="http://schemas.microsoft.com/office/drawing/2014/main" id="{6EA6FC77-C48C-4ADF-AB30-1E781EA826BF}"/>
              </a:ext>
            </a:extLst>
          </p:cNvPr>
          <p:cNvSpPr>
            <a:spLocks xmlns:a="http://schemas.openxmlformats.org/drawingml/2006/main" noGrp="1"/>
          </p:cNvSpPr>
          <p:nvPr/>
        </p:nvSpPr>
        <p:spPr>
          <a:xfrm xmlns:a="http://schemas.openxmlformats.org/drawingml/2006/main">
            <a:off x="7342632" y="277977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22" name="Text 20">
            <a:extLst xmlns:a="http://schemas.openxmlformats.org/drawingml/2006/main">
              <a:ext uri="{FF2B5EF4-FFF2-40B4-BE49-F238E27FC236}">
                <a16:creationId xmlns:a16="http://schemas.microsoft.com/office/drawing/2014/main" id="{3D475265-992B-4880-8851-52827B717AAF}"/>
              </a:ext>
            </a:extLst>
          </p:cNvPr>
          <p:cNvSpPr>
            <a:spLocks xmlns:a="http://schemas.openxmlformats.org/drawingml/2006/main" noGrp="1"/>
          </p:cNvSpPr>
          <p:nvPr/>
        </p:nvSpPr>
        <p:spPr>
          <a:xfrm xmlns:a="http://schemas.openxmlformats.org/drawingml/2006/main">
            <a:off x="8860536" y="277977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23" name="Shape 21">
            <a:extLst xmlns:a="http://schemas.openxmlformats.org/drawingml/2006/main">
              <a:ext uri="{FF2B5EF4-FFF2-40B4-BE49-F238E27FC236}">
                <a16:creationId xmlns:a16="http://schemas.microsoft.com/office/drawing/2014/main" id="{344C64CC-3DF8-436E-BF45-DBC92051C5CC}"/>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D9B9F2EE-22EE-45E6-AC65-80CA7B881717}"/>
              </a:ext>
            </a:extLst>
          </p:cNvPr>
          <p:cNvSpPr>
            <a:spLocks xmlns:a="http://schemas.openxmlformats.org/drawingml/2006/main" noGrp="1"/>
          </p:cNvSpPr>
          <p:nvPr/>
        </p:nvSpPr>
        <p:spPr>
          <a:xfrm xmlns:a="http://schemas.openxmlformats.org/drawingml/2006/main">
            <a:off x="7013448" y="316382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25" name="Text 23">
            <a:extLst xmlns:a="http://schemas.openxmlformats.org/drawingml/2006/main">
              <a:ext uri="{FF2B5EF4-FFF2-40B4-BE49-F238E27FC236}">
                <a16:creationId xmlns:a16="http://schemas.microsoft.com/office/drawing/2014/main" id="{7A38B241-F8CF-48F8-9F4F-5197CC2F40CC}"/>
              </a:ext>
            </a:extLst>
          </p:cNvPr>
          <p:cNvSpPr>
            <a:spLocks xmlns:a="http://schemas.openxmlformats.org/drawingml/2006/main" noGrp="1"/>
          </p:cNvSpPr>
          <p:nvPr/>
        </p:nvSpPr>
        <p:spPr>
          <a:xfrm xmlns:a="http://schemas.openxmlformats.org/drawingml/2006/main">
            <a:off x="7342632" y="314553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26" name="Text 24">
            <a:extLst xmlns:a="http://schemas.openxmlformats.org/drawingml/2006/main">
              <a:ext uri="{FF2B5EF4-FFF2-40B4-BE49-F238E27FC236}">
                <a16:creationId xmlns:a16="http://schemas.microsoft.com/office/drawing/2014/main" id="{21A473E9-8676-439B-B601-54549B0BB78A}"/>
              </a:ext>
            </a:extLst>
          </p:cNvPr>
          <p:cNvSpPr>
            <a:spLocks xmlns:a="http://schemas.openxmlformats.org/drawingml/2006/main" noGrp="1"/>
          </p:cNvSpPr>
          <p:nvPr/>
        </p:nvSpPr>
        <p:spPr>
          <a:xfrm xmlns:a="http://schemas.openxmlformats.org/drawingml/2006/main">
            <a:off x="8860536" y="314553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labels</a:t>
            </a:r>
          </a:p>
        </p:txBody>
      </p:sp>
      <p:sp>
        <p:nvSpPr>
          <p:cNvPr id="27" name="Shape 25">
            <a:extLst xmlns:a="http://schemas.openxmlformats.org/drawingml/2006/main">
              <a:ext uri="{FF2B5EF4-FFF2-40B4-BE49-F238E27FC236}">
                <a16:creationId xmlns:a16="http://schemas.microsoft.com/office/drawing/2014/main" id="{597953E1-77F2-4FF7-9B52-D4798CB75710}"/>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09A1686-2727-4ECC-98EC-376816AF571B}"/>
              </a:ext>
            </a:extLst>
          </p:cNvPr>
          <p:cNvSpPr>
            <a:spLocks xmlns:a="http://schemas.openxmlformats.org/drawingml/2006/main" noGrp="1"/>
          </p:cNvSpPr>
          <p:nvPr/>
        </p:nvSpPr>
        <p:spPr>
          <a:xfrm xmlns:a="http://schemas.openxmlformats.org/drawingml/2006/main">
            <a:off x="7013448" y="352958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29" name="Text 27">
            <a:extLst xmlns:a="http://schemas.openxmlformats.org/drawingml/2006/main">
              <a:ext uri="{FF2B5EF4-FFF2-40B4-BE49-F238E27FC236}">
                <a16:creationId xmlns:a16="http://schemas.microsoft.com/office/drawing/2014/main" id="{1BE58250-F177-46D3-98F8-22983012C696}"/>
              </a:ext>
            </a:extLst>
          </p:cNvPr>
          <p:cNvSpPr>
            <a:spLocks xmlns:a="http://schemas.openxmlformats.org/drawingml/2006/main" noGrp="1"/>
          </p:cNvSpPr>
          <p:nvPr/>
        </p:nvSpPr>
        <p:spPr>
          <a:xfrm xmlns:a="http://schemas.openxmlformats.org/drawingml/2006/main">
            <a:off x="7342632" y="351129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0" name="Text 28">
            <a:extLst xmlns:a="http://schemas.openxmlformats.org/drawingml/2006/main">
              <a:ext uri="{FF2B5EF4-FFF2-40B4-BE49-F238E27FC236}">
                <a16:creationId xmlns:a16="http://schemas.microsoft.com/office/drawing/2014/main" id="{8FF8428D-A347-4D23-8CEB-06755335AD9E}"/>
              </a:ext>
            </a:extLst>
          </p:cNvPr>
          <p:cNvSpPr>
            <a:spLocks xmlns:a="http://schemas.openxmlformats.org/drawingml/2006/main" noGrp="1"/>
          </p:cNvSpPr>
          <p:nvPr/>
        </p:nvSpPr>
        <p:spPr>
          <a:xfrm xmlns:a="http://schemas.openxmlformats.org/drawingml/2006/main">
            <a:off x="8860536" y="351129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select tool</a:t>
            </a:r>
          </a:p>
        </p:txBody>
      </p:sp>
      <p:sp>
        <p:nvSpPr>
          <p:cNvPr id="31" name="Shape 29">
            <a:extLst xmlns:a="http://schemas.openxmlformats.org/drawingml/2006/main">
              <a:ext uri="{FF2B5EF4-FFF2-40B4-BE49-F238E27FC236}">
                <a16:creationId xmlns:a16="http://schemas.microsoft.com/office/drawing/2014/main" id="{8BB25EAB-6788-4EE6-B8F5-776F0B74EADB}"/>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FA365978-7EA2-44FC-A698-9505D91539F0}"/>
              </a:ext>
            </a:extLst>
          </p:cNvPr>
          <p:cNvSpPr>
            <a:spLocks xmlns:a="http://schemas.openxmlformats.org/drawingml/2006/main" noGrp="1"/>
          </p:cNvSpPr>
          <p:nvPr/>
        </p:nvSpPr>
        <p:spPr>
          <a:xfrm xmlns:a="http://schemas.openxmlformats.org/drawingml/2006/main">
            <a:off x="7013448" y="389534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T</a:t>
            </a:r>
          </a:p>
        </p:txBody>
      </p:sp>
      <p:sp>
        <p:nvSpPr>
          <p:cNvPr id="33" name="Text 31">
            <a:extLst xmlns:a="http://schemas.openxmlformats.org/drawingml/2006/main">
              <a:ext uri="{FF2B5EF4-FFF2-40B4-BE49-F238E27FC236}">
                <a16:creationId xmlns:a16="http://schemas.microsoft.com/office/drawing/2014/main" id="{228698B0-8811-4894-84D8-6B0DEE949A9A}"/>
              </a:ext>
            </a:extLst>
          </p:cNvPr>
          <p:cNvSpPr>
            <a:spLocks xmlns:a="http://schemas.openxmlformats.org/drawingml/2006/main" noGrp="1"/>
          </p:cNvSpPr>
          <p:nvPr/>
        </p:nvSpPr>
        <p:spPr>
          <a:xfrm xmlns:a="http://schemas.openxmlformats.org/drawingml/2006/main">
            <a:off x="7342632" y="387705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0E1E3A"/>
                </a:solidFill>
                <a:latin typeface="Calibri"/>
                <a:ea typeface="Calibri"/>
                <a:cs typeface="Calibri"/>
              </a:rPr>
              <a:t>tool call</a:t>
            </a:r>
          </a:p>
        </p:txBody>
      </p:sp>
      <p:sp>
        <p:nvSpPr>
          <p:cNvPr id="34" name="Text 32">
            <a:extLst xmlns:a="http://schemas.openxmlformats.org/drawingml/2006/main">
              <a:ext uri="{FF2B5EF4-FFF2-40B4-BE49-F238E27FC236}">
                <a16:creationId xmlns:a16="http://schemas.microsoft.com/office/drawing/2014/main" id="{4CDE18E5-A478-4FF1-930F-EFB3F77FE72C}"/>
              </a:ext>
            </a:extLst>
          </p:cNvPr>
          <p:cNvSpPr>
            <a:spLocks xmlns:a="http://schemas.openxmlformats.org/drawingml/2006/main" noGrp="1"/>
          </p:cNvSpPr>
          <p:nvPr/>
        </p:nvSpPr>
        <p:spPr>
          <a:xfrm xmlns:a="http://schemas.openxmlformats.org/drawingml/2006/main">
            <a:off x="8860536" y="387705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read 3 comments</a:t>
            </a:r>
          </a:p>
        </p:txBody>
      </p:sp>
      <p:sp>
        <p:nvSpPr>
          <p:cNvPr id="35" name="Shape 33">
            <a:extLst xmlns:a="http://schemas.openxmlformats.org/drawingml/2006/main">
              <a:ext uri="{FF2B5EF4-FFF2-40B4-BE49-F238E27FC236}">
                <a16:creationId xmlns:a16="http://schemas.microsoft.com/office/drawing/2014/main" id="{6C859DAD-36BC-4CB0-9294-74C887620015}"/>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AE4AB8E7-3BBA-45FE-847C-BF9CD1CC26BF}"/>
              </a:ext>
            </a:extLst>
          </p:cNvPr>
          <p:cNvSpPr>
            <a:spLocks xmlns:a="http://schemas.openxmlformats.org/drawingml/2006/main" noGrp="1"/>
          </p:cNvSpPr>
          <p:nvPr/>
        </p:nvSpPr>
        <p:spPr>
          <a:xfrm xmlns:a="http://schemas.openxmlformats.org/drawingml/2006/main">
            <a:off x="7013448" y="4261104"/>
            <a:ext cx="237744"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a:t>
            </a:r>
          </a:p>
        </p:txBody>
      </p:sp>
      <p:sp>
        <p:nvSpPr>
          <p:cNvPr id="37" name="Text 35">
            <a:extLst xmlns:a="http://schemas.openxmlformats.org/drawingml/2006/main">
              <a:ext uri="{FF2B5EF4-FFF2-40B4-BE49-F238E27FC236}">
                <a16:creationId xmlns:a16="http://schemas.microsoft.com/office/drawing/2014/main" id="{278C9B5C-AEFB-4BFA-B9F6-651FA37DE1ED}"/>
              </a:ext>
            </a:extLst>
          </p:cNvPr>
          <p:cNvSpPr>
            <a:spLocks xmlns:a="http://schemas.openxmlformats.org/drawingml/2006/main" noGrp="1"/>
          </p:cNvSpPr>
          <p:nvPr/>
        </p:nvSpPr>
        <p:spPr>
          <a:xfrm xmlns:a="http://schemas.openxmlformats.org/drawingml/2006/main">
            <a:off x="7342632" y="4242816"/>
            <a:ext cx="1554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A93B2B"/>
                </a:solidFill>
                <a:latin typeface="Calibri"/>
                <a:ea typeface="Calibri"/>
                <a:cs typeface="Calibri"/>
              </a:rPr>
              <a:t>model request</a:t>
            </a:r>
          </a:p>
        </p:txBody>
      </p:sp>
      <p:sp>
        <p:nvSpPr>
          <p:cNvPr id="38" name="Text 36">
            <a:extLst xmlns:a="http://schemas.openxmlformats.org/drawingml/2006/main">
              <a:ext uri="{FF2B5EF4-FFF2-40B4-BE49-F238E27FC236}">
                <a16:creationId xmlns:a16="http://schemas.microsoft.com/office/drawing/2014/main" id="{DE92498A-A8B9-4854-8198-E8587FF1E4C0}"/>
              </a:ext>
            </a:extLst>
          </p:cNvPr>
          <p:cNvSpPr>
            <a:spLocks xmlns:a="http://schemas.openxmlformats.org/drawingml/2006/main" noGrp="1"/>
          </p:cNvSpPr>
          <p:nvPr/>
        </p:nvSpPr>
        <p:spPr>
          <a:xfrm xmlns:a="http://schemas.openxmlformats.org/drawingml/2006/main">
            <a:off x="8860536" y="4242816"/>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render answer</a:t>
            </a:r>
          </a:p>
        </p:txBody>
      </p:sp>
      <p:sp>
        <p:nvSpPr>
          <p:cNvPr id="39" name="Shape 37">
            <a:extLst xmlns:a="http://schemas.openxmlformats.org/drawingml/2006/main">
              <a:ext uri="{FF2B5EF4-FFF2-40B4-BE49-F238E27FC236}">
                <a16:creationId xmlns:a16="http://schemas.microsoft.com/office/drawing/2014/main" id="{871D6144-8062-4A85-975C-C49B50692102}"/>
              </a:ext>
            </a:extLst>
          </p:cNvPr>
          <p:cNvSpPr>
            <a:spLocks xmlns:a="http://schemas.openxmlformats.org/drawingml/2006/main" noGrp="1"/>
          </p:cNvSpPr>
          <p:nvPr/>
        </p:nvSpPr>
        <p:spPr>
          <a:xfrm xmlns:a="http://schemas.openxmlformats.org/drawingml/2006/main">
            <a:off x="7013448" y="4590288"/>
            <a:ext cx="4242816"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40" name="Text 38">
            <a:extLst xmlns:a="http://schemas.openxmlformats.org/drawingml/2006/main">
              <a:ext uri="{FF2B5EF4-FFF2-40B4-BE49-F238E27FC236}">
                <a16:creationId xmlns:a16="http://schemas.microsoft.com/office/drawing/2014/main" id="{F618B81E-175A-428D-906B-7122D30397D0}"/>
              </a:ext>
            </a:extLst>
          </p:cNvPr>
          <p:cNvSpPr>
            <a:spLocks xmlns:a="http://schemas.openxmlformats.org/drawingml/2006/main" noGrp="1"/>
          </p:cNvSpPr>
          <p:nvPr/>
        </p:nvSpPr>
        <p:spPr>
          <a:xfrm xmlns:a="http://schemas.openxmlformats.org/drawingml/2006/main">
            <a:off x="7013448" y="4681728"/>
            <a:ext cx="4242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libri"/>
                <a:ea typeface="Calibri"/>
                <a:cs typeface="Calibri"/>
              </a:rPr>
              <a:t>4 provider responses  ·  3 read-only tool calls</a:t>
            </a:r>
          </a:p>
        </p:txBody>
      </p:sp>
      <p:sp>
        <p:nvSpPr>
          <p:cNvPr id="41" name="Text 39">
            <a:extLst xmlns:a="http://schemas.openxmlformats.org/drawingml/2006/main">
              <a:ext uri="{FF2B5EF4-FFF2-40B4-BE49-F238E27FC236}">
                <a16:creationId xmlns:a16="http://schemas.microsoft.com/office/drawing/2014/main" id="{8A2B2EA9-7DD3-4FCE-85DD-9D799A001BA1}"/>
              </a:ext>
            </a:extLst>
          </p:cNvPr>
          <p:cNvSpPr>
            <a:spLocks xmlns:a="http://schemas.openxmlformats.org/drawingml/2006/main" noGrp="1"/>
          </p:cNvSpPr>
          <p:nvPr/>
        </p:nvSpPr>
        <p:spPr>
          <a:xfrm xmlns:a="http://schemas.openxmlformats.org/drawingml/2006/main">
            <a:off x="640080"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4.0</a:t>
            </a:r>
          </a:p>
        </p:txBody>
      </p:sp>
      <p:sp>
        <p:nvSpPr>
          <p:cNvPr id="42" name="Text 40">
            <a:extLst xmlns:a="http://schemas.openxmlformats.org/drawingml/2006/main">
              <a:ext uri="{FF2B5EF4-FFF2-40B4-BE49-F238E27FC236}">
                <a16:creationId xmlns:a16="http://schemas.microsoft.com/office/drawing/2014/main" id="{5ACDAC87-381E-4944-A4F2-E3F3A47D2F3D}"/>
              </a:ext>
            </a:extLst>
          </p:cNvPr>
          <p:cNvSpPr>
            <a:spLocks xmlns:a="http://schemas.openxmlformats.org/drawingml/2006/main" noGrp="1"/>
          </p:cNvSpPr>
          <p:nvPr/>
        </p:nvSpPr>
        <p:spPr>
          <a:xfrm xmlns:a="http://schemas.openxmlformats.org/drawingml/2006/main">
            <a:off x="640080"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requests</a:t>
            </a:r>
          </a:p>
        </p:txBody>
      </p:sp>
      <p:sp>
        <p:nvSpPr>
          <p:cNvPr id="43" name="Text 41">
            <a:extLst xmlns:a="http://schemas.openxmlformats.org/drawingml/2006/main">
              <a:ext uri="{FF2B5EF4-FFF2-40B4-BE49-F238E27FC236}">
                <a16:creationId xmlns:a16="http://schemas.microsoft.com/office/drawing/2014/main" id="{887BEE60-8E8E-4173-ABDE-3716655E5F50}"/>
              </a:ext>
            </a:extLst>
          </p:cNvPr>
          <p:cNvSpPr>
            <a:spLocks xmlns:a="http://schemas.openxmlformats.org/drawingml/2006/main" noGrp="1"/>
          </p:cNvSpPr>
          <p:nvPr/>
        </p:nvSpPr>
        <p:spPr>
          <a:xfrm xmlns:a="http://schemas.openxmlformats.org/drawingml/2006/main">
            <a:off x="3367964"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4,259</a:t>
            </a:r>
          </a:p>
        </p:txBody>
      </p:sp>
      <p:sp>
        <p:nvSpPr>
          <p:cNvPr id="44" name="Text 42">
            <a:extLst xmlns:a="http://schemas.openxmlformats.org/drawingml/2006/main">
              <a:ext uri="{FF2B5EF4-FFF2-40B4-BE49-F238E27FC236}">
                <a16:creationId xmlns:a16="http://schemas.microsoft.com/office/drawing/2014/main" id="{3F95B0EB-4842-49D4-8145-B411AD98C6EB}"/>
              </a:ext>
            </a:extLst>
          </p:cNvPr>
          <p:cNvSpPr>
            <a:spLocks xmlns:a="http://schemas.openxmlformats.org/drawingml/2006/main" noGrp="1"/>
          </p:cNvSpPr>
          <p:nvPr/>
        </p:nvSpPr>
        <p:spPr>
          <a:xfrm xmlns:a="http://schemas.openxmlformats.org/drawingml/2006/main">
            <a:off x="3367964"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tokens</a:t>
            </a:r>
          </a:p>
        </p:txBody>
      </p:sp>
      <p:sp>
        <p:nvSpPr>
          <p:cNvPr id="45" name="Text 43">
            <a:extLst xmlns:a="http://schemas.openxmlformats.org/drawingml/2006/main">
              <a:ext uri="{FF2B5EF4-FFF2-40B4-BE49-F238E27FC236}">
                <a16:creationId xmlns:a16="http://schemas.microsoft.com/office/drawing/2014/main" id="{4B60C8F7-9933-4AF9-9959-8508C9E7832D}"/>
              </a:ext>
            </a:extLst>
          </p:cNvPr>
          <p:cNvSpPr>
            <a:spLocks xmlns:a="http://schemas.openxmlformats.org/drawingml/2006/main" noGrp="1"/>
          </p:cNvSpPr>
          <p:nvPr/>
        </p:nvSpPr>
        <p:spPr>
          <a:xfrm xmlns:a="http://schemas.openxmlformats.org/drawingml/2006/main">
            <a:off x="6095848"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6.16 s</a:t>
            </a:r>
          </a:p>
        </p:txBody>
      </p:sp>
      <p:sp>
        <p:nvSpPr>
          <p:cNvPr id="46" name="Text 44">
            <a:extLst xmlns:a="http://schemas.openxmlformats.org/drawingml/2006/main">
              <a:ext uri="{FF2B5EF4-FFF2-40B4-BE49-F238E27FC236}">
                <a16:creationId xmlns:a16="http://schemas.microsoft.com/office/drawing/2014/main" id="{62D39816-AAE7-4443-945D-68255C28C834}"/>
              </a:ext>
            </a:extLst>
          </p:cNvPr>
          <p:cNvSpPr>
            <a:spLocks xmlns:a="http://schemas.openxmlformats.org/drawingml/2006/main" noGrp="1"/>
          </p:cNvSpPr>
          <p:nvPr/>
        </p:nvSpPr>
        <p:spPr>
          <a:xfrm xmlns:a="http://schemas.openxmlformats.org/drawingml/2006/main">
            <a:off x="6095848"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wall time</a:t>
            </a:r>
          </a:p>
        </p:txBody>
      </p:sp>
      <p:sp>
        <p:nvSpPr>
          <p:cNvPr id="47" name="Text 45">
            <a:extLst xmlns:a="http://schemas.openxmlformats.org/drawingml/2006/main">
              <a:ext uri="{FF2B5EF4-FFF2-40B4-BE49-F238E27FC236}">
                <a16:creationId xmlns:a16="http://schemas.microsoft.com/office/drawing/2014/main" id="{35D7E541-2EE7-4294-880A-7861216D8994}"/>
              </a:ext>
            </a:extLst>
          </p:cNvPr>
          <p:cNvSpPr>
            <a:spLocks xmlns:a="http://schemas.openxmlformats.org/drawingml/2006/main" noGrp="1"/>
          </p:cNvSpPr>
          <p:nvPr/>
        </p:nvSpPr>
        <p:spPr>
          <a:xfrm xmlns:a="http://schemas.openxmlformats.org/drawingml/2006/main">
            <a:off x="8823731" y="5257800"/>
            <a:ext cx="2651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100" b="1">
                <a:solidFill>
                  <a:srgbClr val="0E1E3A"/>
                </a:solidFill>
                <a:latin typeface="Cambria"/>
                <a:ea typeface="Cambria"/>
                <a:cs typeface="Cambria"/>
              </a:rPr>
              <a:t>$0.00087</a:t>
            </a:r>
          </a:p>
        </p:txBody>
      </p:sp>
      <p:sp>
        <p:nvSpPr>
          <p:cNvPr id="48" name="Text 46">
            <a:extLst xmlns:a="http://schemas.openxmlformats.org/drawingml/2006/main">
              <a:ext uri="{FF2B5EF4-FFF2-40B4-BE49-F238E27FC236}">
                <a16:creationId xmlns:a16="http://schemas.microsoft.com/office/drawing/2014/main" id="{8E308A33-451D-49C7-8769-1B1C8629F89D}"/>
              </a:ext>
            </a:extLst>
          </p:cNvPr>
          <p:cNvSpPr>
            <a:spLocks xmlns:a="http://schemas.openxmlformats.org/drawingml/2006/main" noGrp="1"/>
          </p:cNvSpPr>
          <p:nvPr/>
        </p:nvSpPr>
        <p:spPr>
          <a:xfrm xmlns:a="http://schemas.openxmlformats.org/drawingml/2006/main">
            <a:off x="8823731" y="5650992"/>
            <a:ext cx="26517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per episode</a:t>
            </a:r>
          </a:p>
        </p:txBody>
      </p:sp>
    </p:spTree>
    <p:extLst>
      <p:ext uri="{BB962C8B-B14F-4D97-AF65-F5344CB8AC3E}">
        <p14:creationId xmlns:p14="http://schemas.microsoft.com/office/powerpoint/2010/main" val="1824258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297D43-1CF0-44D0-889A-2DF13C2C665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4B39850-040F-4598-8805-BAD39476F5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5</a:t>
            </a:r>
          </a:p>
        </p:txBody>
      </p:sp>
      <p:sp>
        <p:nvSpPr>
          <p:cNvPr id="4" name="Text 2">
            <a:extLst xmlns:a="http://schemas.openxmlformats.org/drawingml/2006/main">
              <a:ext uri="{FF2B5EF4-FFF2-40B4-BE49-F238E27FC236}">
                <a16:creationId xmlns:a16="http://schemas.microsoft.com/office/drawing/2014/main" id="{DDA50451-75D4-46FA-8217-6744CC2BF19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MOTIVATION  ·  WHY THIS IS NOT CACHING  ·  §1 AND §2.1</a:t>
            </a:r>
          </a:p>
        </p:txBody>
      </p:sp>
      <p:sp>
        <p:nvSpPr>
          <p:cNvPr id="5" name="Text 3">
            <a:extLst xmlns:a="http://schemas.openxmlformats.org/drawingml/2006/main">
              <a:ext uri="{FF2B5EF4-FFF2-40B4-BE49-F238E27FC236}">
                <a16:creationId xmlns:a16="http://schemas.microsoft.com/office/drawing/2014/main" id="{69F4269C-E352-46AC-ADB6-E4D83F090E8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Four hazards a cache cannot see</a:t>
            </a:r>
          </a:p>
        </p:txBody>
      </p:sp>
      <p:sp>
        <p:nvSpPr>
          <p:cNvPr id="6" name="Shape 4">
            <a:extLst xmlns:a="http://schemas.openxmlformats.org/drawingml/2006/main">
              <a:ext uri="{FF2B5EF4-FFF2-40B4-BE49-F238E27FC236}">
                <a16:creationId xmlns:a16="http://schemas.microsoft.com/office/drawing/2014/main" id="{5DF89634-3920-424A-A5BE-2C234472F21A}"/>
              </a:ext>
            </a:extLst>
          </p:cNvPr>
          <p:cNvSpPr>
            <a:spLocks xmlns:a="http://schemas.openxmlformats.org/drawingml/2006/main" noGrp="1"/>
          </p:cNvSpPr>
          <p:nvPr/>
        </p:nvSpPr>
        <p:spPr>
          <a:xfrm xmlns:a="http://schemas.openxmlformats.org/drawingml/2006/main">
            <a:off x="640080"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DB9B9608-DCE4-4915-ABD0-608DFBD2CAC0}"/>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BA627C36-E9E1-4324-9BE3-FF20C39C9DA2}"/>
              </a:ext>
            </a:extLst>
          </p:cNvPr>
          <p:cNvSpPr>
            <a:spLocks xmlns:a="http://schemas.openxmlformats.org/drawingml/2006/main" noGrp="1"/>
          </p:cNvSpPr>
          <p:nvPr/>
        </p:nvSpPr>
        <p:spPr>
          <a:xfrm xmlns:a="http://schemas.openxmlformats.org/drawingml/2006/main">
            <a:off x="914400"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A446BA60-7D7A-4C32-A353-469F6A9BDCD4}"/>
              </a:ext>
            </a:extLst>
          </p:cNvPr>
          <p:cNvSpPr>
            <a:spLocks xmlns:a="http://schemas.openxmlformats.org/drawingml/2006/main" noGrp="1"/>
          </p:cNvSpPr>
          <p:nvPr/>
        </p:nvSpPr>
        <p:spPr>
          <a:xfrm xmlns:a="http://schemas.openxmlformats.org/drawingml/2006/main">
            <a:off x="1417320"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Ungrounded argument</a:t>
            </a:r>
          </a:p>
        </p:txBody>
      </p:sp>
      <p:sp>
        <p:nvSpPr>
          <p:cNvPr id="10" name="Text 8">
            <a:extLst xmlns:a="http://schemas.openxmlformats.org/drawingml/2006/main">
              <a:ext uri="{FF2B5EF4-FFF2-40B4-BE49-F238E27FC236}">
                <a16:creationId xmlns:a16="http://schemas.microsoft.com/office/drawing/2014/main" id="{8EBFD511-7BD9-42B5-AE5B-813EB4D06BA1}"/>
              </a:ext>
            </a:extLst>
          </p:cNvPr>
          <p:cNvSpPr>
            <a:spLocks xmlns:a="http://schemas.openxmlformats.org/drawingml/2006/main" noGrp="1"/>
          </p:cNvSpPr>
          <p:nvPr/>
        </p:nvSpPr>
        <p:spPr>
          <a:xfrm xmlns:a="http://schemas.openxmlformats.org/drawingml/2006/main">
            <a:off x="1417320"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tool argument may depend on a prior observation with no expression over entry state or earlier results. There is nothing to reconstruct it from.</a:t>
            </a:r>
          </a:p>
        </p:txBody>
      </p:sp>
      <p:sp>
        <p:nvSpPr>
          <p:cNvPr id="11" name="Shape 9">
            <a:extLst xmlns:a="http://schemas.openxmlformats.org/drawingml/2006/main">
              <a:ext uri="{FF2B5EF4-FFF2-40B4-BE49-F238E27FC236}">
                <a16:creationId xmlns:a16="http://schemas.microsoft.com/office/drawing/2014/main" id="{B47241FF-3680-4451-8167-2E6A46290738}"/>
              </a:ext>
            </a:extLst>
          </p:cNvPr>
          <p:cNvSpPr>
            <a:spLocks xmlns:a="http://schemas.openxmlformats.org/drawingml/2006/main" noGrp="1"/>
          </p:cNvSpPr>
          <p:nvPr/>
        </p:nvSpPr>
        <p:spPr>
          <a:xfrm xmlns:a="http://schemas.openxmlformats.org/drawingml/2006/main">
            <a:off x="6251296" y="1463040"/>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646552CB-9093-4FA1-9E91-B158B651193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FD858A4B-CBAB-4BD6-B0F2-74763C8DC9C4}"/>
              </a:ext>
            </a:extLst>
          </p:cNvPr>
          <p:cNvSpPr>
            <a:spLocks xmlns:a="http://schemas.openxmlformats.org/drawingml/2006/main" noGrp="1"/>
          </p:cNvSpPr>
          <p:nvPr/>
        </p:nvSpPr>
        <p:spPr>
          <a:xfrm xmlns:a="http://schemas.openxmlformats.org/drawingml/2006/main">
            <a:off x="6525616" y="1719072"/>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5424F725-DE35-4747-B63D-F7A90A9E328F}"/>
              </a:ext>
            </a:extLst>
          </p:cNvPr>
          <p:cNvSpPr>
            <a:spLocks xmlns:a="http://schemas.openxmlformats.org/drawingml/2006/main" noGrp="1"/>
          </p:cNvSpPr>
          <p:nvPr/>
        </p:nvSpPr>
        <p:spPr>
          <a:xfrm xmlns:a="http://schemas.openxmlformats.org/drawingml/2006/main">
            <a:off x="7028536" y="1700784"/>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Undeclared or hidden effect</a:t>
            </a:r>
          </a:p>
        </p:txBody>
      </p:sp>
      <p:sp>
        <p:nvSpPr>
          <p:cNvPr id="15" name="Text 13">
            <a:extLst xmlns:a="http://schemas.openxmlformats.org/drawingml/2006/main">
              <a:ext uri="{FF2B5EF4-FFF2-40B4-BE49-F238E27FC236}">
                <a16:creationId xmlns:a16="http://schemas.microsoft.com/office/drawing/2014/main" id="{50A692D7-526F-46FF-9A36-772E5678DA24}"/>
              </a:ext>
            </a:extLst>
          </p:cNvPr>
          <p:cNvSpPr>
            <a:spLocks xmlns:a="http://schemas.openxmlformats.org/drawingml/2006/main" noGrp="1"/>
          </p:cNvSpPr>
          <p:nvPr/>
        </p:nvSpPr>
        <p:spPr>
          <a:xfrm xmlns:a="http://schemas.openxmlformats.org/drawingml/2006/main">
            <a:off x="7028536" y="2066544"/>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 nominal read may carry an external effect. An effect the catalog does not declare cannot be shown safe to speculate on.</a:t>
            </a:r>
          </a:p>
        </p:txBody>
      </p:sp>
      <p:sp>
        <p:nvSpPr>
          <p:cNvPr id="16" name="Shape 14">
            <a:extLst xmlns:a="http://schemas.openxmlformats.org/drawingml/2006/main">
              <a:ext uri="{FF2B5EF4-FFF2-40B4-BE49-F238E27FC236}">
                <a16:creationId xmlns:a16="http://schemas.microsoft.com/office/drawing/2014/main" id="{027F0ECB-F669-4BBC-9500-B33534375091}"/>
              </a:ext>
            </a:extLst>
          </p:cNvPr>
          <p:cNvSpPr>
            <a:spLocks xmlns:a="http://schemas.openxmlformats.org/drawingml/2006/main" noGrp="1"/>
          </p:cNvSpPr>
          <p:nvPr/>
        </p:nvSpPr>
        <p:spPr>
          <a:xfrm xmlns:a="http://schemas.openxmlformats.org/drawingml/2006/main">
            <a:off x="640080"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FA4C99EC-1669-4216-B128-7F10CCEC2768}"/>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350BBEF-6DB6-433A-9A25-547CA0A6E8D1}"/>
              </a:ext>
            </a:extLst>
          </p:cNvPr>
          <p:cNvSpPr>
            <a:spLocks xmlns:a="http://schemas.openxmlformats.org/drawingml/2006/main" noGrp="1"/>
          </p:cNvSpPr>
          <p:nvPr/>
        </p:nvSpPr>
        <p:spPr>
          <a:xfrm xmlns:a="http://schemas.openxmlformats.org/drawingml/2006/main">
            <a:off x="914400"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EAA5369F-873F-4E18-BDA6-FE15337B390D}"/>
              </a:ext>
            </a:extLst>
          </p:cNvPr>
          <p:cNvSpPr>
            <a:spLocks xmlns:a="http://schemas.openxmlformats.org/drawingml/2006/main" noGrp="1"/>
          </p:cNvSpPr>
          <p:nvPr/>
        </p:nvSpPr>
        <p:spPr>
          <a:xfrm xmlns:a="http://schemas.openxmlformats.org/drawingml/2006/main">
            <a:off x="1417320"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Barrier crossed</a:t>
            </a:r>
          </a:p>
        </p:txBody>
      </p:sp>
      <p:sp>
        <p:nvSpPr>
          <p:cNvPr id="20" name="Text 18">
            <a:extLst xmlns:a="http://schemas.openxmlformats.org/drawingml/2006/main">
              <a:ext uri="{FF2B5EF4-FFF2-40B4-BE49-F238E27FC236}">
                <a16:creationId xmlns:a16="http://schemas.microsoft.com/office/drawing/2014/main" id="{A2621029-0697-4CF9-A653-9C7E21AF1690}"/>
              </a:ext>
            </a:extLst>
          </p:cNvPr>
          <p:cNvSpPr>
            <a:spLocks xmlns:a="http://schemas.openxmlformats.org/drawingml/2006/main" noGrp="1"/>
          </p:cNvSpPr>
          <p:nvPr/>
        </p:nvSpPr>
        <p:spPr>
          <a:xfrm xmlns:a="http://schemas.openxmlformats.org/drawingml/2006/main">
            <a:off x="1417320"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repeated sequence may cross an approval, a write, a handoff, or a commit boundary. Those are hard barriers, not costs to trade off.</a:t>
            </a:r>
          </a:p>
        </p:txBody>
      </p:sp>
      <p:sp>
        <p:nvSpPr>
          <p:cNvPr id="21" name="Shape 19">
            <a:extLst xmlns:a="http://schemas.openxmlformats.org/drawingml/2006/main">
              <a:ext uri="{FF2B5EF4-FFF2-40B4-BE49-F238E27FC236}">
                <a16:creationId xmlns:a16="http://schemas.microsoft.com/office/drawing/2014/main" id="{FC8C6891-88B7-44EE-A60B-C3E6645D2295}"/>
              </a:ext>
            </a:extLst>
          </p:cNvPr>
          <p:cNvSpPr>
            <a:spLocks xmlns:a="http://schemas.openxmlformats.org/drawingml/2006/main" noGrp="1"/>
          </p:cNvSpPr>
          <p:nvPr/>
        </p:nvSpPr>
        <p:spPr>
          <a:xfrm xmlns:a="http://schemas.openxmlformats.org/drawingml/2006/main">
            <a:off x="6251296" y="3218688"/>
            <a:ext cx="5300320" cy="1481328"/>
          </a:xfrm>
          <a:prstGeom xmlns:a="http://schemas.openxmlformats.org/drawingml/2006/main" prst="roundRect">
            <a:avLst>
              <a:gd name="adj" fmla="val 308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763AAAE-CDDF-45AC-AD11-EFEE8C59BA0E}"/>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892C6B72-0DFF-4E08-BB29-EE5A229215E3}"/>
              </a:ext>
            </a:extLst>
          </p:cNvPr>
          <p:cNvSpPr>
            <a:spLocks xmlns:a="http://schemas.openxmlformats.org/drawingml/2006/main" noGrp="1"/>
          </p:cNvSpPr>
          <p:nvPr/>
        </p:nvSpPr>
        <p:spPr>
          <a:xfrm xmlns:a="http://schemas.openxmlformats.org/drawingml/2006/main">
            <a:off x="6525616" y="347472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D6850297-D567-4B0D-8C19-6417650545BF}"/>
              </a:ext>
            </a:extLst>
          </p:cNvPr>
          <p:cNvSpPr>
            <a:spLocks xmlns:a="http://schemas.openxmlformats.org/drawingml/2006/main" noGrp="1"/>
          </p:cNvSpPr>
          <p:nvPr/>
        </p:nvSpPr>
        <p:spPr>
          <a:xfrm xmlns:a="http://schemas.openxmlformats.org/drawingml/2006/main">
            <a:off x="7028536" y="3456432"/>
            <a:ext cx="424876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0E1E3A"/>
                </a:solidFill>
                <a:latin typeface="Cambria"/>
                <a:ea typeface="Cambria"/>
                <a:cs typeface="Cambria"/>
              </a:rPr>
              <a:t>Drift on the next input</a:t>
            </a:r>
          </a:p>
        </p:txBody>
      </p:sp>
      <p:sp>
        <p:nvSpPr>
          <p:cNvPr id="25" name="Text 23">
            <a:extLst xmlns:a="http://schemas.openxmlformats.org/drawingml/2006/main">
              <a:ext uri="{FF2B5EF4-FFF2-40B4-BE49-F238E27FC236}">
                <a16:creationId xmlns:a16="http://schemas.microsoft.com/office/drawing/2014/main" id="{FA5227F1-E23C-44C8-B574-42FFF55E9A1E}"/>
              </a:ext>
            </a:extLst>
          </p:cNvPr>
          <p:cNvSpPr>
            <a:spLocks xmlns:a="http://schemas.openxmlformats.org/drawingml/2006/main" noGrp="1"/>
          </p:cNvSpPr>
          <p:nvPr/>
        </p:nvSpPr>
        <p:spPr>
          <a:xfrm xmlns:a="http://schemas.openxmlformats.org/drawingml/2006/main">
            <a:off x="7028536" y="3822192"/>
            <a:ext cx="42487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An input resembling the training trace may violate a permission, freshness, or schema constraint that held when the trace was recorded.</a:t>
            </a:r>
          </a:p>
        </p:txBody>
      </p:sp>
      <p:sp>
        <p:nvSpPr>
          <p:cNvPr id="26" name="Shape 24">
            <a:extLst xmlns:a="http://schemas.openxmlformats.org/drawingml/2006/main">
              <a:ext uri="{FF2B5EF4-FFF2-40B4-BE49-F238E27FC236}">
                <a16:creationId xmlns:a16="http://schemas.microsoft.com/office/drawing/2014/main" id="{85DCB299-E345-435E-804C-2C959B613903}"/>
              </a:ext>
            </a:extLst>
          </p:cNvPr>
          <p:cNvSpPr>
            <a:spLocks xmlns:a="http://schemas.openxmlformats.org/drawingml/2006/main" noGrp="1"/>
          </p:cNvSpPr>
          <p:nvPr/>
        </p:nvSpPr>
        <p:spPr>
          <a:xfrm xmlns:a="http://schemas.openxmlformats.org/drawingml/2006/main">
            <a:off x="640080" y="4754880"/>
            <a:ext cx="10911535" cy="960120"/>
          </a:xfrm>
          <a:prstGeom xmlns:a="http://schemas.openxmlformats.org/drawingml/2006/main" prst="roundRect">
            <a:avLst>
              <a:gd name="adj" fmla="val 476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F469D7E6-BEDC-4363-887F-D85E921B1ADC}"/>
              </a:ext>
            </a:extLst>
          </p:cNvPr>
          <p:cNvSpPr>
            <a:spLocks xmlns:a="http://schemas.openxmlformats.org/drawingml/2006/main" noGrp="1"/>
          </p:cNvSpPr>
          <p:nvPr/>
        </p:nvSpPr>
        <p:spPr>
          <a:xfrm xmlns:a="http://schemas.openxmlformats.org/drawingml/2006/main">
            <a:off x="914400" y="493776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50" b="1">
                <a:solidFill>
                  <a:srgbClr val="0E1E3A"/>
                </a:solidFill>
                <a:latin typeface="Calibri"/>
                <a:ea typeface="Calibri"/>
                <a:cs typeface="Calibri"/>
              </a:rPr>
              <a:t>Deleting a model decision is a semantic change, not a memoization. </a:t>
            </a:r>
            <a:r>
              <a:rPr sz="1350">
                <a:solidFill>
                  <a:srgbClr val="24354F"/>
                </a:solidFill>
                <a:latin typeface="Calibri"/>
                <a:ea typeface="Calibri"/>
                <a:cs typeface="Calibri"/>
              </a:rPr>
              <a:t>Every one of these hazards is checked structurally — no amount of statistical evidence can override a barrier hit.</a:t>
            </a:r>
          </a:p>
        </p:txBody>
      </p:sp>
    </p:spTree>
    <p:extLst>
      <p:ext uri="{BB962C8B-B14F-4D97-AF65-F5344CB8AC3E}">
        <p14:creationId xmlns:p14="http://schemas.microsoft.com/office/powerpoint/2010/main" val="145092634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E09B0BD-1FE8-4BBB-8518-82E3F2C8A8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B15D4E6-C2CE-4E8D-9CCD-866B8245A9C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C1A78A9A-62BF-4B3F-A489-FDB9612014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SCOPE  ·  §1</a:t>
            </a:r>
          </a:p>
        </p:txBody>
      </p:sp>
      <p:sp>
        <p:nvSpPr>
          <p:cNvPr id="5" name="Text 3">
            <a:extLst xmlns:a="http://schemas.openxmlformats.org/drawingml/2006/main">
              <a:ext uri="{FF2B5EF4-FFF2-40B4-BE49-F238E27FC236}">
                <a16:creationId xmlns:a16="http://schemas.microsoft.com/office/drawing/2014/main" id="{2A3679D4-4079-4B0F-B1B3-DAD2DCD6946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question, stated narrowly</a:t>
            </a:r>
          </a:p>
        </p:txBody>
      </p:sp>
      <p:sp>
        <p:nvSpPr>
          <p:cNvPr id="6" name="Shape 4">
            <a:extLst xmlns:a="http://schemas.openxmlformats.org/drawingml/2006/main">
              <a:ext uri="{FF2B5EF4-FFF2-40B4-BE49-F238E27FC236}">
                <a16:creationId xmlns:a16="http://schemas.microsoft.com/office/drawing/2014/main" id="{7D11688D-2A61-45C9-B235-C3C98822DA99}"/>
              </a:ext>
            </a:extLst>
          </p:cNvPr>
          <p:cNvSpPr>
            <a:spLocks xmlns:a="http://schemas.openxmlformats.org/drawingml/2006/main" noGrp="1"/>
          </p:cNvSpPr>
          <p:nvPr/>
        </p:nvSpPr>
        <p:spPr>
          <a:xfrm xmlns:a="http://schemas.openxmlformats.org/drawingml/2006/main">
            <a:off x="640080" y="1389888"/>
            <a:ext cx="10911535" cy="1207008"/>
          </a:xfrm>
          <a:prstGeom xmlns:a="http://schemas.openxmlformats.org/drawingml/2006/main" prst="roundRect">
            <a:avLst>
              <a:gd name="adj" fmla="val 3788"/>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2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FECA9F78-8787-40F2-985D-902C00912994}"/>
              </a:ext>
            </a:extLst>
          </p:cNvPr>
          <p:cNvSpPr>
            <a:spLocks xmlns:a="http://schemas.openxmlformats.org/drawingml/2006/main" noGrp="1"/>
          </p:cNvSpPr>
          <p:nvPr/>
        </p:nvSpPr>
        <p:spPr>
          <a:xfrm xmlns:a="http://schemas.openxmlformats.org/drawingml/2006/main">
            <a:off x="1051560" y="1536192"/>
            <a:ext cx="1008857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4000"/>
              </a:lnSpc>
              <a:buNone/>
            </a:pPr>
            <a:r>
              <a:rPr sz="155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0F17ABBA-6E79-4ADA-94FE-098EAD14D8FF}"/>
              </a:ext>
            </a:extLst>
          </p:cNvPr>
          <p:cNvSpPr>
            <a:spLocks xmlns:a="http://schemas.openxmlformats.org/drawingml/2006/main" noGrp="1"/>
          </p:cNvSpPr>
          <p:nvPr/>
        </p:nvSpPr>
        <p:spPr>
          <a:xfrm xmlns:a="http://schemas.openxmlformats.org/drawingml/2006/main">
            <a:off x="640080" y="283464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FIVE RESEARCH QUESTIONS</a:t>
            </a:r>
          </a:p>
        </p:txBody>
      </p:sp>
      <p:sp>
        <p:nvSpPr>
          <p:cNvPr id="9" name="Shape 7">
            <a:extLst xmlns:a="http://schemas.openxmlformats.org/drawingml/2006/main">
              <a:ext uri="{FF2B5EF4-FFF2-40B4-BE49-F238E27FC236}">
                <a16:creationId xmlns:a16="http://schemas.microsoft.com/office/drawing/2014/main" id="{C10D3983-FFE4-48F7-B2D8-C07D6092248A}"/>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453B2623-1325-4BE4-BA04-D0874F7FD68E}"/>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1" name="Text 9">
            <a:extLst xmlns:a="http://schemas.openxmlformats.org/drawingml/2006/main">
              <a:ext uri="{FF2B5EF4-FFF2-40B4-BE49-F238E27FC236}">
                <a16:creationId xmlns:a16="http://schemas.microsoft.com/office/drawing/2014/main" id="{4B328642-EE35-4228-8329-0731C95FAA14}"/>
              </a:ext>
            </a:extLst>
          </p:cNvPr>
          <p:cNvSpPr>
            <a:spLocks xmlns:a="http://schemas.openxmlformats.org/drawingml/2006/main" noGrp="1"/>
          </p:cNvSpPr>
          <p:nvPr/>
        </p:nvSpPr>
        <p:spPr>
          <a:xfrm xmlns:a="http://schemas.openxmlformats.org/drawingml/2006/main">
            <a:off x="640080" y="3136392"/>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RQ1</a:t>
            </a:r>
          </a:p>
        </p:txBody>
      </p:sp>
      <p:sp>
        <p:nvSpPr>
          <p:cNvPr id="12" name="Text 10">
            <a:extLst xmlns:a="http://schemas.openxmlformats.org/drawingml/2006/main">
              <a:ext uri="{FF2B5EF4-FFF2-40B4-BE49-F238E27FC236}">
                <a16:creationId xmlns:a16="http://schemas.microsoft.com/office/drawing/2014/main" id="{09C9AC5D-E27C-40A0-B939-80A0D57033A4}"/>
              </a:ext>
            </a:extLst>
          </p:cNvPr>
          <p:cNvSpPr>
            <a:spLocks xmlns:a="http://schemas.openxmlformats.org/drawingml/2006/main" noGrp="1"/>
          </p:cNvSpPr>
          <p:nvPr/>
        </p:nvSpPr>
        <p:spPr>
          <a:xfrm xmlns:a="http://schemas.openxmlformats.org/drawingml/2006/main">
            <a:off x="1261872" y="3145536"/>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typed trace provenance reconstruct the dependencies needed to synthesize recurrent tool programs?</a:t>
            </a:r>
          </a:p>
        </p:txBody>
      </p:sp>
      <p:sp>
        <p:nvSpPr>
          <p:cNvPr id="13" name="Shape 11">
            <a:extLst xmlns:a="http://schemas.openxmlformats.org/drawingml/2006/main">
              <a:ext uri="{FF2B5EF4-FFF2-40B4-BE49-F238E27FC236}">
                <a16:creationId xmlns:a16="http://schemas.microsoft.com/office/drawing/2014/main" id="{BCBB2472-68BB-40B2-ACF2-23E07EFE1246}"/>
              </a:ext>
            </a:extLst>
          </p:cNvPr>
          <p:cNvSpPr>
            <a:spLocks xmlns:a="http://schemas.openxmlformats.org/drawingml/2006/main" noGrp="1"/>
          </p:cNvSpPr>
          <p:nvPr/>
        </p:nvSpPr>
        <p:spPr>
          <a:xfrm xmlns:a="http://schemas.openxmlformats.org/drawingml/2006/main">
            <a:off x="640080" y="3657600"/>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239B3286-BE19-48BE-8B98-8359E73C135C}"/>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8E7B6BBB-C002-4980-86DA-5A48B61C56E5}"/>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16" name="Text 14">
            <a:extLst xmlns:a="http://schemas.openxmlformats.org/drawingml/2006/main">
              <a:ext uri="{FF2B5EF4-FFF2-40B4-BE49-F238E27FC236}">
                <a16:creationId xmlns:a16="http://schemas.microsoft.com/office/drawing/2014/main" id="{03E9CE70-AB8E-45D7-A30B-838C8DB9BD64}"/>
              </a:ext>
            </a:extLst>
          </p:cNvPr>
          <p:cNvSpPr>
            <a:spLocks xmlns:a="http://schemas.openxmlformats.org/drawingml/2006/main" noGrp="1"/>
          </p:cNvSpPr>
          <p:nvPr/>
        </p:nvSpPr>
        <p:spPr>
          <a:xfrm xmlns:a="http://schemas.openxmlformats.org/drawingml/2006/main">
            <a:off x="640080" y="3739896"/>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RQ2</a:t>
            </a:r>
          </a:p>
        </p:txBody>
      </p:sp>
      <p:sp>
        <p:nvSpPr>
          <p:cNvPr id="17" name="Text 15">
            <a:extLst xmlns:a="http://schemas.openxmlformats.org/drawingml/2006/main">
              <a:ext uri="{FF2B5EF4-FFF2-40B4-BE49-F238E27FC236}">
                <a16:creationId xmlns:a16="http://schemas.microsoft.com/office/drawing/2014/main" id="{F3594B28-A8E5-4F0E-A3DE-2E9E92A278E3}"/>
              </a:ext>
            </a:extLst>
          </p:cNvPr>
          <p:cNvSpPr>
            <a:spLocks xmlns:a="http://schemas.openxmlformats.org/drawingml/2006/main" noGrp="1"/>
          </p:cNvSpPr>
          <p:nvPr/>
        </p:nvSpPr>
        <p:spPr>
          <a:xfrm xmlns:a="http://schemas.openxmlformats.org/drawingml/2006/main">
            <a:off x="1261872" y="3749040"/>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Across distinct real-record workflows, do guarded programs preserve exact outcomes while reducing requests, tokens, latency, and cost?</a:t>
            </a:r>
          </a:p>
        </p:txBody>
      </p:sp>
      <p:sp>
        <p:nvSpPr>
          <p:cNvPr id="18" name="Shape 16">
            <a:extLst xmlns:a="http://schemas.openxmlformats.org/drawingml/2006/main">
              <a:ext uri="{FF2B5EF4-FFF2-40B4-BE49-F238E27FC236}">
                <a16:creationId xmlns:a16="http://schemas.microsoft.com/office/drawing/2014/main" id="{E235BF1B-1BC4-4088-B0A8-FF8F59119738}"/>
              </a:ext>
            </a:extLst>
          </p:cNvPr>
          <p:cNvSpPr>
            <a:spLocks xmlns:a="http://schemas.openxmlformats.org/drawingml/2006/main" noGrp="1"/>
          </p:cNvSpPr>
          <p:nvPr/>
        </p:nvSpPr>
        <p:spPr>
          <a:xfrm xmlns:a="http://schemas.openxmlformats.org/drawingml/2006/main">
            <a:off x="640080" y="4261104"/>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538DA5F5-8FDF-4E94-A5FE-E2CAD022272F}"/>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BA8D03DD-DF07-4C7B-A9BD-76DFFCAD956D}"/>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1" name="Text 19">
            <a:extLst xmlns:a="http://schemas.openxmlformats.org/drawingml/2006/main">
              <a:ext uri="{FF2B5EF4-FFF2-40B4-BE49-F238E27FC236}">
                <a16:creationId xmlns:a16="http://schemas.microsoft.com/office/drawing/2014/main" id="{BF30076E-6F6E-45DA-A88B-317B9046F5C5}"/>
              </a:ext>
            </a:extLst>
          </p:cNvPr>
          <p:cNvSpPr>
            <a:spLocks xmlns:a="http://schemas.openxmlformats.org/drawingml/2006/main" noGrp="1"/>
          </p:cNvSpPr>
          <p:nvPr/>
        </p:nvSpPr>
        <p:spPr>
          <a:xfrm xmlns:a="http://schemas.openxmlformats.org/drawingml/2006/main">
            <a:off x="640080" y="4343400"/>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RQ3</a:t>
            </a:r>
          </a:p>
        </p:txBody>
      </p:sp>
      <p:sp>
        <p:nvSpPr>
          <p:cNvPr id="22" name="Text 20">
            <a:extLst xmlns:a="http://schemas.openxmlformats.org/drawingml/2006/main">
              <a:ext uri="{FF2B5EF4-FFF2-40B4-BE49-F238E27FC236}">
                <a16:creationId xmlns:a16="http://schemas.microsoft.com/office/drawing/2014/main" id="{DAB9A639-E4DE-4E11-8386-CDA7AB948BB4}"/>
              </a:ext>
            </a:extLst>
          </p:cNvPr>
          <p:cNvSpPr>
            <a:spLocks xmlns:a="http://schemas.openxmlformats.org/drawingml/2006/main" noGrp="1"/>
          </p:cNvSpPr>
          <p:nvPr/>
        </p:nvSpPr>
        <p:spPr>
          <a:xfrm xmlns:a="http://schemas.openxmlformats.org/drawingml/2006/main">
            <a:off x="1261872" y="4352544"/>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Does exact selective admission reject recurrent families when calibration support is inadequate?</a:t>
            </a:r>
          </a:p>
        </p:txBody>
      </p:sp>
      <p:sp>
        <p:nvSpPr>
          <p:cNvPr id="23" name="Shape 21">
            <a:extLst xmlns:a="http://schemas.openxmlformats.org/drawingml/2006/main">
              <a:ext uri="{FF2B5EF4-FFF2-40B4-BE49-F238E27FC236}">
                <a16:creationId xmlns:a16="http://schemas.microsoft.com/office/drawing/2014/main" id="{E5F9C64E-F43F-4009-B479-6D5A787B7EE3}"/>
              </a:ext>
            </a:extLst>
          </p:cNvPr>
          <p:cNvSpPr>
            <a:spLocks xmlns:a="http://schemas.openxmlformats.org/drawingml/2006/main" noGrp="1"/>
          </p:cNvSpPr>
          <p:nvPr/>
        </p:nvSpPr>
        <p:spPr>
          <a:xfrm xmlns:a="http://schemas.openxmlformats.org/drawingml/2006/main">
            <a:off x="640080" y="4864608"/>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C3E00CA9-A120-4A62-8C13-93A0BCC21F1B}"/>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0E821177-2C37-4788-B75E-112D648B76A6}"/>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26" name="Text 24">
            <a:extLst xmlns:a="http://schemas.openxmlformats.org/drawingml/2006/main">
              <a:ext uri="{FF2B5EF4-FFF2-40B4-BE49-F238E27FC236}">
                <a16:creationId xmlns:a16="http://schemas.microsoft.com/office/drawing/2014/main" id="{ED6EB215-416B-46BC-91EE-22CC2E8A608F}"/>
              </a:ext>
            </a:extLst>
          </p:cNvPr>
          <p:cNvSpPr>
            <a:spLocks xmlns:a="http://schemas.openxmlformats.org/drawingml/2006/main" noGrp="1"/>
          </p:cNvSpPr>
          <p:nvPr/>
        </p:nvSpPr>
        <p:spPr>
          <a:xfrm xmlns:a="http://schemas.openxmlformats.org/drawingml/2006/main">
            <a:off x="640080" y="4946904"/>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RQ4</a:t>
            </a:r>
          </a:p>
        </p:txBody>
      </p:sp>
      <p:sp>
        <p:nvSpPr>
          <p:cNvPr id="27" name="Text 25">
            <a:extLst xmlns:a="http://schemas.openxmlformats.org/drawingml/2006/main">
              <a:ext uri="{FF2B5EF4-FFF2-40B4-BE49-F238E27FC236}">
                <a16:creationId xmlns:a16="http://schemas.microsoft.com/office/drawing/2014/main" id="{E3C7C3D3-8D74-4E8A-870F-F6ECB2BA03B8}"/>
              </a:ext>
            </a:extLst>
          </p:cNvPr>
          <p:cNvSpPr>
            <a:spLocks xmlns:a="http://schemas.openxmlformats.org/drawingml/2006/main" noGrp="1"/>
          </p:cNvSpPr>
          <p:nvPr/>
        </p:nvSpPr>
        <p:spPr>
          <a:xfrm xmlns:a="http://schemas.openxmlformats.org/drawingml/2006/main">
            <a:off x="1261872" y="4956048"/>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Which failure modes remain after structural compilation — and what does compaction not improve?</a:t>
            </a:r>
          </a:p>
        </p:txBody>
      </p:sp>
      <p:sp>
        <p:nvSpPr>
          <p:cNvPr id="28" name="Shape 26">
            <a:extLst xmlns:a="http://schemas.openxmlformats.org/drawingml/2006/main">
              <a:ext uri="{FF2B5EF4-FFF2-40B4-BE49-F238E27FC236}">
                <a16:creationId xmlns:a16="http://schemas.microsoft.com/office/drawing/2014/main" id="{878EB5B8-6CBD-4073-9EA5-F45047556AFB}"/>
              </a:ext>
            </a:extLst>
          </p:cNvPr>
          <p:cNvSpPr>
            <a:spLocks xmlns:a="http://schemas.openxmlformats.org/drawingml/2006/main" noGrp="1"/>
          </p:cNvSpPr>
          <p:nvPr/>
        </p:nvSpPr>
        <p:spPr>
          <a:xfrm xmlns:a="http://schemas.openxmlformats.org/drawingml/2006/main">
            <a:off x="640080" y="5468112"/>
            <a:ext cx="10911535" cy="0"/>
          </a:xfrm>
          <a:prstGeom xmlns:a="http://schemas.openxmlformats.org/drawingml/2006/main" prst="line">
            <a:avLst/>
          </a:prstGeom>
          <a:noFill xmlns:a="http://schemas.openxmlformats.org/drawingml/2006/main"/>
          <a:ln xmlns:a="http://schemas.openxmlformats.org/drawingml/2006/main" w="9525">
            <a:solidFill>
              <a:srgbClr val="EAF1F7"/>
            </a:solidFill>
            <a:prstDash val="solid"/>
          </a:ln>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D3EA1D38-D026-4F21-9D5C-21C3B7A14AC8}"/>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718A49BE-00B7-49F1-BE05-D0ED068B9C62}"/>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p>
        </p:txBody>
      </p:sp>
      <p:sp>
        <p:nvSpPr>
          <p:cNvPr id="31" name="Text 29">
            <a:extLst xmlns:a="http://schemas.openxmlformats.org/drawingml/2006/main">
              <a:ext uri="{FF2B5EF4-FFF2-40B4-BE49-F238E27FC236}">
                <a16:creationId xmlns:a16="http://schemas.microsoft.com/office/drawing/2014/main" id="{52CB9732-0964-49B6-92E6-0254F47D5391}"/>
              </a:ext>
            </a:extLst>
          </p:cNvPr>
          <p:cNvSpPr>
            <a:spLocks xmlns:a="http://schemas.openxmlformats.org/drawingml/2006/main" noGrp="1"/>
          </p:cNvSpPr>
          <p:nvPr/>
        </p:nvSpPr>
        <p:spPr>
          <a:xfrm xmlns:a="http://schemas.openxmlformats.org/drawingml/2006/main">
            <a:off x="640080" y="5550408"/>
            <a:ext cx="438912"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RQ5</a:t>
            </a:r>
          </a:p>
        </p:txBody>
      </p:sp>
      <p:sp>
        <p:nvSpPr>
          <p:cNvPr id="32" name="Text 30">
            <a:extLst xmlns:a="http://schemas.openxmlformats.org/drawingml/2006/main">
              <a:ext uri="{FF2B5EF4-FFF2-40B4-BE49-F238E27FC236}">
                <a16:creationId xmlns:a16="http://schemas.microsoft.com/office/drawing/2014/main" id="{3A150DD1-1261-4132-8972-0C23CAB73482}"/>
              </a:ext>
            </a:extLst>
          </p:cNvPr>
          <p:cNvSpPr>
            <a:spLocks xmlns:a="http://schemas.openxmlformats.org/drawingml/2006/main" noGrp="1"/>
          </p:cNvSpPr>
          <p:nvPr/>
        </p:nvSpPr>
        <p:spPr>
          <a:xfrm xmlns:a="http://schemas.openxmlformats.org/drawingml/2006/main">
            <a:off x="1261872" y="5559552"/>
            <a:ext cx="1028974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250">
                <a:solidFill>
                  <a:srgbClr val="24354F"/>
                </a:solidFill>
                <a:latin typeface="Calibri"/>
                <a:ea typeface="Calibri"/>
                <a:cs typeface="Calibri"/>
              </a:rPr>
              <a:t>Can group-level paired evidence select a risk-bounded action before a fresh cohort is seen?</a:t>
            </a:r>
          </a:p>
        </p:txBody>
      </p:sp>
    </p:spTree>
    <p:extLst>
      <p:ext uri="{BB962C8B-B14F-4D97-AF65-F5344CB8AC3E}">
        <p14:creationId xmlns:p14="http://schemas.microsoft.com/office/powerpoint/2010/main" val="1538911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8C0FEF8-D1B8-4C42-939D-532B5B22B16B}"/>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3EE5956-0FC3-4154-81DA-9FBD8CA576C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087E221-6415-4253-A6E6-027820523C86}"/>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FORMULATION  ·  §2.1–2.2</a:t>
            </a:r>
          </a:p>
        </p:txBody>
      </p:sp>
      <p:sp>
        <p:nvSpPr>
          <p:cNvPr id="5" name="Text 3">
            <a:extLst xmlns:a="http://schemas.openxmlformats.org/drawingml/2006/main">
              <a:ext uri="{FF2B5EF4-FFF2-40B4-BE49-F238E27FC236}">
                <a16:creationId xmlns:a16="http://schemas.microsoft.com/office/drawing/2014/main" id="{0464B6C0-799D-4E41-A9F5-8EAF263959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Guarded specialization, defined</a:t>
            </a:r>
          </a:p>
        </p:txBody>
      </p:sp>
      <p:sp>
        <p:nvSpPr>
          <p:cNvPr id="6" name="Shape 4">
            <a:extLst xmlns:a="http://schemas.openxmlformats.org/drawingml/2006/main">
              <a:ext uri="{FF2B5EF4-FFF2-40B4-BE49-F238E27FC236}">
                <a16:creationId xmlns:a16="http://schemas.microsoft.com/office/drawing/2014/main" id="{A4C81A5C-EB14-4C59-BDFF-59A5BEB71BC3}"/>
              </a:ext>
            </a:extLst>
          </p:cNvPr>
          <p:cNvSpPr>
            <a:spLocks xmlns:a="http://schemas.openxmlformats.org/drawingml/2006/main" noGrp="1"/>
          </p:cNvSpPr>
          <p:nvPr/>
        </p:nvSpPr>
        <p:spPr>
          <a:xfrm xmlns:a="http://schemas.openxmlformats.org/drawingml/2006/main">
            <a:off x="640080" y="1371600"/>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8E064556-D108-478E-A988-B02B47CFDCA9}"/>
              </a:ext>
            </a:extLst>
          </p:cNvPr>
          <p:cNvSpPr>
            <a:spLocks xmlns:a="http://schemas.openxmlformats.org/drawingml/2006/main" noGrp="1"/>
          </p:cNvSpPr>
          <p:nvPr/>
        </p:nvSpPr>
        <p:spPr>
          <a:xfrm xmlns:a="http://schemas.openxmlformats.org/drawingml/2006/main">
            <a:off x="914400" y="1481328"/>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libri"/>
                <a:ea typeface="Calibri"/>
                <a:cs typeface="Calibri"/>
              </a:rPr>
              <a:t>Compaction</a:t>
            </a:r>
            <a:r>
              <a:rPr sz="1350">
                <a:solidFill>
                  <a:srgbClr val="24354F"/>
                </a:solidFill>
                <a:latin typeface="Calibri"/>
                <a:ea typeface="Calibri"/>
                <a:cs typeface="Calibri"/>
              </a:rPr>
              <a:t> names the mechanism; </a:t>
            </a:r>
            <a:r>
              <a:rPr sz="1350" b="1">
                <a:solidFill>
                  <a:srgbClr val="0E1E3A"/>
                </a:solidFill>
                <a:latin typeface="Calibri"/>
                <a:ea typeface="Calibri"/>
                <a:cs typeface="Calibri"/>
              </a:rPr>
              <a:t>specialization</a:t>
            </a:r>
            <a:r>
              <a:rPr sz="1350">
                <a:solidFill>
                  <a:srgbClr val="24354F"/>
                </a:solidFill>
                <a:latin typeface="Calibri"/>
                <a:ea typeface="Calibri"/>
                <a:cs typeface="Calibri"/>
              </a:rPr>
              <a:t> names what it is allowed to do. Every decision the evidence does not determine stays with the model.</a:t>
            </a:r>
          </a:p>
        </p:txBody>
      </p:sp>
      <p:sp>
        <p:nvSpPr>
          <p:cNvPr id="8" name="Shape 6">
            <a:extLst xmlns:a="http://schemas.openxmlformats.org/drawingml/2006/main">
              <a:ext uri="{FF2B5EF4-FFF2-40B4-BE49-F238E27FC236}">
                <a16:creationId xmlns:a16="http://schemas.microsoft.com/office/drawing/2014/main" id="{AF9CA97C-E51A-4CF8-8338-9C0D8BAA8F2F}"/>
              </a:ext>
            </a:extLst>
          </p:cNvPr>
          <p:cNvSpPr>
            <a:spLocks xmlns:a="http://schemas.openxmlformats.org/drawingml/2006/main" noGrp="1"/>
          </p:cNvSpPr>
          <p:nvPr/>
        </p:nvSpPr>
        <p:spPr>
          <a:xfrm xmlns:a="http://schemas.openxmlformats.org/drawingml/2006/main">
            <a:off x="640080" y="2377440"/>
            <a:ext cx="5300320" cy="2697480"/>
          </a:xfrm>
          <a:prstGeom xmlns:a="http://schemas.openxmlformats.org/drawingml/2006/main" prst="roundRect">
            <a:avLst>
              <a:gd name="adj" fmla="val 169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0AAE3BAF-9379-4D95-BF32-A76B961961F4}"/>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A22FDF28-5094-4679-907D-4C9BB953560E}"/>
              </a:ext>
            </a:extLst>
          </p:cNvPr>
          <p:cNvSpPr>
            <a:spLocks xmlns:a="http://schemas.openxmlformats.org/drawingml/2006/main" noGrp="1"/>
          </p:cNvSpPr>
          <p:nvPr/>
        </p:nvSpPr>
        <p:spPr>
          <a:xfrm xmlns:a="http://schemas.openxmlformats.org/drawingml/2006/main">
            <a:off x="914400"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8AD9A2F4-B406-42A5-990A-40A119D4AB40}"/>
              </a:ext>
            </a:extLst>
          </p:cNvPr>
          <p:cNvSpPr>
            <a:spLocks xmlns:a="http://schemas.openxmlformats.org/drawingml/2006/main" noGrp="1"/>
          </p:cNvSpPr>
          <p:nvPr/>
        </p:nvSpPr>
        <p:spPr>
          <a:xfrm xmlns:a="http://schemas.openxmlformats.org/drawingml/2006/main">
            <a:off x="1417320"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What it does</a:t>
            </a:r>
          </a:p>
        </p:txBody>
      </p:sp>
      <p:sp>
        <p:nvSpPr>
          <p:cNvPr id="12" name="Text 10">
            <a:extLst xmlns:a="http://schemas.openxmlformats.org/drawingml/2006/main">
              <a:ext uri="{FF2B5EF4-FFF2-40B4-BE49-F238E27FC236}">
                <a16:creationId xmlns:a16="http://schemas.microsoft.com/office/drawing/2014/main" id="{3E53EF85-1D50-465A-B568-051149872115}"/>
              </a:ext>
            </a:extLst>
          </p:cNvPr>
          <p:cNvSpPr>
            <a:spLocks xmlns:a="http://schemas.openxmlformats.org/drawingml/2006/main" noGrp="1"/>
          </p:cNvSpPr>
          <p:nvPr/>
        </p:nvSpPr>
        <p:spPr>
          <a:xfrm xmlns:a="http://schemas.openxmlformats.org/drawingml/2006/main">
            <a:off x="932688"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Reconstructs typed, value-level provenance for every tool argument in the region</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Synthesizes a readable program from a closed 23-operator library at depth ≤ 2</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Induces a hard guard and a post-execution verifier from the same traces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Attaches an exact finite-sample bound on registered-contract violations</a:t>
            </a:r>
          </a:p>
          <a:p xmlns:a="http://schemas.openxmlformats.org/drawingml/2006/main">
            <a:pPr marL="342900" indent="-342900">
              <a:lnSpc>
                <a:spcPct val="106000"/>
              </a:lnSpc>
              <a:spcAft>
                <a:spcPts val="600"/>
              </a:spcAft>
              <a:buChar char="•"/>
            </a:pPr>
            <a:r>
              <a:rPr sz="1150">
                <a:solidFill>
                  <a:srgbClr val="24354F"/>
                </a:solidFill>
                <a:latin typeface="Calibri"/>
                <a:ea typeface="Calibri"/>
                <a:cs typeface="Calibri"/>
              </a:rPr>
              <a:t>Falls back to the unchanged agent on any precondition miss</a:t>
            </a:r>
          </a:p>
        </p:txBody>
      </p:sp>
      <p:sp>
        <p:nvSpPr>
          <p:cNvPr id="13" name="Shape 11">
            <a:extLst xmlns:a="http://schemas.openxmlformats.org/drawingml/2006/main">
              <a:ext uri="{FF2B5EF4-FFF2-40B4-BE49-F238E27FC236}">
                <a16:creationId xmlns:a16="http://schemas.microsoft.com/office/drawing/2014/main" id="{4891C1C0-36C7-4EAE-904B-A99B613DF521}"/>
              </a:ext>
            </a:extLst>
          </p:cNvPr>
          <p:cNvSpPr>
            <a:spLocks xmlns:a="http://schemas.openxmlformats.org/drawingml/2006/main" noGrp="1"/>
          </p:cNvSpPr>
          <p:nvPr/>
        </p:nvSpPr>
        <p:spPr>
          <a:xfrm xmlns:a="http://schemas.openxmlformats.org/drawingml/2006/main">
            <a:off x="6251296" y="2377440"/>
            <a:ext cx="5300320" cy="2697480"/>
          </a:xfrm>
          <a:prstGeom xmlns:a="http://schemas.openxmlformats.org/drawingml/2006/main" prst="roundRect">
            <a:avLst>
              <a:gd name="adj" fmla="val 169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84621B2C-BCCF-4335-9539-A199C2EB99B9}"/>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6ADE7319-9E41-4BC7-B88B-E69B45869110}"/>
              </a:ext>
            </a:extLst>
          </p:cNvPr>
          <p:cNvSpPr>
            <a:spLocks xmlns:a="http://schemas.openxmlformats.org/drawingml/2006/main" noGrp="1"/>
          </p:cNvSpPr>
          <p:nvPr/>
        </p:nvSpPr>
        <p:spPr>
          <a:xfrm xmlns:a="http://schemas.openxmlformats.org/drawingml/2006/main">
            <a:off x="6525616" y="2578608"/>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478DF980-D53A-4BF5-A380-06B9AD223928}"/>
              </a:ext>
            </a:extLst>
          </p:cNvPr>
          <p:cNvSpPr>
            <a:spLocks xmlns:a="http://schemas.openxmlformats.org/drawingml/2006/main" noGrp="1"/>
          </p:cNvSpPr>
          <p:nvPr/>
        </p:nvSpPr>
        <p:spPr>
          <a:xfrm xmlns:a="http://schemas.openxmlformats.org/drawingml/2006/main">
            <a:off x="7028536" y="2578608"/>
            <a:ext cx="42487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What it does not claim</a:t>
            </a:r>
          </a:p>
        </p:txBody>
      </p:sp>
      <p:sp>
        <p:nvSpPr>
          <p:cNvPr id="17" name="Text 15">
            <a:extLst xmlns:a="http://schemas.openxmlformats.org/drawingml/2006/main">
              <a:ext uri="{FF2B5EF4-FFF2-40B4-BE49-F238E27FC236}">
                <a16:creationId xmlns:a16="http://schemas.microsoft.com/office/drawing/2014/main" id="{71166619-5DAA-4E64-97B8-15A035D4E59B}"/>
              </a:ext>
            </a:extLst>
          </p:cNvPr>
          <p:cNvSpPr>
            <a:spLocks xmlns:a="http://schemas.openxmlformats.org/drawingml/2006/main" noGrp="1"/>
          </p:cNvSpPr>
          <p:nvPr/>
        </p:nvSpPr>
        <p:spPr>
          <a:xfrm xmlns:a="http://schemas.openxmlformats.org/drawingml/2006/main">
            <a:off x="6543904" y="3090672"/>
            <a:ext cx="4715104"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Universal semantic equivalence between agent and program</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Production certification — no canary, no live service, one snapshot domain</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Cross-domain generalization beyond the studied workflow family</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Fewer necessary tool calls — evidence acquisition is untouched</a:t>
            </a:r>
          </a:p>
          <a:p xmlns:a="http://schemas.openxmlformats.org/drawingml/2006/main">
            <a:pPr marL="342900" indent="-342900">
              <a:lnSpc>
                <a:spcPct val="106000"/>
              </a:lnSpc>
              <a:spcAft>
                <a:spcPts val="600"/>
              </a:spcAft>
              <a:buChar char="•"/>
            </a:pPr>
            <a:r>
              <a:rPr sz="1150">
                <a:solidFill>
                  <a:srgbClr val="5C4034"/>
                </a:solidFill>
                <a:latin typeface="Calibri"/>
                <a:ea typeface="Calibri"/>
                <a:cs typeface="Calibri"/>
              </a:rPr>
              <a:t>Deterministic natural-language generation</a:t>
            </a:r>
          </a:p>
        </p:txBody>
      </p:sp>
      <p:sp>
        <p:nvSpPr>
          <p:cNvPr id="18" name="Text 16">
            <a:extLst xmlns:a="http://schemas.openxmlformats.org/drawingml/2006/main">
              <a:ext uri="{FF2B5EF4-FFF2-40B4-BE49-F238E27FC236}">
                <a16:creationId xmlns:a16="http://schemas.microsoft.com/office/drawing/2014/main" id="{046C01BA-216D-49FA-877C-3804D4FDEA4F}"/>
              </a:ext>
            </a:extLst>
          </p:cNvPr>
          <p:cNvSpPr>
            <a:spLocks xmlns:a="http://schemas.openxmlformats.org/drawingml/2006/main" noGrp="1"/>
          </p:cNvSpPr>
          <p:nvPr/>
        </p:nvSpPr>
        <p:spPr>
          <a:xfrm xmlns:a="http://schemas.openxmlformats.org/drawingml/2006/main">
            <a:off x="640080" y="5285232"/>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Shipped over one typed trace IR: guarded region compilation, guarded composite synthesis over admitted read programs, and trace-guided workflow specialization for routing.</a:t>
            </a:r>
          </a:p>
        </p:txBody>
      </p:sp>
    </p:spTree>
    <p:extLst>
      <p:ext uri="{BB962C8B-B14F-4D97-AF65-F5344CB8AC3E}">
        <p14:creationId xmlns:p14="http://schemas.microsoft.com/office/powerpoint/2010/main" val="63810474"/>
      </p:ext>
    </p:extLst>
  </p:cSld>
</p:sld>
</file>

<file path=ppt/slides/slide8.xml><?xml version="1.0" encoding="utf-8"?>
<p:sld xmlns:a="http://schemas.openxmlformats.org/drawingml/2006/main" xmlns:r="http://schemas.openxmlformats.org/officeDocument/2006/relationships" xmlns:p="http://schemas.openxmlformats.org/presentationml/2006/main">
  <p:cSld name="Divider 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Capture offline, compile offline, dispatch at the entry boundary — six independent rejection points, with refusal as the default output.</a:t>
            </a:r>
            <a:endParaRPr lang="en-US" sz="1350" dirty="0"/>
          </a:p>
        </p:txBody>
      </p:sp>
    </p:spTree>
  </p:cSld>
  <p:clrMapOvr>
    <a:masterClrMapping/>
  </p:clrMapOvr>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9560BA-A71B-485F-96AA-5595BB194F9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78D33C4-2CC4-4B1A-870E-4ECFAF6698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50C50895-8D42-4AD5-B1C9-651AA1AB8C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ARCHITECTURE  ·  FIGURE 6</a:t>
            </a:r>
          </a:p>
        </p:txBody>
      </p:sp>
      <p:sp>
        <p:nvSpPr>
          <p:cNvPr id="5" name="Text 3">
            <a:extLst xmlns:a="http://schemas.openxmlformats.org/drawingml/2006/main">
              <a:ext uri="{FF2B5EF4-FFF2-40B4-BE49-F238E27FC236}">
                <a16:creationId xmlns:a16="http://schemas.microsoft.com/office/drawing/2014/main" id="{3A75CA1B-7555-4D12-A5FB-1096566EE7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Capture, compile, dispatch at the boundary</a:t>
            </a:r>
          </a:p>
        </p:txBody>
      </p:sp>
      <p:sp>
        <p:nvSpPr>
          <p:cNvPr id="6" name="Shape 4">
            <a:extLst xmlns:a="http://schemas.openxmlformats.org/drawingml/2006/main">
              <a:ext uri="{FF2B5EF4-FFF2-40B4-BE49-F238E27FC236}">
                <a16:creationId xmlns:a16="http://schemas.microsoft.com/office/drawing/2014/main" id="{F9EDFA8E-3EF2-422D-A3CC-79F751589FCF}"/>
              </a:ext>
            </a:extLst>
          </p:cNvPr>
          <p:cNvSpPr>
            <a:spLocks xmlns:a="http://schemas.openxmlformats.org/drawingml/2006/main" noGrp="1"/>
          </p:cNvSpPr>
          <p:nvPr/>
        </p:nvSpPr>
        <p:spPr>
          <a:xfrm xmlns:a="http://schemas.openxmlformats.org/drawingml/2006/main">
            <a:off x="640080"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F185BE63-37BA-4457-A7FD-2E65E3B92F12}"/>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8BF2C7AE-B2EA-4C52-A5F6-0F5BFB3749EE}"/>
              </a:ext>
            </a:extLst>
          </p:cNvPr>
          <p:cNvSpPr>
            <a:spLocks xmlns:a="http://schemas.openxmlformats.org/drawingml/2006/main" noGrp="1"/>
          </p:cNvSpPr>
          <p:nvPr/>
        </p:nvSpPr>
        <p:spPr>
          <a:xfrm xmlns:a="http://schemas.openxmlformats.org/drawingml/2006/main">
            <a:off x="914400"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8863FA41-2228-49F2-82FA-6C432B00C67C}"/>
              </a:ext>
            </a:extLst>
          </p:cNvPr>
          <p:cNvSpPr>
            <a:spLocks xmlns:a="http://schemas.openxmlformats.org/drawingml/2006/main" noGrp="1"/>
          </p:cNvSpPr>
          <p:nvPr/>
        </p:nvSpPr>
        <p:spPr>
          <a:xfrm xmlns:a="http://schemas.openxmlformats.org/drawingml/2006/main">
            <a:off x="1444752"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DCE1ECAF-B277-4B13-86A7-EC15D2CEB714}"/>
              </a:ext>
            </a:extLst>
          </p:cNvPr>
          <p:cNvSpPr>
            <a:spLocks xmlns:a="http://schemas.openxmlformats.org/drawingml/2006/main" noGrp="1"/>
          </p:cNvSpPr>
          <p:nvPr/>
        </p:nvSpPr>
        <p:spPr>
          <a:xfrm xmlns:a="http://schemas.openxmlformats.org/drawingml/2006/main">
            <a:off x="932688"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Framework traces normalized into one typed Episode IR</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Entry snapshot, content-addressed manifest, ordered events, outcome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Persisted as canonical JSONL with atomic replacement and strict validation</a:t>
            </a:r>
          </a:p>
        </p:txBody>
      </p:sp>
      <p:sp>
        <p:nvSpPr>
          <p:cNvPr id="11" name="Shape 9">
            <a:extLst xmlns:a="http://schemas.openxmlformats.org/drawingml/2006/main">
              <a:ext uri="{FF2B5EF4-FFF2-40B4-BE49-F238E27FC236}">
                <a16:creationId xmlns:a16="http://schemas.microsoft.com/office/drawing/2014/main" id="{24F45FCA-A67C-40C0-A49B-49F974DE4250}"/>
              </a:ext>
            </a:extLst>
          </p:cNvPr>
          <p:cNvSpPr>
            <a:spLocks xmlns:a="http://schemas.openxmlformats.org/drawingml/2006/main" noGrp="1"/>
          </p:cNvSpPr>
          <p:nvPr/>
        </p:nvSpPr>
        <p:spPr>
          <a:xfrm xmlns:a="http://schemas.openxmlformats.org/drawingml/2006/main">
            <a:off x="4094378"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11105A26-031A-4474-85FA-55D06B20A53D}"/>
              </a:ext>
            </a:extLst>
          </p:cNvPr>
          <p:cNvSpPr>
            <a:spLocks xmlns:a="http://schemas.openxmlformats.org/drawingml/2006/main" noGrp="1"/>
          </p:cNvSpPr>
          <p:nvPr/>
        </p:nvSpPr>
        <p:spPr>
          <a:xfrm xmlns:a="http://schemas.openxmlformats.org/drawingml/2006/main">
            <a:off x="4405274"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D824D06B-01AE-419C-88BD-193C825A39F3}"/>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41EDAD91-95E1-4340-9398-7FD64873D88A}"/>
              </a:ext>
            </a:extLst>
          </p:cNvPr>
          <p:cNvSpPr>
            <a:spLocks xmlns:a="http://schemas.openxmlformats.org/drawingml/2006/main" noGrp="1"/>
          </p:cNvSpPr>
          <p:nvPr/>
        </p:nvSpPr>
        <p:spPr>
          <a:xfrm xmlns:a="http://schemas.openxmlformats.org/drawingml/2006/main">
            <a:off x="4679594"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5" name="Text 13">
            <a:extLst xmlns:a="http://schemas.openxmlformats.org/drawingml/2006/main">
              <a:ext uri="{FF2B5EF4-FFF2-40B4-BE49-F238E27FC236}">
                <a16:creationId xmlns:a16="http://schemas.microsoft.com/office/drawing/2014/main" id="{54BBC272-8332-4EA8-848C-F9EEB2BAAC0B}"/>
              </a:ext>
            </a:extLst>
          </p:cNvPr>
          <p:cNvSpPr>
            <a:spLocks xmlns:a="http://schemas.openxmlformats.org/drawingml/2006/main" noGrp="1"/>
          </p:cNvSpPr>
          <p:nvPr/>
        </p:nvSpPr>
        <p:spPr>
          <a:xfrm xmlns:a="http://schemas.openxmlformats.org/drawingml/2006/main">
            <a:off x="5209946"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Offline compilation</a:t>
            </a:r>
          </a:p>
        </p:txBody>
      </p:sp>
      <p:sp>
        <p:nvSpPr>
          <p:cNvPr id="16" name="Text 14">
            <a:extLst xmlns:a="http://schemas.openxmlformats.org/drawingml/2006/main">
              <a:ext uri="{FF2B5EF4-FFF2-40B4-BE49-F238E27FC236}">
                <a16:creationId xmlns:a16="http://schemas.microsoft.com/office/drawing/2014/main" id="{3B49FD57-76B8-40ED-9376-845B8B2861CD}"/>
              </a:ext>
            </a:extLst>
          </p:cNvPr>
          <p:cNvSpPr>
            <a:spLocks xmlns:a="http://schemas.openxmlformats.org/drawingml/2006/main" noGrp="1"/>
          </p:cNvSpPr>
          <p:nvPr/>
        </p:nvSpPr>
        <p:spPr>
          <a:xfrm xmlns:a="http://schemas.openxmlformats.org/drawingml/2006/main">
            <a:off x="4697882"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Touches no production traffic</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Six independent rejection points; any barrier hit returns Retire</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Emits an artifact only if the exact calibration bound clears the risk budget</a:t>
            </a:r>
          </a:p>
        </p:txBody>
      </p:sp>
      <p:sp>
        <p:nvSpPr>
          <p:cNvPr id="17" name="Shape 15">
            <a:extLst xmlns:a="http://schemas.openxmlformats.org/drawingml/2006/main">
              <a:ext uri="{FF2B5EF4-FFF2-40B4-BE49-F238E27FC236}">
                <a16:creationId xmlns:a16="http://schemas.microsoft.com/office/drawing/2014/main" id="{F83AC3DC-AF6F-427A-9137-FAC69C3D1D5F}"/>
              </a:ext>
            </a:extLst>
          </p:cNvPr>
          <p:cNvSpPr>
            <a:spLocks xmlns:a="http://schemas.openxmlformats.org/drawingml/2006/main" noGrp="1"/>
          </p:cNvSpPr>
          <p:nvPr/>
        </p:nvSpPr>
        <p:spPr>
          <a:xfrm xmlns:a="http://schemas.openxmlformats.org/drawingml/2006/main">
            <a:off x="7859573" y="2587752"/>
            <a:ext cx="237744" cy="402336"/>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BA74D2B3-97C2-4F2B-88E3-063BF86E6064}"/>
              </a:ext>
            </a:extLst>
          </p:cNvPr>
          <p:cNvSpPr>
            <a:spLocks xmlns:a="http://schemas.openxmlformats.org/drawingml/2006/main" noGrp="1"/>
          </p:cNvSpPr>
          <p:nvPr/>
        </p:nvSpPr>
        <p:spPr>
          <a:xfrm xmlns:a="http://schemas.openxmlformats.org/drawingml/2006/main">
            <a:off x="8170469" y="1426464"/>
            <a:ext cx="3381146" cy="2724912"/>
          </a:xfrm>
          <a:prstGeom xmlns:a="http://schemas.openxmlformats.org/drawingml/2006/main" prst="roundRect">
            <a:avLst>
              <a:gd name="adj" fmla="val 167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2EC30F02-BA5C-4D1C-8848-4FC595604E0B}"/>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668AA64E-9D9B-4F18-88B6-7594A00BC8EF}"/>
              </a:ext>
            </a:extLst>
          </p:cNvPr>
          <p:cNvSpPr>
            <a:spLocks xmlns:a="http://schemas.openxmlformats.org/drawingml/2006/main" noGrp="1"/>
          </p:cNvSpPr>
          <p:nvPr/>
        </p:nvSpPr>
        <p:spPr>
          <a:xfrm xmlns:a="http://schemas.openxmlformats.org/drawingml/2006/main">
            <a:off x="8444789" y="1664208"/>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21" name="Text 19">
            <a:extLst xmlns:a="http://schemas.openxmlformats.org/drawingml/2006/main">
              <a:ext uri="{FF2B5EF4-FFF2-40B4-BE49-F238E27FC236}">
                <a16:creationId xmlns:a16="http://schemas.microsoft.com/office/drawing/2014/main" id="{B96E0FDD-555C-44CA-A5C4-DFD58BAF1565}"/>
              </a:ext>
            </a:extLst>
          </p:cNvPr>
          <p:cNvSpPr>
            <a:spLocks xmlns:a="http://schemas.openxmlformats.org/drawingml/2006/main" noGrp="1"/>
          </p:cNvSpPr>
          <p:nvPr/>
        </p:nvSpPr>
        <p:spPr>
          <a:xfrm xmlns:a="http://schemas.openxmlformats.org/drawingml/2006/main">
            <a:off x="8975141" y="1664208"/>
            <a:ext cx="22838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Runtime</a:t>
            </a:r>
          </a:p>
        </p:txBody>
      </p:sp>
      <p:sp>
        <p:nvSpPr>
          <p:cNvPr id="22" name="Text 20">
            <a:extLst xmlns:a="http://schemas.openxmlformats.org/drawingml/2006/main">
              <a:ext uri="{FF2B5EF4-FFF2-40B4-BE49-F238E27FC236}">
                <a16:creationId xmlns:a16="http://schemas.microsoft.com/office/drawing/2014/main" id="{E2E8EB78-7FA9-4D78-B29D-0DC9010CB7A7}"/>
              </a:ext>
            </a:extLst>
          </p:cNvPr>
          <p:cNvSpPr>
            <a:spLocks xmlns:a="http://schemas.openxmlformats.org/drawingml/2006/main" noGrp="1"/>
          </p:cNvSpPr>
          <p:nvPr/>
        </p:nvSpPr>
        <p:spPr>
          <a:xfrm xmlns:a="http://schemas.openxmlformats.org/drawingml/2006/main">
            <a:off x="8463077" y="2286000"/>
            <a:ext cx="279593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Bounded lookup by compatibility and partition</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Ordinary GRC: guard → gate → stage → interpret → verify → commit</a:t>
            </a:r>
          </a:p>
          <a:p xmlns:a="http://schemas.openxmlformats.org/drawingml/2006/main">
            <a:pPr marL="342900" indent="-342900">
              <a:lnSpc>
                <a:spcPct val="106000"/>
              </a:lnSpc>
              <a:spcAft>
                <a:spcPts val="800"/>
              </a:spcAft>
              <a:buChar char="•"/>
            </a:pPr>
            <a:r>
              <a:rPr sz="1150">
                <a:solidFill>
                  <a:srgbClr val="24354F"/>
                </a:solidFill>
                <a:latin typeface="Calibri"/>
                <a:ea typeface="Calibri"/>
                <a:cs typeface="Calibri"/>
              </a:rPr>
              <a:t>Eligible GCS: verify and project before provider request one</a:t>
            </a:r>
          </a:p>
        </p:txBody>
      </p:sp>
      <p:sp>
        <p:nvSpPr>
          <p:cNvPr id="23" name="Shape 21">
            <a:extLst xmlns:a="http://schemas.openxmlformats.org/drawingml/2006/main">
              <a:ext uri="{FF2B5EF4-FFF2-40B4-BE49-F238E27FC236}">
                <a16:creationId xmlns:a16="http://schemas.microsoft.com/office/drawing/2014/main" id="{C534B174-3F71-47B0-B911-73ADD937E586}"/>
              </a:ext>
            </a:extLst>
          </p:cNvPr>
          <p:cNvSpPr>
            <a:spLocks xmlns:a="http://schemas.openxmlformats.org/drawingml/2006/main" noGrp="1"/>
          </p:cNvSpPr>
          <p:nvPr/>
        </p:nvSpPr>
        <p:spPr>
          <a:xfrm xmlns:a="http://schemas.openxmlformats.org/drawingml/2006/main">
            <a:off x="640080" y="4443984"/>
            <a:ext cx="10911535" cy="1024128"/>
          </a:xfrm>
          <a:prstGeom xmlns:a="http://schemas.openxmlformats.org/drawingml/2006/main" prst="roundRect">
            <a:avLst>
              <a:gd name="adj" fmla="val 4464"/>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02EBB907-A2AF-4E0D-8ECD-3185FA5489AE}"/>
              </a:ext>
            </a:extLst>
          </p:cNvPr>
          <p:cNvSpPr>
            <a:spLocks xmlns:a="http://schemas.openxmlformats.org/drawingml/2006/main" noGrp="1"/>
          </p:cNvSpPr>
          <p:nvPr/>
        </p:nvSpPr>
        <p:spPr>
          <a:xfrm xmlns:a="http://schemas.openxmlformats.org/drawingml/2006/main">
            <a:off x="914400" y="4590288"/>
            <a:ext cx="1036289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HARD BARRIERS — NO STATISTICAL EVIDENCE CAN LICENSE AN ARTIFACT</a:t>
            </a:r>
          </a:p>
        </p:txBody>
      </p:sp>
      <p:sp>
        <p:nvSpPr>
          <p:cNvPr id="25" name="Text 23">
            <a:extLst xmlns:a="http://schemas.openxmlformats.org/drawingml/2006/main">
              <a:ext uri="{FF2B5EF4-FFF2-40B4-BE49-F238E27FC236}">
                <a16:creationId xmlns:a16="http://schemas.microsoft.com/office/drawing/2014/main" id="{C5A0E429-E3B8-40A1-B1D4-A1FA090F3099}"/>
              </a:ext>
            </a:extLst>
          </p:cNvPr>
          <p:cNvSpPr>
            <a:spLocks xmlns:a="http://schemas.openxmlformats.org/drawingml/2006/main" noGrp="1"/>
          </p:cNvSpPr>
          <p:nvPr/>
        </p:nvSpPr>
        <p:spPr>
          <a:xfrm xmlns:a="http://schemas.openxmlformats.org/drawingml/2006/main">
            <a:off x="914400" y="4882896"/>
            <a:ext cx="1036289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250">
                <a:solidFill>
                  <a:srgbClr val="5C4034"/>
                </a:solidFill>
                <a:latin typeface="Calibri"/>
                <a:ea typeface="Calibri"/>
                <a:cs typeface="Calibri"/>
              </a:rPr>
              <a:t>unknown or irreversible effect  ·  approval  ·  handoff  ·  ungrounded or ambiguous argument  ·  manifest or isolation mismatch  ·  non-prefix runtime position</a:t>
            </a:r>
          </a:p>
        </p:txBody>
      </p:sp>
      <p:sp>
        <p:nvSpPr>
          <p:cNvPr id="26" name="Text 24">
            <a:extLst xmlns:a="http://schemas.openxmlformats.org/drawingml/2006/main">
              <a:ext uri="{FF2B5EF4-FFF2-40B4-BE49-F238E27FC236}">
                <a16:creationId xmlns:a16="http://schemas.microsoft.com/office/drawing/2014/main" id="{27D17A88-538D-4396-9B4F-2FCC0219E2A1}"/>
              </a:ext>
            </a:extLst>
          </p:cNvPr>
          <p:cNvSpPr>
            <a:spLocks xmlns:a="http://schemas.openxmlformats.org/drawingml/2006/main" noGrp="1"/>
          </p:cNvSpPr>
          <p:nvPr/>
        </p:nvSpPr>
        <p:spPr>
          <a:xfrm xmlns:a="http://schemas.openxmlformats.org/drawingml/2006/main">
            <a:off x="640080" y="566928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5A6B84"/>
                </a:solidFill>
                <a:latin typeface="Calibri"/>
                <a:ea typeface="Calibri"/>
                <a:cs typeface="Calibri"/>
              </a:rPr>
              <a:t>The asymmetry is deliberate: statistics can only narrow what a structurally admissible artifact may do. They can never widen it.</a:t>
            </a:r>
          </a:p>
        </p:txBody>
      </p:sp>
    </p:spTree>
    <p:extLst>
      <p:ext uri="{BB962C8B-B14F-4D97-AF65-F5344CB8AC3E}">
        <p14:creationId xmlns:p14="http://schemas.microsoft.com/office/powerpoint/2010/main" val="164158483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D463343-8411-454C-881F-37DBCF64BC3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65682CA-2F23-4FBB-A036-74127A7A92A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74F57113-9DBC-4AB2-8DF0-3C4E1B43B28B}"/>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690E60D8-38F7-4991-9F53-8C844F0602D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Refusal is the default output</a:t>
            </a:r>
          </a:p>
        </p:txBody>
      </p:sp>
      <p:sp>
        <p:nvSpPr>
          <p:cNvPr id="6" name="Shape 4">
            <a:extLst xmlns:a="http://schemas.openxmlformats.org/drawingml/2006/main">
              <a:ext uri="{FF2B5EF4-FFF2-40B4-BE49-F238E27FC236}">
                <a16:creationId xmlns:a16="http://schemas.microsoft.com/office/drawing/2014/main" id="{A284CB2C-E49F-43FD-A7BB-32CA0437183B}"/>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E1B63E11-FB0B-43EC-AD0D-C20FD7DFE7B0}"/>
              </a:ext>
            </a:extLst>
          </p:cNvPr>
          <p:cNvSpPr>
            <a:spLocks xmlns:a="http://schemas.openxmlformats.org/drawingml/2006/main" noGrp="1"/>
          </p:cNvSpPr>
          <p:nvPr/>
        </p:nvSpPr>
        <p:spPr>
          <a:xfrm xmlns:a="http://schemas.openxmlformats.org/drawingml/2006/main">
            <a:off x="640080"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8" name="Text 6">
            <a:extLst xmlns:a="http://schemas.openxmlformats.org/drawingml/2006/main">
              <a:ext uri="{FF2B5EF4-FFF2-40B4-BE49-F238E27FC236}">
                <a16:creationId xmlns:a16="http://schemas.microsoft.com/office/drawing/2014/main" id="{FB3DDE34-0025-42AF-B7E5-D27964B04360}"/>
              </a:ext>
            </a:extLst>
          </p:cNvPr>
          <p:cNvSpPr>
            <a:spLocks xmlns:a="http://schemas.openxmlformats.org/drawingml/2006/main" noGrp="1"/>
          </p:cNvSpPr>
          <p:nvPr/>
        </p:nvSpPr>
        <p:spPr>
          <a:xfrm xmlns:a="http://schemas.openxmlformats.org/drawingml/2006/main">
            <a:off x="1225296"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Qualify &amp; partition</a:t>
            </a:r>
          </a:p>
        </p:txBody>
      </p:sp>
      <p:sp>
        <p:nvSpPr>
          <p:cNvPr id="9" name="Text 7">
            <a:extLst xmlns:a="http://schemas.openxmlformats.org/drawingml/2006/main">
              <a:ext uri="{FF2B5EF4-FFF2-40B4-BE49-F238E27FC236}">
                <a16:creationId xmlns:a16="http://schemas.microsoft.com/office/drawing/2014/main" id="{61EC3B28-7F4E-4424-A04D-365CBA800AF1}"/>
              </a:ext>
            </a:extLst>
          </p:cNvPr>
          <p:cNvSpPr>
            <a:spLocks xmlns:a="http://schemas.openxmlformats.org/drawingml/2006/main" noGrp="1"/>
          </p:cNvSpPr>
          <p:nvPr/>
        </p:nvSpPr>
        <p:spPr>
          <a:xfrm xmlns:a="http://schemas.openxmlformats.org/drawingml/2006/main">
            <a:off x="1225296"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Drop partial runs, unpinned manifests, missing payloads. Partition by manifest, principal, isolation.</a:t>
            </a:r>
          </a:p>
        </p:txBody>
      </p:sp>
      <p:sp>
        <p:nvSpPr>
          <p:cNvPr id="10" name="Shape 8">
            <a:extLst xmlns:a="http://schemas.openxmlformats.org/drawingml/2006/main">
              <a:ext uri="{FF2B5EF4-FFF2-40B4-BE49-F238E27FC236}">
                <a16:creationId xmlns:a16="http://schemas.microsoft.com/office/drawing/2014/main" id="{E65B62C0-31CA-470B-BA12-D0794BC5EC10}"/>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03BC0861-BE17-4D1C-91D1-E2E6251A81A4}"/>
              </a:ext>
            </a:extLst>
          </p:cNvPr>
          <p:cNvSpPr>
            <a:spLocks xmlns:a="http://schemas.openxmlformats.org/drawingml/2006/main" noGrp="1"/>
          </p:cNvSpPr>
          <p:nvPr/>
        </p:nvSpPr>
        <p:spPr>
          <a:xfrm xmlns:a="http://schemas.openxmlformats.org/drawingml/2006/main">
            <a:off x="6251296" y="1481328"/>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2" name="Text 10">
            <a:extLst xmlns:a="http://schemas.openxmlformats.org/drawingml/2006/main">
              <a:ext uri="{FF2B5EF4-FFF2-40B4-BE49-F238E27FC236}">
                <a16:creationId xmlns:a16="http://schemas.microsoft.com/office/drawing/2014/main" id="{4BC03B7C-C34F-4402-9E2D-9FE7DE72269F}"/>
              </a:ext>
            </a:extLst>
          </p:cNvPr>
          <p:cNvSpPr>
            <a:spLocks xmlns:a="http://schemas.openxmlformats.org/drawingml/2006/main" noGrp="1"/>
          </p:cNvSpPr>
          <p:nvPr/>
        </p:nvSpPr>
        <p:spPr>
          <a:xfrm xmlns:a="http://schemas.openxmlformats.org/drawingml/2006/main">
            <a:off x="6836512" y="1426464"/>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Typed provenance</a:t>
            </a:r>
          </a:p>
        </p:txBody>
      </p:sp>
      <p:sp>
        <p:nvSpPr>
          <p:cNvPr id="13" name="Text 11">
            <a:extLst xmlns:a="http://schemas.openxmlformats.org/drawingml/2006/main">
              <a:ext uri="{FF2B5EF4-FFF2-40B4-BE49-F238E27FC236}">
                <a16:creationId xmlns:a16="http://schemas.microsoft.com/office/drawing/2014/main" id="{6D68B0C7-47D9-4D12-9F5B-32FB79657946}"/>
              </a:ext>
            </a:extLst>
          </p:cNvPr>
          <p:cNvSpPr>
            <a:spLocks xmlns:a="http://schemas.openxmlformats.org/drawingml/2006/main" noGrp="1"/>
          </p:cNvSpPr>
          <p:nvPr/>
        </p:nvSpPr>
        <p:spPr>
          <a:xfrm xmlns:a="http://schemas.openxmlformats.org/drawingml/2006/main">
            <a:off x="6836512" y="1737360"/>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Build the program-argument trace graph. No witness or too many witnesses blocks the region.</a:t>
            </a:r>
          </a:p>
        </p:txBody>
      </p:sp>
      <p:sp>
        <p:nvSpPr>
          <p:cNvPr id="14" name="Shape 12">
            <a:extLst xmlns:a="http://schemas.openxmlformats.org/drawingml/2006/main">
              <a:ext uri="{FF2B5EF4-FFF2-40B4-BE49-F238E27FC236}">
                <a16:creationId xmlns:a16="http://schemas.microsoft.com/office/drawing/2014/main" id="{91749DFB-5AFC-449C-BC8E-5E2DCECB7C77}"/>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9E9AA917-353D-4595-BC19-ABB5DCA99D01}"/>
              </a:ext>
            </a:extLst>
          </p:cNvPr>
          <p:cNvSpPr>
            <a:spLocks xmlns:a="http://schemas.openxmlformats.org/drawingml/2006/main" noGrp="1"/>
          </p:cNvSpPr>
          <p:nvPr/>
        </p:nvSpPr>
        <p:spPr>
          <a:xfrm xmlns:a="http://schemas.openxmlformats.org/drawingml/2006/main">
            <a:off x="640080"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6" name="Text 14">
            <a:extLst xmlns:a="http://schemas.openxmlformats.org/drawingml/2006/main">
              <a:ext uri="{FF2B5EF4-FFF2-40B4-BE49-F238E27FC236}">
                <a16:creationId xmlns:a16="http://schemas.microsoft.com/office/drawing/2014/main" id="{1C22343C-D2D2-4BF5-A15F-7701FD7DA7C8}"/>
              </a:ext>
            </a:extLst>
          </p:cNvPr>
          <p:cNvSpPr>
            <a:spLocks xmlns:a="http://schemas.openxmlformats.org/drawingml/2006/main" noGrp="1"/>
          </p:cNvSpPr>
          <p:nvPr/>
        </p:nvSpPr>
        <p:spPr>
          <a:xfrm xmlns:a="http://schemas.openxmlformats.org/drawingml/2006/main">
            <a:off x="1225296"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Feasibility ceiling</a:t>
            </a:r>
          </a:p>
        </p:txBody>
      </p:sp>
      <p:sp>
        <p:nvSpPr>
          <p:cNvPr id="17" name="Text 15">
            <a:extLst xmlns:a="http://schemas.openxmlformats.org/drawingml/2006/main">
              <a:ext uri="{FF2B5EF4-FFF2-40B4-BE49-F238E27FC236}">
                <a16:creationId xmlns:a16="http://schemas.microsoft.com/office/drawing/2014/main" id="{6B0B8D03-C1A4-4235-A884-68ADC9C1FA30}"/>
              </a:ext>
            </a:extLst>
          </p:cNvPr>
          <p:cNvSpPr>
            <a:spLocks xmlns:a="http://schemas.openxmlformats.org/drawingml/2006/main" noGrp="1"/>
          </p:cNvSpPr>
          <p:nvPr/>
        </p:nvSpPr>
        <p:spPr>
          <a:xfrm xmlns:a="http://schemas.openxmlformats.org/drawingml/2006/main">
            <a:off x="1225296"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Compute the best achievable saving before paying for synthesis. Below target → decline.</a:t>
            </a:r>
          </a:p>
        </p:txBody>
      </p:sp>
      <p:sp>
        <p:nvSpPr>
          <p:cNvPr id="18" name="Shape 16">
            <a:extLst xmlns:a="http://schemas.openxmlformats.org/drawingml/2006/main">
              <a:ext uri="{FF2B5EF4-FFF2-40B4-BE49-F238E27FC236}">
                <a16:creationId xmlns:a16="http://schemas.microsoft.com/office/drawing/2014/main" id="{3A5C0387-8DA9-40BD-AB04-D7682AAEC534}"/>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7BA02E3-3E29-470B-BB16-0A6B357818EA}"/>
              </a:ext>
            </a:extLst>
          </p:cNvPr>
          <p:cNvSpPr>
            <a:spLocks xmlns:a="http://schemas.openxmlformats.org/drawingml/2006/main" noGrp="1"/>
          </p:cNvSpPr>
          <p:nvPr/>
        </p:nvSpPr>
        <p:spPr>
          <a:xfrm xmlns:a="http://schemas.openxmlformats.org/drawingml/2006/main">
            <a:off x="6251296" y="2560320"/>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0" name="Text 18">
            <a:extLst xmlns:a="http://schemas.openxmlformats.org/drawingml/2006/main">
              <a:ext uri="{FF2B5EF4-FFF2-40B4-BE49-F238E27FC236}">
                <a16:creationId xmlns:a16="http://schemas.microsoft.com/office/drawing/2014/main" id="{FAA24A45-D4F0-43BE-99A6-0DE4787CBEDC}"/>
              </a:ext>
            </a:extLst>
          </p:cNvPr>
          <p:cNvSpPr>
            <a:spLocks xmlns:a="http://schemas.openxmlformats.org/drawingml/2006/main" noGrp="1"/>
          </p:cNvSpPr>
          <p:nvPr/>
        </p:nvSpPr>
        <p:spPr>
          <a:xfrm xmlns:a="http://schemas.openxmlformats.org/drawingml/2006/main">
            <a:off x="6836512" y="2505456"/>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Bounded synthesis</a:t>
            </a:r>
          </a:p>
        </p:txBody>
      </p:sp>
      <p:sp>
        <p:nvSpPr>
          <p:cNvPr id="21" name="Text 19">
            <a:extLst xmlns:a="http://schemas.openxmlformats.org/drawingml/2006/main">
              <a:ext uri="{FF2B5EF4-FFF2-40B4-BE49-F238E27FC236}">
                <a16:creationId xmlns:a16="http://schemas.microsoft.com/office/drawing/2014/main" id="{24DEE01D-5C74-46A4-BAA5-120A95F8F2E6}"/>
              </a:ext>
            </a:extLst>
          </p:cNvPr>
          <p:cNvSpPr>
            <a:spLocks xmlns:a="http://schemas.openxmlformats.org/drawingml/2006/main" noGrp="1"/>
          </p:cNvSpPr>
          <p:nvPr/>
        </p:nvSpPr>
        <p:spPr>
          <a:xfrm xmlns:a="http://schemas.openxmlformats.org/drawingml/2006/main">
            <a:off x="6836512" y="2816352"/>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Search a 23-operator closed library at depth ≤ 2, refit group-wise. Ungroundable slot → skip.</a:t>
            </a:r>
          </a:p>
        </p:txBody>
      </p:sp>
      <p:sp>
        <p:nvSpPr>
          <p:cNvPr id="22" name="Shape 20">
            <a:extLst xmlns:a="http://schemas.openxmlformats.org/drawingml/2006/main">
              <a:ext uri="{FF2B5EF4-FFF2-40B4-BE49-F238E27FC236}">
                <a16:creationId xmlns:a16="http://schemas.microsoft.com/office/drawing/2014/main" id="{CE268CF3-F9CA-41A2-B249-47A228FEF71C}"/>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0508C35F-4E93-47AA-8594-309C856230A9}"/>
              </a:ext>
            </a:extLst>
          </p:cNvPr>
          <p:cNvSpPr>
            <a:spLocks xmlns:a="http://schemas.openxmlformats.org/drawingml/2006/main" noGrp="1"/>
          </p:cNvSpPr>
          <p:nvPr/>
        </p:nvSpPr>
        <p:spPr>
          <a:xfrm xmlns:a="http://schemas.openxmlformats.org/drawingml/2006/main">
            <a:off x="640080"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5</a:t>
            </a:r>
          </a:p>
        </p:txBody>
      </p:sp>
      <p:sp>
        <p:nvSpPr>
          <p:cNvPr id="24" name="Text 22">
            <a:extLst xmlns:a="http://schemas.openxmlformats.org/drawingml/2006/main">
              <a:ext uri="{FF2B5EF4-FFF2-40B4-BE49-F238E27FC236}">
                <a16:creationId xmlns:a16="http://schemas.microsoft.com/office/drawing/2014/main" id="{593B583A-1C0C-45AA-B782-EAEDE7FB8926}"/>
              </a:ext>
            </a:extLst>
          </p:cNvPr>
          <p:cNvSpPr>
            <a:spLocks xmlns:a="http://schemas.openxmlformats.org/drawingml/2006/main" noGrp="1"/>
          </p:cNvSpPr>
          <p:nvPr/>
        </p:nvSpPr>
        <p:spPr>
          <a:xfrm xmlns:a="http://schemas.openxmlformats.org/drawingml/2006/main">
            <a:off x="1225296"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Contracts &amp; challenge</a:t>
            </a:r>
          </a:p>
        </p:txBody>
      </p:sp>
      <p:sp>
        <p:nvSpPr>
          <p:cNvPr id="25" name="Text 23">
            <a:extLst xmlns:a="http://schemas.openxmlformats.org/drawingml/2006/main">
              <a:ext uri="{FF2B5EF4-FFF2-40B4-BE49-F238E27FC236}">
                <a16:creationId xmlns:a16="http://schemas.microsoft.com/office/drawing/2014/main" id="{7A81CA33-AA66-41F9-90A4-BE3F9E52DE34}"/>
              </a:ext>
            </a:extLst>
          </p:cNvPr>
          <p:cNvSpPr>
            <a:spLocks xmlns:a="http://schemas.openxmlformats.org/drawingml/2006/main" noGrp="1"/>
          </p:cNvSpPr>
          <p:nvPr/>
        </p:nvSpPr>
        <p:spPr>
          <a:xfrm xmlns:a="http://schemas.openxmlformats.org/drawingml/2006/main">
            <a:off x="1225296"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Induce hard guard and verifier; replay, and perturb where a sandbox exists. A counterexample retires the family.</a:t>
            </a:r>
          </a:p>
        </p:txBody>
      </p:sp>
      <p:sp>
        <p:nvSpPr>
          <p:cNvPr id="26" name="Shape 24">
            <a:extLst xmlns:a="http://schemas.openxmlformats.org/drawingml/2006/main">
              <a:ext uri="{FF2B5EF4-FFF2-40B4-BE49-F238E27FC236}">
                <a16:creationId xmlns:a16="http://schemas.microsoft.com/office/drawing/2014/main" id="{AF5BBFBA-14AC-44E6-AC88-93086E626617}"/>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24AEFE36-090A-4D12-BD3A-1DF32BD6943E}"/>
              </a:ext>
            </a:extLst>
          </p:cNvPr>
          <p:cNvSpPr>
            <a:spLocks xmlns:a="http://schemas.openxmlformats.org/drawingml/2006/main" noGrp="1"/>
          </p:cNvSpPr>
          <p:nvPr/>
        </p:nvSpPr>
        <p:spPr>
          <a:xfrm xmlns:a="http://schemas.openxmlformats.org/drawingml/2006/main">
            <a:off x="6251296" y="3639312"/>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6</a:t>
            </a:r>
          </a:p>
        </p:txBody>
      </p:sp>
      <p:sp>
        <p:nvSpPr>
          <p:cNvPr id="28" name="Text 26">
            <a:extLst xmlns:a="http://schemas.openxmlformats.org/drawingml/2006/main">
              <a:ext uri="{FF2B5EF4-FFF2-40B4-BE49-F238E27FC236}">
                <a16:creationId xmlns:a16="http://schemas.microsoft.com/office/drawing/2014/main" id="{251D1C10-5275-4ED7-B5FE-E666E2D7FD7C}"/>
              </a:ext>
            </a:extLst>
          </p:cNvPr>
          <p:cNvSpPr>
            <a:spLocks xmlns:a="http://schemas.openxmlformats.org/drawingml/2006/main" noGrp="1"/>
          </p:cNvSpPr>
          <p:nvPr/>
        </p:nvSpPr>
        <p:spPr>
          <a:xfrm xmlns:a="http://schemas.openxmlformats.org/drawingml/2006/main">
            <a:off x="6836512" y="3584448"/>
            <a:ext cx="4715104"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Exact calibration</a:t>
            </a:r>
          </a:p>
        </p:txBody>
      </p:sp>
      <p:sp>
        <p:nvSpPr>
          <p:cNvPr id="29" name="Text 27">
            <a:extLst xmlns:a="http://schemas.openxmlformats.org/drawingml/2006/main">
              <a:ext uri="{FF2B5EF4-FFF2-40B4-BE49-F238E27FC236}">
                <a16:creationId xmlns:a16="http://schemas.microsoft.com/office/drawing/2014/main" id="{7DCD6411-970F-4F8F-941B-4807EC2962F6}"/>
              </a:ext>
            </a:extLst>
          </p:cNvPr>
          <p:cNvSpPr>
            <a:spLocks xmlns:a="http://schemas.openxmlformats.org/drawingml/2006/main" noGrp="1"/>
          </p:cNvSpPr>
          <p:nvPr/>
        </p:nvSpPr>
        <p:spPr>
          <a:xfrm xmlns:a="http://schemas.openxmlformats.org/drawingml/2006/main">
            <a:off x="6836512" y="3895344"/>
            <a:ext cx="4660240" cy="62179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One-sided Clopper–Pearson over a pre-frozen threshold grid. No admissible threshold → retire.</a:t>
            </a:r>
          </a:p>
        </p:txBody>
      </p:sp>
      <p:sp>
        <p:nvSpPr>
          <p:cNvPr id="30" name="Shape 28">
            <a:extLst xmlns:a="http://schemas.openxmlformats.org/drawingml/2006/main">
              <a:ext uri="{FF2B5EF4-FFF2-40B4-BE49-F238E27FC236}">
                <a16:creationId xmlns:a16="http://schemas.microsoft.com/office/drawing/2014/main" id="{46B92ED8-94D9-440E-A770-1867C0C5347A}"/>
              </a:ext>
            </a:extLst>
          </p:cNvPr>
          <p:cNvSpPr>
            <a:spLocks xmlns:a="http://schemas.openxmlformats.org/drawingml/2006/main" noGrp="1"/>
          </p:cNvSpPr>
          <p:nvPr/>
        </p:nvSpPr>
        <p:spPr>
          <a:xfrm xmlns:a="http://schemas.openxmlformats.org/drawingml/2006/main">
            <a:off x="640080" y="4892040"/>
            <a:ext cx="10911535" cy="896112"/>
          </a:xfrm>
          <a:prstGeom xmlns:a="http://schemas.openxmlformats.org/drawingml/2006/main" prst="roundRect">
            <a:avLst>
              <a:gd name="adj" fmla="val 5102"/>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11B4BE62-E326-4F83-96E4-121788BD6FA1}"/>
              </a:ext>
            </a:extLst>
          </p:cNvPr>
          <p:cNvSpPr>
            <a:spLocks xmlns:a="http://schemas.openxmlformats.org/drawingml/2006/main" noGrp="1"/>
          </p:cNvSpPr>
          <p:nvPr/>
        </p:nvSpPr>
        <p:spPr>
          <a:xfrm xmlns:a="http://schemas.openxmlformats.org/drawingml/2006/main">
            <a:off x="914400" y="5029200"/>
            <a:ext cx="103628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300" b="1">
                <a:solidFill>
                  <a:srgbClr val="0E1E3A"/>
                </a:solidFill>
                <a:latin typeface="Calibri"/>
                <a:ea typeface="Calibri"/>
                <a:cs typeface="Calibri"/>
              </a:rPr>
              <a:t>Every rejection is recorded with its stage. The compiler still emits or retires; only after admission may GCS package a batchable read program behind a bounded projection.</a:t>
            </a:r>
          </a:p>
        </p:txBody>
      </p:sp>
    </p:spTree>
    <p:extLst>
      <p:ext uri="{BB962C8B-B14F-4D97-AF65-F5344CB8AC3E}">
        <p14:creationId xmlns:p14="http://schemas.microsoft.com/office/powerpoint/2010/main" val="1875434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2F69D1-D13E-4969-9D85-4CCACAA1B1A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7E3BECA-CECB-4386-895B-F625DAFE489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809693A6-0706-4A89-AF2A-F3D2751466F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2  ·  ALGORITHM 2 (BUILDPATG)</a:t>
            </a:r>
          </a:p>
        </p:txBody>
      </p:sp>
      <p:sp>
        <p:nvSpPr>
          <p:cNvPr id="5" name="Text 3">
            <a:extLst xmlns:a="http://schemas.openxmlformats.org/drawingml/2006/main">
              <a:ext uri="{FF2B5EF4-FFF2-40B4-BE49-F238E27FC236}">
                <a16:creationId xmlns:a16="http://schemas.microsoft.com/office/drawing/2014/main" id="{2B64F34A-B254-49BD-A4CD-A5D3E314330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No witness means a real model decision</a:t>
            </a:r>
          </a:p>
        </p:txBody>
      </p:sp>
      <p:sp>
        <p:nvSpPr>
          <p:cNvPr id="6" name="Text 4">
            <a:extLst xmlns:a="http://schemas.openxmlformats.org/drawingml/2006/main">
              <a:ext uri="{FF2B5EF4-FFF2-40B4-BE49-F238E27FC236}">
                <a16:creationId xmlns:a16="http://schemas.microsoft.com/office/drawing/2014/main" id="{248173A6-B479-4FF4-8B29-C5C345A64A93}"/>
              </a:ext>
            </a:extLst>
          </p:cNvPr>
          <p:cNvSpPr>
            <a:spLocks xmlns:a="http://schemas.openxmlformats.org/drawingml/2006/main" noGrp="1"/>
          </p:cNvSpPr>
          <p:nvPr/>
        </p:nvSpPr>
        <p:spPr>
          <a:xfrm xmlns:a="http://schemas.openxmlformats.org/drawingml/2006/main">
            <a:off x="640080" y="1389888"/>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library transformations become candidate producer edges.</a:t>
            </a:r>
          </a:p>
        </p:txBody>
      </p:sp>
      <p:sp>
        <p:nvSpPr>
          <p:cNvPr id="7" name="Shape 5">
            <a:extLst xmlns:a="http://schemas.openxmlformats.org/drawingml/2006/main">
              <a:ext uri="{FF2B5EF4-FFF2-40B4-BE49-F238E27FC236}">
                <a16:creationId xmlns:a16="http://schemas.microsoft.com/office/drawing/2014/main" id="{61140B0E-BB7D-474B-818A-0008F0AE3DB9}"/>
              </a:ext>
            </a:extLst>
          </p:cNvPr>
          <p:cNvSpPr>
            <a:spLocks xmlns:a="http://schemas.openxmlformats.org/drawingml/2006/main" noGrp="1"/>
          </p:cNvSpPr>
          <p:nvPr/>
        </p:nvSpPr>
        <p:spPr>
          <a:xfrm xmlns:a="http://schemas.openxmlformats.org/drawingml/2006/main">
            <a:off x="640080" y="2103120"/>
            <a:ext cx="3454298" cy="1572768"/>
          </a:xfrm>
          <a:prstGeom xmlns:a="http://schemas.openxmlformats.org/drawingml/2006/main" prst="roundRect">
            <a:avLst>
              <a:gd name="adj" fmla="val 290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2F027AD5-0F17-4D39-9D10-663F812D81C5}"/>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664CFF7F-9A2F-4694-A6C0-1BBDB90C3BB8}"/>
              </a:ext>
            </a:extLst>
          </p:cNvPr>
          <p:cNvSpPr>
            <a:spLocks xmlns:a="http://schemas.openxmlformats.org/drawingml/2006/main" noGrp="1"/>
          </p:cNvSpPr>
          <p:nvPr/>
        </p:nvSpPr>
        <p:spPr>
          <a:xfrm xmlns:a="http://schemas.openxmlformats.org/drawingml/2006/main">
            <a:off x="896112"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7649C324-2353-49AC-BF8C-C6CF1C06B713}"/>
              </a:ext>
            </a:extLst>
          </p:cNvPr>
          <p:cNvSpPr>
            <a:spLocks xmlns:a="http://schemas.openxmlformats.org/drawingml/2006/main" noGrp="1"/>
          </p:cNvSpPr>
          <p:nvPr/>
        </p:nvSpPr>
        <p:spPr>
          <a:xfrm xmlns:a="http://schemas.openxmlformats.org/drawingml/2006/main">
            <a:off x="1335024"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0E1E3A"/>
                </a:solidFill>
                <a:latin typeface="Cambria"/>
                <a:ea typeface="Cambria"/>
                <a:cs typeface="Cambria"/>
              </a:rPr>
              <a:t>Exactly one witness</a:t>
            </a:r>
          </a:p>
        </p:txBody>
      </p:sp>
      <p:sp>
        <p:nvSpPr>
          <p:cNvPr id="11" name="Text 9">
            <a:extLst xmlns:a="http://schemas.openxmlformats.org/drawingml/2006/main">
              <a:ext uri="{FF2B5EF4-FFF2-40B4-BE49-F238E27FC236}">
                <a16:creationId xmlns:a16="http://schemas.microsoft.com/office/drawing/2014/main" id="{75412321-77D5-4C4F-B563-63D22EB6CDF5}"/>
              </a:ext>
            </a:extLst>
          </p:cNvPr>
          <p:cNvSpPr>
            <a:spLocks xmlns:a="http://schemas.openxmlformats.org/drawingml/2006/main" noGrp="1"/>
          </p:cNvSpPr>
          <p:nvPr/>
        </p:nvSpPr>
        <p:spPr>
          <a:xfrm xmlns:a="http://schemas.openxmlformats.org/drawingml/2006/main">
            <a:off x="914400"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Edge admitted. The minimum-description-length producer is recorded as the slot's provenance.</a:t>
            </a:r>
          </a:p>
        </p:txBody>
      </p:sp>
      <p:sp>
        <p:nvSpPr>
          <p:cNvPr id="12" name="Shape 10">
            <a:extLst xmlns:a="http://schemas.openxmlformats.org/drawingml/2006/main">
              <a:ext uri="{FF2B5EF4-FFF2-40B4-BE49-F238E27FC236}">
                <a16:creationId xmlns:a16="http://schemas.microsoft.com/office/drawing/2014/main" id="{A03BCE9A-E982-451B-BBE7-742BC4666A42}"/>
              </a:ext>
            </a:extLst>
          </p:cNvPr>
          <p:cNvSpPr>
            <a:spLocks xmlns:a="http://schemas.openxmlformats.org/drawingml/2006/main" noGrp="1"/>
          </p:cNvSpPr>
          <p:nvPr/>
        </p:nvSpPr>
        <p:spPr>
          <a:xfrm xmlns:a="http://schemas.openxmlformats.org/drawingml/2006/main">
            <a:off x="4368698"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208CB3D3-581E-42D1-A8C4-16C07BC4DDEA}"/>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3E9B184-6671-4727-B932-15A9445B4981}"/>
              </a:ext>
            </a:extLst>
          </p:cNvPr>
          <p:cNvSpPr>
            <a:spLocks xmlns:a="http://schemas.openxmlformats.org/drawingml/2006/main" noGrp="1"/>
          </p:cNvSpPr>
          <p:nvPr/>
        </p:nvSpPr>
        <p:spPr>
          <a:xfrm xmlns:a="http://schemas.openxmlformats.org/drawingml/2006/main">
            <a:off x="4624730"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5" name="Text 13">
            <a:extLst xmlns:a="http://schemas.openxmlformats.org/drawingml/2006/main">
              <a:ext uri="{FF2B5EF4-FFF2-40B4-BE49-F238E27FC236}">
                <a16:creationId xmlns:a16="http://schemas.microsoft.com/office/drawing/2014/main" id="{BD0F779B-BC49-4DAC-B1DB-A0FF955ACBB1}"/>
              </a:ext>
            </a:extLst>
          </p:cNvPr>
          <p:cNvSpPr>
            <a:spLocks xmlns:a="http://schemas.openxmlformats.org/drawingml/2006/main" noGrp="1"/>
          </p:cNvSpPr>
          <p:nvPr/>
        </p:nvSpPr>
        <p:spPr>
          <a:xfrm xmlns:a="http://schemas.openxmlformats.org/drawingml/2006/main">
            <a:off x="5063642"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No witness</a:t>
            </a:r>
          </a:p>
        </p:txBody>
      </p:sp>
      <p:sp>
        <p:nvSpPr>
          <p:cNvPr id="16" name="Text 14">
            <a:extLst xmlns:a="http://schemas.openxmlformats.org/drawingml/2006/main">
              <a:ext uri="{FF2B5EF4-FFF2-40B4-BE49-F238E27FC236}">
                <a16:creationId xmlns:a16="http://schemas.microsoft.com/office/drawing/2014/main" id="{97A79260-6D75-4F41-BE1B-D3327C604F55}"/>
              </a:ext>
            </a:extLst>
          </p:cNvPr>
          <p:cNvSpPr>
            <a:spLocks xmlns:a="http://schemas.openxmlformats.org/drawingml/2006/main" noGrp="1"/>
          </p:cNvSpPr>
          <p:nvPr/>
        </p:nvSpPr>
        <p:spPr>
          <a:xfrm xmlns:a="http://schemas.openxmlformats.org/drawingml/2006/main">
            <a:off x="4643018"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The slot is a real model decision. Region blocked — there is nothing to reconstruct it from.</a:t>
            </a:r>
          </a:p>
        </p:txBody>
      </p:sp>
      <p:sp>
        <p:nvSpPr>
          <p:cNvPr id="17" name="Shape 15">
            <a:extLst xmlns:a="http://schemas.openxmlformats.org/drawingml/2006/main">
              <a:ext uri="{FF2B5EF4-FFF2-40B4-BE49-F238E27FC236}">
                <a16:creationId xmlns:a16="http://schemas.microsoft.com/office/drawing/2014/main" id="{8F594075-9AD0-4248-AC1F-435DCDB89F03}"/>
              </a:ext>
            </a:extLst>
          </p:cNvPr>
          <p:cNvSpPr>
            <a:spLocks xmlns:a="http://schemas.openxmlformats.org/drawingml/2006/main" noGrp="1"/>
          </p:cNvSpPr>
          <p:nvPr/>
        </p:nvSpPr>
        <p:spPr>
          <a:xfrm xmlns:a="http://schemas.openxmlformats.org/drawingml/2006/main">
            <a:off x="8097317" y="2103120"/>
            <a:ext cx="3454298"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8" name="Shape 16">
            <a:extLst xmlns:a="http://schemas.openxmlformats.org/drawingml/2006/main">
              <a:ext uri="{FF2B5EF4-FFF2-40B4-BE49-F238E27FC236}">
                <a16:creationId xmlns:a16="http://schemas.microsoft.com/office/drawing/2014/main" id="{4A75E002-7DCB-4E25-B357-4084DE856003}"/>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9802F6FF-FEAB-4C01-BD0F-B6B615E970C0}"/>
              </a:ext>
            </a:extLst>
          </p:cNvPr>
          <p:cNvSpPr>
            <a:spLocks xmlns:a="http://schemas.openxmlformats.org/drawingml/2006/main" noGrp="1"/>
          </p:cNvSpPr>
          <p:nvPr/>
        </p:nvSpPr>
        <p:spPr>
          <a:xfrm xmlns:a="http://schemas.openxmlformats.org/drawingml/2006/main">
            <a:off x="8353349" y="232257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20" name="Text 18">
            <a:extLst xmlns:a="http://schemas.openxmlformats.org/drawingml/2006/main">
              <a:ext uri="{FF2B5EF4-FFF2-40B4-BE49-F238E27FC236}">
                <a16:creationId xmlns:a16="http://schemas.microsoft.com/office/drawing/2014/main" id="{A62FA1B8-3C9B-4688-8282-403A3F3D5E46}"/>
              </a:ext>
            </a:extLst>
          </p:cNvPr>
          <p:cNvSpPr>
            <a:spLocks xmlns:a="http://schemas.openxmlformats.org/drawingml/2006/main" noGrp="1"/>
          </p:cNvSpPr>
          <p:nvPr/>
        </p:nvSpPr>
        <p:spPr>
          <a:xfrm xmlns:a="http://schemas.openxmlformats.org/drawingml/2006/main">
            <a:off x="8792261" y="2322576"/>
            <a:ext cx="250332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A93B2B"/>
                </a:solidFill>
                <a:latin typeface="Cambria"/>
                <a:ea typeface="Cambria"/>
                <a:cs typeface="Cambria"/>
              </a:rPr>
              <a:t>Above the ambiguity cap</a:t>
            </a:r>
          </a:p>
        </p:txBody>
      </p:sp>
      <p:sp>
        <p:nvSpPr>
          <p:cNvPr id="21" name="Text 19">
            <a:extLst xmlns:a="http://schemas.openxmlformats.org/drawingml/2006/main">
              <a:ext uri="{FF2B5EF4-FFF2-40B4-BE49-F238E27FC236}">
                <a16:creationId xmlns:a16="http://schemas.microsoft.com/office/drawing/2014/main" id="{44331F44-637D-453A-BD2E-D54E961E3506}"/>
              </a:ext>
            </a:extLst>
          </p:cNvPr>
          <p:cNvSpPr>
            <a:spLocks xmlns:a="http://schemas.openxmlformats.org/drawingml/2006/main" noGrp="1"/>
          </p:cNvSpPr>
          <p:nvPr/>
        </p:nvSpPr>
        <p:spPr>
          <a:xfrm xmlns:a="http://schemas.openxmlformats.org/drawingml/2006/main">
            <a:off x="8371637" y="2761488"/>
            <a:ext cx="2905658"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Too many plausible producers. Region blocked rather than defaulting to the cheapest explanation.</a:t>
            </a:r>
          </a:p>
        </p:txBody>
      </p:sp>
      <p:sp>
        <p:nvSpPr>
          <p:cNvPr id="22" name="Text 20">
            <a:extLst xmlns:a="http://schemas.openxmlformats.org/drawingml/2006/main">
              <a:ext uri="{FF2B5EF4-FFF2-40B4-BE49-F238E27FC236}">
                <a16:creationId xmlns:a16="http://schemas.microsoft.com/office/drawing/2014/main" id="{36F6A371-4DFA-499A-97D5-1272AF05145A}"/>
              </a:ext>
            </a:extLst>
          </p:cNvPr>
          <p:cNvSpPr>
            <a:spLocks xmlns:a="http://schemas.openxmlformats.org/drawingml/2006/main" noGrp="1"/>
          </p:cNvSpPr>
          <p:nvPr/>
        </p:nvSpPr>
        <p:spPr>
          <a:xfrm xmlns:a="http://schemas.openxmlformats.org/drawingml/2006/main">
            <a:off x="640080" y="391363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MEASURED ON NESTFUL — 5,746 DEPENDENCY SLOTS</a:t>
            </a:r>
          </a:p>
        </p:txBody>
      </p:sp>
      <p:sp>
        <p:nvSpPr>
          <p:cNvPr id="23" name="Shape 21">
            <a:extLst xmlns:a="http://schemas.openxmlformats.org/drawingml/2006/main">
              <a:ext uri="{FF2B5EF4-FFF2-40B4-BE49-F238E27FC236}">
                <a16:creationId xmlns:a16="http://schemas.microsoft.com/office/drawing/2014/main" id="{F32DE538-5691-46F8-8B2C-CB017EF00172}"/>
              </a:ext>
            </a:extLst>
          </p:cNvPr>
          <p:cNvSpPr>
            <a:spLocks xmlns:a="http://schemas.openxmlformats.org/drawingml/2006/main" noGrp="1"/>
          </p:cNvSpPr>
          <p:nvPr/>
        </p:nvSpPr>
        <p:spPr>
          <a:xfrm xmlns:a="http://schemas.openxmlformats.org/drawingml/2006/main">
            <a:off x="640080"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18428371-CC92-4303-92E9-6792FC4F674B}"/>
              </a:ext>
            </a:extLst>
          </p:cNvPr>
          <p:cNvSpPr>
            <a:spLocks xmlns:a="http://schemas.openxmlformats.org/drawingml/2006/main" noGrp="1"/>
          </p:cNvSpPr>
          <p:nvPr/>
        </p:nvSpPr>
        <p:spPr>
          <a:xfrm xmlns:a="http://schemas.openxmlformats.org/drawingml/2006/main">
            <a:off x="786384"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5,531</a:t>
            </a:r>
          </a:p>
        </p:txBody>
      </p:sp>
      <p:sp>
        <p:nvSpPr>
          <p:cNvPr id="25" name="Text 23">
            <a:extLst xmlns:a="http://schemas.openxmlformats.org/drawingml/2006/main">
              <a:ext uri="{FF2B5EF4-FFF2-40B4-BE49-F238E27FC236}">
                <a16:creationId xmlns:a16="http://schemas.microsoft.com/office/drawing/2014/main" id="{F440EF11-63C2-4579-9D70-6BB4CFCD1DDC}"/>
              </a:ext>
            </a:extLst>
          </p:cNvPr>
          <p:cNvSpPr>
            <a:spLocks xmlns:a="http://schemas.openxmlformats.org/drawingml/2006/main" noGrp="1"/>
          </p:cNvSpPr>
          <p:nvPr/>
        </p:nvSpPr>
        <p:spPr>
          <a:xfrm xmlns:a="http://schemas.openxmlformats.org/drawingml/2006/main">
            <a:off x="786384"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in candidate set</a:t>
            </a:r>
          </a:p>
          <a:p xmlns:a="http://schemas.openxmlformats.org/drawingml/2006/main">
            <a:pPr marL="0" indent="0">
              <a:lnSpc>
                <a:spcPct val="100000"/>
              </a:lnSpc>
              <a:buNone/>
            </a:pPr>
            <a:r>
              <a:rPr sz="1050">
                <a:solidFill>
                  <a:srgbClr val="5A6B84"/>
                </a:solidFill>
                <a:latin typeface="Calibri"/>
                <a:ea typeface="Calibri"/>
                <a:cs typeface="Calibri"/>
              </a:rPr>
              <a:t>96.3% recall</a:t>
            </a:r>
          </a:p>
        </p:txBody>
      </p:sp>
      <p:sp>
        <p:nvSpPr>
          <p:cNvPr id="26" name="Shape 24">
            <a:extLst xmlns:a="http://schemas.openxmlformats.org/drawingml/2006/main">
              <a:ext uri="{FF2B5EF4-FFF2-40B4-BE49-F238E27FC236}">
                <a16:creationId xmlns:a16="http://schemas.microsoft.com/office/drawing/2014/main" id="{F3B4142A-904F-476B-A883-DBBC7C51180A}"/>
              </a:ext>
            </a:extLst>
          </p:cNvPr>
          <p:cNvSpPr>
            <a:spLocks xmlns:a="http://schemas.openxmlformats.org/drawingml/2006/main" noGrp="1"/>
          </p:cNvSpPr>
          <p:nvPr/>
        </p:nvSpPr>
        <p:spPr>
          <a:xfrm xmlns:a="http://schemas.openxmlformats.org/drawingml/2006/main">
            <a:off x="2866278"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B1DA1710-BE5A-44F8-A235-3D561FAF4642}"/>
              </a:ext>
            </a:extLst>
          </p:cNvPr>
          <p:cNvSpPr>
            <a:spLocks xmlns:a="http://schemas.openxmlformats.org/drawingml/2006/main" noGrp="1"/>
          </p:cNvSpPr>
          <p:nvPr/>
        </p:nvSpPr>
        <p:spPr>
          <a:xfrm xmlns:a="http://schemas.openxmlformats.org/drawingml/2006/main">
            <a:off x="3012582"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0E1E3A"/>
                </a:solidFill>
                <a:latin typeface="Cambria"/>
                <a:ea typeface="Cambria"/>
                <a:cs typeface="Cambria"/>
              </a:rPr>
              <a:t>4,636</a:t>
            </a:r>
          </a:p>
        </p:txBody>
      </p:sp>
      <p:sp>
        <p:nvSpPr>
          <p:cNvPr id="28" name="Text 26">
            <a:extLst xmlns:a="http://schemas.openxmlformats.org/drawingml/2006/main">
              <a:ext uri="{FF2B5EF4-FFF2-40B4-BE49-F238E27FC236}">
                <a16:creationId xmlns:a16="http://schemas.microsoft.com/office/drawing/2014/main" id="{57B7E323-6733-488D-8394-1724C1E2761A}"/>
              </a:ext>
            </a:extLst>
          </p:cNvPr>
          <p:cNvSpPr>
            <a:spLocks xmlns:a="http://schemas.openxmlformats.org/drawingml/2006/main" noGrp="1"/>
          </p:cNvSpPr>
          <p:nvPr/>
        </p:nvSpPr>
        <p:spPr>
          <a:xfrm xmlns:a="http://schemas.openxmlformats.org/drawingml/2006/main">
            <a:off x="3012582"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uniquely resolved</a:t>
            </a:r>
          </a:p>
          <a:p xmlns:a="http://schemas.openxmlformats.org/drawingml/2006/main">
            <a:pPr marL="0" indent="0">
              <a:lnSpc>
                <a:spcPct val="100000"/>
              </a:lnSpc>
              <a:buNone/>
            </a:pPr>
            <a:r>
              <a:rPr sz="1050">
                <a:solidFill>
                  <a:srgbClr val="5A6B84"/>
                </a:solidFill>
                <a:latin typeface="Calibri"/>
                <a:ea typeface="Calibri"/>
                <a:cs typeface="Calibri"/>
              </a:rPr>
              <a:t>80.7%</a:t>
            </a:r>
          </a:p>
        </p:txBody>
      </p:sp>
      <p:sp>
        <p:nvSpPr>
          <p:cNvPr id="29" name="Shape 27">
            <a:extLst xmlns:a="http://schemas.openxmlformats.org/drawingml/2006/main">
              <a:ext uri="{FF2B5EF4-FFF2-40B4-BE49-F238E27FC236}">
                <a16:creationId xmlns:a16="http://schemas.microsoft.com/office/drawing/2014/main" id="{9143FEE1-ABC9-43F9-959F-4D5D83C6AADC}"/>
              </a:ext>
            </a:extLst>
          </p:cNvPr>
          <p:cNvSpPr>
            <a:spLocks xmlns:a="http://schemas.openxmlformats.org/drawingml/2006/main" noGrp="1"/>
          </p:cNvSpPr>
          <p:nvPr/>
        </p:nvSpPr>
        <p:spPr>
          <a:xfrm xmlns:a="http://schemas.openxmlformats.org/drawingml/2006/main">
            <a:off x="5092476"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4EC6C7B2-F818-4FC2-92AF-13C93CD11460}"/>
              </a:ext>
            </a:extLst>
          </p:cNvPr>
          <p:cNvSpPr>
            <a:spLocks xmlns:a="http://schemas.openxmlformats.org/drawingml/2006/main" noGrp="1"/>
          </p:cNvSpPr>
          <p:nvPr/>
        </p:nvSpPr>
        <p:spPr>
          <a:xfrm xmlns:a="http://schemas.openxmlformats.org/drawingml/2006/main">
            <a:off x="5238780"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895</a:t>
            </a:r>
          </a:p>
        </p:txBody>
      </p:sp>
      <p:sp>
        <p:nvSpPr>
          <p:cNvPr id="31" name="Text 29">
            <a:extLst xmlns:a="http://schemas.openxmlformats.org/drawingml/2006/main">
              <a:ext uri="{FF2B5EF4-FFF2-40B4-BE49-F238E27FC236}">
                <a16:creationId xmlns:a16="http://schemas.microsoft.com/office/drawing/2014/main" id="{572A2EDE-6786-4553-8A54-A742E12DA182}"/>
              </a:ext>
            </a:extLst>
          </p:cNvPr>
          <p:cNvSpPr>
            <a:spLocks xmlns:a="http://schemas.openxmlformats.org/drawingml/2006/main" noGrp="1"/>
          </p:cNvSpPr>
          <p:nvPr/>
        </p:nvSpPr>
        <p:spPr>
          <a:xfrm xmlns:a="http://schemas.openxmlformats.org/drawingml/2006/main">
            <a:off x="5238780"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ambiguous</a:t>
            </a:r>
          </a:p>
          <a:p xmlns:a="http://schemas.openxmlformats.org/drawingml/2006/main">
            <a:pPr marL="0" indent="0">
              <a:lnSpc>
                <a:spcPct val="100000"/>
              </a:lnSpc>
              <a:buNone/>
            </a:pPr>
            <a:r>
              <a:rPr sz="1050">
                <a:solidFill>
                  <a:srgbClr val="5A6B84"/>
                </a:solidFill>
                <a:latin typeface="Calibri"/>
                <a:ea typeface="Calibri"/>
                <a:cs typeface="Calibri"/>
              </a:rPr>
              <a:t>15.6%</a:t>
            </a:r>
          </a:p>
        </p:txBody>
      </p:sp>
      <p:sp>
        <p:nvSpPr>
          <p:cNvPr id="32" name="Shape 30">
            <a:extLst xmlns:a="http://schemas.openxmlformats.org/drawingml/2006/main">
              <a:ext uri="{FF2B5EF4-FFF2-40B4-BE49-F238E27FC236}">
                <a16:creationId xmlns:a16="http://schemas.microsoft.com/office/drawing/2014/main" id="{D4E327FE-93BF-42BA-AD2E-8ABFC7DEEDE3}"/>
              </a:ext>
            </a:extLst>
          </p:cNvPr>
          <p:cNvSpPr>
            <a:spLocks xmlns:a="http://schemas.openxmlformats.org/drawingml/2006/main" noGrp="1"/>
          </p:cNvSpPr>
          <p:nvPr/>
        </p:nvSpPr>
        <p:spPr>
          <a:xfrm xmlns:a="http://schemas.openxmlformats.org/drawingml/2006/main">
            <a:off x="7318675"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7875D040-091A-4128-8950-B66B2863EC6A}"/>
              </a:ext>
            </a:extLst>
          </p:cNvPr>
          <p:cNvSpPr>
            <a:spLocks xmlns:a="http://schemas.openxmlformats.org/drawingml/2006/main" noGrp="1"/>
          </p:cNvSpPr>
          <p:nvPr/>
        </p:nvSpPr>
        <p:spPr>
          <a:xfrm xmlns:a="http://schemas.openxmlformats.org/drawingml/2006/main">
            <a:off x="7464979"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215</a:t>
            </a:r>
          </a:p>
        </p:txBody>
      </p:sp>
      <p:sp>
        <p:nvSpPr>
          <p:cNvPr id="34" name="Text 32">
            <a:extLst xmlns:a="http://schemas.openxmlformats.org/drawingml/2006/main">
              <a:ext uri="{FF2B5EF4-FFF2-40B4-BE49-F238E27FC236}">
                <a16:creationId xmlns:a16="http://schemas.microsoft.com/office/drawing/2014/main" id="{DB3B3BBD-112B-40F8-A3E8-7FE22EB813DD}"/>
              </a:ext>
            </a:extLst>
          </p:cNvPr>
          <p:cNvSpPr>
            <a:spLocks xmlns:a="http://schemas.openxmlformats.org/drawingml/2006/main" noGrp="1"/>
          </p:cNvSpPr>
          <p:nvPr/>
        </p:nvSpPr>
        <p:spPr>
          <a:xfrm xmlns:a="http://schemas.openxmlformats.org/drawingml/2006/main">
            <a:off x="7464979"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no candidate</a:t>
            </a:r>
          </a:p>
          <a:p xmlns:a="http://schemas.openxmlformats.org/drawingml/2006/main">
            <a:pPr marL="0" indent="0">
              <a:lnSpc>
                <a:spcPct val="100000"/>
              </a:lnSpc>
              <a:buNone/>
            </a:pPr>
            <a:r>
              <a:rPr sz="1050">
                <a:solidFill>
                  <a:srgbClr val="5A6B84"/>
                </a:solidFill>
                <a:latin typeface="Calibri"/>
                <a:ea typeface="Calibri"/>
                <a:cs typeface="Calibri"/>
              </a:rPr>
              <a:t>3.7%</a:t>
            </a:r>
          </a:p>
        </p:txBody>
      </p:sp>
      <p:sp>
        <p:nvSpPr>
          <p:cNvPr id="35" name="Shape 33">
            <a:extLst xmlns:a="http://schemas.openxmlformats.org/drawingml/2006/main">
              <a:ext uri="{FF2B5EF4-FFF2-40B4-BE49-F238E27FC236}">
                <a16:creationId xmlns:a16="http://schemas.microsoft.com/office/drawing/2014/main" id="{6FBBC74B-E676-4138-BDDF-BEB9D6788753}"/>
              </a:ext>
            </a:extLst>
          </p:cNvPr>
          <p:cNvSpPr>
            <a:spLocks xmlns:a="http://schemas.openxmlformats.org/drawingml/2006/main" noGrp="1"/>
          </p:cNvSpPr>
          <p:nvPr/>
        </p:nvSpPr>
        <p:spPr>
          <a:xfrm xmlns:a="http://schemas.openxmlformats.org/drawingml/2006/main">
            <a:off x="9544873" y="4206240"/>
            <a:ext cx="2006742" cy="1207008"/>
          </a:xfrm>
          <a:prstGeom xmlns:a="http://schemas.openxmlformats.org/drawingml/2006/main" prst="roundRect">
            <a:avLst>
              <a:gd name="adj" fmla="val 378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0A08448E-5E40-4FB3-80B8-72A4EAAEFB14}"/>
              </a:ext>
            </a:extLst>
          </p:cNvPr>
          <p:cNvSpPr>
            <a:spLocks xmlns:a="http://schemas.openxmlformats.org/drawingml/2006/main" noGrp="1"/>
          </p:cNvSpPr>
          <p:nvPr/>
        </p:nvSpPr>
        <p:spPr>
          <a:xfrm xmlns:a="http://schemas.openxmlformats.org/drawingml/2006/main">
            <a:off x="9691177" y="4334256"/>
            <a:ext cx="171413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A93B2B"/>
                </a:solidFill>
                <a:latin typeface="Cambria"/>
                <a:ea typeface="Cambria"/>
                <a:cs typeface="Cambria"/>
              </a:rPr>
              <a:t>84.3%</a:t>
            </a:r>
          </a:p>
        </p:txBody>
      </p:sp>
      <p:sp>
        <p:nvSpPr>
          <p:cNvPr id="37" name="Text 35">
            <a:extLst xmlns:a="http://schemas.openxmlformats.org/drawingml/2006/main">
              <a:ext uri="{FF2B5EF4-FFF2-40B4-BE49-F238E27FC236}">
                <a16:creationId xmlns:a16="http://schemas.microsoft.com/office/drawing/2014/main" id="{C7114E29-8120-487B-AB25-F9213EEDD96E}"/>
              </a:ext>
            </a:extLst>
          </p:cNvPr>
          <p:cNvSpPr>
            <a:spLocks xmlns:a="http://schemas.openxmlformats.org/drawingml/2006/main" noGrp="1"/>
          </p:cNvSpPr>
          <p:nvPr/>
        </p:nvSpPr>
        <p:spPr>
          <a:xfrm xmlns:a="http://schemas.openxmlformats.org/drawingml/2006/main">
            <a:off x="9691177" y="4773168"/>
            <a:ext cx="171413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50">
                <a:solidFill>
                  <a:srgbClr val="5A6B84"/>
                </a:solidFill>
                <a:latin typeface="Calibri"/>
                <a:ea typeface="Calibri"/>
                <a:cs typeface="Calibri"/>
              </a:rPr>
              <a:t>candidate-edge</a:t>
            </a:r>
          </a:p>
          <a:p xmlns:a="http://schemas.openxmlformats.org/drawingml/2006/main">
            <a:pPr marL="0" indent="0">
              <a:lnSpc>
                <a:spcPct val="100000"/>
              </a:lnSpc>
              <a:buNone/>
            </a:pPr>
            <a:r>
              <a:rPr sz="1050">
                <a:solidFill>
                  <a:srgbClr val="5A6B84"/>
                </a:solidFill>
                <a:latin typeface="Calibri"/>
                <a:ea typeface="Calibri"/>
                <a:cs typeface="Calibri"/>
              </a:rPr>
              <a:t>precision</a:t>
            </a:r>
          </a:p>
        </p:txBody>
      </p:sp>
      <p:sp>
        <p:nvSpPr>
          <p:cNvPr id="38" name="Text 36">
            <a:extLst xmlns:a="http://schemas.openxmlformats.org/drawingml/2006/main">
              <a:ext uri="{FF2B5EF4-FFF2-40B4-BE49-F238E27FC236}">
                <a16:creationId xmlns:a16="http://schemas.microsoft.com/office/drawing/2014/main" id="{73EFA6ED-0EB3-4DE6-ADF2-4ACACD5FEF38}"/>
              </a:ext>
            </a:extLst>
          </p:cNvPr>
          <p:cNvSpPr>
            <a:spLocks xmlns:a="http://schemas.openxmlformats.org/drawingml/2006/main" noGrp="1"/>
          </p:cNvSpPr>
          <p:nvPr/>
        </p:nvSpPr>
        <p:spPr>
          <a:xfrm xmlns:a="http://schemas.openxmlformats.org/drawingml/2006/main">
            <a:off x="640080" y="5596128"/>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Recall measures search reachability, not dependency reconstruction: no non-empty candidate set ever omitted the true producer, so the 215 misses are exactly the slots with no candidate at all.</a:t>
            </a:r>
          </a:p>
        </p:txBody>
      </p:sp>
    </p:spTree>
    <p:extLst>
      <p:ext uri="{BB962C8B-B14F-4D97-AF65-F5344CB8AC3E}">
        <p14:creationId xmlns:p14="http://schemas.microsoft.com/office/powerpoint/2010/main" val="44946794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45CBA41-998D-4FF6-903F-EE8F5D1AB1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490E23FA-6050-4BCA-B56F-8B8910FBBC9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D630172D-3630-4776-8C40-F73A64AEC6E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RUNTIME  ·  §3.8 AND ALGORITHM 4</a:t>
            </a:r>
          </a:p>
        </p:txBody>
      </p:sp>
      <p:sp>
        <p:nvSpPr>
          <p:cNvPr id="5" name="Text 3">
            <a:extLst xmlns:a="http://schemas.openxmlformats.org/drawingml/2006/main">
              <a:ext uri="{FF2B5EF4-FFF2-40B4-BE49-F238E27FC236}">
                <a16:creationId xmlns:a16="http://schemas.microsoft.com/office/drawing/2014/main" id="{72791DE8-73BB-4AFA-B3CB-FF14837ED2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artifact usually declines to run</a:t>
            </a:r>
          </a:p>
        </p:txBody>
      </p:sp>
      <p:sp>
        <p:nvSpPr>
          <p:cNvPr id="6" name="Text 4">
            <a:extLst xmlns:a="http://schemas.openxmlformats.org/drawingml/2006/main">
              <a:ext uri="{FF2B5EF4-FFF2-40B4-BE49-F238E27FC236}">
                <a16:creationId xmlns:a16="http://schemas.microsoft.com/office/drawing/2014/main" id="{CC5907B7-4AD0-40E6-8854-FD4593571151}"/>
              </a:ext>
            </a:extLst>
          </p:cNvPr>
          <p:cNvSpPr>
            <a:spLocks xmlns:a="http://schemas.openxmlformats.org/drawingml/2006/main" noGrp="1"/>
          </p:cNvSpPr>
          <p:nvPr/>
        </p:nvSpPr>
        <p:spPr>
          <a:xfrm xmlns:a="http://schemas.openxmlformats.org/drawingml/2006/main">
            <a:off x="640080" y="13716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AN ADMITTED ARTIFACT IS A SIX-TUPLE</a:t>
            </a:r>
          </a:p>
        </p:txBody>
      </p:sp>
      <p:sp>
        <p:nvSpPr>
          <p:cNvPr id="7" name="Shape 5">
            <a:extLst xmlns:a="http://schemas.openxmlformats.org/drawingml/2006/main">
              <a:ext uri="{FF2B5EF4-FFF2-40B4-BE49-F238E27FC236}">
                <a16:creationId xmlns:a16="http://schemas.microsoft.com/office/drawing/2014/main" id="{5A120A7B-7F85-48D6-91A4-A39CB655A034}"/>
              </a:ext>
            </a:extLst>
          </p:cNvPr>
          <p:cNvSpPr>
            <a:spLocks xmlns:a="http://schemas.openxmlformats.org/drawingml/2006/main" noGrp="1"/>
          </p:cNvSpPr>
          <p:nvPr/>
        </p:nvSpPr>
        <p:spPr>
          <a:xfrm xmlns:a="http://schemas.openxmlformats.org/drawingml/2006/main">
            <a:off x="640080"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C314809-047B-4372-AAC1-935BB4273F83}"/>
              </a:ext>
            </a:extLst>
          </p:cNvPr>
          <p:cNvSpPr>
            <a:spLocks xmlns:a="http://schemas.openxmlformats.org/drawingml/2006/main" noGrp="1"/>
          </p:cNvSpPr>
          <p:nvPr/>
        </p:nvSpPr>
        <p:spPr>
          <a:xfrm xmlns:a="http://schemas.openxmlformats.org/drawingml/2006/main">
            <a:off x="640080"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P</a:t>
            </a:r>
          </a:p>
        </p:txBody>
      </p:sp>
      <p:sp>
        <p:nvSpPr>
          <p:cNvPr id="9" name="Text 7">
            <a:extLst xmlns:a="http://schemas.openxmlformats.org/drawingml/2006/main">
              <a:ext uri="{FF2B5EF4-FFF2-40B4-BE49-F238E27FC236}">
                <a16:creationId xmlns:a16="http://schemas.microsoft.com/office/drawing/2014/main" id="{9BF7E44F-31C3-4FCE-AFD0-EC4A95549B23}"/>
              </a:ext>
            </a:extLst>
          </p:cNvPr>
          <p:cNvSpPr>
            <a:spLocks xmlns:a="http://schemas.openxmlformats.org/drawingml/2006/main" noGrp="1"/>
          </p:cNvSpPr>
          <p:nvPr/>
        </p:nvSpPr>
        <p:spPr>
          <a:xfrm xmlns:a="http://schemas.openxmlformats.org/drawingml/2006/main">
            <a:off x="713232"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deterministic program</a:t>
            </a:r>
          </a:p>
        </p:txBody>
      </p:sp>
      <p:sp>
        <p:nvSpPr>
          <p:cNvPr id="10" name="Shape 8">
            <a:extLst xmlns:a="http://schemas.openxmlformats.org/drawingml/2006/main">
              <a:ext uri="{FF2B5EF4-FFF2-40B4-BE49-F238E27FC236}">
                <a16:creationId xmlns:a16="http://schemas.microsoft.com/office/drawing/2014/main" id="{854CEB4D-879A-4BEF-91E3-94F681820FFD}"/>
              </a:ext>
            </a:extLst>
          </p:cNvPr>
          <p:cNvSpPr>
            <a:spLocks xmlns:a="http://schemas.openxmlformats.org/drawingml/2006/main" noGrp="1"/>
          </p:cNvSpPr>
          <p:nvPr/>
        </p:nvSpPr>
        <p:spPr>
          <a:xfrm xmlns:a="http://schemas.openxmlformats.org/drawingml/2006/main">
            <a:off x="2492197"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DB497C9B-4B5F-4EC3-99E4-84B3F6633BB5}"/>
              </a:ext>
            </a:extLst>
          </p:cNvPr>
          <p:cNvSpPr>
            <a:spLocks xmlns:a="http://schemas.openxmlformats.org/drawingml/2006/main" noGrp="1"/>
          </p:cNvSpPr>
          <p:nvPr/>
        </p:nvSpPr>
        <p:spPr>
          <a:xfrm xmlns:a="http://schemas.openxmlformats.org/drawingml/2006/main">
            <a:off x="2492197"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H</a:t>
            </a:r>
          </a:p>
        </p:txBody>
      </p:sp>
      <p:sp>
        <p:nvSpPr>
          <p:cNvPr id="12" name="Text 10">
            <a:extLst xmlns:a="http://schemas.openxmlformats.org/drawingml/2006/main">
              <a:ext uri="{FF2B5EF4-FFF2-40B4-BE49-F238E27FC236}">
                <a16:creationId xmlns:a16="http://schemas.microsoft.com/office/drawing/2014/main" id="{C7FBD978-567A-41B8-8202-363B6DE71E6C}"/>
              </a:ext>
            </a:extLst>
          </p:cNvPr>
          <p:cNvSpPr>
            <a:spLocks xmlns:a="http://schemas.openxmlformats.org/drawingml/2006/main" noGrp="1"/>
          </p:cNvSpPr>
          <p:nvPr/>
        </p:nvSpPr>
        <p:spPr>
          <a:xfrm xmlns:a="http://schemas.openxmlformats.org/drawingml/2006/main">
            <a:off x="2565349"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hard guard</a:t>
            </a:r>
          </a:p>
        </p:txBody>
      </p:sp>
      <p:sp>
        <p:nvSpPr>
          <p:cNvPr id="13" name="Shape 11">
            <a:extLst xmlns:a="http://schemas.openxmlformats.org/drawingml/2006/main">
              <a:ext uri="{FF2B5EF4-FFF2-40B4-BE49-F238E27FC236}">
                <a16:creationId xmlns:a16="http://schemas.microsoft.com/office/drawing/2014/main" id="{9E1B4DBF-1B01-4007-9254-6554A733530C}"/>
              </a:ext>
            </a:extLst>
          </p:cNvPr>
          <p:cNvSpPr>
            <a:spLocks xmlns:a="http://schemas.openxmlformats.org/drawingml/2006/main" noGrp="1"/>
          </p:cNvSpPr>
          <p:nvPr/>
        </p:nvSpPr>
        <p:spPr>
          <a:xfrm xmlns:a="http://schemas.openxmlformats.org/drawingml/2006/main">
            <a:off x="4344314"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2A87AB6-592F-4BF4-9218-5B5CF1DA5EED}"/>
              </a:ext>
            </a:extLst>
          </p:cNvPr>
          <p:cNvSpPr>
            <a:spLocks xmlns:a="http://schemas.openxmlformats.org/drawingml/2006/main" noGrp="1"/>
          </p:cNvSpPr>
          <p:nvPr/>
        </p:nvSpPr>
        <p:spPr>
          <a:xfrm xmlns:a="http://schemas.openxmlformats.org/drawingml/2006/main">
            <a:off x="4344314"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V</a:t>
            </a:r>
          </a:p>
        </p:txBody>
      </p:sp>
      <p:sp>
        <p:nvSpPr>
          <p:cNvPr id="15" name="Text 13">
            <a:extLst xmlns:a="http://schemas.openxmlformats.org/drawingml/2006/main">
              <a:ext uri="{FF2B5EF4-FFF2-40B4-BE49-F238E27FC236}">
                <a16:creationId xmlns:a16="http://schemas.microsoft.com/office/drawing/2014/main" id="{2339E1C2-D714-472F-A89A-39275A8B8BDD}"/>
              </a:ext>
            </a:extLst>
          </p:cNvPr>
          <p:cNvSpPr>
            <a:spLocks xmlns:a="http://schemas.openxmlformats.org/drawingml/2006/main" noGrp="1"/>
          </p:cNvSpPr>
          <p:nvPr/>
        </p:nvSpPr>
        <p:spPr>
          <a:xfrm xmlns:a="http://schemas.openxmlformats.org/drawingml/2006/main">
            <a:off x="4417466"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verifier</a:t>
            </a:r>
          </a:p>
        </p:txBody>
      </p:sp>
      <p:sp>
        <p:nvSpPr>
          <p:cNvPr id="16" name="Shape 14">
            <a:extLst xmlns:a="http://schemas.openxmlformats.org/drawingml/2006/main">
              <a:ext uri="{FF2B5EF4-FFF2-40B4-BE49-F238E27FC236}">
                <a16:creationId xmlns:a16="http://schemas.microsoft.com/office/drawing/2014/main" id="{2352C736-7AFF-4C22-8900-6D5C6E03E822}"/>
              </a:ext>
            </a:extLst>
          </p:cNvPr>
          <p:cNvSpPr>
            <a:spLocks xmlns:a="http://schemas.openxmlformats.org/drawingml/2006/main" noGrp="1"/>
          </p:cNvSpPr>
          <p:nvPr/>
        </p:nvSpPr>
        <p:spPr>
          <a:xfrm xmlns:a="http://schemas.openxmlformats.org/drawingml/2006/main">
            <a:off x="6196432"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F85E978-7E0E-4428-A8D1-D4111820017B}"/>
              </a:ext>
            </a:extLst>
          </p:cNvPr>
          <p:cNvSpPr>
            <a:spLocks xmlns:a="http://schemas.openxmlformats.org/drawingml/2006/main" noGrp="1"/>
          </p:cNvSpPr>
          <p:nvPr/>
        </p:nvSpPr>
        <p:spPr>
          <a:xfrm xmlns:a="http://schemas.openxmlformats.org/drawingml/2006/main">
            <a:off x="6196432"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q</a:t>
            </a:r>
          </a:p>
        </p:txBody>
      </p:sp>
      <p:sp>
        <p:nvSpPr>
          <p:cNvPr id="18" name="Text 16">
            <a:extLst xmlns:a="http://schemas.openxmlformats.org/drawingml/2006/main">
              <a:ext uri="{FF2B5EF4-FFF2-40B4-BE49-F238E27FC236}">
                <a16:creationId xmlns:a16="http://schemas.microsoft.com/office/drawing/2014/main" id="{76C74BA5-DC5F-4199-B2E6-DE16F8649244}"/>
              </a:ext>
            </a:extLst>
          </p:cNvPr>
          <p:cNvSpPr>
            <a:spLocks xmlns:a="http://schemas.openxmlformats.org/drawingml/2006/main" noGrp="1"/>
          </p:cNvSpPr>
          <p:nvPr/>
        </p:nvSpPr>
        <p:spPr>
          <a:xfrm xmlns:a="http://schemas.openxmlformats.org/drawingml/2006/main">
            <a:off x="6269584"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nonconformity score</a:t>
            </a:r>
          </a:p>
        </p:txBody>
      </p:sp>
      <p:sp>
        <p:nvSpPr>
          <p:cNvPr id="19" name="Shape 17">
            <a:extLst xmlns:a="http://schemas.openxmlformats.org/drawingml/2006/main">
              <a:ext uri="{FF2B5EF4-FFF2-40B4-BE49-F238E27FC236}">
                <a16:creationId xmlns:a16="http://schemas.microsoft.com/office/drawing/2014/main" id="{FD9EDB59-E31D-4304-BC3F-41BFF9459124}"/>
              </a:ext>
            </a:extLst>
          </p:cNvPr>
          <p:cNvSpPr>
            <a:spLocks xmlns:a="http://schemas.openxmlformats.org/drawingml/2006/main" noGrp="1"/>
          </p:cNvSpPr>
          <p:nvPr/>
        </p:nvSpPr>
        <p:spPr>
          <a:xfrm xmlns:a="http://schemas.openxmlformats.org/drawingml/2006/main">
            <a:off x="8048549"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AE23F0FD-0E82-4739-B55D-335625E492A6}"/>
              </a:ext>
            </a:extLst>
          </p:cNvPr>
          <p:cNvSpPr>
            <a:spLocks xmlns:a="http://schemas.openxmlformats.org/drawingml/2006/main" noGrp="1"/>
          </p:cNvSpPr>
          <p:nvPr/>
        </p:nvSpPr>
        <p:spPr>
          <a:xfrm xmlns:a="http://schemas.openxmlformats.org/drawingml/2006/main">
            <a:off x="8048549"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η</a:t>
            </a:r>
          </a:p>
        </p:txBody>
      </p:sp>
      <p:sp>
        <p:nvSpPr>
          <p:cNvPr id="21" name="Text 19">
            <a:extLst xmlns:a="http://schemas.openxmlformats.org/drawingml/2006/main">
              <a:ext uri="{FF2B5EF4-FFF2-40B4-BE49-F238E27FC236}">
                <a16:creationId xmlns:a16="http://schemas.microsoft.com/office/drawing/2014/main" id="{9FE4EC21-B139-4DAA-88FE-01EA4388E4A9}"/>
              </a:ext>
            </a:extLst>
          </p:cNvPr>
          <p:cNvSpPr>
            <a:spLocks xmlns:a="http://schemas.openxmlformats.org/drawingml/2006/main" noGrp="1"/>
          </p:cNvSpPr>
          <p:nvPr/>
        </p:nvSpPr>
        <p:spPr>
          <a:xfrm xmlns:a="http://schemas.openxmlformats.org/drawingml/2006/main">
            <a:off x="8121701"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calibrated threshold</a:t>
            </a:r>
          </a:p>
        </p:txBody>
      </p:sp>
      <p:sp>
        <p:nvSpPr>
          <p:cNvPr id="22" name="Shape 20">
            <a:extLst xmlns:a="http://schemas.openxmlformats.org/drawingml/2006/main">
              <a:ext uri="{FF2B5EF4-FFF2-40B4-BE49-F238E27FC236}">
                <a16:creationId xmlns:a16="http://schemas.microsoft.com/office/drawing/2014/main" id="{109BCAA4-A339-478F-9D7D-4AA587BBE78B}"/>
              </a:ext>
            </a:extLst>
          </p:cNvPr>
          <p:cNvSpPr>
            <a:spLocks xmlns:a="http://schemas.openxmlformats.org/drawingml/2006/main" noGrp="1"/>
          </p:cNvSpPr>
          <p:nvPr/>
        </p:nvSpPr>
        <p:spPr>
          <a:xfrm xmlns:a="http://schemas.openxmlformats.org/drawingml/2006/main">
            <a:off x="9900666" y="1664208"/>
            <a:ext cx="165094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21059934-D422-4B46-BFF7-5FE07CAEA3CA}"/>
              </a:ext>
            </a:extLst>
          </p:cNvPr>
          <p:cNvSpPr>
            <a:spLocks xmlns:a="http://schemas.openxmlformats.org/drawingml/2006/main" noGrp="1"/>
          </p:cNvSpPr>
          <p:nvPr/>
        </p:nvSpPr>
        <p:spPr>
          <a:xfrm xmlns:a="http://schemas.openxmlformats.org/drawingml/2006/main">
            <a:off x="9900666" y="1755648"/>
            <a:ext cx="1650949"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900" b="1" i="1">
                <a:solidFill>
                  <a:srgbClr val="1F8A99"/>
                </a:solidFill>
                <a:latin typeface="Cambria"/>
                <a:ea typeface="Cambria"/>
                <a:cs typeface="Cambria"/>
              </a:rPr>
              <a:t>M</a:t>
            </a:r>
          </a:p>
        </p:txBody>
      </p:sp>
      <p:sp>
        <p:nvSpPr>
          <p:cNvPr id="24" name="Text 22">
            <a:extLst xmlns:a="http://schemas.openxmlformats.org/drawingml/2006/main">
              <a:ext uri="{FF2B5EF4-FFF2-40B4-BE49-F238E27FC236}">
                <a16:creationId xmlns:a16="http://schemas.microsoft.com/office/drawing/2014/main" id="{72AB11F6-4B36-48E8-A7AE-826F67AF586E}"/>
              </a:ext>
            </a:extLst>
          </p:cNvPr>
          <p:cNvSpPr>
            <a:spLocks xmlns:a="http://schemas.openxmlformats.org/drawingml/2006/main" noGrp="1"/>
          </p:cNvSpPr>
          <p:nvPr/>
        </p:nvSpPr>
        <p:spPr>
          <a:xfrm xmlns:a="http://schemas.openxmlformats.org/drawingml/2006/main">
            <a:off x="9973818" y="2103120"/>
            <a:ext cx="150464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00000"/>
              </a:lnSpc>
              <a:buNone/>
            </a:pPr>
            <a:r>
              <a:rPr sz="1000">
                <a:solidFill>
                  <a:srgbClr val="5A6B84"/>
                </a:solidFill>
                <a:latin typeface="Calibri"/>
                <a:ea typeface="Calibri"/>
                <a:cs typeface="Calibri"/>
              </a:rPr>
              <a:t>manifest pins</a:t>
            </a:r>
          </a:p>
        </p:txBody>
      </p:sp>
      <p:sp>
        <p:nvSpPr>
          <p:cNvPr id="25" name="Text 23">
            <a:extLst xmlns:a="http://schemas.openxmlformats.org/drawingml/2006/main">
              <a:ext uri="{FF2B5EF4-FFF2-40B4-BE49-F238E27FC236}">
                <a16:creationId xmlns:a16="http://schemas.microsoft.com/office/drawing/2014/main" id="{7AD8BBE9-EBAF-4283-8916-EF28313BEEB5}"/>
              </a:ext>
            </a:extLst>
          </p:cNvPr>
          <p:cNvSpPr>
            <a:spLocks xmlns:a="http://schemas.openxmlformats.org/drawingml/2006/main" noGrp="1"/>
          </p:cNvSpPr>
          <p:nvPr/>
        </p:nvSpPr>
        <p:spPr>
          <a:xfrm xmlns:a="http://schemas.openxmlformats.org/drawingml/2006/main">
            <a:off x="640080" y="274320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80">
                <a:solidFill>
                  <a:srgbClr val="5A6B84"/>
                </a:solidFill>
                <a:latin typeface="Calibri"/>
                <a:ea typeface="Calibri"/>
                <a:cs typeface="Calibri"/>
              </a:rPr>
              <a:t>DISPATCH IS SELECTIVE — SIX CHECKS, THEN ONE OF THREE OUTCOMES</a:t>
            </a:r>
          </a:p>
        </p:txBody>
      </p:sp>
      <p:sp>
        <p:nvSpPr>
          <p:cNvPr id="26" name="Shape 24">
            <a:extLst xmlns:a="http://schemas.openxmlformats.org/drawingml/2006/main">
              <a:ext uri="{FF2B5EF4-FFF2-40B4-BE49-F238E27FC236}">
                <a16:creationId xmlns:a16="http://schemas.microsoft.com/office/drawing/2014/main" id="{6069E951-8DCE-4493-B900-D31E4090240D}"/>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7" name="Text 25">
            <a:extLst xmlns:a="http://schemas.openxmlformats.org/drawingml/2006/main">
              <a:ext uri="{FF2B5EF4-FFF2-40B4-BE49-F238E27FC236}">
                <a16:creationId xmlns:a16="http://schemas.microsoft.com/office/drawing/2014/main" id="{91213B52-1BAB-4853-9531-F3708AF8DD23}"/>
              </a:ext>
            </a:extLst>
          </p:cNvPr>
          <p:cNvSpPr>
            <a:spLocks xmlns:a="http://schemas.openxmlformats.org/drawingml/2006/main" noGrp="1"/>
          </p:cNvSpPr>
          <p:nvPr/>
        </p:nvSpPr>
        <p:spPr>
          <a:xfrm xmlns:a="http://schemas.openxmlformats.org/drawingml/2006/main">
            <a:off x="64008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resolve</a:t>
            </a:r>
          </a:p>
        </p:txBody>
      </p:sp>
      <p:sp>
        <p:nvSpPr>
          <p:cNvPr id="28" name="Shape 26">
            <a:extLst xmlns:a="http://schemas.openxmlformats.org/drawingml/2006/main">
              <a:ext uri="{FF2B5EF4-FFF2-40B4-BE49-F238E27FC236}">
                <a16:creationId xmlns:a16="http://schemas.microsoft.com/office/drawing/2014/main" id="{3087BEA7-A4A7-4B1E-B053-060799D4B43C}"/>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DABEF2AC-D623-4957-BA66-95C9C94C593D}"/>
              </a:ext>
            </a:extLst>
          </p:cNvPr>
          <p:cNvSpPr>
            <a:spLocks xmlns:a="http://schemas.openxmlformats.org/drawingml/2006/main" noGrp="1"/>
          </p:cNvSpPr>
          <p:nvPr/>
        </p:nvSpPr>
        <p:spPr>
          <a:xfrm xmlns:a="http://schemas.openxmlformats.org/drawingml/2006/main">
            <a:off x="248305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signature</a:t>
            </a:r>
          </a:p>
        </p:txBody>
      </p:sp>
      <p:sp>
        <p:nvSpPr>
          <p:cNvPr id="30" name="Shape 28">
            <a:extLst xmlns:a="http://schemas.openxmlformats.org/drawingml/2006/main">
              <a:ext uri="{FF2B5EF4-FFF2-40B4-BE49-F238E27FC236}">
                <a16:creationId xmlns:a16="http://schemas.microsoft.com/office/drawing/2014/main" id="{AE946F25-650D-4B67-8787-40084F2EA7A8}"/>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1" name="Text 29">
            <a:extLst xmlns:a="http://schemas.openxmlformats.org/drawingml/2006/main">
              <a:ext uri="{FF2B5EF4-FFF2-40B4-BE49-F238E27FC236}">
                <a16:creationId xmlns:a16="http://schemas.microsoft.com/office/drawing/2014/main" id="{5BE80A4D-02B5-4ED7-8AF8-9F32B8675E9E}"/>
              </a:ext>
            </a:extLst>
          </p:cNvPr>
          <p:cNvSpPr>
            <a:spLocks xmlns:a="http://schemas.openxmlformats.org/drawingml/2006/main" noGrp="1"/>
          </p:cNvSpPr>
          <p:nvPr/>
        </p:nvSpPr>
        <p:spPr>
          <a:xfrm xmlns:a="http://schemas.openxmlformats.org/drawingml/2006/main">
            <a:off x="432602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guard</a:t>
            </a:r>
          </a:p>
        </p:txBody>
      </p:sp>
      <p:sp>
        <p:nvSpPr>
          <p:cNvPr id="32" name="Shape 30">
            <a:extLst xmlns:a="http://schemas.openxmlformats.org/drawingml/2006/main">
              <a:ext uri="{FF2B5EF4-FFF2-40B4-BE49-F238E27FC236}">
                <a16:creationId xmlns:a16="http://schemas.microsoft.com/office/drawing/2014/main" id="{AD4D67D0-E287-44D5-A095-EE29A1020A56}"/>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878663A-7B4E-44F5-B8D1-0F41FAFEE92F}"/>
              </a:ext>
            </a:extLst>
          </p:cNvPr>
          <p:cNvSpPr>
            <a:spLocks xmlns:a="http://schemas.openxmlformats.org/drawingml/2006/main" noGrp="1"/>
          </p:cNvSpPr>
          <p:nvPr/>
        </p:nvSpPr>
        <p:spPr>
          <a:xfrm xmlns:a="http://schemas.openxmlformats.org/drawingml/2006/main">
            <a:off x="6169000"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already-run</a:t>
            </a:r>
          </a:p>
        </p:txBody>
      </p:sp>
      <p:sp>
        <p:nvSpPr>
          <p:cNvPr id="34" name="Shape 32">
            <a:extLst xmlns:a="http://schemas.openxmlformats.org/drawingml/2006/main">
              <a:ext uri="{FF2B5EF4-FFF2-40B4-BE49-F238E27FC236}">
                <a16:creationId xmlns:a16="http://schemas.microsoft.com/office/drawing/2014/main" id="{2256A2C5-CE64-48C2-9871-E62F13F17808}"/>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oundRect">
            <a:avLst>
              <a:gd name="adj" fmla="val 108696"/>
            </a:avLst>
          </a:prstGeom>
          <a:solidFill xmlns:a="http://schemas.openxmlformats.org/drawingml/2006/main">
            <a:srgbClr val="0E1E3A"/>
          </a:solidFill>
          <a:ln xmlns:a="http://schemas.openxmlformats.org/drawingml/2006/main" w="9525">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BCA77008-A005-4696-82B3-3D47704A8052}"/>
              </a:ext>
            </a:extLst>
          </p:cNvPr>
          <p:cNvSpPr>
            <a:spLocks xmlns:a="http://schemas.openxmlformats.org/drawingml/2006/main" noGrp="1"/>
          </p:cNvSpPr>
          <p:nvPr/>
        </p:nvSpPr>
        <p:spPr>
          <a:xfrm xmlns:a="http://schemas.openxmlformats.org/drawingml/2006/main">
            <a:off x="8011973"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gate</a:t>
            </a:r>
          </a:p>
        </p:txBody>
      </p:sp>
      <p:sp>
        <p:nvSpPr>
          <p:cNvPr id="36" name="Shape 34">
            <a:extLst xmlns:a="http://schemas.openxmlformats.org/drawingml/2006/main">
              <a:ext uri="{FF2B5EF4-FFF2-40B4-BE49-F238E27FC236}">
                <a16:creationId xmlns:a16="http://schemas.microsoft.com/office/drawing/2014/main" id="{FFE9084B-CD9F-44F8-89DC-9318553DDC17}"/>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oundRect">
            <a:avLst>
              <a:gd name="adj" fmla="val 10869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D2CF96D3-6DBB-4303-8FE4-A11E000A76F8}"/>
              </a:ext>
            </a:extLst>
          </p:cNvPr>
          <p:cNvSpPr>
            <a:spLocks xmlns:a="http://schemas.openxmlformats.org/drawingml/2006/main" noGrp="1"/>
          </p:cNvSpPr>
          <p:nvPr/>
        </p:nvSpPr>
        <p:spPr>
          <a:xfrm xmlns:a="http://schemas.openxmlformats.org/drawingml/2006/main">
            <a:off x="9854946" y="3054096"/>
            <a:ext cx="1696669"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stage → interpret → verify</a:t>
            </a:r>
          </a:p>
        </p:txBody>
      </p:sp>
      <p:sp>
        <p:nvSpPr>
          <p:cNvPr id="38" name="Shape 36">
            <a:extLst xmlns:a="http://schemas.openxmlformats.org/drawingml/2006/main">
              <a:ext uri="{FF2B5EF4-FFF2-40B4-BE49-F238E27FC236}">
                <a16:creationId xmlns:a16="http://schemas.microsoft.com/office/drawing/2014/main" id="{55C62C77-9F7F-445F-9E04-4DC6ABDB2488}"/>
              </a:ext>
            </a:extLst>
          </p:cNvPr>
          <p:cNvSpPr>
            <a:spLocks xmlns:a="http://schemas.openxmlformats.org/drawingml/2006/main" noGrp="1"/>
          </p:cNvSpPr>
          <p:nvPr/>
        </p:nvSpPr>
        <p:spPr>
          <a:xfrm xmlns:a="http://schemas.openxmlformats.org/drawingml/2006/main">
            <a:off x="640080"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9" name="Text 37">
            <a:extLst xmlns:a="http://schemas.openxmlformats.org/drawingml/2006/main">
              <a:ext uri="{FF2B5EF4-FFF2-40B4-BE49-F238E27FC236}">
                <a16:creationId xmlns:a16="http://schemas.microsoft.com/office/drawing/2014/main" id="{48CCE24F-9C3B-46B5-B93C-BC04A499B281}"/>
              </a:ext>
            </a:extLst>
          </p:cNvPr>
          <p:cNvSpPr>
            <a:spLocks xmlns:a="http://schemas.openxmlformats.org/drawingml/2006/main" noGrp="1"/>
          </p:cNvSpPr>
          <p:nvPr/>
        </p:nvSpPr>
        <p:spPr>
          <a:xfrm xmlns:a="http://schemas.openxmlformats.org/drawingml/2006/main">
            <a:off x="896112"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F8A99"/>
                </a:solidFill>
                <a:latin typeface="Cambria"/>
                <a:ea typeface="Cambria"/>
                <a:cs typeface="Cambria"/>
              </a:rPr>
              <a:t>1</a:t>
            </a:r>
          </a:p>
        </p:txBody>
      </p:sp>
      <p:sp>
        <p:nvSpPr>
          <p:cNvPr id="40" name="Text 38">
            <a:extLst xmlns:a="http://schemas.openxmlformats.org/drawingml/2006/main">
              <a:ext uri="{FF2B5EF4-FFF2-40B4-BE49-F238E27FC236}">
                <a16:creationId xmlns:a16="http://schemas.microsoft.com/office/drawing/2014/main" id="{BF72CBEB-D1CB-41ED-B057-8EFE7E309D09}"/>
              </a:ext>
            </a:extLst>
          </p:cNvPr>
          <p:cNvSpPr>
            <a:spLocks xmlns:a="http://schemas.openxmlformats.org/drawingml/2006/main" noGrp="1"/>
          </p:cNvSpPr>
          <p:nvPr/>
        </p:nvSpPr>
        <p:spPr>
          <a:xfrm xmlns:a="http://schemas.openxmlformats.org/drawingml/2006/main">
            <a:off x="1508760"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Compacted execution</a:t>
            </a:r>
          </a:p>
        </p:txBody>
      </p:sp>
      <p:sp>
        <p:nvSpPr>
          <p:cNvPr id="41" name="Text 39">
            <a:extLst xmlns:a="http://schemas.openxmlformats.org/drawingml/2006/main">
              <a:ext uri="{FF2B5EF4-FFF2-40B4-BE49-F238E27FC236}">
                <a16:creationId xmlns:a16="http://schemas.microsoft.com/office/drawing/2014/main" id="{3AC213B7-8C59-49A7-BA32-83612397981F}"/>
              </a:ext>
            </a:extLst>
          </p:cNvPr>
          <p:cNvSpPr>
            <a:spLocks xmlns:a="http://schemas.openxmlformats.org/drawingml/2006/main" noGrp="1"/>
          </p:cNvSpPr>
          <p:nvPr/>
        </p:nvSpPr>
        <p:spPr>
          <a:xfrm xmlns:a="http://schemas.openxmlformats.org/drawingml/2006/main">
            <a:off x="914400"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Guard, gate, program, and verifier all pass; effects commit.</a:t>
            </a:r>
          </a:p>
        </p:txBody>
      </p:sp>
      <p:sp>
        <p:nvSpPr>
          <p:cNvPr id="42" name="Shape 40">
            <a:extLst xmlns:a="http://schemas.openxmlformats.org/drawingml/2006/main">
              <a:ext uri="{FF2B5EF4-FFF2-40B4-BE49-F238E27FC236}">
                <a16:creationId xmlns:a16="http://schemas.microsoft.com/office/drawing/2014/main" id="{04305CCB-F252-43C6-99FB-085B56BAF430}"/>
              </a:ext>
            </a:extLst>
          </p:cNvPr>
          <p:cNvSpPr>
            <a:spLocks xmlns:a="http://schemas.openxmlformats.org/drawingml/2006/main" noGrp="1"/>
          </p:cNvSpPr>
          <p:nvPr/>
        </p:nvSpPr>
        <p:spPr>
          <a:xfrm xmlns:a="http://schemas.openxmlformats.org/drawingml/2006/main">
            <a:off x="4368698" y="3712464"/>
            <a:ext cx="3454298" cy="1536192"/>
          </a:xfrm>
          <a:prstGeom xmlns:a="http://schemas.openxmlformats.org/drawingml/2006/main" prst="roundRect">
            <a:avLst>
              <a:gd name="adj" fmla="val 29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3" name="Text 41">
            <a:extLst xmlns:a="http://schemas.openxmlformats.org/drawingml/2006/main">
              <a:ext uri="{FF2B5EF4-FFF2-40B4-BE49-F238E27FC236}">
                <a16:creationId xmlns:a16="http://schemas.microsoft.com/office/drawing/2014/main" id="{6CBB8149-63E7-4A64-A72B-0B1800CE6EB3}"/>
              </a:ext>
            </a:extLst>
          </p:cNvPr>
          <p:cNvSpPr>
            <a:spLocks xmlns:a="http://schemas.openxmlformats.org/drawingml/2006/main" noGrp="1"/>
          </p:cNvSpPr>
          <p:nvPr/>
        </p:nvSpPr>
        <p:spPr>
          <a:xfrm xmlns:a="http://schemas.openxmlformats.org/drawingml/2006/main">
            <a:off x="4624730"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0E1E3A"/>
                </a:solidFill>
                <a:latin typeface="Cambria"/>
                <a:ea typeface="Cambria"/>
                <a:cs typeface="Cambria"/>
              </a:rPr>
              <a:t>n</a:t>
            </a:r>
          </a:p>
        </p:txBody>
      </p:sp>
      <p:sp>
        <p:nvSpPr>
          <p:cNvPr id="44" name="Text 42">
            <a:extLst xmlns:a="http://schemas.openxmlformats.org/drawingml/2006/main">
              <a:ext uri="{FF2B5EF4-FFF2-40B4-BE49-F238E27FC236}">
                <a16:creationId xmlns:a16="http://schemas.microsoft.com/office/drawing/2014/main" id="{0B8DDFD0-4E78-44ED-B4CC-FA2287F601BF}"/>
              </a:ext>
            </a:extLst>
          </p:cNvPr>
          <p:cNvSpPr>
            <a:spLocks xmlns:a="http://schemas.openxmlformats.org/drawingml/2006/main" noGrp="1"/>
          </p:cNvSpPr>
          <p:nvPr/>
        </p:nvSpPr>
        <p:spPr>
          <a:xfrm xmlns:a="http://schemas.openxmlformats.org/drawingml/2006/main">
            <a:off x="5237378"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Baseline agent runs</a:t>
            </a:r>
          </a:p>
        </p:txBody>
      </p:sp>
      <p:sp>
        <p:nvSpPr>
          <p:cNvPr id="45" name="Text 43">
            <a:extLst xmlns:a="http://schemas.openxmlformats.org/drawingml/2006/main">
              <a:ext uri="{FF2B5EF4-FFF2-40B4-BE49-F238E27FC236}">
                <a16:creationId xmlns:a16="http://schemas.microsoft.com/office/drawing/2014/main" id="{E2E8A682-45D9-466B-9B44-D3EDAD0F259B}"/>
              </a:ext>
            </a:extLst>
          </p:cNvPr>
          <p:cNvSpPr>
            <a:spLocks xmlns:a="http://schemas.openxmlformats.org/drawingml/2006/main" noGrp="1"/>
          </p:cNvSpPr>
          <p:nvPr/>
        </p:nvSpPr>
        <p:spPr>
          <a:xfrm xmlns:a="http://schemas.openxmlformats.org/drawingml/2006/main">
            <a:off x="4643018"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Any precondition miss, calibrated abstention, shadow mode, or a clean pre-commit failure.</a:t>
            </a:r>
          </a:p>
        </p:txBody>
      </p:sp>
      <p:sp>
        <p:nvSpPr>
          <p:cNvPr id="46" name="Shape 44">
            <a:extLst xmlns:a="http://schemas.openxmlformats.org/drawingml/2006/main">
              <a:ext uri="{FF2B5EF4-FFF2-40B4-BE49-F238E27FC236}">
                <a16:creationId xmlns:a16="http://schemas.microsoft.com/office/drawing/2014/main" id="{7DB65A75-CFC1-4DF1-8DF9-FF25E28CEF3B}"/>
              </a:ext>
            </a:extLst>
          </p:cNvPr>
          <p:cNvSpPr>
            <a:spLocks xmlns:a="http://schemas.openxmlformats.org/drawingml/2006/main" noGrp="1"/>
          </p:cNvSpPr>
          <p:nvPr/>
        </p:nvSpPr>
        <p:spPr>
          <a:xfrm xmlns:a="http://schemas.openxmlformats.org/drawingml/2006/main">
            <a:off x="8097317" y="3712464"/>
            <a:ext cx="3454298" cy="1536192"/>
          </a:xfrm>
          <a:prstGeom xmlns:a="http://schemas.openxmlformats.org/drawingml/2006/main" prst="roundRect">
            <a:avLst>
              <a:gd name="adj" fmla="val 29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47" name="Text 45">
            <a:extLst xmlns:a="http://schemas.openxmlformats.org/drawingml/2006/main">
              <a:ext uri="{FF2B5EF4-FFF2-40B4-BE49-F238E27FC236}">
                <a16:creationId xmlns:a16="http://schemas.microsoft.com/office/drawing/2014/main" id="{5735086B-EBC0-4E03-A428-110AE136F914}"/>
              </a:ext>
            </a:extLst>
          </p:cNvPr>
          <p:cNvSpPr>
            <a:spLocks xmlns:a="http://schemas.openxmlformats.org/drawingml/2006/main" noGrp="1"/>
          </p:cNvSpPr>
          <p:nvPr/>
        </p:nvSpPr>
        <p:spPr>
          <a:xfrm xmlns:a="http://schemas.openxmlformats.org/drawingml/2006/main">
            <a:off x="8353349" y="38587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A93B2B"/>
                </a:solidFill>
                <a:latin typeface="Cambria"/>
                <a:ea typeface="Cambria"/>
                <a:cs typeface="Cambria"/>
              </a:rPr>
              <a:t>n</a:t>
            </a:r>
          </a:p>
        </p:txBody>
      </p:sp>
      <p:sp>
        <p:nvSpPr>
          <p:cNvPr id="48" name="Text 46">
            <a:extLst xmlns:a="http://schemas.openxmlformats.org/drawingml/2006/main">
              <a:ext uri="{FF2B5EF4-FFF2-40B4-BE49-F238E27FC236}">
                <a16:creationId xmlns:a16="http://schemas.microsoft.com/office/drawing/2014/main" id="{BBFF69CD-FC2E-4884-BFED-E6D387C1B218}"/>
              </a:ext>
            </a:extLst>
          </p:cNvPr>
          <p:cNvSpPr>
            <a:spLocks xmlns:a="http://schemas.openxmlformats.org/drawingml/2006/main" noGrp="1"/>
          </p:cNvSpPr>
          <p:nvPr/>
        </p:nvSpPr>
        <p:spPr>
          <a:xfrm xmlns:a="http://schemas.openxmlformats.org/drawingml/2006/main">
            <a:off x="8965997" y="3913632"/>
            <a:ext cx="235701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Incident raised</a:t>
            </a:r>
          </a:p>
        </p:txBody>
      </p:sp>
      <p:sp>
        <p:nvSpPr>
          <p:cNvPr id="49" name="Text 47">
            <a:extLst xmlns:a="http://schemas.openxmlformats.org/drawingml/2006/main">
              <a:ext uri="{FF2B5EF4-FFF2-40B4-BE49-F238E27FC236}">
                <a16:creationId xmlns:a16="http://schemas.microsoft.com/office/drawing/2014/main" id="{4B33A21B-4658-4C13-B6C6-AFD517B44912}"/>
              </a:ext>
            </a:extLst>
          </p:cNvPr>
          <p:cNvSpPr>
            <a:spLocks xmlns:a="http://schemas.openxmlformats.org/drawingml/2006/main" noGrp="1"/>
          </p:cNvSpPr>
          <p:nvPr/>
        </p:nvSpPr>
        <p:spPr>
          <a:xfrm xmlns:a="http://schemas.openxmlformats.org/drawingml/2006/main">
            <a:off x="8371637" y="4407408"/>
            <a:ext cx="2905658"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 failed abort, failed commit, or post-commit failure — reversibility cannot be attested, so no rollback is feigned.</a:t>
            </a:r>
          </a:p>
        </p:txBody>
      </p:sp>
      <p:sp>
        <p:nvSpPr>
          <p:cNvPr id="50" name="Shape 48">
            <a:extLst xmlns:a="http://schemas.openxmlformats.org/drawingml/2006/main">
              <a:ext uri="{FF2B5EF4-FFF2-40B4-BE49-F238E27FC236}">
                <a16:creationId xmlns:a16="http://schemas.microsoft.com/office/drawing/2014/main" id="{75E896B5-C4F9-4DE4-9C8E-107CA7F2621B}"/>
              </a:ext>
            </a:extLst>
          </p:cNvPr>
          <p:cNvSpPr>
            <a:spLocks xmlns:a="http://schemas.openxmlformats.org/drawingml/2006/main" noGrp="1"/>
          </p:cNvSpPr>
          <p:nvPr/>
        </p:nvSpPr>
        <p:spPr>
          <a:xfrm xmlns:a="http://schemas.openxmlformats.org/drawingml/2006/main">
            <a:off x="640080" y="5413248"/>
            <a:ext cx="10911535" cy="713232"/>
          </a:xfrm>
          <a:prstGeom xmlns:a="http://schemas.openxmlformats.org/drawingml/2006/main" prst="roundRect">
            <a:avLst>
              <a:gd name="adj" fmla="val 64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51" name="Text 49">
            <a:extLst xmlns:a="http://schemas.openxmlformats.org/drawingml/2006/main">
              <a:ext uri="{FF2B5EF4-FFF2-40B4-BE49-F238E27FC236}">
                <a16:creationId xmlns:a16="http://schemas.microsoft.com/office/drawing/2014/main" id="{D2FE1A86-D2BF-41D6-90F0-7EEE3BF3022F}"/>
              </a:ext>
            </a:extLst>
          </p:cNvPr>
          <p:cNvSpPr>
            <a:spLocks xmlns:a="http://schemas.openxmlformats.org/drawingml/2006/main" noGrp="1"/>
          </p:cNvSpPr>
          <p:nvPr/>
        </p:nvSpPr>
        <p:spPr>
          <a:xfrm xmlns:a="http://schemas.openxmlformats.org/drawingml/2006/main">
            <a:off x="914400" y="5504688"/>
            <a:ext cx="10362895" cy="53035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b="1">
                <a:solidFill>
                  <a:srgbClr val="0E1E3A"/>
                </a:solidFill>
                <a:latin typeface="Calibri"/>
                <a:ea typeface="Calibri"/>
                <a:cs typeface="Calibri"/>
              </a:rPr>
              <a:t>Caveat: exact fallback still requires a staging owner. The GCS pre-model path avoids post-emission rollback by verifying its continuation pin, program, and task projection before the provider sees the observation.</a:t>
            </a:r>
          </a:p>
        </p:txBody>
      </p:sp>
    </p:spTree>
    <p:extLst>
      <p:ext uri="{BB962C8B-B14F-4D97-AF65-F5344CB8AC3E}">
        <p14:creationId xmlns:p14="http://schemas.microsoft.com/office/powerpoint/2010/main" val="8181589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8DA75E-6F49-4D2D-A221-C511A75011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CE99979-E267-4D39-9253-7BC389EA4A8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AB0C95FD-2058-4346-AA23-8A95C433DCE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6  ·  §3.6 AND ALGORITHM 3</a:t>
            </a:r>
          </a:p>
        </p:txBody>
      </p:sp>
      <p:sp>
        <p:nvSpPr>
          <p:cNvPr id="5" name="Text 3">
            <a:extLst xmlns:a="http://schemas.openxmlformats.org/drawingml/2006/main">
              <a:ext uri="{FF2B5EF4-FFF2-40B4-BE49-F238E27FC236}">
                <a16:creationId xmlns:a16="http://schemas.microsoft.com/office/drawing/2014/main" id="{4A3D8B0C-56F7-40E2-943D-358448B33C2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An exact gate is a data-hungry gate</a:t>
            </a:r>
          </a:p>
        </p:txBody>
      </p:sp>
      <p:sp>
        <p:nvSpPr>
          <p:cNvPr id="6" name="Text 4">
            <a:extLst xmlns:a="http://schemas.openxmlformats.org/drawingml/2006/main">
              <a:ext uri="{FF2B5EF4-FFF2-40B4-BE49-F238E27FC236}">
                <a16:creationId xmlns:a16="http://schemas.microsoft.com/office/drawing/2014/main" id="{E1093DB8-F1BF-492A-B0BC-B7AE7C7C17A0}"/>
              </a:ext>
            </a:extLst>
          </p:cNvPr>
          <p:cNvSpPr>
            <a:spLocks xmlns:a="http://schemas.openxmlformats.org/drawingml/2006/main" noGrp="1"/>
          </p:cNvSpPr>
          <p:nvPr/>
        </p:nvSpPr>
        <p:spPr>
          <a:xfrm xmlns:a="http://schemas.openxmlformats.org/drawingml/2006/main">
            <a:off x="640080" y="1426464"/>
            <a:ext cx="5943600" cy="2148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The score model and the eleven-threshold grid are frozen before any calibration group is seen — the score fitted on development groups only. That is what makes a union bound legitimate.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For each threshold the compiler counts dispatched groups that were wrong, computes a one-sided Clopper–Pearson upper bound, and selects the largest-coverage admissible one.</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If no threshold is admissible, the family retires. Normal retirement is a valid optimizer output, not an error path.</a:t>
            </a:r>
          </a:p>
        </p:txBody>
      </p:sp>
      <p:sp>
        <p:nvSpPr>
          <p:cNvPr id="7" name="Shape 5">
            <a:extLst xmlns:a="http://schemas.openxmlformats.org/drawingml/2006/main">
              <a:ext uri="{FF2B5EF4-FFF2-40B4-BE49-F238E27FC236}">
                <a16:creationId xmlns:a16="http://schemas.microsoft.com/office/drawing/2014/main" id="{654EF96E-0CA4-497E-B708-ECE91B5A1F33}"/>
              </a:ext>
            </a:extLst>
          </p:cNvPr>
          <p:cNvSpPr>
            <a:spLocks xmlns:a="http://schemas.openxmlformats.org/drawingml/2006/main" noGrp="1"/>
          </p:cNvSpPr>
          <p:nvPr/>
        </p:nvSpPr>
        <p:spPr>
          <a:xfrm xmlns:a="http://schemas.openxmlformats.org/drawingml/2006/main">
            <a:off x="640080" y="3730752"/>
            <a:ext cx="5943600" cy="1243584"/>
          </a:xfrm>
          <a:prstGeom xmlns:a="http://schemas.openxmlformats.org/drawingml/2006/main" prst="roundRect">
            <a:avLst>
              <a:gd name="adj" fmla="val 367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6BEDA9A-EC64-4F3C-8C21-79A8E7942114}"/>
              </a:ext>
            </a:extLst>
          </p:cNvPr>
          <p:cNvSpPr>
            <a:spLocks xmlns:a="http://schemas.openxmlformats.org/drawingml/2006/main" noGrp="1"/>
          </p:cNvSpPr>
          <p:nvPr/>
        </p:nvSpPr>
        <p:spPr>
          <a:xfrm xmlns:a="http://schemas.openxmlformats.org/drawingml/2006/main">
            <a:off x="896112" y="3858768"/>
            <a:ext cx="54864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A93B2B"/>
                </a:solidFill>
                <a:latin typeface="Calibri"/>
                <a:ea typeface="Calibri"/>
                <a:cs typeface="Calibri"/>
              </a:rPr>
              <a:t>WHAT α ACTUALLY BOUNDS</a:t>
            </a:r>
          </a:p>
        </p:txBody>
      </p:sp>
      <p:sp>
        <p:nvSpPr>
          <p:cNvPr id="9" name="Text 7">
            <a:extLst xmlns:a="http://schemas.openxmlformats.org/drawingml/2006/main">
              <a:ext uri="{FF2B5EF4-FFF2-40B4-BE49-F238E27FC236}">
                <a16:creationId xmlns:a16="http://schemas.microsoft.com/office/drawing/2014/main" id="{144C2540-40E1-4E94-BC8C-494F8C154813}"/>
              </a:ext>
            </a:extLst>
          </p:cNvPr>
          <p:cNvSpPr>
            <a:spLocks xmlns:a="http://schemas.openxmlformats.org/drawingml/2006/main" noGrp="1"/>
          </p:cNvSpPr>
          <p:nvPr/>
        </p:nvSpPr>
        <p:spPr>
          <a:xfrm xmlns:a="http://schemas.openxmlformats.org/drawingml/2006/main">
            <a:off x="896112" y="4114800"/>
            <a:ext cx="5486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50">
                <a:solidFill>
                  <a:srgbClr val="5C4034"/>
                </a:solidFill>
                <a:latin typeface="Calibri"/>
                <a:ea typeface="Calibri"/>
                <a:cs typeface="Calibri"/>
              </a:rPr>
              <a:t>The rate at which a compiled region breaks its own registered contract — not the rate at which the agent's task outcome is wrong. The verifier is induced from the same traces the program was synthesized from.</a:t>
            </a:r>
          </a:p>
        </p:txBody>
      </p:sp>
      <p:sp>
        <p:nvSpPr>
          <p:cNvPr id="10" name="Shape 8">
            <a:extLst xmlns:a="http://schemas.openxmlformats.org/drawingml/2006/main">
              <a:ext uri="{FF2B5EF4-FFF2-40B4-BE49-F238E27FC236}">
                <a16:creationId xmlns:a16="http://schemas.microsoft.com/office/drawing/2014/main" id="{034376D7-C442-43EE-B8DF-589B6699E3E7}"/>
              </a:ext>
            </a:extLst>
          </p:cNvPr>
          <p:cNvSpPr>
            <a:spLocks xmlns:a="http://schemas.openxmlformats.org/drawingml/2006/main" noGrp="1"/>
          </p:cNvSpPr>
          <p:nvPr/>
        </p:nvSpPr>
        <p:spPr>
          <a:xfrm xmlns:a="http://schemas.openxmlformats.org/drawingml/2006/main">
            <a:off x="6903720" y="1426464"/>
            <a:ext cx="4647895" cy="3547872"/>
          </a:xfrm>
          <a:prstGeom xmlns:a="http://schemas.openxmlformats.org/drawingml/2006/main" prst="roundRect">
            <a:avLst>
              <a:gd name="adj" fmla="val 128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7E000CB5-F6C7-46C1-BB8B-30189FE72492}"/>
              </a:ext>
            </a:extLst>
          </p:cNvPr>
          <p:cNvSpPr>
            <a:spLocks xmlns:a="http://schemas.openxmlformats.org/drawingml/2006/main" noGrp="1"/>
          </p:cNvSpPr>
          <p:nvPr/>
        </p:nvSpPr>
        <p:spPr>
          <a:xfrm xmlns:a="http://schemas.openxmlformats.org/drawingml/2006/main">
            <a:off x="7178040" y="1609344"/>
            <a:ext cx="409925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SAMPLE REQUIREMENT AT THE CONFIGURED SETTING</a:t>
            </a:r>
          </a:p>
        </p:txBody>
      </p:sp>
      <p:sp>
        <p:nvSpPr>
          <p:cNvPr id="12" name="Text 10">
            <a:extLst xmlns:a="http://schemas.openxmlformats.org/drawingml/2006/main">
              <a:ext uri="{FF2B5EF4-FFF2-40B4-BE49-F238E27FC236}">
                <a16:creationId xmlns:a16="http://schemas.microsoft.com/office/drawing/2014/main" id="{1A10A0C2-1FF0-4CCD-B83A-C573662C7673}"/>
              </a:ext>
            </a:extLst>
          </p:cNvPr>
          <p:cNvSpPr>
            <a:spLocks xmlns:a="http://schemas.openxmlformats.org/drawingml/2006/main" noGrp="1"/>
          </p:cNvSpPr>
          <p:nvPr/>
        </p:nvSpPr>
        <p:spPr>
          <a:xfrm xmlns:a="http://schemas.openxmlformats.org/drawingml/2006/main">
            <a:off x="7178040" y="1938528"/>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α = .05</a:t>
            </a:r>
          </a:p>
        </p:txBody>
      </p:sp>
      <p:sp>
        <p:nvSpPr>
          <p:cNvPr id="13" name="Text 11">
            <a:extLst xmlns:a="http://schemas.openxmlformats.org/drawingml/2006/main">
              <a:ext uri="{FF2B5EF4-FFF2-40B4-BE49-F238E27FC236}">
                <a16:creationId xmlns:a16="http://schemas.microsoft.com/office/drawing/2014/main" id="{268708BD-0956-4AC7-9B6D-4BB1EBCFC6A1}"/>
              </a:ext>
            </a:extLst>
          </p:cNvPr>
          <p:cNvSpPr>
            <a:spLocks xmlns:a="http://schemas.openxmlformats.org/drawingml/2006/main" noGrp="1"/>
          </p:cNvSpPr>
          <p:nvPr/>
        </p:nvSpPr>
        <p:spPr>
          <a:xfrm xmlns:a="http://schemas.openxmlformats.org/drawingml/2006/main">
            <a:off x="8595360" y="1938528"/>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risk budget</a:t>
            </a:r>
          </a:p>
        </p:txBody>
      </p:sp>
      <p:sp>
        <p:nvSpPr>
          <p:cNvPr id="14" name="Text 12">
            <a:extLst xmlns:a="http://schemas.openxmlformats.org/drawingml/2006/main">
              <a:ext uri="{FF2B5EF4-FFF2-40B4-BE49-F238E27FC236}">
                <a16:creationId xmlns:a16="http://schemas.microsoft.com/office/drawing/2014/main" id="{905B5889-708E-4251-B068-F18575014DEA}"/>
              </a:ext>
            </a:extLst>
          </p:cNvPr>
          <p:cNvSpPr>
            <a:spLocks xmlns:a="http://schemas.openxmlformats.org/drawingml/2006/main" noGrp="1"/>
          </p:cNvSpPr>
          <p:nvPr/>
        </p:nvSpPr>
        <p:spPr>
          <a:xfrm xmlns:a="http://schemas.openxmlformats.org/drawingml/2006/main">
            <a:off x="7178040" y="234086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δ = .10</a:t>
            </a:r>
          </a:p>
        </p:txBody>
      </p:sp>
      <p:sp>
        <p:nvSpPr>
          <p:cNvPr id="15" name="Text 13">
            <a:extLst xmlns:a="http://schemas.openxmlformats.org/drawingml/2006/main">
              <a:ext uri="{FF2B5EF4-FFF2-40B4-BE49-F238E27FC236}">
                <a16:creationId xmlns:a16="http://schemas.microsoft.com/office/drawing/2014/main" id="{DCFF0E06-FC0A-4619-9307-D818B05D2758}"/>
              </a:ext>
            </a:extLst>
          </p:cNvPr>
          <p:cNvSpPr>
            <a:spLocks xmlns:a="http://schemas.openxmlformats.org/drawingml/2006/main" noGrp="1"/>
          </p:cNvSpPr>
          <p:nvPr/>
        </p:nvSpPr>
        <p:spPr>
          <a:xfrm xmlns:a="http://schemas.openxmlformats.org/drawingml/2006/main">
            <a:off x="8595360" y="2340864"/>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confidence budget</a:t>
            </a:r>
          </a:p>
        </p:txBody>
      </p:sp>
      <p:sp>
        <p:nvSpPr>
          <p:cNvPr id="16" name="Text 14">
            <a:extLst xmlns:a="http://schemas.openxmlformats.org/drawingml/2006/main">
              <a:ext uri="{FF2B5EF4-FFF2-40B4-BE49-F238E27FC236}">
                <a16:creationId xmlns:a16="http://schemas.microsoft.com/office/drawing/2014/main" id="{F7C73F8C-AE19-4EAF-B818-96685851794F}"/>
              </a:ext>
            </a:extLst>
          </p:cNvPr>
          <p:cNvSpPr>
            <a:spLocks xmlns:a="http://schemas.openxmlformats.org/drawingml/2006/main" noGrp="1"/>
          </p:cNvSpPr>
          <p:nvPr/>
        </p:nvSpPr>
        <p:spPr>
          <a:xfrm xmlns:a="http://schemas.openxmlformats.org/drawingml/2006/main">
            <a:off x="7178040" y="274320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|Λ| = 11</a:t>
            </a:r>
          </a:p>
        </p:txBody>
      </p:sp>
      <p:sp>
        <p:nvSpPr>
          <p:cNvPr id="17" name="Text 15">
            <a:extLst xmlns:a="http://schemas.openxmlformats.org/drawingml/2006/main">
              <a:ext uri="{FF2B5EF4-FFF2-40B4-BE49-F238E27FC236}">
                <a16:creationId xmlns:a16="http://schemas.microsoft.com/office/drawing/2014/main" id="{2CFC8FE3-B1AB-4186-A8C5-FF0D077AA6C0}"/>
              </a:ext>
            </a:extLst>
          </p:cNvPr>
          <p:cNvSpPr>
            <a:spLocks xmlns:a="http://schemas.openxmlformats.org/drawingml/2006/main" noGrp="1"/>
          </p:cNvSpPr>
          <p:nvPr/>
        </p:nvSpPr>
        <p:spPr>
          <a:xfrm xmlns:a="http://schemas.openxmlformats.org/drawingml/2006/main">
            <a:off x="8595360" y="2743200"/>
            <a:ext cx="263621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5A6B84"/>
                </a:solidFill>
                <a:latin typeface="Calibri"/>
                <a:ea typeface="Calibri"/>
                <a:cs typeface="Calibri"/>
              </a:rPr>
              <a:t>frozen thresholds</a:t>
            </a:r>
          </a:p>
        </p:txBody>
      </p:sp>
      <p:sp>
        <p:nvSpPr>
          <p:cNvPr id="18" name="Shape 16">
            <a:extLst xmlns:a="http://schemas.openxmlformats.org/drawingml/2006/main">
              <a:ext uri="{FF2B5EF4-FFF2-40B4-BE49-F238E27FC236}">
                <a16:creationId xmlns:a16="http://schemas.microsoft.com/office/drawing/2014/main" id="{6EAE12AE-7D64-4A5D-B094-C95D4C40A8B0}"/>
              </a:ext>
            </a:extLst>
          </p:cNvPr>
          <p:cNvSpPr>
            <a:spLocks xmlns:a="http://schemas.openxmlformats.org/drawingml/2006/main" noGrp="1"/>
          </p:cNvSpPr>
          <p:nvPr/>
        </p:nvSpPr>
        <p:spPr>
          <a:xfrm xmlns:a="http://schemas.openxmlformats.org/drawingml/2006/main">
            <a:off x="7178040" y="3200400"/>
            <a:ext cx="409925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55EB7B9E-7678-4FA5-AC7B-8CA990B28CA1}"/>
              </a:ext>
            </a:extLst>
          </p:cNvPr>
          <p:cNvSpPr>
            <a:spLocks xmlns:a="http://schemas.openxmlformats.org/drawingml/2006/main" noGrp="1"/>
          </p:cNvSpPr>
          <p:nvPr/>
        </p:nvSpPr>
        <p:spPr>
          <a:xfrm xmlns:a="http://schemas.openxmlformats.org/drawingml/2006/main">
            <a:off x="7178040" y="3346704"/>
            <a:ext cx="13716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000" b="1">
                <a:solidFill>
                  <a:srgbClr val="1F8A99"/>
                </a:solidFill>
                <a:latin typeface="Cambria"/>
                <a:ea typeface="Cambria"/>
                <a:cs typeface="Cambria"/>
              </a:rPr>
              <a:t>92</a:t>
            </a:r>
          </a:p>
        </p:txBody>
      </p:sp>
      <p:sp>
        <p:nvSpPr>
          <p:cNvPr id="20" name="Text 18">
            <a:extLst xmlns:a="http://schemas.openxmlformats.org/drawingml/2006/main">
              <a:ext uri="{FF2B5EF4-FFF2-40B4-BE49-F238E27FC236}">
                <a16:creationId xmlns:a16="http://schemas.microsoft.com/office/drawing/2014/main" id="{CDBCEF4B-0F2F-4080-8D1A-C2BEC2DDCEBE}"/>
              </a:ext>
            </a:extLst>
          </p:cNvPr>
          <p:cNvSpPr>
            <a:spLocks xmlns:a="http://schemas.openxmlformats.org/drawingml/2006/main" noGrp="1"/>
          </p:cNvSpPr>
          <p:nvPr/>
        </p:nvSpPr>
        <p:spPr>
          <a:xfrm xmlns:a="http://schemas.openxmlformats.org/drawingml/2006/main">
            <a:off x="8595360" y="3383280"/>
            <a:ext cx="263621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24354F"/>
                </a:solidFill>
                <a:latin typeface="Calibri"/>
                <a:ea typeface="Calibri"/>
                <a:cs typeface="Calibri"/>
              </a:rPr>
              <a:t>independent zero-violation group records needed before any artifact can be admitted</a:t>
            </a:r>
          </a:p>
        </p:txBody>
      </p:sp>
      <p:sp>
        <p:nvSpPr>
          <p:cNvPr id="21" name="Text 19">
            <a:extLst xmlns:a="http://schemas.openxmlformats.org/drawingml/2006/main">
              <a:ext uri="{FF2B5EF4-FFF2-40B4-BE49-F238E27FC236}">
                <a16:creationId xmlns:a16="http://schemas.microsoft.com/office/drawing/2014/main" id="{3037723F-64C7-4DEF-9781-54AD75C73F30}"/>
              </a:ext>
            </a:extLst>
          </p:cNvPr>
          <p:cNvSpPr>
            <a:spLocks xmlns:a="http://schemas.openxmlformats.org/drawingml/2006/main" noGrp="1"/>
          </p:cNvSpPr>
          <p:nvPr/>
        </p:nvSpPr>
        <p:spPr>
          <a:xfrm xmlns:a="http://schemas.openxmlformats.org/drawingml/2006/main">
            <a:off x="7178040" y="4206240"/>
            <a:ext cx="409925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A design parameter as much as a data property: pre-committing to a single threshold instead of a grid of eleven drops the requirement to 45.</a:t>
            </a:r>
          </a:p>
        </p:txBody>
      </p:sp>
      <p:sp>
        <p:nvSpPr>
          <p:cNvPr id="22" name="Shape 20">
            <a:extLst xmlns:a="http://schemas.openxmlformats.org/drawingml/2006/main">
              <a:ext uri="{FF2B5EF4-FFF2-40B4-BE49-F238E27FC236}">
                <a16:creationId xmlns:a16="http://schemas.microsoft.com/office/drawing/2014/main" id="{B4E26691-8857-4ADB-A150-CE3F1A41AB8A}"/>
              </a:ext>
            </a:extLst>
          </p:cNvPr>
          <p:cNvSpPr>
            <a:spLocks xmlns:a="http://schemas.openxmlformats.org/drawingml/2006/main" noGrp="1"/>
          </p:cNvSpPr>
          <p:nvPr/>
        </p:nvSpPr>
        <p:spPr>
          <a:xfrm xmlns:a="http://schemas.openxmlformats.org/drawingml/2006/main">
            <a:off x="640080" y="5138928"/>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94578AB1-9521-42B2-AC47-9E3368B73E9E}"/>
              </a:ext>
            </a:extLst>
          </p:cNvPr>
          <p:cNvSpPr>
            <a:spLocks xmlns:a="http://schemas.openxmlformats.org/drawingml/2006/main" noGrp="1"/>
          </p:cNvSpPr>
          <p:nvPr/>
        </p:nvSpPr>
        <p:spPr>
          <a:xfrm xmlns:a="http://schemas.openxmlformats.org/drawingml/2006/main">
            <a:off x="914400" y="5248656"/>
            <a:ext cx="103628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0E1E3A"/>
                </a:solidFill>
                <a:latin typeface="Calibri"/>
                <a:ea typeface="Calibri"/>
                <a:cs typeface="Calibri"/>
              </a:rPr>
              <a:t>Independence is load-bearing. </a:t>
            </a:r>
            <a:r>
              <a:rPr sz="1200">
                <a:solidFill>
                  <a:srgbClr val="24354F"/>
                </a:solidFill>
                <a:latin typeface="Calibri"/>
                <a:ea typeface="Calibri"/>
                <a:cs typeface="Calibri"/>
              </a:rPr>
              <a:t>Groups from one repository, tenant, or time window are plausibly correlated; a clustered deployment must calibrate at the cluster level and check sensitivity with a block bootstrap or a beta-binomial model.</a:t>
            </a:r>
          </a:p>
        </p:txBody>
      </p:sp>
    </p:spTree>
    <p:extLst>
      <p:ext uri="{BB962C8B-B14F-4D97-AF65-F5344CB8AC3E}">
        <p14:creationId xmlns:p14="http://schemas.microsoft.com/office/powerpoint/2010/main" val="187724993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9120F78-4269-4412-BDC9-0EB87DD12ED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35AD63B-A434-4B30-80F5-17A9AFD71E2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843257D8-EB9A-4338-9747-851E36D269A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  ·  REJECTION POINT 3  ·  §3.1–3.2</a:t>
            </a:r>
          </a:p>
        </p:txBody>
      </p:sp>
      <p:sp>
        <p:nvSpPr>
          <p:cNvPr id="5" name="Text 3">
            <a:extLst xmlns:a="http://schemas.openxmlformats.org/drawingml/2006/main">
              <a:ext uri="{FF2B5EF4-FFF2-40B4-BE49-F238E27FC236}">
                <a16:creationId xmlns:a16="http://schemas.microsoft.com/office/drawing/2014/main" id="{B7D635AE-FE64-46DC-9528-92DBC9F26B2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Decline before you build</a:t>
            </a:r>
          </a:p>
        </p:txBody>
      </p:sp>
      <p:sp>
        <p:nvSpPr>
          <p:cNvPr id="6" name="Text 4">
            <a:extLst xmlns:a="http://schemas.openxmlformats.org/drawingml/2006/main">
              <a:ext uri="{FF2B5EF4-FFF2-40B4-BE49-F238E27FC236}">
                <a16:creationId xmlns:a16="http://schemas.microsoft.com/office/drawing/2014/main" id="{CF91DAB5-45B1-42E8-BC23-1688F29297E9}"/>
              </a:ext>
            </a:extLst>
          </p:cNvPr>
          <p:cNvSpPr>
            <a:spLocks xmlns:a="http://schemas.openxmlformats.org/drawingml/2006/main" noGrp="1"/>
          </p:cNvSpPr>
          <p:nvPr/>
        </p:nvSpPr>
        <p:spPr>
          <a:xfrm xmlns:a="http://schemas.openxmlformats.org/drawingml/2006/main">
            <a:off x="640080" y="1389888"/>
            <a:ext cx="6035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Before any synthesis runs, a feasibility estimator bounds what the compiler could achieve even with a perfect verifier and a gate that never abstains: the removable requests per dispatch, divided by the baseline requests per episode, scaled by the share of episodes holding an eligible region.</a:t>
            </a:r>
          </a:p>
        </p:txBody>
      </p:sp>
      <p:sp>
        <p:nvSpPr>
          <p:cNvPr id="7" name="Shape 5">
            <a:extLst xmlns:a="http://schemas.openxmlformats.org/drawingml/2006/main">
              <a:ext uri="{FF2B5EF4-FFF2-40B4-BE49-F238E27FC236}">
                <a16:creationId xmlns:a16="http://schemas.microsoft.com/office/drawing/2014/main" id="{64479950-7165-4AFB-8914-303D2EF0D019}"/>
              </a:ext>
            </a:extLst>
          </p:cNvPr>
          <p:cNvSpPr>
            <a:spLocks xmlns:a="http://schemas.openxmlformats.org/drawingml/2006/main" noGrp="1"/>
          </p:cNvSpPr>
          <p:nvPr/>
        </p:nvSpPr>
        <p:spPr>
          <a:xfrm xmlns:a="http://schemas.openxmlformats.org/drawingml/2006/main">
            <a:off x="640080" y="2880360"/>
            <a:ext cx="6035040"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16146D52-ED36-4B02-8B76-BA29F6DAB6D5}"/>
              </a:ext>
            </a:extLst>
          </p:cNvPr>
          <p:cNvSpPr>
            <a:spLocks xmlns:a="http://schemas.openxmlformats.org/drawingml/2006/main" noGrp="1"/>
          </p:cNvSpPr>
          <p:nvPr/>
        </p:nvSpPr>
        <p:spPr>
          <a:xfrm xmlns:a="http://schemas.openxmlformats.org/drawingml/2006/main">
            <a:off x="932688" y="3054096"/>
            <a:ext cx="2743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i="1">
                <a:solidFill>
                  <a:srgbClr val="0E1E3A"/>
                </a:solidFill>
                <a:latin typeface="Cambria"/>
                <a:ea typeface="Cambria"/>
                <a:cs typeface="Cambria"/>
              </a:rPr>
              <a:t>Δmax  =  φ k / nᴮ</a:t>
            </a:r>
          </a:p>
        </p:txBody>
      </p:sp>
      <p:sp>
        <p:nvSpPr>
          <p:cNvPr id="9" name="Text 7">
            <a:extLst xmlns:a="http://schemas.openxmlformats.org/drawingml/2006/main">
              <a:ext uri="{FF2B5EF4-FFF2-40B4-BE49-F238E27FC236}">
                <a16:creationId xmlns:a16="http://schemas.microsoft.com/office/drawing/2014/main" id="{20457904-46E0-41F8-9F53-7AD2B865DC58}"/>
              </a:ext>
            </a:extLst>
          </p:cNvPr>
          <p:cNvSpPr>
            <a:spLocks xmlns:a="http://schemas.openxmlformats.org/drawingml/2006/main" noGrp="1"/>
          </p:cNvSpPr>
          <p:nvPr/>
        </p:nvSpPr>
        <p:spPr>
          <a:xfrm xmlns:a="http://schemas.openxmlformats.org/drawingml/2006/main">
            <a:off x="932688" y="3584448"/>
            <a:ext cx="5486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a:solidFill>
                  <a:srgbClr val="5A6B84"/>
                </a:solidFill>
                <a:latin typeface="Calibri"/>
                <a:ea typeface="Calibri"/>
                <a:cs typeface="Calibri"/>
              </a:rPr>
              <a:t>φ = share of eligible episodes  ·  k = requests removed per dispatch  ·  nᴮ = baseline requests per episode</a:t>
            </a:r>
          </a:p>
        </p:txBody>
      </p:sp>
      <p:sp>
        <p:nvSpPr>
          <p:cNvPr id="10" name="Shape 8">
            <a:extLst xmlns:a="http://schemas.openxmlformats.org/drawingml/2006/main">
              <a:ext uri="{FF2B5EF4-FFF2-40B4-BE49-F238E27FC236}">
                <a16:creationId xmlns:a16="http://schemas.microsoft.com/office/drawing/2014/main" id="{F8067CE0-010E-4461-80F9-CF471B0AE886}"/>
              </a:ext>
            </a:extLst>
          </p:cNvPr>
          <p:cNvSpPr>
            <a:spLocks xmlns:a="http://schemas.openxmlformats.org/drawingml/2006/main" noGrp="1"/>
          </p:cNvSpPr>
          <p:nvPr/>
        </p:nvSpPr>
        <p:spPr>
          <a:xfrm xmlns:a="http://schemas.openxmlformats.org/drawingml/2006/main">
            <a:off x="640080" y="4526280"/>
            <a:ext cx="6035040"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9">
            <a:extLst xmlns:a="http://schemas.openxmlformats.org/drawingml/2006/main">
              <a:ext uri="{FF2B5EF4-FFF2-40B4-BE49-F238E27FC236}">
                <a16:creationId xmlns:a16="http://schemas.microsoft.com/office/drawing/2014/main" id="{2F95AC69-DCC1-4D20-A8CC-3F2AB8417719}"/>
              </a:ext>
            </a:extLst>
          </p:cNvPr>
          <p:cNvSpPr>
            <a:spLocks xmlns:a="http://schemas.openxmlformats.org/drawingml/2006/main" noGrp="1"/>
          </p:cNvSpPr>
          <p:nvPr/>
        </p:nvSpPr>
        <p:spPr>
          <a:xfrm xmlns:a="http://schemas.openxmlformats.org/drawingml/2006/main">
            <a:off x="932688" y="4681728"/>
            <a:ext cx="5486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300">
                <a:solidFill>
                  <a:srgbClr val="24354F"/>
                </a:solidFill>
                <a:latin typeface="Calibri"/>
                <a:ea typeface="Calibri"/>
                <a:cs typeface="Calibri"/>
              </a:rPr>
              <a:t>A workload whose ceiling is under the target can be declined without building a compiler for it — which makes a decisive negative answer cheap.</a:t>
            </a:r>
          </a:p>
        </p:txBody>
      </p:sp>
      <p:sp>
        <p:nvSpPr>
          <p:cNvPr id="12" name="Shape 10">
            <a:extLst xmlns:a="http://schemas.openxmlformats.org/drawingml/2006/main">
              <a:ext uri="{FF2B5EF4-FFF2-40B4-BE49-F238E27FC236}">
                <a16:creationId xmlns:a16="http://schemas.microsoft.com/office/drawing/2014/main" id="{57DF3CE3-257C-4F3B-AE4B-722D5E87F879}"/>
              </a:ext>
            </a:extLst>
          </p:cNvPr>
          <p:cNvSpPr>
            <a:spLocks xmlns:a="http://schemas.openxmlformats.org/drawingml/2006/main" noGrp="1"/>
          </p:cNvSpPr>
          <p:nvPr/>
        </p:nvSpPr>
        <p:spPr>
          <a:xfrm xmlns:a="http://schemas.openxmlformats.org/drawingml/2006/main">
            <a:off x="7086600" y="1389888"/>
            <a:ext cx="4465015" cy="4379976"/>
          </a:xfrm>
          <a:prstGeom xmlns:a="http://schemas.openxmlformats.org/drawingml/2006/main" prst="roundRect">
            <a:avLst>
              <a:gd name="adj" fmla="val 1044"/>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01863342-29DE-46CD-9DDF-97C142AB10D0}"/>
              </a:ext>
            </a:extLst>
          </p:cNvPr>
          <p:cNvSpPr>
            <a:spLocks xmlns:a="http://schemas.openxmlformats.org/drawingml/2006/main" noGrp="1"/>
          </p:cNvSpPr>
          <p:nvPr/>
        </p:nvSpPr>
        <p:spPr>
          <a:xfrm xmlns:a="http://schemas.openxmlformats.org/drawingml/2006/main">
            <a:off x="7360920" y="1572768"/>
            <a:ext cx="391637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WORKED EXAMPLE — THE FIXED-PREFIX GITHUB STUDY</a:t>
            </a:r>
          </a:p>
        </p:txBody>
      </p:sp>
      <p:sp>
        <p:nvSpPr>
          <p:cNvPr id="14" name="Text 12">
            <a:extLst xmlns:a="http://schemas.openxmlformats.org/drawingml/2006/main">
              <a:ext uri="{FF2B5EF4-FFF2-40B4-BE49-F238E27FC236}">
                <a16:creationId xmlns:a16="http://schemas.microsoft.com/office/drawing/2014/main" id="{C3137D35-D186-4382-AB6D-CDFAE06BF90E}"/>
              </a:ext>
            </a:extLst>
          </p:cNvPr>
          <p:cNvSpPr>
            <a:spLocks xmlns:a="http://schemas.openxmlformats.org/drawingml/2006/main" noGrp="1"/>
          </p:cNvSpPr>
          <p:nvPr/>
        </p:nvSpPr>
        <p:spPr>
          <a:xfrm xmlns:a="http://schemas.openxmlformats.org/drawingml/2006/main">
            <a:off x="7360920" y="19202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φ = 1</a:t>
            </a:r>
          </a:p>
        </p:txBody>
      </p:sp>
      <p:sp>
        <p:nvSpPr>
          <p:cNvPr id="15" name="Text 13">
            <a:extLst xmlns:a="http://schemas.openxmlformats.org/drawingml/2006/main">
              <a:ext uri="{FF2B5EF4-FFF2-40B4-BE49-F238E27FC236}">
                <a16:creationId xmlns:a16="http://schemas.microsoft.com/office/drawing/2014/main" id="{36105770-8589-4913-9375-5C6968A77A17}"/>
              </a:ext>
            </a:extLst>
          </p:cNvPr>
          <p:cNvSpPr>
            <a:spLocks xmlns:a="http://schemas.openxmlformats.org/drawingml/2006/main" noGrp="1"/>
          </p:cNvSpPr>
          <p:nvPr/>
        </p:nvSpPr>
        <p:spPr>
          <a:xfrm xmlns:a="http://schemas.openxmlformats.org/drawingml/2006/main">
            <a:off x="8503920" y="19202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every episode holds an eligible region</a:t>
            </a:r>
          </a:p>
        </p:txBody>
      </p:sp>
      <p:sp>
        <p:nvSpPr>
          <p:cNvPr id="16" name="Text 14">
            <a:extLst xmlns:a="http://schemas.openxmlformats.org/drawingml/2006/main">
              <a:ext uri="{FF2B5EF4-FFF2-40B4-BE49-F238E27FC236}">
                <a16:creationId xmlns:a16="http://schemas.microsoft.com/office/drawing/2014/main" id="{87AD7028-96B7-44EB-B59B-9BB386ED8928}"/>
              </a:ext>
            </a:extLst>
          </p:cNvPr>
          <p:cNvSpPr>
            <a:spLocks xmlns:a="http://schemas.openxmlformats.org/drawingml/2006/main" noGrp="1"/>
          </p:cNvSpPr>
          <p:nvPr/>
        </p:nvSpPr>
        <p:spPr>
          <a:xfrm xmlns:a="http://schemas.openxmlformats.org/drawingml/2006/main">
            <a:off x="7360920" y="23774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k = 3</a:t>
            </a:r>
          </a:p>
        </p:txBody>
      </p:sp>
      <p:sp>
        <p:nvSpPr>
          <p:cNvPr id="17" name="Text 15">
            <a:extLst xmlns:a="http://schemas.openxmlformats.org/drawingml/2006/main">
              <a:ext uri="{FF2B5EF4-FFF2-40B4-BE49-F238E27FC236}">
                <a16:creationId xmlns:a16="http://schemas.microsoft.com/office/drawing/2014/main" id="{38ECB354-D2D2-4FF2-9C9F-F30A99F32F6D}"/>
              </a:ext>
            </a:extLst>
          </p:cNvPr>
          <p:cNvSpPr>
            <a:spLocks xmlns:a="http://schemas.openxmlformats.org/drawingml/2006/main" noGrp="1"/>
          </p:cNvSpPr>
          <p:nvPr/>
        </p:nvSpPr>
        <p:spPr>
          <a:xfrm xmlns:a="http://schemas.openxmlformats.org/drawingml/2006/main">
            <a:off x="8503920" y="23774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three model requests removable</a:t>
            </a:r>
          </a:p>
        </p:txBody>
      </p:sp>
      <p:sp>
        <p:nvSpPr>
          <p:cNvPr id="18" name="Text 16">
            <a:extLst xmlns:a="http://schemas.openxmlformats.org/drawingml/2006/main">
              <a:ext uri="{FF2B5EF4-FFF2-40B4-BE49-F238E27FC236}">
                <a16:creationId xmlns:a16="http://schemas.microsoft.com/office/drawing/2014/main" id="{31C2ED5F-3EC1-4384-A070-0C270C4A7E1E}"/>
              </a:ext>
            </a:extLst>
          </p:cNvPr>
          <p:cNvSpPr>
            <a:spLocks xmlns:a="http://schemas.openxmlformats.org/drawingml/2006/main" noGrp="1"/>
          </p:cNvSpPr>
          <p:nvPr/>
        </p:nvSpPr>
        <p:spPr>
          <a:xfrm xmlns:a="http://schemas.openxmlformats.org/drawingml/2006/main">
            <a:off x="7360920" y="2834640"/>
            <a:ext cx="10515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nᴮ = 4</a:t>
            </a:r>
          </a:p>
        </p:txBody>
      </p:sp>
      <p:sp>
        <p:nvSpPr>
          <p:cNvPr id="19" name="Text 17">
            <a:extLst xmlns:a="http://schemas.openxmlformats.org/drawingml/2006/main">
              <a:ext uri="{FF2B5EF4-FFF2-40B4-BE49-F238E27FC236}">
                <a16:creationId xmlns:a16="http://schemas.microsoft.com/office/drawing/2014/main" id="{852744D2-B358-4A6F-9144-3AA0941A5305}"/>
              </a:ext>
            </a:extLst>
          </p:cNvPr>
          <p:cNvSpPr>
            <a:spLocks xmlns:a="http://schemas.openxmlformats.org/drawingml/2006/main" noGrp="1"/>
          </p:cNvSpPr>
          <p:nvPr/>
        </p:nvSpPr>
        <p:spPr>
          <a:xfrm xmlns:a="http://schemas.openxmlformats.org/drawingml/2006/main">
            <a:off x="8503920" y="283464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four baseline requests per episode</a:t>
            </a:r>
          </a:p>
        </p:txBody>
      </p:sp>
      <p:sp>
        <p:nvSpPr>
          <p:cNvPr id="20" name="Shape 18">
            <a:extLst xmlns:a="http://schemas.openxmlformats.org/drawingml/2006/main">
              <a:ext uri="{FF2B5EF4-FFF2-40B4-BE49-F238E27FC236}">
                <a16:creationId xmlns:a16="http://schemas.microsoft.com/office/drawing/2014/main" id="{A18F46A5-C4A7-473B-8FF6-326AEF327157}"/>
              </a:ext>
            </a:extLst>
          </p:cNvPr>
          <p:cNvSpPr>
            <a:spLocks xmlns:a="http://schemas.openxmlformats.org/drawingml/2006/main" noGrp="1"/>
          </p:cNvSpPr>
          <p:nvPr/>
        </p:nvSpPr>
        <p:spPr>
          <a:xfrm xmlns:a="http://schemas.openxmlformats.org/drawingml/2006/main">
            <a:off x="7360920" y="3364992"/>
            <a:ext cx="3916375" cy="0"/>
          </a:xfrm>
          <a:prstGeom xmlns:a="http://schemas.openxmlformats.org/drawingml/2006/main" prst="line">
            <a:avLst/>
          </a:prstGeom>
          <a:noFill xmlns:a="http://schemas.openxmlformats.org/drawingml/2006/main"/>
          <a:ln xmlns:a="http://schemas.openxmlformats.org/drawingml/2006/main" w="12700">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7A6B45F9-9005-474D-9BD5-4ED2F6585450}"/>
              </a:ext>
            </a:extLst>
          </p:cNvPr>
          <p:cNvSpPr>
            <a:spLocks xmlns:a="http://schemas.openxmlformats.org/drawingml/2006/main" noGrp="1"/>
          </p:cNvSpPr>
          <p:nvPr/>
        </p:nvSpPr>
        <p:spPr>
          <a:xfrm xmlns:a="http://schemas.openxmlformats.org/drawingml/2006/main">
            <a:off x="7360920"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0E1E3A"/>
                </a:solidFill>
                <a:latin typeface="Cambria"/>
                <a:ea typeface="Cambria"/>
                <a:cs typeface="Cambria"/>
              </a:rPr>
              <a:t>0.750</a:t>
            </a:r>
          </a:p>
        </p:txBody>
      </p:sp>
      <p:sp>
        <p:nvSpPr>
          <p:cNvPr id="22" name="Text 20">
            <a:extLst xmlns:a="http://schemas.openxmlformats.org/drawingml/2006/main">
              <a:ext uri="{FF2B5EF4-FFF2-40B4-BE49-F238E27FC236}">
                <a16:creationId xmlns:a16="http://schemas.microsoft.com/office/drawing/2014/main" id="{6F036B53-2507-4F07-A5C0-26A9E8901EBA}"/>
              </a:ext>
            </a:extLst>
          </p:cNvPr>
          <p:cNvSpPr>
            <a:spLocks xmlns:a="http://schemas.openxmlformats.org/drawingml/2006/main" noGrp="1"/>
          </p:cNvSpPr>
          <p:nvPr/>
        </p:nvSpPr>
        <p:spPr>
          <a:xfrm xmlns:a="http://schemas.openxmlformats.org/drawingml/2006/main">
            <a:off x="7360920"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theoretical ceiling</a:t>
            </a:r>
          </a:p>
        </p:txBody>
      </p:sp>
      <p:sp>
        <p:nvSpPr>
          <p:cNvPr id="23" name="Text 21">
            <a:extLst xmlns:a="http://schemas.openxmlformats.org/drawingml/2006/main">
              <a:ext uri="{FF2B5EF4-FFF2-40B4-BE49-F238E27FC236}">
                <a16:creationId xmlns:a16="http://schemas.microsoft.com/office/drawing/2014/main" id="{C5EDB61B-213C-44BC-92A4-86F90F4E55FF}"/>
              </a:ext>
            </a:extLst>
          </p:cNvPr>
          <p:cNvSpPr>
            <a:spLocks xmlns:a="http://schemas.openxmlformats.org/drawingml/2006/main" noGrp="1"/>
          </p:cNvSpPr>
          <p:nvPr/>
        </p:nvSpPr>
        <p:spPr>
          <a:xfrm xmlns:a="http://schemas.openxmlformats.org/drawingml/2006/main">
            <a:off x="9319108" y="3547872"/>
            <a:ext cx="1958188"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F8A99"/>
                </a:solidFill>
                <a:latin typeface="Cambria"/>
                <a:ea typeface="Cambria"/>
                <a:cs typeface="Cambria"/>
              </a:rPr>
              <a:t>75.0%</a:t>
            </a:r>
          </a:p>
        </p:txBody>
      </p:sp>
      <p:sp>
        <p:nvSpPr>
          <p:cNvPr id="24" name="Text 22">
            <a:extLst xmlns:a="http://schemas.openxmlformats.org/drawingml/2006/main">
              <a:ext uri="{FF2B5EF4-FFF2-40B4-BE49-F238E27FC236}">
                <a16:creationId xmlns:a16="http://schemas.microsoft.com/office/drawing/2014/main" id="{7B776363-DB2D-4495-839B-21621D597D37}"/>
              </a:ext>
            </a:extLst>
          </p:cNvPr>
          <p:cNvSpPr>
            <a:spLocks xmlns:a="http://schemas.openxmlformats.org/drawingml/2006/main" noGrp="1"/>
          </p:cNvSpPr>
          <p:nvPr/>
        </p:nvSpPr>
        <p:spPr>
          <a:xfrm xmlns:a="http://schemas.openxmlformats.org/drawingml/2006/main">
            <a:off x="9319108" y="4114800"/>
            <a:ext cx="186674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5A6B84"/>
                </a:solidFill>
                <a:latin typeface="Calibri"/>
                <a:ea typeface="Calibri"/>
                <a:cs typeface="Calibri"/>
              </a:rPr>
              <a:t>measured reduction</a:t>
            </a:r>
          </a:p>
        </p:txBody>
      </p:sp>
      <p:sp>
        <p:nvSpPr>
          <p:cNvPr id="25" name="Text 23">
            <a:extLst xmlns:a="http://schemas.openxmlformats.org/drawingml/2006/main">
              <a:ext uri="{FF2B5EF4-FFF2-40B4-BE49-F238E27FC236}">
                <a16:creationId xmlns:a16="http://schemas.microsoft.com/office/drawing/2014/main" id="{766C07EB-B63D-451C-8DCD-6005A60251A1}"/>
              </a:ext>
            </a:extLst>
          </p:cNvPr>
          <p:cNvSpPr>
            <a:spLocks xmlns:a="http://schemas.openxmlformats.org/drawingml/2006/main" noGrp="1"/>
          </p:cNvSpPr>
          <p:nvPr/>
        </p:nvSpPr>
        <p:spPr>
          <a:xfrm xmlns:a="http://schemas.openxmlformats.org/drawingml/2006/main">
            <a:off x="7360920" y="4590288"/>
            <a:ext cx="391637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i="1">
                <a:solidFill>
                  <a:srgbClr val="5A6B84"/>
                </a:solidFill>
                <a:latin typeface="Calibri"/>
                <a:ea typeface="Calibri"/>
                <a:cs typeface="Calibri"/>
              </a:rPr>
              <a:t>A saturated ceiling carries no information about the compiler — it confirms only that the task fully determined the region, which for this workload it does.</a:t>
            </a:r>
          </a:p>
        </p:txBody>
      </p:sp>
    </p:spTree>
    <p:extLst>
      <p:ext uri="{BB962C8B-B14F-4D97-AF65-F5344CB8AC3E}">
        <p14:creationId xmlns:p14="http://schemas.microsoft.com/office/powerpoint/2010/main" val="332198809"/>
      </p:ext>
    </p:extLst>
  </p:cSld>
</p:sld>
</file>

<file path=ppt/slides/slide15.xml><?xml version="1.0" encoding="utf-8"?>
<p:sld xmlns:a="http://schemas.openxmlformats.org/drawingml/2006/main" xmlns:r="http://schemas.openxmlformats.org/officeDocument/2006/relationships" xmlns:p="http://schemas.openxmlformats.org/presentationml/2006/main">
  <p:cSld name="Divider III">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evidence tiers, six directional hypotheses, and every result reported with its denominator and its refusals intact.</a:t>
            </a:r>
            <a:endParaRPr lang="en-US" sz="1350" dirty="0"/>
          </a:p>
        </p:txBody>
      </p:sp>
    </p:spTree>
  </p:cSld>
  <p:clrMapOvr>
    <a:masterClrMapping/>
  </p:clrMapOvr>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151E1D-6EA2-4EDF-9AD2-E05293B925E0}"/>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C780F97-1E7C-41F7-9090-EC32E1AACA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9F5362ED-C83D-4CC3-807D-93E9B0705860}"/>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METHODOLOGY  ·  §4.1  ·  TABLE 5</a:t>
            </a:r>
          </a:p>
        </p:txBody>
      </p:sp>
      <p:sp>
        <p:nvSpPr>
          <p:cNvPr id="5" name="Text 3">
            <a:extLst xmlns:a="http://schemas.openxmlformats.org/drawingml/2006/main">
              <a:ext uri="{FF2B5EF4-FFF2-40B4-BE49-F238E27FC236}">
                <a16:creationId xmlns:a16="http://schemas.microsoft.com/office/drawing/2014/main" id="{CC086FBB-E1F4-4E21-B240-1A19B6BE1B34}"/>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tiers, ordered by what they license</a:t>
            </a:r>
          </a:p>
        </p:txBody>
      </p:sp>
      <p:sp>
        <p:nvSpPr>
          <p:cNvPr id="6" name="Shape 4">
            <a:extLst xmlns:a="http://schemas.openxmlformats.org/drawingml/2006/main">
              <a:ext uri="{FF2B5EF4-FFF2-40B4-BE49-F238E27FC236}">
                <a16:creationId xmlns:a16="http://schemas.microsoft.com/office/drawing/2014/main" id="{D48DD201-4982-43E3-A0E6-504B50FE181B}"/>
              </a:ext>
            </a:extLst>
          </p:cNvPr>
          <p:cNvSpPr>
            <a:spLocks xmlns:a="http://schemas.openxmlformats.org/drawingml/2006/main" noGrp="1"/>
          </p:cNvSpPr>
          <p:nvPr/>
        </p:nvSpPr>
        <p:spPr>
          <a:xfrm xmlns:a="http://schemas.openxmlformats.org/drawingml/2006/main">
            <a:off x="640080"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FBA94E6-7AF2-4824-A62A-3D1E6BEF3FFD}"/>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5A0AF059-CAEF-4576-9928-342F7364E925}"/>
              </a:ext>
            </a:extLst>
          </p:cNvPr>
          <p:cNvSpPr>
            <a:spLocks xmlns:a="http://schemas.openxmlformats.org/drawingml/2006/main" noGrp="1"/>
          </p:cNvSpPr>
          <p:nvPr/>
        </p:nvSpPr>
        <p:spPr>
          <a:xfrm xmlns:a="http://schemas.openxmlformats.org/drawingml/2006/main">
            <a:off x="914400"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C1186A53-D808-4943-A911-928C05C986DC}"/>
              </a:ext>
            </a:extLst>
          </p:cNvPr>
          <p:cNvSpPr>
            <a:spLocks xmlns:a="http://schemas.openxmlformats.org/drawingml/2006/main" noGrp="1"/>
          </p:cNvSpPr>
          <p:nvPr/>
        </p:nvSpPr>
        <p:spPr>
          <a:xfrm xmlns:a="http://schemas.openxmlformats.org/drawingml/2006/main">
            <a:off x="914400"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559AAD1-8C0B-4022-B43C-E403F00BEA21}"/>
              </a:ext>
            </a:extLst>
          </p:cNvPr>
          <p:cNvSpPr>
            <a:spLocks xmlns:a="http://schemas.openxmlformats.org/drawingml/2006/main" noGrp="1"/>
          </p:cNvSpPr>
          <p:nvPr/>
        </p:nvSpPr>
        <p:spPr>
          <a:xfrm xmlns:a="http://schemas.openxmlformats.org/drawingml/2006/main">
            <a:off x="914400"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NESTFUL — 1,415 executable episodes</a:t>
            </a:r>
          </a:p>
        </p:txBody>
      </p:sp>
      <p:sp>
        <p:nvSpPr>
          <p:cNvPr id="11" name="Text 9">
            <a:extLst xmlns:a="http://schemas.openxmlformats.org/drawingml/2006/main">
              <a:ext uri="{FF2B5EF4-FFF2-40B4-BE49-F238E27FC236}">
                <a16:creationId xmlns:a16="http://schemas.microsoft.com/office/drawing/2014/main" id="{AE206B25-9596-4216-9362-B65DA01A9434}"/>
              </a:ext>
            </a:extLst>
          </p:cNvPr>
          <p:cNvSpPr>
            <a:spLocks xmlns:a="http://schemas.openxmlformats.org/drawingml/2006/main" noGrp="1"/>
          </p:cNvSpPr>
          <p:nvPr/>
        </p:nvSpPr>
        <p:spPr>
          <a:xfrm xmlns:a="http://schemas.openxmlformats.org/drawingml/2006/main">
            <a:off x="932688"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Tests dependency reconstruction, synthesis, and refusal on public data</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No model calls at all; provider-free and fully reproducible</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Cannot speak to live efficiency or task quality</a:t>
            </a:r>
          </a:p>
        </p:txBody>
      </p:sp>
      <p:sp>
        <p:nvSpPr>
          <p:cNvPr id="12" name="Shape 10">
            <a:extLst xmlns:a="http://schemas.openxmlformats.org/drawingml/2006/main">
              <a:ext uri="{FF2B5EF4-FFF2-40B4-BE49-F238E27FC236}">
                <a16:creationId xmlns:a16="http://schemas.microsoft.com/office/drawing/2014/main" id="{D72D27B0-DA6B-4797-BB6D-9470107FCEA5}"/>
              </a:ext>
            </a:extLst>
          </p:cNvPr>
          <p:cNvSpPr>
            <a:spLocks xmlns:a="http://schemas.openxmlformats.org/drawingml/2006/main" noGrp="1"/>
          </p:cNvSpPr>
          <p:nvPr/>
        </p:nvSpPr>
        <p:spPr>
          <a:xfrm xmlns:a="http://schemas.openxmlformats.org/drawingml/2006/main">
            <a:off x="4374794"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68640B0A-6636-4F4D-8622-C96F24ECD150}"/>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101DD1A2-D3AA-4FC4-B309-1022F7D0079F}"/>
              </a:ext>
            </a:extLst>
          </p:cNvPr>
          <p:cNvSpPr>
            <a:spLocks xmlns:a="http://schemas.openxmlformats.org/drawingml/2006/main" noGrp="1"/>
          </p:cNvSpPr>
          <p:nvPr/>
        </p:nvSpPr>
        <p:spPr>
          <a:xfrm xmlns:a="http://schemas.openxmlformats.org/drawingml/2006/main">
            <a:off x="4649114"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0A945E2-BCEB-4B51-9ABB-FC8EB1CA6D43}"/>
              </a:ext>
            </a:extLst>
          </p:cNvPr>
          <p:cNvSpPr>
            <a:spLocks xmlns:a="http://schemas.openxmlformats.org/drawingml/2006/main" noGrp="1"/>
          </p:cNvSpPr>
          <p:nvPr/>
        </p:nvSpPr>
        <p:spPr>
          <a:xfrm xmlns:a="http://schemas.openxmlformats.org/drawingml/2006/main">
            <a:off x="4649114"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01DBD44-E4F5-4C06-8C69-52728C6F7D08}"/>
              </a:ext>
            </a:extLst>
          </p:cNvPr>
          <p:cNvSpPr>
            <a:spLocks xmlns:a="http://schemas.openxmlformats.org/drawingml/2006/main" noGrp="1"/>
          </p:cNvSpPr>
          <p:nvPr/>
        </p:nvSpPr>
        <p:spPr>
          <a:xfrm xmlns:a="http://schemas.openxmlformats.org/drawingml/2006/main">
            <a:off x="4649114"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Three primary GitHub workflow families plus scoped ablations on a pinned snapshot</a:t>
            </a:r>
          </a:p>
        </p:txBody>
      </p:sp>
      <p:sp>
        <p:nvSpPr>
          <p:cNvPr id="17" name="Text 15">
            <a:extLst xmlns:a="http://schemas.openxmlformats.org/drawingml/2006/main">
              <a:ext uri="{FF2B5EF4-FFF2-40B4-BE49-F238E27FC236}">
                <a16:creationId xmlns:a16="http://schemas.microsoft.com/office/drawing/2014/main" id="{A5E5A5F4-D876-4E8F-86C6-7AD8272F562F}"/>
              </a:ext>
            </a:extLst>
          </p:cNvPr>
          <p:cNvSpPr>
            <a:spLocks xmlns:a="http://schemas.openxmlformats.org/drawingml/2006/main" noGrp="1"/>
          </p:cNvSpPr>
          <p:nvPr/>
        </p:nvSpPr>
        <p:spPr>
          <a:xfrm xmlns:a="http://schemas.openxmlformats.org/drawingml/2006/main">
            <a:off x="4667402"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Actual public issue records; deterministic local reads; live provider calls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The natural-order protocols name no tool functions and no order; the first prescribes a fixed prefix as an ablation</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One repository, one snapshot, one model configuration</a:t>
            </a:r>
          </a:p>
        </p:txBody>
      </p:sp>
      <p:sp>
        <p:nvSpPr>
          <p:cNvPr id="18" name="Shape 16">
            <a:extLst xmlns:a="http://schemas.openxmlformats.org/drawingml/2006/main">
              <a:ext uri="{FF2B5EF4-FFF2-40B4-BE49-F238E27FC236}">
                <a16:creationId xmlns:a16="http://schemas.microsoft.com/office/drawing/2014/main" id="{E649A01C-4253-400B-89F0-EC3D9FEB0E3F}"/>
              </a:ext>
            </a:extLst>
          </p:cNvPr>
          <p:cNvSpPr>
            <a:spLocks xmlns:a="http://schemas.openxmlformats.org/drawingml/2006/main" noGrp="1"/>
          </p:cNvSpPr>
          <p:nvPr/>
        </p:nvSpPr>
        <p:spPr>
          <a:xfrm xmlns:a="http://schemas.openxmlformats.org/drawingml/2006/main">
            <a:off x="8109509" y="1371600"/>
            <a:ext cx="3442106" cy="3529584"/>
          </a:xfrm>
          <a:prstGeom xmlns:a="http://schemas.openxmlformats.org/drawingml/2006/main" prst="roundRect">
            <a:avLst>
              <a:gd name="adj" fmla="val 132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F716F0D7-D270-48D2-B2C3-8A52844E3C69}"/>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04387B9-A092-42EF-ADEF-046ACE8E27A6}"/>
              </a:ext>
            </a:extLst>
          </p:cNvPr>
          <p:cNvSpPr>
            <a:spLocks xmlns:a="http://schemas.openxmlformats.org/drawingml/2006/main" noGrp="1"/>
          </p:cNvSpPr>
          <p:nvPr/>
        </p:nvSpPr>
        <p:spPr>
          <a:xfrm xmlns:a="http://schemas.openxmlformats.org/drawingml/2006/main">
            <a:off x="8383829" y="1591056"/>
            <a:ext cx="42062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64C060F6-ACFA-4DFE-AED2-6733B856AB2E}"/>
              </a:ext>
            </a:extLst>
          </p:cNvPr>
          <p:cNvSpPr>
            <a:spLocks xmlns:a="http://schemas.openxmlformats.org/drawingml/2006/main" noGrp="1"/>
          </p:cNvSpPr>
          <p:nvPr/>
        </p:nvSpPr>
        <p:spPr>
          <a:xfrm xmlns:a="http://schemas.openxmlformats.org/drawingml/2006/main">
            <a:off x="8383829" y="2121408"/>
            <a:ext cx="2893466"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50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7467E476-2527-44B2-9490-6805D9BD3E59}"/>
              </a:ext>
            </a:extLst>
          </p:cNvPr>
          <p:cNvSpPr>
            <a:spLocks xmlns:a="http://schemas.openxmlformats.org/drawingml/2006/main" noGrp="1"/>
          </p:cNvSpPr>
          <p:nvPr/>
        </p:nvSpPr>
        <p:spPr>
          <a:xfrm xmlns:a="http://schemas.openxmlformats.org/drawingml/2006/main">
            <a:off x="8383829" y="2724912"/>
            <a:ext cx="289346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100" i="1">
                <a:solidFill>
                  <a:srgbClr val="1F8A99"/>
                </a:solidFill>
                <a:latin typeface="Calibri"/>
                <a:ea typeface="Calibri"/>
                <a:cs typeface="Calibri"/>
              </a:rPr>
              <a:t>Six workflow shapes, eight conditions</a:t>
            </a:r>
          </a:p>
        </p:txBody>
      </p:sp>
      <p:sp>
        <p:nvSpPr>
          <p:cNvPr id="23" name="Text 21">
            <a:extLst xmlns:a="http://schemas.openxmlformats.org/drawingml/2006/main">
              <a:ext uri="{FF2B5EF4-FFF2-40B4-BE49-F238E27FC236}">
                <a16:creationId xmlns:a16="http://schemas.microsoft.com/office/drawing/2014/main" id="{E2E3491B-9659-47EE-9046-4428F565E9A8}"/>
              </a:ext>
            </a:extLst>
          </p:cNvPr>
          <p:cNvSpPr>
            <a:spLocks xmlns:a="http://schemas.openxmlformats.org/drawingml/2006/main" noGrp="1"/>
          </p:cNvSpPr>
          <p:nvPr/>
        </p:nvSpPr>
        <p:spPr>
          <a:xfrm xmlns:a="http://schemas.openxmlformats.org/drawingml/2006/main">
            <a:off x="8402117" y="3182112"/>
            <a:ext cx="2856890" cy="16276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Covers branches, pagination, mandatory writes, handoffs, undeclared effects</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Three conditions are negative controls whose only correct outcome is refusal</a:t>
            </a:r>
          </a:p>
          <a:p xmlns:a="http://schemas.openxmlformats.org/drawingml/2006/main">
            <a:pPr marL="342900" indent="-342900">
              <a:lnSpc>
                <a:spcPct val="106000"/>
              </a:lnSpc>
              <a:spcAft>
                <a:spcPts val="700"/>
              </a:spcAft>
              <a:buChar char="•"/>
            </a:pPr>
            <a:r>
              <a:rPr sz="1100">
                <a:solidFill>
                  <a:srgbClr val="24354F"/>
                </a:solidFill>
                <a:latin typeface="Calibri"/>
                <a:ea typeface="Calibri"/>
                <a:cs typeface="Calibri"/>
              </a:rPr>
              <a:t>Business records are fictional — no real-world data claim</a:t>
            </a:r>
          </a:p>
        </p:txBody>
      </p:sp>
      <p:sp>
        <p:nvSpPr>
          <p:cNvPr id="24" name="Shape 22">
            <a:extLst xmlns:a="http://schemas.openxmlformats.org/drawingml/2006/main">
              <a:ext uri="{FF2B5EF4-FFF2-40B4-BE49-F238E27FC236}">
                <a16:creationId xmlns:a16="http://schemas.microsoft.com/office/drawing/2014/main" id="{924F397C-F645-4F46-B810-786F8E42FF5A}"/>
              </a:ext>
            </a:extLst>
          </p:cNvPr>
          <p:cNvSpPr>
            <a:spLocks xmlns:a="http://schemas.openxmlformats.org/drawingml/2006/main" noGrp="1"/>
          </p:cNvSpPr>
          <p:nvPr/>
        </p:nvSpPr>
        <p:spPr>
          <a:xfrm xmlns:a="http://schemas.openxmlformats.org/drawingml/2006/main">
            <a:off x="640080" y="5138928"/>
            <a:ext cx="10911535" cy="786384"/>
          </a:xfrm>
          <a:prstGeom xmlns:a="http://schemas.openxmlformats.org/drawingml/2006/main" prst="roundRect">
            <a:avLst>
              <a:gd name="adj" fmla="val 581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4A6C8C80-C1FB-4DAC-9903-A251D1DF9BE8}"/>
              </a:ext>
            </a:extLst>
          </p:cNvPr>
          <p:cNvSpPr>
            <a:spLocks xmlns:a="http://schemas.openxmlformats.org/drawingml/2006/main" noGrp="1"/>
          </p:cNvSpPr>
          <p:nvPr/>
        </p:nvSpPr>
        <p:spPr>
          <a:xfrm xmlns:a="http://schemas.openxmlformats.org/drawingml/2006/main">
            <a:off x="914400" y="5248656"/>
            <a:ext cx="1036289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libri"/>
                <a:ea typeface="Calibri"/>
                <a:cs typeface="Calibri"/>
              </a:rPr>
              <a:t>Every rejected candidate, the archived failed pilot, and the unsupported claims are retained rather than pruned </a:t>
            </a:r>
            <a:r>
              <a:rPr sz="1250">
                <a:solidFill>
                  <a:srgbClr val="24354F"/>
                </a:solidFill>
                <a:latin typeface="Calibri"/>
                <a:ea typeface="Calibri"/>
                <a:cs typeface="Calibri"/>
              </a:rPr>
              <a:t>— so the denominator of each result stays visible.</a:t>
            </a:r>
          </a:p>
        </p:txBody>
      </p:sp>
    </p:spTree>
    <p:extLst>
      <p:ext uri="{BB962C8B-B14F-4D97-AF65-F5344CB8AC3E}">
        <p14:creationId xmlns:p14="http://schemas.microsoft.com/office/powerpoint/2010/main" val="1227253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9</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full trace repeats; the boundary does not</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 real GitHub trace looks like an obvious macro:</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 #6602: record → labels → comments(limit=3)</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45/45 tool replays; issue #6602 loses its Markdown URL.</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00" b="1">
                <a:solidFill>
                  <a:srgbClr val="A93B2B"/>
                </a:solidFill>
                <a:latin typeface="Calibri"/>
                <a:ea typeface="Calibri"/>
                <a:cs typeface="Calibri"/>
              </a:rPr>
              <a:t>Naive rule: recurrence + replay + one request → ship.</a:t>
            </a:r>
            <a:r>
              <a:rPr sz="1200">
                <a:solidFill>
                  <a:srgbClr val="5C4034"/>
                </a:solidFill>
                <a:latin typeface="Calibri"/>
                <a:ea typeface="Calibri"/>
                <a:cs typeface="Calibri"/>
              </a:rPr>
              <a:t>GAC: ungroundable comments limit → keep comments and rendering with the agent.</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a5a344bc25c34004"/>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132</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discovery traces</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116</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full-candidate support windows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92 / 92</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GAC calibration groups</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18 / 18</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checked-rendered answers</a:t>
            </a:r>
          </a:p>
        </p:txBody>
      </p:sp>
    </p:spTree>
    <p:extLst>
      <p:ext uri="{BB962C8B-B14F-4D97-AF65-F5344CB8AC3E}">
        <p14:creationId xmlns:p14="http://schemas.microsoft.com/office/powerpoint/2010/main" val="1385376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EC176BB-D43D-4D86-87BF-39D70CC3457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629D14A-D30C-49DB-B1E9-C7532499123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CDC2DAA7-97F7-4A87-8C89-3D61669188D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RQ6  ·  §5.2  ·  TABLE 7</a:t>
            </a:r>
          </a:p>
        </p:txBody>
      </p:sp>
      <p:sp>
        <p:nvSpPr>
          <p:cNvPr id="5" name="Text 3">
            <a:extLst xmlns:a="http://schemas.openxmlformats.org/drawingml/2006/main">
              <a:ext uri="{FF2B5EF4-FFF2-40B4-BE49-F238E27FC236}">
                <a16:creationId xmlns:a16="http://schemas.microsoft.com/office/drawing/2014/main" id="{F88A72A1-894F-41CA-8D90-7AC3591A05D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Efficiency transfers, not dominance</a:t>
            </a:r>
          </a:p>
        </p:txBody>
      </p:sp>
      <p:sp>
        <p:nvSpPr>
          <p:cNvPr id="6" name="Text 4">
            <a:extLst xmlns:a="http://schemas.openxmlformats.org/drawingml/2006/main">
              <a:ext uri="{FF2B5EF4-FFF2-40B4-BE49-F238E27FC236}">
                <a16:creationId xmlns:a16="http://schemas.microsoft.com/office/drawing/2014/main" id="{72DFEF59-6A06-4BFB-83B1-508CC42159FE}"/>
              </a:ext>
            </a:extLst>
          </p:cNvPr>
          <p:cNvSpPr>
            <a:spLocks xmlns:a="http://schemas.openxmlformats.org/drawingml/2006/main" noGrp="1"/>
          </p:cNvSpPr>
          <p:nvPr/>
        </p:nvSpPr>
        <p:spPr>
          <a:xfrm xmlns:a="http://schemas.openxmlformats.org/drawingml/2006/main">
            <a:off x="640080" y="1426464"/>
            <a:ext cx="5715000" cy="2286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Issue-type routing, PR-outcome audit, and backlog-attention routing use distinct tools and exact graders over one pinned public snapshot, with all 90 held-out records pairwise disjoint.</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Compiled programs reach 90/90 exact outcomes versus 89/90 baseline (exact McNemar p=1; pooled compiled-only discordance bound 3.3%). Weighted reductions: requests 66.6%, visible interfaces 44.2%, tokens 63.1%, observed latency 64.2%, and cost 58.7%.</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All three artifacts are calibrated at the registered α=.05 over 92 zero-violation groups.</a:t>
            </a:r>
          </a:p>
          <a:p xmlns:a="http://schemas.openxmlformats.org/drawingml/2006/main">
            <a:pPr marL="342900" indent="-342900">
              <a:lnSpc>
                <a:spcPct val="106000"/>
              </a:lnSpc>
              <a:spcAft>
                <a:spcPts val="700"/>
              </a:spcAft>
              <a:buChar char="•"/>
            </a:pPr>
            <a:r>
              <a:rPr sz="1250">
                <a:solidFill>
                  <a:srgbClr val="24354F"/>
                </a:solidFill>
                <a:latin typeface="Calibri"/>
                <a:ea typeface="Calibri"/>
                <a:cs typeface="Calibri"/>
              </a:rPr>
              <a:t>Manual programs also reach 90/90, so the learned result is transfer and automation—not runtime superiority.</a:t>
            </a:r>
          </a:p>
        </p:txBody>
      </p:sp>
      <p:sp>
        <p:nvSpPr>
          <p:cNvPr id="7" name="Shape 5">
            <a:extLst xmlns:a="http://schemas.openxmlformats.org/drawingml/2006/main">
              <a:ext uri="{FF2B5EF4-FFF2-40B4-BE49-F238E27FC236}">
                <a16:creationId xmlns:a16="http://schemas.microsoft.com/office/drawing/2014/main" id="{642A6E85-6B7E-4C75-88AD-8AC6B1740353}"/>
              </a:ext>
            </a:extLst>
          </p:cNvPr>
          <p:cNvSpPr>
            <a:spLocks xmlns:a="http://schemas.openxmlformats.org/drawingml/2006/main" noGrp="1"/>
          </p:cNvSpPr>
          <p:nvPr/>
        </p:nvSpPr>
        <p:spPr>
          <a:xfrm xmlns:a="http://schemas.openxmlformats.org/drawingml/2006/main">
            <a:off x="640080" y="3840480"/>
            <a:ext cx="5715000"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4CA1AE2-22A3-40DB-8F43-53C7B1A28087}"/>
              </a:ext>
            </a:extLst>
          </p:cNvPr>
          <p:cNvSpPr>
            <a:spLocks xmlns:a="http://schemas.openxmlformats.org/drawingml/2006/main" noGrp="1"/>
          </p:cNvSpPr>
          <p:nvPr/>
        </p:nvSpPr>
        <p:spPr>
          <a:xfrm xmlns:a="http://schemas.openxmlformats.org/drawingml/2006/main">
            <a:off x="914400" y="3986784"/>
            <a:ext cx="5166360" cy="8961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000" b="1">
                <a:solidFill>
                  <a:srgbClr val="A93B2B"/>
                </a:solidFill>
                <a:latin typeface="Calibri"/>
                <a:ea typeface="Calibri"/>
                <a:cs typeface="Calibri"/>
              </a:rPr>
              <a:t>The two new families compile verified three-read pre-model programs; the original issue family retains its conservative two-read prefix. Headroom on the two fixed cohorts attempted 240 model-visible JSON payloads, transformed zero, and saved zero tokens: a boundary-specific negative result, not a rival mechanism for GAC's savings. The study changes decision and tools, not repository or time; cross-repository and time-forward transfer remain open.</a:t>
            </a:r>
          </a:p>
        </p:txBody>
      </p:sp>
      <p:graphicFrame>
        <p:nvGraphicFramePr>
          <p:cNvPr id="9" name="Chart 0"/>
          <p:cNvGraphicFramePr/>
          <p:nvPr/>
        </p:nvGraphicFramePr>
        <p:xfrm>
          <a:off xmlns:a="http://schemas.openxmlformats.org/drawingml/2006/main" x="6720840" y="1371600"/>
          <a:ext xmlns:a="http://schemas.openxmlformats.org/drawingml/2006/main" cx="4828032" cy="3639312"/>
        </p:xfrm>
        <a:graphic xmlns:a="http://schemas.openxmlformats.org/drawingml/2006/main">
          <a:graphicData uri="http://schemas.openxmlformats.org/drawingml/2006/chart">
            <c:chart xmlns:r="http://schemas.openxmlformats.org/officeDocument/2006/relationships" xmlns:c="http://schemas.openxmlformats.org/drawingml/2006/chart" r:id="R4da551d5950f48b5"/>
          </a:graphicData>
        </a:graphic>
      </p:graphicFrame>
      <p:sp>
        <p:nvSpPr>
          <p:cNvPr id="10" name="Shape 7">
            <a:extLst xmlns:a="http://schemas.openxmlformats.org/drawingml/2006/main">
              <a:ext uri="{FF2B5EF4-FFF2-40B4-BE49-F238E27FC236}">
                <a16:creationId xmlns:a16="http://schemas.microsoft.com/office/drawing/2014/main" id="{19173B99-1D1A-4A60-95CE-94325E68068B}"/>
              </a:ext>
            </a:extLst>
          </p:cNvPr>
          <p:cNvSpPr>
            <a:spLocks xmlns:a="http://schemas.openxmlformats.org/drawingml/2006/main" noGrp="1"/>
          </p:cNvSpPr>
          <p:nvPr/>
        </p:nvSpPr>
        <p:spPr>
          <a:xfrm xmlns:a="http://schemas.openxmlformats.org/drawingml/2006/main">
            <a:off x="64008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6429C54B-CA86-413D-87BF-188B1050ACFB}"/>
              </a:ext>
            </a:extLst>
          </p:cNvPr>
          <p:cNvSpPr>
            <a:spLocks xmlns:a="http://schemas.openxmlformats.org/drawingml/2006/main" noGrp="1"/>
          </p:cNvSpPr>
          <p:nvPr/>
        </p:nvSpPr>
        <p:spPr>
          <a:xfrm xmlns:a="http://schemas.openxmlformats.org/drawingml/2006/main">
            <a:off x="80467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89 → 90 / 90</a:t>
            </a:r>
          </a:p>
        </p:txBody>
      </p:sp>
      <p:sp>
        <p:nvSpPr>
          <p:cNvPr id="12" name="Text 9">
            <a:extLst xmlns:a="http://schemas.openxmlformats.org/drawingml/2006/main">
              <a:ext uri="{FF2B5EF4-FFF2-40B4-BE49-F238E27FC236}">
                <a16:creationId xmlns:a16="http://schemas.microsoft.com/office/drawing/2014/main" id="{A6F6B443-2C3E-462E-8EB5-640162A60113}"/>
              </a:ext>
            </a:extLst>
          </p:cNvPr>
          <p:cNvSpPr>
            <a:spLocks xmlns:a="http://schemas.openxmlformats.org/drawingml/2006/main" noGrp="1"/>
          </p:cNvSpPr>
          <p:nvPr/>
        </p:nvSpPr>
        <p:spPr>
          <a:xfrm xmlns:a="http://schemas.openxmlformats.org/drawingml/2006/main">
            <a:off x="80467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baseline → compiled exact</a:t>
            </a:r>
          </a:p>
        </p:txBody>
      </p:sp>
      <p:sp>
        <p:nvSpPr>
          <p:cNvPr id="13" name="Shape 10">
            <a:extLst xmlns:a="http://schemas.openxmlformats.org/drawingml/2006/main">
              <a:ext uri="{FF2B5EF4-FFF2-40B4-BE49-F238E27FC236}">
                <a16:creationId xmlns:a16="http://schemas.microsoft.com/office/drawing/2014/main" id="{483F41A4-73BF-4FBB-9E4C-2A97A92980F2}"/>
              </a:ext>
            </a:extLst>
          </p:cNvPr>
          <p:cNvSpPr>
            <a:spLocks xmlns:a="http://schemas.openxmlformats.org/drawingml/2006/main" noGrp="1"/>
          </p:cNvSpPr>
          <p:nvPr/>
        </p:nvSpPr>
        <p:spPr>
          <a:xfrm xmlns:a="http://schemas.openxmlformats.org/drawingml/2006/main">
            <a:off x="342740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45F33FD-50A4-4587-8165-0061146D758D}"/>
              </a:ext>
            </a:extLst>
          </p:cNvPr>
          <p:cNvSpPr>
            <a:spLocks xmlns:a="http://schemas.openxmlformats.org/drawingml/2006/main" noGrp="1"/>
          </p:cNvSpPr>
          <p:nvPr/>
        </p:nvSpPr>
        <p:spPr>
          <a:xfrm xmlns:a="http://schemas.openxmlformats.org/drawingml/2006/main">
            <a:off x="359199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−66.6 / −63.1%</a:t>
            </a:r>
          </a:p>
        </p:txBody>
      </p:sp>
      <p:sp>
        <p:nvSpPr>
          <p:cNvPr id="15" name="Text 12">
            <a:extLst xmlns:a="http://schemas.openxmlformats.org/drawingml/2006/main">
              <a:ext uri="{FF2B5EF4-FFF2-40B4-BE49-F238E27FC236}">
                <a16:creationId xmlns:a16="http://schemas.microsoft.com/office/drawing/2014/main" id="{C4F7D80A-7FB3-4CDF-992B-9372CE7EB3CE}"/>
              </a:ext>
            </a:extLst>
          </p:cNvPr>
          <p:cNvSpPr>
            <a:spLocks xmlns:a="http://schemas.openxmlformats.org/drawingml/2006/main" noGrp="1"/>
          </p:cNvSpPr>
          <p:nvPr/>
        </p:nvSpPr>
        <p:spPr>
          <a:xfrm xmlns:a="http://schemas.openxmlformats.org/drawingml/2006/main">
            <a:off x="359199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requests / total tokens</a:t>
            </a:r>
          </a:p>
        </p:txBody>
      </p:sp>
      <p:sp>
        <p:nvSpPr>
          <p:cNvPr id="16" name="Shape 13">
            <a:extLst xmlns:a="http://schemas.openxmlformats.org/drawingml/2006/main">
              <a:ext uri="{FF2B5EF4-FFF2-40B4-BE49-F238E27FC236}">
                <a16:creationId xmlns:a16="http://schemas.microsoft.com/office/drawing/2014/main" id="{6C461023-FD8E-4BB2-97CE-48C0C2810D7F}"/>
              </a:ext>
            </a:extLst>
          </p:cNvPr>
          <p:cNvSpPr>
            <a:spLocks xmlns:a="http://schemas.openxmlformats.org/drawingml/2006/main" noGrp="1"/>
          </p:cNvSpPr>
          <p:nvPr/>
        </p:nvSpPr>
        <p:spPr>
          <a:xfrm xmlns:a="http://schemas.openxmlformats.org/drawingml/2006/main">
            <a:off x="6214720"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BE43BCA-A57F-4DCC-A5A7-10C2434D3A2C}"/>
              </a:ext>
            </a:extLst>
          </p:cNvPr>
          <p:cNvSpPr>
            <a:spLocks xmlns:a="http://schemas.openxmlformats.org/drawingml/2006/main" noGrp="1"/>
          </p:cNvSpPr>
          <p:nvPr/>
        </p:nvSpPr>
        <p:spPr>
          <a:xfrm xmlns:a="http://schemas.openxmlformats.org/drawingml/2006/main">
            <a:off x="6379312"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−64.2 / −58.7%</a:t>
            </a:r>
          </a:p>
        </p:txBody>
      </p:sp>
      <p:sp>
        <p:nvSpPr>
          <p:cNvPr id="18" name="Text 15">
            <a:extLst xmlns:a="http://schemas.openxmlformats.org/drawingml/2006/main">
              <a:ext uri="{FF2B5EF4-FFF2-40B4-BE49-F238E27FC236}">
                <a16:creationId xmlns:a16="http://schemas.microsoft.com/office/drawing/2014/main" id="{350BA061-27F2-4BE7-ADEF-5436892E51E2}"/>
              </a:ext>
            </a:extLst>
          </p:cNvPr>
          <p:cNvSpPr>
            <a:spLocks xmlns:a="http://schemas.openxmlformats.org/drawingml/2006/main" noGrp="1"/>
          </p:cNvSpPr>
          <p:nvPr/>
        </p:nvSpPr>
        <p:spPr>
          <a:xfrm xmlns:a="http://schemas.openxmlformats.org/drawingml/2006/main">
            <a:off x="6379312"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latency / estimated cost</a:t>
            </a:r>
          </a:p>
        </p:txBody>
      </p:sp>
      <p:sp>
        <p:nvSpPr>
          <p:cNvPr id="19" name="Shape 16">
            <a:extLst xmlns:a="http://schemas.openxmlformats.org/drawingml/2006/main">
              <a:ext uri="{FF2B5EF4-FFF2-40B4-BE49-F238E27FC236}">
                <a16:creationId xmlns:a16="http://schemas.microsoft.com/office/drawing/2014/main" id="{3F5F7FD0-AF8B-4C12-8595-485ADE3ABD57}"/>
              </a:ext>
            </a:extLst>
          </p:cNvPr>
          <p:cNvSpPr>
            <a:spLocks xmlns:a="http://schemas.openxmlformats.org/drawingml/2006/main" noGrp="1"/>
          </p:cNvSpPr>
          <p:nvPr/>
        </p:nvSpPr>
        <p:spPr>
          <a:xfrm xmlns:a="http://schemas.openxmlformats.org/drawingml/2006/main">
            <a:off x="9002039" y="5175504"/>
            <a:ext cx="2549576" cy="932688"/>
          </a:xfrm>
          <a:prstGeom xmlns:a="http://schemas.openxmlformats.org/drawingml/2006/main" prst="roundRect">
            <a:avLst>
              <a:gd name="adj" fmla="val 490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438897B1-29D2-4E43-945E-B90D9FE46AF7}"/>
              </a:ext>
            </a:extLst>
          </p:cNvPr>
          <p:cNvSpPr>
            <a:spLocks xmlns:a="http://schemas.openxmlformats.org/drawingml/2006/main" noGrp="1"/>
          </p:cNvSpPr>
          <p:nvPr/>
        </p:nvSpPr>
        <p:spPr>
          <a:xfrm xmlns:a="http://schemas.openxmlformats.org/drawingml/2006/main">
            <a:off x="9166631" y="5266944"/>
            <a:ext cx="222039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90 / 90</a:t>
            </a:r>
          </a:p>
        </p:txBody>
      </p:sp>
      <p:sp>
        <p:nvSpPr>
          <p:cNvPr id="21" name="Text 18">
            <a:extLst xmlns:a="http://schemas.openxmlformats.org/drawingml/2006/main">
              <a:ext uri="{FF2B5EF4-FFF2-40B4-BE49-F238E27FC236}">
                <a16:creationId xmlns:a16="http://schemas.microsoft.com/office/drawing/2014/main" id="{A954F22F-78DA-41C6-B9AF-F4952C3DDD9B}"/>
              </a:ext>
            </a:extLst>
          </p:cNvPr>
          <p:cNvSpPr>
            <a:spLocks xmlns:a="http://schemas.openxmlformats.org/drawingml/2006/main" noGrp="1"/>
          </p:cNvSpPr>
          <p:nvPr/>
        </p:nvSpPr>
        <p:spPr>
          <a:xfrm xmlns:a="http://schemas.openxmlformats.org/drawingml/2006/main">
            <a:off x="9166631" y="5614416"/>
            <a:ext cx="2220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manual exact; no runtime dominance</a:t>
            </a:r>
          </a:p>
        </p:txBody>
      </p:sp>
    </p:spTree>
    <p:extLst>
      <p:ext uri="{BB962C8B-B14F-4D97-AF65-F5344CB8AC3E}">
        <p14:creationId xmlns:p14="http://schemas.microsoft.com/office/powerpoint/2010/main" val="138537613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CF15DC-1301-4621-81E9-2DCAEE7AE5F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5A30271-264E-47D1-9785-F977FECEEDF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AE6CDDA3-6432-436D-A8CD-C01F91B4A10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RQ2  ·  §5.3  ·  TABLE 8</a:t>
            </a:r>
          </a:p>
        </p:txBody>
      </p:sp>
      <p:sp>
        <p:nvSpPr>
          <p:cNvPr id="5" name="Text 3">
            <a:extLst xmlns:a="http://schemas.openxmlformats.org/drawingml/2006/main">
              <a:ext uri="{FF2B5EF4-FFF2-40B4-BE49-F238E27FC236}">
                <a16:creationId xmlns:a16="http://schemas.microsoft.com/office/drawing/2014/main" id="{1A6B1FDE-60A5-4E6A-ADD8-1A4C23E97501}"/>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Half the requests, quality held</a:t>
            </a:r>
          </a:p>
        </p:txBody>
      </p:sp>
      <p:graphicFrame>
        <p:nvGraphicFramePr>
          <p:cNvPr id="6" name="Chart 0"/>
          <p:cNvGraphicFramePr/>
          <p:nvPr/>
        </p:nvGraphicFramePr>
        <p:xfrm>
          <a:off xmlns:a="http://schemas.openxmlformats.org/drawingml/2006/main" x="640080" y="1371600"/>
          <a:ext xmlns:a="http://schemas.openxmlformats.org/drawingml/2006/main" cx="7452360" cy="3566160"/>
        </p:xfrm>
        <a:graphic xmlns:a="http://schemas.openxmlformats.org/drawingml/2006/main">
          <a:graphicData uri="http://schemas.openxmlformats.org/drawingml/2006/chart">
            <c:chart xmlns:r="http://schemas.openxmlformats.org/officeDocument/2006/relationships" xmlns:c="http://schemas.openxmlformats.org/drawingml/2006/chart" r:id="Rb85f43d5fcbc4331"/>
          </a:graphicData>
        </a:graphic>
      </p:graphicFrame>
      <p:sp>
        <p:nvSpPr>
          <p:cNvPr id="7" name="Shape 4">
            <a:extLst xmlns:a="http://schemas.openxmlformats.org/drawingml/2006/main">
              <a:ext uri="{FF2B5EF4-FFF2-40B4-BE49-F238E27FC236}">
                <a16:creationId xmlns:a16="http://schemas.microsoft.com/office/drawing/2014/main" id="{3C1760E1-20A0-445F-A11B-0E8EDB139EAE}"/>
              </a:ext>
            </a:extLst>
          </p:cNvPr>
          <p:cNvSpPr>
            <a:spLocks xmlns:a="http://schemas.openxmlformats.org/drawingml/2006/main" noGrp="1"/>
          </p:cNvSpPr>
          <p:nvPr/>
        </p:nvSpPr>
        <p:spPr>
          <a:xfrm xmlns:a="http://schemas.openxmlformats.org/drawingml/2006/main">
            <a:off x="8321040" y="1371600"/>
            <a:ext cx="3230575" cy="3566160"/>
          </a:xfrm>
          <a:prstGeom xmlns:a="http://schemas.openxmlformats.org/drawingml/2006/main" prst="roundRect">
            <a:avLst>
              <a:gd name="adj" fmla="val 141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5B524CE7-F7B0-4AD3-9C5E-3718B7F80E65}"/>
              </a:ext>
            </a:extLst>
          </p:cNvPr>
          <p:cNvSpPr>
            <a:spLocks xmlns:a="http://schemas.openxmlformats.org/drawingml/2006/main" noGrp="1"/>
          </p:cNvSpPr>
          <p:nvPr/>
        </p:nvSpPr>
        <p:spPr>
          <a:xfrm xmlns:a="http://schemas.openxmlformats.org/drawingml/2006/main">
            <a:off x="8577072" y="1536192"/>
            <a:ext cx="271851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WHAT THE COMPILER ACTUALLY DID</a:t>
            </a:r>
          </a:p>
        </p:txBody>
      </p:sp>
      <p:sp>
        <p:nvSpPr>
          <p:cNvPr id="9" name="Text 6">
            <a:extLst xmlns:a="http://schemas.openxmlformats.org/drawingml/2006/main">
              <a:ext uri="{FF2B5EF4-FFF2-40B4-BE49-F238E27FC236}">
                <a16:creationId xmlns:a16="http://schemas.microsoft.com/office/drawing/2014/main" id="{53DCA59F-7599-418A-8691-5B7A9529E74E}"/>
              </a:ext>
            </a:extLst>
          </p:cNvPr>
          <p:cNvSpPr>
            <a:spLocks xmlns:a="http://schemas.openxmlformats.org/drawingml/2006/main" noGrp="1"/>
          </p:cNvSpPr>
          <p:nvPr/>
        </p:nvSpPr>
        <p:spPr>
          <a:xfrm xmlns:a="http://schemas.openxmlformats.org/drawingml/2006/main">
            <a:off x="8595360" y="1828800"/>
            <a:ext cx="2681935"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All 132 discovery traces read record, then labels, then comments — with a prompt naming neither tools nor order.</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full three-read candidate was rejected as an ungroundable slot; the compiler emitted the two-read prefix instead.</a:t>
            </a:r>
          </a:p>
          <a:p xmlns:a="http://schemas.openxmlformats.org/drawingml/2006/main">
            <a:pPr marL="342900" indent="-342900">
              <a:lnSpc>
                <a:spcPct val="106000"/>
              </a:lnSpc>
              <a:spcAft>
                <a:spcPts val="800"/>
              </a:spcAft>
              <a:buChar char="•"/>
            </a:pPr>
            <a:r>
              <a:rPr sz="1100">
                <a:solidFill>
                  <a:srgbClr val="24354F"/>
                </a:solidFill>
                <a:latin typeface="Calibri"/>
                <a:ea typeface="Calibri"/>
                <a:cs typeface="Calibri"/>
              </a:rPr>
              <a:t>The gate admitted 92/92 calibration groups with zero registered violations; simultaneous upper bound 0.0498.</a:t>
            </a:r>
          </a:p>
        </p:txBody>
      </p:sp>
      <p:sp>
        <p:nvSpPr>
          <p:cNvPr id="10" name="Shape 7">
            <a:extLst xmlns:a="http://schemas.openxmlformats.org/drawingml/2006/main">
              <a:ext uri="{FF2B5EF4-FFF2-40B4-BE49-F238E27FC236}">
                <a16:creationId xmlns:a16="http://schemas.microsoft.com/office/drawing/2014/main" id="{A310976C-1FCD-425E-BACF-61EF3671BD91}"/>
              </a:ext>
            </a:extLst>
          </p:cNvPr>
          <p:cNvSpPr>
            <a:spLocks xmlns:a="http://schemas.openxmlformats.org/drawingml/2006/main" noGrp="1"/>
          </p:cNvSpPr>
          <p:nvPr/>
        </p:nvSpPr>
        <p:spPr>
          <a:xfrm xmlns:a="http://schemas.openxmlformats.org/drawingml/2006/main">
            <a:off x="640080"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84F8FB49-2683-441E-868D-CC974D7075AF}"/>
              </a:ext>
            </a:extLst>
          </p:cNvPr>
          <p:cNvSpPr>
            <a:spLocks xmlns:a="http://schemas.openxmlformats.org/drawingml/2006/main" noGrp="1"/>
          </p:cNvSpPr>
          <p:nvPr/>
        </p:nvSpPr>
        <p:spPr>
          <a:xfrm xmlns:a="http://schemas.openxmlformats.org/drawingml/2006/main">
            <a:off x="786384"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14B24EDE-E6A2-4C00-B9EB-337D4178152D}"/>
              </a:ext>
            </a:extLst>
          </p:cNvPr>
          <p:cNvSpPr>
            <a:spLocks xmlns:a="http://schemas.openxmlformats.org/drawingml/2006/main" noGrp="1"/>
          </p:cNvSpPr>
          <p:nvPr/>
        </p:nvSpPr>
        <p:spPr>
          <a:xfrm xmlns:a="http://schemas.openxmlformats.org/drawingml/2006/main">
            <a:off x="786384"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B2C5662A-EEE5-4A40-A0A2-412894DFBF62}"/>
              </a:ext>
            </a:extLst>
          </p:cNvPr>
          <p:cNvSpPr>
            <a:spLocks xmlns:a="http://schemas.openxmlformats.org/drawingml/2006/main" noGrp="1"/>
          </p:cNvSpPr>
          <p:nvPr/>
        </p:nvSpPr>
        <p:spPr>
          <a:xfrm xmlns:a="http://schemas.openxmlformats.org/drawingml/2006/main">
            <a:off x="2866278"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426A1291-3D81-43AE-8C19-503F6AD58286}"/>
              </a:ext>
            </a:extLst>
          </p:cNvPr>
          <p:cNvSpPr>
            <a:spLocks xmlns:a="http://schemas.openxmlformats.org/drawingml/2006/main" noGrp="1"/>
          </p:cNvSpPr>
          <p:nvPr/>
        </p:nvSpPr>
        <p:spPr>
          <a:xfrm xmlns:a="http://schemas.openxmlformats.org/drawingml/2006/main">
            <a:off x="3012582"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B9708C38-4EBA-4DF0-897D-916FFF212A3B}"/>
              </a:ext>
            </a:extLst>
          </p:cNvPr>
          <p:cNvSpPr>
            <a:spLocks xmlns:a="http://schemas.openxmlformats.org/drawingml/2006/main" noGrp="1"/>
          </p:cNvSpPr>
          <p:nvPr/>
        </p:nvSpPr>
        <p:spPr>
          <a:xfrm xmlns:a="http://schemas.openxmlformats.org/drawingml/2006/main">
            <a:off x="3012582"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09E1A7C9-F4DC-4759-9A1E-11C1CE81CD4D}"/>
              </a:ext>
            </a:extLst>
          </p:cNvPr>
          <p:cNvSpPr>
            <a:spLocks xmlns:a="http://schemas.openxmlformats.org/drawingml/2006/main" noGrp="1"/>
          </p:cNvSpPr>
          <p:nvPr/>
        </p:nvSpPr>
        <p:spPr>
          <a:xfrm xmlns:a="http://schemas.openxmlformats.org/drawingml/2006/main">
            <a:off x="5092476"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59ADD08D-5F65-4789-85DD-6F7B89726500}"/>
              </a:ext>
            </a:extLst>
          </p:cNvPr>
          <p:cNvSpPr>
            <a:spLocks xmlns:a="http://schemas.openxmlformats.org/drawingml/2006/main" noGrp="1"/>
          </p:cNvSpPr>
          <p:nvPr/>
        </p:nvSpPr>
        <p:spPr>
          <a:xfrm xmlns:a="http://schemas.openxmlformats.org/drawingml/2006/main">
            <a:off x="5238780"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A57FD9B9-796C-4F22-8285-351D925BEEF6}"/>
              </a:ext>
            </a:extLst>
          </p:cNvPr>
          <p:cNvSpPr>
            <a:spLocks xmlns:a="http://schemas.openxmlformats.org/drawingml/2006/main" noGrp="1"/>
          </p:cNvSpPr>
          <p:nvPr/>
        </p:nvSpPr>
        <p:spPr>
          <a:xfrm xmlns:a="http://schemas.openxmlformats.org/drawingml/2006/main">
            <a:off x="5238780"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1CB1C4A9-FEBE-4DF5-B21D-C50FFA328D45}"/>
              </a:ext>
            </a:extLst>
          </p:cNvPr>
          <p:cNvSpPr>
            <a:spLocks xmlns:a="http://schemas.openxmlformats.org/drawingml/2006/main" noGrp="1"/>
          </p:cNvSpPr>
          <p:nvPr/>
        </p:nvSpPr>
        <p:spPr>
          <a:xfrm xmlns:a="http://schemas.openxmlformats.org/drawingml/2006/main">
            <a:off x="7318675" y="5138928"/>
            <a:ext cx="2006742"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D1B1EAEC-6FF9-4B96-964C-CD8193213CE8}"/>
              </a:ext>
            </a:extLst>
          </p:cNvPr>
          <p:cNvSpPr>
            <a:spLocks xmlns:a="http://schemas.openxmlformats.org/drawingml/2006/main" noGrp="1"/>
          </p:cNvSpPr>
          <p:nvPr/>
        </p:nvSpPr>
        <p:spPr>
          <a:xfrm xmlns:a="http://schemas.openxmlformats.org/drawingml/2006/main">
            <a:off x="7464979"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5165A77B-E0D8-419F-83D0-4D0162EBB382}"/>
              </a:ext>
            </a:extLst>
          </p:cNvPr>
          <p:cNvSpPr>
            <a:spLocks xmlns:a="http://schemas.openxmlformats.org/drawingml/2006/main" noGrp="1"/>
          </p:cNvSpPr>
          <p:nvPr/>
        </p:nvSpPr>
        <p:spPr>
          <a:xfrm xmlns:a="http://schemas.openxmlformats.org/drawingml/2006/main">
            <a:off x="7464979"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30EAF532-5324-4564-B163-BDD562FFBC08}"/>
              </a:ext>
            </a:extLst>
          </p:cNvPr>
          <p:cNvSpPr>
            <a:spLocks xmlns:a="http://schemas.openxmlformats.org/drawingml/2006/main" noGrp="1"/>
          </p:cNvSpPr>
          <p:nvPr/>
        </p:nvSpPr>
        <p:spPr>
          <a:xfrm xmlns:a="http://schemas.openxmlformats.org/drawingml/2006/main">
            <a:off x="9544873" y="5138928"/>
            <a:ext cx="2006742"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4AC4035-0DA8-4801-85D9-6E19723F3703}"/>
              </a:ext>
            </a:extLst>
          </p:cNvPr>
          <p:cNvSpPr>
            <a:spLocks xmlns:a="http://schemas.openxmlformats.org/drawingml/2006/main" noGrp="1"/>
          </p:cNvSpPr>
          <p:nvPr/>
        </p:nvSpPr>
        <p:spPr>
          <a:xfrm xmlns:a="http://schemas.openxmlformats.org/drawingml/2006/main">
            <a:off x="9691177" y="5230368"/>
            <a:ext cx="1714134"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3F0C3B58-819F-4796-A159-0201DDF15B53}"/>
              </a:ext>
            </a:extLst>
          </p:cNvPr>
          <p:cNvSpPr>
            <a:spLocks xmlns:a="http://schemas.openxmlformats.org/drawingml/2006/main" noGrp="1"/>
          </p:cNvSpPr>
          <p:nvPr/>
        </p:nvSpPr>
        <p:spPr>
          <a:xfrm xmlns:a="http://schemas.openxmlformats.org/drawingml/2006/main">
            <a:off x="9691177" y="5632704"/>
            <a:ext cx="171413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000">
                <a:solidFill>
                  <a:srgbClr val="5A6B84"/>
                </a:solidFill>
                <a:latin typeface="Calibri"/>
                <a:ea typeface="Calibri"/>
                <a:cs typeface="Calibri"/>
              </a:rPr>
              <a:t>exact task contracts</a:t>
            </a:r>
          </a:p>
        </p:txBody>
      </p:sp>
    </p:spTree>
    <p:extLst>
      <p:ext uri="{BB962C8B-B14F-4D97-AF65-F5344CB8AC3E}">
        <p14:creationId xmlns:p14="http://schemas.microsoft.com/office/powerpoint/2010/main" val="143933951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47B6A8-C54A-48F2-AF52-BB28FB3E879F}"/>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33FCA74-061A-4D5D-AE36-35CFBE430B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6AC227C5-2480-4274-800D-B03E803DBC1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DEPTH TRADE-OFF  ·  §5.3  ·  TABLES 8 AND 9</a:t>
            </a:r>
          </a:p>
        </p:txBody>
      </p:sp>
      <p:sp>
        <p:nvSpPr>
          <p:cNvPr id="5" name="Text 3">
            <a:extLst xmlns:a="http://schemas.openxmlformats.org/drawingml/2006/main">
              <a:ext uri="{FF2B5EF4-FFF2-40B4-BE49-F238E27FC236}">
                <a16:creationId xmlns:a16="http://schemas.microsoft.com/office/drawing/2014/main" id="{BFAD9DD3-AA36-4893-A274-2A83980B436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Deeper compilation costs preservation</a:t>
            </a:r>
          </a:p>
        </p:txBody>
      </p:sp>
      <p:sp>
        <p:nvSpPr>
          <p:cNvPr id="6" name="Shape 4">
            <a:extLst xmlns:a="http://schemas.openxmlformats.org/drawingml/2006/main">
              <a:ext uri="{FF2B5EF4-FFF2-40B4-BE49-F238E27FC236}">
                <a16:creationId xmlns:a16="http://schemas.microsoft.com/office/drawing/2014/main" id="{A7CCC68F-BA39-4940-B211-3362266BF39F}"/>
              </a:ext>
            </a:extLst>
          </p:cNvPr>
          <p:cNvSpPr>
            <a:spLocks xmlns:a="http://schemas.openxmlformats.org/drawingml/2006/main" noGrp="1"/>
          </p:cNvSpPr>
          <p:nvPr/>
        </p:nvSpPr>
        <p:spPr>
          <a:xfrm xmlns:a="http://schemas.openxmlformats.org/drawingml/2006/main">
            <a:off x="640080" y="1389888"/>
            <a:ext cx="527288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2FE5721D-EB4D-4AB2-AA8C-0C3F4706131C}"/>
              </a:ext>
            </a:extLst>
          </p:cNvPr>
          <p:cNvSpPr>
            <a:spLocks xmlns:a="http://schemas.openxmlformats.org/drawingml/2006/main" noGrp="1"/>
          </p:cNvSpPr>
          <p:nvPr/>
        </p:nvSpPr>
        <p:spPr>
          <a:xfrm xmlns:a="http://schemas.openxmlformats.org/drawingml/2006/main">
            <a:off x="932688"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5A1F2CE0-A89F-4754-B59D-A9B10798FDED}"/>
              </a:ext>
            </a:extLst>
          </p:cNvPr>
          <p:cNvSpPr>
            <a:spLocks xmlns:a="http://schemas.openxmlformats.org/drawingml/2006/main" noGrp="1"/>
          </p:cNvSpPr>
          <p:nvPr/>
        </p:nvSpPr>
        <p:spPr>
          <a:xfrm xmlns:a="http://schemas.openxmlformats.org/drawingml/2006/main">
            <a:off x="932688"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AF2C8D84-5695-4D5C-AFFC-BD4171D5FEDD}"/>
              </a:ext>
            </a:extLst>
          </p:cNvPr>
          <p:cNvSpPr>
            <a:spLocks xmlns:a="http://schemas.openxmlformats.org/drawingml/2006/main" noGrp="1"/>
          </p:cNvSpPr>
          <p:nvPr/>
        </p:nvSpPr>
        <p:spPr>
          <a:xfrm xmlns:a="http://schemas.openxmlformats.org/drawingml/2006/main">
            <a:off x="932688"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B16CBFF6-53C2-4D61-ACF3-CCE7B768A217}"/>
              </a:ext>
            </a:extLst>
          </p:cNvPr>
          <p:cNvSpPr>
            <a:spLocks xmlns:a="http://schemas.openxmlformats.org/drawingml/2006/main" noGrp="1"/>
          </p:cNvSpPr>
          <p:nvPr/>
        </p:nvSpPr>
        <p:spPr>
          <a:xfrm xmlns:a="http://schemas.openxmlformats.org/drawingml/2006/main">
            <a:off x="2514600"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AF2B94A8-A190-4DBE-89F0-EE106BFD200D}"/>
              </a:ext>
            </a:extLst>
          </p:cNvPr>
          <p:cNvSpPr>
            <a:spLocks xmlns:a="http://schemas.openxmlformats.org/drawingml/2006/main" noGrp="1"/>
          </p:cNvSpPr>
          <p:nvPr/>
        </p:nvSpPr>
        <p:spPr>
          <a:xfrm xmlns:a="http://schemas.openxmlformats.org/drawingml/2006/main">
            <a:off x="932688"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0B82FCCC-13A3-4FE1-A986-C83EBE50D60D}"/>
              </a:ext>
            </a:extLst>
          </p:cNvPr>
          <p:cNvSpPr>
            <a:spLocks xmlns:a="http://schemas.openxmlformats.org/drawingml/2006/main" noGrp="1"/>
          </p:cNvSpPr>
          <p:nvPr/>
        </p:nvSpPr>
        <p:spPr>
          <a:xfrm xmlns:a="http://schemas.openxmlformats.org/drawingml/2006/main">
            <a:off x="2514600"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3FD487E9-93C8-43BC-900B-736E2AF1224C}"/>
              </a:ext>
            </a:extLst>
          </p:cNvPr>
          <p:cNvSpPr>
            <a:spLocks xmlns:a="http://schemas.openxmlformats.org/drawingml/2006/main" noGrp="1"/>
          </p:cNvSpPr>
          <p:nvPr/>
        </p:nvSpPr>
        <p:spPr>
          <a:xfrm xmlns:a="http://schemas.openxmlformats.org/drawingml/2006/main">
            <a:off x="932688"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61CF3254-1B82-4165-992F-6D3C01344989}"/>
              </a:ext>
            </a:extLst>
          </p:cNvPr>
          <p:cNvSpPr>
            <a:spLocks xmlns:a="http://schemas.openxmlformats.org/drawingml/2006/main" noGrp="1"/>
          </p:cNvSpPr>
          <p:nvPr/>
        </p:nvSpPr>
        <p:spPr>
          <a:xfrm xmlns:a="http://schemas.openxmlformats.org/drawingml/2006/main">
            <a:off x="2514600"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872DBF4-F948-4D75-A7BD-280E63BF11CE}"/>
              </a:ext>
            </a:extLst>
          </p:cNvPr>
          <p:cNvSpPr>
            <a:spLocks xmlns:a="http://schemas.openxmlformats.org/drawingml/2006/main" noGrp="1"/>
          </p:cNvSpPr>
          <p:nvPr/>
        </p:nvSpPr>
        <p:spPr>
          <a:xfrm xmlns:a="http://schemas.openxmlformats.org/drawingml/2006/main">
            <a:off x="932688"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Groundability proof permits only two of the three reads. Nothing is lost.</a:t>
            </a:r>
          </a:p>
        </p:txBody>
      </p:sp>
      <p:sp>
        <p:nvSpPr>
          <p:cNvPr id="16" name="Shape 14">
            <a:extLst xmlns:a="http://schemas.openxmlformats.org/drawingml/2006/main">
              <a:ext uri="{FF2B5EF4-FFF2-40B4-BE49-F238E27FC236}">
                <a16:creationId xmlns:a16="http://schemas.microsoft.com/office/drawing/2014/main" id="{7168808E-70C4-4CD6-B364-546247F83C60}"/>
              </a:ext>
            </a:extLst>
          </p:cNvPr>
          <p:cNvSpPr>
            <a:spLocks xmlns:a="http://schemas.openxmlformats.org/drawingml/2006/main" noGrp="1"/>
          </p:cNvSpPr>
          <p:nvPr/>
        </p:nvSpPr>
        <p:spPr>
          <a:xfrm xmlns:a="http://schemas.openxmlformats.org/drawingml/2006/main">
            <a:off x="6278728" y="1389888"/>
            <a:ext cx="5272888" cy="3200400"/>
          </a:xfrm>
          <a:prstGeom xmlns:a="http://schemas.openxmlformats.org/drawingml/2006/main" prst="roundRect">
            <a:avLst>
              <a:gd name="adj" fmla="val 142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468FAB4-453B-4906-BF82-D9AEFC510B4C}"/>
              </a:ext>
            </a:extLst>
          </p:cNvPr>
          <p:cNvSpPr>
            <a:spLocks xmlns:a="http://schemas.openxmlformats.org/drawingml/2006/main" noGrp="1"/>
          </p:cNvSpPr>
          <p:nvPr/>
        </p:nvSpPr>
        <p:spPr>
          <a:xfrm xmlns:a="http://schemas.openxmlformats.org/drawingml/2006/main">
            <a:off x="6571336" y="1572768"/>
            <a:ext cx="4687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A93B2B"/>
                </a:solidFill>
                <a:latin typeface="Cambria"/>
                <a:ea typeface="Cambria"/>
                <a:cs typeface="Cambria"/>
              </a:rPr>
              <a:t>Three-read artifact</a:t>
            </a:r>
          </a:p>
        </p:txBody>
      </p:sp>
      <p:sp>
        <p:nvSpPr>
          <p:cNvPr id="18" name="Text 16">
            <a:extLst xmlns:a="http://schemas.openxmlformats.org/drawingml/2006/main">
              <a:ext uri="{FF2B5EF4-FFF2-40B4-BE49-F238E27FC236}">
                <a16:creationId xmlns:a16="http://schemas.microsoft.com/office/drawing/2014/main" id="{805376D7-EBA9-41BB-B773-6D923BE40D43}"/>
              </a:ext>
            </a:extLst>
          </p:cNvPr>
          <p:cNvSpPr>
            <a:spLocks xmlns:a="http://schemas.openxmlformats.org/drawingml/2006/main" noGrp="1"/>
          </p:cNvSpPr>
          <p:nvPr/>
        </p:nvSpPr>
        <p:spPr>
          <a:xfrm xmlns:a="http://schemas.openxmlformats.org/drawingml/2006/main">
            <a:off x="6571336" y="1938528"/>
            <a:ext cx="4687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5A6B84"/>
                </a:solidFill>
                <a:latin typeface="Calibri"/>
                <a:ea typeface="Calibri"/>
                <a:cs typeface="Calibri"/>
              </a:rPr>
              <a:t>earlier aggressive study, 18 issues</a:t>
            </a:r>
          </a:p>
        </p:txBody>
      </p:sp>
      <p:sp>
        <p:nvSpPr>
          <p:cNvPr id="19" name="Text 17">
            <a:extLst xmlns:a="http://schemas.openxmlformats.org/drawingml/2006/main">
              <a:ext uri="{FF2B5EF4-FFF2-40B4-BE49-F238E27FC236}">
                <a16:creationId xmlns:a16="http://schemas.microsoft.com/office/drawing/2014/main" id="{FC761766-6B8C-450E-B680-91CDFB31C9B5}"/>
              </a:ext>
            </a:extLst>
          </p:cNvPr>
          <p:cNvSpPr>
            <a:spLocks xmlns:a="http://schemas.openxmlformats.org/drawingml/2006/main" noGrp="1"/>
          </p:cNvSpPr>
          <p:nvPr/>
        </p:nvSpPr>
        <p:spPr>
          <a:xfrm xmlns:a="http://schemas.openxmlformats.org/drawingml/2006/main">
            <a:off x="6571336" y="23042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−75.0%</a:t>
            </a:r>
          </a:p>
        </p:txBody>
      </p:sp>
      <p:sp>
        <p:nvSpPr>
          <p:cNvPr id="20" name="Text 18">
            <a:extLst xmlns:a="http://schemas.openxmlformats.org/drawingml/2006/main">
              <a:ext uri="{FF2B5EF4-FFF2-40B4-BE49-F238E27FC236}">
                <a16:creationId xmlns:a16="http://schemas.microsoft.com/office/drawing/2014/main" id="{EBE6FD2D-BEFD-4322-9823-9306EDFA3A16}"/>
              </a:ext>
            </a:extLst>
          </p:cNvPr>
          <p:cNvSpPr>
            <a:spLocks xmlns:a="http://schemas.openxmlformats.org/drawingml/2006/main" noGrp="1"/>
          </p:cNvSpPr>
          <p:nvPr/>
        </p:nvSpPr>
        <p:spPr>
          <a:xfrm xmlns:a="http://schemas.openxmlformats.org/drawingml/2006/main">
            <a:off x="8153248" y="23042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a:t>
            </a:r>
          </a:p>
        </p:txBody>
      </p:sp>
      <p:sp>
        <p:nvSpPr>
          <p:cNvPr id="21" name="Text 19">
            <a:extLst xmlns:a="http://schemas.openxmlformats.org/drawingml/2006/main">
              <a:ext uri="{FF2B5EF4-FFF2-40B4-BE49-F238E27FC236}">
                <a16:creationId xmlns:a16="http://schemas.microsoft.com/office/drawing/2014/main" id="{B5780643-6688-49B6-8D80-A14D47E38BD3}"/>
              </a:ext>
            </a:extLst>
          </p:cNvPr>
          <p:cNvSpPr>
            <a:spLocks xmlns:a="http://schemas.openxmlformats.org/drawingml/2006/main" noGrp="1"/>
          </p:cNvSpPr>
          <p:nvPr/>
        </p:nvSpPr>
        <p:spPr>
          <a:xfrm xmlns:a="http://schemas.openxmlformats.org/drawingml/2006/main">
            <a:off x="6571336" y="27614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−66.0%</a:t>
            </a:r>
          </a:p>
        </p:txBody>
      </p:sp>
      <p:sp>
        <p:nvSpPr>
          <p:cNvPr id="22" name="Text 20">
            <a:extLst xmlns:a="http://schemas.openxmlformats.org/drawingml/2006/main">
              <a:ext uri="{FF2B5EF4-FFF2-40B4-BE49-F238E27FC236}">
                <a16:creationId xmlns:a16="http://schemas.microsoft.com/office/drawing/2014/main" id="{AE4E6F47-A5EE-4349-84FD-EC51EE22BCE4}"/>
              </a:ext>
            </a:extLst>
          </p:cNvPr>
          <p:cNvSpPr>
            <a:spLocks xmlns:a="http://schemas.openxmlformats.org/drawingml/2006/main" noGrp="1"/>
          </p:cNvSpPr>
          <p:nvPr/>
        </p:nvSpPr>
        <p:spPr>
          <a:xfrm xmlns:a="http://schemas.openxmlformats.org/drawingml/2006/main">
            <a:off x="8153248" y="27614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23" name="Text 21">
            <a:extLst xmlns:a="http://schemas.openxmlformats.org/drawingml/2006/main">
              <a:ext uri="{FF2B5EF4-FFF2-40B4-BE49-F238E27FC236}">
                <a16:creationId xmlns:a16="http://schemas.microsoft.com/office/drawing/2014/main" id="{8F71F11B-4A5E-4195-8084-37F3020BA653}"/>
              </a:ext>
            </a:extLst>
          </p:cNvPr>
          <p:cNvSpPr>
            <a:spLocks xmlns:a="http://schemas.openxmlformats.org/drawingml/2006/main" noGrp="1"/>
          </p:cNvSpPr>
          <p:nvPr/>
        </p:nvSpPr>
        <p:spPr>
          <a:xfrm xmlns:a="http://schemas.openxmlformats.org/drawingml/2006/main">
            <a:off x="6571336" y="3218688"/>
            <a:ext cx="14630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A93B2B"/>
                </a:solidFill>
                <a:latin typeface="Cambria"/>
                <a:ea typeface="Cambria"/>
                <a:cs typeface="Cambria"/>
              </a:rPr>
              <a:t>17 / 18</a:t>
            </a:r>
          </a:p>
        </p:txBody>
      </p:sp>
      <p:sp>
        <p:nvSpPr>
          <p:cNvPr id="24" name="Text 22">
            <a:extLst xmlns:a="http://schemas.openxmlformats.org/drawingml/2006/main">
              <a:ext uri="{FF2B5EF4-FFF2-40B4-BE49-F238E27FC236}">
                <a16:creationId xmlns:a16="http://schemas.microsoft.com/office/drawing/2014/main" id="{41487ECA-A561-4FFC-9B39-603EFDE0749D}"/>
              </a:ext>
            </a:extLst>
          </p:cNvPr>
          <p:cNvSpPr>
            <a:spLocks xmlns:a="http://schemas.openxmlformats.org/drawingml/2006/main" noGrp="1"/>
          </p:cNvSpPr>
          <p:nvPr/>
        </p:nvSpPr>
        <p:spPr>
          <a:xfrm xmlns:a="http://schemas.openxmlformats.org/drawingml/2006/main">
            <a:off x="8153248" y="3218688"/>
            <a:ext cx="307832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source contracts</a:t>
            </a:r>
          </a:p>
        </p:txBody>
      </p:sp>
      <p:sp>
        <p:nvSpPr>
          <p:cNvPr id="25" name="Text 23">
            <a:extLst xmlns:a="http://schemas.openxmlformats.org/drawingml/2006/main">
              <a:ext uri="{FF2B5EF4-FFF2-40B4-BE49-F238E27FC236}">
                <a16:creationId xmlns:a16="http://schemas.microsoft.com/office/drawing/2014/main" id="{7E12A923-8838-46B6-BE65-498B863BD457}"/>
              </a:ext>
            </a:extLst>
          </p:cNvPr>
          <p:cNvSpPr>
            <a:spLocks xmlns:a="http://schemas.openxmlformats.org/drawingml/2006/main" noGrp="1"/>
          </p:cNvSpPr>
          <p:nvPr/>
        </p:nvSpPr>
        <p:spPr>
          <a:xfrm xmlns:a="http://schemas.openxmlformats.org/drawingml/2006/main">
            <a:off x="6571336" y="3749040"/>
            <a:ext cx="4687672"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On one issue the source contained a Markdown link; the compiled continuation dropped the URL and returned only anchor text.</a:t>
            </a:r>
          </a:p>
        </p:txBody>
      </p:sp>
      <p:sp>
        <p:nvSpPr>
          <p:cNvPr id="26" name="Shape 24">
            <a:extLst xmlns:a="http://schemas.openxmlformats.org/drawingml/2006/main">
              <a:ext uri="{FF2B5EF4-FFF2-40B4-BE49-F238E27FC236}">
                <a16:creationId xmlns:a16="http://schemas.microsoft.com/office/drawing/2014/main" id="{C0BF981A-9E8F-494A-9AD0-98168DAA843F}"/>
              </a:ext>
            </a:extLst>
          </p:cNvPr>
          <p:cNvSpPr>
            <a:spLocks xmlns:a="http://schemas.openxmlformats.org/drawingml/2006/main" noGrp="1"/>
          </p:cNvSpPr>
          <p:nvPr/>
        </p:nvSpPr>
        <p:spPr>
          <a:xfrm xmlns:a="http://schemas.openxmlformats.org/drawingml/2006/main">
            <a:off x="640080" y="4754880"/>
            <a:ext cx="10911535"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A8D5D3DB-7228-4C64-BB37-2C16FCEA1A88}"/>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8DBCF72E-4F10-4B08-8087-4D76EC613F69}"/>
              </a:ext>
            </a:extLst>
          </p:cNvPr>
          <p:cNvSpPr>
            <a:spLocks xmlns:a="http://schemas.openxmlformats.org/drawingml/2006/main" noGrp="1"/>
          </p:cNvSpPr>
          <p:nvPr/>
        </p:nvSpPr>
        <p:spPr>
          <a:xfrm xmlns:a="http://schemas.openxmlformats.org/drawingml/2006/main">
            <a:off x="914400" y="49560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E55FC436-6B16-4308-9F0A-60AB237C51A1}"/>
              </a:ext>
            </a:extLst>
          </p:cNvPr>
          <p:cNvSpPr>
            <a:spLocks xmlns:a="http://schemas.openxmlformats.org/drawingml/2006/main" noGrp="1"/>
          </p:cNvSpPr>
          <p:nvPr/>
        </p:nvSpPr>
        <p:spPr>
          <a:xfrm xmlns:a="http://schemas.openxmlformats.org/drawingml/2006/main">
            <a:off x="1463040" y="4919472"/>
            <a:ext cx="98142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The miss fixes the gate's scope — and motivates a second layer</a:t>
            </a:r>
          </a:p>
        </p:txBody>
      </p:sp>
      <p:sp>
        <p:nvSpPr>
          <p:cNvPr id="30" name="Text 28">
            <a:extLst xmlns:a="http://schemas.openxmlformats.org/drawingml/2006/main">
              <a:ext uri="{FF2B5EF4-FFF2-40B4-BE49-F238E27FC236}">
                <a16:creationId xmlns:a16="http://schemas.microsoft.com/office/drawing/2014/main" id="{C9547E57-0BC7-4666-B445-08D84357BB7A}"/>
              </a:ext>
            </a:extLst>
          </p:cNvPr>
          <p:cNvSpPr>
            <a:spLocks xmlns:a="http://schemas.openxmlformats.org/drawingml/2006/main" noGrp="1"/>
          </p:cNvSpPr>
          <p:nvPr/>
        </p:nvSpPr>
        <p:spPr>
          <a:xfrm xmlns:a="http://schemas.openxmlformats.org/drawingml/2006/main">
            <a:off x="1463040" y="5266944"/>
            <a:ext cx="972281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50">
                <a:solidFill>
                  <a:srgbClr val="24354F"/>
                </a:solidFill>
                <a:latin typeface="Calibri"/>
                <a:ea typeface="Calibri"/>
                <a:cs typeface="Calibri"/>
              </a:rPr>
              <a:t>Zero calibration violations concern the compiled tool program: grounded arguments, tool outputs, call counts, declared effects. The verifier never certified the downstream model continuation. A framework-neutral ContinuationGuard — checking the candidate answer, then a deterministic renderer, then baseline — detects the miss in provider-free replay and checked-renders it to 18/18. That is a demonstrated detection mechanism, not a live safety claim.</a:t>
            </a:r>
          </a:p>
        </p:txBody>
      </p:sp>
    </p:spTree>
    <p:extLst>
      <p:ext uri="{BB962C8B-B14F-4D97-AF65-F5344CB8AC3E}">
        <p14:creationId xmlns:p14="http://schemas.microsoft.com/office/powerpoint/2010/main" val="20141524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E62FA1-9C7E-4242-89B0-4F3B5B51694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0B2760F-1F6E-4DBF-B79E-6FBBFAEFB8A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2C7FED2E-1F58-473D-87EB-3DE4EC0AB12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RQ4  ·  §5.4  ·  FIGURE 18</a:t>
            </a:r>
          </a:p>
        </p:txBody>
      </p:sp>
      <p:sp>
        <p:nvSpPr>
          <p:cNvPr id="5" name="Text 3">
            <a:extLst xmlns:a="http://schemas.openxmlformats.org/drawingml/2006/main">
              <a:ext uri="{FF2B5EF4-FFF2-40B4-BE49-F238E27FC236}">
                <a16:creationId xmlns:a16="http://schemas.microsoft.com/office/drawing/2014/main" id="{76F0EF70-AC54-4FB5-8418-7333D6F9404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Token saving is not cost saving</a:t>
            </a:r>
          </a:p>
        </p:txBody>
      </p:sp>
      <p:graphicFrame>
        <p:nvGraphicFramePr>
          <p:cNvPr id="6" name="Chart 0"/>
          <p:cNvGraphicFramePr/>
          <p:nvPr/>
        </p:nvGraphicFramePr>
        <p:xfrm>
          <a:off xmlns:a="http://schemas.openxmlformats.org/drawingml/2006/main" x="640080" y="1371600"/>
          <a:ext xmlns:a="http://schemas.openxmlformats.org/drawingml/2006/main" cx="6858000" cy="3703320"/>
        </p:xfrm>
        <a:graphic xmlns:a="http://schemas.openxmlformats.org/drawingml/2006/main">
          <a:graphicData uri="http://schemas.openxmlformats.org/drawingml/2006/chart">
            <c:chart xmlns:r="http://schemas.openxmlformats.org/officeDocument/2006/relationships" xmlns:c="http://schemas.openxmlformats.org/drawingml/2006/chart" r:id="R2d8e65cbda95494b"/>
          </a:graphicData>
        </a:graphic>
      </p:graphicFrame>
      <p:sp>
        <p:nvSpPr>
          <p:cNvPr id="7" name="Shape 4">
            <a:extLst xmlns:a="http://schemas.openxmlformats.org/drawingml/2006/main">
              <a:ext uri="{FF2B5EF4-FFF2-40B4-BE49-F238E27FC236}">
                <a16:creationId xmlns:a16="http://schemas.microsoft.com/office/drawing/2014/main" id="{A25CA3EA-5BC0-43B6-91B9-C0D0C0B5BF99}"/>
              </a:ext>
            </a:extLst>
          </p:cNvPr>
          <p:cNvSpPr>
            <a:spLocks xmlns:a="http://schemas.openxmlformats.org/drawingml/2006/main" noGrp="1"/>
          </p:cNvSpPr>
          <p:nvPr/>
        </p:nvSpPr>
        <p:spPr>
          <a:xfrm xmlns:a="http://schemas.openxmlformats.org/drawingml/2006/main">
            <a:off x="7726680" y="1371600"/>
            <a:ext cx="3824935" cy="1463040"/>
          </a:xfrm>
          <a:prstGeom xmlns:a="http://schemas.openxmlformats.org/drawingml/2006/main" prst="roundRect">
            <a:avLst>
              <a:gd name="adj" fmla="val 312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208D9B6-B2AA-4F88-9EF0-305DB4B0F4F1}"/>
              </a:ext>
            </a:extLst>
          </p:cNvPr>
          <p:cNvSpPr>
            <a:spLocks xmlns:a="http://schemas.openxmlformats.org/drawingml/2006/main" noGrp="1"/>
          </p:cNvSpPr>
          <p:nvPr/>
        </p:nvSpPr>
        <p:spPr>
          <a:xfrm xmlns:a="http://schemas.openxmlformats.org/drawingml/2006/main">
            <a:off x="7964424" y="151790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5118268C-D78D-4146-A8ED-A41CD5EECF74}"/>
              </a:ext>
            </a:extLst>
          </p:cNvPr>
          <p:cNvSpPr>
            <a:spLocks xmlns:a="http://schemas.openxmlformats.org/drawingml/2006/main" noGrp="1"/>
          </p:cNvSpPr>
          <p:nvPr/>
        </p:nvSpPr>
        <p:spPr>
          <a:xfrm xmlns:a="http://schemas.openxmlformats.org/drawingml/2006/main">
            <a:off x="7964424" y="199339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Demo E ends every episode in an irreversible write, so model calls fall 7 → 2 rather than 7 → 1. Tokens fall 66.4% at unchanged quality. This is the shape most real operational workflows have.</a:t>
            </a:r>
          </a:p>
        </p:txBody>
      </p:sp>
      <p:sp>
        <p:nvSpPr>
          <p:cNvPr id="10" name="Shape 7">
            <a:extLst xmlns:a="http://schemas.openxmlformats.org/drawingml/2006/main">
              <a:ext uri="{FF2B5EF4-FFF2-40B4-BE49-F238E27FC236}">
                <a16:creationId xmlns:a16="http://schemas.microsoft.com/office/drawing/2014/main" id="{A18B45D6-22DB-4431-A239-B800415667ED}"/>
              </a:ext>
            </a:extLst>
          </p:cNvPr>
          <p:cNvSpPr>
            <a:spLocks xmlns:a="http://schemas.openxmlformats.org/drawingml/2006/main" noGrp="1"/>
          </p:cNvSpPr>
          <p:nvPr/>
        </p:nvSpPr>
        <p:spPr>
          <a:xfrm xmlns:a="http://schemas.openxmlformats.org/drawingml/2006/main">
            <a:off x="7726680" y="3017520"/>
            <a:ext cx="382493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2A1F32D-5FD6-493D-AFEC-BD6F64F9224C}"/>
              </a:ext>
            </a:extLst>
          </p:cNvPr>
          <p:cNvSpPr>
            <a:spLocks xmlns:a="http://schemas.openxmlformats.org/drawingml/2006/main" noGrp="1"/>
          </p:cNvSpPr>
          <p:nvPr/>
        </p:nvSpPr>
        <p:spPr>
          <a:xfrm xmlns:a="http://schemas.openxmlformats.org/drawingml/2006/main">
            <a:off x="7964424" y="316382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D10BA4EC-5970-4F9B-BA9B-347F7F8137CD}"/>
              </a:ext>
            </a:extLst>
          </p:cNvPr>
          <p:cNvSpPr>
            <a:spLocks xmlns:a="http://schemas.openxmlformats.org/drawingml/2006/main" noGrp="1"/>
          </p:cNvSpPr>
          <p:nvPr/>
        </p:nvSpPr>
        <p:spPr>
          <a:xfrm xmlns:a="http://schemas.openxmlformats.org/drawingml/2006/main">
            <a:off x="7964424" y="3639312"/>
            <a:ext cx="3349447"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Three negative controls return the baseline model-call count at identical quality — yet two bill 55.4% and 54.5% more on identical token counts. Prompt-cache warmth, not the refusal, changed the price.</a:t>
            </a:r>
          </a:p>
        </p:txBody>
      </p:sp>
      <p:sp>
        <p:nvSpPr>
          <p:cNvPr id="13" name="Shape 10">
            <a:extLst xmlns:a="http://schemas.openxmlformats.org/drawingml/2006/main">
              <a:ext uri="{FF2B5EF4-FFF2-40B4-BE49-F238E27FC236}">
                <a16:creationId xmlns:a16="http://schemas.microsoft.com/office/drawing/2014/main" id="{97EF3A1A-CD11-4258-93D5-A3113F1BBB4E}"/>
              </a:ext>
            </a:extLst>
          </p:cNvPr>
          <p:cNvSpPr>
            <a:spLocks xmlns:a="http://schemas.openxmlformats.org/drawingml/2006/main" noGrp="1"/>
          </p:cNvSpPr>
          <p:nvPr/>
        </p:nvSpPr>
        <p:spPr>
          <a:xfrm xmlns:a="http://schemas.openxmlformats.org/drawingml/2006/main">
            <a:off x="7726680" y="4663440"/>
            <a:ext cx="3824935"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0D61E25-733A-4AA4-AC69-D55EDFC620F4}"/>
              </a:ext>
            </a:extLst>
          </p:cNvPr>
          <p:cNvSpPr>
            <a:spLocks xmlns:a="http://schemas.openxmlformats.org/drawingml/2006/main" noGrp="1"/>
          </p:cNvSpPr>
          <p:nvPr/>
        </p:nvSpPr>
        <p:spPr>
          <a:xfrm xmlns:a="http://schemas.openxmlformats.org/drawingml/2006/main">
            <a:off x="7964424" y="4809744"/>
            <a:ext cx="334944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D9A40B7B-99E4-4AFC-9DEF-9D2D71070C60}"/>
              </a:ext>
            </a:extLst>
          </p:cNvPr>
          <p:cNvSpPr>
            <a:spLocks xmlns:a="http://schemas.openxmlformats.org/drawingml/2006/main" noGrp="1"/>
          </p:cNvSpPr>
          <p:nvPr/>
        </p:nvSpPr>
        <p:spPr>
          <a:xfrm xmlns:a="http://schemas.openxmlformats.org/drawingml/2006/main">
            <a:off x="7964424" y="5285232"/>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seven-turn baseline pays one cache write over a long prefix then reads it six times. A two-turn compacted run pays the write with almost nothing to amortize against. Measured cached-input share falls 96% → 38% (E) and 98% → 58% (F).</a:t>
            </a:r>
          </a:p>
        </p:txBody>
      </p:sp>
      <p:sp>
        <p:nvSpPr>
          <p:cNvPr id="16" name="Text 13">
            <a:extLst xmlns:a="http://schemas.openxmlformats.org/drawingml/2006/main">
              <a:ext uri="{FF2B5EF4-FFF2-40B4-BE49-F238E27FC236}">
                <a16:creationId xmlns:a16="http://schemas.microsoft.com/office/drawing/2014/main" id="{FC389CD1-071A-43F3-8B18-2F7C73B5B8EA}"/>
              </a:ext>
            </a:extLst>
          </p:cNvPr>
          <p:cNvSpPr>
            <a:spLocks xmlns:a="http://schemas.openxmlformats.org/drawingml/2006/main" noGrp="1"/>
          </p:cNvSpPr>
          <p:nvPr/>
        </p:nvSpPr>
        <p:spPr>
          <a:xfrm xmlns:a="http://schemas.openxmlformats.org/drawingml/2006/main">
            <a:off x="640080" y="5212080"/>
            <a:ext cx="6858000"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50">
                <a:solidFill>
                  <a:srgbClr val="24354F"/>
                </a:solidFill>
                <a:latin typeface="Calibri"/>
                <a:ea typeface="Calibri"/>
                <a:cs typeface="Calibri"/>
              </a:rPr>
              <a:t>Consequence for anyone building this: reporting token reduction as though it were cost reduction is unsafe. A workflow whose baseline is already cache-dominated has far less dollar headroom than its token headroom implies.</a:t>
            </a:r>
          </a:p>
        </p:txBody>
      </p:sp>
    </p:spTree>
    <p:extLst>
      <p:ext uri="{BB962C8B-B14F-4D97-AF65-F5344CB8AC3E}">
        <p14:creationId xmlns:p14="http://schemas.microsoft.com/office/powerpoint/2010/main" val="1111143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THE COMPARATOR THAT MATTERS  ·  §5.6  ·  TABLE 10</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Before GCS, the hand macro wins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150">
                <a:solidFill>
                  <a:srgbClr val="24354F"/>
                </a:solidFill>
                <a:latin typeface="Calibri"/>
                <a:ea typeface="Calibri"/>
                <a:cs typeface="Calibri"/>
              </a:rPr>
              <a:t>Against partial GRC, the hand-written composite matches exact quality and request savings while using one interface and fewer tokens. Priced with prompt-cache reuse the gap narrows to 30.9% fewer tokens for 8.0% lower cost, because interface fusion destroys the repeated prefix. This is the correct baseline for a stable read set.</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OFFLINE STRESS SUITE — PAIRED REQUEST RATIO VS THE UNCHANGED AGENT, LOWER IS BETTER</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Workload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Wins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Tier-1 support evidence gathering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0.726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0.755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Permissioned RAG knowledge assistant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0.335</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0.718</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Multi-agent incident triage</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0.922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0.780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Multi-tenant MCP ops (negative control)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0.724</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1.000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macro</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Order-fulfillment exception handling</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0.661</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0.642</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GAC</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This substrate is simulated — a scripted policy stands in for the model at each boundary — so these ratios settle that the comparison was run, not the live question. </a:t>
            </a:r>
            <a:r>
              <a:rPr sz="1050" i="1">
                <a:solidFill>
                  <a:srgbClr val="5A6B84"/>
                </a:solidFill>
                <a:latin typeface="Calibri"/>
                <a:ea typeface="Calibri"/>
                <a:cs typeface="Calibri"/>
              </a:rPr>
              <a:t>On the negative control the macro takes a 27.6% saving that GAC refuses because the tool effects are undeclared and the catalog fails closed: prudence or lost value depends on whether those tools really are read-only.</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Write the composite tool when…</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read set is stable and low-entropy</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the effects are already understood by a human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one interface redesign can fuse the reads</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Compile when…</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which reads to make is itself the recurrent structure</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the region is branch-dependent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discovery and maintenance would not amortize</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Live confirmation: </a:t>
            </a:r>
            <a:r>
              <a:rPr sz="1200">
                <a:solidFill>
                  <a:srgbClr val="24354F"/>
                </a:solidFill>
                <a:latin typeface="Calibri"/>
                <a:ea typeface="Calibri"/>
                <a:cs typeface="Calibri"/>
              </a:rPr>
              <a:t>on 30 real issues the macro matched the compiler's request count, used one tool call instead of three, and beat it on tokens (−58.2% vs −39.5%) and cost (−37.5% vs −32.0%). Only observed wall latency favoured the compiler — and that paired interval crosses zero.</a:t>
            </a:r>
          </a:p>
        </p:txBody>
      </p:sp>
    </p:spTree>
    <p:extLst>
      <p:ext uri="{BB962C8B-B14F-4D97-AF65-F5344CB8AC3E}">
        <p14:creationId xmlns:p14="http://schemas.microsoft.com/office/powerpoint/2010/main" val="159616672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827B25-C294-4CB7-A0C4-1238EE35F33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7662252-BCA4-4C10-992C-A318D7C7C58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2B628E2F-72ED-433F-A1CD-30C01ABC185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FAIR PLACEMENT AND BOUNDED GEPA  ·  §5.7–5.8  ·  TABLES 12 AND 13</a:t>
            </a:r>
          </a:p>
        </p:txBody>
      </p:sp>
      <p:sp>
        <p:nvSpPr>
          <p:cNvPr id="5" name="Text 3">
            <a:extLst xmlns:a="http://schemas.openxmlformats.org/drawingml/2006/main">
              <a:ext uri="{FF2B5EF4-FFF2-40B4-BE49-F238E27FC236}">
                <a16:creationId xmlns:a16="http://schemas.microsoft.com/office/drawing/2014/main" id="{1C3D3212-93BA-411F-BED9-76DBAB83824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Fair placement ties GCS</a:t>
            </a:r>
          </a:p>
        </p:txBody>
      </p:sp>
      <p:sp>
        <p:nvSpPr>
          <p:cNvPr id="6" name="Text 4">
            <a:extLst xmlns:a="http://schemas.openxmlformats.org/drawingml/2006/main">
              <a:ext uri="{FF2B5EF4-FFF2-40B4-BE49-F238E27FC236}">
                <a16:creationId xmlns:a16="http://schemas.microsoft.com/office/drawing/2014/main" id="{73B8FF8B-BD7A-4110-A663-73B75B446C2E}"/>
              </a:ext>
            </a:extLst>
          </p:cNvPr>
          <p:cNvSpPr>
            <a:spLocks xmlns:a="http://schemas.openxmlformats.org/drawingml/2006/main" noGrp="1"/>
          </p:cNvSpPr>
          <p:nvPr/>
        </p:nvSpPr>
        <p:spPr>
          <a:xfrm xmlns:a="http://schemas.openxmlformats.org/drawingml/2006/main">
            <a:off x="640080" y="137160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ct val="112000"/>
              </a:lnSpc>
              <a:buNone/>
            </a:pPr>
            <a:r>
              <a:rPr sz="1300">
                <a:solidFill>
                  <a:srgbClr val="24354F"/>
                </a:solidFill>
                <a:latin typeface="Calibri"/>
                <a:ea typeface="Calibri"/>
                <a:cs typeface="Calibri"/>
              </a:rPr>
              <a:t>All five arms pass 6/6. GCS ties the fair manual program structurally; GEPA retains its seed and leaves requests unchanged.</a:t>
            </a:r>
          </a:p>
        </p:txBody>
      </p:sp>
      <p:sp>
        <p:nvSpPr>
          <p:cNvPr id="7" name="Text 5">
            <a:extLst xmlns:a="http://schemas.openxmlformats.org/drawingml/2006/main">
              <a:ext uri="{FF2B5EF4-FFF2-40B4-BE49-F238E27FC236}">
                <a16:creationId xmlns:a16="http://schemas.microsoft.com/office/drawing/2014/main" id="{93CD70EB-14CF-4235-8C2B-0B3894C41ED8}"/>
              </a:ext>
            </a:extLst>
          </p:cNvPr>
          <p:cNvSpPr>
            <a:spLocks xmlns:a="http://schemas.openxmlformats.org/drawingml/2006/main" noGrp="1"/>
          </p:cNvSpPr>
          <p:nvPr/>
        </p:nvSpPr>
        <p:spPr>
          <a:xfrm xmlns:a="http://schemas.openxmlformats.org/drawingml/2006/main">
            <a:off x="640080" y="1938528"/>
            <a:ext cx="59436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6 FRESH HELD-OUT PUBLIC ISSUES — OPTIMIZATION COST EXCLUDED FROM DEPLOYMENT</a:t>
            </a:r>
          </a:p>
        </p:txBody>
      </p:sp>
      <p:graphicFrame>
        <p:nvGraphicFramePr>
          <p:cNvPr id="8" name="Table 0"/>
          <p:cNvGraphicFramePr/>
          <p:nvPr/>
        </p:nvGraphicFramePr>
        <p:xfrm>
          <a:off xmlns:a="http://schemas.openxmlformats.org/drawingml/2006/main" x="640080" y="2212848"/>
          <a:ext xmlns:a="http://schemas.openxmlformats.org/drawingml/2006/main" cx="5943600" cy="1810512"/>
        </p:xfrm>
        <a:graphic xmlns:a="http://schemas.openxmlformats.org/drawingml/2006/main">
          <a:graphicData uri="http://schemas.openxmlformats.org/drawingml/2006/table">
            <a:tbl>
              <a:tblPr/>
              <a:tblGrid>
                <a:gridCol w="3200400"/>
                <a:gridCol w="914400"/>
                <a:gridCol w="914400"/>
                <a:gridCol w="914400"/>
              </a:tblGrid>
              <a:tr h="301752">
                <a:tc>
                  <a:txBody>
                    <a:bodyPr/>
                    <a:lstStyle/>
                    <a:p>
                      <a:pPr marL="0" indent="0">
                        <a:buNone/>
                      </a:pPr>
                      <a:r>
                        <a:rPr sz="1050" b="1">
                          <a:solidFill>
                            <a:srgbClr val="FFFFFF"/>
                          </a:solidFill>
                          <a:latin typeface="Calibri"/>
                          <a:ea typeface="Calibri"/>
                          <a:cs typeface="Calibri"/>
                        </a:rPr>
                        <a:t>Condition</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Requests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Interfaces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50" b="1">
                          <a:solidFill>
                            <a:srgbClr val="FFFFFF"/>
                          </a:solidFill>
                          <a:latin typeface="Calibri"/>
                          <a:ea typeface="Calibri"/>
                          <a:cs typeface="Calibri"/>
                        </a:rPr>
                        <a:t>Exact</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301752">
                <a:tc>
                  <a:txBody>
                    <a:bodyPr/>
                    <a:lstStyle/>
                    <a:p>
                      <a:pPr marL="0" indent="0">
                        <a:buNone/>
                      </a:pPr>
                      <a:r>
                        <a:rPr sz="1050">
                          <a:solidFill>
                            <a:srgbClr val="24354F"/>
                          </a:solidFill>
                          <a:latin typeface="Calibri"/>
                          <a:ea typeface="Calibri"/>
                          <a:cs typeface="Calibri"/>
                        </a:rPr>
                        <a:t>Unchanged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GEPA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4.0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3.0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GCS</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301752">
                <a:tc>
                  <a:txBody>
                    <a:bodyPr/>
                    <a:lstStyle/>
                    <a:p>
                      <a:pPr marL="0" indent="0">
                        <a:buNone/>
                      </a:pPr>
                      <a:r>
                        <a:rPr sz="1050">
                          <a:solidFill>
                            <a:srgbClr val="24354F"/>
                          </a:solidFill>
                          <a:latin typeface="Calibri"/>
                          <a:ea typeface="Calibri"/>
                          <a:cs typeface="Calibri"/>
                        </a:rPr>
                        <a:t>GCS + seed</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50" b="1">
                          <a:solidFill>
                            <a:srgbClr val="A93B2B"/>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301752">
                <a:tc>
                  <a:txBody>
                    <a:bodyPr/>
                    <a:lstStyle/>
                    <a:p>
                      <a:pPr marL="0" indent="0">
                        <a:buNone/>
                      </a:pPr>
                      <a:r>
                        <a:rPr sz="1050">
                          <a:solidFill>
                            <a:srgbClr val="24354F"/>
                          </a:solidFill>
                          <a:latin typeface="Calibri"/>
                          <a:ea typeface="Calibri"/>
                          <a:cs typeface="Calibri"/>
                        </a:rPr>
                        <a:t>Manual pre-model</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a:solidFill>
                            <a:srgbClr val="24354F"/>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1.0</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50" b="1">
                          <a:solidFill>
                            <a:srgbClr val="1F8A99"/>
                          </a:solidFill>
                          <a:latin typeface="Calibri"/>
                          <a:ea typeface="Calibri"/>
                          <a:cs typeface="Calibri"/>
                        </a:rPr>
                        <a:t>6/6</a:t>
                      </a:r>
                    </a:p>
                  </a:txBody>
                  <a:tcPr marL="82296" marR="82296" marT="36576" marB="36576"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Text 6">
            <a:extLst xmlns:a="http://schemas.openxmlformats.org/drawingml/2006/main">
              <a:ext uri="{FF2B5EF4-FFF2-40B4-BE49-F238E27FC236}">
                <a16:creationId xmlns:a16="http://schemas.microsoft.com/office/drawing/2014/main" id="{945F26DB-3EBC-41B8-90A5-77FBED973770}"/>
              </a:ext>
            </a:extLst>
          </p:cNvPr>
          <p:cNvSpPr>
            <a:spLocks xmlns:a="http://schemas.openxmlformats.org/drawingml/2006/main" noGrp="1"/>
          </p:cNvSpPr>
          <p:nvPr/>
        </p:nvSpPr>
        <p:spPr>
          <a:xfrm xmlns:a="http://schemas.openxmlformats.org/drawingml/2006/main">
            <a:off x="640080" y="4151376"/>
            <a:ext cx="5943600"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b="1" i="1">
                <a:solidFill>
                  <a:srgbClr val="A93B2B"/>
                </a:solidFill>
                <a:latin typeface="Calibri"/>
                <a:ea typeface="Calibri"/>
                <a:cs typeface="Calibri"/>
              </a:rPr>
              <a:t>Live provider calls on disjoint 4/2/6 splits frozen before optimization. The question category was unavailable after strict prior-cohort exclusion.</a:t>
            </a:r>
          </a:p>
        </p:txBody>
      </p:sp>
      <p:sp>
        <p:nvSpPr>
          <p:cNvPr id="10" name="Shape 7">
            <a:extLst xmlns:a="http://schemas.openxmlformats.org/drawingml/2006/main">
              <a:ext uri="{FF2B5EF4-FFF2-40B4-BE49-F238E27FC236}">
                <a16:creationId xmlns:a16="http://schemas.microsoft.com/office/drawing/2014/main" id="{307E18C8-E2F4-47D5-8257-59D90A7ED9AB}"/>
              </a:ext>
            </a:extLst>
          </p:cNvPr>
          <p:cNvSpPr>
            <a:spLocks xmlns:a="http://schemas.openxmlformats.org/drawingml/2006/main" noGrp="1"/>
          </p:cNvSpPr>
          <p:nvPr/>
        </p:nvSpPr>
        <p:spPr>
          <a:xfrm xmlns:a="http://schemas.openxmlformats.org/drawingml/2006/main">
            <a:off x="6949440" y="1938528"/>
            <a:ext cx="4602175" cy="1417320"/>
          </a:xfrm>
          <a:prstGeom xmlns:a="http://schemas.openxmlformats.org/drawingml/2006/main" prst="roundRect">
            <a:avLst>
              <a:gd name="adj" fmla="val 322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FAF76AAB-83F4-497D-A21D-8C6A5568BE63}"/>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CBBF686D-0FB0-412F-9B36-5F61F0E16C92}"/>
              </a:ext>
            </a:extLst>
          </p:cNvPr>
          <p:cNvSpPr>
            <a:spLocks xmlns:a="http://schemas.openxmlformats.org/drawingml/2006/main" noGrp="1"/>
          </p:cNvSpPr>
          <p:nvPr/>
        </p:nvSpPr>
        <p:spPr>
          <a:xfrm xmlns:a="http://schemas.openxmlformats.org/drawingml/2006/main">
            <a:off x="7205472" y="2103120"/>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3" name="Text 10">
            <a:extLst xmlns:a="http://schemas.openxmlformats.org/drawingml/2006/main">
              <a:ext uri="{FF2B5EF4-FFF2-40B4-BE49-F238E27FC236}">
                <a16:creationId xmlns:a16="http://schemas.microsoft.com/office/drawing/2014/main" id="{EC12681F-3FC3-4182-92D0-A4FAAF68E0AD}"/>
              </a:ext>
            </a:extLst>
          </p:cNvPr>
          <p:cNvSpPr>
            <a:spLocks xmlns:a="http://schemas.openxmlformats.org/drawingml/2006/main" noGrp="1"/>
          </p:cNvSpPr>
          <p:nvPr/>
        </p:nvSpPr>
        <p:spPr>
          <a:xfrm xmlns:a="http://schemas.openxmlformats.org/drawingml/2006/main">
            <a:off x="7644384" y="2103120"/>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A93B2B"/>
                </a:solidFill>
                <a:latin typeface="Cambria"/>
                <a:ea typeface="Cambria"/>
                <a:cs typeface="Cambria"/>
              </a:rPr>
              <a:t>What the fair test resolves…</a:t>
            </a:r>
          </a:p>
        </p:txBody>
      </p:sp>
      <p:sp>
        <p:nvSpPr>
          <p:cNvPr id="14" name="Text 11">
            <a:extLst xmlns:a="http://schemas.openxmlformats.org/drawingml/2006/main">
              <a:ext uri="{FF2B5EF4-FFF2-40B4-BE49-F238E27FC236}">
                <a16:creationId xmlns:a16="http://schemas.microsoft.com/office/drawing/2014/main" id="{054CCF10-6F05-4746-8AB4-64953E8271DC}"/>
              </a:ext>
            </a:extLst>
          </p:cNvPr>
          <p:cNvSpPr>
            <a:spLocks xmlns:a="http://schemas.openxmlformats.org/drawingml/2006/main" noGrp="1"/>
          </p:cNvSpPr>
          <p:nvPr/>
        </p:nvSpPr>
        <p:spPr>
          <a:xfrm xmlns:a="http://schemas.openxmlformats.org/drawingml/2006/main">
            <a:off x="7223760" y="2542032"/>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manual placement can remove the same turns</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GCS value shifts to discovery + admission</a:t>
            </a:r>
          </a:p>
          <a:p xmlns:a="http://schemas.openxmlformats.org/drawingml/2006/main">
            <a:pPr marL="342900" indent="-342900">
              <a:lnSpc>
                <a:spcPct val="106000"/>
              </a:lnSpc>
              <a:spcAft>
                <a:spcPts val="300"/>
              </a:spcAft>
              <a:buChar char="•"/>
            </a:pPr>
            <a:r>
              <a:rPr sz="1050">
                <a:solidFill>
                  <a:srgbClr val="5C4034"/>
                </a:solidFill>
                <a:latin typeface="Calibri"/>
                <a:ea typeface="Calibri"/>
                <a:cs typeface="Calibri"/>
              </a:rPr>
              <a:t>GEPA does not improve this bounded run</a:t>
            </a:r>
          </a:p>
        </p:txBody>
      </p:sp>
      <p:sp>
        <p:nvSpPr>
          <p:cNvPr id="15" name="Shape 12">
            <a:extLst xmlns:a="http://schemas.openxmlformats.org/drawingml/2006/main">
              <a:ext uri="{FF2B5EF4-FFF2-40B4-BE49-F238E27FC236}">
                <a16:creationId xmlns:a16="http://schemas.microsoft.com/office/drawing/2014/main" id="{308FEC05-7C68-4E55-A008-2E98D1934753}"/>
              </a:ext>
            </a:extLst>
          </p:cNvPr>
          <p:cNvSpPr>
            <a:spLocks xmlns:a="http://schemas.openxmlformats.org/drawingml/2006/main" noGrp="1"/>
          </p:cNvSpPr>
          <p:nvPr/>
        </p:nvSpPr>
        <p:spPr>
          <a:xfrm xmlns:a="http://schemas.openxmlformats.org/drawingml/2006/main">
            <a:off x="6949440" y="3520440"/>
            <a:ext cx="4602175" cy="1417320"/>
          </a:xfrm>
          <a:prstGeom xmlns:a="http://schemas.openxmlformats.org/drawingml/2006/main" prst="roundRect">
            <a:avLst>
              <a:gd name="adj" fmla="val 3226"/>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6" name="Shape 13">
            <a:extLst xmlns:a="http://schemas.openxmlformats.org/drawingml/2006/main">
              <a:ext uri="{FF2B5EF4-FFF2-40B4-BE49-F238E27FC236}">
                <a16:creationId xmlns:a16="http://schemas.microsoft.com/office/drawing/2014/main" id="{0CA1B3AC-ACCE-459D-9047-27A866E751BE}"/>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73085E83-A00B-4215-A708-E466D4ADDF41}"/>
              </a:ext>
            </a:extLst>
          </p:cNvPr>
          <p:cNvSpPr>
            <a:spLocks xmlns:a="http://schemas.openxmlformats.org/drawingml/2006/main" noGrp="1"/>
          </p:cNvSpPr>
          <p:nvPr/>
        </p:nvSpPr>
        <p:spPr>
          <a:xfrm xmlns:a="http://schemas.openxmlformats.org/drawingml/2006/main">
            <a:off x="7205472" y="368503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5">
            <a:extLst xmlns:a="http://schemas.openxmlformats.org/drawingml/2006/main">
              <a:ext uri="{FF2B5EF4-FFF2-40B4-BE49-F238E27FC236}">
                <a16:creationId xmlns:a16="http://schemas.microsoft.com/office/drawing/2014/main" id="{0D0565F1-78E9-46E7-8C3C-B93B93ED0462}"/>
              </a:ext>
            </a:extLst>
          </p:cNvPr>
          <p:cNvSpPr>
            <a:spLocks xmlns:a="http://schemas.openxmlformats.org/drawingml/2006/main" noGrp="1"/>
          </p:cNvSpPr>
          <p:nvPr/>
        </p:nvSpPr>
        <p:spPr>
          <a:xfrm xmlns:a="http://schemas.openxmlformats.org/drawingml/2006/main">
            <a:off x="7644384" y="3685032"/>
            <a:ext cx="3651199"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What remains unresolved…</a:t>
            </a:r>
          </a:p>
        </p:txBody>
      </p:sp>
      <p:sp>
        <p:nvSpPr>
          <p:cNvPr id="8" name="Text 16">
            <a:extLst xmlns:a="http://schemas.openxmlformats.org/drawingml/2006/main">
              <a:ext uri="{FF2B5EF4-FFF2-40B4-BE49-F238E27FC236}">
                <a16:creationId xmlns:a16="http://schemas.microsoft.com/office/drawing/2014/main" id="{0B24D287-46C3-4B50-AF9D-466659C65DE4}"/>
              </a:ext>
            </a:extLst>
          </p:cNvPr>
          <p:cNvSpPr>
            <a:spLocks xmlns:a="http://schemas.openxmlformats.org/drawingml/2006/main" noGrp="1"/>
          </p:cNvSpPr>
          <p:nvPr/>
        </p:nvSpPr>
        <p:spPr>
          <a:xfrm xmlns:a="http://schemas.openxmlformats.org/drawingml/2006/main">
            <a:off x="7223760" y="4123944"/>
            <a:ext cx="4053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manual engineering and review effort</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AWO · Agent JIT · EvoC2F execution</a:t>
            </a:r>
          </a:p>
          <a:p xmlns:a="http://schemas.openxmlformats.org/drawingml/2006/main">
            <a:pPr marL="342900" indent="-342900">
              <a:lnSpc>
                <a:spcPct val="106000"/>
              </a:lnSpc>
              <a:spcAft>
                <a:spcPts val="300"/>
              </a:spcAft>
              <a:buChar char="•"/>
            </a:pPr>
            <a:r>
              <a:rPr sz="1050">
                <a:solidFill>
                  <a:srgbClr val="24354F"/>
                </a:solidFill>
                <a:latin typeface="Calibri"/>
                <a:ea typeface="Calibri"/>
                <a:cs typeface="Calibri"/>
              </a:rPr>
              <a:t>multiple families and time-forward drift</a:t>
            </a:r>
          </a:p>
        </p:txBody>
      </p:sp>
      <p:sp>
        <p:nvSpPr>
          <p:cNvPr id="20" name="Shape 17">
            <a:extLst xmlns:a="http://schemas.openxmlformats.org/drawingml/2006/main">
              <a:ext uri="{FF2B5EF4-FFF2-40B4-BE49-F238E27FC236}">
                <a16:creationId xmlns:a16="http://schemas.microsoft.com/office/drawing/2014/main" id="{F475CD7A-771A-4FA0-8298-5A5649C88588}"/>
              </a:ext>
            </a:extLst>
          </p:cNvPr>
          <p:cNvSpPr>
            <a:spLocks xmlns:a="http://schemas.openxmlformats.org/drawingml/2006/main" noGrp="1"/>
          </p:cNvSpPr>
          <p:nvPr/>
        </p:nvSpPr>
        <p:spPr>
          <a:xfrm xmlns:a="http://schemas.openxmlformats.org/drawingml/2006/main">
            <a:off x="640080" y="5138928"/>
            <a:ext cx="10911535" cy="969264"/>
          </a:xfrm>
          <a:prstGeom xmlns:a="http://schemas.openxmlformats.org/drawingml/2006/main" prst="roundRect">
            <a:avLst>
              <a:gd name="adj" fmla="val 4717"/>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512F0BD0-536E-4B33-9D2E-653BCA3DAC18}"/>
              </a:ext>
            </a:extLst>
          </p:cNvPr>
          <p:cNvSpPr>
            <a:spLocks xmlns:a="http://schemas.openxmlformats.org/drawingml/2006/main" noGrp="1"/>
          </p:cNvSpPr>
          <p:nvPr/>
        </p:nvSpPr>
        <p:spPr>
          <a:xfrm xmlns:a="http://schemas.openxmlformats.org/drawingml/2006/main">
            <a:off x="914400" y="5248656"/>
            <a:ext cx="10362895"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200" b="1">
                <a:solidFill>
                  <a:srgbClr val="0E1E3A"/>
                </a:solidFill>
                <a:latin typeface="Calibri"/>
                <a:ea typeface="Calibri"/>
                <a:cs typeface="Calibri"/>
              </a:rPr>
              <a:t>Fair placement removes the confound: GCS and manual execution tie structurally at 6/6 exact quality. GEPA retains its seed after 14 task evaluations; 59 optimization requests are accounted separately. The GCS artifact is calibrated at α=.10 (88/92, bound 0.052) and would retire at the registered α=.05. One family, six held-out cases.</a:t>
            </a:r>
          </a:p>
        </p:txBody>
      </p:sp>
    </p:spTree>
    <p:extLst>
      <p:ext uri="{BB962C8B-B14F-4D97-AF65-F5344CB8AC3E}">
        <p14:creationId xmlns:p14="http://schemas.microsoft.com/office/powerpoint/2010/main" val="15961667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BB62D4-A055-431D-9A50-FC46F2DB89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2E5A502-BD9B-4E91-9668-D81A17304D4F}"/>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FB4E40D5-8E47-48CA-85EF-C4E6C1F391A7}"/>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1F8A99"/>
                </a:solidFill>
                <a:latin typeface="Calibri"/>
                <a:ea typeface="Calibri"/>
                <a:cs typeface="Calibri"/>
              </a:rPr>
              <a:t>RESULTS  ·  RQ5  ·  §3.7 AND §5.9  ·  TABLE 17</a:t>
            </a:r>
          </a:p>
        </p:txBody>
      </p:sp>
      <p:sp>
        <p:nvSpPr>
          <p:cNvPr id="5" name="Text 3">
            <a:extLst xmlns:a="http://schemas.openxmlformats.org/drawingml/2006/main">
              <a:ext uri="{FF2B5EF4-FFF2-40B4-BE49-F238E27FC236}">
                <a16:creationId xmlns:a16="http://schemas.microsoft.com/office/drawing/2014/main" id="{F41C5DE9-65D9-44FB-8981-F21943BDD3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Only measured actions get compared</a:t>
            </a:r>
          </a:p>
        </p:txBody>
      </p:sp>
      <p:sp>
        <p:nvSpPr>
          <p:cNvPr id="6" name="Text 4">
            <a:extLst xmlns:a="http://schemas.openxmlformats.org/drawingml/2006/main">
              <a:ext uri="{FF2B5EF4-FFF2-40B4-BE49-F238E27FC236}">
                <a16:creationId xmlns:a16="http://schemas.microsoft.com/office/drawing/2014/main" id="{EE041533-057F-47B1-87D2-CE9A749349FF}"/>
              </a:ext>
            </a:extLst>
          </p:cNvPr>
          <p:cNvSpPr>
            <a:spLocks xmlns:a="http://schemas.openxmlformats.org/drawingml/2006/main" noGrp="1"/>
          </p:cNvSpPr>
          <p:nvPr/>
        </p:nvSpPr>
        <p:spPr>
          <a:xfrm xmlns:a="http://schemas.openxmlformats.org/drawingml/2006/main">
            <a:off x="640080" y="1408176"/>
            <a:ext cx="5943600" cy="1874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The compiler's action set stays binary. A separate layer consumes paired measurements for named actions on the same independent workflow groups.</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Missing evidence creates no candidate row — an unmeasured action cannot be imputed into a recommendation.</a:t>
            </a:r>
          </a:p>
          <a:p xmlns:a="http://schemas.openxmlformats.org/drawingml/2006/main">
            <a:pPr marL="342900" indent="-342900">
              <a:lnSpc>
                <a:spcPct val="106000"/>
              </a:lnSpc>
              <a:spcAft>
                <a:spcPts val="700"/>
              </a:spcAft>
              <a:buChar char="•"/>
            </a:pPr>
            <a:r>
              <a:rPr sz="1200">
                <a:solidFill>
                  <a:srgbClr val="24354F"/>
                </a:solidFill>
                <a:latin typeface="Calibri"/>
                <a:ea typeface="Calibri"/>
                <a:cs typeface="Calibri"/>
              </a:rPr>
              <a:t>Macros default to human review: the library returns a decision record, evidence, and rationale, never generated application code.</a:t>
            </a:r>
          </a:p>
        </p:txBody>
      </p:sp>
      <p:graphicFrame>
        <p:nvGraphicFramePr>
          <p:cNvPr id="7" name="Chart 0"/>
          <p:cNvGraphicFramePr/>
          <p:nvPr/>
        </p:nvGraphicFramePr>
        <p:xfrm>
          <a:off xmlns:a="http://schemas.openxmlformats.org/drawingml/2006/main" x="640080" y="3401568"/>
          <a:ext xmlns:a="http://schemas.openxmlformats.org/drawingml/2006/main" cx="5943600" cy="1572768"/>
        </p:xfrm>
        <a:graphic xmlns:a="http://schemas.openxmlformats.org/drawingml/2006/main">
          <a:graphicData uri="http://schemas.openxmlformats.org/drawingml/2006/chart">
            <c:chart xmlns:r="http://schemas.openxmlformats.org/officeDocument/2006/relationships" xmlns:c="http://schemas.openxmlformats.org/drawingml/2006/chart" r:id="R51c0446875b84944"/>
          </a:graphicData>
        </a:graphic>
      </p:graphicFrame>
      <p:sp>
        <p:nvSpPr>
          <p:cNvPr id="8" name="Text 5">
            <a:extLst xmlns:a="http://schemas.openxmlformats.org/drawingml/2006/main">
              <a:ext uri="{FF2B5EF4-FFF2-40B4-BE49-F238E27FC236}">
                <a16:creationId xmlns:a16="http://schemas.microsoft.com/office/drawing/2014/main" id="{84B85584-8FB7-428B-ADCD-1333020A1F57}"/>
              </a:ext>
            </a:extLst>
          </p:cNvPr>
          <p:cNvSpPr>
            <a:spLocks xmlns:a="http://schemas.openxmlformats.org/drawingml/2006/main" noGrp="1"/>
          </p:cNvSpPr>
          <p:nvPr/>
        </p:nvSpPr>
        <p:spPr>
          <a:xfrm xmlns:a="http://schemas.openxmlformats.org/drawingml/2006/main">
            <a:off x="640080" y="5084064"/>
            <a:ext cx="59436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5A6B84"/>
                </a:solidFill>
                <a:latin typeface="Calibri"/>
                <a:ea typeface="Calibri"/>
                <a:cs typeface="Calibri"/>
              </a:rPr>
              <a:t>Both actions were admitted — zero quality failures, zero non-positive-utility groups, exact upper bounds 0.136 against a 15% pilot limit. The higher-utility macro was selected and flagged for explicit review.</a:t>
            </a:r>
          </a:p>
        </p:txBody>
      </p:sp>
      <p:sp>
        <p:nvSpPr>
          <p:cNvPr id="9" name="Shape 6">
            <a:extLst xmlns:a="http://schemas.openxmlformats.org/drawingml/2006/main">
              <a:ext uri="{FF2B5EF4-FFF2-40B4-BE49-F238E27FC236}">
                <a16:creationId xmlns:a16="http://schemas.microsoft.com/office/drawing/2014/main" id="{CE4D95AB-3025-48B2-935D-1CE1B8EBE492}"/>
              </a:ext>
            </a:extLst>
          </p:cNvPr>
          <p:cNvSpPr>
            <a:spLocks xmlns:a="http://schemas.openxmlformats.org/drawingml/2006/main" noGrp="1"/>
          </p:cNvSpPr>
          <p:nvPr/>
        </p:nvSpPr>
        <p:spPr>
          <a:xfrm xmlns:a="http://schemas.openxmlformats.org/drawingml/2006/main">
            <a:off x="6949440" y="1408176"/>
            <a:ext cx="4602175" cy="3657600"/>
          </a:xfrm>
          <a:prstGeom xmlns:a="http://schemas.openxmlformats.org/drawingml/2006/main" prst="roundRect">
            <a:avLst>
              <a:gd name="adj" fmla="val 125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A1A0E64-343F-42EE-9DAD-BFA7756EDA46}"/>
              </a:ext>
            </a:extLst>
          </p:cNvPr>
          <p:cNvSpPr>
            <a:spLocks xmlns:a="http://schemas.openxmlformats.org/drawingml/2006/main" noGrp="1"/>
          </p:cNvSpPr>
          <p:nvPr/>
        </p:nvSpPr>
        <p:spPr>
          <a:xfrm xmlns:a="http://schemas.openxmlformats.org/drawingml/2006/main">
            <a:off x="7223760" y="1572768"/>
            <a:ext cx="4053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10">
                <a:solidFill>
                  <a:srgbClr val="1F8A99"/>
                </a:solidFill>
                <a:latin typeface="Calibri"/>
                <a:ea typeface="Calibri"/>
                <a:cs typeface="Calibri"/>
              </a:rPr>
              <a:t>PROSPECTIVE TEST — 12 FRESH PUBLIC ISSUES, DECISION FROZEN FIRST</a:t>
            </a:r>
          </a:p>
        </p:txBody>
      </p:sp>
      <p:sp>
        <p:nvSpPr>
          <p:cNvPr id="11" name="Text 8">
            <a:extLst xmlns:a="http://schemas.openxmlformats.org/drawingml/2006/main">
              <a:ext uri="{FF2B5EF4-FFF2-40B4-BE49-F238E27FC236}">
                <a16:creationId xmlns:a16="http://schemas.microsoft.com/office/drawing/2014/main" id="{27A7C42E-850A-4031-99EF-930328C3A570}"/>
              </a:ext>
            </a:extLst>
          </p:cNvPr>
          <p:cNvSpPr>
            <a:spLocks xmlns:a="http://schemas.openxmlformats.org/drawingml/2006/main" noGrp="1"/>
          </p:cNvSpPr>
          <p:nvPr/>
        </p:nvSpPr>
        <p:spPr>
          <a:xfrm xmlns:a="http://schemas.openxmlformats.org/drawingml/2006/main">
            <a:off x="7223760" y="19202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F8A99"/>
                </a:solidFill>
                <a:latin typeface="Cambria"/>
                <a:ea typeface="Cambria"/>
                <a:cs typeface="Cambria"/>
              </a:rPr>
              <a:t>12 / 12</a:t>
            </a:r>
          </a:p>
        </p:txBody>
      </p:sp>
      <p:sp>
        <p:nvSpPr>
          <p:cNvPr id="12" name="Text 9">
            <a:extLst xmlns:a="http://schemas.openxmlformats.org/drawingml/2006/main">
              <a:ext uri="{FF2B5EF4-FFF2-40B4-BE49-F238E27FC236}">
                <a16:creationId xmlns:a16="http://schemas.microsoft.com/office/drawing/2014/main" id="{D8EEE5FB-5D37-489B-BE90-55C87DDE1A70}"/>
              </a:ext>
            </a:extLst>
          </p:cNvPr>
          <p:cNvSpPr>
            <a:spLocks xmlns:a="http://schemas.openxmlformats.org/drawingml/2006/main" noGrp="1"/>
          </p:cNvSpPr>
          <p:nvPr/>
        </p:nvSpPr>
        <p:spPr>
          <a:xfrm xmlns:a="http://schemas.openxmlformats.org/drawingml/2006/main">
            <a:off x="8613648" y="19202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exact factual and full task contracts preserved</a:t>
            </a:r>
          </a:p>
        </p:txBody>
      </p:sp>
      <p:sp>
        <p:nvSpPr>
          <p:cNvPr id="13" name="Text 10">
            <a:extLst xmlns:a="http://schemas.openxmlformats.org/drawingml/2006/main">
              <a:ext uri="{FF2B5EF4-FFF2-40B4-BE49-F238E27FC236}">
                <a16:creationId xmlns:a16="http://schemas.microsoft.com/office/drawing/2014/main" id="{69913375-9FBC-429E-9EAD-B4AB4648ACF6}"/>
              </a:ext>
            </a:extLst>
          </p:cNvPr>
          <p:cNvSpPr>
            <a:spLocks xmlns:a="http://schemas.openxmlformats.org/drawingml/2006/main" noGrp="1"/>
          </p:cNvSpPr>
          <p:nvPr/>
        </p:nvSpPr>
        <p:spPr>
          <a:xfrm xmlns:a="http://schemas.openxmlformats.org/drawingml/2006/main">
            <a:off x="7223760" y="242316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−50.0%</a:t>
            </a:r>
          </a:p>
        </p:txBody>
      </p:sp>
      <p:sp>
        <p:nvSpPr>
          <p:cNvPr id="14" name="Text 11">
            <a:extLst xmlns:a="http://schemas.openxmlformats.org/drawingml/2006/main">
              <a:ext uri="{FF2B5EF4-FFF2-40B4-BE49-F238E27FC236}">
                <a16:creationId xmlns:a16="http://schemas.microsoft.com/office/drawing/2014/main" id="{9AFCC980-7F4E-4936-98F3-E7727123BB28}"/>
              </a:ext>
            </a:extLst>
          </p:cNvPr>
          <p:cNvSpPr>
            <a:spLocks xmlns:a="http://schemas.openxmlformats.org/drawingml/2006/main" noGrp="1"/>
          </p:cNvSpPr>
          <p:nvPr/>
        </p:nvSpPr>
        <p:spPr>
          <a:xfrm xmlns:a="http://schemas.openxmlformats.org/drawingml/2006/main">
            <a:off x="8613648" y="242316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provider requests (4 → 2)</a:t>
            </a:r>
          </a:p>
        </p:txBody>
      </p:sp>
      <p:sp>
        <p:nvSpPr>
          <p:cNvPr id="15" name="Text 12">
            <a:extLst xmlns:a="http://schemas.openxmlformats.org/drawingml/2006/main">
              <a:ext uri="{FF2B5EF4-FFF2-40B4-BE49-F238E27FC236}">
                <a16:creationId xmlns:a16="http://schemas.microsoft.com/office/drawing/2014/main" id="{30E158D9-0C88-4CE8-9971-B37E42E1D0C5}"/>
              </a:ext>
            </a:extLst>
          </p:cNvPr>
          <p:cNvSpPr>
            <a:spLocks xmlns:a="http://schemas.openxmlformats.org/drawingml/2006/main" noGrp="1"/>
          </p:cNvSpPr>
          <p:nvPr/>
        </p:nvSpPr>
        <p:spPr>
          <a:xfrm xmlns:a="http://schemas.openxmlformats.org/drawingml/2006/main">
            <a:off x="7223760" y="292608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−66.7%</a:t>
            </a:r>
          </a:p>
        </p:txBody>
      </p:sp>
      <p:sp>
        <p:nvSpPr>
          <p:cNvPr id="16" name="Text 13">
            <a:extLst xmlns:a="http://schemas.openxmlformats.org/drawingml/2006/main">
              <a:ext uri="{FF2B5EF4-FFF2-40B4-BE49-F238E27FC236}">
                <a16:creationId xmlns:a16="http://schemas.microsoft.com/office/drawing/2014/main" id="{540848B0-6666-4F58-83F1-D593E878E905}"/>
              </a:ext>
            </a:extLst>
          </p:cNvPr>
          <p:cNvSpPr>
            <a:spLocks xmlns:a="http://schemas.openxmlformats.org/drawingml/2006/main" noGrp="1"/>
          </p:cNvSpPr>
          <p:nvPr/>
        </p:nvSpPr>
        <p:spPr>
          <a:xfrm xmlns:a="http://schemas.openxmlformats.org/drawingml/2006/main">
            <a:off x="8613648" y="292608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tool calls (3 → 1)</a:t>
            </a:r>
          </a:p>
        </p:txBody>
      </p:sp>
      <p:sp>
        <p:nvSpPr>
          <p:cNvPr id="17" name="Text 14">
            <a:extLst xmlns:a="http://schemas.openxmlformats.org/drawingml/2006/main">
              <a:ext uri="{FF2B5EF4-FFF2-40B4-BE49-F238E27FC236}">
                <a16:creationId xmlns:a16="http://schemas.microsoft.com/office/drawing/2014/main" id="{B930B890-7507-495A-AF55-A71D06DB1D4A}"/>
              </a:ext>
            </a:extLst>
          </p:cNvPr>
          <p:cNvSpPr>
            <a:spLocks xmlns:a="http://schemas.openxmlformats.org/drawingml/2006/main" noGrp="1"/>
          </p:cNvSpPr>
          <p:nvPr/>
        </p:nvSpPr>
        <p:spPr>
          <a:xfrm xmlns:a="http://schemas.openxmlformats.org/drawingml/2006/main">
            <a:off x="7223760" y="342900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−59.2%</a:t>
            </a:r>
          </a:p>
        </p:txBody>
      </p:sp>
      <p:sp>
        <p:nvSpPr>
          <p:cNvPr id="18" name="Text 15">
            <a:extLst xmlns:a="http://schemas.openxmlformats.org/drawingml/2006/main">
              <a:ext uri="{FF2B5EF4-FFF2-40B4-BE49-F238E27FC236}">
                <a16:creationId xmlns:a16="http://schemas.microsoft.com/office/drawing/2014/main" id="{FFF7BB22-CA3D-4A10-A3BF-18B2AB29F79C}"/>
              </a:ext>
            </a:extLst>
          </p:cNvPr>
          <p:cNvSpPr>
            <a:spLocks xmlns:a="http://schemas.openxmlformats.org/drawingml/2006/main" noGrp="1"/>
          </p:cNvSpPr>
          <p:nvPr/>
        </p:nvSpPr>
        <p:spPr>
          <a:xfrm xmlns:a="http://schemas.openxmlformats.org/drawingml/2006/main">
            <a:off x="8613648" y="342900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total tokens</a:t>
            </a:r>
          </a:p>
        </p:txBody>
      </p:sp>
      <p:sp>
        <p:nvSpPr>
          <p:cNvPr id="19" name="Text 16">
            <a:extLst xmlns:a="http://schemas.openxmlformats.org/drawingml/2006/main">
              <a:ext uri="{FF2B5EF4-FFF2-40B4-BE49-F238E27FC236}">
                <a16:creationId xmlns:a16="http://schemas.microsoft.com/office/drawing/2014/main" id="{5BE8E4F5-FD0E-456D-A5D2-20B9CD055EBC}"/>
              </a:ext>
            </a:extLst>
          </p:cNvPr>
          <p:cNvSpPr>
            <a:spLocks xmlns:a="http://schemas.openxmlformats.org/drawingml/2006/main" noGrp="1"/>
          </p:cNvSpPr>
          <p:nvPr/>
        </p:nvSpPr>
        <p:spPr>
          <a:xfrm xmlns:a="http://schemas.openxmlformats.org/drawingml/2006/main">
            <a:off x="7223760" y="39319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−40.6%</a:t>
            </a:r>
          </a:p>
        </p:txBody>
      </p:sp>
      <p:sp>
        <p:nvSpPr>
          <p:cNvPr id="20" name="Text 17">
            <a:extLst xmlns:a="http://schemas.openxmlformats.org/drawingml/2006/main">
              <a:ext uri="{FF2B5EF4-FFF2-40B4-BE49-F238E27FC236}">
                <a16:creationId xmlns:a16="http://schemas.microsoft.com/office/drawing/2014/main" id="{9E340F49-CEFC-495C-ADBE-C7727A680479}"/>
              </a:ext>
            </a:extLst>
          </p:cNvPr>
          <p:cNvSpPr>
            <a:spLocks xmlns:a="http://schemas.openxmlformats.org/drawingml/2006/main" noGrp="1"/>
          </p:cNvSpPr>
          <p:nvPr/>
        </p:nvSpPr>
        <p:spPr>
          <a:xfrm xmlns:a="http://schemas.openxmlformats.org/drawingml/2006/main">
            <a:off x="8613648" y="393192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estimated cost</a:t>
            </a:r>
          </a:p>
        </p:txBody>
      </p:sp>
      <p:sp>
        <p:nvSpPr>
          <p:cNvPr id="21" name="Text 18">
            <a:extLst xmlns:a="http://schemas.openxmlformats.org/drawingml/2006/main">
              <a:ext uri="{FF2B5EF4-FFF2-40B4-BE49-F238E27FC236}">
                <a16:creationId xmlns:a16="http://schemas.microsoft.com/office/drawing/2014/main" id="{A97EE732-5994-4804-8A6B-FAA56814EFBC}"/>
              </a:ext>
            </a:extLst>
          </p:cNvPr>
          <p:cNvSpPr>
            <a:spLocks xmlns:a="http://schemas.openxmlformats.org/drawingml/2006/main" noGrp="1"/>
          </p:cNvSpPr>
          <p:nvPr/>
        </p:nvSpPr>
        <p:spPr>
          <a:xfrm xmlns:a="http://schemas.openxmlformats.org/drawingml/2006/main">
            <a:off x="7223760" y="443484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−71.6%</a:t>
            </a:r>
          </a:p>
        </p:txBody>
      </p:sp>
      <p:sp>
        <p:nvSpPr>
          <p:cNvPr id="22" name="Text 19">
            <a:extLst xmlns:a="http://schemas.openxmlformats.org/drawingml/2006/main">
              <a:ext uri="{FF2B5EF4-FFF2-40B4-BE49-F238E27FC236}">
                <a16:creationId xmlns:a16="http://schemas.microsoft.com/office/drawing/2014/main" id="{8122E63C-4286-4A13-8EC3-E5B8CD34E00F}"/>
              </a:ext>
            </a:extLst>
          </p:cNvPr>
          <p:cNvSpPr>
            <a:spLocks xmlns:a="http://schemas.openxmlformats.org/drawingml/2006/main" noGrp="1"/>
          </p:cNvSpPr>
          <p:nvPr/>
        </p:nvSpPr>
        <p:spPr>
          <a:xfrm xmlns:a="http://schemas.openxmlformats.org/drawingml/2006/main">
            <a:off x="8613648" y="4434840"/>
            <a:ext cx="2636215"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24354F"/>
                </a:solidFill>
                <a:latin typeface="Calibri"/>
                <a:ea typeface="Calibri"/>
                <a:cs typeface="Calibri"/>
              </a:rPr>
              <a:t>observed wall latency</a:t>
            </a:r>
          </a:p>
        </p:txBody>
      </p:sp>
      <p:sp>
        <p:nvSpPr>
          <p:cNvPr id="23" name="Text 20">
            <a:extLst xmlns:a="http://schemas.openxmlformats.org/drawingml/2006/main">
              <a:ext uri="{FF2B5EF4-FFF2-40B4-BE49-F238E27FC236}">
                <a16:creationId xmlns:a16="http://schemas.microsoft.com/office/drawing/2014/main" id="{F9FEE5A4-3C75-4890-A57C-7F380DBF6340}"/>
              </a:ext>
            </a:extLst>
          </p:cNvPr>
          <p:cNvSpPr>
            <a:spLocks xmlns:a="http://schemas.openxmlformats.org/drawingml/2006/main" noGrp="1"/>
          </p:cNvSpPr>
          <p:nvPr/>
        </p:nvSpPr>
        <p:spPr>
          <a:xfrm xmlns:a="http://schemas.openxmlformats.org/drawingml/2006/main">
            <a:off x="7223760" y="5047488"/>
            <a:ext cx="4053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i="1">
                <a:solidFill>
                  <a:srgbClr val="5A6B84"/>
                </a:solidFill>
                <a:latin typeface="Calibri"/>
                <a:ea typeface="Calibri"/>
                <a:cs typeface="Calibri"/>
              </a:rPr>
              <a:t>The action was fixed before the test records were chosen — which makes this more informative than another retrospective arm.</a:t>
            </a:r>
          </a:p>
        </p:txBody>
      </p:sp>
      <p:sp>
        <p:nvSpPr>
          <p:cNvPr id="24" name="Shape 21">
            <a:extLst xmlns:a="http://schemas.openxmlformats.org/drawingml/2006/main">
              <a:ext uri="{FF2B5EF4-FFF2-40B4-BE49-F238E27FC236}">
                <a16:creationId xmlns:a16="http://schemas.microsoft.com/office/drawing/2014/main" id="{3C18BD0D-2531-4AA4-BA35-7565A4014475}"/>
              </a:ext>
            </a:extLst>
          </p:cNvPr>
          <p:cNvSpPr>
            <a:spLocks xmlns:a="http://schemas.openxmlformats.org/drawingml/2006/main" noGrp="1"/>
          </p:cNvSpPr>
          <p:nvPr/>
        </p:nvSpPr>
        <p:spPr>
          <a:xfrm xmlns:a="http://schemas.openxmlformats.org/drawingml/2006/main">
            <a:off x="6949440" y="5175504"/>
            <a:ext cx="4602175" cy="822960"/>
          </a:xfrm>
          <a:prstGeom xmlns:a="http://schemas.openxmlformats.org/drawingml/2006/main" prst="roundRect">
            <a:avLst>
              <a:gd name="adj" fmla="val 5556"/>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0F42DCE0-32B3-4991-AE72-90AEF0F22F22}"/>
              </a:ext>
            </a:extLst>
          </p:cNvPr>
          <p:cNvSpPr>
            <a:spLocks xmlns:a="http://schemas.openxmlformats.org/drawingml/2006/main" noGrp="1"/>
          </p:cNvSpPr>
          <p:nvPr/>
        </p:nvSpPr>
        <p:spPr>
          <a:xfrm xmlns:a="http://schemas.openxmlformats.org/drawingml/2006/main">
            <a:off x="7205472" y="5266944"/>
            <a:ext cx="4090111"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One family supplies both calibration and test, so this cannot distinguish selection from a static always-macro policy.</a:t>
            </a:r>
          </a:p>
        </p:txBody>
      </p:sp>
    </p:spTree>
    <p:extLst>
      <p:ext uri="{BB962C8B-B14F-4D97-AF65-F5344CB8AC3E}">
        <p14:creationId xmlns:p14="http://schemas.microsoft.com/office/powerpoint/2010/main" val="173800972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265BE1-5C53-474F-BE6A-30893090402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B6F6C15-6955-4C05-8D57-E58839BF8CA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10A134EC-D31D-458A-B907-3E86865D66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3E02682A-0E24-4A78-970A-81AC7E4667B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Five claims the evidence does not support</a:t>
            </a:r>
          </a:p>
        </p:txBody>
      </p:sp>
      <p:sp>
        <p:nvSpPr>
          <p:cNvPr id="6" name="Shape 4">
            <a:extLst xmlns:a="http://schemas.openxmlformats.org/drawingml/2006/main">
              <a:ext uri="{FF2B5EF4-FFF2-40B4-BE49-F238E27FC236}">
                <a16:creationId xmlns:a16="http://schemas.microsoft.com/office/drawing/2014/main" id="{AE840CFF-CD8E-4440-967F-6E1CD7C06595}"/>
              </a:ext>
            </a:extLst>
          </p:cNvPr>
          <p:cNvSpPr>
            <a:spLocks xmlns:a="http://schemas.openxmlformats.org/drawingml/2006/main" noGrp="1"/>
          </p:cNvSpPr>
          <p:nvPr/>
        </p:nvSpPr>
        <p:spPr>
          <a:xfrm xmlns:a="http://schemas.openxmlformats.org/drawingml/2006/main">
            <a:off x="640080"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58D1BFB8-D5B7-46E6-81B1-B40F8E659321}"/>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A2CD1E39-270F-48F4-9E23-A83D48F8BDA6}"/>
              </a:ext>
            </a:extLst>
          </p:cNvPr>
          <p:cNvSpPr>
            <a:spLocks xmlns:a="http://schemas.openxmlformats.org/drawingml/2006/main" noGrp="1"/>
          </p:cNvSpPr>
          <p:nvPr/>
        </p:nvSpPr>
        <p:spPr>
          <a:xfrm xmlns:a="http://schemas.openxmlformats.org/drawingml/2006/main">
            <a:off x="877824"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655360FF-7954-4905-B440-90218AB6AC22}"/>
              </a:ext>
            </a:extLst>
          </p:cNvPr>
          <p:cNvSpPr>
            <a:spLocks xmlns:a="http://schemas.openxmlformats.org/drawingml/2006/main" noGrp="1"/>
          </p:cNvSpPr>
          <p:nvPr/>
        </p:nvSpPr>
        <p:spPr>
          <a:xfrm xmlns:a="http://schemas.openxmlformats.org/drawingml/2006/main">
            <a:off x="1298448"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The gate never discriminated</a:t>
            </a:r>
          </a:p>
        </p:txBody>
      </p:sp>
      <p:sp>
        <p:nvSpPr>
          <p:cNvPr id="10" name="Text 8">
            <a:extLst xmlns:a="http://schemas.openxmlformats.org/drawingml/2006/main">
              <a:ext uri="{FF2B5EF4-FFF2-40B4-BE49-F238E27FC236}">
                <a16:creationId xmlns:a16="http://schemas.microsoft.com/office/drawing/2014/main" id="{77EFA25F-B0A5-4BE3-9F89-EE33ED2EC48F}"/>
              </a:ext>
            </a:extLst>
          </p:cNvPr>
          <p:cNvSpPr>
            <a:spLocks xmlns:a="http://schemas.openxmlformats.org/drawingml/2006/main" noGrp="1"/>
          </p:cNvSpPr>
          <p:nvPr/>
        </p:nvSpPr>
        <p:spPr>
          <a:xfrm xmlns:a="http://schemas.openxmlformats.org/drawingml/2006/main">
            <a:off x="896112"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On the sealed artifact every threshold below 0.14 admits nothing and every threshold at or above it admits all 92, with zero violations throughout. The score was fitted with zero positive examples over eight observations, so it behaves as an all-or-none support test, not a risk–coverage frontier.</a:t>
            </a:r>
          </a:p>
        </p:txBody>
      </p:sp>
      <p:sp>
        <p:nvSpPr>
          <p:cNvPr id="11" name="Shape 9">
            <a:extLst xmlns:a="http://schemas.openxmlformats.org/drawingml/2006/main">
              <a:ext uri="{FF2B5EF4-FFF2-40B4-BE49-F238E27FC236}">
                <a16:creationId xmlns:a16="http://schemas.microsoft.com/office/drawing/2014/main" id="{34CAC08B-7BDA-492D-A68C-11CFDCDD983A}"/>
              </a:ext>
            </a:extLst>
          </p:cNvPr>
          <p:cNvSpPr>
            <a:spLocks xmlns:a="http://schemas.openxmlformats.org/drawingml/2006/main" noGrp="1"/>
          </p:cNvSpPr>
          <p:nvPr/>
        </p:nvSpPr>
        <p:spPr>
          <a:xfrm xmlns:a="http://schemas.openxmlformats.org/drawingml/2006/main">
            <a:off x="4362602"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EE7A285F-EF22-4F6C-A52F-620C4A9F6E5F}"/>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E3110B5B-4B4D-44BF-9490-8E5AA3E191C6}"/>
              </a:ext>
            </a:extLst>
          </p:cNvPr>
          <p:cNvSpPr>
            <a:spLocks xmlns:a="http://schemas.openxmlformats.org/drawingml/2006/main" noGrp="1"/>
          </p:cNvSpPr>
          <p:nvPr/>
        </p:nvSpPr>
        <p:spPr>
          <a:xfrm xmlns:a="http://schemas.openxmlformats.org/drawingml/2006/main">
            <a:off x="4600346"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B6529097-9775-4A1B-BCBB-0E03342FDFB8}"/>
              </a:ext>
            </a:extLst>
          </p:cNvPr>
          <p:cNvSpPr>
            <a:spLocks xmlns:a="http://schemas.openxmlformats.org/drawingml/2006/main" noGrp="1"/>
          </p:cNvSpPr>
          <p:nvPr/>
        </p:nvSpPr>
        <p:spPr>
          <a:xfrm xmlns:a="http://schemas.openxmlformats.org/drawingml/2006/main">
            <a:off x="5020970"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E73C4AC8-E5C7-4281-AE9C-99DA57ED74BC}"/>
              </a:ext>
            </a:extLst>
          </p:cNvPr>
          <p:cNvSpPr>
            <a:spLocks xmlns:a="http://schemas.openxmlformats.org/drawingml/2006/main" noGrp="1"/>
          </p:cNvSpPr>
          <p:nvPr/>
        </p:nvSpPr>
        <p:spPr>
          <a:xfrm xmlns:a="http://schemas.openxmlformats.org/drawingml/2006/main">
            <a:off x="4618634"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No live GitHub service, no canary, no multi-domain test. The artifact was activated only under a lab-protocol flag. Registry immutability and signature verification were configured off in the reported run.</a:t>
            </a:r>
          </a:p>
        </p:txBody>
      </p:sp>
      <p:sp>
        <p:nvSpPr>
          <p:cNvPr id="16" name="Shape 14">
            <a:extLst xmlns:a="http://schemas.openxmlformats.org/drawingml/2006/main">
              <a:ext uri="{FF2B5EF4-FFF2-40B4-BE49-F238E27FC236}">
                <a16:creationId xmlns:a16="http://schemas.microsoft.com/office/drawing/2014/main" id="{09B90D5F-33D9-49A9-86ED-058E609C9DD5}"/>
              </a:ext>
            </a:extLst>
          </p:cNvPr>
          <p:cNvSpPr>
            <a:spLocks xmlns:a="http://schemas.openxmlformats.org/drawingml/2006/main" noGrp="1"/>
          </p:cNvSpPr>
          <p:nvPr/>
        </p:nvSpPr>
        <p:spPr>
          <a:xfrm xmlns:a="http://schemas.openxmlformats.org/drawingml/2006/main">
            <a:off x="8085125" y="1389888"/>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D8D3289F-95F4-4CF9-BE76-362BCE27C8CD}"/>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AEBE4766-91F0-4505-868E-312D91E60C76}"/>
              </a:ext>
            </a:extLst>
          </p:cNvPr>
          <p:cNvSpPr>
            <a:spLocks xmlns:a="http://schemas.openxmlformats.org/drawingml/2006/main" noGrp="1"/>
          </p:cNvSpPr>
          <p:nvPr/>
        </p:nvSpPr>
        <p:spPr>
          <a:xfrm xmlns:a="http://schemas.openxmlformats.org/drawingml/2006/main">
            <a:off x="8322869" y="160934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9894871-6C08-449C-AA29-EAECB3772C7F}"/>
              </a:ext>
            </a:extLst>
          </p:cNvPr>
          <p:cNvSpPr>
            <a:spLocks xmlns:a="http://schemas.openxmlformats.org/drawingml/2006/main" noGrp="1"/>
          </p:cNvSpPr>
          <p:nvPr/>
        </p:nvSpPr>
        <p:spPr>
          <a:xfrm xmlns:a="http://schemas.openxmlformats.org/drawingml/2006/main">
            <a:off x="8743493" y="1572768"/>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1CEEF0F4-4C6C-461B-96DF-C0BBCB423622}"/>
              </a:ext>
            </a:extLst>
          </p:cNvPr>
          <p:cNvSpPr>
            <a:spLocks xmlns:a="http://schemas.openxmlformats.org/drawingml/2006/main" noGrp="1"/>
          </p:cNvSpPr>
          <p:nvPr/>
        </p:nvSpPr>
        <p:spPr>
          <a:xfrm xmlns:a="http://schemas.openxmlformats.org/drawingml/2006/main">
            <a:off x="8341157" y="2084832"/>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Byte-exact answer agreement was 6/10 compiled versus 7/10 baseline on repeated issues.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9A8F9EAD-9096-46D7-9754-6EED070B2278}"/>
              </a:ext>
            </a:extLst>
          </p:cNvPr>
          <p:cNvSpPr>
            <a:spLocks xmlns:a="http://schemas.openxmlformats.org/drawingml/2006/main" noGrp="1"/>
          </p:cNvSpPr>
          <p:nvPr/>
        </p:nvSpPr>
        <p:spPr>
          <a:xfrm xmlns:a="http://schemas.openxmlformats.org/drawingml/2006/main">
            <a:off x="640080"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166DE5C2-0A00-4898-86DC-1A0EDF2448A3}"/>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491CDB2B-266D-4FCC-9B85-31BF0212DB0F}"/>
              </a:ext>
            </a:extLst>
          </p:cNvPr>
          <p:cNvSpPr>
            <a:spLocks xmlns:a="http://schemas.openxmlformats.org/drawingml/2006/main" noGrp="1"/>
          </p:cNvSpPr>
          <p:nvPr/>
        </p:nvSpPr>
        <p:spPr>
          <a:xfrm xmlns:a="http://schemas.openxmlformats.org/drawingml/2006/main">
            <a:off x="877824"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78C6D54D-8BD7-45B9-BA24-89B8543B8725}"/>
              </a:ext>
            </a:extLst>
          </p:cNvPr>
          <p:cNvSpPr>
            <a:spLocks xmlns:a="http://schemas.openxmlformats.org/drawingml/2006/main" noGrp="1"/>
          </p:cNvSpPr>
          <p:nvPr/>
        </p:nvSpPr>
        <p:spPr>
          <a:xfrm xmlns:a="http://schemas.openxmlformats.org/drawingml/2006/main">
            <a:off x="1298448"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BD8BBC92-79E2-4DCA-AF0B-0B833A91AA35}"/>
              </a:ext>
            </a:extLst>
          </p:cNvPr>
          <p:cNvSpPr>
            <a:spLocks xmlns:a="http://schemas.openxmlformats.org/drawingml/2006/main" noGrp="1"/>
          </p:cNvSpPr>
          <p:nvPr/>
        </p:nvSpPr>
        <p:spPr>
          <a:xfrm xmlns:a="http://schemas.openxmlformats.org/drawingml/2006/main">
            <a:off x="896112"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Moderation, policy, and guardrail checks commonly run at model boundaries. A region deleting three of four boundaries risks deleting three of four evaluations — the effect catalog does not cover them, so the gap is untested rather than benign.</a:t>
            </a:r>
          </a:p>
        </p:txBody>
      </p:sp>
      <p:sp>
        <p:nvSpPr>
          <p:cNvPr id="26" name="Shape 24">
            <a:extLst xmlns:a="http://schemas.openxmlformats.org/drawingml/2006/main">
              <a:ext uri="{FF2B5EF4-FFF2-40B4-BE49-F238E27FC236}">
                <a16:creationId xmlns:a16="http://schemas.microsoft.com/office/drawing/2014/main" id="{64CAF294-4C9F-4875-9099-DCF55FB65DCD}"/>
              </a:ext>
            </a:extLst>
          </p:cNvPr>
          <p:cNvSpPr>
            <a:spLocks xmlns:a="http://schemas.openxmlformats.org/drawingml/2006/main" noGrp="1"/>
          </p:cNvSpPr>
          <p:nvPr/>
        </p:nvSpPr>
        <p:spPr>
          <a:xfrm xmlns:a="http://schemas.openxmlformats.org/drawingml/2006/main">
            <a:off x="4362602" y="3474720"/>
            <a:ext cx="3466490" cy="1847088"/>
          </a:xfrm>
          <a:prstGeom xmlns:a="http://schemas.openxmlformats.org/drawingml/2006/main" prst="roundRect">
            <a:avLst>
              <a:gd name="adj" fmla="val 247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A28BD87-56A2-436A-BA6F-8C7AFF1D8472}"/>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D264393-1C5A-4EAD-91BE-F62F0FBE4117}"/>
              </a:ext>
            </a:extLst>
          </p:cNvPr>
          <p:cNvSpPr>
            <a:spLocks xmlns:a="http://schemas.openxmlformats.org/drawingml/2006/main" noGrp="1"/>
          </p:cNvSpPr>
          <p:nvPr/>
        </p:nvSpPr>
        <p:spPr>
          <a:xfrm xmlns:a="http://schemas.openxmlformats.org/drawingml/2006/main">
            <a:off x="4600346" y="3694176"/>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A21A40CA-ACB9-4041-873E-0397D288CE52}"/>
              </a:ext>
            </a:extLst>
          </p:cNvPr>
          <p:cNvSpPr>
            <a:spLocks xmlns:a="http://schemas.openxmlformats.org/drawingml/2006/main" noGrp="1"/>
          </p:cNvSpPr>
          <p:nvPr/>
        </p:nvSpPr>
        <p:spPr>
          <a:xfrm xmlns:a="http://schemas.openxmlformats.org/drawingml/2006/main">
            <a:off x="5020970" y="3657600"/>
            <a:ext cx="2552090"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50" b="1">
                <a:solidFill>
                  <a:srgbClr val="A93B2B"/>
                </a:solidFill>
                <a:latin typeface="Cambria"/>
                <a:ea typeface="Cambria"/>
                <a:cs typeface="Cambria"/>
              </a:rPr>
              <a:t>Latency is partly confounded</a:t>
            </a:r>
          </a:p>
        </p:txBody>
      </p:sp>
      <p:sp>
        <p:nvSpPr>
          <p:cNvPr id="30" name="Text 28">
            <a:extLst xmlns:a="http://schemas.openxmlformats.org/drawingml/2006/main">
              <a:ext uri="{FF2B5EF4-FFF2-40B4-BE49-F238E27FC236}">
                <a16:creationId xmlns:a16="http://schemas.microsoft.com/office/drawing/2014/main" id="{3F888D91-2C9D-424D-A3FB-569C1FC3CA11}"/>
              </a:ext>
            </a:extLst>
          </p:cNvPr>
          <p:cNvSpPr>
            <a:spLocks xmlns:a="http://schemas.openxmlformats.org/drawingml/2006/main" noGrp="1"/>
          </p:cNvSpPr>
          <p:nvPr/>
        </p:nvSpPr>
        <p:spPr>
          <a:xfrm xmlns:a="http://schemas.openxmlformats.org/drawingml/2006/main">
            <a:off x="4618634" y="4169664"/>
            <a:ext cx="295442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4E3529"/>
                </a:solidFill>
                <a:latin typeface="Calibri"/>
                <a:ea typeface="Calibri"/>
                <a:cs typeface="Calibri"/>
              </a:rPr>
              <a:t>The fixed-prefix harness ran the whole baseline batch before the whole compiled batch. Request-count reduction is structural and unaffected, but the −85.0% wall-latency figure should be read as an observation under that ordering.</a:t>
            </a:r>
          </a:p>
        </p:txBody>
      </p:sp>
      <p:sp>
        <p:nvSpPr>
          <p:cNvPr id="31" name="Shape 29">
            <a:extLst xmlns:a="http://schemas.openxmlformats.org/drawingml/2006/main">
              <a:ext uri="{FF2B5EF4-FFF2-40B4-BE49-F238E27FC236}">
                <a16:creationId xmlns:a16="http://schemas.microsoft.com/office/drawing/2014/main" id="{843722B8-41BC-4D8E-8E4A-9B04F7EE91F0}"/>
              </a:ext>
            </a:extLst>
          </p:cNvPr>
          <p:cNvSpPr>
            <a:spLocks xmlns:a="http://schemas.openxmlformats.org/drawingml/2006/main" noGrp="1"/>
          </p:cNvSpPr>
          <p:nvPr/>
        </p:nvSpPr>
        <p:spPr>
          <a:xfrm xmlns:a="http://schemas.openxmlformats.org/drawingml/2006/main">
            <a:off x="8085125" y="3474720"/>
            <a:ext cx="3466490" cy="1847088"/>
          </a:xfrm>
          <a:prstGeom xmlns:a="http://schemas.openxmlformats.org/drawingml/2006/main" prst="roundRect">
            <a:avLst>
              <a:gd name="adj" fmla="val 2475"/>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6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A3197AD0-AC77-4266-B1D4-5857C8F95943}"/>
              </a:ext>
            </a:extLst>
          </p:cNvPr>
          <p:cNvSpPr>
            <a:spLocks xmlns:a="http://schemas.openxmlformats.org/drawingml/2006/main" noGrp="1"/>
          </p:cNvSpPr>
          <p:nvPr/>
        </p:nvSpPr>
        <p:spPr>
          <a:xfrm xmlns:a="http://schemas.openxmlformats.org/drawingml/2006/main">
            <a:off x="8341157" y="3639312"/>
            <a:ext cx="2954426"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Also worth knowing</a:t>
            </a:r>
          </a:p>
        </p:txBody>
      </p:sp>
      <p:sp>
        <p:nvSpPr>
          <p:cNvPr id="33" name="Text 31">
            <a:extLst xmlns:a="http://schemas.openxmlformats.org/drawingml/2006/main">
              <a:ext uri="{FF2B5EF4-FFF2-40B4-BE49-F238E27FC236}">
                <a16:creationId xmlns:a16="http://schemas.microsoft.com/office/drawing/2014/main" id="{19B37DD1-8A12-49DE-A1A5-3B78B62D13BB}"/>
              </a:ext>
            </a:extLst>
          </p:cNvPr>
          <p:cNvSpPr>
            <a:spLocks xmlns:a="http://schemas.openxmlformats.org/drawingml/2006/main" noGrp="1"/>
          </p:cNvSpPr>
          <p:nvPr/>
        </p:nvSpPr>
        <p:spPr>
          <a:xfrm xmlns:a="http://schemas.openxmlformats.org/drawingml/2006/main">
            <a:off x="8359445" y="3986784"/>
            <a:ext cx="291785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No perturbation challenge ran on the primary live artifact</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GCS / GEPA results hold at α=.10, not the registered .05</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Fair placement / GEPA has only six held-out cases</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AWO · Agent JIT · EvoC2F remain unexecuted</a:t>
            </a:r>
          </a:p>
          <a:p xmlns:a="http://schemas.openxmlformats.org/drawingml/2006/main">
            <a:pPr marL="342900" indent="-342900">
              <a:lnSpc>
                <a:spcPct val="106000"/>
              </a:lnSpc>
              <a:spcAft>
                <a:spcPts val="300"/>
              </a:spcAft>
              <a:buChar char="•"/>
            </a:pPr>
            <a:r>
              <a:rPr sz="950">
                <a:solidFill>
                  <a:srgbClr val="24354F"/>
                </a:solidFill>
                <a:latin typeface="Calibri"/>
                <a:ea typeface="Calibri"/>
                <a:cs typeface="Calibri"/>
              </a:rPr>
              <a:t>Break-even 181–411 episodes; part of the cost range is cache warmth</a:t>
            </a:r>
          </a:p>
        </p:txBody>
      </p:sp>
    </p:spTree>
    <p:extLst>
      <p:ext uri="{BB962C8B-B14F-4D97-AF65-F5344CB8AC3E}">
        <p14:creationId xmlns:p14="http://schemas.microsoft.com/office/powerpoint/2010/main" val="1557051848"/>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26B370F-363E-47DF-8867-4D89469BA84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spc="1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65CC9964-6348-4851-AA21-0D8353B17AE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F836C73E-6C82-403A-9EB0-F3F8D2DAA808}"/>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C0D24668-6789-4CF7-8100-E69F70C15422}"/>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45E863D1-4299-46EE-8DE1-7E6285F856E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spc="180">
                <a:solidFill>
                  <a:srgbClr val="56B3BE"/>
                </a:solidFill>
                <a:latin typeface="Calibri"/>
                <a:ea typeface="Calibri"/>
                <a:cs typeface="Calibri"/>
              </a:rPr>
              <a:t>CONCLUSION  ·  §9</a:t>
            </a:r>
          </a:p>
        </p:txBody>
      </p:sp>
      <p:sp>
        <p:nvSpPr>
          <p:cNvPr id="7" name="Text 5">
            <a:extLst xmlns:a="http://schemas.openxmlformats.org/drawingml/2006/main">
              <a:ext uri="{FF2B5EF4-FFF2-40B4-BE49-F238E27FC236}">
                <a16:creationId xmlns:a16="http://schemas.microsoft.com/office/drawing/2014/main" id="{60D63703-DAA5-43B0-837F-BAD5531EDE31}"/>
              </a:ext>
            </a:extLst>
          </p:cNvPr>
          <p:cNvSpPr>
            <a:spLocks xmlns:a="http://schemas.openxmlformats.org/drawingml/2006/main" noGrp="1"/>
          </p:cNvSpPr>
          <p:nvPr/>
        </p:nvSpPr>
        <p:spPr>
          <a:xfrm xmlns:a="http://schemas.openxmlformats.org/drawingml/2006/main">
            <a:off x="640080" y="658368"/>
            <a:ext cx="103327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700" b="1">
                <a:solidFill>
                  <a:srgbClr val="FFFFFF"/>
                </a:solidFill>
                <a:latin typeface="Cambria"/>
                <a:ea typeface="Cambria"/>
                <a:cs typeface="Cambria"/>
              </a:rPr>
              <a:t>Judge an optimizer by what it refuses</a:t>
            </a:r>
          </a:p>
        </p:txBody>
      </p:sp>
      <p:sp>
        <p:nvSpPr>
          <p:cNvPr id="8" name="Shape 6">
            <a:extLst xmlns:a="http://schemas.openxmlformats.org/drawingml/2006/main">
              <a:ext uri="{FF2B5EF4-FFF2-40B4-BE49-F238E27FC236}">
                <a16:creationId xmlns:a16="http://schemas.microsoft.com/office/drawing/2014/main" id="{C8940D96-B8C5-476A-9AA1-67EE701E03FB}"/>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B708CE1A-5C76-447E-B8D1-A624A423EB66}"/>
              </a:ext>
            </a:extLst>
          </p:cNvPr>
          <p:cNvSpPr>
            <a:spLocks xmlns:a="http://schemas.openxmlformats.org/drawingml/2006/main" noGrp="1"/>
          </p:cNvSpPr>
          <p:nvPr/>
        </p:nvSpPr>
        <p:spPr>
          <a:xfrm xmlns:a="http://schemas.openxmlformats.org/drawingml/2006/main">
            <a:off x="640080"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06AEDDBB-277A-4C83-93A0-F1438F65AB7D}"/>
              </a:ext>
            </a:extLst>
          </p:cNvPr>
          <p:cNvSpPr>
            <a:spLocks xmlns:a="http://schemas.openxmlformats.org/drawingml/2006/main" noGrp="1"/>
          </p:cNvSpPr>
          <p:nvPr/>
        </p:nvSpPr>
        <p:spPr>
          <a:xfrm xmlns:a="http://schemas.openxmlformats.org/drawingml/2006/main">
            <a:off x="1207008"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The admission argument is the product</a:t>
            </a:r>
          </a:p>
        </p:txBody>
      </p:sp>
      <p:sp>
        <p:nvSpPr>
          <p:cNvPr id="11" name="Text 9">
            <a:extLst xmlns:a="http://schemas.openxmlformats.org/drawingml/2006/main">
              <a:ext uri="{FF2B5EF4-FFF2-40B4-BE49-F238E27FC236}">
                <a16:creationId xmlns:a16="http://schemas.microsoft.com/office/drawing/2014/main" id="{B32AA8A9-EBDC-45A7-AD9C-B8078B66B527}"/>
              </a:ext>
            </a:extLst>
          </p:cNvPr>
          <p:cNvSpPr>
            <a:spLocks xmlns:a="http://schemas.openxmlformats.org/drawingml/2006/main" noGrp="1"/>
          </p:cNvSpPr>
          <p:nvPr/>
        </p:nvSpPr>
        <p:spPr>
          <a:xfrm xmlns:a="http://schemas.openxmlformats.org/drawingml/2006/main">
            <a:off x="1207008"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Typed provenance, effect barriers, a position invariant, and an exact bound are what let you delete a model decision on purpose rather than by hope. Any optimizer we build should be able to explain its refusals.</a:t>
            </a:r>
          </a:p>
        </p:txBody>
      </p:sp>
      <p:sp>
        <p:nvSpPr>
          <p:cNvPr id="12" name="Shape 10">
            <a:extLst xmlns:a="http://schemas.openxmlformats.org/drawingml/2006/main">
              <a:ext uri="{FF2B5EF4-FFF2-40B4-BE49-F238E27FC236}">
                <a16:creationId xmlns:a16="http://schemas.microsoft.com/office/drawing/2014/main" id="{03E76A61-8706-455E-BE38-0DBDC20F3030}"/>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4A53C96-8C0E-4F10-9F91-43DE89A2D02F}"/>
              </a:ext>
            </a:extLst>
          </p:cNvPr>
          <p:cNvSpPr>
            <a:spLocks xmlns:a="http://schemas.openxmlformats.org/drawingml/2006/main" noGrp="1"/>
          </p:cNvSpPr>
          <p:nvPr/>
        </p:nvSpPr>
        <p:spPr>
          <a:xfrm xmlns:a="http://schemas.openxmlformats.org/drawingml/2006/main">
            <a:off x="5961888" y="196596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61A0776A-DA36-4730-8486-8B095A033000}"/>
              </a:ext>
            </a:extLst>
          </p:cNvPr>
          <p:cNvSpPr>
            <a:spLocks xmlns:a="http://schemas.openxmlformats.org/drawingml/2006/main" noGrp="1"/>
          </p:cNvSpPr>
          <p:nvPr/>
        </p:nvSpPr>
        <p:spPr>
          <a:xfrm xmlns:a="http://schemas.openxmlformats.org/drawingml/2006/main">
            <a:off x="6528816" y="194767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Compile the choice, not the reads</a:t>
            </a:r>
          </a:p>
        </p:txBody>
      </p:sp>
      <p:sp>
        <p:nvSpPr>
          <p:cNvPr id="15" name="Text 13">
            <a:extLst xmlns:a="http://schemas.openxmlformats.org/drawingml/2006/main">
              <a:ext uri="{FF2B5EF4-FFF2-40B4-BE49-F238E27FC236}">
                <a16:creationId xmlns:a16="http://schemas.microsoft.com/office/drawing/2014/main" id="{D7D79267-D55C-4C6D-B1C3-21FBC3691AF1}"/>
              </a:ext>
            </a:extLst>
          </p:cNvPr>
          <p:cNvSpPr>
            <a:spLocks xmlns:a="http://schemas.openxmlformats.org/drawingml/2006/main" noGrp="1"/>
          </p:cNvSpPr>
          <p:nvPr/>
        </p:nvSpPr>
        <p:spPr>
          <a:xfrm xmlns:a="http://schemas.openxmlformats.org/drawingml/2006/main">
            <a:off x="6528816" y="244144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Manual composition beats partial GRC on the stable workflow. At equal pre-model placement, manual and GCS tie requests, interfaces, input tokens, and exact quality. Automatic guarded discovery—not runtime dominance—is the remaining value claim.</a:t>
            </a:r>
          </a:p>
        </p:txBody>
      </p:sp>
      <p:sp>
        <p:nvSpPr>
          <p:cNvPr id="16" name="Shape 14">
            <a:extLst xmlns:a="http://schemas.openxmlformats.org/drawingml/2006/main">
              <a:ext uri="{FF2B5EF4-FFF2-40B4-BE49-F238E27FC236}">
                <a16:creationId xmlns:a16="http://schemas.microsoft.com/office/drawing/2014/main" id="{126A3CE9-394B-4A50-8EF7-25B8A89B0090}"/>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1961BEF0-24DE-4935-A926-0EE7E8A132D8}"/>
              </a:ext>
            </a:extLst>
          </p:cNvPr>
          <p:cNvSpPr>
            <a:spLocks xmlns:a="http://schemas.openxmlformats.org/drawingml/2006/main" noGrp="1"/>
          </p:cNvSpPr>
          <p:nvPr/>
        </p:nvSpPr>
        <p:spPr>
          <a:xfrm xmlns:a="http://schemas.openxmlformats.org/drawingml/2006/main">
            <a:off x="640080"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DFA4CE4C-26CA-4F4D-A39B-345C2D6FD1CD}"/>
              </a:ext>
            </a:extLst>
          </p:cNvPr>
          <p:cNvSpPr>
            <a:spLocks xmlns:a="http://schemas.openxmlformats.org/drawingml/2006/main" noGrp="1"/>
          </p:cNvSpPr>
          <p:nvPr/>
        </p:nvSpPr>
        <p:spPr>
          <a:xfrm xmlns:a="http://schemas.openxmlformats.org/drawingml/2006/main">
            <a:off x="1207008"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Price the cache, not the tokens</a:t>
            </a:r>
          </a:p>
        </p:txBody>
      </p:sp>
      <p:sp>
        <p:nvSpPr>
          <p:cNvPr id="19" name="Text 17">
            <a:extLst xmlns:a="http://schemas.openxmlformats.org/drawingml/2006/main">
              <a:ext uri="{FF2B5EF4-FFF2-40B4-BE49-F238E27FC236}">
                <a16:creationId xmlns:a16="http://schemas.microsoft.com/office/drawing/2014/main" id="{7077E7A0-51BB-41AF-A268-1468065F3CA0}"/>
              </a:ext>
            </a:extLst>
          </p:cNvPr>
          <p:cNvSpPr>
            <a:spLocks xmlns:a="http://schemas.openxmlformats.org/drawingml/2006/main" noGrp="1"/>
          </p:cNvSpPr>
          <p:nvPr/>
        </p:nvSpPr>
        <p:spPr>
          <a:xfrm xmlns:a="http://schemas.openxmlformats.org/drawingml/2006/main">
            <a:off x="1207008"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Removing turns fragments prompt-cache prefixes. A −16.8% token change billed +123%. Any internal savings model that counts only tokens and calls will mis-rank its own options.</a:t>
            </a:r>
          </a:p>
        </p:txBody>
      </p:sp>
      <p:sp>
        <p:nvSpPr>
          <p:cNvPr id="20" name="Shape 18">
            <a:extLst xmlns:a="http://schemas.openxmlformats.org/drawingml/2006/main">
              <a:ext uri="{FF2B5EF4-FFF2-40B4-BE49-F238E27FC236}">
                <a16:creationId xmlns:a16="http://schemas.microsoft.com/office/drawing/2014/main" id="{319577E4-9A6A-403A-97FF-0182FB9260ED}"/>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EDBBEFC0-C6B5-4719-93C6-899C57FDDDC9}"/>
              </a:ext>
            </a:extLst>
          </p:cNvPr>
          <p:cNvSpPr>
            <a:spLocks xmlns:a="http://schemas.openxmlformats.org/drawingml/2006/main" noGrp="1"/>
          </p:cNvSpPr>
          <p:nvPr/>
        </p:nvSpPr>
        <p:spPr>
          <a:xfrm xmlns:a="http://schemas.openxmlformats.org/drawingml/2006/main">
            <a:off x="5961888" y="397764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294A87B6-9AB9-498A-9E15-96CD619D584B}"/>
              </a:ext>
            </a:extLst>
          </p:cNvPr>
          <p:cNvSpPr>
            <a:spLocks xmlns:a="http://schemas.openxmlformats.org/drawingml/2006/main" noGrp="1"/>
          </p:cNvSpPr>
          <p:nvPr/>
        </p:nvSpPr>
        <p:spPr>
          <a:xfrm xmlns:a="http://schemas.openxmlformats.org/drawingml/2006/main">
            <a:off x="6528816" y="3959352"/>
            <a:ext cx="4443984" cy="4206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00" b="1">
                <a:solidFill>
                  <a:srgbClr val="FFFFFF"/>
                </a:solidFill>
                <a:latin typeface="Cambria"/>
                <a:ea typeface="Cambria"/>
                <a:cs typeface="Cambria"/>
              </a:rPr>
              <a:t>Refusal needs a budget too</a:t>
            </a:r>
          </a:p>
        </p:txBody>
      </p:sp>
      <p:sp>
        <p:nvSpPr>
          <p:cNvPr id="23" name="Text 21">
            <a:extLst xmlns:a="http://schemas.openxmlformats.org/drawingml/2006/main">
              <a:ext uri="{FF2B5EF4-FFF2-40B4-BE49-F238E27FC236}">
                <a16:creationId xmlns:a16="http://schemas.microsoft.com/office/drawing/2014/main" id="{82CAC90F-D137-4C3F-996B-1682BD995ED2}"/>
              </a:ext>
            </a:extLst>
          </p:cNvPr>
          <p:cNvSpPr>
            <a:spLocks xmlns:a="http://schemas.openxmlformats.org/drawingml/2006/main" noGrp="1"/>
          </p:cNvSpPr>
          <p:nvPr/>
        </p:nvSpPr>
        <p:spPr>
          <a:xfrm xmlns:a="http://schemas.openxmlformats.org/drawingml/2006/main">
            <a:off x="6528816" y="4453128"/>
            <a:ext cx="435254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150">
                <a:solidFill>
                  <a:srgbClr val="9BD0D6"/>
                </a:solidFill>
                <a:latin typeface="Calibri"/>
                <a:ea typeface="Calibri"/>
                <a:cs typeface="Calibri"/>
              </a:rPr>
              <a:t>The configured gate demanded 92 independent zero-violation groups and rejected every recurrent family in a 1,415-episode benchmark. Decide the risk and confidence budget deliberately — it sets how much data admission costs.</a:t>
            </a:r>
          </a:p>
        </p:txBody>
      </p:sp>
      <p:sp>
        <p:nvSpPr>
          <p:cNvPr id="24" name="Text 22">
            <a:extLst xmlns:a="http://schemas.openxmlformats.org/drawingml/2006/main">
              <a:ext uri="{FF2B5EF4-FFF2-40B4-BE49-F238E27FC236}">
                <a16:creationId xmlns:a16="http://schemas.microsoft.com/office/drawing/2014/main" id="{44C465B5-1DF8-4F77-B099-B017F50C7AE0}"/>
              </a:ext>
            </a:extLst>
          </p:cNvPr>
          <p:cNvSpPr>
            <a:spLocks xmlns:a="http://schemas.openxmlformats.org/drawingml/2006/main" noGrp="1"/>
          </p:cNvSpPr>
          <p:nvPr/>
        </p:nvSpPr>
        <p:spPr>
          <a:xfrm xmlns:a="http://schemas.openxmlformats.org/drawingml/2006/main">
            <a:off x="640080" y="5943600"/>
            <a:ext cx="103327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43597C"/>
                </a:solidFill>
                <a:latin typeface="Calibri"/>
                <a:ea typeface="Calibri"/>
                <a:cs typeface="Calibri"/>
              </a:rPr>
              <a:t>From Traces to Guarded Programs: Evidence-Gated Compilation of Recurrent Agent Workflows  ·  artifact includes pinned data snapshots, raw results, and an adversarial self-review</a:t>
            </a:r>
          </a:p>
        </p:txBody>
      </p:sp>
    </p:spTree>
    <p:extLst>
      <p:ext uri="{BB962C8B-B14F-4D97-AF65-F5344CB8AC3E}">
        <p14:creationId xmlns:p14="http://schemas.microsoft.com/office/powerpoint/2010/main" val="1289244142"/>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From Traces to Guarded Programs: Evidence-Gated Compilation of Recurrent Agent Workflows</dc:title>
  <dcterms:created xsi:type="dcterms:W3CDTF">2026-08-07T04:35:21.7750000Z</dcterms:created>
  <dcterms:modified xsi:type="dcterms:W3CDTF">2026-08-07T04:35:21.7750000Z</dcterms:modified>
</coreProperties>
</file>