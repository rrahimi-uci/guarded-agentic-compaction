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4.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de1bbde94449d0" /><Relationship Type="http://schemas.openxmlformats.org/officeDocument/2006/relationships/extended-properties" Target="/docProps/app.xml" Id="R22aed6755a834c63" /><Relationship Type="http://schemas.openxmlformats.org/officeDocument/2006/relationships/officeDocument" Target="/ppt/presentation.xml" Id="Ra15bb4c476c746f5" /></Relationships>
</file>

<file path=ppt/presentation.xml><?xml version="1.0" encoding="utf-8"?>
<p:presentation xmlns:p="http://schemas.openxmlformats.org/presentationml/2006/main">
  <p:sldMasterIdLst>
    <p:sldMasterId xmlns:r="http://schemas.openxmlformats.org/officeDocument/2006/relationships" id="2147483648" r:id="Ra6f33a157f4f42e1"/>
  </p:sldMasterIdLst>
  <p:notesMasterIdLst>
    <p:notesMasterId xmlns:r="http://schemas.openxmlformats.org/officeDocument/2006/relationships" r:id="R31898192c61341b3"/>
  </p:notesMasterIdLst>
  <p:sldIdLst>
    <p:sldId xmlns:r="http://schemas.openxmlformats.org/officeDocument/2006/relationships" id="256" r:id="R7c9f64c740904aea"/>
    <p:sldId xmlns:r="http://schemas.openxmlformats.org/officeDocument/2006/relationships" id="257" r:id="Rd592e6dab0ef4f4d"/>
    <p:sldId xmlns:r="http://schemas.openxmlformats.org/officeDocument/2006/relationships" id="258" r:id="R2b779bc60e324d68"/>
    <p:sldId xmlns:r="http://schemas.openxmlformats.org/officeDocument/2006/relationships" id="259" r:id="R76249f07d93a44ea"/>
    <p:sldId xmlns:r="http://schemas.openxmlformats.org/officeDocument/2006/relationships" id="260" r:id="R60cc051afdd94906"/>
    <p:sldId xmlns:r="http://schemas.openxmlformats.org/officeDocument/2006/relationships" id="261" r:id="R5691bb3f078c4123"/>
    <p:sldId xmlns:r="http://schemas.openxmlformats.org/officeDocument/2006/relationships" id="262" r:id="R3f8878d2863d41f1"/>
    <p:sldId xmlns:r="http://schemas.openxmlformats.org/officeDocument/2006/relationships" id="263" r:id="Refcc3aee39b64a63"/>
    <p:sldId xmlns:r="http://schemas.openxmlformats.org/officeDocument/2006/relationships" id="264" r:id="Re0dd0ae08ad247f6"/>
    <p:sldId xmlns:r="http://schemas.openxmlformats.org/officeDocument/2006/relationships" id="265" r:id="Re0e85e453b4340da"/>
    <p:sldId xmlns:r="http://schemas.openxmlformats.org/officeDocument/2006/relationships" id="266" r:id="Rb8f414fe2bc84f3c"/>
    <p:sldId xmlns:r="http://schemas.openxmlformats.org/officeDocument/2006/relationships" id="267" r:id="R94ff287843864392"/>
    <p:sldId xmlns:r="http://schemas.openxmlformats.org/officeDocument/2006/relationships" id="268" r:id="R448d27e2cc104f74"/>
    <p:sldId xmlns:r="http://schemas.openxmlformats.org/officeDocument/2006/relationships" id="269" r:id="R4bb0d7a24893452e"/>
    <p:sldId xmlns:r="http://schemas.openxmlformats.org/officeDocument/2006/relationships" id="270" r:id="R60355df6e657423d"/>
    <p:sldId xmlns:r="http://schemas.openxmlformats.org/officeDocument/2006/relationships" id="271" r:id="R4102f26a33d84bb4"/>
    <p:sldId xmlns:r="http://schemas.openxmlformats.org/officeDocument/2006/relationships" id="272" r:id="Rb0414a4b77c442ec"/>
    <p:sldId xmlns:r="http://schemas.openxmlformats.org/officeDocument/2006/relationships" id="273" r:id="R9a1dd547072f4e97"/>
    <p:sldId xmlns:r="http://schemas.openxmlformats.org/officeDocument/2006/relationships" id="274" r:id="Rcc0c8a491cc044af"/>
    <p:sldId xmlns:r="http://schemas.openxmlformats.org/officeDocument/2006/relationships" id="275" r:id="Rf40dd3e8b3e54971"/>
    <p:sldId xmlns:r="http://schemas.openxmlformats.org/officeDocument/2006/relationships" id="276" r:id="R6dafad61a6304997"/>
    <p:sldId xmlns:r="http://schemas.openxmlformats.org/officeDocument/2006/relationships" id="277" r:id="R8c09bad9bc9b4543"/>
    <p:sldId xmlns:r="http://schemas.openxmlformats.org/officeDocument/2006/relationships" id="278" r:id="R466be1c2a16b43b2"/>
    <p:sldId xmlns:r="http://schemas.openxmlformats.org/officeDocument/2006/relationships" id="279" r:id="R73a5f1c911b44be9"/>
    <p:sldId xmlns:r="http://schemas.openxmlformats.org/officeDocument/2006/relationships" id="280" r:id="Rebff5e4969a24e75"/>
    <p:sldId xmlns:r="http://schemas.openxmlformats.org/officeDocument/2006/relationships" id="281" r:id="R09c4dd3bc584415a"/>
    <p:sldId xmlns:r="http://schemas.openxmlformats.org/officeDocument/2006/relationships" id="282" r:id="R0c143c5346554d6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6f33a157f4f42e1" /><Relationship Type="http://schemas.openxmlformats.org/officeDocument/2006/relationships/theme" Target="/ppt/theme/theme1.xml" Id="R0cc041b8129d4d1d" /><Relationship Type="http://schemas.openxmlformats.org/officeDocument/2006/relationships/notesMaster" Target="/ppt/notesMasters/notesMaster1.xml" Id="R31898192c61341b3" /><Relationship Type="http://schemas.openxmlformats.org/officeDocument/2006/relationships/presProps" Target="/ppt/presProps.xml" Id="R06b95976d9ce4bda" /><Relationship Type="http://schemas.openxmlformats.org/officeDocument/2006/relationships/viewProps" Target="/ppt/viewProps.xml" Id="Rdd2c6d578c9244ec" /><Relationship Type="http://schemas.openxmlformats.org/officeDocument/2006/relationships/tableStyles" Target="/ppt/tableStyles.xml" Id="Rb6465b1a775f45d1" /><Relationship Type="http://schemas.openxmlformats.org/officeDocument/2006/relationships/slide" Target="/ppt/slides/slide1.xml" Id="R7c9f64c740904aea" /><Relationship Type="http://schemas.openxmlformats.org/officeDocument/2006/relationships/slide" Target="/ppt/slides/slide2.xml" Id="Rd592e6dab0ef4f4d" /><Relationship Type="http://schemas.openxmlformats.org/officeDocument/2006/relationships/slide" Target="/ppt/slides/slide3.xml" Id="R2b779bc60e324d68" /><Relationship Type="http://schemas.openxmlformats.org/officeDocument/2006/relationships/slide" Target="/ppt/slides/slide4.xml" Id="R76249f07d93a44ea" /><Relationship Type="http://schemas.openxmlformats.org/officeDocument/2006/relationships/slide" Target="/ppt/slides/slide5.xml" Id="R60cc051afdd94906" /><Relationship Type="http://schemas.openxmlformats.org/officeDocument/2006/relationships/slide" Target="/ppt/slides/slide6.xml" Id="R5691bb3f078c4123" /><Relationship Type="http://schemas.openxmlformats.org/officeDocument/2006/relationships/slide" Target="/ppt/slides/slide7.xml" Id="R3f8878d2863d41f1" /><Relationship Type="http://schemas.openxmlformats.org/officeDocument/2006/relationships/slide" Target="/ppt/slides/slide8.xml" Id="Refcc3aee39b64a63" /><Relationship Type="http://schemas.openxmlformats.org/officeDocument/2006/relationships/slide" Target="/ppt/slides/slide9.xml" Id="Re0dd0ae08ad247f6" /><Relationship Type="http://schemas.openxmlformats.org/officeDocument/2006/relationships/slide" Target="/ppt/slides/slide10.xml" Id="Re0e85e453b4340da" /><Relationship Type="http://schemas.openxmlformats.org/officeDocument/2006/relationships/slide" Target="/ppt/slides/slide11.xml" Id="Rb8f414fe2bc84f3c" /><Relationship Type="http://schemas.openxmlformats.org/officeDocument/2006/relationships/slide" Target="/ppt/slides/slide12.xml" Id="R94ff287843864392" /><Relationship Type="http://schemas.openxmlformats.org/officeDocument/2006/relationships/slide" Target="/ppt/slides/slide13.xml" Id="R448d27e2cc104f74" /><Relationship Type="http://schemas.openxmlformats.org/officeDocument/2006/relationships/slide" Target="/ppt/slides/slide14.xml" Id="R4bb0d7a24893452e" /><Relationship Type="http://schemas.openxmlformats.org/officeDocument/2006/relationships/slide" Target="/ppt/slides/slide15.xml" Id="R60355df6e657423d" /><Relationship Type="http://schemas.openxmlformats.org/officeDocument/2006/relationships/slide" Target="/ppt/slides/slide16.xml" Id="R4102f26a33d84bb4" /><Relationship Type="http://schemas.openxmlformats.org/officeDocument/2006/relationships/slide" Target="/ppt/slides/slide17.xml" Id="Rb0414a4b77c442ec" /><Relationship Type="http://schemas.openxmlformats.org/officeDocument/2006/relationships/slide" Target="/ppt/slides/slide18.xml" Id="R9a1dd547072f4e97" /><Relationship Type="http://schemas.openxmlformats.org/officeDocument/2006/relationships/slide" Target="/ppt/slides/slide19.xml" Id="Rcc0c8a491cc044af" /><Relationship Type="http://schemas.openxmlformats.org/officeDocument/2006/relationships/slide" Target="/ppt/slides/slide20.xml" Id="Rf40dd3e8b3e54971" /><Relationship Type="http://schemas.openxmlformats.org/officeDocument/2006/relationships/slide" Target="/ppt/slides/slide21.xml" Id="R6dafad61a6304997" /><Relationship Type="http://schemas.openxmlformats.org/officeDocument/2006/relationships/slide" Target="/ppt/slides/slide22.xml" Id="R8c09bad9bc9b4543" /><Relationship Type="http://schemas.openxmlformats.org/officeDocument/2006/relationships/slide" Target="/ppt/slides/slide23.xml" Id="R466be1c2a16b43b2" /><Relationship Type="http://schemas.openxmlformats.org/officeDocument/2006/relationships/slide" Target="/ppt/slides/slide24.xml" Id="R73a5f1c911b44be9" /><Relationship Type="http://schemas.openxmlformats.org/officeDocument/2006/relationships/slide" Target="/ppt/slides/slide25.xml" Id="Rebff5e4969a24e75" /><Relationship Type="http://schemas.openxmlformats.org/officeDocument/2006/relationships/slide" Target="/ppt/slides/slide26.xml" Id="R09c4dd3bc584415a" /><Relationship Type="http://schemas.openxmlformats.org/officeDocument/2006/relationships/slide" Target="/ppt/slides/slide27.xml" Id="R0c143c5346554d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d3b2d10466249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bad8ebd33c4c44" /><Relationship Type="http://schemas.openxmlformats.org/officeDocument/2006/relationships/notesMaster" Target="/ppt/notesMasters/notesMaster1.xml" Id="R25ad87a49bf449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599e1cf9ab4be0" /><Relationship Type="http://schemas.openxmlformats.org/officeDocument/2006/relationships/notesMaster" Target="/ppt/notesMasters/notesMaster1.xml" Id="R95e37d6cb17549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ce3d1edca041f2" /><Relationship Type="http://schemas.openxmlformats.org/officeDocument/2006/relationships/notesMaster" Target="/ppt/notesMasters/notesMaster1.xml" Id="Re1617352311b44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0cf1b2d0904c45" /><Relationship Type="http://schemas.openxmlformats.org/officeDocument/2006/relationships/notesMaster" Target="/ppt/notesMasters/notesMaster1.xml" Id="R330cd8c015f1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2e7b2e448c42fa" /><Relationship Type="http://schemas.openxmlformats.org/officeDocument/2006/relationships/notesMaster" Target="/ppt/notesMasters/notesMaster1.xml" Id="Rd71cf66c2f5347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d26317906748e1" /><Relationship Type="http://schemas.openxmlformats.org/officeDocument/2006/relationships/notesMaster" Target="/ppt/notesMasters/notesMaster1.xml" Id="R6b0a42bb1df84e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1aa59806db41c5" /><Relationship Type="http://schemas.openxmlformats.org/officeDocument/2006/relationships/notesMaster" Target="/ppt/notesMasters/notesMaster1.xml" Id="R4f81d6cff79044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a050fba2c341a0" /><Relationship Type="http://schemas.openxmlformats.org/officeDocument/2006/relationships/notesMaster" Target="/ppt/notesMasters/notesMaster1.xml" Id="R19b3309c2b414b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a2eb9620c54090" /><Relationship Type="http://schemas.openxmlformats.org/officeDocument/2006/relationships/notesMaster" Target="/ppt/notesMasters/notesMaster1.xml" Id="R94270c72af9c4b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4982fe22aa4c64" /><Relationship Type="http://schemas.openxmlformats.org/officeDocument/2006/relationships/notesMaster" Target="/ppt/notesMasters/notesMaster1.xml" Id="R938159ea4fa246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a68871fc5947a4" /><Relationship Type="http://schemas.openxmlformats.org/officeDocument/2006/relationships/notesMaster" Target="/ppt/notesMasters/notesMaster1.xml" Id="Rcc8c587162b040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e044c773d54a5e" /><Relationship Type="http://schemas.openxmlformats.org/officeDocument/2006/relationships/notesMaster" Target="/ppt/notesMasters/notesMaster1.xml" Id="Ra6bcd689a6304b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15c05063ff493e" /><Relationship Type="http://schemas.openxmlformats.org/officeDocument/2006/relationships/notesMaster" Target="/ppt/notesMasters/notesMaster1.xml" Id="R2bb1b78d50e24b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034993833b457d" /><Relationship Type="http://schemas.openxmlformats.org/officeDocument/2006/relationships/notesMaster" Target="/ppt/notesMasters/notesMaster1.xml" Id="Rb262e9fe8a3e47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73122ab68b4208" /><Relationship Type="http://schemas.openxmlformats.org/officeDocument/2006/relationships/notesMaster" Target="/ppt/notesMasters/notesMaster1.xml" Id="R7091ba333fbe4a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8ac9e1f9da46f3" /><Relationship Type="http://schemas.openxmlformats.org/officeDocument/2006/relationships/notesMaster" Target="/ppt/notesMasters/notesMaster1.xml" Id="R35b19f5494784f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626aeaf6fb4adf" /><Relationship Type="http://schemas.openxmlformats.org/officeDocument/2006/relationships/notesMaster" Target="/ppt/notesMasters/notesMaster1.xml" Id="R0ec07aeb440c45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291db4372d4a03" /><Relationship Type="http://schemas.openxmlformats.org/officeDocument/2006/relationships/notesMaster" Target="/ppt/notesMasters/notesMaster1.xml" Id="R605e08e5c53b4e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ee27b069b8040c8" /><Relationship Type="http://schemas.openxmlformats.org/officeDocument/2006/relationships/notesMaster" Target="/ppt/notesMasters/notesMaster1.xml" Id="R55b01fc2cc3848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40b8a3556c46e1" /><Relationship Type="http://schemas.openxmlformats.org/officeDocument/2006/relationships/notesMaster" Target="/ppt/notesMasters/notesMaster1.xml" Id="R5834d27493b94d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b69a6150e0948a7" /><Relationship Type="http://schemas.openxmlformats.org/officeDocument/2006/relationships/notesMaster" Target="/ppt/notesMasters/notesMaster1.xml" Id="Re3a681cb294747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a1aa1571274282" /><Relationship Type="http://schemas.openxmlformats.org/officeDocument/2006/relationships/notesMaster" Target="/ppt/notesMasters/notesMaster1.xml" Id="R84aca894787549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7c28435f3549b0" /><Relationship Type="http://schemas.openxmlformats.org/officeDocument/2006/relationships/notesMaster" Target="/ppt/notesMasters/notesMaster1.xml" Id="Rfcbb2bcaed9045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44ea03e0f04313" /><Relationship Type="http://schemas.openxmlformats.org/officeDocument/2006/relationships/notesMaster" Target="/ppt/notesMasters/notesMaster1.xml" Id="R0a0c0fcffa2046d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642a5ffa3504325" /><Relationship Type="http://schemas.openxmlformats.org/officeDocument/2006/relationships/notesMaster" Target="/ppt/notesMasters/notesMaster1.xml" Id="Rab73c63eafcf4a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9bc8897c92439e" /><Relationship Type="http://schemas.openxmlformats.org/officeDocument/2006/relationships/notesMaster" Target="/ppt/notesMasters/notesMaster1.xml" Id="Rc0801b218011429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29af95f5b1457f" /><Relationship Type="http://schemas.openxmlformats.org/officeDocument/2006/relationships/notesMaster" Target="/ppt/notesMasters/notesMaster1.xml" Id="Rbc32afcdfad244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framing sentences: the engineering result is that a naturally recurring read prefix can be compiled away with quality preserved on a sealed sample. The scientific result is that almost no recurrent family in a public benchmark can be certified at all under the configured gate. The paper is organized so that the second is as visible as the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hazards map one-to-one onto rejection points in the compiler. The asymmetry to state early: statistics can only narrow what a structurally admissible artifact may do, never widen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Hard safety and Admission columns together. Agent JIT, EvoC2F and COVENANT do carry safety arguments; the distinction is what kind. GAC's is provenance plus declared effects, gated by an exact selective bound over a frozen grid. That combination, not any single element, is the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RQ3 and RQ4 are the unusual questions. Most workflow-optimization papers report what their system compresses; this one also asks what it must decline and what remains broken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2 of the paper. The important move is that admissibility is defined structurally, before any statistics 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live pilot compiled suffix-only regions even though the runtime resolves only at entry. It dispatched label and comment reads before their intended position, duplicated or reordered tools, and achieved 16.7% task and tool-contract validity while still reducing requests. The pilot is archived rather than deleted, and a golden-trace regression test now rejects an otherwise eligible suffix.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Worth stating plainly in a seminar: the paper marks its own optimality gap. Reading the effect exposure from the catalog rather than from a naming convention, and evaluating all admissible families before selecting, are both listed as future work rather than described as implemented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3. Every stage can only reject; none can rescue a candidate that an earlier stage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Structurally this is a tracing JIT for agent executions: hot-trace detection becomes family mining, guard synthesis becomes the hard guard, region compilation becomes bounded synthesis, and deoptimization becomes fallback to the baseline agent. What is not inherited is what an agent guard must additionally certify — grounding, declared effects, and a finite-sample residual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recall cannot fall below the groundability rate: it is insensitive to ranking quality by construction. The load-bearing number for synthesis is the 80.7% unique-resolution rate. Also note the counters are not mutually exclusive — the miner enumerates multiple candidate spans, so the per-episode window failures and the per-slot counts have different denominators, and both are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Making the two coarse terms faithful would reorder candidates and therefore require re-running the offline study, so the paper lists it as future work instead of describing semantics the code does not enforce. That is the kind of disclosure worth pointing at in a seminar.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two places a reviewer will push hardest. The strongest live result was never adversarially challenged; it passed replay, not perturbation.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sharp version out loud: zero violations in 92 groups should be read as self-consistency, not as correctness. Algorithm 3's alpha bounds contract violation, never bounding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paper's cleanest example of a difference that is structural rather than an implementation gap. The problem of restoring a consistent state after a specialized region is abandoned is exactly dynamic deoptimization, and the literature's answer — explicit deoptimization points — is the mechanism deferred to future work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Sections 4 and 5. The hypotheses were fixed internally before the sealed test was scored, but the study was not externally preregistered — state that plainly.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Tier separation is the methodological point: no tier is asked to license a claim it cannot support. Tier 1 cannot speak to live efficiency; Tier 3 cannot speak to real-world data; only Tier 2 does both, on one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properties bound how far this path generalizes: the split tests held-out windows rather than robustness to a shifted distribution, and the development partition it allocates is reported but not consumed. It is an executable structural benchmark, not end-to-end validation of the deployed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properties bound how far this path generalizes: the split tests held-out windows rather than robustness to a shifted distribution, and the development partition it allocates is reported but not consumed. It is an executable structural benchmark, not end-to-end validation of the deployed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tool-call bar is the honest one: the compiler keeps all three reads. It removes model-mediated decisions, not evidence acquisition. The macro removes reads because a human redesigned the application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audited oracle corrections are retained in the artifact. In the earlier run the corrected eligibility rule would swap one discovery trace, but the evaluated artifact remains the one actually executed — they do not retrain post hoc and do not assume the two artifacts are equivalent.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Consistent with the prompt-caching literature rather than a new discovery. What is new here is the same effect arising from turn removal and route fragmentation rather than from compression — and the consequence that a workflow optimizer's objective must price prefix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does not claim GAC dominates ordinary engineering. It establishes the structural facts behind the hypothesis but does not measure engineering effort, drift response, or the cross-workflow break-even. AWO, AWM, LLMCompiler, FlowCompile and plan caching were not re-implemented.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does not claim GAC dominates ordinary engineering. It establishes the structural facts behind the hypothesis but does not measure engineering effort, drift response, or the cross-workflow break-even. AWO, AWM, LLMCompiler, FlowCompile and plan caching were not re-implemented.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design's value is its ordering: store the decision, hash the calibration file, then draw the twelve previously unused issues. Paired Wilcoxon p = 0.000488 for tokens, latency and cost. But one family cannot distinguish the selection rule from always choosing its macro.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honest routes out of the gate problem, both named in the paper: build a development set containing genuine unproductive outcomes and publish a risk–coverage curve at several alpha, or replace the learned score with an explicitly one-class construction — distance-to-hull, or a conformal nonconformity measure over entry features — and describe it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 reviewer wants one slide to judge the paper's honesty, this is it. Two distinctions the paper is careful about and this table preserves: C8 is not evaluated rather than refuted — the extractive oracle simply cannot see fabrication — and C12 is a capability the shipped API does not have rather than a claim that failed. C10 and C11 are verified but scoped: one is a provider-free counterfactual, the other holds on a single workflow 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line from the paper: together with the failed suffix pilot, the evidence argues for a specific design principle — an agent optimizer should be judged not only by what it compresses, but by whether it can explain and enforce when it must not compile.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c9242082774427" /></Relationships>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0d55c43d7c6489e" /><Relationship Type="http://schemas.openxmlformats.org/officeDocument/2006/relationships/slideLayout" Target="/ppt/slideLayouts/slideLayout2.xml" Id="Re3c9748574414ee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c9748574414eeb"/>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91e8863735a4ec5" /><Relationship Type="http://schemas.openxmlformats.org/officeDocument/2006/relationships/notesSlide" Target="/ppt/notesSlides/notesSlide1.xml" Id="R7fc4fa2546b44c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61eed06a4174083" /><Relationship Type="http://schemas.openxmlformats.org/officeDocument/2006/relationships/notesSlide" Target="/ppt/notesSlides/notesSlide2.xml" Id="Rf11fea3f9ba649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52e7f6a03ad4136" /><Relationship Type="http://schemas.openxmlformats.org/officeDocument/2006/relationships/notesSlide" Target="/ppt/notesSlides/notesSlide3.xml" Id="R91ec5e4ec66743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9ad64aac0414bda" /><Relationship Type="http://schemas.openxmlformats.org/officeDocument/2006/relationships/notesSlide" Target="/ppt/notesSlides/notesSlide4.xml" Id="Ree20abacf12c4f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7683de9d63b49e7" /><Relationship Type="http://schemas.openxmlformats.org/officeDocument/2006/relationships/notesSlide" Target="/ppt/notesSlides/notesSlide5.xml" Id="Reb03dedea5a848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d29d5a18fce40d9" /><Relationship Type="http://schemas.openxmlformats.org/officeDocument/2006/relationships/image" Target="/ppt/media/image.png" Id="R552b6dc72caa4247" /><Relationship Type="http://schemas.openxmlformats.org/officeDocument/2006/relationships/image" Target="/ppt/media/image2.png" Id="R4832e41156724911" /><Relationship Type="http://schemas.openxmlformats.org/officeDocument/2006/relationships/image" Target="/ppt/media/image3.png" Id="R9f68ea71c40442d0" /><Relationship Type="http://schemas.openxmlformats.org/officeDocument/2006/relationships/notesSlide" Target="/ppt/notesSlides/notesSlide6.xml" Id="Ra1bd65dd063c40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4c2d64114dd46e7" /><Relationship Type="http://schemas.openxmlformats.org/officeDocument/2006/relationships/image" Target="/ppt/media/image4.png" Id="R0bacce38a624463e" /><Relationship Type="http://schemas.openxmlformats.org/officeDocument/2006/relationships/image" Target="/ppt/media/image5.png" Id="R3b52f5b2f5c94c04" /><Relationship Type="http://schemas.openxmlformats.org/officeDocument/2006/relationships/image" Target="/ppt/media/image6.png" Id="Rcd2d6dec024f4431" /><Relationship Type="http://schemas.openxmlformats.org/officeDocument/2006/relationships/image" Target="/ppt/media/image7.png" Id="Rb34d1ae9670b4ab0" /><Relationship Type="http://schemas.openxmlformats.org/officeDocument/2006/relationships/image" Target="/ppt/media/image8.png" Id="R26a29eafff354f15" /><Relationship Type="http://schemas.openxmlformats.org/officeDocument/2006/relationships/image" Target="/ppt/media/image9.png" Id="R646661bb9ef5488f" /><Relationship Type="http://schemas.openxmlformats.org/officeDocument/2006/relationships/image" Target="/ppt/media/image10.png" Id="R9b73d701d7e44040" /><Relationship Type="http://schemas.openxmlformats.org/officeDocument/2006/relationships/image" Target="/ppt/media/image11.png" Id="Rf72f8d857c3c4903" /><Relationship Type="http://schemas.openxmlformats.org/officeDocument/2006/relationships/notesSlide" Target="/ppt/notesSlides/notesSlide7.xml" Id="R933b9e17db344c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1d9766766734df4" /><Relationship Type="http://schemas.openxmlformats.org/officeDocument/2006/relationships/notesSlide" Target="/ppt/notesSlides/notesSlide8.xml" Id="R0e35690076444e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fa3ad160ab34144" /><Relationship Type="http://schemas.openxmlformats.org/officeDocument/2006/relationships/notesSlide" Target="/ppt/notesSlides/notesSlide9.xml" Id="R64befede7acb4d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719a0dc67e44876" /><Relationship Type="http://schemas.openxmlformats.org/officeDocument/2006/relationships/notesSlide" Target="/ppt/notesSlides/notesSlide10.xml" Id="R0ed1f776ec1c4f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4bddf15de3d4667" /><Relationship Type="http://schemas.openxmlformats.org/officeDocument/2006/relationships/image" Target="/ppt/media/image12.png" Id="Rc709e4e0ae83451a" /><Relationship Type="http://schemas.openxmlformats.org/officeDocument/2006/relationships/image" Target="/ppt/media/image13.png" Id="R7f96038fa9b54867" /><Relationship Type="http://schemas.openxmlformats.org/officeDocument/2006/relationships/notesSlide" Target="/ppt/notesSlides/notesSlide11.xml" Id="Rd2d9f1a4f7dd4c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93166fc11254a29" /><Relationship Type="http://schemas.openxmlformats.org/officeDocument/2006/relationships/notesSlide" Target="/ppt/notesSlides/notesSlide12.xml" Id="Re0ab724a56f44b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07adec9052846f9" /><Relationship Type="http://schemas.openxmlformats.org/officeDocument/2006/relationships/image" Target="/ppt/media/image14.png" Id="Rbfb1e94d7750465b" /><Relationship Type="http://schemas.openxmlformats.org/officeDocument/2006/relationships/image" Target="/ppt/media/image15.png" Id="Rc178615803424db7" /><Relationship Type="http://schemas.openxmlformats.org/officeDocument/2006/relationships/image" Target="/ppt/media/image16.png" Id="R3f72aa398c184ba5" /><Relationship Type="http://schemas.openxmlformats.org/officeDocument/2006/relationships/image" Target="/ppt/media/image17.png" Id="Rcb4c72656323471b" /><Relationship Type="http://schemas.openxmlformats.org/officeDocument/2006/relationships/notesSlide" Target="/ppt/notesSlides/notesSlide13.xml" Id="R19590aac699c49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1c1a65717394f99" /><Relationship Type="http://schemas.openxmlformats.org/officeDocument/2006/relationships/notesSlide" Target="/ppt/notesSlides/notesSlide14.xml" Id="R6ba1da51ec5249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990b772f0e848f1" /><Relationship Type="http://schemas.openxmlformats.org/officeDocument/2006/relationships/notesSlide" Target="/ppt/notesSlides/notesSlide15.xml" Id="R1993e38e049a42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2683dc667b447eb" /><Relationship Type="http://schemas.openxmlformats.org/officeDocument/2006/relationships/notesSlide" Target="/ppt/notesSlides/notesSlide16.xml" Id="R469fd0510dc143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43312dbefd4485c" /><Relationship Type="http://schemas.openxmlformats.org/officeDocument/2006/relationships/chart" Target="/ppt/slides/charts/chart1.xml" Id="R5236a7dd85af42e1" /><Relationship Type="http://schemas.openxmlformats.org/officeDocument/2006/relationships/notesSlide" Target="/ppt/notesSlides/notesSlide17.xml" Id="R2b4ae0fb228c46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c86d8ce5b2747d0" /><Relationship Type="http://schemas.openxmlformats.org/officeDocument/2006/relationships/chart" Target="/ppt/slides/charts/chart2.xml" Id="R7df5fac1fec848d9" /><Relationship Type="http://schemas.openxmlformats.org/officeDocument/2006/relationships/notesSlide" Target="/ppt/notesSlides/notesSlide18.xml" Id="Rfd7e764a71724c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6f18913237e74f25" /><Relationship Type="http://schemas.openxmlformats.org/officeDocument/2006/relationships/chart" Target="/ppt/slides/charts/chart3.xml" Id="R7a76a4dcbe73440f" /><Relationship Type="http://schemas.openxmlformats.org/officeDocument/2006/relationships/notesSlide" Target="/ppt/notesSlides/notesSlide19.xml" Id="Rd273941876ae4e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0ba9953059441eb" /><Relationship Type="http://schemas.openxmlformats.org/officeDocument/2006/relationships/notesSlide" Target="/ppt/notesSlides/notesSlide20.xml" Id="R1b8e5c85e6d54c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1d5d934d2644e7d" /><Relationship Type="http://schemas.openxmlformats.org/officeDocument/2006/relationships/chart" Target="/ppt/slides/charts/chart4.xml" Id="R43e41adab0e54d91" /><Relationship Type="http://schemas.openxmlformats.org/officeDocument/2006/relationships/notesSlide" Target="/ppt/notesSlides/notesSlide21.xml" Id="R57291a3c8c2f455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b77b51f3cbf42d7" /><Relationship Type="http://schemas.openxmlformats.org/officeDocument/2006/relationships/notesSlide" Target="/ppt/notesSlides/notesSlide22.xml" Id="R207a15e77bbf404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5d05b4dc57349eb" /><Relationship Type="http://schemas.openxmlformats.org/officeDocument/2006/relationships/notesSlide" Target="/ppt/notesSlides/notesSlide23.xml" Id="R21da8e6910f546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d5b579403ad436d" /><Relationship Type="http://schemas.openxmlformats.org/officeDocument/2006/relationships/image" Target="/ppt/media/image18.png" Id="R30c9b5271c594c10" /><Relationship Type="http://schemas.openxmlformats.org/officeDocument/2006/relationships/image" Target="/ppt/media/image19.png" Id="R67b2a6b7cd4445a0" /><Relationship Type="http://schemas.openxmlformats.org/officeDocument/2006/relationships/chart" Target="/ppt/slides/charts/chart5.xml" Id="Rfe1b320a21f34d32" /><Relationship Type="http://schemas.openxmlformats.org/officeDocument/2006/relationships/notesSlide" Target="/ppt/notesSlides/notesSlide24.xml" Id="R46dcfd58557846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d2d031496f3416a" /><Relationship Type="http://schemas.openxmlformats.org/officeDocument/2006/relationships/notesSlide" Target="/ppt/notesSlides/notesSlide25.xml" Id="Rb208502199884b4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53918c8c01e4ceb" /><Relationship Type="http://schemas.openxmlformats.org/officeDocument/2006/relationships/notesSlide" Target="/ppt/notesSlides/notesSlide26.xml" Id="R5d74335b2b8b4c8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ce35a44173b646e0" /><Relationship Type="http://schemas.openxmlformats.org/officeDocument/2006/relationships/notesSlide" Target="/ppt/notesSlides/notesSlide27.xml" Id="Rf646d4bafcc34942"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00" b="0" i="0" u="none">
                <a:solidFill>
                  <a:srgbClr val="5A6B84"/>
                </a:solidFill>
                <a:latin typeface="Calibri"/>
                <a:ea typeface="Calibri"/>
                <a:cs typeface="Calibri"/>
              </a:rPr>
              <a:t>Token reduction by workflow family</a:t>
            </a:r>
          </a:p>
        </c:rich>
      </c:tx>
      <c:overlay val="0"/>
      <c:txPr>
        <a:bodyPr xmlns:a="http://schemas.openxmlformats.org/drawingml/2006/main" anchorCtr="1"/>
        <a:lstStyle xmlns:a="http://schemas.openxmlformats.org/drawingml/2006/main"/>
        <a:p xmlns:a="http://schemas.openxmlformats.org/drawingml/2006/main">
          <a:pPr>
            <a:defRPr sz="110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Token reduction (%)</c:v>
                </c:pt>
              </c:strCache>
            </c:strRef>
          </c:tx>
          <c:spPr>
            <a:solidFill xmlns:a="http://schemas.openxmlformats.org/drawingml/2006/main">
              <a:srgbClr val="1F8A99"/>
            </a:solidFill>
          </c:spPr>
          <c:dPt>
            <c:idx val="1"/>
            <c:spPr>
              <a:solidFill xmlns:a="http://schemas.openxmlformats.org/drawingml/2006/main">
                <a:srgbClr val="A93B2B"/>
              </a:solidFill>
            </c:spPr>
          </c:dPt>
          <c:cat>
            <c:strRef>
              <c:f>Sheet1!$A$2:$A$3</c:f>
              <c:strCache>
                <c:ptCount val="3"/>
                <c:pt idx="0">
                  <c:v>Issue type</c:v>
                </c:pt>
                <c:pt idx="1">
                  <c:v>PR outcome</c:v>
                </c:pt>
                <c:pt idx="2">
                  <c:v>Backlog attention</c:v>
                </c:pt>
              </c:strCache>
            </c:strRef>
          </c:cat>
          <c:val>
            <c:numRef>
              <c:f>Sheet1!$B$2:$B$3</c:f>
              <c:numCache>
                <c:formatCode>General</c:formatCode>
                <c:ptCount val="3"/>
                <c:pt idx="0">
                  <c:v>39.5</c:v>
                </c:pt>
                <c:pt idx="1">
                  <c:v>80.8</c:v>
                </c:pt>
                <c:pt idx="2">
                  <c:v>81.4</c:v>
                </c:pt>
              </c:numCache>
            </c:numRef>
          </c:val>
        </c:ser>
        <c:dLbls>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00"/>
        </c:scaling>
        <c:delete val="0"/>
        <c:axPos val="l"/>
        <c:majorGridlines>
          <c:spPr>
            <a:ln xmlns:a="http://schemas.openxmlformats.org/drawingml/2006/main" w="9525">
              <a:solidFill>
                <a:srgbClr val="E7EDF3"/>
              </a:solidFill>
              <a:prstDash val="solid"/>
            </a:ln>
          </c:spPr>
        </c:majorGridlines>
        <c:numFmt formatCode="0\%"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plotVisOnly val="1"/>
  </c:chart>
  <c:spPr>
    <a:noFill xmlns:a="http://schemas.openxmlformats.org/drawingml/2006/main"/>
    <a:ln xmlns:a="http://schemas.openxmlformats.org/drawingml/2006/main">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00" b="0" i="0" u="none">
                <a:solidFill>
                  <a:srgbClr val="5A6B84"/>
                </a:solidFill>
                <a:latin typeface="Calibri"/>
                <a:ea typeface="Calibri"/>
                <a:cs typeface="Calibri"/>
              </a:rPr>
              <a:t>Token reduction by workflow family</a:t>
            </a:r>
          </a:p>
        </c:rich>
      </c:tx>
      <c:overlay val="0"/>
      <c:txPr>
        <a:bodyPr xmlns:a="http://schemas.openxmlformats.org/drawingml/2006/main" anchorCtr="1"/>
        <a:lstStyle xmlns:a="http://schemas.openxmlformats.org/drawingml/2006/main"/>
        <a:p xmlns:a="http://schemas.openxmlformats.org/drawingml/2006/main">
          <a:pPr>
            <a:defRPr sz="110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Token reduction (%)</c:v>
                </c:pt>
              </c:strCache>
            </c:strRef>
          </c:tx>
          <c:spPr>
            <a:solidFill xmlns:a="http://schemas.openxmlformats.org/drawingml/2006/main">
              <a:srgbClr val="1F8A99"/>
            </a:solidFill>
          </c:spPr>
          <c:dPt>
            <c:idx val="1"/>
            <c:spPr>
              <a:solidFill xmlns:a="http://schemas.openxmlformats.org/drawingml/2006/main">
                <a:srgbClr val="A93B2B"/>
              </a:solidFill>
            </c:spPr>
          </c:dPt>
          <c:cat>
            <c:strRef>
              <c:f>Sheet1!$A$2:$A$3</c:f>
              <c:strCache>
                <c:ptCount val="3"/>
                <c:pt idx="0">
                  <c:v>Issue type</c:v>
                </c:pt>
                <c:pt idx="1">
                  <c:v>PR outcome</c:v>
                </c:pt>
                <c:pt idx="2">
                  <c:v>Backlog attention</c:v>
                </c:pt>
              </c:strCache>
            </c:strRef>
          </c:cat>
          <c:val>
            <c:numRef>
              <c:f>Sheet1!$B$2:$B$3</c:f>
              <c:numCache>
                <c:formatCode>General</c:formatCode>
                <c:ptCount val="3"/>
                <c:pt idx="0">
                  <c:v>39.5</c:v>
                </c:pt>
                <c:pt idx="1">
                  <c:v>80.8</c:v>
                </c:pt>
                <c:pt idx="2">
                  <c:v>81.4</c:v>
                </c:pt>
              </c:numCache>
            </c:numRef>
          </c:val>
        </c:ser>
        <c:dLbls>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00"/>
        </c:scaling>
        <c:delete val="0"/>
        <c:axPos val="l"/>
        <c:majorGridlines>
          <c:spPr>
            <a:ln xmlns:a="http://schemas.openxmlformats.org/drawingml/2006/main" w="9525">
              <a:solidFill>
                <a:srgbClr val="E7EDF3"/>
              </a:solidFill>
              <a:prstDash val="solid"/>
            </a:ln>
          </c:spPr>
        </c:majorGridlines>
        <c:numFmt formatCode="0\%"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plotVisOnly val="1"/>
  </c:chart>
  <c:spPr>
    <a:noFill xmlns:a="http://schemas.openxmlformats.org/drawingml/2006/main"/>
    <a:ln xmlns:a="http://schemas.openxmlformats.org/drawingml/2006/main">
      <a:noFill/>
    </a:ln>
  </c:spPr>
</c:chartSpace>
</file>

<file path=ppt/slides/charts/chart3.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00" b="0" i="0" u="none">
                <a:solidFill>
                  <a:srgbClr val="5A6B84"/>
                </a:solidFill>
                <a:latin typeface="Calibri"/>
                <a:ea typeface="Calibri"/>
                <a:cs typeface="Calibri"/>
              </a:rPr>
              <a:t>Per-episode resource use, normalized to the unchanged agent (%)</a:t>
            </a:r>
          </a:p>
        </c:rich>
      </c:tx>
      <c:overlay val="0"/>
      <c:txPr>
        <a:bodyPr xmlns:a="http://schemas.openxmlformats.org/drawingml/2006/main" anchorCtr="1"/>
        <a:lstStyle xmlns:a="http://schemas.openxmlformats.org/drawingml/2006/main"/>
        <a:p xmlns:a="http://schemas.openxmlformats.org/drawingml/2006/main">
          <a:pPr>
            <a:defRPr sz="110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Unchanged agent</c:v>
                </c:pt>
              </c:strCache>
            </c:strRef>
          </c:tx>
          <c:spPr>
            <a:solidFill xmlns:a="http://schemas.openxmlformats.org/drawingml/2006/main">
              <a:srgbClr val="9BD0D6"/>
            </a:solidFill>
          </c:spPr>
          <c:cat>
            <c:strRef>
              <c:f>Sheet1!$A$2:$A$6</c:f>
              <c:strCache>
                <c:ptCount val="5"/>
                <c:pt idx="0">
                  <c:v>Provider
requests</c:v>
                </c:pt>
                <c:pt idx="1">
                  <c:v>Tool calls</c:v>
                </c:pt>
                <c:pt idx="2">
                  <c:v>Total tokens</c:v>
                </c:pt>
                <c:pt idx="3">
                  <c:v>Wall time</c:v>
                </c:pt>
                <c:pt idx="4">
                  <c:v>Estimated cost</c:v>
                </c:pt>
              </c:strCache>
            </c:strRef>
          </c:cat>
          <c:val>
            <c:numRef>
              <c:f>Sheet1!$B$2:$B$6</c:f>
              <c:numCache>
                <c:formatCode>General</c:formatCode>
                <c:ptCount val="5"/>
                <c:pt idx="0">
                  <c:v>100</c:v>
                </c:pt>
                <c:pt idx="1">
                  <c:v>100</c:v>
                </c:pt>
                <c:pt idx="2">
                  <c:v>100</c:v>
                </c:pt>
                <c:pt idx="3">
                  <c:v>100</c:v>
                </c:pt>
                <c:pt idx="4">
                  <c:v>100</c:v>
                </c:pt>
              </c:numCache>
            </c:numRef>
          </c:val>
        </c:ser>
        <c:ser>
          <c:idx val="1"/>
          <c:order val="1"/>
          <c:tx>
            <c:strRef>
              <c:f>Sheet1!$C$1</c:f>
              <c:strCache>
                <c:ptCount val="1"/>
                <c:pt idx="0">
                  <c:v>GAC two-read prefix</c:v>
                </c:pt>
              </c:strCache>
            </c:strRef>
          </c:tx>
          <c:spPr>
            <a:solidFill xmlns:a="http://schemas.openxmlformats.org/drawingml/2006/main">
              <a:srgbClr val="1F8A99"/>
            </a:solidFill>
          </c:spPr>
          <c:cat>
            <c:strRef>
              <c:f>Sheet1!$A$2:$A$6</c:f>
              <c:strCache>
                <c:ptCount val="5"/>
                <c:pt idx="0">
                  <c:v>Provider
requests</c:v>
                </c:pt>
                <c:pt idx="1">
                  <c:v>Tool calls</c:v>
                </c:pt>
                <c:pt idx="2">
                  <c:v>Total tokens</c:v>
                </c:pt>
                <c:pt idx="3">
                  <c:v>Wall time</c:v>
                </c:pt>
                <c:pt idx="4">
                  <c:v>Estimated cost</c:v>
                </c:pt>
              </c:strCache>
            </c:strRef>
          </c:cat>
          <c:val>
            <c:numRef>
              <c:f>Sheet1!$C$2:$C$6</c:f>
              <c:numCache>
                <c:formatCode>General</c:formatCode>
                <c:ptCount val="5"/>
                <c:pt idx="0">
                  <c:v>50</c:v>
                </c:pt>
                <c:pt idx="1">
                  <c:v>100</c:v>
                </c:pt>
                <c:pt idx="2">
                  <c:v>60.5</c:v>
                </c:pt>
                <c:pt idx="3">
                  <c:v>48.2</c:v>
                </c:pt>
                <c:pt idx="4">
                  <c:v>68</c:v>
                </c:pt>
              </c:numCache>
            </c:numRef>
          </c:val>
        </c:ser>
        <c:ser>
          <c:idx val="2"/>
          <c:order val="2"/>
          <c:tx>
            <c:strRef>
              <c:f>Sheet1!$D$1</c:f>
              <c:strCache>
                <c:ptCount val="1"/>
                <c:pt idx="0">
                  <c:v>Hand-written macro</c:v>
                </c:pt>
              </c:strCache>
            </c:strRef>
          </c:tx>
          <c:spPr>
            <a:solidFill xmlns:a="http://schemas.openxmlformats.org/drawingml/2006/main">
              <a:srgbClr val="A93B2B"/>
            </a:solidFill>
          </c:spPr>
          <c:cat>
            <c:strRef>
              <c:f>Sheet1!$A$2:$A$6</c:f>
              <c:strCache>
                <c:ptCount val="5"/>
                <c:pt idx="0">
                  <c:v>Provider
requests</c:v>
                </c:pt>
                <c:pt idx="1">
                  <c:v>Tool calls</c:v>
                </c:pt>
                <c:pt idx="2">
                  <c:v>Total tokens</c:v>
                </c:pt>
                <c:pt idx="3">
                  <c:v>Wall time</c:v>
                </c:pt>
                <c:pt idx="4">
                  <c:v>Estimated cost</c:v>
                </c:pt>
              </c:strCache>
            </c:strRef>
          </c:cat>
          <c:val>
            <c:numRef>
              <c:f>Sheet1!$D$2:$D$6</c:f>
              <c:numCache>
                <c:formatCode>General</c:formatCode>
                <c:ptCount val="5"/>
                <c:pt idx="0">
                  <c:v>50</c:v>
                </c:pt>
                <c:pt idx="1">
                  <c:v>33.3</c:v>
                </c:pt>
                <c:pt idx="2">
                  <c:v>41.8</c:v>
                </c:pt>
                <c:pt idx="3">
                  <c:v>52.8</c:v>
                </c:pt>
                <c:pt idx="4">
                  <c:v>62.5</c:v>
                </c:pt>
              </c:numCache>
            </c:numRef>
          </c:val>
        </c:ser>
        <c:dLbls>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10"/>
        </c:scaling>
        <c:delete val="0"/>
        <c:axPos val="l"/>
        <c:majorGridlines>
          <c:spPr>
            <a:ln xmlns:a="http://schemas.openxmlformats.org/drawingml/2006/main" w="9525">
              <a:solidFill>
                <a:srgbClr val="E7EDF3"/>
              </a:solidFill>
              <a:prstDash val="solid"/>
            </a:ln>
          </c:spPr>
        </c:majorGridlines>
        <c:numFmt formatCode="0&quot;%&quot;"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4354F"/>
              </a:solidFill>
              <a:latin typeface="Calibri"/>
              <a:ea typeface="Calibri"/>
              <a:cs typeface="Calibri"/>
            </a:defRPr>
          </a:pPr>
        </a:p>
      </c:txPr>
    </c:legend>
    <c:plotVisOnly val="1"/>
  </c:chart>
  <c:spPr>
    <a:noFill xmlns:a="http://schemas.openxmlformats.org/drawingml/2006/main"/>
    <a:ln xmlns:a="http://schemas.openxmlformats.org/drawingml/2006/main">
      <a:noFill/>
    </a:ln>
  </c:spPr>
</c:chartSpace>
</file>

<file path=ppt/slides/charts/chart4.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00" b="0" i="0" u="none">
                <a:solidFill>
                  <a:srgbClr val="5A6B84"/>
                </a:solidFill>
                <a:latin typeface="Calibri"/>
                <a:ea typeface="Calibri"/>
                <a:cs typeface="Calibri"/>
              </a:rPr>
              <a:t>Saving versus baseline per demonstration condition (%)</a:t>
            </a:r>
          </a:p>
        </c:rich>
      </c:tx>
      <c:overlay val="0"/>
      <c:txPr>
        <a:bodyPr xmlns:a="http://schemas.openxmlformats.org/drawingml/2006/main" anchorCtr="1"/>
        <a:lstStyle xmlns:a="http://schemas.openxmlformats.org/drawingml/2006/main"/>
        <a:p xmlns:a="http://schemas.openxmlformats.org/drawingml/2006/main">
          <a:pPr>
            <a:defRPr sz="110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Tokens saved</c:v>
                </c:pt>
              </c:strCache>
            </c:strRef>
          </c:tx>
          <c:spPr>
            <a:solidFill xmlns:a="http://schemas.openxmlformats.org/drawingml/2006/main">
              <a:srgbClr val="1F8A99"/>
            </a:solidFill>
          </c:spPr>
          <c:cat>
            <c:strRef>
              <c:f>Sheet1!$A$2:$A$7</c:f>
              <c:strCache>
                <c:ptCount val="6"/>
                <c:pt idx="0">
                  <c:v>A  linear read prefix</c:v>
                </c:pt>
                <c:pt idx="1">
                  <c:v>B  ACL + index guard</c:v>
                </c:pt>
                <c:pt idx="2">
                  <c:v>C  handoff barrier</c:v>
                </c:pt>
                <c:pt idx="3">
                  <c:v>E  branch + write</c:v>
                </c:pt>
                <c:pt idx="4">
                  <c:v>F  route specialization</c:v>
                </c:pt>
                <c:pt idx="5">
                  <c:v>E′  refused (control)</c:v>
                </c:pt>
              </c:strCache>
            </c:strRef>
          </c:cat>
          <c:val>
            <c:numRef>
              <c:f>Sheet1!$B$2:$B$7</c:f>
              <c:numCache>
                <c:formatCode>General</c:formatCode>
                <c:ptCount val="6"/>
                <c:pt idx="0">
                  <c:v>79.6</c:v>
                </c:pt>
                <c:pt idx="1">
                  <c:v>76.3</c:v>
                </c:pt>
                <c:pt idx="2">
                  <c:v>73.8</c:v>
                </c:pt>
                <c:pt idx="3">
                  <c:v>66.4</c:v>
                </c:pt>
                <c:pt idx="4">
                  <c:v>16.8</c:v>
                </c:pt>
                <c:pt idx="5">
                  <c:v>-0.2</c:v>
                </c:pt>
              </c:numCache>
            </c:numRef>
          </c:val>
        </c:ser>
        <c:ser>
          <c:idx val="1"/>
          <c:order val="1"/>
          <c:tx>
            <c:strRef>
              <c:f>Sheet1!$C$1</c:f>
              <c:strCache>
                <c:ptCount val="1"/>
                <c:pt idx="0">
                  <c:v>Cost saved</c:v>
                </c:pt>
              </c:strCache>
            </c:strRef>
          </c:tx>
          <c:spPr>
            <a:solidFill xmlns:a="http://schemas.openxmlformats.org/drawingml/2006/main">
              <a:srgbClr val="A93B2B"/>
            </a:solidFill>
          </c:spPr>
          <c:cat>
            <c:strRef>
              <c:f>Sheet1!$A$2:$A$7</c:f>
              <c:strCache>
                <c:ptCount val="6"/>
                <c:pt idx="0">
                  <c:v>A  linear read prefix</c:v>
                </c:pt>
                <c:pt idx="1">
                  <c:v>B  ACL + index guard</c:v>
                </c:pt>
                <c:pt idx="2">
                  <c:v>C  handoff barrier</c:v>
                </c:pt>
                <c:pt idx="3">
                  <c:v>E  branch + write</c:v>
                </c:pt>
                <c:pt idx="4">
                  <c:v>F  route specialization</c:v>
                </c:pt>
                <c:pt idx="5">
                  <c:v>E′  refused (control)</c:v>
                </c:pt>
              </c:strCache>
            </c:strRef>
          </c:cat>
          <c:val>
            <c:numRef>
              <c:f>Sheet1!$C$2:$C$7</c:f>
              <c:numCache>
                <c:formatCode>General</c:formatCode>
                <c:ptCount val="6"/>
                <c:pt idx="0">
                  <c:v>73.6</c:v>
                </c:pt>
                <c:pt idx="1">
                  <c:v>68.7</c:v>
                </c:pt>
                <c:pt idx="2">
                  <c:v>75.5</c:v>
                </c:pt>
                <c:pt idx="3">
                  <c:v>-8.3</c:v>
                </c:pt>
                <c:pt idx="4">
                  <c:v>-123</c:v>
                </c:pt>
                <c:pt idx="5">
                  <c:v>-55.4</c:v>
                </c:pt>
              </c:numCache>
            </c:numRef>
          </c:val>
        </c:ser>
        <c:dLbls>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00"/>
          <c:min val="-150"/>
        </c:scaling>
        <c:delete val="0"/>
        <c:axPos val="l"/>
        <c:majorGridlines>
          <c:spPr>
            <a:ln xmlns:a="http://schemas.openxmlformats.org/drawingml/2006/main" w="9525">
              <a:solidFill>
                <a:srgbClr val="E7EDF3"/>
              </a:solidFill>
              <a:prstDash val="solid"/>
            </a:ln>
          </c:spPr>
        </c:majorGridlines>
        <c:numFmt formatCode="0&quot;%&quot;"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4354F"/>
              </a:solidFill>
              <a:latin typeface="Calibri"/>
              <a:ea typeface="Calibri"/>
              <a:cs typeface="Calibri"/>
            </a:defRPr>
          </a:pPr>
        </a:p>
      </c:txPr>
    </c:legend>
    <c:plotVisOnly val="1"/>
  </c:chart>
  <c:spPr>
    <a:noFill xmlns:a="http://schemas.openxmlformats.org/drawingml/2006/main"/>
    <a:ln xmlns:a="http://schemas.openxmlformats.org/drawingml/2006/main">
      <a:noFill/>
    </a:ln>
  </c:spPr>
</c:chartSpace>
</file>

<file path=ppt/slides/charts/chart5.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050" b="0" i="0" u="none">
                <a:solidFill>
                  <a:srgbClr val="5A6B84"/>
                </a:solidFill>
                <a:latin typeface="Calibri"/>
                <a:ea typeface="Calibri"/>
                <a:cs typeface="Calibri"/>
              </a:rPr>
              <a:t>Mean paired utility on 30 frozen calibration groups (pp)</a:t>
            </a:r>
          </a:p>
        </c:rich>
      </c:tx>
      <c:overlay val="0"/>
      <c:txPr>
        <a:bodyPr xmlns:a="http://schemas.openxmlformats.org/drawingml/2006/main" anchorCtr="1"/>
        <a:lstStyle xmlns:a="http://schemas.openxmlformats.org/drawingml/2006/main"/>
        <a:p xmlns:a="http://schemas.openxmlformats.org/drawingml/2006/main">
          <a:pPr>
            <a:defRPr sz="1050" b="0" i="0" u="none">
              <a:solidFill>
                <a:srgbClr val="5A6B84"/>
              </a:solidFill>
              <a:latin typeface="Calibri"/>
              <a:ea typeface="Calibri"/>
              <a:cs typeface="Calibri"/>
            </a:defRPr>
          </a:pPr>
        </a:p>
      </c:txPr>
    </c:title>
    <c:autoTitleDeleted val="0"/>
    <c:plotArea>
      <c:layout/>
      <c:barChart>
        <c:barDir val="bar"/>
        <c:grouping val="clustered"/>
        <c:varyColors val="0"/>
        <c:ser>
          <c:idx val="0"/>
          <c:order val="0"/>
          <c:tx>
            <c:strRef>
              <c:f>Sheet1!$B$1</c:f>
              <c:strCache>
                <c:ptCount val="1"/>
                <c:pt idx="0">
                  <c:v>Mean paired utility</c:v>
                </c:pt>
              </c:strCache>
            </c:strRef>
          </c:tx>
          <c:spPr>
            <a:solidFill xmlns:a="http://schemas.openxmlformats.org/drawingml/2006/main">
              <a:srgbClr val="A93B2B"/>
            </a:solidFill>
          </c:spPr>
          <c:dPt>
            <c:idx val="1"/>
            <c:spPr>
              <a:solidFill xmlns:a="http://schemas.openxmlformats.org/drawingml/2006/main">
                <a:srgbClr val="1F8A99"/>
              </a:solidFill>
            </c:spPr>
          </c:dPt>
          <c:cat>
            <c:strRef>
              <c:f>Sheet1!$A$2:$A$3</c:f>
              <c:strCache>
                <c:ptCount val="2"/>
                <c:pt idx="0">
                  <c:v>Hand-written macro</c:v>
                </c:pt>
                <c:pt idx="1">
                  <c:v>Learned compiler</c:v>
                </c:pt>
              </c:strCache>
            </c:strRef>
          </c:cat>
          <c:val>
            <c:numRef>
              <c:f>Sheet1!$B$2:$B$3</c:f>
              <c:numCache>
                <c:formatCode>General</c:formatCode>
                <c:ptCount val="2"/>
                <c:pt idx="0">
                  <c:v>48.9</c:v>
                </c:pt>
                <c:pt idx="1">
                  <c:v>32.7</c:v>
                </c:pt>
              </c:numCache>
            </c:numRef>
          </c:val>
        </c:ser>
        <c:dLbls>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5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60"/>
        </c:scaling>
        <c:delete val="0"/>
        <c:axPos val="b"/>
        <c:majorGridlines>
          <c:spPr>
            <a:ln xmlns:a="http://schemas.openxmlformats.org/drawingml/2006/main" w="9525">
              <a:solidFill>
                <a:srgbClr val="E7EDF3"/>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A2FFEA7-6501-4989-8759-2723716D736C}"/>
              </a:ext>
            </a:extLst>
          </p:cNvPr>
          <p:cNvSpPr>
            <a:spLocks xmlns:a="http://schemas.openxmlformats.org/drawingml/2006/main" noGrp="1"/>
          </p:cNvSpPr>
          <p:nvPr/>
        </p:nvSpPr>
        <p:spPr>
          <a:xfrm xmlns:a="http://schemas.openxmlformats.org/drawingml/2006/main">
            <a:off x="9052560" y="-1554480"/>
            <a:ext cx="6217920" cy="6217920"/>
          </a:xfrm>
          <a:prstGeom xmlns:a="http://schemas.openxmlformats.org/drawingml/2006/main" prst="ellipse">
            <a:avLst/>
          </a:prstGeom>
          <a:solidFill xmlns:a="http://schemas.openxmlformats.org/drawingml/2006/main">
            <a:srgbClr val="1A3563">
              <a:alpha val="62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EA379408-97A9-4A71-8BB8-00D71FDFD39E}"/>
              </a:ext>
            </a:extLst>
          </p:cNvPr>
          <p:cNvSpPr>
            <a:spLocks xmlns:a="http://schemas.openxmlformats.org/drawingml/2006/main" noGrp="1"/>
          </p:cNvSpPr>
          <p:nvPr/>
        </p:nvSpPr>
        <p:spPr>
          <a:xfrm xmlns:a="http://schemas.openxmlformats.org/drawingml/2006/main">
            <a:off x="10424160" y="-91440"/>
            <a:ext cx="3291840" cy="3291840"/>
          </a:xfrm>
          <a:prstGeom xmlns:a="http://schemas.openxmlformats.org/drawingml/2006/main" prst="ellipse">
            <a:avLst/>
          </a:prstGeom>
          <a:solidFill xmlns:a="http://schemas.openxmlformats.org/drawingml/2006/main">
            <a:srgbClr val="1F8A99">
              <a:alpha val="48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32E3CD93-23A5-4FE8-99FC-981BAFE4BA73}"/>
              </a:ext>
            </a:extLst>
          </p:cNvPr>
          <p:cNvSpPr>
            <a:spLocks xmlns:a="http://schemas.openxmlformats.org/drawingml/2006/main" noGrp="1"/>
          </p:cNvSpPr>
          <p:nvPr/>
        </p:nvSpPr>
        <p:spPr>
          <a:xfrm xmlns:a="http://schemas.openxmlformats.org/drawingml/2006/main">
            <a:off x="11338560" y="822960"/>
            <a:ext cx="1463040" cy="1463040"/>
          </a:xfrm>
          <a:prstGeom xmlns:a="http://schemas.openxmlformats.org/drawingml/2006/main" prst="ellipse">
            <a:avLst/>
          </a:prstGeom>
          <a:solidFill xmlns:a="http://schemas.openxmlformats.org/drawingml/2006/main">
            <a:srgbClr val="56B3BE">
              <a:alpha val="72000"/>
            </a:srgbClr>
          </a:solidFill>
          <a:ln xmlns:a="http://schemas.openxmlformats.org/drawingml/2006/main" w="1270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F9739D09-BB16-44CC-B240-4E76EC1C468B}"/>
              </a:ext>
            </a:extLst>
          </p:cNvPr>
          <p:cNvSpPr>
            <a:spLocks xmlns:a="http://schemas.openxmlformats.org/drawingml/2006/main" noGrp="1"/>
          </p:cNvSpPr>
          <p:nvPr/>
        </p:nvSpPr>
        <p:spPr>
          <a:xfrm xmlns:a="http://schemas.openxmlformats.org/drawingml/2006/main">
            <a:off x="640080" y="1371600"/>
            <a:ext cx="7680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6B3BE"/>
                </a:solidFill>
                <a:latin typeface="Calibri"/>
                <a:ea typeface="Calibri"/>
                <a:cs typeface="Calibri"/>
              </a:rPr>
              <a:t>LLM AGENTS  ·  PROGRAM SYNTHESIS  ·  SELECTIVE RISK CONTROL</a:t>
            </a:r>
          </a:p>
        </p:txBody>
      </p:sp>
      <p:sp>
        <p:nvSpPr>
          <p:cNvPr id="6" name="Text 4">
            <a:extLst xmlns:a="http://schemas.openxmlformats.org/drawingml/2006/main">
              <a:ext uri="{FF2B5EF4-FFF2-40B4-BE49-F238E27FC236}">
                <a16:creationId xmlns:a16="http://schemas.microsoft.com/office/drawing/2014/main" id="{B79844C4-7AFA-49C9-B3F8-6440BDE4E88D}"/>
              </a:ext>
            </a:extLst>
          </p:cNvPr>
          <p:cNvSpPr>
            <a:spLocks xmlns:a="http://schemas.openxmlformats.org/drawingml/2006/main" noGrp="1"/>
          </p:cNvSpPr>
          <p:nvPr/>
        </p:nvSpPr>
        <p:spPr>
          <a:xfrm xmlns:a="http://schemas.openxmlformats.org/drawingml/2006/main">
            <a:off x="640080" y="1810512"/>
            <a:ext cx="80467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FFFFFF"/>
                </a:solidFill>
                <a:latin typeface="Cambria"/>
                <a:ea typeface="Cambria"/>
                <a:cs typeface="Cambria"/>
              </a:rPr>
              <a:t>Compiling Recurrent Agent Workflows into Guarded Programs</a:t>
            </a:r>
          </a:p>
        </p:txBody>
      </p:sp>
      <p:sp>
        <p:nvSpPr>
          <p:cNvPr id="7" name="Text 5">
            <a:extLst xmlns:a="http://schemas.openxmlformats.org/drawingml/2006/main">
              <a:ext uri="{FF2B5EF4-FFF2-40B4-BE49-F238E27FC236}">
                <a16:creationId xmlns:a16="http://schemas.microsoft.com/office/drawing/2014/main" id="{189026B7-9996-4B37-80DB-41EDE0704C58}"/>
              </a:ext>
            </a:extLst>
          </p:cNvPr>
          <p:cNvSpPr>
            <a:spLocks xmlns:a="http://schemas.openxmlformats.org/drawingml/2006/main" noGrp="1"/>
          </p:cNvSpPr>
          <p:nvPr/>
        </p:nvSpPr>
        <p:spPr>
          <a:xfrm xmlns:a="http://schemas.openxmlformats.org/drawingml/2006/main">
            <a:off x="640080" y="3584448"/>
            <a:ext cx="7589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buNone/>
            </a:pPr>
            <a:r>
              <a:rPr sz="1450" b="1">
                <a:solidFill>
                  <a:srgbClr val="FFFFFF"/>
                </a:solidFill>
                <a:latin typeface="Calibri"/>
                <a:ea typeface="Calibri"/>
                <a:cs typeface="Calibri"/>
              </a:rPr>
              <a:t>Guarded agentic compaction. Traces establish recurrence, not admissibility. We specify the evidence a compiler needs, the barriers it must respect, and the limits its evidence retains.</a:t>
            </a:r>
          </a:p>
        </p:txBody>
      </p:sp>
      <p:sp>
        <p:nvSpPr>
          <p:cNvPr id="8" name="Shape 6">
            <a:extLst xmlns:a="http://schemas.openxmlformats.org/drawingml/2006/main">
              <a:ext uri="{FF2B5EF4-FFF2-40B4-BE49-F238E27FC236}">
                <a16:creationId xmlns:a16="http://schemas.microsoft.com/office/drawing/2014/main" id="{9218F37F-D6F0-446A-A755-95AF7D2DF3A3}"/>
              </a:ext>
            </a:extLst>
          </p:cNvPr>
          <p:cNvSpPr>
            <a:spLocks xmlns:a="http://schemas.openxmlformats.org/drawingml/2006/main" noGrp="1"/>
          </p:cNvSpPr>
          <p:nvPr/>
        </p:nvSpPr>
        <p:spPr>
          <a:xfrm xmlns:a="http://schemas.openxmlformats.org/drawingml/2006/main">
            <a:off x="640080" y="4590288"/>
            <a:ext cx="7589520" cy="0"/>
          </a:xfrm>
          <a:prstGeom xmlns:a="http://schemas.openxmlformats.org/drawingml/2006/main" prst="line">
            <a:avLst/>
          </a:prstGeom>
          <a:noFill xmlns:a="http://schemas.openxmlformats.org/drawingml/2006/main"/>
          <a:ln xmlns:a="http://schemas.openxmlformats.org/drawingml/2006/main" w="12700">
            <a:solidFill>
              <a:srgbClr val="2C4467"/>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5D72604B-F345-4FD0-8004-1B2AD5A58F6A}"/>
              </a:ext>
            </a:extLst>
          </p:cNvPr>
          <p:cNvSpPr>
            <a:spLocks xmlns:a="http://schemas.openxmlformats.org/drawingml/2006/main" noGrp="1"/>
          </p:cNvSpPr>
          <p:nvPr/>
        </p:nvSpPr>
        <p:spPr>
          <a:xfrm xmlns:a="http://schemas.openxmlformats.org/drawingml/2006/main">
            <a:off x="640080" y="475488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56B3BE"/>
                </a:solidFill>
                <a:latin typeface="Cambria"/>
                <a:ea typeface="Cambria"/>
                <a:cs typeface="Cambria"/>
              </a:rPr>
              <a:t>Real workflows</a:t>
            </a:r>
          </a:p>
        </p:txBody>
      </p:sp>
      <p:sp>
        <p:nvSpPr>
          <p:cNvPr id="10" name="Text 8">
            <a:extLst xmlns:a="http://schemas.openxmlformats.org/drawingml/2006/main">
              <a:ext uri="{FF2B5EF4-FFF2-40B4-BE49-F238E27FC236}">
                <a16:creationId xmlns:a16="http://schemas.microsoft.com/office/drawing/2014/main" id="{1F1550F7-2A46-44C3-87E9-7BE6AF91808E}"/>
              </a:ext>
            </a:extLst>
          </p:cNvPr>
          <p:cNvSpPr>
            <a:spLocks xmlns:a="http://schemas.openxmlformats.org/drawingml/2006/main" noGrp="1"/>
          </p:cNvSpPr>
          <p:nvPr/>
        </p:nvSpPr>
        <p:spPr>
          <a:xfrm xmlns:a="http://schemas.openxmlformats.org/drawingml/2006/main">
            <a:off x="640080" y="5047488"/>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8FA6C0"/>
                </a:solidFill>
                <a:latin typeface="Calibri"/>
                <a:ea typeface="Calibri"/>
                <a:cs typeface="Calibri"/>
              </a:rPr>
              <a:t>3 families</a:t>
            </a:r>
          </a:p>
          <a:p xmlns:a="http://schemas.openxmlformats.org/drawingml/2006/main">
            <a:pPr marL="0" indent="0">
              <a:lnSpc>
                <a:spcPct val="105000"/>
              </a:lnSpc>
              <a:buNone/>
            </a:pPr>
            <a:r>
              <a:rPr sz="1050">
                <a:solidFill>
                  <a:srgbClr val="8FA6C0"/>
                </a:solidFill>
                <a:latin typeface="Calibri"/>
                <a:ea typeface="Calibri"/>
                <a:cs typeface="Calibri"/>
              </a:rPr>
              <a:t>90 held-out records</a:t>
            </a:r>
          </a:p>
        </p:txBody>
      </p:sp>
      <p:sp>
        <p:nvSpPr>
          <p:cNvPr id="11" name="Text 9">
            <a:extLst xmlns:a="http://schemas.openxmlformats.org/drawingml/2006/main">
              <a:ext uri="{FF2B5EF4-FFF2-40B4-BE49-F238E27FC236}">
                <a16:creationId xmlns:a16="http://schemas.microsoft.com/office/drawing/2014/main" id="{E3960870-7F20-4E37-98A9-C92ABDFFC357}"/>
              </a:ext>
            </a:extLst>
          </p:cNvPr>
          <p:cNvSpPr>
            <a:spLocks xmlns:a="http://schemas.openxmlformats.org/drawingml/2006/main" noGrp="1"/>
          </p:cNvSpPr>
          <p:nvPr/>
        </p:nvSpPr>
        <p:spPr>
          <a:xfrm xmlns:a="http://schemas.openxmlformats.org/drawingml/2006/main">
            <a:off x="3246120" y="475488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56B3BE"/>
                </a:solidFill>
                <a:latin typeface="Cambria"/>
                <a:ea typeface="Cambria"/>
                <a:cs typeface="Cambria"/>
              </a:rPr>
              <a:t>GitHub</a:t>
            </a:r>
          </a:p>
        </p:txBody>
      </p:sp>
      <p:sp>
        <p:nvSpPr>
          <p:cNvPr id="12" name="Text 10">
            <a:extLst xmlns:a="http://schemas.openxmlformats.org/drawingml/2006/main">
              <a:ext uri="{FF2B5EF4-FFF2-40B4-BE49-F238E27FC236}">
                <a16:creationId xmlns:a16="http://schemas.microsoft.com/office/drawing/2014/main" id="{6549AFDE-6027-406C-A1D6-7E350D1F1AAB}"/>
              </a:ext>
            </a:extLst>
          </p:cNvPr>
          <p:cNvSpPr>
            <a:spLocks xmlns:a="http://schemas.openxmlformats.org/drawingml/2006/main" noGrp="1"/>
          </p:cNvSpPr>
          <p:nvPr/>
        </p:nvSpPr>
        <p:spPr>
          <a:xfrm xmlns:a="http://schemas.openxmlformats.org/drawingml/2006/main">
            <a:off x="3246120" y="5047488"/>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8FA6C0"/>
                </a:solidFill>
                <a:latin typeface="Calibri"/>
                <a:ea typeface="Calibri"/>
                <a:cs typeface="Calibri"/>
              </a:rPr>
              <a:t>Live provider calls on a</a:t>
            </a:r>
          </a:p>
          <a:p xmlns:a="http://schemas.openxmlformats.org/drawingml/2006/main">
            <a:pPr marL="0" indent="0">
              <a:lnSpc>
                <a:spcPct val="105000"/>
              </a:lnSpc>
              <a:buNone/>
            </a:pPr>
            <a:r>
              <a:rPr sz="1050">
                <a:solidFill>
                  <a:srgbClr val="8FA6C0"/>
                </a:solidFill>
                <a:latin typeface="Calibri"/>
                <a:ea typeface="Calibri"/>
                <a:cs typeface="Calibri"/>
              </a:rPr>
              <a:t>pinned public snapshot</a:t>
            </a:r>
          </a:p>
        </p:txBody>
      </p:sp>
      <p:sp>
        <p:nvSpPr>
          <p:cNvPr id="13" name="Text 11">
            <a:extLst xmlns:a="http://schemas.openxmlformats.org/drawingml/2006/main">
              <a:ext uri="{FF2B5EF4-FFF2-40B4-BE49-F238E27FC236}">
                <a16:creationId xmlns:a16="http://schemas.microsoft.com/office/drawing/2014/main" id="{46D8C737-1F26-4D80-9C0A-E44685688B27}"/>
              </a:ext>
            </a:extLst>
          </p:cNvPr>
          <p:cNvSpPr>
            <a:spLocks xmlns:a="http://schemas.openxmlformats.org/drawingml/2006/main" noGrp="1"/>
          </p:cNvSpPr>
          <p:nvPr/>
        </p:nvSpPr>
        <p:spPr>
          <a:xfrm xmlns:a="http://schemas.openxmlformats.org/drawingml/2006/main">
            <a:off x="5852160" y="475488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56B3BE"/>
                </a:solidFill>
                <a:latin typeface="Cambria"/>
                <a:ea typeface="Cambria"/>
                <a:cs typeface="Cambria"/>
              </a:rPr>
              <a:t>Demo suite</a:t>
            </a:r>
          </a:p>
        </p:txBody>
      </p:sp>
      <p:sp>
        <p:nvSpPr>
          <p:cNvPr id="14" name="Text 12">
            <a:extLst xmlns:a="http://schemas.openxmlformats.org/drawingml/2006/main">
              <a:ext uri="{FF2B5EF4-FFF2-40B4-BE49-F238E27FC236}">
                <a16:creationId xmlns:a16="http://schemas.microsoft.com/office/drawing/2014/main" id="{0A9AA230-251F-4889-9D1E-1826D9B8C9E8}"/>
              </a:ext>
            </a:extLst>
          </p:cNvPr>
          <p:cNvSpPr>
            <a:spLocks xmlns:a="http://schemas.openxmlformats.org/drawingml/2006/main" noGrp="1"/>
          </p:cNvSpPr>
          <p:nvPr/>
        </p:nvSpPr>
        <p:spPr>
          <a:xfrm xmlns:a="http://schemas.openxmlformats.org/drawingml/2006/main">
            <a:off x="5852160" y="5047488"/>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8FA6C0"/>
                </a:solidFill>
                <a:latin typeface="Calibri"/>
                <a:ea typeface="Calibri"/>
                <a:cs typeface="Calibri"/>
              </a:rPr>
              <a:t>6 workflow shapes,</a:t>
            </a:r>
          </a:p>
          <a:p xmlns:a="http://schemas.openxmlformats.org/drawingml/2006/main">
            <a:pPr marL="0" indent="0">
              <a:lnSpc>
                <a:spcPct val="105000"/>
              </a:lnSpc>
              <a:buNone/>
            </a:pPr>
            <a:r>
              <a:rPr sz="1050">
                <a:solidFill>
                  <a:srgbClr val="8FA6C0"/>
                </a:solidFill>
                <a:latin typeface="Calibri"/>
                <a:ea typeface="Calibri"/>
                <a:cs typeface="Calibri"/>
              </a:rPr>
              <a:t>3 negative controls</a:t>
            </a:r>
          </a:p>
        </p:txBody>
      </p:sp>
      <p:sp>
        <p:nvSpPr>
          <p:cNvPr id="15" name="Text 13">
            <a:extLst xmlns:a="http://schemas.openxmlformats.org/drawingml/2006/main">
              <a:ext uri="{FF2B5EF4-FFF2-40B4-BE49-F238E27FC236}">
                <a16:creationId xmlns:a16="http://schemas.microsoft.com/office/drawing/2014/main" id="{085A28D6-9BD2-4982-94A5-5743942A571D}"/>
              </a:ext>
            </a:extLst>
          </p:cNvPr>
          <p:cNvSpPr>
            <a:spLocks xmlns:a="http://schemas.openxmlformats.org/drawingml/2006/main" noGrp="1"/>
          </p:cNvSpPr>
          <p:nvPr/>
        </p:nvSpPr>
        <p:spPr>
          <a:xfrm xmlns:a="http://schemas.openxmlformats.org/drawingml/2006/main">
            <a:off x="640080" y="59436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43597C"/>
                </a:solidFill>
                <a:latin typeface="Calibri"/>
                <a:ea typeface="Calibri"/>
                <a:cs typeface="Calibri"/>
              </a:rPr>
              <a:t>Seminar presentation  ·  prepared by JazzX AI  ·  August 2026</a:t>
            </a:r>
          </a:p>
        </p:txBody>
      </p:sp>
    </p:spTree>
    <p:extLst>
      <p:ext uri="{BB962C8B-B14F-4D97-AF65-F5344CB8AC3E}">
        <p14:creationId xmlns:p14="http://schemas.microsoft.com/office/powerpoint/2010/main" val="9545530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8B8AB2-A027-49BB-84AF-1E94195A5F14}"/>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493C9095-330B-45F1-B037-738CFAB59EE4}"/>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a:t>
            </a:r>
          </a:p>
        </p:txBody>
      </p:sp>
      <p:sp>
        <p:nvSpPr>
          <p:cNvPr id="4" name="Text 2">
            <a:extLst xmlns:a="http://schemas.openxmlformats.org/drawingml/2006/main">
              <a:ext uri="{FF2B5EF4-FFF2-40B4-BE49-F238E27FC236}">
                <a16:creationId xmlns:a16="http://schemas.microsoft.com/office/drawing/2014/main" id="{79735734-042F-415F-9BE9-37B551AFFBEA}"/>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MOTIVATION</a:t>
            </a:r>
          </a:p>
        </p:txBody>
      </p:sp>
      <p:sp>
        <p:nvSpPr>
          <p:cNvPr id="5" name="Text 3">
            <a:extLst xmlns:a="http://schemas.openxmlformats.org/drawingml/2006/main">
              <a:ext uri="{FF2B5EF4-FFF2-40B4-BE49-F238E27FC236}">
                <a16:creationId xmlns:a16="http://schemas.microsoft.com/office/drawing/2014/main" id="{37BD9962-8577-4FD6-A810-250F32794FED}"/>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Recurrence is observable; admissibility is not</a:t>
            </a:r>
          </a:p>
        </p:txBody>
      </p:sp>
      <p:sp>
        <p:nvSpPr>
          <p:cNvPr id="6" name="Text 4">
            <a:extLst xmlns:a="http://schemas.openxmlformats.org/drawingml/2006/main">
              <a:ext uri="{FF2B5EF4-FFF2-40B4-BE49-F238E27FC236}">
                <a16:creationId xmlns:a16="http://schemas.microsoft.com/office/drawing/2014/main" id="{EE434FEB-90A1-4936-89BF-83269EA8B93B}"/>
              </a:ext>
            </a:extLst>
          </p:cNvPr>
          <p:cNvSpPr>
            <a:spLocks xmlns:a="http://schemas.openxmlformats.org/drawingml/2006/main" noGrp="1"/>
          </p:cNvSpPr>
          <p:nvPr/>
        </p:nvSpPr>
        <p:spPr>
          <a:xfrm xmlns:a="http://schemas.openxmlformats.org/drawingml/2006/main">
            <a:off x="640080" y="1280160"/>
            <a:ext cx="1091153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250">
                <a:solidFill>
                  <a:srgbClr val="24354F"/>
                </a:solidFill>
                <a:latin typeface="Calibri"/>
                <a:ea typeface="Calibri"/>
                <a:cs typeface="Calibri"/>
              </a:rPr>
              <a:t>A mature tool-using agent spends model calls reselecting the same read-only evidence path. Recurrence alone does not license removing them: </a:t>
            </a:r>
            <a:r>
              <a:rPr sz="1250" b="1">
                <a:solidFill>
                  <a:srgbClr val="24354F"/>
                </a:solidFill>
                <a:latin typeface="Calibri"/>
                <a:ea typeface="Calibri"/>
                <a:cs typeface="Calibri"/>
              </a:rPr>
              <a:t>an argument may not be grounded in observable state, an effect may not permit speculation, and a replacement may not hold on the next input.</a:t>
            </a:r>
          </a:p>
        </p:txBody>
      </p:sp>
      <p:sp>
        <p:nvSpPr>
          <p:cNvPr id="7" name="Text 5">
            <a:extLst xmlns:a="http://schemas.openxmlformats.org/drawingml/2006/main">
              <a:ext uri="{FF2B5EF4-FFF2-40B4-BE49-F238E27FC236}">
                <a16:creationId xmlns:a16="http://schemas.microsoft.com/office/drawing/2014/main" id="{ABDAE33C-2571-428A-9F01-253569A27905}"/>
              </a:ext>
            </a:extLst>
          </p:cNvPr>
          <p:cNvSpPr>
            <a:spLocks xmlns:a="http://schemas.openxmlformats.org/drawingml/2006/main" noGrp="1"/>
          </p:cNvSpPr>
          <p:nvPr/>
        </p:nvSpPr>
        <p:spPr>
          <a:xfrm xmlns:a="http://schemas.openxmlformats.org/drawingml/2006/main">
            <a:off x="640080" y="201168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FOUR STRUCTURAL HAZARDS A CACHE DOES NOT SEE</a:t>
            </a:r>
          </a:p>
        </p:txBody>
      </p:sp>
      <p:sp>
        <p:nvSpPr>
          <p:cNvPr id="8" name="Shape 6">
            <a:extLst xmlns:a="http://schemas.openxmlformats.org/drawingml/2006/main">
              <a:ext uri="{FF2B5EF4-FFF2-40B4-BE49-F238E27FC236}">
                <a16:creationId xmlns:a16="http://schemas.microsoft.com/office/drawing/2014/main" id="{D8699F75-F9A5-46C5-99AE-83CD11EE8C4C}"/>
              </a:ext>
            </a:extLst>
          </p:cNvPr>
          <p:cNvSpPr>
            <a:spLocks xmlns:a="http://schemas.openxmlformats.org/drawingml/2006/main" noGrp="1"/>
          </p:cNvSpPr>
          <p:nvPr/>
        </p:nvSpPr>
        <p:spPr>
          <a:xfrm xmlns:a="http://schemas.openxmlformats.org/drawingml/2006/main">
            <a:off x="640080" y="2322576"/>
            <a:ext cx="2563292" cy="1700784"/>
          </a:xfrm>
          <a:prstGeom xmlns:a="http://schemas.openxmlformats.org/drawingml/2006/main" prst="roundRect">
            <a:avLst>
              <a:gd name="adj" fmla="val 2688"/>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AE24CF2F-B5A4-406E-A552-42A71816B851}"/>
              </a:ext>
            </a:extLst>
          </p:cNvPr>
          <p:cNvSpPr>
            <a:spLocks xmlns:a="http://schemas.openxmlformats.org/drawingml/2006/main" noGrp="1"/>
          </p:cNvSpPr>
          <p:nvPr/>
        </p:nvSpPr>
        <p:spPr>
          <a:xfrm xmlns:a="http://schemas.openxmlformats.org/drawingml/2006/main">
            <a:off x="859536" y="2505456"/>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3EEF282D-BD83-4E7D-AE36-E6789A656043}"/>
              </a:ext>
            </a:extLst>
          </p:cNvPr>
          <p:cNvSpPr>
            <a:spLocks xmlns:a="http://schemas.openxmlformats.org/drawingml/2006/main" noGrp="1"/>
          </p:cNvSpPr>
          <p:nvPr/>
        </p:nvSpPr>
        <p:spPr>
          <a:xfrm xmlns:a="http://schemas.openxmlformats.org/drawingml/2006/main">
            <a:off x="859536" y="250545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11" name="Text 9">
            <a:extLst xmlns:a="http://schemas.openxmlformats.org/drawingml/2006/main">
              <a:ext uri="{FF2B5EF4-FFF2-40B4-BE49-F238E27FC236}">
                <a16:creationId xmlns:a16="http://schemas.microsoft.com/office/drawing/2014/main" id="{047E7201-D0E3-493F-BEA5-2AB4C743E9A3}"/>
              </a:ext>
            </a:extLst>
          </p:cNvPr>
          <p:cNvSpPr>
            <a:spLocks xmlns:a="http://schemas.openxmlformats.org/drawingml/2006/main" noGrp="1"/>
          </p:cNvSpPr>
          <p:nvPr/>
        </p:nvSpPr>
        <p:spPr>
          <a:xfrm xmlns:a="http://schemas.openxmlformats.org/drawingml/2006/main">
            <a:off x="1243584" y="2487168"/>
            <a:ext cx="17403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00" b="1">
                <a:solidFill>
                  <a:srgbClr val="A93B2B"/>
                </a:solidFill>
                <a:latin typeface="Cambria"/>
                <a:ea typeface="Cambria"/>
                <a:cs typeface="Cambria"/>
              </a:rPr>
              <a:t>Ungrounded argument</a:t>
            </a:r>
          </a:p>
        </p:txBody>
      </p:sp>
      <p:sp>
        <p:nvSpPr>
          <p:cNvPr id="12" name="Text 10">
            <a:extLst xmlns:a="http://schemas.openxmlformats.org/drawingml/2006/main">
              <a:ext uri="{FF2B5EF4-FFF2-40B4-BE49-F238E27FC236}">
                <a16:creationId xmlns:a16="http://schemas.microsoft.com/office/drawing/2014/main" id="{46D9ACEE-601B-4180-A996-2B08E155420C}"/>
              </a:ext>
            </a:extLst>
          </p:cNvPr>
          <p:cNvSpPr>
            <a:spLocks xmlns:a="http://schemas.openxmlformats.org/drawingml/2006/main" noGrp="1"/>
          </p:cNvSpPr>
          <p:nvPr/>
        </p:nvSpPr>
        <p:spPr>
          <a:xfrm xmlns:a="http://schemas.openxmlformats.org/drawingml/2006/main">
            <a:off x="877824" y="2907792"/>
            <a:ext cx="20878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00">
                <a:solidFill>
                  <a:srgbClr val="5C4034"/>
                </a:solidFill>
                <a:latin typeface="Calibri"/>
                <a:ea typeface="Calibri"/>
                <a:cs typeface="Calibri"/>
              </a:rPr>
              <a:t>No expression over entry state or prior results reproduces the value. The slot is a genuine model decision, and there is nothing to reconstruct it from.</a:t>
            </a:r>
          </a:p>
        </p:txBody>
      </p:sp>
      <p:sp>
        <p:nvSpPr>
          <p:cNvPr id="13" name="Shape 11">
            <a:extLst xmlns:a="http://schemas.openxmlformats.org/drawingml/2006/main">
              <a:ext uri="{FF2B5EF4-FFF2-40B4-BE49-F238E27FC236}">
                <a16:creationId xmlns:a16="http://schemas.microsoft.com/office/drawing/2014/main" id="{09DEC2E7-B574-42A5-AC36-22114582BBD2}"/>
              </a:ext>
            </a:extLst>
          </p:cNvPr>
          <p:cNvSpPr>
            <a:spLocks xmlns:a="http://schemas.openxmlformats.org/drawingml/2006/main" noGrp="1"/>
          </p:cNvSpPr>
          <p:nvPr/>
        </p:nvSpPr>
        <p:spPr>
          <a:xfrm xmlns:a="http://schemas.openxmlformats.org/drawingml/2006/main">
            <a:off x="3422828" y="2322576"/>
            <a:ext cx="2563292" cy="1700784"/>
          </a:xfrm>
          <a:prstGeom xmlns:a="http://schemas.openxmlformats.org/drawingml/2006/main" prst="roundRect">
            <a:avLst>
              <a:gd name="adj" fmla="val 2688"/>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44E52477-97F5-4ADB-926E-B2E56762C24D}"/>
              </a:ext>
            </a:extLst>
          </p:cNvPr>
          <p:cNvSpPr>
            <a:spLocks xmlns:a="http://schemas.openxmlformats.org/drawingml/2006/main" noGrp="1"/>
          </p:cNvSpPr>
          <p:nvPr/>
        </p:nvSpPr>
        <p:spPr>
          <a:xfrm xmlns:a="http://schemas.openxmlformats.org/drawingml/2006/main">
            <a:off x="3642284" y="2505456"/>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38AEC745-215A-4B38-AC32-3565E8FEFCDA}"/>
              </a:ext>
            </a:extLst>
          </p:cNvPr>
          <p:cNvSpPr>
            <a:spLocks xmlns:a="http://schemas.openxmlformats.org/drawingml/2006/main" noGrp="1"/>
          </p:cNvSpPr>
          <p:nvPr/>
        </p:nvSpPr>
        <p:spPr>
          <a:xfrm xmlns:a="http://schemas.openxmlformats.org/drawingml/2006/main">
            <a:off x="3642284" y="250545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16" name="Text 14">
            <a:extLst xmlns:a="http://schemas.openxmlformats.org/drawingml/2006/main">
              <a:ext uri="{FF2B5EF4-FFF2-40B4-BE49-F238E27FC236}">
                <a16:creationId xmlns:a16="http://schemas.microsoft.com/office/drawing/2014/main" id="{6E418781-42CE-400A-90CB-7B37C8291C45}"/>
              </a:ext>
            </a:extLst>
          </p:cNvPr>
          <p:cNvSpPr>
            <a:spLocks xmlns:a="http://schemas.openxmlformats.org/drawingml/2006/main" noGrp="1"/>
          </p:cNvSpPr>
          <p:nvPr/>
        </p:nvSpPr>
        <p:spPr>
          <a:xfrm xmlns:a="http://schemas.openxmlformats.org/drawingml/2006/main">
            <a:off x="4026332" y="2487168"/>
            <a:ext cx="17403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00" b="1">
                <a:solidFill>
                  <a:srgbClr val="A93B2B"/>
                </a:solidFill>
                <a:latin typeface="Cambria"/>
                <a:ea typeface="Cambria"/>
                <a:cs typeface="Cambria"/>
              </a:rPr>
              <a:t>Undeclared effect</a:t>
            </a:r>
          </a:p>
        </p:txBody>
      </p:sp>
      <p:sp>
        <p:nvSpPr>
          <p:cNvPr id="17" name="Text 15">
            <a:extLst xmlns:a="http://schemas.openxmlformats.org/drawingml/2006/main">
              <a:ext uri="{FF2B5EF4-FFF2-40B4-BE49-F238E27FC236}">
                <a16:creationId xmlns:a16="http://schemas.microsoft.com/office/drawing/2014/main" id="{2D169046-F752-4119-A3EC-C7BAF3F22155}"/>
              </a:ext>
            </a:extLst>
          </p:cNvPr>
          <p:cNvSpPr>
            <a:spLocks xmlns:a="http://schemas.openxmlformats.org/drawingml/2006/main" noGrp="1"/>
          </p:cNvSpPr>
          <p:nvPr/>
        </p:nvSpPr>
        <p:spPr>
          <a:xfrm xmlns:a="http://schemas.openxmlformats.org/drawingml/2006/main">
            <a:off x="3660572" y="2907792"/>
            <a:ext cx="20878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00">
                <a:solidFill>
                  <a:srgbClr val="5C4034"/>
                </a:solidFill>
                <a:latin typeface="Calibri"/>
                <a:ea typeface="Calibri"/>
                <a:cs typeface="Calibri"/>
              </a:rPr>
              <a:t>A nominal read may carry an external effect. An effect the catalog does not declare cannot be shown safe to speculate on, and an unknown effect is not a read.</a:t>
            </a:r>
          </a:p>
        </p:txBody>
      </p:sp>
      <p:sp>
        <p:nvSpPr>
          <p:cNvPr id="18" name="Shape 16">
            <a:extLst xmlns:a="http://schemas.openxmlformats.org/drawingml/2006/main">
              <a:ext uri="{FF2B5EF4-FFF2-40B4-BE49-F238E27FC236}">
                <a16:creationId xmlns:a16="http://schemas.microsoft.com/office/drawing/2014/main" id="{32D63DFB-8324-410F-BD04-FC3395CFBAAD}"/>
              </a:ext>
            </a:extLst>
          </p:cNvPr>
          <p:cNvSpPr>
            <a:spLocks xmlns:a="http://schemas.openxmlformats.org/drawingml/2006/main" noGrp="1"/>
          </p:cNvSpPr>
          <p:nvPr/>
        </p:nvSpPr>
        <p:spPr>
          <a:xfrm xmlns:a="http://schemas.openxmlformats.org/drawingml/2006/main">
            <a:off x="6205576" y="2322576"/>
            <a:ext cx="2563292" cy="1700784"/>
          </a:xfrm>
          <a:prstGeom xmlns:a="http://schemas.openxmlformats.org/drawingml/2006/main" prst="roundRect">
            <a:avLst>
              <a:gd name="adj" fmla="val 2688"/>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9" name="Shape 17">
            <a:extLst xmlns:a="http://schemas.openxmlformats.org/drawingml/2006/main">
              <a:ext uri="{FF2B5EF4-FFF2-40B4-BE49-F238E27FC236}">
                <a16:creationId xmlns:a16="http://schemas.microsoft.com/office/drawing/2014/main" id="{289332C1-9364-4BC4-8063-4518F7D38F48}"/>
              </a:ext>
            </a:extLst>
          </p:cNvPr>
          <p:cNvSpPr>
            <a:spLocks xmlns:a="http://schemas.openxmlformats.org/drawingml/2006/main" noGrp="1"/>
          </p:cNvSpPr>
          <p:nvPr/>
        </p:nvSpPr>
        <p:spPr>
          <a:xfrm xmlns:a="http://schemas.openxmlformats.org/drawingml/2006/main">
            <a:off x="6425032" y="2505456"/>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1535C2DC-DDB8-483E-9E32-450A2A3DD444}"/>
              </a:ext>
            </a:extLst>
          </p:cNvPr>
          <p:cNvSpPr>
            <a:spLocks xmlns:a="http://schemas.openxmlformats.org/drawingml/2006/main" noGrp="1"/>
          </p:cNvSpPr>
          <p:nvPr/>
        </p:nvSpPr>
        <p:spPr>
          <a:xfrm xmlns:a="http://schemas.openxmlformats.org/drawingml/2006/main">
            <a:off x="6425032" y="250545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21" name="Text 19">
            <a:extLst xmlns:a="http://schemas.openxmlformats.org/drawingml/2006/main">
              <a:ext uri="{FF2B5EF4-FFF2-40B4-BE49-F238E27FC236}">
                <a16:creationId xmlns:a16="http://schemas.microsoft.com/office/drawing/2014/main" id="{F3762CD0-4ABF-4AB6-AC0F-B57CA6E4D6E9}"/>
              </a:ext>
            </a:extLst>
          </p:cNvPr>
          <p:cNvSpPr>
            <a:spLocks xmlns:a="http://schemas.openxmlformats.org/drawingml/2006/main" noGrp="1"/>
          </p:cNvSpPr>
          <p:nvPr/>
        </p:nvSpPr>
        <p:spPr>
          <a:xfrm xmlns:a="http://schemas.openxmlformats.org/drawingml/2006/main">
            <a:off x="6809080" y="2487168"/>
            <a:ext cx="17403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00" b="1">
                <a:solidFill>
                  <a:srgbClr val="A93B2B"/>
                </a:solidFill>
                <a:latin typeface="Cambria"/>
                <a:ea typeface="Cambria"/>
                <a:cs typeface="Cambria"/>
              </a:rPr>
              <a:t>Barrier crossed</a:t>
            </a:r>
          </a:p>
        </p:txBody>
      </p:sp>
      <p:sp>
        <p:nvSpPr>
          <p:cNvPr id="22" name="Text 20">
            <a:extLst xmlns:a="http://schemas.openxmlformats.org/drawingml/2006/main">
              <a:ext uri="{FF2B5EF4-FFF2-40B4-BE49-F238E27FC236}">
                <a16:creationId xmlns:a16="http://schemas.microsoft.com/office/drawing/2014/main" id="{45A517A3-4F74-4D3B-A7C6-0BAE972E1511}"/>
              </a:ext>
            </a:extLst>
          </p:cNvPr>
          <p:cNvSpPr>
            <a:spLocks xmlns:a="http://schemas.openxmlformats.org/drawingml/2006/main" noGrp="1"/>
          </p:cNvSpPr>
          <p:nvPr/>
        </p:nvSpPr>
        <p:spPr>
          <a:xfrm xmlns:a="http://schemas.openxmlformats.org/drawingml/2006/main">
            <a:off x="6443320" y="2907792"/>
            <a:ext cx="20878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00">
                <a:solidFill>
                  <a:srgbClr val="5C4034"/>
                </a:solidFill>
                <a:latin typeface="Calibri"/>
                <a:ea typeface="Calibri"/>
                <a:cs typeface="Calibri"/>
              </a:rPr>
              <a:t>The repeated sequence may cross an approval, a write, a handoff, or a commit boundary. These are hard barriers, not costs to trade off against a saving.</a:t>
            </a:r>
          </a:p>
        </p:txBody>
      </p:sp>
      <p:sp>
        <p:nvSpPr>
          <p:cNvPr id="23" name="Shape 21">
            <a:extLst xmlns:a="http://schemas.openxmlformats.org/drawingml/2006/main">
              <a:ext uri="{FF2B5EF4-FFF2-40B4-BE49-F238E27FC236}">
                <a16:creationId xmlns:a16="http://schemas.microsoft.com/office/drawing/2014/main" id="{1C992A25-204C-4718-9F35-B02445823914}"/>
              </a:ext>
            </a:extLst>
          </p:cNvPr>
          <p:cNvSpPr>
            <a:spLocks xmlns:a="http://schemas.openxmlformats.org/drawingml/2006/main" noGrp="1"/>
          </p:cNvSpPr>
          <p:nvPr/>
        </p:nvSpPr>
        <p:spPr>
          <a:xfrm xmlns:a="http://schemas.openxmlformats.org/drawingml/2006/main">
            <a:off x="8988323" y="2322576"/>
            <a:ext cx="2563292" cy="1700784"/>
          </a:xfrm>
          <a:prstGeom xmlns:a="http://schemas.openxmlformats.org/drawingml/2006/main" prst="roundRect">
            <a:avLst>
              <a:gd name="adj" fmla="val 2688"/>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4" name="Shape 22">
            <a:extLst xmlns:a="http://schemas.openxmlformats.org/drawingml/2006/main">
              <a:ext uri="{FF2B5EF4-FFF2-40B4-BE49-F238E27FC236}">
                <a16:creationId xmlns:a16="http://schemas.microsoft.com/office/drawing/2014/main" id="{0CA1F1D0-34AA-4002-97D1-E2F583CB3C24}"/>
              </a:ext>
            </a:extLst>
          </p:cNvPr>
          <p:cNvSpPr>
            <a:spLocks xmlns:a="http://schemas.openxmlformats.org/drawingml/2006/main" noGrp="1"/>
          </p:cNvSpPr>
          <p:nvPr/>
        </p:nvSpPr>
        <p:spPr>
          <a:xfrm xmlns:a="http://schemas.openxmlformats.org/drawingml/2006/main">
            <a:off x="9207779" y="2505456"/>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28DAEAA2-254E-4920-967E-4BD8F54690CB}"/>
              </a:ext>
            </a:extLst>
          </p:cNvPr>
          <p:cNvSpPr>
            <a:spLocks xmlns:a="http://schemas.openxmlformats.org/drawingml/2006/main" noGrp="1"/>
          </p:cNvSpPr>
          <p:nvPr/>
        </p:nvSpPr>
        <p:spPr>
          <a:xfrm xmlns:a="http://schemas.openxmlformats.org/drawingml/2006/main">
            <a:off x="9207779" y="250545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26" name="Text 24">
            <a:extLst xmlns:a="http://schemas.openxmlformats.org/drawingml/2006/main">
              <a:ext uri="{FF2B5EF4-FFF2-40B4-BE49-F238E27FC236}">
                <a16:creationId xmlns:a16="http://schemas.microsoft.com/office/drawing/2014/main" id="{4199882E-4B52-4D27-8A4E-40DE4728C402}"/>
              </a:ext>
            </a:extLst>
          </p:cNvPr>
          <p:cNvSpPr>
            <a:spLocks xmlns:a="http://schemas.openxmlformats.org/drawingml/2006/main" noGrp="1"/>
          </p:cNvSpPr>
          <p:nvPr/>
        </p:nvSpPr>
        <p:spPr>
          <a:xfrm xmlns:a="http://schemas.openxmlformats.org/drawingml/2006/main">
            <a:off x="9591827" y="2487168"/>
            <a:ext cx="17403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00" b="1">
                <a:solidFill>
                  <a:srgbClr val="A93B2B"/>
                </a:solidFill>
                <a:latin typeface="Cambria"/>
                <a:ea typeface="Cambria"/>
                <a:cs typeface="Cambria"/>
              </a:rPr>
              <a:t>Drift on the next input</a:t>
            </a:r>
          </a:p>
        </p:txBody>
      </p:sp>
      <p:sp>
        <p:nvSpPr>
          <p:cNvPr id="27" name="Text 25">
            <a:extLst xmlns:a="http://schemas.openxmlformats.org/drawingml/2006/main">
              <a:ext uri="{FF2B5EF4-FFF2-40B4-BE49-F238E27FC236}">
                <a16:creationId xmlns:a16="http://schemas.microsoft.com/office/drawing/2014/main" id="{47FE5EDA-9816-4DAD-807D-07EB7A5C66F0}"/>
              </a:ext>
            </a:extLst>
          </p:cNvPr>
          <p:cNvSpPr>
            <a:spLocks xmlns:a="http://schemas.openxmlformats.org/drawingml/2006/main" noGrp="1"/>
          </p:cNvSpPr>
          <p:nvPr/>
        </p:nvSpPr>
        <p:spPr>
          <a:xfrm xmlns:a="http://schemas.openxmlformats.org/drawingml/2006/main">
            <a:off x="9226067" y="2907792"/>
            <a:ext cx="20878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00">
                <a:solidFill>
                  <a:srgbClr val="5C4034"/>
                </a:solidFill>
                <a:latin typeface="Calibri"/>
                <a:ea typeface="Calibri"/>
                <a:cs typeface="Calibri"/>
              </a:rPr>
              <a:t>An input resembling the training trace may violate a permission, freshness, or schema constraint that held when that trace was recorded.</a:t>
            </a:r>
          </a:p>
        </p:txBody>
      </p:sp>
      <p:sp>
        <p:nvSpPr>
          <p:cNvPr id="28" name="Shape 26">
            <a:extLst xmlns:a="http://schemas.openxmlformats.org/drawingml/2006/main">
              <a:ext uri="{FF2B5EF4-FFF2-40B4-BE49-F238E27FC236}">
                <a16:creationId xmlns:a16="http://schemas.microsoft.com/office/drawing/2014/main" id="{9DA62AEE-BC3D-4BAB-AC49-C8B318264712}"/>
              </a:ext>
            </a:extLst>
          </p:cNvPr>
          <p:cNvSpPr>
            <a:spLocks xmlns:a="http://schemas.openxmlformats.org/drawingml/2006/main" noGrp="1"/>
          </p:cNvSpPr>
          <p:nvPr/>
        </p:nvSpPr>
        <p:spPr>
          <a:xfrm xmlns:a="http://schemas.openxmlformats.org/drawingml/2006/main">
            <a:off x="640080" y="4261104"/>
            <a:ext cx="5291176" cy="1371600"/>
          </a:xfrm>
          <a:prstGeom xmlns:a="http://schemas.openxmlformats.org/drawingml/2006/main" prst="roundRect">
            <a:avLst>
              <a:gd name="adj" fmla="val 3333"/>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9" name="Text 27">
            <a:extLst xmlns:a="http://schemas.openxmlformats.org/drawingml/2006/main">
              <a:ext uri="{FF2B5EF4-FFF2-40B4-BE49-F238E27FC236}">
                <a16:creationId xmlns:a16="http://schemas.microsoft.com/office/drawing/2014/main" id="{2D577875-25BB-483A-ACD1-972D54BD1C86}"/>
              </a:ext>
            </a:extLst>
          </p:cNvPr>
          <p:cNvSpPr>
            <a:spLocks xmlns:a="http://schemas.openxmlformats.org/drawingml/2006/main" noGrp="1"/>
          </p:cNvSpPr>
          <p:nvPr/>
        </p:nvSpPr>
        <p:spPr>
          <a:xfrm xmlns:a="http://schemas.openxmlformats.org/drawingml/2006/main">
            <a:off x="896112" y="4389120"/>
            <a:ext cx="47791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0E1E3A"/>
                </a:solidFill>
                <a:latin typeface="Cambria"/>
                <a:ea typeface="Cambria"/>
                <a:cs typeface="Cambria"/>
              </a:rPr>
              <a:t>What a trace does establish</a:t>
            </a:r>
          </a:p>
        </p:txBody>
      </p:sp>
      <p:sp>
        <p:nvSpPr>
          <p:cNvPr id="30" name="Text 28">
            <a:extLst xmlns:a="http://schemas.openxmlformats.org/drawingml/2006/main">
              <a:ext uri="{FF2B5EF4-FFF2-40B4-BE49-F238E27FC236}">
                <a16:creationId xmlns:a16="http://schemas.microsoft.com/office/drawing/2014/main" id="{4C296D93-8F3F-4266-855B-214E25214927}"/>
              </a:ext>
            </a:extLst>
          </p:cNvPr>
          <p:cNvSpPr>
            <a:spLocks xmlns:a="http://schemas.openxmlformats.org/drawingml/2006/main" noGrp="1"/>
          </p:cNvSpPr>
          <p:nvPr/>
        </p:nvSpPr>
        <p:spPr>
          <a:xfrm xmlns:a="http://schemas.openxmlformats.org/drawingml/2006/main">
            <a:off x="896112" y="4681728"/>
            <a:ext cx="477911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7000"/>
              </a:lnSpc>
              <a:buNone/>
            </a:pPr>
            <a:r>
              <a:rPr sz="1100">
                <a:solidFill>
                  <a:srgbClr val="24354F"/>
                </a:solidFill>
                <a:latin typeface="Calibri"/>
                <a:ea typeface="Calibri"/>
                <a:cs typeface="Calibri"/>
              </a:rPr>
              <a:t>That a region recurs, with the same tool signatures, dependency topology, run shape, and live-in/out shape across independent scenario groups. That is a mining result, and it is what prior trace-based systems consume.</a:t>
            </a:r>
          </a:p>
        </p:txBody>
      </p:sp>
      <p:sp>
        <p:nvSpPr>
          <p:cNvPr id="31" name="Shape 29">
            <a:extLst xmlns:a="http://schemas.openxmlformats.org/drawingml/2006/main">
              <a:ext uri="{FF2B5EF4-FFF2-40B4-BE49-F238E27FC236}">
                <a16:creationId xmlns:a16="http://schemas.microsoft.com/office/drawing/2014/main" id="{3540D925-B234-4749-A337-57484E22AC88}"/>
              </a:ext>
            </a:extLst>
          </p:cNvPr>
          <p:cNvSpPr>
            <a:spLocks xmlns:a="http://schemas.openxmlformats.org/drawingml/2006/main" noGrp="1"/>
          </p:cNvSpPr>
          <p:nvPr/>
        </p:nvSpPr>
        <p:spPr>
          <a:xfrm xmlns:a="http://schemas.openxmlformats.org/drawingml/2006/main">
            <a:off x="6260440" y="4261104"/>
            <a:ext cx="5291176"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E0B8487C-2434-4C34-9F86-3331F1536DCC}"/>
              </a:ext>
            </a:extLst>
          </p:cNvPr>
          <p:cNvSpPr>
            <a:spLocks xmlns:a="http://schemas.openxmlformats.org/drawingml/2006/main" noGrp="1"/>
          </p:cNvSpPr>
          <p:nvPr/>
        </p:nvSpPr>
        <p:spPr>
          <a:xfrm xmlns:a="http://schemas.openxmlformats.org/drawingml/2006/main">
            <a:off x="6516472" y="4389120"/>
            <a:ext cx="47791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F8A99"/>
                </a:solidFill>
                <a:latin typeface="Cambria"/>
                <a:ea typeface="Cambria"/>
                <a:cs typeface="Cambria"/>
              </a:rPr>
              <a:t>What a compiler must additionally establish</a:t>
            </a:r>
          </a:p>
        </p:txBody>
      </p:sp>
      <p:sp>
        <p:nvSpPr>
          <p:cNvPr id="33" name="Text 31">
            <a:extLst xmlns:a="http://schemas.openxmlformats.org/drawingml/2006/main">
              <a:ext uri="{FF2B5EF4-FFF2-40B4-BE49-F238E27FC236}">
                <a16:creationId xmlns:a16="http://schemas.microsoft.com/office/drawing/2014/main" id="{50C4DC94-6CB3-4CB5-967F-CA5328985B3E}"/>
              </a:ext>
            </a:extLst>
          </p:cNvPr>
          <p:cNvSpPr>
            <a:spLocks xmlns:a="http://schemas.openxmlformats.org/drawingml/2006/main" noGrp="1"/>
          </p:cNvSpPr>
          <p:nvPr/>
        </p:nvSpPr>
        <p:spPr>
          <a:xfrm xmlns:a="http://schemas.openxmlformats.org/drawingml/2006/main">
            <a:off x="6516472" y="4681728"/>
            <a:ext cx="477911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7000"/>
              </a:lnSpc>
              <a:buNone/>
            </a:pPr>
            <a:r>
              <a:rPr sz="1100">
                <a:solidFill>
                  <a:srgbClr val="24354F"/>
                </a:solidFill>
                <a:latin typeface="Calibri"/>
                <a:ea typeface="Calibri"/>
                <a:cs typeface="Calibri"/>
              </a:rPr>
              <a:t>That every argument is grounded in observable state, that each tool's declared effects permit speculative execution, and that the residual error rate of the specialized region carries a finite-sample bound. The missing argument, not the missing optimizer.</a:t>
            </a:r>
          </a:p>
        </p:txBody>
      </p:sp>
      <p:sp>
        <p:nvSpPr>
          <p:cNvPr id="34" name="Text 32">
            <a:extLst xmlns:a="http://schemas.openxmlformats.org/drawingml/2006/main">
              <a:ext uri="{FF2B5EF4-FFF2-40B4-BE49-F238E27FC236}">
                <a16:creationId xmlns:a16="http://schemas.microsoft.com/office/drawing/2014/main" id="{13AEF141-0080-4296-9623-7B6FCAF60A7F}"/>
              </a:ext>
            </a:extLst>
          </p:cNvPr>
          <p:cNvSpPr>
            <a:spLocks xmlns:a="http://schemas.openxmlformats.org/drawingml/2006/main" noGrp="1"/>
          </p:cNvSpPr>
          <p:nvPr/>
        </p:nvSpPr>
        <p:spPr>
          <a:xfrm xmlns:a="http://schemas.openxmlformats.org/drawingml/2006/main">
            <a:off x="640080" y="5797296"/>
            <a:ext cx="1091153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5A6B84"/>
                </a:solidFill>
                <a:latin typeface="Calibri"/>
                <a:ea typeface="Calibri"/>
                <a:cs typeface="Calibri"/>
              </a:rPr>
              <a:t>Deleting a model decision is a semantic change, not a memoization — which is why each hazard is checked structurally, and why no amount of statistical evidence can override a barrier hit.</a:t>
            </a:r>
          </a:p>
        </p:txBody>
      </p:sp>
    </p:spTree>
    <p:extLst>
      <p:ext uri="{BB962C8B-B14F-4D97-AF65-F5344CB8AC3E}">
        <p14:creationId xmlns:p14="http://schemas.microsoft.com/office/powerpoint/2010/main" val="20446710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0D3387-5C88-4F0A-9AE9-42AC648483A9}"/>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11FF81F-86BF-4C92-AED4-D79CF25B4ABA}"/>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3</a:t>
            </a:r>
          </a:p>
        </p:txBody>
      </p:sp>
      <p:sp>
        <p:nvSpPr>
          <p:cNvPr id="4" name="Text 2">
            <a:extLst xmlns:a="http://schemas.openxmlformats.org/drawingml/2006/main">
              <a:ext uri="{FF2B5EF4-FFF2-40B4-BE49-F238E27FC236}">
                <a16:creationId xmlns:a16="http://schemas.microsoft.com/office/drawing/2014/main" id="{55AD03D9-449D-4B6B-ADB2-4676D6141E5D}"/>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RELATED WORK  ·  §6 AND §7.1  ·  TABLE 8</a:t>
            </a:r>
          </a:p>
        </p:txBody>
      </p:sp>
      <p:sp>
        <p:nvSpPr>
          <p:cNvPr id="5" name="Text 3">
            <a:extLst xmlns:a="http://schemas.openxmlformats.org/drawingml/2006/main">
              <a:ext uri="{FF2B5EF4-FFF2-40B4-BE49-F238E27FC236}">
                <a16:creationId xmlns:a16="http://schemas.microsoft.com/office/drawing/2014/main" id="{2E3683E5-CD72-41E7-957B-12FD9E908FEB}"/>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Positioning: “admission” is how a candidate rewrite is permitted</a:t>
            </a:r>
          </a:p>
        </p:txBody>
      </p:sp>
      <p:graphicFrame>
        <p:nvGraphicFramePr>
          <p:cNvPr id="6" name="Table 0"/>
          <p:cNvGraphicFramePr/>
          <p:nvPr/>
        </p:nvGraphicFramePr>
        <p:xfrm>
          <a:off xmlns:a="http://schemas.openxmlformats.org/drawingml/2006/main" x="640080" y="1170432"/>
          <a:ext xmlns:a="http://schemas.openxmlformats.org/drawingml/2006/main" cx="10908792" cy="2816352"/>
        </p:xfrm>
        <a:graphic xmlns:a="http://schemas.openxmlformats.org/drawingml/2006/main">
          <a:graphicData uri="http://schemas.openxmlformats.org/drawingml/2006/table">
            <a:tbl>
              <a:tblPr/>
              <a:tblGrid>
                <a:gridCol w="1600200"/>
                <a:gridCol w="2331720"/>
                <a:gridCol w="2423160"/>
                <a:gridCol w="2148840"/>
                <a:gridCol w="2404872"/>
              </a:tblGrid>
              <a:tr h="256032">
                <a:tc>
                  <a:txBody>
                    <a:bodyPr/>
                    <a:lstStyle/>
                    <a:p>
                      <a:pPr marL="0" indent="0">
                        <a:buNone/>
                      </a:pPr>
                      <a:r>
                        <a:rPr sz="900" b="1">
                          <a:solidFill>
                            <a:srgbClr val="FFFFFF"/>
                          </a:solidFill>
                          <a:latin typeface="Calibri"/>
                          <a:ea typeface="Calibri"/>
                          <a:cs typeface="Calibri"/>
                        </a:rPr>
                        <a:t>System</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Source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Rewrite target</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Hard safety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Admission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r>
              <a:tr h="256032">
                <a:tc>
                  <a:txBody>
                    <a:bodyPr/>
                    <a:lstStyle/>
                    <a:p>
                      <a:pPr marL="0" indent="0">
                        <a:buNone/>
                      </a:pPr>
                      <a:r>
                        <a:rPr sz="900">
                          <a:solidFill>
                            <a:srgbClr val="24354F"/>
                          </a:solidFill>
                          <a:latin typeface="Calibri"/>
                          <a:ea typeface="Calibri"/>
                          <a:cs typeface="Calibri"/>
                        </a:rPr>
                        <a:t>LLMCompiler</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Current-query scheduling</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Parallel tool calls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56032">
                <a:tc>
                  <a:txBody>
                    <a:bodyPr/>
                    <a:lstStyle/>
                    <a:p>
                      <a:pPr marL="0" indent="0">
                        <a:buNone/>
                      </a:pPr>
                      <a:r>
                        <a:rPr sz="900">
                          <a:solidFill>
                            <a:srgbClr val="24354F"/>
                          </a:solidFill>
                          <a:latin typeface="Calibri"/>
                          <a:ea typeface="Calibri"/>
                          <a:cs typeface="Calibri"/>
                        </a:rPr>
                        <a:t>DSPy / MIPRO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Prompt / program parameters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Metric optimization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56032">
                <a:tc>
                  <a:txBody>
                    <a:bodyPr/>
                    <a:lstStyle/>
                    <a:p>
                      <a:pPr marL="0" indent="0">
                        <a:buNone/>
                      </a:pPr>
                      <a:r>
                        <a:rPr sz="900">
                          <a:solidFill>
                            <a:srgbClr val="24354F"/>
                          </a:solidFill>
                          <a:latin typeface="Calibri"/>
                          <a:ea typeface="Calibri"/>
                          <a:cs typeface="Calibri"/>
                        </a:rPr>
                        <a:t>GEPA</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Execution + evaluation traces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Reflective prompt evolution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Held-out metric + Pareto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56032">
                <a:tc>
                  <a:txBody>
                    <a:bodyPr/>
                    <a:lstStyle/>
                    <a:p>
                      <a:pPr marL="0" indent="0">
                        <a:buNone/>
                      </a:pPr>
                      <a:r>
                        <a:rPr sz="900">
                          <a:solidFill>
                            <a:srgbClr val="24354F"/>
                          </a:solidFill>
                          <a:latin typeface="Calibri"/>
                          <a:ea typeface="Calibri"/>
                          <a:cs typeface="Calibri"/>
                        </a:rPr>
                        <a:t>AgentSlimming</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Multi-agent graph</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Node pruning / quantization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Baseline rule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56032">
                <a:tc>
                  <a:txBody>
                    <a:bodyPr/>
                    <a:lstStyle/>
                    <a:p>
                      <a:pPr marL="0" indent="0">
                        <a:buNone/>
                      </a:pPr>
                      <a:r>
                        <a:rPr sz="900">
                          <a:solidFill>
                            <a:srgbClr val="24354F"/>
                          </a:solidFill>
                          <a:latin typeface="Calibri"/>
                          <a:ea typeface="Calibri"/>
                          <a:cs typeface="Calibri"/>
                        </a:rPr>
                        <a:t>AWO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Trace tool sequences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Deterministic meta-tools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Empirical</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56032">
                <a:tc>
                  <a:txBody>
                    <a:bodyPr/>
                    <a:lstStyle/>
                    <a:p>
                      <a:pPr marL="0" indent="0">
                        <a:buNone/>
                      </a:pPr>
                      <a:r>
                        <a:rPr sz="900">
                          <a:solidFill>
                            <a:srgbClr val="24354F"/>
                          </a:solidFill>
                          <a:latin typeface="Calibri"/>
                          <a:ea typeface="Calibri"/>
                          <a:cs typeface="Calibri"/>
                        </a:rPr>
                        <a:t>Agent JIT</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Task description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Validated code + schedule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Tool pre/post invariants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Candidate validation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56032">
                <a:tc>
                  <a:txBody>
                    <a:bodyPr/>
                    <a:lstStyle/>
                    <a:p>
                      <a:pPr marL="0" indent="0">
                        <a:buNone/>
                      </a:pPr>
                      <a:r>
                        <a:rPr sz="900">
                          <a:solidFill>
                            <a:srgbClr val="24354F"/>
                          </a:solidFill>
                          <a:latin typeface="Calibri"/>
                          <a:ea typeface="Calibri"/>
                          <a:cs typeface="Calibri"/>
                        </a:rPr>
                        <a:t>EvoC2F</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Plan IR + trajectories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DAG compiler + macro-skills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Effects + resources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Tests + contracts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56032">
                <a:tc>
                  <a:txBody>
                    <a:bodyPr/>
                    <a:lstStyle/>
                    <a:p>
                      <a:pPr marL="0" indent="0">
                        <a:buNone/>
                      </a:pPr>
                      <a:r>
                        <a:rPr sz="900">
                          <a:solidFill>
                            <a:srgbClr val="24354F"/>
                          </a:solidFill>
                          <a:latin typeface="Calibri"/>
                          <a:ea typeface="Calibri"/>
                          <a:cs typeface="Calibri"/>
                        </a:rPr>
                        <a:t>FlowCompile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Declared workflow</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Configuration Pareto set</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No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900">
                          <a:solidFill>
                            <a:srgbClr val="24354F"/>
                          </a:solidFill>
                          <a:latin typeface="Calibri"/>
                          <a:ea typeface="Calibri"/>
                          <a:cs typeface="Calibri"/>
                        </a:rPr>
                        <a:t>Profiled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56032">
                <a:tc>
                  <a:txBody>
                    <a:bodyPr/>
                    <a:lstStyle/>
                    <a:p>
                      <a:pPr marL="0" indent="0">
                        <a:buNone/>
                      </a:pPr>
                      <a:r>
                        <a:rPr sz="900">
                          <a:solidFill>
                            <a:srgbClr val="24354F"/>
                          </a:solidFill>
                          <a:latin typeface="Calibri"/>
                          <a:ea typeface="Calibri"/>
                          <a:cs typeface="Calibri"/>
                        </a:rPr>
                        <a:t>COVENANT</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Declared policy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Workflow CFG</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Effects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buNone/>
                      </a:pPr>
                      <a:r>
                        <a:rPr sz="900">
                          <a:solidFill>
                            <a:srgbClr val="24354F"/>
                          </a:solidFill>
                          <a:latin typeface="Calibri"/>
                          <a:ea typeface="Calibri"/>
                          <a:cs typeface="Calibri"/>
                        </a:rPr>
                        <a:t>Runtime checks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56032">
                <a:tc>
                  <a:txBody>
                    <a:bodyPr/>
                    <a:lstStyle/>
                    <a:p>
                      <a:pPr marL="0" indent="0">
                        <a:buNone/>
                      </a:pPr>
                      <a:r>
                        <a:rPr sz="900" b="1">
                          <a:solidFill>
                            <a:srgbClr val="0E1E3A"/>
                          </a:solidFill>
                          <a:latin typeface="Calibri"/>
                          <a:ea typeface="Calibri"/>
                          <a:cs typeface="Calibri"/>
                        </a:rPr>
                        <a:t>GAC (ours)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8F4F5"/>
                    </a:solidFill>
                  </a:tcPr>
                </a:tc>
                <a:tc>
                  <a:txBody>
                    <a:bodyPr/>
                    <a:lstStyle/>
                    <a:p>
                      <a:pPr marL="0" indent="0">
                        <a:buNone/>
                      </a:pPr>
                      <a:r>
                        <a:rPr sz="900" b="1">
                          <a:solidFill>
                            <a:srgbClr val="0E1E3A"/>
                          </a:solidFill>
                          <a:latin typeface="Calibri"/>
                          <a:ea typeface="Calibri"/>
                          <a:cs typeface="Calibri"/>
                        </a:rPr>
                        <a:t>Observed value flow</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8F4F5"/>
                    </a:solidFill>
                  </a:tcPr>
                </a:tc>
                <a:tc>
                  <a:txBody>
                    <a:bodyPr/>
                    <a:lstStyle/>
                    <a:p>
                      <a:pPr marL="0" indent="0">
                        <a:buNone/>
                      </a:pPr>
                      <a:r>
                        <a:rPr sz="900" b="1">
                          <a:solidFill>
                            <a:srgbClr val="0E1E3A"/>
                          </a:solidFill>
                          <a:latin typeface="Calibri"/>
                          <a:ea typeface="Calibri"/>
                          <a:cs typeface="Calibri"/>
                        </a:rPr>
                        <a:t>Decision-eliding program</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8F4F5"/>
                    </a:solidFill>
                  </a:tcPr>
                </a:tc>
                <a:tc>
                  <a:txBody>
                    <a:bodyPr/>
                    <a:lstStyle/>
                    <a:p>
                      <a:pPr marL="0" indent="0">
                        <a:buNone/>
                      </a:pPr>
                      <a:r>
                        <a:rPr sz="900" b="1">
                          <a:solidFill>
                            <a:srgbClr val="0E1E3A"/>
                          </a:solidFill>
                          <a:latin typeface="Calibri"/>
                          <a:ea typeface="Calibri"/>
                          <a:cs typeface="Calibri"/>
                        </a:rPr>
                        <a:t>Provenance + effects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8F4F5"/>
                    </a:solidFill>
                  </a:tcPr>
                </a:tc>
                <a:tc>
                  <a:txBody>
                    <a:bodyPr/>
                    <a:lstStyle/>
                    <a:p>
                      <a:pPr marL="0" indent="0">
                        <a:buNone/>
                      </a:pPr>
                      <a:r>
                        <a:rPr sz="900" b="1">
                          <a:solidFill>
                            <a:srgbClr val="0E1E3A"/>
                          </a:solidFill>
                          <a:latin typeface="Calibri"/>
                          <a:ea typeface="Calibri"/>
                          <a:cs typeface="Calibri"/>
                        </a:rPr>
                        <a:t>Exact selective bound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8F4F5"/>
                    </a:solidFill>
                  </a:tcPr>
                </a:tc>
              </a:tr>
            </a:tbl>
          </a:graphicData>
        </a:graphic>
      </p:graphicFrame>
      <p:sp>
        <p:nvSpPr>
          <p:cNvPr id="7" name="Shape 4">
            <a:extLst xmlns:a="http://schemas.openxmlformats.org/drawingml/2006/main">
              <a:ext uri="{FF2B5EF4-FFF2-40B4-BE49-F238E27FC236}">
                <a16:creationId xmlns:a16="http://schemas.microsoft.com/office/drawing/2014/main" id="{E4D0F16E-15E3-4A4F-8CE0-62703D921DC5}"/>
              </a:ext>
            </a:extLst>
          </p:cNvPr>
          <p:cNvSpPr>
            <a:spLocks xmlns:a="http://schemas.openxmlformats.org/drawingml/2006/main" noGrp="1"/>
          </p:cNvSpPr>
          <p:nvPr/>
        </p:nvSpPr>
        <p:spPr>
          <a:xfrm xmlns:a="http://schemas.openxmlformats.org/drawingml/2006/main">
            <a:off x="640080" y="4279392"/>
            <a:ext cx="5291176" cy="1609344"/>
          </a:xfrm>
          <a:prstGeom xmlns:a="http://schemas.openxmlformats.org/drawingml/2006/main" prst="roundRect">
            <a:avLst>
              <a:gd name="adj" fmla="val 2841"/>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A0A1FBD3-65E6-4F0C-9439-37668B194570}"/>
              </a:ext>
            </a:extLst>
          </p:cNvPr>
          <p:cNvSpPr>
            <a:spLocks xmlns:a="http://schemas.openxmlformats.org/drawingml/2006/main" noGrp="1"/>
          </p:cNvSpPr>
          <p:nvPr/>
        </p:nvSpPr>
        <p:spPr>
          <a:xfrm xmlns:a="http://schemas.openxmlformats.org/drawingml/2006/main">
            <a:off x="896112" y="4407408"/>
            <a:ext cx="47791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A93B2B"/>
                </a:solidFill>
                <a:latin typeface="Cambria"/>
                <a:ea typeface="Cambria"/>
                <a:cs typeface="Cambria"/>
              </a:rPr>
              <a:t>What is not claimed as novel</a:t>
            </a:r>
          </a:p>
        </p:txBody>
      </p:sp>
      <p:sp>
        <p:nvSpPr>
          <p:cNvPr id="9" name="Text 6">
            <a:extLst xmlns:a="http://schemas.openxmlformats.org/drawingml/2006/main">
              <a:ext uri="{FF2B5EF4-FFF2-40B4-BE49-F238E27FC236}">
                <a16:creationId xmlns:a16="http://schemas.microsoft.com/office/drawing/2014/main" id="{85529636-9EB0-445F-A345-9CF432862E99}"/>
              </a:ext>
            </a:extLst>
          </p:cNvPr>
          <p:cNvSpPr>
            <a:spLocks xmlns:a="http://schemas.openxmlformats.org/drawingml/2006/main" noGrp="1"/>
          </p:cNvSpPr>
          <p:nvPr/>
        </p:nvSpPr>
        <p:spPr>
          <a:xfrm xmlns:a="http://schemas.openxmlformats.org/drawingml/2006/main">
            <a:off x="896112" y="4700016"/>
            <a:ext cx="4779112"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a:solidFill>
                  <a:srgbClr val="5C4034"/>
                </a:solidFill>
                <a:latin typeface="Calibri"/>
                <a:ea typeface="Calibri"/>
                <a:cs typeface="Calibri"/>
              </a:rPr>
              <a:t>Generic agent compilation is occupied territory. We claim none of: the first agent compiler, the first trace-derived workflow, the first deterministic macro, the first effect-aware agent IR, or the first observation that token and cost reduction diverge. Agent JIT and EvoC2F are closer compiler comparators than prompt-only optimizers, and these experiments establish superiority to neither — AWO, AWM, LLMCompiler, FlowCompile and plan caching were not re-implemented.</a:t>
            </a:r>
          </a:p>
        </p:txBody>
      </p:sp>
      <p:sp>
        <p:nvSpPr>
          <p:cNvPr id="10" name="Shape 7">
            <a:extLst xmlns:a="http://schemas.openxmlformats.org/drawingml/2006/main">
              <a:ext uri="{FF2B5EF4-FFF2-40B4-BE49-F238E27FC236}">
                <a16:creationId xmlns:a16="http://schemas.microsoft.com/office/drawing/2014/main" id="{47BE70A2-DD7B-4AA1-B2ED-23281900A3B2}"/>
              </a:ext>
            </a:extLst>
          </p:cNvPr>
          <p:cNvSpPr>
            <a:spLocks xmlns:a="http://schemas.openxmlformats.org/drawingml/2006/main" noGrp="1"/>
          </p:cNvSpPr>
          <p:nvPr/>
        </p:nvSpPr>
        <p:spPr>
          <a:xfrm xmlns:a="http://schemas.openxmlformats.org/drawingml/2006/main">
            <a:off x="6260440" y="4279392"/>
            <a:ext cx="5291176" cy="1609344"/>
          </a:xfrm>
          <a:prstGeom xmlns:a="http://schemas.openxmlformats.org/drawingml/2006/main" prst="roundRect">
            <a:avLst>
              <a:gd name="adj" fmla="val 2841"/>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D394FBCC-5884-4169-BEFF-2B7E60D6CE58}"/>
              </a:ext>
            </a:extLst>
          </p:cNvPr>
          <p:cNvSpPr>
            <a:spLocks xmlns:a="http://schemas.openxmlformats.org/drawingml/2006/main" noGrp="1"/>
          </p:cNvSpPr>
          <p:nvPr/>
        </p:nvSpPr>
        <p:spPr>
          <a:xfrm xmlns:a="http://schemas.openxmlformats.org/drawingml/2006/main">
            <a:off x="6516472" y="4407408"/>
            <a:ext cx="47791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F8A99"/>
                </a:solidFill>
                <a:latin typeface="Cambria"/>
                <a:ea typeface="Cambria"/>
                <a:cs typeface="Cambria"/>
              </a:rPr>
              <a:t>The comparative statement</a:t>
            </a:r>
          </a:p>
        </p:txBody>
      </p:sp>
      <p:sp>
        <p:nvSpPr>
          <p:cNvPr id="12" name="Text 9">
            <a:extLst xmlns:a="http://schemas.openxmlformats.org/drawingml/2006/main">
              <a:ext uri="{FF2B5EF4-FFF2-40B4-BE49-F238E27FC236}">
                <a16:creationId xmlns:a16="http://schemas.microsoft.com/office/drawing/2014/main" id="{A7F5E6CA-F614-4F48-8407-91FAB1F7572A}"/>
              </a:ext>
            </a:extLst>
          </p:cNvPr>
          <p:cNvSpPr>
            <a:spLocks xmlns:a="http://schemas.openxmlformats.org/drawingml/2006/main" noGrp="1"/>
          </p:cNvSpPr>
          <p:nvPr/>
        </p:nvSpPr>
        <p:spPr>
          <a:xfrm xmlns:a="http://schemas.openxmlformats.org/drawingml/2006/main">
            <a:off x="6516472" y="4700016"/>
            <a:ext cx="4779112"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a:solidFill>
                  <a:srgbClr val="24354F"/>
                </a:solidFill>
                <a:latin typeface="Calibri"/>
                <a:ea typeface="Calibri"/>
                <a:cs typeface="Calibri"/>
              </a:rPr>
              <a:t>GAC is a tracing JIT whose guard must certify things a compiler's guard never had to. A classical guard checks types and shapes; this one must additionally establish that every argument is grounded in observable state, that each tool's declared effects permit speculation, and that the residual error rate of the specialized region carries a finite-sample bound. Each of the five elements has predecessors — the contribution is that an agent guard needs all five at once, and the finite-sample element is currently the weakest.</a:t>
            </a:r>
          </a:p>
        </p:txBody>
      </p:sp>
    </p:spTree>
    <p:extLst>
      <p:ext uri="{BB962C8B-B14F-4D97-AF65-F5344CB8AC3E}">
        <p14:creationId xmlns:p14="http://schemas.microsoft.com/office/powerpoint/2010/main" val="14915284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C1642AB-9166-446B-AE41-C19AD1BF052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8BA7E545-8AB7-4040-8C1F-A1445073F38A}"/>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4</a:t>
            </a:r>
          </a:p>
        </p:txBody>
      </p:sp>
      <p:sp>
        <p:nvSpPr>
          <p:cNvPr id="4" name="Text 2">
            <a:extLst xmlns:a="http://schemas.openxmlformats.org/drawingml/2006/main">
              <a:ext uri="{FF2B5EF4-FFF2-40B4-BE49-F238E27FC236}">
                <a16:creationId xmlns:a16="http://schemas.microsoft.com/office/drawing/2014/main" id="{9D47BCB7-363C-49D6-9C77-5A2A10E08703}"/>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SCOPE</a:t>
            </a:r>
          </a:p>
        </p:txBody>
      </p:sp>
      <p:sp>
        <p:nvSpPr>
          <p:cNvPr id="5" name="Text 3">
            <a:extLst xmlns:a="http://schemas.openxmlformats.org/drawingml/2006/main">
              <a:ext uri="{FF2B5EF4-FFF2-40B4-BE49-F238E27FC236}">
                <a16:creationId xmlns:a16="http://schemas.microsoft.com/office/drawing/2014/main" id="{F57DECB7-7597-485A-B14A-927DAFFAB8CF}"/>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The research problem, and what the paper claims</a:t>
            </a:r>
          </a:p>
        </p:txBody>
      </p:sp>
      <p:sp>
        <p:nvSpPr>
          <p:cNvPr id="6" name="Shape 4">
            <a:extLst xmlns:a="http://schemas.openxmlformats.org/drawingml/2006/main">
              <a:ext uri="{FF2B5EF4-FFF2-40B4-BE49-F238E27FC236}">
                <a16:creationId xmlns:a16="http://schemas.microsoft.com/office/drawing/2014/main" id="{5CF7C4CB-52C9-41E7-A9DB-98F029F4C550}"/>
              </a:ext>
            </a:extLst>
          </p:cNvPr>
          <p:cNvSpPr>
            <a:spLocks xmlns:a="http://schemas.openxmlformats.org/drawingml/2006/main" noGrp="1"/>
          </p:cNvSpPr>
          <p:nvPr/>
        </p:nvSpPr>
        <p:spPr>
          <a:xfrm xmlns:a="http://schemas.openxmlformats.org/drawingml/2006/main">
            <a:off x="640080" y="1243584"/>
            <a:ext cx="10911535" cy="932688"/>
          </a:xfrm>
          <a:prstGeom xmlns:a="http://schemas.openxmlformats.org/drawingml/2006/main" prst="roundRect">
            <a:avLst>
              <a:gd name="adj" fmla="val 4902"/>
            </a:avLst>
          </a:prstGeom>
          <a:solidFill xmlns:a="http://schemas.openxmlformats.org/drawingml/2006/main">
            <a:srgbClr val="0E1E3A"/>
          </a:solidFill>
          <a:ln xmlns:a="http://schemas.openxmlformats.org/drawingml/2006/main" w="9525">
            <a:solidFill>
              <a:srgbClr val="0E1E3A"/>
            </a:solidFill>
            <a:prstDash val="solid"/>
          </a:ln>
          <a:effectLst xmlns:a="http://schemas.openxmlformats.org/drawingml/2006/main">
            <a:outerShdw blurRad="114300" dist="17780" dir="5400000" algn="bl" rotWithShape="0">
              <a:srgbClr val="94A6BC">
                <a:alpha val="20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0379D42B-BCD3-4E4F-AA54-DD8FE4A16860}"/>
              </a:ext>
            </a:extLst>
          </p:cNvPr>
          <p:cNvSpPr>
            <a:spLocks xmlns:a="http://schemas.openxmlformats.org/drawingml/2006/main" noGrp="1"/>
          </p:cNvSpPr>
          <p:nvPr/>
        </p:nvSpPr>
        <p:spPr>
          <a:xfrm xmlns:a="http://schemas.openxmlformats.org/drawingml/2006/main">
            <a:off x="1024128" y="1371600"/>
            <a:ext cx="10143439"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400" i="1">
                <a:solidFill>
                  <a:srgbClr val="FFFFFF"/>
                </a:solidFill>
                <a:latin typeface="Cambria"/>
                <a:ea typeface="Cambria"/>
                <a:cs typeface="Cambria"/>
              </a:rPr>
              <a:t>Given historical executions of a tool-using agent, identify a deterministic region that can replace model-mediated control flow, and dispatch it only where observable evidence supports that replacement.</a:t>
            </a:r>
          </a:p>
        </p:txBody>
      </p:sp>
      <p:sp>
        <p:nvSpPr>
          <p:cNvPr id="8" name="Text 6">
            <a:extLst xmlns:a="http://schemas.openxmlformats.org/drawingml/2006/main">
              <a:ext uri="{FF2B5EF4-FFF2-40B4-BE49-F238E27FC236}">
                <a16:creationId xmlns:a16="http://schemas.microsoft.com/office/drawing/2014/main" id="{EB2077D3-E4FD-467A-82F7-D16B62667581}"/>
              </a:ext>
            </a:extLst>
          </p:cNvPr>
          <p:cNvSpPr>
            <a:spLocks xmlns:a="http://schemas.openxmlformats.org/drawingml/2006/main" noGrp="1"/>
          </p:cNvSpPr>
          <p:nvPr/>
        </p:nvSpPr>
        <p:spPr>
          <a:xfrm xmlns:a="http://schemas.openxmlformats.org/drawingml/2006/main">
            <a:off x="640080" y="2377440"/>
            <a:ext cx="527288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RESEARCH QUESTIONS</a:t>
            </a:r>
          </a:p>
        </p:txBody>
      </p:sp>
      <p:sp>
        <p:nvSpPr>
          <p:cNvPr id="9" name="Shape 7">
            <a:extLst xmlns:a="http://schemas.openxmlformats.org/drawingml/2006/main">
              <a:ext uri="{FF2B5EF4-FFF2-40B4-BE49-F238E27FC236}">
                <a16:creationId xmlns:a16="http://schemas.microsoft.com/office/drawing/2014/main" id="{8AF46C28-FBA4-4CA2-B06E-346F0CF06E58}"/>
              </a:ext>
            </a:extLst>
          </p:cNvPr>
          <p:cNvSpPr>
            <a:spLocks xmlns:a="http://schemas.openxmlformats.org/drawingml/2006/main" noGrp="1"/>
          </p:cNvSpPr>
          <p:nvPr/>
        </p:nvSpPr>
        <p:spPr>
          <a:xfrm xmlns:a="http://schemas.openxmlformats.org/drawingml/2006/main">
            <a:off x="640080" y="2651760"/>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D0DA9EAB-8E1C-48AB-8D51-F87C94B284C0}"/>
              </a:ext>
            </a:extLst>
          </p:cNvPr>
          <p:cNvSpPr>
            <a:spLocks xmlns:a="http://schemas.openxmlformats.org/drawingml/2006/main" noGrp="1"/>
          </p:cNvSpPr>
          <p:nvPr/>
        </p:nvSpPr>
        <p:spPr>
          <a:xfrm xmlns:a="http://schemas.openxmlformats.org/drawingml/2006/main">
            <a:off x="640080" y="26517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RQ1</a:t>
            </a:r>
          </a:p>
        </p:txBody>
      </p:sp>
      <p:sp>
        <p:nvSpPr>
          <p:cNvPr id="11" name="Text 9">
            <a:extLst xmlns:a="http://schemas.openxmlformats.org/drawingml/2006/main">
              <a:ext uri="{FF2B5EF4-FFF2-40B4-BE49-F238E27FC236}">
                <a16:creationId xmlns:a16="http://schemas.microsoft.com/office/drawing/2014/main" id="{B30C408B-320E-4E1E-BAD6-2CB64647A5FA}"/>
              </a:ext>
            </a:extLst>
          </p:cNvPr>
          <p:cNvSpPr>
            <a:spLocks xmlns:a="http://schemas.openxmlformats.org/drawingml/2006/main" noGrp="1"/>
          </p:cNvSpPr>
          <p:nvPr/>
        </p:nvSpPr>
        <p:spPr>
          <a:xfrm xmlns:a="http://schemas.openxmlformats.org/drawingml/2006/main">
            <a:off x="1170432" y="2633472"/>
            <a:ext cx="474253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150">
                <a:solidFill>
                  <a:srgbClr val="24354F"/>
                </a:solidFill>
                <a:latin typeface="Calibri"/>
                <a:ea typeface="Calibri"/>
                <a:cs typeface="Calibri"/>
              </a:rPr>
              <a:t>Can typed trace provenance reconstruct the dependencies needed to synthesize recurrent tool programs?</a:t>
            </a:r>
          </a:p>
        </p:txBody>
      </p:sp>
      <p:sp>
        <p:nvSpPr>
          <p:cNvPr id="12" name="Shape 10">
            <a:extLst xmlns:a="http://schemas.openxmlformats.org/drawingml/2006/main">
              <a:ext uri="{FF2B5EF4-FFF2-40B4-BE49-F238E27FC236}">
                <a16:creationId xmlns:a16="http://schemas.microsoft.com/office/drawing/2014/main" id="{4F512C3A-5A8A-460A-ABF9-E997D256F1A5}"/>
              </a:ext>
            </a:extLst>
          </p:cNvPr>
          <p:cNvSpPr>
            <a:spLocks xmlns:a="http://schemas.openxmlformats.org/drawingml/2006/main" noGrp="1"/>
          </p:cNvSpPr>
          <p:nvPr/>
        </p:nvSpPr>
        <p:spPr>
          <a:xfrm xmlns:a="http://schemas.openxmlformats.org/drawingml/2006/main">
            <a:off x="640080" y="3364992"/>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BECE7D13-A4F5-48D4-9457-0CFF32BCB529}"/>
              </a:ext>
            </a:extLst>
          </p:cNvPr>
          <p:cNvSpPr>
            <a:spLocks xmlns:a="http://schemas.openxmlformats.org/drawingml/2006/main" noGrp="1"/>
          </p:cNvSpPr>
          <p:nvPr/>
        </p:nvSpPr>
        <p:spPr>
          <a:xfrm xmlns:a="http://schemas.openxmlformats.org/drawingml/2006/main">
            <a:off x="640080" y="336499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RQ2</a:t>
            </a:r>
          </a:p>
        </p:txBody>
      </p:sp>
      <p:sp>
        <p:nvSpPr>
          <p:cNvPr id="14" name="Text 12">
            <a:extLst xmlns:a="http://schemas.openxmlformats.org/drawingml/2006/main">
              <a:ext uri="{FF2B5EF4-FFF2-40B4-BE49-F238E27FC236}">
                <a16:creationId xmlns:a16="http://schemas.microsoft.com/office/drawing/2014/main" id="{624A88B3-8699-4F50-A984-D4E692D25C76}"/>
              </a:ext>
            </a:extLst>
          </p:cNvPr>
          <p:cNvSpPr>
            <a:spLocks xmlns:a="http://schemas.openxmlformats.org/drawingml/2006/main" noGrp="1"/>
          </p:cNvSpPr>
          <p:nvPr/>
        </p:nvSpPr>
        <p:spPr>
          <a:xfrm xmlns:a="http://schemas.openxmlformats.org/drawingml/2006/main">
            <a:off x="1170432" y="3346704"/>
            <a:ext cx="4742536" cy="758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150">
                <a:solidFill>
                  <a:srgbClr val="24354F"/>
                </a:solidFill>
                <a:latin typeface="Calibri"/>
                <a:ea typeface="Calibri"/>
                <a:cs typeface="Calibri"/>
              </a:rPr>
              <a:t>Across distinct real-record workflow families, do guarded programs preserve exact outcomes while reducing requests, tokens, latency, and cost—and how do they compare with fair manual programs?</a:t>
            </a:r>
          </a:p>
        </p:txBody>
      </p:sp>
      <p:sp>
        <p:nvSpPr>
          <p:cNvPr id="15" name="Shape 13">
            <a:extLst xmlns:a="http://schemas.openxmlformats.org/drawingml/2006/main">
              <a:ext uri="{FF2B5EF4-FFF2-40B4-BE49-F238E27FC236}">
                <a16:creationId xmlns:a16="http://schemas.microsoft.com/office/drawing/2014/main" id="{AAFB9DB8-D67D-405D-8923-1D43542D05AA}"/>
              </a:ext>
            </a:extLst>
          </p:cNvPr>
          <p:cNvSpPr>
            <a:spLocks xmlns:a="http://schemas.openxmlformats.org/drawingml/2006/main" noGrp="1"/>
          </p:cNvSpPr>
          <p:nvPr/>
        </p:nvSpPr>
        <p:spPr>
          <a:xfrm xmlns:a="http://schemas.openxmlformats.org/drawingml/2006/main">
            <a:off x="640080" y="4270248"/>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26278B5F-CD53-4DCA-B555-8B47DD164D9E}"/>
              </a:ext>
            </a:extLst>
          </p:cNvPr>
          <p:cNvSpPr>
            <a:spLocks xmlns:a="http://schemas.openxmlformats.org/drawingml/2006/main" noGrp="1"/>
          </p:cNvSpPr>
          <p:nvPr/>
        </p:nvSpPr>
        <p:spPr>
          <a:xfrm xmlns:a="http://schemas.openxmlformats.org/drawingml/2006/main">
            <a:off x="640080" y="427024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RQ3</a:t>
            </a:r>
          </a:p>
        </p:txBody>
      </p:sp>
      <p:sp>
        <p:nvSpPr>
          <p:cNvPr id="17" name="Text 15">
            <a:extLst xmlns:a="http://schemas.openxmlformats.org/drawingml/2006/main">
              <a:ext uri="{FF2B5EF4-FFF2-40B4-BE49-F238E27FC236}">
                <a16:creationId xmlns:a16="http://schemas.microsoft.com/office/drawing/2014/main" id="{A84F0183-A6D5-488D-8141-813E140B54BF}"/>
              </a:ext>
            </a:extLst>
          </p:cNvPr>
          <p:cNvSpPr>
            <a:spLocks xmlns:a="http://schemas.openxmlformats.org/drawingml/2006/main" noGrp="1"/>
          </p:cNvSpPr>
          <p:nvPr/>
        </p:nvSpPr>
        <p:spPr>
          <a:xfrm xmlns:a="http://schemas.openxmlformats.org/drawingml/2006/main">
            <a:off x="1170432" y="4251960"/>
            <a:ext cx="474253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150">
                <a:solidFill>
                  <a:srgbClr val="24354F"/>
                </a:solidFill>
                <a:latin typeface="Calibri"/>
                <a:ea typeface="Calibri"/>
                <a:cs typeface="Calibri"/>
              </a:rPr>
              <a:t>Does exact selective admission reject recurrent families when calibration support is inadequate?</a:t>
            </a:r>
          </a:p>
        </p:txBody>
      </p:sp>
      <p:sp>
        <p:nvSpPr>
          <p:cNvPr id="18" name="Shape 16">
            <a:extLst xmlns:a="http://schemas.openxmlformats.org/drawingml/2006/main">
              <a:ext uri="{FF2B5EF4-FFF2-40B4-BE49-F238E27FC236}">
                <a16:creationId xmlns:a16="http://schemas.microsoft.com/office/drawing/2014/main" id="{6BC1213D-DA42-4FA5-8CE2-DFF282E79482}"/>
              </a:ext>
            </a:extLst>
          </p:cNvPr>
          <p:cNvSpPr>
            <a:spLocks xmlns:a="http://schemas.openxmlformats.org/drawingml/2006/main" noGrp="1"/>
          </p:cNvSpPr>
          <p:nvPr/>
        </p:nvSpPr>
        <p:spPr>
          <a:xfrm xmlns:a="http://schemas.openxmlformats.org/drawingml/2006/main">
            <a:off x="640080" y="4983480"/>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72F1841D-A3AF-477A-B7EF-ED8F0680A943}"/>
              </a:ext>
            </a:extLst>
          </p:cNvPr>
          <p:cNvSpPr>
            <a:spLocks xmlns:a="http://schemas.openxmlformats.org/drawingml/2006/main" noGrp="1"/>
          </p:cNvSpPr>
          <p:nvPr/>
        </p:nvSpPr>
        <p:spPr>
          <a:xfrm xmlns:a="http://schemas.openxmlformats.org/drawingml/2006/main">
            <a:off x="640080" y="498348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RQ4</a:t>
            </a:r>
          </a:p>
        </p:txBody>
      </p:sp>
      <p:sp>
        <p:nvSpPr>
          <p:cNvPr id="20" name="Text 18">
            <a:extLst xmlns:a="http://schemas.openxmlformats.org/drawingml/2006/main">
              <a:ext uri="{FF2B5EF4-FFF2-40B4-BE49-F238E27FC236}">
                <a16:creationId xmlns:a16="http://schemas.microsoft.com/office/drawing/2014/main" id="{C027E8B7-26A3-46D3-8B7D-4D4DDC8D01A0}"/>
              </a:ext>
            </a:extLst>
          </p:cNvPr>
          <p:cNvSpPr>
            <a:spLocks xmlns:a="http://schemas.openxmlformats.org/drawingml/2006/main" noGrp="1"/>
          </p:cNvSpPr>
          <p:nvPr/>
        </p:nvSpPr>
        <p:spPr>
          <a:xfrm xmlns:a="http://schemas.openxmlformats.org/drawingml/2006/main">
            <a:off x="1170432" y="4965192"/>
            <a:ext cx="474253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150">
                <a:solidFill>
                  <a:srgbClr val="24354F"/>
                </a:solidFill>
                <a:latin typeface="Calibri"/>
                <a:ea typeface="Calibri"/>
                <a:cs typeface="Calibri"/>
              </a:rPr>
              <a:t>Which failure modes remain after structural compilation, and what does compaction not improve?</a:t>
            </a:r>
          </a:p>
        </p:txBody>
      </p:sp>
      <p:sp>
        <p:nvSpPr>
          <p:cNvPr id="21" name="Shape 19">
            <a:extLst xmlns:a="http://schemas.openxmlformats.org/drawingml/2006/main">
              <a:ext uri="{FF2B5EF4-FFF2-40B4-BE49-F238E27FC236}">
                <a16:creationId xmlns:a16="http://schemas.microsoft.com/office/drawing/2014/main" id="{78C6547A-90EE-4F58-B0C7-D172FFE3B1CF}"/>
              </a:ext>
            </a:extLst>
          </p:cNvPr>
          <p:cNvSpPr>
            <a:spLocks xmlns:a="http://schemas.openxmlformats.org/drawingml/2006/main" noGrp="1"/>
          </p:cNvSpPr>
          <p:nvPr/>
        </p:nvSpPr>
        <p:spPr>
          <a:xfrm xmlns:a="http://schemas.openxmlformats.org/drawingml/2006/main">
            <a:off x="640080" y="5696712"/>
            <a:ext cx="384048" cy="384048"/>
          </a:xfrm>
          <a:prstGeom xmlns:a="http://schemas.openxmlformats.org/drawingml/2006/main" prst="ellipse">
            <a:avLst/>
          </a:prstGeom>
          <a:solidFill xmlns:a="http://schemas.openxmlformats.org/drawingml/2006/main">
            <a:srgbClr val="56B3BE"/>
          </a:solidFill>
          <a:ln xmlns:a="http://schemas.openxmlformats.org/drawingml/2006/main" w="635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AC86A419-9AEA-46CE-A324-85CB6BA06D8E}"/>
              </a:ext>
            </a:extLst>
          </p:cNvPr>
          <p:cNvSpPr>
            <a:spLocks xmlns:a="http://schemas.openxmlformats.org/drawingml/2006/main" noGrp="1"/>
          </p:cNvSpPr>
          <p:nvPr/>
        </p:nvSpPr>
        <p:spPr>
          <a:xfrm xmlns:a="http://schemas.openxmlformats.org/drawingml/2006/main">
            <a:off x="640080" y="56967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RQ5</a:t>
            </a:r>
          </a:p>
        </p:txBody>
      </p:sp>
      <p:sp>
        <p:nvSpPr>
          <p:cNvPr id="23" name="Text 21">
            <a:extLst xmlns:a="http://schemas.openxmlformats.org/drawingml/2006/main">
              <a:ext uri="{FF2B5EF4-FFF2-40B4-BE49-F238E27FC236}">
                <a16:creationId xmlns:a16="http://schemas.microsoft.com/office/drawing/2014/main" id="{02C24414-05A1-4F48-A26C-A6B33E8219FA}"/>
              </a:ext>
            </a:extLst>
          </p:cNvPr>
          <p:cNvSpPr>
            <a:spLocks xmlns:a="http://schemas.openxmlformats.org/drawingml/2006/main" noGrp="1"/>
          </p:cNvSpPr>
          <p:nvPr/>
        </p:nvSpPr>
        <p:spPr>
          <a:xfrm xmlns:a="http://schemas.openxmlformats.org/drawingml/2006/main">
            <a:off x="1170432" y="5678424"/>
            <a:ext cx="474253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150">
                <a:solidFill>
                  <a:srgbClr val="24354F"/>
                </a:solidFill>
                <a:latin typeface="Calibri"/>
                <a:ea typeface="Calibri"/>
                <a:cs typeface="Calibri"/>
              </a:rPr>
              <a:t>Can group-level paired evidence select a risk-bounded action before a fresh cohort?</a:t>
            </a:r>
          </a:p>
        </p:txBody>
      </p:sp>
      <p:sp>
        <p:nvSpPr>
          <p:cNvPr id="24" name="Text 22">
            <a:extLst xmlns:a="http://schemas.openxmlformats.org/drawingml/2006/main">
              <a:ext uri="{FF2B5EF4-FFF2-40B4-BE49-F238E27FC236}">
                <a16:creationId xmlns:a16="http://schemas.microsoft.com/office/drawing/2014/main" id="{C53B652C-B266-4FB5-B153-B5E9E0B0519D}"/>
              </a:ext>
            </a:extLst>
          </p:cNvPr>
          <p:cNvSpPr>
            <a:spLocks xmlns:a="http://schemas.openxmlformats.org/drawingml/2006/main" noGrp="1"/>
          </p:cNvSpPr>
          <p:nvPr/>
        </p:nvSpPr>
        <p:spPr>
          <a:xfrm xmlns:a="http://schemas.openxmlformats.org/drawingml/2006/main">
            <a:off x="6278728" y="2377440"/>
            <a:ext cx="527288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CONTRIBUTIONS</a:t>
            </a:r>
          </a:p>
        </p:txBody>
      </p:sp>
      <p:sp>
        <p:nvSpPr>
          <p:cNvPr id="25" name="Shape 23">
            <a:extLst xmlns:a="http://schemas.openxmlformats.org/drawingml/2006/main">
              <a:ext uri="{FF2B5EF4-FFF2-40B4-BE49-F238E27FC236}">
                <a16:creationId xmlns:a16="http://schemas.microsoft.com/office/drawing/2014/main" id="{E912B470-6261-44C4-964E-B1DCE0D23C18}"/>
              </a:ext>
            </a:extLst>
          </p:cNvPr>
          <p:cNvSpPr>
            <a:spLocks xmlns:a="http://schemas.openxmlformats.org/drawingml/2006/main" noGrp="1"/>
          </p:cNvSpPr>
          <p:nvPr/>
        </p:nvSpPr>
        <p:spPr>
          <a:xfrm xmlns:a="http://schemas.openxmlformats.org/drawingml/2006/main">
            <a:off x="6278728" y="2615184"/>
            <a:ext cx="5272888" cy="2286000"/>
          </a:xfrm>
          <a:prstGeom xmlns:a="http://schemas.openxmlformats.org/drawingml/2006/main" prst="roundRect">
            <a:avLst>
              <a:gd name="adj" fmla="val 2000"/>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6" name="Text 24">
            <a:extLst xmlns:a="http://schemas.openxmlformats.org/drawingml/2006/main">
              <a:ext uri="{FF2B5EF4-FFF2-40B4-BE49-F238E27FC236}">
                <a16:creationId xmlns:a16="http://schemas.microsoft.com/office/drawing/2014/main" id="{257EF6C0-022E-41E7-920C-779BD394EF20}"/>
              </a:ext>
            </a:extLst>
          </p:cNvPr>
          <p:cNvSpPr>
            <a:spLocks xmlns:a="http://schemas.openxmlformats.org/drawingml/2006/main" noGrp="1"/>
          </p:cNvSpPr>
          <p:nvPr/>
        </p:nvSpPr>
        <p:spPr>
          <a:xfrm xmlns:a="http://schemas.openxmlformats.org/drawingml/2006/main">
            <a:off x="6516472" y="2761488"/>
            <a:ext cx="47974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A trace-to-program formulation combining typed value provenance, effect-aware barriers, a closed synthesis language, empirical contracts, and runtime fallback</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A dispatch protocol whose score is frozen before calibration and whose fixed threshold grid receives a simultaneous one-sided exact binomial bound</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A 90-case real-provider study spanning three decisions, tool vocabularies, and exact graders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An identifier-aware contract refinement derived from an archived failed pilot</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NESTFUL and API-Bank refusal evidence plus a supplementary interoperability ledger</a:t>
            </a:r>
          </a:p>
        </p:txBody>
      </p:sp>
      <p:sp>
        <p:nvSpPr>
          <p:cNvPr id="27" name="Shape 25">
            <a:extLst xmlns:a="http://schemas.openxmlformats.org/drawingml/2006/main">
              <a:ext uri="{FF2B5EF4-FFF2-40B4-BE49-F238E27FC236}">
                <a16:creationId xmlns:a16="http://schemas.microsoft.com/office/drawing/2014/main" id="{D19DAD66-8656-48EA-B4C8-441C988E1A6F}"/>
              </a:ext>
            </a:extLst>
          </p:cNvPr>
          <p:cNvSpPr>
            <a:spLocks xmlns:a="http://schemas.openxmlformats.org/drawingml/2006/main" noGrp="1"/>
          </p:cNvSpPr>
          <p:nvPr/>
        </p:nvSpPr>
        <p:spPr>
          <a:xfrm xmlns:a="http://schemas.openxmlformats.org/drawingml/2006/main">
            <a:off x="6278728" y="5029200"/>
            <a:ext cx="5272888" cy="1170432"/>
          </a:xfrm>
          <a:prstGeom xmlns:a="http://schemas.openxmlformats.org/drawingml/2006/main" prst="roundRect">
            <a:avLst>
              <a:gd name="adj" fmla="val 390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AFAF5FD4-386E-4EE0-AF30-9C38F09D31A0}"/>
              </a:ext>
            </a:extLst>
          </p:cNvPr>
          <p:cNvSpPr>
            <a:spLocks xmlns:a="http://schemas.openxmlformats.org/drawingml/2006/main" noGrp="1"/>
          </p:cNvSpPr>
          <p:nvPr/>
        </p:nvSpPr>
        <p:spPr>
          <a:xfrm xmlns:a="http://schemas.openxmlformats.org/drawingml/2006/main">
            <a:off x="6516472" y="5157216"/>
            <a:ext cx="479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A93B2B"/>
                </a:solidFill>
                <a:latin typeface="Cambria"/>
                <a:ea typeface="Cambria"/>
                <a:cs typeface="Cambria"/>
              </a:rPr>
              <a:t>Explicitly not claimed</a:t>
            </a:r>
          </a:p>
        </p:txBody>
      </p:sp>
      <p:sp>
        <p:nvSpPr>
          <p:cNvPr id="29" name="Text 27">
            <a:extLst xmlns:a="http://schemas.openxmlformats.org/drawingml/2006/main">
              <a:ext uri="{FF2B5EF4-FFF2-40B4-BE49-F238E27FC236}">
                <a16:creationId xmlns:a16="http://schemas.microsoft.com/office/drawing/2014/main" id="{41CDFC62-0EB4-4779-BCA2-9EAC04CB2D55}"/>
              </a:ext>
            </a:extLst>
          </p:cNvPr>
          <p:cNvSpPr>
            <a:spLocks xmlns:a="http://schemas.openxmlformats.org/drawingml/2006/main" noGrp="1"/>
          </p:cNvSpPr>
          <p:nvPr/>
        </p:nvSpPr>
        <p:spPr>
          <a:xfrm xmlns:a="http://schemas.openxmlformats.org/drawingml/2006/main">
            <a:off x="6516472" y="5449824"/>
            <a:ext cx="47974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50">
                <a:solidFill>
                  <a:srgbClr val="5C4034"/>
                </a:solidFill>
                <a:latin typeface="Calibri"/>
                <a:ea typeface="Calibri"/>
                <a:cs typeface="Calibri"/>
              </a:rPr>
              <a:t>universal semantic equivalence  ·  production certification  ·  cross-domain generalization  ·  fewer necessary tool calls  ·  deterministic natural-language generation</a:t>
            </a:r>
          </a:p>
        </p:txBody>
      </p:sp>
    </p:spTree>
    <p:extLst>
      <p:ext uri="{BB962C8B-B14F-4D97-AF65-F5344CB8AC3E}">
        <p14:creationId xmlns:p14="http://schemas.microsoft.com/office/powerpoint/2010/main" val="691915279"/>
      </p:ext>
    </p:extLst>
  </p:cSld>
</p:sld>
</file>

<file path=ppt/slides/slide5.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828BB7-3E93-4A1E-9268-6D62C893D96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43597C"/>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299E24B3-7740-4872-BCA4-02D4099E99B2}"/>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43597C"/>
                </a:solidFill>
                <a:latin typeface="Calibri"/>
                <a:ea typeface="Calibri"/>
                <a:cs typeface="Calibri"/>
              </a:rPr>
              <a:t>5</a:t>
            </a:r>
          </a:p>
        </p:txBody>
      </p:sp>
      <p:sp>
        <p:nvSpPr>
          <p:cNvPr id="4" name="Shape 2">
            <a:extLst xmlns:a="http://schemas.openxmlformats.org/drawingml/2006/main">
              <a:ext uri="{FF2B5EF4-FFF2-40B4-BE49-F238E27FC236}">
                <a16:creationId xmlns:a16="http://schemas.microsoft.com/office/drawing/2014/main" id="{0BB607D2-D3D2-475A-9CBB-4B983EC15CCB}"/>
              </a:ext>
            </a:extLst>
          </p:cNvPr>
          <p:cNvSpPr>
            <a:spLocks xmlns:a="http://schemas.openxmlformats.org/drawingml/2006/main" noGrp="1"/>
          </p:cNvSpPr>
          <p:nvPr/>
        </p:nvSpPr>
        <p:spPr>
          <a:xfrm xmlns:a="http://schemas.openxmlformats.org/drawingml/2006/main">
            <a:off x="9326880" y="914400"/>
            <a:ext cx="5120640" cy="5120640"/>
          </a:xfrm>
          <a:prstGeom xmlns:a="http://schemas.openxmlformats.org/drawingml/2006/main" prst="ellipse">
            <a:avLst/>
          </a:prstGeom>
          <a:solidFill xmlns:a="http://schemas.openxmlformats.org/drawingml/2006/main">
            <a:srgbClr val="1A3563">
              <a:alpha val="60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EA5F3CAF-C5A0-4004-9B42-214F7F96840B}"/>
              </a:ext>
            </a:extLst>
          </p:cNvPr>
          <p:cNvSpPr>
            <a:spLocks xmlns:a="http://schemas.openxmlformats.org/drawingml/2006/main" noGrp="1"/>
          </p:cNvSpPr>
          <p:nvPr/>
        </p:nvSpPr>
        <p:spPr>
          <a:xfrm xmlns:a="http://schemas.openxmlformats.org/drawingml/2006/main">
            <a:off x="10607040" y="2194560"/>
            <a:ext cx="2560320" cy="2560320"/>
          </a:xfrm>
          <a:prstGeom xmlns:a="http://schemas.openxmlformats.org/drawingml/2006/main" prst="ellipse">
            <a:avLst/>
          </a:prstGeom>
          <a:solidFill xmlns:a="http://schemas.openxmlformats.org/drawingml/2006/main">
            <a:srgbClr val="1F8A99">
              <a:alpha val="45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A9AB1A9D-D1BA-4C18-9596-07085A137C99}"/>
              </a:ext>
            </a:extLst>
          </p:cNvPr>
          <p:cNvSpPr>
            <a:spLocks xmlns:a="http://schemas.openxmlformats.org/drawingml/2006/main" noGrp="1"/>
          </p:cNvSpPr>
          <p:nvPr/>
        </p:nvSpPr>
        <p:spPr>
          <a:xfrm xmlns:a="http://schemas.openxmlformats.org/drawingml/2006/main">
            <a:off x="640080" y="2148840"/>
            <a:ext cx="14630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600" b="1">
                <a:solidFill>
                  <a:srgbClr val="56B3BE"/>
                </a:solidFill>
                <a:latin typeface="Cambria"/>
                <a:ea typeface="Cambria"/>
                <a:cs typeface="Cambria"/>
              </a:rPr>
              <a:t>I</a:t>
            </a:r>
          </a:p>
        </p:txBody>
      </p:sp>
      <p:sp>
        <p:nvSpPr>
          <p:cNvPr id="7" name="Text 5">
            <a:extLst xmlns:a="http://schemas.openxmlformats.org/drawingml/2006/main">
              <a:ext uri="{FF2B5EF4-FFF2-40B4-BE49-F238E27FC236}">
                <a16:creationId xmlns:a16="http://schemas.microsoft.com/office/drawing/2014/main" id="{1E31F77B-CD64-48DB-9979-8AB100DED118}"/>
              </a:ext>
            </a:extLst>
          </p:cNvPr>
          <p:cNvSpPr>
            <a:spLocks xmlns:a="http://schemas.openxmlformats.org/drawingml/2006/main" noGrp="1"/>
          </p:cNvSpPr>
          <p:nvPr/>
        </p:nvSpPr>
        <p:spPr>
          <a:xfrm xmlns:a="http://schemas.openxmlformats.org/drawingml/2006/main">
            <a:off x="2240280" y="2286000"/>
            <a:ext cx="6766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Problem formulation</a:t>
            </a:r>
          </a:p>
        </p:txBody>
      </p:sp>
      <p:sp>
        <p:nvSpPr>
          <p:cNvPr id="8" name="Text 6">
            <a:extLst xmlns:a="http://schemas.openxmlformats.org/drawingml/2006/main">
              <a:ext uri="{FF2B5EF4-FFF2-40B4-BE49-F238E27FC236}">
                <a16:creationId xmlns:a16="http://schemas.microsoft.com/office/drawing/2014/main" id="{B4B37EA4-2130-46BA-9032-33C0D6BCA227}"/>
              </a:ext>
            </a:extLst>
          </p:cNvPr>
          <p:cNvSpPr>
            <a:spLocks xmlns:a="http://schemas.openxmlformats.org/drawingml/2006/main" noGrp="1"/>
          </p:cNvSpPr>
          <p:nvPr/>
        </p:nvSpPr>
        <p:spPr>
          <a:xfrm xmlns:a="http://schemas.openxmlformats.org/drawingml/2006/main">
            <a:off x="2267712" y="3017520"/>
            <a:ext cx="6675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350">
                <a:solidFill>
                  <a:srgbClr val="9BD0D6"/>
                </a:solidFill>
                <a:latin typeface="Calibri"/>
                <a:ea typeface="Calibri"/>
                <a:cs typeface="Calibri"/>
              </a:rPr>
              <a:t>Episodes, candidate regions, groundability, effect admissibility, the position invariant, and the selective objective.</a:t>
            </a:r>
          </a:p>
        </p:txBody>
      </p:sp>
    </p:spTree>
    <p:extLst>
      <p:ext uri="{BB962C8B-B14F-4D97-AF65-F5344CB8AC3E}">
        <p14:creationId xmlns:p14="http://schemas.microsoft.com/office/powerpoint/2010/main" val="12632047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0E672B-A6D2-4EED-BDB4-FEB9A0A555D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704BAF99-1DC8-42C5-81D7-78F611314F90}"/>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6</a:t>
            </a:r>
          </a:p>
        </p:txBody>
      </p:sp>
      <p:sp>
        <p:nvSpPr>
          <p:cNvPr id="4" name="Text 2">
            <a:extLst xmlns:a="http://schemas.openxmlformats.org/drawingml/2006/main">
              <a:ext uri="{FF2B5EF4-FFF2-40B4-BE49-F238E27FC236}">
                <a16:creationId xmlns:a16="http://schemas.microsoft.com/office/drawing/2014/main" id="{F0AE32D9-77A3-4A82-85EA-5598A9F3C73A}"/>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FORMULATION  ·  §2.1</a:t>
            </a:r>
          </a:p>
        </p:txBody>
      </p:sp>
      <p:sp>
        <p:nvSpPr>
          <p:cNvPr id="5" name="Text 3">
            <a:extLst xmlns:a="http://schemas.openxmlformats.org/drawingml/2006/main">
              <a:ext uri="{FF2B5EF4-FFF2-40B4-BE49-F238E27FC236}">
                <a16:creationId xmlns:a16="http://schemas.microsoft.com/office/drawing/2014/main" id="{2C31A0B3-BCD4-4151-A13E-0723AC5A3D9C}"/>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Episodes, candidate regions, and two admissibility conditions</a:t>
            </a:r>
          </a:p>
        </p:txBody>
      </p:sp>
      <p:sp>
        <p:nvSpPr>
          <p:cNvPr id="6" name="Shape 4">
            <a:extLst xmlns:a="http://schemas.openxmlformats.org/drawingml/2006/main">
              <a:ext uri="{FF2B5EF4-FFF2-40B4-BE49-F238E27FC236}">
                <a16:creationId xmlns:a16="http://schemas.microsoft.com/office/drawing/2014/main" id="{B3A3EF0D-FEAE-41D8-9D0F-D206198E0238}"/>
              </a:ext>
            </a:extLst>
          </p:cNvPr>
          <p:cNvSpPr>
            <a:spLocks xmlns:a="http://schemas.openxmlformats.org/drawingml/2006/main" noGrp="1"/>
          </p:cNvSpPr>
          <p:nvPr/>
        </p:nvSpPr>
        <p:spPr>
          <a:xfrm xmlns:a="http://schemas.openxmlformats.org/drawingml/2006/main">
            <a:off x="640080" y="1152144"/>
            <a:ext cx="10911535" cy="603504"/>
          </a:xfrm>
          <a:prstGeom xmlns:a="http://schemas.openxmlformats.org/drawingml/2006/main" prst="roundRect">
            <a:avLst>
              <a:gd name="adj" fmla="val 7576"/>
            </a:avLst>
          </a:prstGeom>
          <a:solidFill xmlns:a="http://schemas.openxmlformats.org/drawingml/2006/main">
            <a:srgbClr val="EAF1F7"/>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552b6dc72caa4247"/>
          <a:stretch xmlns:a="http://schemas.openxmlformats.org/drawingml/2006/main">
            <a:fillRect l="0" t="0" r="0" b="0"/>
          </a:stretch>
        </p:blipFill>
        <p:spPr>
          <a:xfrm xmlns:a="http://schemas.openxmlformats.org/drawingml/2006/main">
            <a:off x="896112" y="1289304"/>
            <a:ext cx="2124222"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E4158A53-D388-4FB2-BC3B-CE548FDD1375}"/>
              </a:ext>
            </a:extLst>
          </p:cNvPr>
          <p:cNvSpPr>
            <a:spLocks xmlns:a="http://schemas.openxmlformats.org/drawingml/2006/main" noGrp="1"/>
          </p:cNvSpPr>
          <p:nvPr/>
        </p:nvSpPr>
        <p:spPr>
          <a:xfrm xmlns:a="http://schemas.openxmlformats.org/drawingml/2006/main">
            <a:off x="3349518" y="1289304"/>
            <a:ext cx="796435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4354F"/>
                </a:solidFill>
                <a:latin typeface="Calibri"/>
                <a:ea typeface="Calibri"/>
                <a:cs typeface="Calibri"/>
              </a:rPr>
              <a:t>entry-state snapshot z  ·  content-addressed execution manifest M  ·  ordered events e t  ·  observable outcome y</a:t>
            </a:r>
          </a:p>
        </p:txBody>
      </p:sp>
      <p:sp>
        <p:nvSpPr>
          <p:cNvPr id="9" name="Shape 6">
            <a:extLst xmlns:a="http://schemas.openxmlformats.org/drawingml/2006/main">
              <a:ext uri="{FF2B5EF4-FFF2-40B4-BE49-F238E27FC236}">
                <a16:creationId xmlns:a16="http://schemas.microsoft.com/office/drawing/2014/main" id="{E8914E2C-7271-4839-A694-A9E49A3D6318}"/>
              </a:ext>
            </a:extLst>
          </p:cNvPr>
          <p:cNvSpPr>
            <a:spLocks xmlns:a="http://schemas.openxmlformats.org/drawingml/2006/main" noGrp="1"/>
          </p:cNvSpPr>
          <p:nvPr/>
        </p:nvSpPr>
        <p:spPr>
          <a:xfrm xmlns:a="http://schemas.openxmlformats.org/drawingml/2006/main">
            <a:off x="640080" y="1828800"/>
            <a:ext cx="10911535" cy="1042416"/>
          </a:xfrm>
          <a:prstGeom xmlns:a="http://schemas.openxmlformats.org/drawingml/2006/main" prst="roundRect">
            <a:avLst>
              <a:gd name="adj" fmla="val 4386"/>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10" name="Image 1"/>
          <p:cNvPicPr>
            <a:picLocks xmlns:a="http://schemas.openxmlformats.org/drawingml/2006/main" noChangeAspect="1"/>
          </p:cNvPicPr>
          <p:nvPr/>
        </p:nvPicPr>
        <p:blipFill>
          <a:blip xmlns:r="http://schemas.openxmlformats.org/officeDocument/2006/relationships" xmlns:a="http://schemas.openxmlformats.org/drawingml/2006/main" r:embed="R4832e41156724911"/>
          <a:stretch xmlns:a="http://schemas.openxmlformats.org/drawingml/2006/main">
            <a:fillRect l="0" t="0" r="0" b="0"/>
          </a:stretch>
        </p:blipFill>
        <p:spPr>
          <a:xfrm xmlns:a="http://schemas.openxmlformats.org/drawingml/2006/main">
            <a:off x="877824" y="1975104"/>
            <a:ext cx="7303477" cy="38404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4FCA790F-1C65-4987-B1C6-0A8D1BFEDA48}"/>
              </a:ext>
            </a:extLst>
          </p:cNvPr>
          <p:cNvSpPr>
            <a:spLocks xmlns:a="http://schemas.openxmlformats.org/drawingml/2006/main" noGrp="1"/>
          </p:cNvSpPr>
          <p:nvPr/>
        </p:nvSpPr>
        <p:spPr>
          <a:xfrm xmlns:a="http://schemas.openxmlformats.org/drawingml/2006/main">
            <a:off x="877824" y="2432304"/>
            <a:ext cx="1043604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GROUNDABLE — every call argument in the region has an expression over entry state or prior results, drawn from a closed, bounded transform library ℒ. A slot with no such expression is a genuine model decision.</a:t>
            </a:r>
          </a:p>
        </p:txBody>
      </p:sp>
      <p:sp>
        <p:nvSpPr>
          <p:cNvPr id="12" name="Text 8">
            <a:extLst xmlns:a="http://schemas.openxmlformats.org/drawingml/2006/main">
              <a:ext uri="{FF2B5EF4-FFF2-40B4-BE49-F238E27FC236}">
                <a16:creationId xmlns:a16="http://schemas.microsoft.com/office/drawing/2014/main" id="{108D38E6-289D-4745-B80B-CFBD0C7254C2}"/>
              </a:ext>
            </a:extLst>
          </p:cNvPr>
          <p:cNvSpPr>
            <a:spLocks xmlns:a="http://schemas.openxmlformats.org/drawingml/2006/main" noGrp="1"/>
          </p:cNvSpPr>
          <p:nvPr/>
        </p:nvSpPr>
        <p:spPr>
          <a:xfrm xmlns:a="http://schemas.openxmlformats.org/drawingml/2006/main">
            <a:off x="10856671" y="1975104"/>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(1)</a:t>
            </a:r>
          </a:p>
        </p:txBody>
      </p:sp>
      <p:sp>
        <p:nvSpPr>
          <p:cNvPr id="13" name="Shape 9">
            <a:extLst xmlns:a="http://schemas.openxmlformats.org/drawingml/2006/main">
              <a:ext uri="{FF2B5EF4-FFF2-40B4-BE49-F238E27FC236}">
                <a16:creationId xmlns:a16="http://schemas.microsoft.com/office/drawing/2014/main" id="{BB62EB8A-BF88-42DB-A58D-0549E3AC578D}"/>
              </a:ext>
            </a:extLst>
          </p:cNvPr>
          <p:cNvSpPr>
            <a:spLocks xmlns:a="http://schemas.openxmlformats.org/drawingml/2006/main" noGrp="1"/>
          </p:cNvSpPr>
          <p:nvPr/>
        </p:nvSpPr>
        <p:spPr>
          <a:xfrm xmlns:a="http://schemas.openxmlformats.org/drawingml/2006/main">
            <a:off x="640080" y="2944368"/>
            <a:ext cx="10911535" cy="749808"/>
          </a:xfrm>
          <a:prstGeom xmlns:a="http://schemas.openxmlformats.org/drawingml/2006/main" prst="roundRect">
            <a:avLst>
              <a:gd name="adj" fmla="val 6098"/>
            </a:avLst>
          </a:prstGeom>
          <a:solidFill xmlns:a="http://schemas.openxmlformats.org/drawingml/2006/main">
            <a:srgbClr val="E8F4F5"/>
          </a:solidFill>
          <a:ln xmlns:a="http://schemas.openxmlformats.org/drawingml/2006/main" w="9525">
            <a:solidFill>
              <a:srgbClr val="CFE4E7"/>
            </a:solidFill>
            <a:prstDash val="solid"/>
          </a:ln>
        </p:spPr>
        <p:txBody>
          <a:bodyPr xmlns:a="http://schemas.openxmlformats.org/drawingml/2006/main"/>
          <a:lstStyle xmlns:a="http://schemas.openxmlformats.org/drawingml/2006/main"/>
          <a:p xmlns:a="http://schemas.openxmlformats.org/drawingml/2006/main"/>
        </p:txBody>
      </p:sp>
      <p:sp>
        <p:nvSpPr>
          <p:cNvPr id="14" name="Text 10">
            <a:extLst xmlns:a="http://schemas.openxmlformats.org/drawingml/2006/main">
              <a:ext uri="{FF2B5EF4-FFF2-40B4-BE49-F238E27FC236}">
                <a16:creationId xmlns:a16="http://schemas.microsoft.com/office/drawing/2014/main" id="{CD0C7161-7533-4E6B-ADB7-0AED09F79D2A}"/>
              </a:ext>
            </a:extLst>
          </p:cNvPr>
          <p:cNvSpPr>
            <a:spLocks xmlns:a="http://schemas.openxmlformats.org/drawingml/2006/main" noGrp="1"/>
          </p:cNvSpPr>
          <p:nvPr/>
        </p:nvSpPr>
        <p:spPr>
          <a:xfrm xmlns:a="http://schemas.openxmlformats.org/drawingml/2006/main">
            <a:off x="896112" y="3054096"/>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1F8A99"/>
                </a:solidFill>
                <a:latin typeface="Calibri"/>
                <a:ea typeface="Calibri"/>
                <a:cs typeface="Calibri"/>
              </a:rPr>
              <a:t>EFFECT-ADMISSIBLE</a:t>
            </a:r>
          </a:p>
        </p:txBody>
      </p:sp>
      <p:sp>
        <p:nvSpPr>
          <p:cNvPr id="15" name="Text 11">
            <a:extLst xmlns:a="http://schemas.openxmlformats.org/drawingml/2006/main">
              <a:ext uri="{FF2B5EF4-FFF2-40B4-BE49-F238E27FC236}">
                <a16:creationId xmlns:a16="http://schemas.microsoft.com/office/drawing/2014/main" id="{A5DC06C6-EB8E-4336-8AF6-6B748E15C047}"/>
              </a:ext>
            </a:extLst>
          </p:cNvPr>
          <p:cNvSpPr>
            <a:spLocks xmlns:a="http://schemas.openxmlformats.org/drawingml/2006/main" noGrp="1"/>
          </p:cNvSpPr>
          <p:nvPr/>
        </p:nvSpPr>
        <p:spPr>
          <a:xfrm xmlns:a="http://schemas.openxmlformats.org/drawingml/2006/main">
            <a:off x="2834640" y="3035808"/>
            <a:ext cx="844265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24354F"/>
                </a:solidFill>
                <a:latin typeface="Calibri"/>
                <a:ea typeface="Calibri"/>
                <a:cs typeface="Calibri"/>
              </a:rPr>
              <a:t>All tools in the region are declared read-only, speculatable, replayable, and inside the same principal / isolation partition. Handoffs, approvals, writes, errors, and unknown effects are barriers — and an unknown effect is not a read.</a:t>
            </a:r>
          </a:p>
        </p:txBody>
      </p:sp>
      <p:sp>
        <p:nvSpPr>
          <p:cNvPr id="16" name="Shape 12">
            <a:extLst xmlns:a="http://schemas.openxmlformats.org/drawingml/2006/main">
              <a:ext uri="{FF2B5EF4-FFF2-40B4-BE49-F238E27FC236}">
                <a16:creationId xmlns:a16="http://schemas.microsoft.com/office/drawing/2014/main" id="{0D59995F-C84F-4C9E-B1A7-45432F361C4F}"/>
              </a:ext>
            </a:extLst>
          </p:cNvPr>
          <p:cNvSpPr>
            <a:spLocks xmlns:a="http://schemas.openxmlformats.org/drawingml/2006/main" noGrp="1"/>
          </p:cNvSpPr>
          <p:nvPr/>
        </p:nvSpPr>
        <p:spPr>
          <a:xfrm xmlns:a="http://schemas.openxmlformats.org/drawingml/2006/main">
            <a:off x="640080" y="3767328"/>
            <a:ext cx="10911535"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17" name="Image 2"/>
          <p:cNvPicPr>
            <a:picLocks xmlns:a="http://schemas.openxmlformats.org/drawingml/2006/main" noChangeAspect="1"/>
          </p:cNvPicPr>
          <p:nvPr/>
        </p:nvPicPr>
        <p:blipFill>
          <a:blip xmlns:r="http://schemas.openxmlformats.org/officeDocument/2006/relationships" xmlns:a="http://schemas.openxmlformats.org/drawingml/2006/main" r:embed="R9f68ea71c40442d0"/>
          <a:stretch xmlns:a="http://schemas.openxmlformats.org/drawingml/2006/main">
            <a:fillRect l="0" t="0" r="0" b="0"/>
          </a:stretch>
        </p:blipFill>
        <p:spPr>
          <a:xfrm xmlns:a="http://schemas.openxmlformats.org/drawingml/2006/main">
            <a:off x="877824" y="3913632"/>
            <a:ext cx="960120" cy="256032"/>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45739EE5-A230-4C05-9583-5CEC86248E64}"/>
              </a:ext>
            </a:extLst>
          </p:cNvPr>
          <p:cNvSpPr>
            <a:spLocks xmlns:a="http://schemas.openxmlformats.org/drawingml/2006/main" noGrp="1"/>
          </p:cNvSpPr>
          <p:nvPr/>
        </p:nvSpPr>
        <p:spPr>
          <a:xfrm xmlns:a="http://schemas.openxmlformats.org/drawingml/2006/main">
            <a:off x="2148840" y="3913632"/>
            <a:ext cx="8598103"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4354F"/>
                </a:solidFill>
                <a:latin typeface="Calibri"/>
                <a:ea typeface="Calibri"/>
                <a:cs typeface="Calibri"/>
              </a:rPr>
              <a:t>in the normalized model-boundary index</a:t>
            </a:r>
          </a:p>
        </p:txBody>
      </p:sp>
      <p:sp>
        <p:nvSpPr>
          <p:cNvPr id="19" name="Text 14">
            <a:extLst xmlns:a="http://schemas.openxmlformats.org/drawingml/2006/main">
              <a:ext uri="{FF2B5EF4-FFF2-40B4-BE49-F238E27FC236}">
                <a16:creationId xmlns:a16="http://schemas.microsoft.com/office/drawing/2014/main" id="{FA0F426C-15D7-4EA5-9F78-EBC74EFA647D}"/>
              </a:ext>
            </a:extLst>
          </p:cNvPr>
          <p:cNvSpPr>
            <a:spLocks xmlns:a="http://schemas.openxmlformats.org/drawingml/2006/main" noGrp="1"/>
          </p:cNvSpPr>
          <p:nvPr/>
        </p:nvSpPr>
        <p:spPr>
          <a:xfrm xmlns:a="http://schemas.openxmlformats.org/drawingml/2006/main">
            <a:off x="877824" y="4242816"/>
            <a:ext cx="1043604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POSITION INVARIANT — the deployed runtime resolves artifacts at the initial model boundary, so a region must be a prefix. This restriction is not aesthetic: a suffix program dispatched at entry may reorder or duplicate earlier calls, and §5.6 demonstrates that failure empirically.</a:t>
            </a:r>
          </a:p>
        </p:txBody>
      </p:sp>
      <p:sp>
        <p:nvSpPr>
          <p:cNvPr id="20" name="Text 15">
            <a:extLst xmlns:a="http://schemas.openxmlformats.org/drawingml/2006/main">
              <a:ext uri="{FF2B5EF4-FFF2-40B4-BE49-F238E27FC236}">
                <a16:creationId xmlns:a16="http://schemas.microsoft.com/office/drawing/2014/main" id="{4570D7CA-DA8D-4FAC-A9E7-F5E32D2DC2C0}"/>
              </a:ext>
            </a:extLst>
          </p:cNvPr>
          <p:cNvSpPr>
            <a:spLocks xmlns:a="http://schemas.openxmlformats.org/drawingml/2006/main" noGrp="1"/>
          </p:cNvSpPr>
          <p:nvPr/>
        </p:nvSpPr>
        <p:spPr>
          <a:xfrm xmlns:a="http://schemas.openxmlformats.org/drawingml/2006/main">
            <a:off x="10856671" y="3913632"/>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(2)</a:t>
            </a:r>
          </a:p>
        </p:txBody>
      </p:sp>
      <p:sp>
        <p:nvSpPr>
          <p:cNvPr id="21" name="Shape 16">
            <a:extLst xmlns:a="http://schemas.openxmlformats.org/drawingml/2006/main">
              <a:ext uri="{FF2B5EF4-FFF2-40B4-BE49-F238E27FC236}">
                <a16:creationId xmlns:a16="http://schemas.microsoft.com/office/drawing/2014/main" id="{ADAF1330-79E3-46BA-AB93-3603B320F0B5}"/>
              </a:ext>
            </a:extLst>
          </p:cNvPr>
          <p:cNvSpPr>
            <a:spLocks xmlns:a="http://schemas.openxmlformats.org/drawingml/2006/main" noGrp="1"/>
          </p:cNvSpPr>
          <p:nvPr/>
        </p:nvSpPr>
        <p:spPr>
          <a:xfrm xmlns:a="http://schemas.openxmlformats.org/drawingml/2006/main">
            <a:off x="640080" y="4846320"/>
            <a:ext cx="10911535" cy="1316736"/>
          </a:xfrm>
          <a:prstGeom xmlns:a="http://schemas.openxmlformats.org/drawingml/2006/main" prst="roundRect">
            <a:avLst>
              <a:gd name="adj" fmla="val 3472"/>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2" name="Text 17">
            <a:extLst xmlns:a="http://schemas.openxmlformats.org/drawingml/2006/main">
              <a:ext uri="{FF2B5EF4-FFF2-40B4-BE49-F238E27FC236}">
                <a16:creationId xmlns:a16="http://schemas.microsoft.com/office/drawing/2014/main" id="{F90B2D16-0479-45D4-9287-C773B924816A}"/>
              </a:ext>
            </a:extLst>
          </p:cNvPr>
          <p:cNvSpPr>
            <a:spLocks xmlns:a="http://schemas.openxmlformats.org/drawingml/2006/main" noGrp="1"/>
          </p:cNvSpPr>
          <p:nvPr/>
        </p:nvSpPr>
        <p:spPr>
          <a:xfrm xmlns:a="http://schemas.openxmlformats.org/drawingml/2006/main">
            <a:off x="896112" y="4974336"/>
            <a:ext cx="1039947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A93B2B"/>
                </a:solidFill>
                <a:latin typeface="Calibri"/>
                <a:ea typeface="Calibri"/>
                <a:cs typeface="Calibri"/>
              </a:rPr>
              <a:t>EVIDENCE FROM THE ARCHIVED PILOT — REQUEST SAVINGS AT THE WRONG EXECUTION POSITION</a:t>
            </a:r>
          </a:p>
        </p:txBody>
      </p:sp>
      <p:sp>
        <p:nvSpPr>
          <p:cNvPr id="23" name="Text 18">
            <a:extLst xmlns:a="http://schemas.openxmlformats.org/drawingml/2006/main">
              <a:ext uri="{FF2B5EF4-FFF2-40B4-BE49-F238E27FC236}">
                <a16:creationId xmlns:a16="http://schemas.microsoft.com/office/drawing/2014/main" id="{AAD13A35-F02D-4E3E-968C-FA063EDFCE20}"/>
              </a:ext>
            </a:extLst>
          </p:cNvPr>
          <p:cNvSpPr>
            <a:spLocks xmlns:a="http://schemas.openxmlformats.org/drawingml/2006/main" noGrp="1"/>
          </p:cNvSpPr>
          <p:nvPr/>
        </p:nvSpPr>
        <p:spPr>
          <a:xfrm xmlns:a="http://schemas.openxmlformats.org/drawingml/2006/main">
            <a:off x="3931920" y="5230368"/>
            <a:ext cx="1554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b="1">
                <a:solidFill>
                  <a:srgbClr val="5A6B84"/>
                </a:solidFill>
                <a:latin typeface="Calibri"/>
                <a:ea typeface="Calibri"/>
                <a:cs typeface="Calibri"/>
              </a:rPr>
              <a:t>archived suffix pilot</a:t>
            </a:r>
          </a:p>
        </p:txBody>
      </p:sp>
      <p:sp>
        <p:nvSpPr>
          <p:cNvPr id="24" name="Text 19">
            <a:extLst xmlns:a="http://schemas.openxmlformats.org/drawingml/2006/main">
              <a:ext uri="{FF2B5EF4-FFF2-40B4-BE49-F238E27FC236}">
                <a16:creationId xmlns:a16="http://schemas.microsoft.com/office/drawing/2014/main" id="{30D9A910-D7DF-4F14-A9ED-298943B6776C}"/>
              </a:ext>
            </a:extLst>
          </p:cNvPr>
          <p:cNvSpPr>
            <a:spLocks xmlns:a="http://schemas.openxmlformats.org/drawingml/2006/main" noGrp="1"/>
          </p:cNvSpPr>
          <p:nvPr/>
        </p:nvSpPr>
        <p:spPr>
          <a:xfrm xmlns:a="http://schemas.openxmlformats.org/drawingml/2006/main">
            <a:off x="5669280" y="5230368"/>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b="1">
                <a:solidFill>
                  <a:srgbClr val="1F8A99"/>
                </a:solidFill>
                <a:latin typeface="Calibri"/>
                <a:ea typeface="Calibri"/>
                <a:cs typeface="Calibri"/>
              </a:rPr>
              <a:t>corrected prefix compiler</a:t>
            </a:r>
          </a:p>
        </p:txBody>
      </p:sp>
      <p:sp>
        <p:nvSpPr>
          <p:cNvPr id="25" name="Text 20">
            <a:extLst xmlns:a="http://schemas.openxmlformats.org/drawingml/2006/main">
              <a:ext uri="{FF2B5EF4-FFF2-40B4-BE49-F238E27FC236}">
                <a16:creationId xmlns:a16="http://schemas.microsoft.com/office/drawing/2014/main" id="{018DFEDC-CF65-4D02-932D-4EA3EDD5DB17}"/>
              </a:ext>
            </a:extLst>
          </p:cNvPr>
          <p:cNvSpPr>
            <a:spLocks xmlns:a="http://schemas.openxmlformats.org/drawingml/2006/main" noGrp="1"/>
          </p:cNvSpPr>
          <p:nvPr/>
        </p:nvSpPr>
        <p:spPr>
          <a:xfrm xmlns:a="http://schemas.openxmlformats.org/drawingml/2006/main">
            <a:off x="896112" y="5449824"/>
            <a:ext cx="3017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C4034"/>
                </a:solidFill>
                <a:latin typeface="Calibri"/>
                <a:ea typeface="Calibri"/>
                <a:cs typeface="Calibri"/>
              </a:rPr>
              <a:t>task quality</a:t>
            </a:r>
          </a:p>
        </p:txBody>
      </p:sp>
      <p:sp>
        <p:nvSpPr>
          <p:cNvPr id="26" name="Text 21">
            <a:extLst xmlns:a="http://schemas.openxmlformats.org/drawingml/2006/main">
              <a:ext uri="{FF2B5EF4-FFF2-40B4-BE49-F238E27FC236}">
                <a16:creationId xmlns:a16="http://schemas.microsoft.com/office/drawing/2014/main" id="{87FA214F-1BC5-4CFE-A163-9A2EF98041CE}"/>
              </a:ext>
            </a:extLst>
          </p:cNvPr>
          <p:cNvSpPr>
            <a:spLocks xmlns:a="http://schemas.openxmlformats.org/drawingml/2006/main" noGrp="1"/>
          </p:cNvSpPr>
          <p:nvPr/>
        </p:nvSpPr>
        <p:spPr>
          <a:xfrm xmlns:a="http://schemas.openxmlformats.org/drawingml/2006/main">
            <a:off x="3931920" y="5449824"/>
            <a:ext cx="1554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A93B2B"/>
                </a:solidFill>
                <a:latin typeface="Cambria"/>
                <a:ea typeface="Cambria"/>
                <a:cs typeface="Cambria"/>
              </a:rPr>
              <a:t>16.7%</a:t>
            </a:r>
          </a:p>
        </p:txBody>
      </p:sp>
      <p:sp>
        <p:nvSpPr>
          <p:cNvPr id="27" name="Text 22">
            <a:extLst xmlns:a="http://schemas.openxmlformats.org/drawingml/2006/main">
              <a:ext uri="{FF2B5EF4-FFF2-40B4-BE49-F238E27FC236}">
                <a16:creationId xmlns:a16="http://schemas.microsoft.com/office/drawing/2014/main" id="{B3994102-A2BC-4903-BE82-370A3C360A08}"/>
              </a:ext>
            </a:extLst>
          </p:cNvPr>
          <p:cNvSpPr>
            <a:spLocks xmlns:a="http://schemas.openxmlformats.org/drawingml/2006/main" noGrp="1"/>
          </p:cNvSpPr>
          <p:nvPr/>
        </p:nvSpPr>
        <p:spPr>
          <a:xfrm xmlns:a="http://schemas.openxmlformats.org/drawingml/2006/main">
            <a:off x="5669280" y="5449824"/>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1F8A99"/>
                </a:solidFill>
                <a:latin typeface="Cambria"/>
                <a:ea typeface="Cambria"/>
                <a:cs typeface="Cambria"/>
              </a:rPr>
              <a:t>100%</a:t>
            </a:r>
          </a:p>
        </p:txBody>
      </p:sp>
      <p:sp>
        <p:nvSpPr>
          <p:cNvPr id="28" name="Text 23">
            <a:extLst xmlns:a="http://schemas.openxmlformats.org/drawingml/2006/main">
              <a:ext uri="{FF2B5EF4-FFF2-40B4-BE49-F238E27FC236}">
                <a16:creationId xmlns:a16="http://schemas.microsoft.com/office/drawing/2014/main" id="{7FF00C27-3D1C-4410-9F1B-128D10A00B78}"/>
              </a:ext>
            </a:extLst>
          </p:cNvPr>
          <p:cNvSpPr>
            <a:spLocks xmlns:a="http://schemas.openxmlformats.org/drawingml/2006/main" noGrp="1"/>
          </p:cNvSpPr>
          <p:nvPr/>
        </p:nvSpPr>
        <p:spPr>
          <a:xfrm xmlns:a="http://schemas.openxmlformats.org/drawingml/2006/main">
            <a:off x="896112" y="5669280"/>
            <a:ext cx="3017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C4034"/>
                </a:solidFill>
                <a:latin typeface="Calibri"/>
                <a:ea typeface="Calibri"/>
                <a:cs typeface="Calibri"/>
              </a:rPr>
              <a:t>tool-contract validity</a:t>
            </a:r>
          </a:p>
        </p:txBody>
      </p:sp>
      <p:sp>
        <p:nvSpPr>
          <p:cNvPr id="29" name="Text 24">
            <a:extLst xmlns:a="http://schemas.openxmlformats.org/drawingml/2006/main">
              <a:ext uri="{FF2B5EF4-FFF2-40B4-BE49-F238E27FC236}">
                <a16:creationId xmlns:a16="http://schemas.microsoft.com/office/drawing/2014/main" id="{C12F14E9-B234-413F-9CF8-C3BE49F5E72B}"/>
              </a:ext>
            </a:extLst>
          </p:cNvPr>
          <p:cNvSpPr>
            <a:spLocks xmlns:a="http://schemas.openxmlformats.org/drawingml/2006/main" noGrp="1"/>
          </p:cNvSpPr>
          <p:nvPr/>
        </p:nvSpPr>
        <p:spPr>
          <a:xfrm xmlns:a="http://schemas.openxmlformats.org/drawingml/2006/main">
            <a:off x="3931920" y="5669280"/>
            <a:ext cx="1554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A93B2B"/>
                </a:solidFill>
                <a:latin typeface="Cambria"/>
                <a:ea typeface="Cambria"/>
                <a:cs typeface="Cambria"/>
              </a:rPr>
              <a:t>16.7%</a:t>
            </a:r>
          </a:p>
        </p:txBody>
      </p:sp>
      <p:sp>
        <p:nvSpPr>
          <p:cNvPr id="30" name="Text 25">
            <a:extLst xmlns:a="http://schemas.openxmlformats.org/drawingml/2006/main">
              <a:ext uri="{FF2B5EF4-FFF2-40B4-BE49-F238E27FC236}">
                <a16:creationId xmlns:a16="http://schemas.microsoft.com/office/drawing/2014/main" id="{A89530C3-4F75-4082-859B-08679F43560A}"/>
              </a:ext>
            </a:extLst>
          </p:cNvPr>
          <p:cNvSpPr>
            <a:spLocks xmlns:a="http://schemas.openxmlformats.org/drawingml/2006/main" noGrp="1"/>
          </p:cNvSpPr>
          <p:nvPr/>
        </p:nvSpPr>
        <p:spPr>
          <a:xfrm xmlns:a="http://schemas.openxmlformats.org/drawingml/2006/main">
            <a:off x="5669280" y="5669280"/>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1F8A99"/>
                </a:solidFill>
                <a:latin typeface="Cambria"/>
                <a:ea typeface="Cambria"/>
                <a:cs typeface="Cambria"/>
              </a:rPr>
              <a:t>100%</a:t>
            </a:r>
          </a:p>
        </p:txBody>
      </p:sp>
      <p:sp>
        <p:nvSpPr>
          <p:cNvPr id="31" name="Text 26">
            <a:extLst xmlns:a="http://schemas.openxmlformats.org/drawingml/2006/main">
              <a:ext uri="{FF2B5EF4-FFF2-40B4-BE49-F238E27FC236}">
                <a16:creationId xmlns:a16="http://schemas.microsoft.com/office/drawing/2014/main" id="{88E43648-AA5E-417B-9891-AED3C199F8F4}"/>
              </a:ext>
            </a:extLst>
          </p:cNvPr>
          <p:cNvSpPr>
            <a:spLocks xmlns:a="http://schemas.openxmlformats.org/drawingml/2006/main" noGrp="1"/>
          </p:cNvSpPr>
          <p:nvPr/>
        </p:nvSpPr>
        <p:spPr>
          <a:xfrm xmlns:a="http://schemas.openxmlformats.org/drawingml/2006/main">
            <a:off x="896112" y="5888736"/>
            <a:ext cx="3017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C4034"/>
                </a:solidFill>
                <a:latin typeface="Calibri"/>
                <a:ea typeface="Calibri"/>
                <a:cs typeface="Calibri"/>
              </a:rPr>
              <a:t>provider-request reduction</a:t>
            </a:r>
          </a:p>
        </p:txBody>
      </p:sp>
      <p:sp>
        <p:nvSpPr>
          <p:cNvPr id="32" name="Text 27">
            <a:extLst xmlns:a="http://schemas.openxmlformats.org/drawingml/2006/main">
              <a:ext uri="{FF2B5EF4-FFF2-40B4-BE49-F238E27FC236}">
                <a16:creationId xmlns:a16="http://schemas.microsoft.com/office/drawing/2014/main" id="{55CB3994-36BD-4FB6-8151-FC9E16A19DE5}"/>
              </a:ext>
            </a:extLst>
          </p:cNvPr>
          <p:cNvSpPr>
            <a:spLocks xmlns:a="http://schemas.openxmlformats.org/drawingml/2006/main" noGrp="1"/>
          </p:cNvSpPr>
          <p:nvPr/>
        </p:nvSpPr>
        <p:spPr>
          <a:xfrm xmlns:a="http://schemas.openxmlformats.org/drawingml/2006/main">
            <a:off x="3931920" y="5888736"/>
            <a:ext cx="1554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A93B2B"/>
                </a:solidFill>
                <a:latin typeface="Cambria"/>
                <a:ea typeface="Cambria"/>
                <a:cs typeface="Cambria"/>
              </a:rPr>
              <a:t>36.7%</a:t>
            </a:r>
          </a:p>
        </p:txBody>
      </p:sp>
      <p:sp>
        <p:nvSpPr>
          <p:cNvPr id="33" name="Text 28">
            <a:extLst xmlns:a="http://schemas.openxmlformats.org/drawingml/2006/main">
              <a:ext uri="{FF2B5EF4-FFF2-40B4-BE49-F238E27FC236}">
                <a16:creationId xmlns:a16="http://schemas.microsoft.com/office/drawing/2014/main" id="{CF661202-A13F-4D28-9827-79E6E138F3C8}"/>
              </a:ext>
            </a:extLst>
          </p:cNvPr>
          <p:cNvSpPr>
            <a:spLocks xmlns:a="http://schemas.openxmlformats.org/drawingml/2006/main" noGrp="1"/>
          </p:cNvSpPr>
          <p:nvPr/>
        </p:nvSpPr>
        <p:spPr>
          <a:xfrm xmlns:a="http://schemas.openxmlformats.org/drawingml/2006/main">
            <a:off x="5669280" y="5888736"/>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1F8A99"/>
                </a:solidFill>
                <a:latin typeface="Cambria"/>
                <a:ea typeface="Cambria"/>
                <a:cs typeface="Cambria"/>
              </a:rPr>
              <a:t>75.0%</a:t>
            </a:r>
          </a:p>
        </p:txBody>
      </p:sp>
      <p:sp>
        <p:nvSpPr>
          <p:cNvPr id="34" name="Text 29">
            <a:extLst xmlns:a="http://schemas.openxmlformats.org/drawingml/2006/main">
              <a:ext uri="{FF2B5EF4-FFF2-40B4-BE49-F238E27FC236}">
                <a16:creationId xmlns:a16="http://schemas.microsoft.com/office/drawing/2014/main" id="{202B07B5-6AF0-4500-A1D1-155DD62A9F17}"/>
              </a:ext>
            </a:extLst>
          </p:cNvPr>
          <p:cNvSpPr>
            <a:spLocks xmlns:a="http://schemas.openxmlformats.org/drawingml/2006/main" noGrp="1"/>
          </p:cNvSpPr>
          <p:nvPr/>
        </p:nvSpPr>
        <p:spPr>
          <a:xfrm xmlns:a="http://schemas.openxmlformats.org/drawingml/2006/main">
            <a:off x="7863840" y="5248656"/>
            <a:ext cx="341345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a:solidFill>
                  <a:srgbClr val="5C4034"/>
                </a:solidFill>
                <a:latin typeface="Calibri"/>
                <a:ea typeface="Calibri"/>
                <a:cs typeface="Calibri"/>
              </a:rPr>
              <a:t>The pilot dispatched label and comment reads before their intended position and duplicated or reordered tools. It is archived rather than deleted, and a golden-trace regression test now rejects an otherwise eligible suffix.</a:t>
            </a:r>
          </a:p>
        </p:txBody>
      </p:sp>
    </p:spTree>
    <p:extLst>
      <p:ext uri="{BB962C8B-B14F-4D97-AF65-F5344CB8AC3E}">
        <p14:creationId xmlns:p14="http://schemas.microsoft.com/office/powerpoint/2010/main" val="17992773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82EB9C-F795-461C-824C-E983C547AB85}"/>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C6043BFA-3AE6-4199-90F6-BD1BD5D7D952}"/>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7</a:t>
            </a:r>
          </a:p>
        </p:txBody>
      </p:sp>
      <p:sp>
        <p:nvSpPr>
          <p:cNvPr id="4" name="Text 2">
            <a:extLst xmlns:a="http://schemas.openxmlformats.org/drawingml/2006/main">
              <a:ext uri="{FF2B5EF4-FFF2-40B4-BE49-F238E27FC236}">
                <a16:creationId xmlns:a16="http://schemas.microsoft.com/office/drawing/2014/main" id="{01BC4920-F6FE-4D44-96A1-B59A4A48E17B}"/>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FORMULATION  ·  §2.2</a:t>
            </a:r>
          </a:p>
        </p:txBody>
      </p:sp>
      <p:sp>
        <p:nvSpPr>
          <p:cNvPr id="5" name="Text 3">
            <a:extLst xmlns:a="http://schemas.openxmlformats.org/drawingml/2006/main">
              <a:ext uri="{FF2B5EF4-FFF2-40B4-BE49-F238E27FC236}">
                <a16:creationId xmlns:a16="http://schemas.microsoft.com/office/drawing/2014/main" id="{9ED54033-8385-421C-B360-CF74DFCEEDA4}"/>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The compiler emits an artifact that decides whether to run</a:t>
            </a:r>
          </a:p>
        </p:txBody>
      </p:sp>
      <p:sp>
        <p:nvSpPr>
          <p:cNvPr id="6" name="Text 4">
            <a:extLst xmlns:a="http://schemas.openxmlformats.org/drawingml/2006/main">
              <a:ext uri="{FF2B5EF4-FFF2-40B4-BE49-F238E27FC236}">
                <a16:creationId xmlns:a16="http://schemas.microsoft.com/office/drawing/2014/main" id="{C64B0BD3-A8C6-4B11-9935-BFF7FDF6785B}"/>
              </a:ext>
            </a:extLst>
          </p:cNvPr>
          <p:cNvSpPr>
            <a:spLocks xmlns:a="http://schemas.openxmlformats.org/drawingml/2006/main" noGrp="1"/>
          </p:cNvSpPr>
          <p:nvPr/>
        </p:nvSpPr>
        <p:spPr>
          <a:xfrm xmlns:a="http://schemas.openxmlformats.org/drawingml/2006/main">
            <a:off x="640080" y="120700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THE ARTIFACT</a:t>
            </a:r>
          </a:p>
        </p:txBody>
      </p:sp>
      <p:sp>
        <p:nvSpPr>
          <p:cNvPr id="7" name="Shape 5">
            <a:extLst xmlns:a="http://schemas.openxmlformats.org/drawingml/2006/main">
              <a:ext uri="{FF2B5EF4-FFF2-40B4-BE49-F238E27FC236}">
                <a16:creationId xmlns:a16="http://schemas.microsoft.com/office/drawing/2014/main" id="{59D87D7D-7A6C-4ED2-96F5-D77B7BBAB07E}"/>
              </a:ext>
            </a:extLst>
          </p:cNvPr>
          <p:cNvSpPr>
            <a:spLocks xmlns:a="http://schemas.openxmlformats.org/drawingml/2006/main" noGrp="1"/>
          </p:cNvSpPr>
          <p:nvPr/>
        </p:nvSpPr>
        <p:spPr>
          <a:xfrm xmlns:a="http://schemas.openxmlformats.org/drawingml/2006/main">
            <a:off x="640080" y="1481328"/>
            <a:ext cx="166618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pic>
        <p:nvPicPr>
          <p:cNvPr id="8" name="Image 0"/>
          <p:cNvPicPr>
            <a:picLocks xmlns:a="http://schemas.openxmlformats.org/drawingml/2006/main" noChangeAspect="1"/>
          </p:cNvPicPr>
          <p:nvPr/>
        </p:nvPicPr>
        <p:blipFill>
          <a:blip xmlns:r="http://schemas.openxmlformats.org/officeDocument/2006/relationships" xmlns:a="http://schemas.openxmlformats.org/drawingml/2006/main" r:embed="R0bacce38a624463e"/>
          <a:stretch xmlns:a="http://schemas.openxmlformats.org/drawingml/2006/main">
            <a:fillRect l="0" t="0" r="0" b="0"/>
          </a:stretch>
        </p:blipFill>
        <p:spPr>
          <a:xfrm xmlns:a="http://schemas.openxmlformats.org/drawingml/2006/main">
            <a:off x="1344587" y="1591056"/>
            <a:ext cx="257175" cy="2743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2CC0A6CC-10E3-484C-A9A0-6DC6B212BAFA}"/>
              </a:ext>
            </a:extLst>
          </p:cNvPr>
          <p:cNvSpPr>
            <a:spLocks xmlns:a="http://schemas.openxmlformats.org/drawingml/2006/main" noGrp="1"/>
          </p:cNvSpPr>
          <p:nvPr/>
        </p:nvSpPr>
        <p:spPr>
          <a:xfrm xmlns:a="http://schemas.openxmlformats.org/drawingml/2006/main">
            <a:off x="694944" y="1901952"/>
            <a:ext cx="155646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950">
                <a:solidFill>
                  <a:srgbClr val="5A6B84"/>
                </a:solidFill>
                <a:latin typeface="Calibri"/>
                <a:ea typeface="Calibri"/>
                <a:cs typeface="Calibri"/>
              </a:rPr>
              <a:t>deterministic</a:t>
            </a:r>
          </a:p>
          <a:p xmlns:a="http://schemas.openxmlformats.org/drawingml/2006/main">
            <a:pPr marL="0" indent="0" algn="ctr">
              <a:lnSpc>
                <a:spcPct val="100000"/>
              </a:lnSpc>
              <a:buNone/>
            </a:pPr>
            <a:r>
              <a:rPr sz="950">
                <a:solidFill>
                  <a:srgbClr val="5A6B84"/>
                </a:solidFill>
                <a:latin typeface="Calibri"/>
                <a:ea typeface="Calibri"/>
                <a:cs typeface="Calibri"/>
              </a:rPr>
              <a:t>program</a:t>
            </a:r>
          </a:p>
        </p:txBody>
      </p:sp>
      <p:sp>
        <p:nvSpPr>
          <p:cNvPr id="10" name="Shape 7">
            <a:extLst xmlns:a="http://schemas.openxmlformats.org/drawingml/2006/main">
              <a:ext uri="{FF2B5EF4-FFF2-40B4-BE49-F238E27FC236}">
                <a16:creationId xmlns:a16="http://schemas.microsoft.com/office/drawing/2014/main" id="{5E7F5211-04F9-4606-8CA8-C2A7B7F964A5}"/>
              </a:ext>
            </a:extLst>
          </p:cNvPr>
          <p:cNvSpPr>
            <a:spLocks xmlns:a="http://schemas.openxmlformats.org/drawingml/2006/main" noGrp="1"/>
          </p:cNvSpPr>
          <p:nvPr/>
        </p:nvSpPr>
        <p:spPr>
          <a:xfrm xmlns:a="http://schemas.openxmlformats.org/drawingml/2006/main">
            <a:off x="2489149" y="1481328"/>
            <a:ext cx="166618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pic>
        <p:nvPicPr>
          <p:cNvPr id="11" name="Image 1"/>
          <p:cNvPicPr>
            <a:picLocks xmlns:a="http://schemas.openxmlformats.org/drawingml/2006/main" noChangeAspect="1"/>
          </p:cNvPicPr>
          <p:nvPr/>
        </p:nvPicPr>
        <p:blipFill>
          <a:blip xmlns:r="http://schemas.openxmlformats.org/officeDocument/2006/relationships" xmlns:a="http://schemas.openxmlformats.org/drawingml/2006/main" r:embed="R3b52f5b2f5c94c04"/>
          <a:stretch xmlns:a="http://schemas.openxmlformats.org/drawingml/2006/main">
            <a:fillRect l="0" t="0" r="0" b="0"/>
          </a:stretch>
        </p:blipFill>
        <p:spPr>
          <a:xfrm xmlns:a="http://schemas.openxmlformats.org/drawingml/2006/main">
            <a:off x="3159366" y="1591056"/>
            <a:ext cx="325755" cy="27432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1237AC3D-20E0-4F9C-B79A-2629007E3FD6}"/>
              </a:ext>
            </a:extLst>
          </p:cNvPr>
          <p:cNvSpPr>
            <a:spLocks xmlns:a="http://schemas.openxmlformats.org/drawingml/2006/main" noGrp="1"/>
          </p:cNvSpPr>
          <p:nvPr/>
        </p:nvSpPr>
        <p:spPr>
          <a:xfrm xmlns:a="http://schemas.openxmlformats.org/drawingml/2006/main">
            <a:off x="2544013" y="1901952"/>
            <a:ext cx="155646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950">
                <a:solidFill>
                  <a:srgbClr val="5A6B84"/>
                </a:solidFill>
                <a:latin typeface="Calibri"/>
                <a:ea typeface="Calibri"/>
                <a:cs typeface="Calibri"/>
              </a:rPr>
              <a:t>hard</a:t>
            </a:r>
          </a:p>
          <a:p xmlns:a="http://schemas.openxmlformats.org/drawingml/2006/main">
            <a:pPr marL="0" indent="0" algn="ctr">
              <a:lnSpc>
                <a:spcPct val="100000"/>
              </a:lnSpc>
              <a:buNone/>
            </a:pPr>
            <a:r>
              <a:rPr sz="950">
                <a:solidFill>
                  <a:srgbClr val="5A6B84"/>
                </a:solidFill>
                <a:latin typeface="Calibri"/>
                <a:ea typeface="Calibri"/>
                <a:cs typeface="Calibri"/>
              </a:rPr>
              <a:t>guard</a:t>
            </a:r>
          </a:p>
        </p:txBody>
      </p:sp>
      <p:sp>
        <p:nvSpPr>
          <p:cNvPr id="13" name="Shape 9">
            <a:extLst xmlns:a="http://schemas.openxmlformats.org/drawingml/2006/main">
              <a:ext uri="{FF2B5EF4-FFF2-40B4-BE49-F238E27FC236}">
                <a16:creationId xmlns:a16="http://schemas.microsoft.com/office/drawing/2014/main" id="{C54B0711-72E7-4587-B7BD-8B1B58600519}"/>
              </a:ext>
            </a:extLst>
          </p:cNvPr>
          <p:cNvSpPr>
            <a:spLocks xmlns:a="http://schemas.openxmlformats.org/drawingml/2006/main" noGrp="1"/>
          </p:cNvSpPr>
          <p:nvPr/>
        </p:nvSpPr>
        <p:spPr>
          <a:xfrm xmlns:a="http://schemas.openxmlformats.org/drawingml/2006/main">
            <a:off x="4338218" y="1481328"/>
            <a:ext cx="166618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pic>
        <p:nvPicPr>
          <p:cNvPr id="14" name="Image 2"/>
          <p:cNvPicPr>
            <a:picLocks xmlns:a="http://schemas.openxmlformats.org/drawingml/2006/main" noChangeAspect="1"/>
          </p:cNvPicPr>
          <p:nvPr/>
        </p:nvPicPr>
        <p:blipFill>
          <a:blip xmlns:r="http://schemas.openxmlformats.org/officeDocument/2006/relationships" xmlns:a="http://schemas.openxmlformats.org/drawingml/2006/main" r:embed="Rcd2d6dec024f4431"/>
          <a:stretch xmlns:a="http://schemas.openxmlformats.org/drawingml/2006/main">
            <a:fillRect l="0" t="0" r="0" b="0"/>
          </a:stretch>
        </p:blipFill>
        <p:spPr>
          <a:xfrm xmlns:a="http://schemas.openxmlformats.org/drawingml/2006/main">
            <a:off x="5046622" y="1591056"/>
            <a:ext cx="249382" cy="27432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54E32B84-4EC8-4290-8855-4E0BB4D05AB6}"/>
              </a:ext>
            </a:extLst>
          </p:cNvPr>
          <p:cNvSpPr>
            <a:spLocks xmlns:a="http://schemas.openxmlformats.org/drawingml/2006/main" noGrp="1"/>
          </p:cNvSpPr>
          <p:nvPr/>
        </p:nvSpPr>
        <p:spPr>
          <a:xfrm xmlns:a="http://schemas.openxmlformats.org/drawingml/2006/main">
            <a:off x="4393082" y="1901952"/>
            <a:ext cx="155646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950">
                <a:solidFill>
                  <a:srgbClr val="5A6B84"/>
                </a:solidFill>
                <a:latin typeface="Calibri"/>
                <a:ea typeface="Calibri"/>
                <a:cs typeface="Calibri"/>
              </a:rPr>
              <a:t>post-execution</a:t>
            </a:r>
          </a:p>
          <a:p xmlns:a="http://schemas.openxmlformats.org/drawingml/2006/main">
            <a:pPr marL="0" indent="0" algn="ctr">
              <a:lnSpc>
                <a:spcPct val="100000"/>
              </a:lnSpc>
              <a:buNone/>
            </a:pPr>
            <a:r>
              <a:rPr sz="950">
                <a:solidFill>
                  <a:srgbClr val="5A6B84"/>
                </a:solidFill>
                <a:latin typeface="Calibri"/>
                <a:ea typeface="Calibri"/>
                <a:cs typeface="Calibri"/>
              </a:rPr>
              <a:t>verifier</a:t>
            </a:r>
          </a:p>
        </p:txBody>
      </p:sp>
      <p:sp>
        <p:nvSpPr>
          <p:cNvPr id="16" name="Shape 11">
            <a:extLst xmlns:a="http://schemas.openxmlformats.org/drawingml/2006/main">
              <a:ext uri="{FF2B5EF4-FFF2-40B4-BE49-F238E27FC236}">
                <a16:creationId xmlns:a16="http://schemas.microsoft.com/office/drawing/2014/main" id="{910BE7A5-2562-4385-A148-8C3BB7DE5EC5}"/>
              </a:ext>
            </a:extLst>
          </p:cNvPr>
          <p:cNvSpPr>
            <a:spLocks xmlns:a="http://schemas.openxmlformats.org/drawingml/2006/main" noGrp="1"/>
          </p:cNvSpPr>
          <p:nvPr/>
        </p:nvSpPr>
        <p:spPr>
          <a:xfrm xmlns:a="http://schemas.openxmlformats.org/drawingml/2006/main">
            <a:off x="6187288" y="1481328"/>
            <a:ext cx="166618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pic>
        <p:nvPicPr>
          <p:cNvPr id="17" name="Image 3"/>
          <p:cNvPicPr>
            <a:picLocks xmlns:a="http://schemas.openxmlformats.org/drawingml/2006/main" noChangeAspect="1"/>
          </p:cNvPicPr>
          <p:nvPr/>
        </p:nvPicPr>
        <p:blipFill>
          <a:blip xmlns:r="http://schemas.openxmlformats.org/officeDocument/2006/relationships" xmlns:a="http://schemas.openxmlformats.org/drawingml/2006/main" r:embed="Rb34d1ae9670b4ab0"/>
          <a:stretch xmlns:a="http://schemas.openxmlformats.org/drawingml/2006/main">
            <a:fillRect l="0" t="0" r="0" b="0"/>
          </a:stretch>
        </p:blipFill>
        <p:spPr>
          <a:xfrm xmlns:a="http://schemas.openxmlformats.org/drawingml/2006/main">
            <a:off x="6921798" y="1591056"/>
            <a:ext cx="197167" cy="27432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53D4AC16-4E85-4CEE-AC45-F2B85B9EFA59}"/>
              </a:ext>
            </a:extLst>
          </p:cNvPr>
          <p:cNvSpPr>
            <a:spLocks xmlns:a="http://schemas.openxmlformats.org/drawingml/2006/main" noGrp="1"/>
          </p:cNvSpPr>
          <p:nvPr/>
        </p:nvSpPr>
        <p:spPr>
          <a:xfrm xmlns:a="http://schemas.openxmlformats.org/drawingml/2006/main">
            <a:off x="6242152" y="1901952"/>
            <a:ext cx="155646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950">
                <a:solidFill>
                  <a:srgbClr val="5A6B84"/>
                </a:solidFill>
                <a:latin typeface="Calibri"/>
                <a:ea typeface="Calibri"/>
                <a:cs typeface="Calibri"/>
              </a:rPr>
              <a:t>nonconformity</a:t>
            </a:r>
          </a:p>
          <a:p xmlns:a="http://schemas.openxmlformats.org/drawingml/2006/main">
            <a:pPr marL="0" indent="0" algn="ctr">
              <a:lnSpc>
                <a:spcPct val="100000"/>
              </a:lnSpc>
              <a:buNone/>
            </a:pPr>
            <a:r>
              <a:rPr sz="950">
                <a:solidFill>
                  <a:srgbClr val="5A6B84"/>
                </a:solidFill>
                <a:latin typeface="Calibri"/>
                <a:ea typeface="Calibri"/>
                <a:cs typeface="Calibri"/>
              </a:rPr>
              <a:t>score</a:t>
            </a:r>
          </a:p>
        </p:txBody>
      </p:sp>
      <p:sp>
        <p:nvSpPr>
          <p:cNvPr id="19" name="Shape 13">
            <a:extLst xmlns:a="http://schemas.openxmlformats.org/drawingml/2006/main">
              <a:ext uri="{FF2B5EF4-FFF2-40B4-BE49-F238E27FC236}">
                <a16:creationId xmlns:a16="http://schemas.microsoft.com/office/drawing/2014/main" id="{82E23B89-D92B-492F-B679-46E8E988D589}"/>
              </a:ext>
            </a:extLst>
          </p:cNvPr>
          <p:cNvSpPr>
            <a:spLocks xmlns:a="http://schemas.openxmlformats.org/drawingml/2006/main" noGrp="1"/>
          </p:cNvSpPr>
          <p:nvPr/>
        </p:nvSpPr>
        <p:spPr>
          <a:xfrm xmlns:a="http://schemas.openxmlformats.org/drawingml/2006/main">
            <a:off x="8036357" y="1481328"/>
            <a:ext cx="166618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pic>
        <p:nvPicPr>
          <p:cNvPr id="20" name="Image 4"/>
          <p:cNvPicPr>
            <a:picLocks xmlns:a="http://schemas.openxmlformats.org/drawingml/2006/main" noChangeAspect="1"/>
          </p:cNvPicPr>
          <p:nvPr/>
        </p:nvPicPr>
        <p:blipFill>
          <a:blip xmlns:r="http://schemas.openxmlformats.org/officeDocument/2006/relationships" xmlns:a="http://schemas.openxmlformats.org/drawingml/2006/main" r:embed="R26a29eafff354f15"/>
          <a:stretch xmlns:a="http://schemas.openxmlformats.org/drawingml/2006/main">
            <a:fillRect l="0" t="0" r="0" b="0"/>
          </a:stretch>
        </p:blipFill>
        <p:spPr>
          <a:xfrm xmlns:a="http://schemas.openxmlformats.org/drawingml/2006/main">
            <a:off x="8774201" y="1591056"/>
            <a:ext cx="190500" cy="274320"/>
          </a:xfrm>
          <a:prstGeom xmlns:a="http://schemas.openxmlformats.org/drawingml/2006/main" prst="rect">
            <a:avLst/>
          </a:prstGeom>
        </p:spPr>
      </p:pic>
      <p:sp>
        <p:nvSpPr>
          <p:cNvPr id="21" name="Text 14">
            <a:extLst xmlns:a="http://schemas.openxmlformats.org/drawingml/2006/main">
              <a:ext uri="{FF2B5EF4-FFF2-40B4-BE49-F238E27FC236}">
                <a16:creationId xmlns:a16="http://schemas.microsoft.com/office/drawing/2014/main" id="{EE39680C-479C-41E1-8EDB-D6313C6339CA}"/>
              </a:ext>
            </a:extLst>
          </p:cNvPr>
          <p:cNvSpPr>
            <a:spLocks xmlns:a="http://schemas.openxmlformats.org/drawingml/2006/main" noGrp="1"/>
          </p:cNvSpPr>
          <p:nvPr/>
        </p:nvSpPr>
        <p:spPr>
          <a:xfrm xmlns:a="http://schemas.openxmlformats.org/drawingml/2006/main">
            <a:off x="8091221" y="1901952"/>
            <a:ext cx="155646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950">
                <a:solidFill>
                  <a:srgbClr val="5A6B84"/>
                </a:solidFill>
                <a:latin typeface="Calibri"/>
                <a:ea typeface="Calibri"/>
                <a:cs typeface="Calibri"/>
              </a:rPr>
              <a:t>calibrated</a:t>
            </a:r>
          </a:p>
          <a:p xmlns:a="http://schemas.openxmlformats.org/drawingml/2006/main">
            <a:pPr marL="0" indent="0" algn="ctr">
              <a:lnSpc>
                <a:spcPct val="100000"/>
              </a:lnSpc>
              <a:buNone/>
            </a:pPr>
            <a:r>
              <a:rPr sz="950">
                <a:solidFill>
                  <a:srgbClr val="5A6B84"/>
                </a:solidFill>
                <a:latin typeface="Calibri"/>
                <a:ea typeface="Calibri"/>
                <a:cs typeface="Calibri"/>
              </a:rPr>
              <a:t>threshold</a:t>
            </a:r>
          </a:p>
        </p:txBody>
      </p:sp>
      <p:sp>
        <p:nvSpPr>
          <p:cNvPr id="22" name="Shape 15">
            <a:extLst xmlns:a="http://schemas.openxmlformats.org/drawingml/2006/main">
              <a:ext uri="{FF2B5EF4-FFF2-40B4-BE49-F238E27FC236}">
                <a16:creationId xmlns:a16="http://schemas.microsoft.com/office/drawing/2014/main" id="{4D3AD86E-E713-4BFB-A8DF-1FF7897596C3}"/>
              </a:ext>
            </a:extLst>
          </p:cNvPr>
          <p:cNvSpPr>
            <a:spLocks xmlns:a="http://schemas.openxmlformats.org/drawingml/2006/main" noGrp="1"/>
          </p:cNvSpPr>
          <p:nvPr/>
        </p:nvSpPr>
        <p:spPr>
          <a:xfrm xmlns:a="http://schemas.openxmlformats.org/drawingml/2006/main">
            <a:off x="9885426" y="1481328"/>
            <a:ext cx="166618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pic>
        <p:nvPicPr>
          <p:cNvPr id="23" name="Image 5"/>
          <p:cNvPicPr>
            <a:picLocks xmlns:a="http://schemas.openxmlformats.org/drawingml/2006/main" noChangeAspect="1"/>
          </p:cNvPicPr>
          <p:nvPr/>
        </p:nvPicPr>
        <p:blipFill>
          <a:blip xmlns:r="http://schemas.openxmlformats.org/officeDocument/2006/relationships" xmlns:a="http://schemas.openxmlformats.org/drawingml/2006/main" r:embed="R646661bb9ef5488f"/>
          <a:stretch xmlns:a="http://schemas.openxmlformats.org/drawingml/2006/main">
            <a:fillRect l="0" t="0" r="0" b="0"/>
          </a:stretch>
        </p:blipFill>
        <p:spPr>
          <a:xfrm xmlns:a="http://schemas.openxmlformats.org/drawingml/2006/main">
            <a:off x="10529926" y="1591056"/>
            <a:ext cx="377190" cy="274320"/>
          </a:xfrm>
          <a:prstGeom xmlns:a="http://schemas.openxmlformats.org/drawingml/2006/main" prst="rect">
            <a:avLst/>
          </a:prstGeom>
        </p:spPr>
      </p:pic>
      <p:sp>
        <p:nvSpPr>
          <p:cNvPr id="24" name="Text 16">
            <a:extLst xmlns:a="http://schemas.openxmlformats.org/drawingml/2006/main">
              <a:ext uri="{FF2B5EF4-FFF2-40B4-BE49-F238E27FC236}">
                <a16:creationId xmlns:a16="http://schemas.microsoft.com/office/drawing/2014/main" id="{72DA68F5-177B-4B53-97A1-8CF7F79B3919}"/>
              </a:ext>
            </a:extLst>
          </p:cNvPr>
          <p:cNvSpPr>
            <a:spLocks xmlns:a="http://schemas.openxmlformats.org/drawingml/2006/main" noGrp="1"/>
          </p:cNvSpPr>
          <p:nvPr/>
        </p:nvSpPr>
        <p:spPr>
          <a:xfrm xmlns:a="http://schemas.openxmlformats.org/drawingml/2006/main">
            <a:off x="9940290" y="1901952"/>
            <a:ext cx="155646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950">
                <a:solidFill>
                  <a:srgbClr val="5A6B84"/>
                </a:solidFill>
                <a:latin typeface="Calibri"/>
                <a:ea typeface="Calibri"/>
                <a:cs typeface="Calibri"/>
              </a:rPr>
              <a:t>manifest</a:t>
            </a:r>
          </a:p>
          <a:p xmlns:a="http://schemas.openxmlformats.org/drawingml/2006/main">
            <a:pPr marL="0" indent="0" algn="ctr">
              <a:lnSpc>
                <a:spcPct val="100000"/>
              </a:lnSpc>
              <a:buNone/>
            </a:pPr>
            <a:r>
              <a:rPr sz="950">
                <a:solidFill>
                  <a:srgbClr val="5A6B84"/>
                </a:solidFill>
                <a:latin typeface="Calibri"/>
                <a:ea typeface="Calibri"/>
                <a:cs typeface="Calibri"/>
              </a:rPr>
              <a:t>pins</a:t>
            </a:r>
          </a:p>
        </p:txBody>
      </p:sp>
      <p:sp>
        <p:nvSpPr>
          <p:cNvPr id="25" name="Shape 17">
            <a:extLst xmlns:a="http://schemas.openxmlformats.org/drawingml/2006/main">
              <a:ext uri="{FF2B5EF4-FFF2-40B4-BE49-F238E27FC236}">
                <a16:creationId xmlns:a16="http://schemas.microsoft.com/office/drawing/2014/main" id="{57057271-B69B-4B19-BB7B-02D9BB8EFCC6}"/>
              </a:ext>
            </a:extLst>
          </p:cNvPr>
          <p:cNvSpPr>
            <a:spLocks xmlns:a="http://schemas.openxmlformats.org/drawingml/2006/main" noGrp="1"/>
          </p:cNvSpPr>
          <p:nvPr/>
        </p:nvSpPr>
        <p:spPr>
          <a:xfrm xmlns:a="http://schemas.openxmlformats.org/drawingml/2006/main">
            <a:off x="640080" y="2487168"/>
            <a:ext cx="5291176" cy="1316736"/>
          </a:xfrm>
          <a:prstGeom xmlns:a="http://schemas.openxmlformats.org/drawingml/2006/main" prst="roundRect">
            <a:avLst>
              <a:gd name="adj" fmla="val 3472"/>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26" name="Image 6"/>
          <p:cNvPicPr>
            <a:picLocks xmlns:a="http://schemas.openxmlformats.org/drawingml/2006/main" noChangeAspect="1"/>
          </p:cNvPicPr>
          <p:nvPr/>
        </p:nvPicPr>
        <p:blipFill>
          <a:blip xmlns:r="http://schemas.openxmlformats.org/officeDocument/2006/relationships" xmlns:a="http://schemas.openxmlformats.org/drawingml/2006/main" r:embed="R9b73d701d7e44040"/>
          <a:stretch xmlns:a="http://schemas.openxmlformats.org/drawingml/2006/main">
            <a:fillRect l="0" t="0" r="0" b="0"/>
          </a:stretch>
        </p:blipFill>
        <p:spPr>
          <a:xfrm xmlns:a="http://schemas.openxmlformats.org/drawingml/2006/main">
            <a:off x="877824" y="2681103"/>
            <a:ext cx="4248760" cy="252209"/>
          </a:xfrm>
          <a:prstGeom xmlns:a="http://schemas.openxmlformats.org/drawingml/2006/main" prst="rect">
            <a:avLst/>
          </a:prstGeom>
        </p:spPr>
      </p:pic>
      <p:sp>
        <p:nvSpPr>
          <p:cNvPr id="27" name="Text 18">
            <a:extLst xmlns:a="http://schemas.openxmlformats.org/drawingml/2006/main">
              <a:ext uri="{FF2B5EF4-FFF2-40B4-BE49-F238E27FC236}">
                <a16:creationId xmlns:a16="http://schemas.microsoft.com/office/drawing/2014/main" id="{20108510-3A56-48F2-91EA-09389608A001}"/>
              </a:ext>
            </a:extLst>
          </p:cNvPr>
          <p:cNvSpPr>
            <a:spLocks xmlns:a="http://schemas.openxmlformats.org/drawingml/2006/main" noGrp="1"/>
          </p:cNvSpPr>
          <p:nvPr/>
        </p:nvSpPr>
        <p:spPr>
          <a:xfrm xmlns:a="http://schemas.openxmlformats.org/drawingml/2006/main">
            <a:off x="877824" y="3054096"/>
            <a:ext cx="481568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SELECTIVE DISPATCH — if any precondition fails, the baseline agent runs. A pre-commit failure with a clean staging proof also returns the baseline; a dirty failure is an incident, not a fallback.</a:t>
            </a:r>
          </a:p>
        </p:txBody>
      </p:sp>
      <p:sp>
        <p:nvSpPr>
          <p:cNvPr id="28" name="Text 19">
            <a:extLst xmlns:a="http://schemas.openxmlformats.org/drawingml/2006/main">
              <a:ext uri="{FF2B5EF4-FFF2-40B4-BE49-F238E27FC236}">
                <a16:creationId xmlns:a16="http://schemas.microsoft.com/office/drawing/2014/main" id="{DBB8E821-A3CD-4B9D-A56E-17723F38A03E}"/>
              </a:ext>
            </a:extLst>
          </p:cNvPr>
          <p:cNvSpPr>
            <a:spLocks xmlns:a="http://schemas.openxmlformats.org/drawingml/2006/main" noGrp="1"/>
          </p:cNvSpPr>
          <p:nvPr/>
        </p:nvSpPr>
        <p:spPr>
          <a:xfrm xmlns:a="http://schemas.openxmlformats.org/drawingml/2006/main">
            <a:off x="5236312" y="2633472"/>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(3)</a:t>
            </a:r>
          </a:p>
        </p:txBody>
      </p:sp>
      <p:sp>
        <p:nvSpPr>
          <p:cNvPr id="29" name="Shape 20">
            <a:extLst xmlns:a="http://schemas.openxmlformats.org/drawingml/2006/main">
              <a:ext uri="{FF2B5EF4-FFF2-40B4-BE49-F238E27FC236}">
                <a16:creationId xmlns:a16="http://schemas.microsoft.com/office/drawing/2014/main" id="{800A005A-C375-4A9C-A05A-A1457106DE40}"/>
              </a:ext>
            </a:extLst>
          </p:cNvPr>
          <p:cNvSpPr>
            <a:spLocks xmlns:a="http://schemas.openxmlformats.org/drawingml/2006/main" noGrp="1"/>
          </p:cNvSpPr>
          <p:nvPr/>
        </p:nvSpPr>
        <p:spPr>
          <a:xfrm xmlns:a="http://schemas.openxmlformats.org/drawingml/2006/main">
            <a:off x="6260440" y="2487168"/>
            <a:ext cx="5291176" cy="1316736"/>
          </a:xfrm>
          <a:prstGeom xmlns:a="http://schemas.openxmlformats.org/drawingml/2006/main" prst="roundRect">
            <a:avLst>
              <a:gd name="adj" fmla="val 3472"/>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30" name="Image 7"/>
          <p:cNvPicPr>
            <a:picLocks xmlns:a="http://schemas.openxmlformats.org/drawingml/2006/main" noChangeAspect="1"/>
          </p:cNvPicPr>
          <p:nvPr/>
        </p:nvPicPr>
        <p:blipFill>
          <a:blip xmlns:r="http://schemas.openxmlformats.org/officeDocument/2006/relationships" xmlns:a="http://schemas.openxmlformats.org/drawingml/2006/main" r:embed="Rf72f8d857c3c4903"/>
          <a:stretch xmlns:a="http://schemas.openxmlformats.org/drawingml/2006/main">
            <a:fillRect l="0" t="0" r="0" b="0"/>
          </a:stretch>
        </p:blipFill>
        <p:spPr>
          <a:xfrm xmlns:a="http://schemas.openxmlformats.org/drawingml/2006/main">
            <a:off x="6498184" y="2633472"/>
            <a:ext cx="2558230" cy="621792"/>
          </a:xfrm>
          <a:prstGeom xmlns:a="http://schemas.openxmlformats.org/drawingml/2006/main" prst="rect">
            <a:avLst/>
          </a:prstGeom>
        </p:spPr>
      </p:pic>
      <p:sp>
        <p:nvSpPr>
          <p:cNvPr id="31" name="Text 21">
            <a:extLst xmlns:a="http://schemas.openxmlformats.org/drawingml/2006/main">
              <a:ext uri="{FF2B5EF4-FFF2-40B4-BE49-F238E27FC236}">
                <a16:creationId xmlns:a16="http://schemas.microsoft.com/office/drawing/2014/main" id="{5FA8C8CA-C335-4D3C-9839-12A50FB92997}"/>
              </a:ext>
            </a:extLst>
          </p:cNvPr>
          <p:cNvSpPr>
            <a:spLocks xmlns:a="http://schemas.openxmlformats.org/drawingml/2006/main" noGrp="1"/>
          </p:cNvSpPr>
          <p:nvPr/>
        </p:nvSpPr>
        <p:spPr>
          <a:xfrm xmlns:a="http://schemas.openxmlformats.org/drawingml/2006/main">
            <a:off x="6498184" y="3328416"/>
            <a:ext cx="48156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CONSTRAINED OBJECTIVE — maximize coverage-weighted saving against the unchanged agent B, subject to bounded selective risk. Returning no artifact (Retire) is a valid solution.</a:t>
            </a:r>
          </a:p>
        </p:txBody>
      </p:sp>
      <p:sp>
        <p:nvSpPr>
          <p:cNvPr id="32" name="Text 22">
            <a:extLst xmlns:a="http://schemas.openxmlformats.org/drawingml/2006/main">
              <a:ext uri="{FF2B5EF4-FFF2-40B4-BE49-F238E27FC236}">
                <a16:creationId xmlns:a16="http://schemas.microsoft.com/office/drawing/2014/main" id="{68388E31-8074-4B54-9390-C8525EDA54E7}"/>
              </a:ext>
            </a:extLst>
          </p:cNvPr>
          <p:cNvSpPr>
            <a:spLocks xmlns:a="http://schemas.openxmlformats.org/drawingml/2006/main" noGrp="1"/>
          </p:cNvSpPr>
          <p:nvPr/>
        </p:nvSpPr>
        <p:spPr>
          <a:xfrm xmlns:a="http://schemas.openxmlformats.org/drawingml/2006/main">
            <a:off x="10856671" y="2633472"/>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(4) (5)</a:t>
            </a:r>
          </a:p>
        </p:txBody>
      </p:sp>
      <p:sp>
        <p:nvSpPr>
          <p:cNvPr id="33" name="Shape 23">
            <a:extLst xmlns:a="http://schemas.openxmlformats.org/drawingml/2006/main">
              <a:ext uri="{FF2B5EF4-FFF2-40B4-BE49-F238E27FC236}">
                <a16:creationId xmlns:a16="http://schemas.microsoft.com/office/drawing/2014/main" id="{76A4D3A9-BC19-487E-8B96-00F1915FBE1B}"/>
              </a:ext>
            </a:extLst>
          </p:cNvPr>
          <p:cNvSpPr>
            <a:spLocks xmlns:a="http://schemas.openxmlformats.org/drawingml/2006/main" noGrp="1"/>
          </p:cNvSpPr>
          <p:nvPr/>
        </p:nvSpPr>
        <p:spPr>
          <a:xfrm xmlns:a="http://schemas.openxmlformats.org/drawingml/2006/main">
            <a:off x="640080" y="3913632"/>
            <a:ext cx="10911535" cy="914400"/>
          </a:xfrm>
          <a:prstGeom xmlns:a="http://schemas.openxmlformats.org/drawingml/2006/main" prst="roundRect">
            <a:avLst>
              <a:gd name="adj" fmla="val 5000"/>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4" name="Text 24">
            <a:extLst xmlns:a="http://schemas.openxmlformats.org/drawingml/2006/main">
              <a:ext uri="{FF2B5EF4-FFF2-40B4-BE49-F238E27FC236}">
                <a16:creationId xmlns:a16="http://schemas.microsoft.com/office/drawing/2014/main" id="{BFB2F8A6-DC17-4785-86D1-133F384B81D7}"/>
              </a:ext>
            </a:extLst>
          </p:cNvPr>
          <p:cNvSpPr>
            <a:spLocks xmlns:a="http://schemas.openxmlformats.org/drawingml/2006/main" noGrp="1"/>
          </p:cNvSpPr>
          <p:nvPr/>
        </p:nvSpPr>
        <p:spPr>
          <a:xfrm xmlns:a="http://schemas.openxmlformats.org/drawingml/2006/main">
            <a:off x="896112" y="4005072"/>
            <a:ext cx="10399471"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50" b="1">
                <a:solidFill>
                  <a:srgbClr val="0E1E3A"/>
                </a:solidFill>
                <a:latin typeface="Calibri"/>
                <a:ea typeface="Calibri"/>
                <a:cs typeface="Calibri"/>
              </a:rPr>
              <a:t>Honest reading of the objective. </a:t>
            </a:r>
            <a:r>
              <a:rPr sz="1150">
                <a:solidFill>
                  <a:srgbClr val="24354F"/>
                </a:solidFill>
                <a:latin typeface="Calibri"/>
                <a:ea typeface="Calibri"/>
                <a:cs typeface="Calibri"/>
              </a:rPr>
              <a:t>Equation (5) is a design target, not a problem the implementation solves. Algorithm 1 ranks families and returns the first that survives synthesis, contracts, and calibration — it neither enumerates all admissible families nor bounds the gap to the best one. Because the first admissible family ships, the ranking is load-bearing after all.</a:t>
            </a:r>
          </a:p>
        </p:txBody>
      </p:sp>
      <p:sp>
        <p:nvSpPr>
          <p:cNvPr id="35" name="Text 25">
            <a:extLst xmlns:a="http://schemas.openxmlformats.org/drawingml/2006/main">
              <a:ext uri="{FF2B5EF4-FFF2-40B4-BE49-F238E27FC236}">
                <a16:creationId xmlns:a16="http://schemas.microsoft.com/office/drawing/2014/main" id="{889E3655-FC9F-4DB0-A1B4-366FCEABAFAC}"/>
              </a:ext>
            </a:extLst>
          </p:cNvPr>
          <p:cNvSpPr>
            <a:spLocks xmlns:a="http://schemas.openxmlformats.org/drawingml/2006/main" noGrp="1"/>
          </p:cNvSpPr>
          <p:nvPr/>
        </p:nvSpPr>
        <p:spPr>
          <a:xfrm xmlns:a="http://schemas.openxmlformats.org/drawingml/2006/main">
            <a:off x="640080" y="4956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TWO DECISION LAYERS, DELIBERATELY SEPARATED</a:t>
            </a:r>
          </a:p>
        </p:txBody>
      </p:sp>
      <p:sp>
        <p:nvSpPr>
          <p:cNvPr id="36" name="Shape 26">
            <a:extLst xmlns:a="http://schemas.openxmlformats.org/drawingml/2006/main">
              <a:ext uri="{FF2B5EF4-FFF2-40B4-BE49-F238E27FC236}">
                <a16:creationId xmlns:a16="http://schemas.microsoft.com/office/drawing/2014/main" id="{60E5E73D-B436-411C-BE33-885C0A6F62A0}"/>
              </a:ext>
            </a:extLst>
          </p:cNvPr>
          <p:cNvSpPr>
            <a:spLocks xmlns:a="http://schemas.openxmlformats.org/drawingml/2006/main" noGrp="1"/>
          </p:cNvSpPr>
          <p:nvPr/>
        </p:nvSpPr>
        <p:spPr>
          <a:xfrm xmlns:a="http://schemas.openxmlformats.org/drawingml/2006/main">
            <a:off x="640080" y="5212080"/>
            <a:ext cx="5291176" cy="950976"/>
          </a:xfrm>
          <a:prstGeom xmlns:a="http://schemas.openxmlformats.org/drawingml/2006/main" prst="roundRect">
            <a:avLst>
              <a:gd name="adj" fmla="val 480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7" name="Text 27">
            <a:extLst xmlns:a="http://schemas.openxmlformats.org/drawingml/2006/main">
              <a:ext uri="{FF2B5EF4-FFF2-40B4-BE49-F238E27FC236}">
                <a16:creationId xmlns:a16="http://schemas.microsoft.com/office/drawing/2014/main" id="{71591C0F-D8F3-4B25-9209-0901DDC921C5}"/>
              </a:ext>
            </a:extLst>
          </p:cNvPr>
          <p:cNvSpPr>
            <a:spLocks xmlns:a="http://schemas.openxmlformats.org/drawingml/2006/main" noGrp="1"/>
          </p:cNvSpPr>
          <p:nvPr/>
        </p:nvSpPr>
        <p:spPr>
          <a:xfrm xmlns:a="http://schemas.openxmlformats.org/drawingml/2006/main">
            <a:off x="877824" y="5303520"/>
            <a:ext cx="48156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F8A99"/>
                </a:solidFill>
                <a:latin typeface="Cambria"/>
                <a:ea typeface="Cambria"/>
                <a:cs typeface="Cambria"/>
              </a:rPr>
              <a:t>Compiler layer</a:t>
            </a:r>
          </a:p>
        </p:txBody>
      </p:sp>
      <p:sp>
        <p:nvSpPr>
          <p:cNvPr id="38" name="Text 28">
            <a:extLst xmlns:a="http://schemas.openxmlformats.org/drawingml/2006/main">
              <a:ext uri="{FF2B5EF4-FFF2-40B4-BE49-F238E27FC236}">
                <a16:creationId xmlns:a16="http://schemas.microsoft.com/office/drawing/2014/main" id="{A344E4C4-BF55-4047-9844-F1482ED58530}"/>
              </a:ext>
            </a:extLst>
          </p:cNvPr>
          <p:cNvSpPr>
            <a:spLocks xmlns:a="http://schemas.openxmlformats.org/drawingml/2006/main" noGrp="1"/>
          </p:cNvSpPr>
          <p:nvPr/>
        </p:nvSpPr>
        <p:spPr>
          <a:xfrm xmlns:a="http://schemas.openxmlformats.org/drawingml/2006/main">
            <a:off x="877824" y="5577840"/>
            <a:ext cx="48156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Action set is exactly {B, A}: retain the baseline, or admit one compiled artifact. Binary by construction.</a:t>
            </a:r>
          </a:p>
        </p:txBody>
      </p:sp>
      <p:sp>
        <p:nvSpPr>
          <p:cNvPr id="39" name="Shape 29">
            <a:extLst xmlns:a="http://schemas.openxmlformats.org/drawingml/2006/main">
              <a:ext uri="{FF2B5EF4-FFF2-40B4-BE49-F238E27FC236}">
                <a16:creationId xmlns:a16="http://schemas.microsoft.com/office/drawing/2014/main" id="{262DBA16-BF11-4301-B421-CB83A3645B88}"/>
              </a:ext>
            </a:extLst>
          </p:cNvPr>
          <p:cNvSpPr>
            <a:spLocks xmlns:a="http://schemas.openxmlformats.org/drawingml/2006/main" noGrp="1"/>
          </p:cNvSpPr>
          <p:nvPr/>
        </p:nvSpPr>
        <p:spPr>
          <a:xfrm xmlns:a="http://schemas.openxmlformats.org/drawingml/2006/main">
            <a:off x="6260440" y="5212080"/>
            <a:ext cx="5291176" cy="950976"/>
          </a:xfrm>
          <a:prstGeom xmlns:a="http://schemas.openxmlformats.org/drawingml/2006/main" prst="roundRect">
            <a:avLst>
              <a:gd name="adj" fmla="val 480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40" name="Text 30">
            <a:extLst xmlns:a="http://schemas.openxmlformats.org/drawingml/2006/main">
              <a:ext uri="{FF2B5EF4-FFF2-40B4-BE49-F238E27FC236}">
                <a16:creationId xmlns:a16="http://schemas.microsoft.com/office/drawing/2014/main" id="{458BD751-2529-4643-AD24-F6DE448F6A1E}"/>
              </a:ext>
            </a:extLst>
          </p:cNvPr>
          <p:cNvSpPr>
            <a:spLocks xmlns:a="http://schemas.openxmlformats.org/drawingml/2006/main" noGrp="1"/>
          </p:cNvSpPr>
          <p:nvPr/>
        </p:nvSpPr>
        <p:spPr>
          <a:xfrm xmlns:a="http://schemas.openxmlformats.org/drawingml/2006/main">
            <a:off x="6498184" y="5303520"/>
            <a:ext cx="48156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A3563"/>
                </a:solidFill>
                <a:latin typeface="Cambria"/>
                <a:ea typeface="Cambria"/>
                <a:cs typeface="Cambria"/>
              </a:rPr>
              <a:t>Portfolio layer</a:t>
            </a:r>
          </a:p>
        </p:txBody>
      </p:sp>
      <p:sp>
        <p:nvSpPr>
          <p:cNvPr id="41" name="Text 31">
            <a:extLst xmlns:a="http://schemas.openxmlformats.org/drawingml/2006/main">
              <a:ext uri="{FF2B5EF4-FFF2-40B4-BE49-F238E27FC236}">
                <a16:creationId xmlns:a16="http://schemas.microsoft.com/office/drawing/2014/main" id="{350AED90-93F6-4C59-BE74-955197177575}"/>
              </a:ext>
            </a:extLst>
          </p:cNvPr>
          <p:cNvSpPr>
            <a:spLocks xmlns:a="http://schemas.openxmlformats.org/drawingml/2006/main" noGrp="1"/>
          </p:cNvSpPr>
          <p:nvPr/>
        </p:nvSpPr>
        <p:spPr>
          <a:xfrm xmlns:a="http://schemas.openxmlformats.org/drawingml/2006/main">
            <a:off x="6498184" y="5577840"/>
            <a:ext cx="48156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Consumes paired evidence for named actions and cannot weaken compiler admission. GCS is narrower: it packages one admitted read program behind a bounded, continuation-pinned task projection.</a:t>
            </a:r>
          </a:p>
        </p:txBody>
      </p:sp>
    </p:spTree>
    <p:extLst>
      <p:ext uri="{BB962C8B-B14F-4D97-AF65-F5344CB8AC3E}">
        <p14:creationId xmlns:p14="http://schemas.microsoft.com/office/powerpoint/2010/main" val="686768912"/>
      </p:ext>
    </p:extLst>
  </p:cSld>
</p:sld>
</file>

<file path=ppt/slides/slide8.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79A4C9-9B95-4809-8D86-B7A9186797B6}"/>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43597C"/>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0420D987-AE43-4AD3-83E6-D9D4134F7B93}"/>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43597C"/>
                </a:solidFill>
                <a:latin typeface="Calibri"/>
                <a:ea typeface="Calibri"/>
                <a:cs typeface="Calibri"/>
              </a:rPr>
              <a:t>8</a:t>
            </a:r>
          </a:p>
        </p:txBody>
      </p:sp>
      <p:sp>
        <p:nvSpPr>
          <p:cNvPr id="4" name="Shape 2">
            <a:extLst xmlns:a="http://schemas.openxmlformats.org/drawingml/2006/main">
              <a:ext uri="{FF2B5EF4-FFF2-40B4-BE49-F238E27FC236}">
                <a16:creationId xmlns:a16="http://schemas.microsoft.com/office/drawing/2014/main" id="{250F2228-94DF-454B-BA23-2480607FEE87}"/>
              </a:ext>
            </a:extLst>
          </p:cNvPr>
          <p:cNvSpPr>
            <a:spLocks xmlns:a="http://schemas.openxmlformats.org/drawingml/2006/main" noGrp="1"/>
          </p:cNvSpPr>
          <p:nvPr/>
        </p:nvSpPr>
        <p:spPr>
          <a:xfrm xmlns:a="http://schemas.openxmlformats.org/drawingml/2006/main">
            <a:off x="9326880" y="914400"/>
            <a:ext cx="5120640" cy="5120640"/>
          </a:xfrm>
          <a:prstGeom xmlns:a="http://schemas.openxmlformats.org/drawingml/2006/main" prst="ellipse">
            <a:avLst/>
          </a:prstGeom>
          <a:solidFill xmlns:a="http://schemas.openxmlformats.org/drawingml/2006/main">
            <a:srgbClr val="1A3563">
              <a:alpha val="60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2905FADC-064E-4412-8AF3-010E0D196407}"/>
              </a:ext>
            </a:extLst>
          </p:cNvPr>
          <p:cNvSpPr>
            <a:spLocks xmlns:a="http://schemas.openxmlformats.org/drawingml/2006/main" noGrp="1"/>
          </p:cNvSpPr>
          <p:nvPr/>
        </p:nvSpPr>
        <p:spPr>
          <a:xfrm xmlns:a="http://schemas.openxmlformats.org/drawingml/2006/main">
            <a:off x="10607040" y="2194560"/>
            <a:ext cx="2560320" cy="2560320"/>
          </a:xfrm>
          <a:prstGeom xmlns:a="http://schemas.openxmlformats.org/drawingml/2006/main" prst="ellipse">
            <a:avLst/>
          </a:prstGeom>
          <a:solidFill xmlns:a="http://schemas.openxmlformats.org/drawingml/2006/main">
            <a:srgbClr val="1F8A99">
              <a:alpha val="45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F2B6B60-658F-4719-A3AD-9F7407E143E7}"/>
              </a:ext>
            </a:extLst>
          </p:cNvPr>
          <p:cNvSpPr>
            <a:spLocks xmlns:a="http://schemas.openxmlformats.org/drawingml/2006/main" noGrp="1"/>
          </p:cNvSpPr>
          <p:nvPr/>
        </p:nvSpPr>
        <p:spPr>
          <a:xfrm xmlns:a="http://schemas.openxmlformats.org/drawingml/2006/main">
            <a:off x="640080" y="2148840"/>
            <a:ext cx="14630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600" b="1">
                <a:solidFill>
                  <a:srgbClr val="56B3BE"/>
                </a:solidFill>
                <a:latin typeface="Cambria"/>
                <a:ea typeface="Cambria"/>
                <a:cs typeface="Cambria"/>
              </a:rPr>
              <a:t>II</a:t>
            </a:r>
          </a:p>
        </p:txBody>
      </p:sp>
      <p:sp>
        <p:nvSpPr>
          <p:cNvPr id="7" name="Text 5">
            <a:extLst xmlns:a="http://schemas.openxmlformats.org/drawingml/2006/main">
              <a:ext uri="{FF2B5EF4-FFF2-40B4-BE49-F238E27FC236}">
                <a16:creationId xmlns:a16="http://schemas.microsoft.com/office/drawing/2014/main" id="{64EDBB4C-EE62-4B55-86FB-931E2B66C134}"/>
              </a:ext>
            </a:extLst>
          </p:cNvPr>
          <p:cNvSpPr>
            <a:spLocks xmlns:a="http://schemas.openxmlformats.org/drawingml/2006/main" noGrp="1"/>
          </p:cNvSpPr>
          <p:nvPr/>
        </p:nvSpPr>
        <p:spPr>
          <a:xfrm xmlns:a="http://schemas.openxmlformats.org/drawingml/2006/main">
            <a:off x="2240280" y="2286000"/>
            <a:ext cx="6766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Guarded agentic compaction</a:t>
            </a:r>
          </a:p>
        </p:txBody>
      </p:sp>
      <p:sp>
        <p:nvSpPr>
          <p:cNvPr id="8" name="Text 6">
            <a:extLst xmlns:a="http://schemas.openxmlformats.org/drawingml/2006/main">
              <a:ext uri="{FF2B5EF4-FFF2-40B4-BE49-F238E27FC236}">
                <a16:creationId xmlns:a16="http://schemas.microsoft.com/office/drawing/2014/main" id="{A630A057-8C49-416F-B0CB-2D02205DF4D7}"/>
              </a:ext>
            </a:extLst>
          </p:cNvPr>
          <p:cNvSpPr>
            <a:spLocks xmlns:a="http://schemas.openxmlformats.org/drawingml/2006/main" noGrp="1"/>
          </p:cNvSpPr>
          <p:nvPr/>
        </p:nvSpPr>
        <p:spPr>
          <a:xfrm xmlns:a="http://schemas.openxmlformats.org/drawingml/2006/main">
            <a:off x="2267712" y="3017520"/>
            <a:ext cx="6675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350">
                <a:solidFill>
                  <a:srgbClr val="9BD0D6"/>
                </a:solidFill>
                <a:latin typeface="Calibri"/>
                <a:ea typeface="Calibri"/>
                <a:cs typeface="Calibri"/>
              </a:rPr>
              <a:t>A cascade of independent rejection points: provenance, mining, feasibility, synthesis, contracts, exact calibration — then boundary-time dispatch.</a:t>
            </a:r>
          </a:p>
        </p:txBody>
      </p:sp>
    </p:spTree>
    <p:extLst>
      <p:ext uri="{BB962C8B-B14F-4D97-AF65-F5344CB8AC3E}">
        <p14:creationId xmlns:p14="http://schemas.microsoft.com/office/powerpoint/2010/main" val="7958737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A76249-2322-41B5-AE6D-06669228B39C}"/>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4A0E2FF7-A6DC-459E-A879-37A96978E12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9</a:t>
            </a:r>
          </a:p>
        </p:txBody>
      </p:sp>
      <p:sp>
        <p:nvSpPr>
          <p:cNvPr id="4" name="Text 2">
            <a:extLst xmlns:a="http://schemas.openxmlformats.org/drawingml/2006/main">
              <a:ext uri="{FF2B5EF4-FFF2-40B4-BE49-F238E27FC236}">
                <a16:creationId xmlns:a16="http://schemas.microsoft.com/office/drawing/2014/main" id="{3CB8641B-6C14-453A-962C-FC56ECCD4B44}"/>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  ·  ALGORITHM 1</a:t>
            </a:r>
          </a:p>
        </p:txBody>
      </p:sp>
      <p:sp>
        <p:nvSpPr>
          <p:cNvPr id="5" name="Text 3">
            <a:extLst xmlns:a="http://schemas.openxmlformats.org/drawingml/2006/main">
              <a:ext uri="{FF2B5EF4-FFF2-40B4-BE49-F238E27FC236}">
                <a16:creationId xmlns:a16="http://schemas.microsoft.com/office/drawing/2014/main" id="{81ACFF3E-FCCA-4609-A59B-C16F5E27B9E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Six independent rejection points; refusal is the default output</a:t>
            </a:r>
          </a:p>
        </p:txBody>
      </p:sp>
      <p:sp>
        <p:nvSpPr>
          <p:cNvPr id="6" name="Shape 4">
            <a:extLst xmlns:a="http://schemas.openxmlformats.org/drawingml/2006/main">
              <a:ext uri="{FF2B5EF4-FFF2-40B4-BE49-F238E27FC236}">
                <a16:creationId xmlns:a16="http://schemas.microsoft.com/office/drawing/2014/main" id="{0D9B03A4-3FF8-41A3-85EE-8B089F563B1B}"/>
              </a:ext>
            </a:extLst>
          </p:cNvPr>
          <p:cNvSpPr>
            <a:spLocks xmlns:a="http://schemas.openxmlformats.org/drawingml/2006/main" noGrp="1"/>
          </p:cNvSpPr>
          <p:nvPr/>
        </p:nvSpPr>
        <p:spPr>
          <a:xfrm xmlns:a="http://schemas.openxmlformats.org/drawingml/2006/main">
            <a:off x="640080" y="1207008"/>
            <a:ext cx="10911535" cy="749808"/>
          </a:xfrm>
          <a:prstGeom xmlns:a="http://schemas.openxmlformats.org/drawingml/2006/main" prst="roundRect">
            <a:avLst>
              <a:gd name="adj" fmla="val 609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77ABCF72-053C-480A-B4D9-264699E362B8}"/>
              </a:ext>
            </a:extLst>
          </p:cNvPr>
          <p:cNvSpPr>
            <a:spLocks xmlns:a="http://schemas.openxmlformats.org/drawingml/2006/main" noGrp="1"/>
          </p:cNvSpPr>
          <p:nvPr/>
        </p:nvSpPr>
        <p:spPr>
          <a:xfrm xmlns:a="http://schemas.openxmlformats.org/drawingml/2006/main">
            <a:off x="859536" y="1380744"/>
            <a:ext cx="402336" cy="402336"/>
          </a:xfrm>
          <a:prstGeom xmlns:a="http://schemas.openxmlformats.org/drawingml/2006/main" prst="ellipse">
            <a:avLst/>
          </a:prstGeom>
          <a:solidFill xmlns:a="http://schemas.openxmlformats.org/drawingml/2006/main">
            <a:srgbClr val="56B3BE"/>
          </a:solidFill>
          <a:ln xmlns:a="http://schemas.openxmlformats.org/drawingml/2006/main" w="635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3B7B942-028C-44B5-9565-B54A3BD653B6}"/>
              </a:ext>
            </a:extLst>
          </p:cNvPr>
          <p:cNvSpPr>
            <a:spLocks xmlns:a="http://schemas.openxmlformats.org/drawingml/2006/main" noGrp="1"/>
          </p:cNvSpPr>
          <p:nvPr/>
        </p:nvSpPr>
        <p:spPr>
          <a:xfrm xmlns:a="http://schemas.openxmlformats.org/drawingml/2006/main">
            <a:off x="859536" y="1380744"/>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A</a:t>
            </a:r>
          </a:p>
        </p:txBody>
      </p:sp>
      <p:sp>
        <p:nvSpPr>
          <p:cNvPr id="9" name="Text 7">
            <a:extLst xmlns:a="http://schemas.openxmlformats.org/drawingml/2006/main">
              <a:ext uri="{FF2B5EF4-FFF2-40B4-BE49-F238E27FC236}">
                <a16:creationId xmlns:a16="http://schemas.microsoft.com/office/drawing/2014/main" id="{CA92CE01-BC6D-41CA-95AC-C9CFFE4BED76}"/>
              </a:ext>
            </a:extLst>
          </p:cNvPr>
          <p:cNvSpPr>
            <a:spLocks xmlns:a="http://schemas.openxmlformats.org/drawingml/2006/main" noGrp="1"/>
          </p:cNvSpPr>
          <p:nvPr/>
        </p:nvSpPr>
        <p:spPr>
          <a:xfrm xmlns:a="http://schemas.openxmlformats.org/drawingml/2006/main">
            <a:off x="1371600" y="1335024"/>
            <a:ext cx="1920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Capture</a:t>
            </a:r>
          </a:p>
        </p:txBody>
      </p:sp>
      <p:sp>
        <p:nvSpPr>
          <p:cNvPr id="10" name="Text 8">
            <a:extLst xmlns:a="http://schemas.openxmlformats.org/drawingml/2006/main">
              <a:ext uri="{FF2B5EF4-FFF2-40B4-BE49-F238E27FC236}">
                <a16:creationId xmlns:a16="http://schemas.microsoft.com/office/drawing/2014/main" id="{567DF8A9-8AEA-4C67-AA8F-B9CB5C62B960}"/>
              </a:ext>
            </a:extLst>
          </p:cNvPr>
          <p:cNvSpPr>
            <a:spLocks xmlns:a="http://schemas.openxmlformats.org/drawingml/2006/main" noGrp="1"/>
          </p:cNvSpPr>
          <p:nvPr/>
        </p:nvSpPr>
        <p:spPr>
          <a:xfrm xmlns:a="http://schemas.openxmlformats.org/drawingml/2006/main">
            <a:off x="1371600" y="1609344"/>
            <a:ext cx="9905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24354F"/>
                </a:solidFill>
                <a:latin typeface="Calibri"/>
                <a:ea typeface="Calibri"/>
                <a:cs typeface="Calibri"/>
              </a:rPr>
              <a:t>SDK tracing processor → typed Episode IR → strict, atomic JSONL store. Manifests pin prompt, policy, tools, guardrail, model, SDK, tracer, entry contract, effect catalog.</a:t>
            </a:r>
          </a:p>
        </p:txBody>
      </p:sp>
      <p:sp>
        <p:nvSpPr>
          <p:cNvPr id="11" name="Shape 9">
            <a:extLst xmlns:a="http://schemas.openxmlformats.org/drawingml/2006/main">
              <a:ext uri="{FF2B5EF4-FFF2-40B4-BE49-F238E27FC236}">
                <a16:creationId xmlns:a16="http://schemas.microsoft.com/office/drawing/2014/main" id="{62987319-1EC1-40D3-8500-A9303EE5790B}"/>
              </a:ext>
            </a:extLst>
          </p:cNvPr>
          <p:cNvSpPr>
            <a:spLocks xmlns:a="http://schemas.openxmlformats.org/drawingml/2006/main" noGrp="1"/>
          </p:cNvSpPr>
          <p:nvPr/>
        </p:nvSpPr>
        <p:spPr>
          <a:xfrm xmlns:a="http://schemas.openxmlformats.org/drawingml/2006/main">
            <a:off x="640080" y="2066544"/>
            <a:ext cx="10911535" cy="749808"/>
          </a:xfrm>
          <a:prstGeom xmlns:a="http://schemas.openxmlformats.org/drawingml/2006/main" prst="roundRect">
            <a:avLst>
              <a:gd name="adj" fmla="val 609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1C430F88-3ABD-4606-A5A9-569F00F22688}"/>
              </a:ext>
            </a:extLst>
          </p:cNvPr>
          <p:cNvSpPr>
            <a:spLocks xmlns:a="http://schemas.openxmlformats.org/drawingml/2006/main" noGrp="1"/>
          </p:cNvSpPr>
          <p:nvPr/>
        </p:nvSpPr>
        <p:spPr>
          <a:xfrm xmlns:a="http://schemas.openxmlformats.org/drawingml/2006/main">
            <a:off x="859536" y="2240280"/>
            <a:ext cx="402336" cy="40233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04FA98D9-1416-4C03-A7A6-C86EC302B63B}"/>
              </a:ext>
            </a:extLst>
          </p:cNvPr>
          <p:cNvSpPr>
            <a:spLocks xmlns:a="http://schemas.openxmlformats.org/drawingml/2006/main" noGrp="1"/>
          </p:cNvSpPr>
          <p:nvPr/>
        </p:nvSpPr>
        <p:spPr>
          <a:xfrm xmlns:a="http://schemas.openxmlformats.org/drawingml/2006/main">
            <a:off x="859536" y="2240280"/>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B</a:t>
            </a:r>
          </a:p>
        </p:txBody>
      </p:sp>
      <p:sp>
        <p:nvSpPr>
          <p:cNvPr id="14" name="Text 12">
            <a:extLst xmlns:a="http://schemas.openxmlformats.org/drawingml/2006/main">
              <a:ext uri="{FF2B5EF4-FFF2-40B4-BE49-F238E27FC236}">
                <a16:creationId xmlns:a16="http://schemas.microsoft.com/office/drawing/2014/main" id="{17186805-FAB2-46A7-B9D6-C12AEF780E78}"/>
              </a:ext>
            </a:extLst>
          </p:cNvPr>
          <p:cNvSpPr>
            <a:spLocks xmlns:a="http://schemas.openxmlformats.org/drawingml/2006/main" noGrp="1"/>
          </p:cNvSpPr>
          <p:nvPr/>
        </p:nvSpPr>
        <p:spPr>
          <a:xfrm xmlns:a="http://schemas.openxmlformats.org/drawingml/2006/main">
            <a:off x="1371600" y="2194560"/>
            <a:ext cx="1920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Offline compilation</a:t>
            </a:r>
          </a:p>
        </p:txBody>
      </p:sp>
      <p:sp>
        <p:nvSpPr>
          <p:cNvPr id="15" name="Text 13">
            <a:extLst xmlns:a="http://schemas.openxmlformats.org/drawingml/2006/main">
              <a:ext uri="{FF2B5EF4-FFF2-40B4-BE49-F238E27FC236}">
                <a16:creationId xmlns:a16="http://schemas.microsoft.com/office/drawing/2014/main" id="{2E5329F2-14BE-455A-B55E-98985F5BF64B}"/>
              </a:ext>
            </a:extLst>
          </p:cNvPr>
          <p:cNvSpPr>
            <a:spLocks xmlns:a="http://schemas.openxmlformats.org/drawingml/2006/main" noGrp="1"/>
          </p:cNvSpPr>
          <p:nvPr/>
        </p:nvSpPr>
        <p:spPr>
          <a:xfrm xmlns:a="http://schemas.openxmlformats.org/drawingml/2006/main">
            <a:off x="1371600" y="2468880"/>
            <a:ext cx="9905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24354F"/>
                </a:solidFill>
                <a:latin typeface="Calibri"/>
                <a:ea typeface="Calibri"/>
                <a:cs typeface="Calibri"/>
              </a:rPr>
              <a:t>No production traffic. Qualify → partition → provenance → mine → canonicalize → feasibility → synthesize → contracts → calibrate → package.</a:t>
            </a:r>
          </a:p>
        </p:txBody>
      </p:sp>
      <p:sp>
        <p:nvSpPr>
          <p:cNvPr id="16" name="Shape 14">
            <a:extLst xmlns:a="http://schemas.openxmlformats.org/drawingml/2006/main">
              <a:ext uri="{FF2B5EF4-FFF2-40B4-BE49-F238E27FC236}">
                <a16:creationId xmlns:a16="http://schemas.microsoft.com/office/drawing/2014/main" id="{EF1E4C16-140A-47F4-BC4B-AEA33ABC3255}"/>
              </a:ext>
            </a:extLst>
          </p:cNvPr>
          <p:cNvSpPr>
            <a:spLocks xmlns:a="http://schemas.openxmlformats.org/drawingml/2006/main" noGrp="1"/>
          </p:cNvSpPr>
          <p:nvPr/>
        </p:nvSpPr>
        <p:spPr>
          <a:xfrm xmlns:a="http://schemas.openxmlformats.org/drawingml/2006/main">
            <a:off x="640080" y="2926080"/>
            <a:ext cx="10911535" cy="749808"/>
          </a:xfrm>
          <a:prstGeom xmlns:a="http://schemas.openxmlformats.org/drawingml/2006/main" prst="roundRect">
            <a:avLst>
              <a:gd name="adj" fmla="val 609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EF0A380E-0DA5-4B73-9EAD-B575E9C8EEE7}"/>
              </a:ext>
            </a:extLst>
          </p:cNvPr>
          <p:cNvSpPr>
            <a:spLocks xmlns:a="http://schemas.openxmlformats.org/drawingml/2006/main" noGrp="1"/>
          </p:cNvSpPr>
          <p:nvPr/>
        </p:nvSpPr>
        <p:spPr>
          <a:xfrm xmlns:a="http://schemas.openxmlformats.org/drawingml/2006/main">
            <a:off x="859536" y="3099816"/>
            <a:ext cx="402336" cy="402336"/>
          </a:xfrm>
          <a:prstGeom xmlns:a="http://schemas.openxmlformats.org/drawingml/2006/main" prst="ellipse">
            <a:avLst/>
          </a:prstGeom>
          <a:solidFill xmlns:a="http://schemas.openxmlformats.org/drawingml/2006/main">
            <a:srgbClr val="1A3563"/>
          </a:solidFill>
          <a:ln xmlns:a="http://schemas.openxmlformats.org/drawingml/2006/main" w="635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0F944F61-BDF9-4802-BD32-2DEB4F415674}"/>
              </a:ext>
            </a:extLst>
          </p:cNvPr>
          <p:cNvSpPr>
            <a:spLocks xmlns:a="http://schemas.openxmlformats.org/drawingml/2006/main" noGrp="1"/>
          </p:cNvSpPr>
          <p:nvPr/>
        </p:nvSpPr>
        <p:spPr>
          <a:xfrm xmlns:a="http://schemas.openxmlformats.org/drawingml/2006/main">
            <a:off x="859536" y="309981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C</a:t>
            </a:r>
          </a:p>
        </p:txBody>
      </p:sp>
      <p:sp>
        <p:nvSpPr>
          <p:cNvPr id="19" name="Text 17">
            <a:extLst xmlns:a="http://schemas.openxmlformats.org/drawingml/2006/main">
              <a:ext uri="{FF2B5EF4-FFF2-40B4-BE49-F238E27FC236}">
                <a16:creationId xmlns:a16="http://schemas.microsoft.com/office/drawing/2014/main" id="{A9D0E132-0392-4333-A101-5DDB4DB519C8}"/>
              </a:ext>
            </a:extLst>
          </p:cNvPr>
          <p:cNvSpPr>
            <a:spLocks xmlns:a="http://schemas.openxmlformats.org/drawingml/2006/main" noGrp="1"/>
          </p:cNvSpPr>
          <p:nvPr/>
        </p:nvSpPr>
        <p:spPr>
          <a:xfrm xmlns:a="http://schemas.openxmlformats.org/drawingml/2006/main">
            <a:off x="1371600" y="3054096"/>
            <a:ext cx="1920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Runtime</a:t>
            </a:r>
          </a:p>
        </p:txBody>
      </p:sp>
      <p:sp>
        <p:nvSpPr>
          <p:cNvPr id="20" name="Text 18">
            <a:extLst xmlns:a="http://schemas.openxmlformats.org/drawingml/2006/main">
              <a:ext uri="{FF2B5EF4-FFF2-40B4-BE49-F238E27FC236}">
                <a16:creationId xmlns:a16="http://schemas.microsoft.com/office/drawing/2014/main" id="{E3A59CDF-C84D-4AED-8658-FBFC9E8AA1A1}"/>
              </a:ext>
            </a:extLst>
          </p:cNvPr>
          <p:cNvSpPr>
            <a:spLocks xmlns:a="http://schemas.openxmlformats.org/drawingml/2006/main" noGrp="1"/>
          </p:cNvSpPr>
          <p:nvPr/>
        </p:nvSpPr>
        <p:spPr>
          <a:xfrm xmlns:a="http://schemas.openxmlformats.org/drawingml/2006/main">
            <a:off x="1371600" y="3328416"/>
            <a:ext cx="9905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24354F"/>
                </a:solidFill>
                <a:latin typeface="Calibri"/>
                <a:ea typeface="Calibri"/>
                <a:cs typeface="Calibri"/>
              </a:rPr>
              <a:t>Bounded entry lookup. Ordinary GRC runs guard → gate → stage → interpret → verify → commit; eligible GCS artifacts may verify and project before the first provider request.</a:t>
            </a:r>
          </a:p>
        </p:txBody>
      </p:sp>
      <p:sp>
        <p:nvSpPr>
          <p:cNvPr id="21" name="Text 19">
            <a:extLst xmlns:a="http://schemas.openxmlformats.org/drawingml/2006/main">
              <a:ext uri="{FF2B5EF4-FFF2-40B4-BE49-F238E27FC236}">
                <a16:creationId xmlns:a16="http://schemas.microsoft.com/office/drawing/2014/main" id="{F7B8E869-9C78-46D2-80FE-E98A5D1B5095}"/>
              </a:ext>
            </a:extLst>
          </p:cNvPr>
          <p:cNvSpPr>
            <a:spLocks xmlns:a="http://schemas.openxmlformats.org/drawingml/2006/main" noGrp="1"/>
          </p:cNvSpPr>
          <p:nvPr/>
        </p:nvSpPr>
        <p:spPr>
          <a:xfrm xmlns:a="http://schemas.openxmlformats.org/drawingml/2006/main">
            <a:off x="640080" y="384048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THE CASCADE INSIDE B — ANY HIT RETURNS RETIRE WITH AN ATTRIBUTED REASON</a:t>
            </a:r>
          </a:p>
        </p:txBody>
      </p:sp>
      <p:sp>
        <p:nvSpPr>
          <p:cNvPr id="22" name="Shape 20">
            <a:extLst xmlns:a="http://schemas.openxmlformats.org/drawingml/2006/main">
              <a:ext uri="{FF2B5EF4-FFF2-40B4-BE49-F238E27FC236}">
                <a16:creationId xmlns:a16="http://schemas.microsoft.com/office/drawing/2014/main" id="{46D569D5-C047-4D72-8016-0406A28F701A}"/>
              </a:ext>
            </a:extLst>
          </p:cNvPr>
          <p:cNvSpPr>
            <a:spLocks xmlns:a="http://schemas.openxmlformats.org/drawingml/2006/main" noGrp="1"/>
          </p:cNvSpPr>
          <p:nvPr/>
        </p:nvSpPr>
        <p:spPr>
          <a:xfrm xmlns:a="http://schemas.openxmlformats.org/drawingml/2006/main">
            <a:off x="640080" y="4114800"/>
            <a:ext cx="1696669" cy="1060704"/>
          </a:xfrm>
          <a:prstGeom xmlns:a="http://schemas.openxmlformats.org/drawingml/2006/main" prst="roundRect">
            <a:avLst>
              <a:gd name="adj" fmla="val 4310"/>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8036F3A9-260C-4223-BBD6-A192822CBC3A}"/>
              </a:ext>
            </a:extLst>
          </p:cNvPr>
          <p:cNvSpPr>
            <a:spLocks xmlns:a="http://schemas.openxmlformats.org/drawingml/2006/main" noGrp="1"/>
          </p:cNvSpPr>
          <p:nvPr/>
        </p:nvSpPr>
        <p:spPr>
          <a:xfrm xmlns:a="http://schemas.openxmlformats.org/drawingml/2006/main">
            <a:off x="786384" y="4242816"/>
            <a:ext cx="292608" cy="29260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4CCAF8A3-8988-43E9-B978-680ECC37BAA3}"/>
              </a:ext>
            </a:extLst>
          </p:cNvPr>
          <p:cNvSpPr>
            <a:spLocks xmlns:a="http://schemas.openxmlformats.org/drawingml/2006/main" noGrp="1"/>
          </p:cNvSpPr>
          <p:nvPr/>
        </p:nvSpPr>
        <p:spPr>
          <a:xfrm xmlns:a="http://schemas.openxmlformats.org/drawingml/2006/main">
            <a:off x="786384" y="42428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1</a:t>
            </a:r>
          </a:p>
        </p:txBody>
      </p:sp>
      <p:sp>
        <p:nvSpPr>
          <p:cNvPr id="25" name="Text 23">
            <a:extLst xmlns:a="http://schemas.openxmlformats.org/drawingml/2006/main">
              <a:ext uri="{FF2B5EF4-FFF2-40B4-BE49-F238E27FC236}">
                <a16:creationId xmlns:a16="http://schemas.microsoft.com/office/drawing/2014/main" id="{F487BCD0-2027-4EBC-A345-DC09A5567FBE}"/>
              </a:ext>
            </a:extLst>
          </p:cNvPr>
          <p:cNvSpPr>
            <a:spLocks xmlns:a="http://schemas.openxmlformats.org/drawingml/2006/main" noGrp="1"/>
          </p:cNvSpPr>
          <p:nvPr/>
        </p:nvSpPr>
        <p:spPr>
          <a:xfrm xmlns:a="http://schemas.openxmlformats.org/drawingml/2006/main">
            <a:off x="1133856" y="4242816"/>
            <a:ext cx="107487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1E3A"/>
                </a:solidFill>
                <a:latin typeface="Cambria"/>
                <a:ea typeface="Cambria"/>
                <a:cs typeface="Cambria"/>
              </a:rPr>
              <a:t>Qualify</a:t>
            </a:r>
          </a:p>
        </p:txBody>
      </p:sp>
      <p:sp>
        <p:nvSpPr>
          <p:cNvPr id="26" name="Text 24">
            <a:extLst xmlns:a="http://schemas.openxmlformats.org/drawingml/2006/main">
              <a:ext uri="{FF2B5EF4-FFF2-40B4-BE49-F238E27FC236}">
                <a16:creationId xmlns:a16="http://schemas.microsoft.com/office/drawing/2014/main" id="{1CA0A112-1473-4BEE-A0F8-369367990BD3}"/>
              </a:ext>
            </a:extLst>
          </p:cNvPr>
          <p:cNvSpPr>
            <a:spLocks xmlns:a="http://schemas.openxmlformats.org/drawingml/2006/main" noGrp="1"/>
          </p:cNvSpPr>
          <p:nvPr/>
        </p:nvSpPr>
        <p:spPr>
          <a:xfrm xmlns:a="http://schemas.openxmlformats.org/drawingml/2006/main">
            <a:off x="786384" y="4590288"/>
            <a:ext cx="140406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900">
                <a:solidFill>
                  <a:srgbClr val="5A6B84"/>
                </a:solidFill>
                <a:latin typeface="Calibri"/>
                <a:ea typeface="Calibri"/>
                <a:cs typeface="Calibri"/>
              </a:rPr>
              <a:t>partial runs, unpinned manifests, missing payloads</a:t>
            </a:r>
          </a:p>
        </p:txBody>
      </p:sp>
      <p:sp>
        <p:nvSpPr>
          <p:cNvPr id="27" name="Shape 25">
            <a:extLst xmlns:a="http://schemas.openxmlformats.org/drawingml/2006/main">
              <a:ext uri="{FF2B5EF4-FFF2-40B4-BE49-F238E27FC236}">
                <a16:creationId xmlns:a16="http://schemas.microsoft.com/office/drawing/2014/main" id="{F76C5842-7313-43B5-B096-96342799656A}"/>
              </a:ext>
            </a:extLst>
          </p:cNvPr>
          <p:cNvSpPr>
            <a:spLocks xmlns:a="http://schemas.openxmlformats.org/drawingml/2006/main" noGrp="1"/>
          </p:cNvSpPr>
          <p:nvPr/>
        </p:nvSpPr>
        <p:spPr>
          <a:xfrm xmlns:a="http://schemas.openxmlformats.org/drawingml/2006/main">
            <a:off x="2355037" y="4526280"/>
            <a:ext cx="109728" cy="237744"/>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28" name="Shape 26">
            <a:extLst xmlns:a="http://schemas.openxmlformats.org/drawingml/2006/main">
              <a:ext uri="{FF2B5EF4-FFF2-40B4-BE49-F238E27FC236}">
                <a16:creationId xmlns:a16="http://schemas.microsoft.com/office/drawing/2014/main" id="{2DFF51D6-65BA-4A6A-8CFF-0BBB8E80BC12}"/>
              </a:ext>
            </a:extLst>
          </p:cNvPr>
          <p:cNvSpPr>
            <a:spLocks xmlns:a="http://schemas.openxmlformats.org/drawingml/2006/main" noGrp="1"/>
          </p:cNvSpPr>
          <p:nvPr/>
        </p:nvSpPr>
        <p:spPr>
          <a:xfrm xmlns:a="http://schemas.openxmlformats.org/drawingml/2006/main">
            <a:off x="2483053" y="4114800"/>
            <a:ext cx="1696669" cy="1060704"/>
          </a:xfrm>
          <a:prstGeom xmlns:a="http://schemas.openxmlformats.org/drawingml/2006/main" prst="roundRect">
            <a:avLst>
              <a:gd name="adj" fmla="val 4310"/>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7C692DCA-125F-4E58-AC20-E56CABFA6F73}"/>
              </a:ext>
            </a:extLst>
          </p:cNvPr>
          <p:cNvSpPr>
            <a:spLocks xmlns:a="http://schemas.openxmlformats.org/drawingml/2006/main" noGrp="1"/>
          </p:cNvSpPr>
          <p:nvPr/>
        </p:nvSpPr>
        <p:spPr>
          <a:xfrm xmlns:a="http://schemas.openxmlformats.org/drawingml/2006/main">
            <a:off x="2629357" y="4242816"/>
            <a:ext cx="292608" cy="29260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F0CBF380-2E3F-47F2-A3F0-D88DB33EA031}"/>
              </a:ext>
            </a:extLst>
          </p:cNvPr>
          <p:cNvSpPr>
            <a:spLocks xmlns:a="http://schemas.openxmlformats.org/drawingml/2006/main" noGrp="1"/>
          </p:cNvSpPr>
          <p:nvPr/>
        </p:nvSpPr>
        <p:spPr>
          <a:xfrm xmlns:a="http://schemas.openxmlformats.org/drawingml/2006/main">
            <a:off x="2629357" y="42428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2</a:t>
            </a:r>
          </a:p>
        </p:txBody>
      </p:sp>
      <p:sp>
        <p:nvSpPr>
          <p:cNvPr id="31" name="Text 29">
            <a:extLst xmlns:a="http://schemas.openxmlformats.org/drawingml/2006/main">
              <a:ext uri="{FF2B5EF4-FFF2-40B4-BE49-F238E27FC236}">
                <a16:creationId xmlns:a16="http://schemas.microsoft.com/office/drawing/2014/main" id="{36910C72-4A89-41BF-B90E-0726A3C347A1}"/>
              </a:ext>
            </a:extLst>
          </p:cNvPr>
          <p:cNvSpPr>
            <a:spLocks xmlns:a="http://schemas.openxmlformats.org/drawingml/2006/main" noGrp="1"/>
          </p:cNvSpPr>
          <p:nvPr/>
        </p:nvSpPr>
        <p:spPr>
          <a:xfrm xmlns:a="http://schemas.openxmlformats.org/drawingml/2006/main">
            <a:off x="2976829" y="4242816"/>
            <a:ext cx="107487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1E3A"/>
                </a:solidFill>
                <a:latin typeface="Cambria"/>
                <a:ea typeface="Cambria"/>
                <a:cs typeface="Cambria"/>
              </a:rPr>
              <a:t>Provenance</a:t>
            </a:r>
          </a:p>
        </p:txBody>
      </p:sp>
      <p:sp>
        <p:nvSpPr>
          <p:cNvPr id="32" name="Text 30">
            <a:extLst xmlns:a="http://schemas.openxmlformats.org/drawingml/2006/main">
              <a:ext uri="{FF2B5EF4-FFF2-40B4-BE49-F238E27FC236}">
                <a16:creationId xmlns:a16="http://schemas.microsoft.com/office/drawing/2014/main" id="{E461134B-DDCE-4225-AE06-C35D78FC8E6B}"/>
              </a:ext>
            </a:extLst>
          </p:cNvPr>
          <p:cNvSpPr>
            <a:spLocks xmlns:a="http://schemas.openxmlformats.org/drawingml/2006/main" noGrp="1"/>
          </p:cNvSpPr>
          <p:nvPr/>
        </p:nvSpPr>
        <p:spPr>
          <a:xfrm xmlns:a="http://schemas.openxmlformats.org/drawingml/2006/main">
            <a:off x="2629357" y="4590288"/>
            <a:ext cx="140406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900">
                <a:solidFill>
                  <a:srgbClr val="5A6B84"/>
                </a:solidFill>
                <a:latin typeface="Calibri"/>
                <a:ea typeface="Calibri"/>
                <a:cs typeface="Calibri"/>
              </a:rPr>
              <a:t>ungrounded or ambiguous argument slot</a:t>
            </a:r>
          </a:p>
        </p:txBody>
      </p:sp>
      <p:sp>
        <p:nvSpPr>
          <p:cNvPr id="33" name="Shape 31">
            <a:extLst xmlns:a="http://schemas.openxmlformats.org/drawingml/2006/main">
              <a:ext uri="{FF2B5EF4-FFF2-40B4-BE49-F238E27FC236}">
                <a16:creationId xmlns:a16="http://schemas.microsoft.com/office/drawing/2014/main" id="{9DDD3F26-E117-4CD0-BB51-F343B5D3F0A6}"/>
              </a:ext>
            </a:extLst>
          </p:cNvPr>
          <p:cNvSpPr>
            <a:spLocks xmlns:a="http://schemas.openxmlformats.org/drawingml/2006/main" noGrp="1"/>
          </p:cNvSpPr>
          <p:nvPr/>
        </p:nvSpPr>
        <p:spPr>
          <a:xfrm xmlns:a="http://schemas.openxmlformats.org/drawingml/2006/main">
            <a:off x="4198010" y="4526280"/>
            <a:ext cx="109728" cy="237744"/>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34" name="Shape 32">
            <a:extLst xmlns:a="http://schemas.openxmlformats.org/drawingml/2006/main">
              <a:ext uri="{FF2B5EF4-FFF2-40B4-BE49-F238E27FC236}">
                <a16:creationId xmlns:a16="http://schemas.microsoft.com/office/drawing/2014/main" id="{EF34CE26-F37D-4B21-AE41-86F459AA5164}"/>
              </a:ext>
            </a:extLst>
          </p:cNvPr>
          <p:cNvSpPr>
            <a:spLocks xmlns:a="http://schemas.openxmlformats.org/drawingml/2006/main" noGrp="1"/>
          </p:cNvSpPr>
          <p:nvPr/>
        </p:nvSpPr>
        <p:spPr>
          <a:xfrm xmlns:a="http://schemas.openxmlformats.org/drawingml/2006/main">
            <a:off x="4326026" y="4114800"/>
            <a:ext cx="1696669" cy="1060704"/>
          </a:xfrm>
          <a:prstGeom xmlns:a="http://schemas.openxmlformats.org/drawingml/2006/main" prst="roundRect">
            <a:avLst>
              <a:gd name="adj" fmla="val 4310"/>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5" name="Shape 33">
            <a:extLst xmlns:a="http://schemas.openxmlformats.org/drawingml/2006/main">
              <a:ext uri="{FF2B5EF4-FFF2-40B4-BE49-F238E27FC236}">
                <a16:creationId xmlns:a16="http://schemas.microsoft.com/office/drawing/2014/main" id="{66F10B5F-3B4C-4B25-ACFB-3CE442357400}"/>
              </a:ext>
            </a:extLst>
          </p:cNvPr>
          <p:cNvSpPr>
            <a:spLocks xmlns:a="http://schemas.openxmlformats.org/drawingml/2006/main" noGrp="1"/>
          </p:cNvSpPr>
          <p:nvPr/>
        </p:nvSpPr>
        <p:spPr>
          <a:xfrm xmlns:a="http://schemas.openxmlformats.org/drawingml/2006/main">
            <a:off x="4472330" y="4242816"/>
            <a:ext cx="292608" cy="29260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05C48808-528E-4D53-8FCA-FD1445713F13}"/>
              </a:ext>
            </a:extLst>
          </p:cNvPr>
          <p:cNvSpPr>
            <a:spLocks xmlns:a="http://schemas.openxmlformats.org/drawingml/2006/main" noGrp="1"/>
          </p:cNvSpPr>
          <p:nvPr/>
        </p:nvSpPr>
        <p:spPr>
          <a:xfrm xmlns:a="http://schemas.openxmlformats.org/drawingml/2006/main">
            <a:off x="4472330" y="42428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3</a:t>
            </a:r>
          </a:p>
        </p:txBody>
      </p:sp>
      <p:sp>
        <p:nvSpPr>
          <p:cNvPr id="37" name="Text 35">
            <a:extLst xmlns:a="http://schemas.openxmlformats.org/drawingml/2006/main">
              <a:ext uri="{FF2B5EF4-FFF2-40B4-BE49-F238E27FC236}">
                <a16:creationId xmlns:a16="http://schemas.microsoft.com/office/drawing/2014/main" id="{63F728BC-5563-41AD-8FB5-A5BC149B1962}"/>
              </a:ext>
            </a:extLst>
          </p:cNvPr>
          <p:cNvSpPr>
            <a:spLocks xmlns:a="http://schemas.openxmlformats.org/drawingml/2006/main" noGrp="1"/>
          </p:cNvSpPr>
          <p:nvPr/>
        </p:nvSpPr>
        <p:spPr>
          <a:xfrm xmlns:a="http://schemas.openxmlformats.org/drawingml/2006/main">
            <a:off x="4819802" y="4242816"/>
            <a:ext cx="107487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1E3A"/>
                </a:solidFill>
                <a:latin typeface="Cambria"/>
                <a:ea typeface="Cambria"/>
                <a:cs typeface="Cambria"/>
              </a:rPr>
              <a:t>Feasibility</a:t>
            </a:r>
          </a:p>
        </p:txBody>
      </p:sp>
      <p:sp>
        <p:nvSpPr>
          <p:cNvPr id="38" name="Text 36">
            <a:extLst xmlns:a="http://schemas.openxmlformats.org/drawingml/2006/main">
              <a:ext uri="{FF2B5EF4-FFF2-40B4-BE49-F238E27FC236}">
                <a16:creationId xmlns:a16="http://schemas.microsoft.com/office/drawing/2014/main" id="{5A0C979D-CDEC-4AB0-B3EA-630F38655E55}"/>
              </a:ext>
            </a:extLst>
          </p:cNvPr>
          <p:cNvSpPr>
            <a:spLocks xmlns:a="http://schemas.openxmlformats.org/drawingml/2006/main" noGrp="1"/>
          </p:cNvSpPr>
          <p:nvPr/>
        </p:nvSpPr>
        <p:spPr>
          <a:xfrm xmlns:a="http://schemas.openxmlformats.org/drawingml/2006/main">
            <a:off x="4472330" y="4590288"/>
            <a:ext cx="140406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900">
                <a:solidFill>
                  <a:srgbClr val="5A6B84"/>
                </a:solidFill>
                <a:latin typeface="Calibri"/>
                <a:ea typeface="Calibri"/>
                <a:cs typeface="Calibri"/>
              </a:rPr>
              <a:t>ceiling below target, before paying for synthesis</a:t>
            </a:r>
          </a:p>
        </p:txBody>
      </p:sp>
      <p:sp>
        <p:nvSpPr>
          <p:cNvPr id="39" name="Shape 37">
            <a:extLst xmlns:a="http://schemas.openxmlformats.org/drawingml/2006/main">
              <a:ext uri="{FF2B5EF4-FFF2-40B4-BE49-F238E27FC236}">
                <a16:creationId xmlns:a16="http://schemas.microsoft.com/office/drawing/2014/main" id="{86A51BAD-DBDB-41A2-A907-39DE76858285}"/>
              </a:ext>
            </a:extLst>
          </p:cNvPr>
          <p:cNvSpPr>
            <a:spLocks xmlns:a="http://schemas.openxmlformats.org/drawingml/2006/main" noGrp="1"/>
          </p:cNvSpPr>
          <p:nvPr/>
        </p:nvSpPr>
        <p:spPr>
          <a:xfrm xmlns:a="http://schemas.openxmlformats.org/drawingml/2006/main">
            <a:off x="6040984" y="4526280"/>
            <a:ext cx="109728" cy="237744"/>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3D952C45-1F11-4561-80CB-51917A6279B8}"/>
              </a:ext>
            </a:extLst>
          </p:cNvPr>
          <p:cNvSpPr>
            <a:spLocks xmlns:a="http://schemas.openxmlformats.org/drawingml/2006/main" noGrp="1"/>
          </p:cNvSpPr>
          <p:nvPr/>
        </p:nvSpPr>
        <p:spPr>
          <a:xfrm xmlns:a="http://schemas.openxmlformats.org/drawingml/2006/main">
            <a:off x="6169000" y="4114800"/>
            <a:ext cx="1696669" cy="1060704"/>
          </a:xfrm>
          <a:prstGeom xmlns:a="http://schemas.openxmlformats.org/drawingml/2006/main" prst="roundRect">
            <a:avLst>
              <a:gd name="adj" fmla="val 4310"/>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41" name="Shape 39">
            <a:extLst xmlns:a="http://schemas.openxmlformats.org/drawingml/2006/main">
              <a:ext uri="{FF2B5EF4-FFF2-40B4-BE49-F238E27FC236}">
                <a16:creationId xmlns:a16="http://schemas.microsoft.com/office/drawing/2014/main" id="{75B5C99C-C989-42FF-8534-9FE48A96A9EE}"/>
              </a:ext>
            </a:extLst>
          </p:cNvPr>
          <p:cNvSpPr>
            <a:spLocks xmlns:a="http://schemas.openxmlformats.org/drawingml/2006/main" noGrp="1"/>
          </p:cNvSpPr>
          <p:nvPr/>
        </p:nvSpPr>
        <p:spPr>
          <a:xfrm xmlns:a="http://schemas.openxmlformats.org/drawingml/2006/main">
            <a:off x="6315304" y="4242816"/>
            <a:ext cx="292608" cy="29260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42" name="Text 40">
            <a:extLst xmlns:a="http://schemas.openxmlformats.org/drawingml/2006/main">
              <a:ext uri="{FF2B5EF4-FFF2-40B4-BE49-F238E27FC236}">
                <a16:creationId xmlns:a16="http://schemas.microsoft.com/office/drawing/2014/main" id="{D309DA09-2082-465C-AA7D-7CB797E4836E}"/>
              </a:ext>
            </a:extLst>
          </p:cNvPr>
          <p:cNvSpPr>
            <a:spLocks xmlns:a="http://schemas.openxmlformats.org/drawingml/2006/main" noGrp="1"/>
          </p:cNvSpPr>
          <p:nvPr/>
        </p:nvSpPr>
        <p:spPr>
          <a:xfrm xmlns:a="http://schemas.openxmlformats.org/drawingml/2006/main">
            <a:off x="6315304" y="42428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4</a:t>
            </a:r>
          </a:p>
        </p:txBody>
      </p:sp>
      <p:sp>
        <p:nvSpPr>
          <p:cNvPr id="43" name="Text 41">
            <a:extLst xmlns:a="http://schemas.openxmlformats.org/drawingml/2006/main">
              <a:ext uri="{FF2B5EF4-FFF2-40B4-BE49-F238E27FC236}">
                <a16:creationId xmlns:a16="http://schemas.microsoft.com/office/drawing/2014/main" id="{9F2E8DD5-66B0-47D7-A083-BFC0F5D013BA}"/>
              </a:ext>
            </a:extLst>
          </p:cNvPr>
          <p:cNvSpPr>
            <a:spLocks xmlns:a="http://schemas.openxmlformats.org/drawingml/2006/main" noGrp="1"/>
          </p:cNvSpPr>
          <p:nvPr/>
        </p:nvSpPr>
        <p:spPr>
          <a:xfrm xmlns:a="http://schemas.openxmlformats.org/drawingml/2006/main">
            <a:off x="6662776" y="4242816"/>
            <a:ext cx="107487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1E3A"/>
                </a:solidFill>
                <a:latin typeface="Cambria"/>
                <a:ea typeface="Cambria"/>
                <a:cs typeface="Cambria"/>
              </a:rPr>
              <a:t>Synthesis</a:t>
            </a:r>
          </a:p>
        </p:txBody>
      </p:sp>
      <p:sp>
        <p:nvSpPr>
          <p:cNvPr id="44" name="Text 42">
            <a:extLst xmlns:a="http://schemas.openxmlformats.org/drawingml/2006/main">
              <a:ext uri="{FF2B5EF4-FFF2-40B4-BE49-F238E27FC236}">
                <a16:creationId xmlns:a16="http://schemas.microsoft.com/office/drawing/2014/main" id="{DB899289-62AD-494B-B9D6-CEB393C9B070}"/>
              </a:ext>
            </a:extLst>
          </p:cNvPr>
          <p:cNvSpPr>
            <a:spLocks xmlns:a="http://schemas.openxmlformats.org/drawingml/2006/main" noGrp="1"/>
          </p:cNvSpPr>
          <p:nvPr/>
        </p:nvSpPr>
        <p:spPr>
          <a:xfrm xmlns:a="http://schemas.openxmlformats.org/drawingml/2006/main">
            <a:off x="6315304" y="4590288"/>
            <a:ext cx="140406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900">
                <a:solidFill>
                  <a:srgbClr val="5A6B84"/>
                </a:solidFill>
                <a:latin typeface="Calibri"/>
                <a:ea typeface="Calibri"/>
                <a:cs typeface="Calibri"/>
              </a:rPr>
              <a:t>no program in ℒ at depth ≤ 2 fits the family</a:t>
            </a:r>
          </a:p>
        </p:txBody>
      </p:sp>
      <p:sp>
        <p:nvSpPr>
          <p:cNvPr id="45" name="Shape 43">
            <a:extLst xmlns:a="http://schemas.openxmlformats.org/drawingml/2006/main">
              <a:ext uri="{FF2B5EF4-FFF2-40B4-BE49-F238E27FC236}">
                <a16:creationId xmlns:a16="http://schemas.microsoft.com/office/drawing/2014/main" id="{7122A92B-1FCC-4392-8D16-13D7C3B1C700}"/>
              </a:ext>
            </a:extLst>
          </p:cNvPr>
          <p:cNvSpPr>
            <a:spLocks xmlns:a="http://schemas.openxmlformats.org/drawingml/2006/main" noGrp="1"/>
          </p:cNvSpPr>
          <p:nvPr/>
        </p:nvSpPr>
        <p:spPr>
          <a:xfrm xmlns:a="http://schemas.openxmlformats.org/drawingml/2006/main">
            <a:off x="7883957" y="4526280"/>
            <a:ext cx="109728" cy="237744"/>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74590D62-5565-4A36-8EB7-53E55071ACA4}"/>
              </a:ext>
            </a:extLst>
          </p:cNvPr>
          <p:cNvSpPr>
            <a:spLocks xmlns:a="http://schemas.openxmlformats.org/drawingml/2006/main" noGrp="1"/>
          </p:cNvSpPr>
          <p:nvPr/>
        </p:nvSpPr>
        <p:spPr>
          <a:xfrm xmlns:a="http://schemas.openxmlformats.org/drawingml/2006/main">
            <a:off x="8011973" y="4114800"/>
            <a:ext cx="1696669" cy="1060704"/>
          </a:xfrm>
          <a:prstGeom xmlns:a="http://schemas.openxmlformats.org/drawingml/2006/main" prst="roundRect">
            <a:avLst>
              <a:gd name="adj" fmla="val 4310"/>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47" name="Shape 45">
            <a:extLst xmlns:a="http://schemas.openxmlformats.org/drawingml/2006/main">
              <a:ext uri="{FF2B5EF4-FFF2-40B4-BE49-F238E27FC236}">
                <a16:creationId xmlns:a16="http://schemas.microsoft.com/office/drawing/2014/main" id="{9CB2C878-446F-4EA9-B37F-C571EFAF6DBA}"/>
              </a:ext>
            </a:extLst>
          </p:cNvPr>
          <p:cNvSpPr>
            <a:spLocks xmlns:a="http://schemas.openxmlformats.org/drawingml/2006/main" noGrp="1"/>
          </p:cNvSpPr>
          <p:nvPr/>
        </p:nvSpPr>
        <p:spPr>
          <a:xfrm xmlns:a="http://schemas.openxmlformats.org/drawingml/2006/main">
            <a:off x="8158277" y="4242816"/>
            <a:ext cx="292608" cy="29260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48" name="Text 46">
            <a:extLst xmlns:a="http://schemas.openxmlformats.org/drawingml/2006/main">
              <a:ext uri="{FF2B5EF4-FFF2-40B4-BE49-F238E27FC236}">
                <a16:creationId xmlns:a16="http://schemas.microsoft.com/office/drawing/2014/main" id="{7998561D-B507-4C45-B96E-5A23609E3D4E}"/>
              </a:ext>
            </a:extLst>
          </p:cNvPr>
          <p:cNvSpPr>
            <a:spLocks xmlns:a="http://schemas.openxmlformats.org/drawingml/2006/main" noGrp="1"/>
          </p:cNvSpPr>
          <p:nvPr/>
        </p:nvSpPr>
        <p:spPr>
          <a:xfrm xmlns:a="http://schemas.openxmlformats.org/drawingml/2006/main">
            <a:off x="8158277" y="42428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5</a:t>
            </a:r>
          </a:p>
        </p:txBody>
      </p:sp>
      <p:sp>
        <p:nvSpPr>
          <p:cNvPr id="49" name="Text 47">
            <a:extLst xmlns:a="http://schemas.openxmlformats.org/drawingml/2006/main">
              <a:ext uri="{FF2B5EF4-FFF2-40B4-BE49-F238E27FC236}">
                <a16:creationId xmlns:a16="http://schemas.microsoft.com/office/drawing/2014/main" id="{42A5BE87-04CF-4EBD-BBDB-1A923E0F464B}"/>
              </a:ext>
            </a:extLst>
          </p:cNvPr>
          <p:cNvSpPr>
            <a:spLocks xmlns:a="http://schemas.openxmlformats.org/drawingml/2006/main" noGrp="1"/>
          </p:cNvSpPr>
          <p:nvPr/>
        </p:nvSpPr>
        <p:spPr>
          <a:xfrm xmlns:a="http://schemas.openxmlformats.org/drawingml/2006/main">
            <a:off x="8505749" y="4242816"/>
            <a:ext cx="107487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1E3A"/>
                </a:solidFill>
                <a:latin typeface="Cambria"/>
                <a:ea typeface="Cambria"/>
                <a:cs typeface="Cambria"/>
              </a:rPr>
              <a:t>Contracts</a:t>
            </a:r>
          </a:p>
        </p:txBody>
      </p:sp>
      <p:sp>
        <p:nvSpPr>
          <p:cNvPr id="50" name="Text 48">
            <a:extLst xmlns:a="http://schemas.openxmlformats.org/drawingml/2006/main">
              <a:ext uri="{FF2B5EF4-FFF2-40B4-BE49-F238E27FC236}">
                <a16:creationId xmlns:a16="http://schemas.microsoft.com/office/drawing/2014/main" id="{C7E59F85-762B-4291-B81F-B0D937BDCF0E}"/>
              </a:ext>
            </a:extLst>
          </p:cNvPr>
          <p:cNvSpPr>
            <a:spLocks xmlns:a="http://schemas.openxmlformats.org/drawingml/2006/main" noGrp="1"/>
          </p:cNvSpPr>
          <p:nvPr/>
        </p:nvSpPr>
        <p:spPr>
          <a:xfrm xmlns:a="http://schemas.openxmlformats.org/drawingml/2006/main">
            <a:off x="8158277" y="4590288"/>
            <a:ext cx="140406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900">
                <a:solidFill>
                  <a:srgbClr val="5A6B84"/>
                </a:solidFill>
                <a:latin typeface="Calibri"/>
                <a:ea typeface="Calibri"/>
                <a:cs typeface="Calibri"/>
              </a:rPr>
              <a:t>replay or perturbation counterexample</a:t>
            </a:r>
          </a:p>
        </p:txBody>
      </p:sp>
      <p:sp>
        <p:nvSpPr>
          <p:cNvPr id="51" name="Shape 49">
            <a:extLst xmlns:a="http://schemas.openxmlformats.org/drawingml/2006/main">
              <a:ext uri="{FF2B5EF4-FFF2-40B4-BE49-F238E27FC236}">
                <a16:creationId xmlns:a16="http://schemas.microsoft.com/office/drawing/2014/main" id="{B0BEE2AC-7D33-477C-BD78-57DC5F313C09}"/>
              </a:ext>
            </a:extLst>
          </p:cNvPr>
          <p:cNvSpPr>
            <a:spLocks xmlns:a="http://schemas.openxmlformats.org/drawingml/2006/main" noGrp="1"/>
          </p:cNvSpPr>
          <p:nvPr/>
        </p:nvSpPr>
        <p:spPr>
          <a:xfrm xmlns:a="http://schemas.openxmlformats.org/drawingml/2006/main">
            <a:off x="9726930" y="4526280"/>
            <a:ext cx="109728" cy="237744"/>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52" name="Shape 50">
            <a:extLst xmlns:a="http://schemas.openxmlformats.org/drawingml/2006/main">
              <a:ext uri="{FF2B5EF4-FFF2-40B4-BE49-F238E27FC236}">
                <a16:creationId xmlns:a16="http://schemas.microsoft.com/office/drawing/2014/main" id="{32D4E474-3F50-47C3-97F5-E5C03B5DDAA0}"/>
              </a:ext>
            </a:extLst>
          </p:cNvPr>
          <p:cNvSpPr>
            <a:spLocks xmlns:a="http://schemas.openxmlformats.org/drawingml/2006/main" noGrp="1"/>
          </p:cNvSpPr>
          <p:nvPr/>
        </p:nvSpPr>
        <p:spPr>
          <a:xfrm xmlns:a="http://schemas.openxmlformats.org/drawingml/2006/main">
            <a:off x="9854946" y="4114800"/>
            <a:ext cx="1696669" cy="1060704"/>
          </a:xfrm>
          <a:prstGeom xmlns:a="http://schemas.openxmlformats.org/drawingml/2006/main" prst="roundRect">
            <a:avLst>
              <a:gd name="adj" fmla="val 4310"/>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53" name="Shape 51">
            <a:extLst xmlns:a="http://schemas.openxmlformats.org/drawingml/2006/main">
              <a:ext uri="{FF2B5EF4-FFF2-40B4-BE49-F238E27FC236}">
                <a16:creationId xmlns:a16="http://schemas.microsoft.com/office/drawing/2014/main" id="{12CAC7E2-B612-4FE0-B7C9-8EA423EF7EE8}"/>
              </a:ext>
            </a:extLst>
          </p:cNvPr>
          <p:cNvSpPr>
            <a:spLocks xmlns:a="http://schemas.openxmlformats.org/drawingml/2006/main" noGrp="1"/>
          </p:cNvSpPr>
          <p:nvPr/>
        </p:nvSpPr>
        <p:spPr>
          <a:xfrm xmlns:a="http://schemas.openxmlformats.org/drawingml/2006/main">
            <a:off x="10001250" y="4242816"/>
            <a:ext cx="292608" cy="292608"/>
          </a:xfrm>
          <a:prstGeom xmlns:a="http://schemas.openxmlformats.org/drawingml/2006/main" prst="ellipse">
            <a:avLst/>
          </a:prstGeom>
          <a:solidFill xmlns:a="http://schemas.openxmlformats.org/drawingml/2006/main">
            <a:srgbClr val="0E1E3A"/>
          </a:solidFill>
          <a:ln xmlns:a="http://schemas.openxmlformats.org/drawingml/2006/main" w="6350">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54" name="Text 52">
            <a:extLst xmlns:a="http://schemas.openxmlformats.org/drawingml/2006/main">
              <a:ext uri="{FF2B5EF4-FFF2-40B4-BE49-F238E27FC236}">
                <a16:creationId xmlns:a16="http://schemas.microsoft.com/office/drawing/2014/main" id="{C00BBCB4-14CE-4C09-BB63-C33408FB589B}"/>
              </a:ext>
            </a:extLst>
          </p:cNvPr>
          <p:cNvSpPr>
            <a:spLocks xmlns:a="http://schemas.openxmlformats.org/drawingml/2006/main" noGrp="1"/>
          </p:cNvSpPr>
          <p:nvPr/>
        </p:nvSpPr>
        <p:spPr>
          <a:xfrm xmlns:a="http://schemas.openxmlformats.org/drawingml/2006/main">
            <a:off x="10001250" y="42428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6</a:t>
            </a:r>
          </a:p>
        </p:txBody>
      </p:sp>
      <p:sp>
        <p:nvSpPr>
          <p:cNvPr id="55" name="Text 53">
            <a:extLst xmlns:a="http://schemas.openxmlformats.org/drawingml/2006/main">
              <a:ext uri="{FF2B5EF4-FFF2-40B4-BE49-F238E27FC236}">
                <a16:creationId xmlns:a16="http://schemas.microsoft.com/office/drawing/2014/main" id="{C97CD542-C89B-4A60-9110-1219C78F336D}"/>
              </a:ext>
            </a:extLst>
          </p:cNvPr>
          <p:cNvSpPr>
            <a:spLocks xmlns:a="http://schemas.openxmlformats.org/drawingml/2006/main" noGrp="1"/>
          </p:cNvSpPr>
          <p:nvPr/>
        </p:nvSpPr>
        <p:spPr>
          <a:xfrm xmlns:a="http://schemas.openxmlformats.org/drawingml/2006/main">
            <a:off x="10348722" y="4242816"/>
            <a:ext cx="107487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E1E3A"/>
                </a:solidFill>
                <a:latin typeface="Cambria"/>
                <a:ea typeface="Cambria"/>
                <a:cs typeface="Cambria"/>
              </a:rPr>
              <a:t>Calibration</a:t>
            </a:r>
          </a:p>
        </p:txBody>
      </p:sp>
      <p:sp>
        <p:nvSpPr>
          <p:cNvPr id="56" name="Text 54">
            <a:extLst xmlns:a="http://schemas.openxmlformats.org/drawingml/2006/main">
              <a:ext uri="{FF2B5EF4-FFF2-40B4-BE49-F238E27FC236}">
                <a16:creationId xmlns:a16="http://schemas.microsoft.com/office/drawing/2014/main" id="{0459F175-42DD-4502-BA0F-B7791FCA54BE}"/>
              </a:ext>
            </a:extLst>
          </p:cNvPr>
          <p:cNvSpPr>
            <a:spLocks xmlns:a="http://schemas.openxmlformats.org/drawingml/2006/main" noGrp="1"/>
          </p:cNvSpPr>
          <p:nvPr/>
        </p:nvSpPr>
        <p:spPr>
          <a:xfrm xmlns:a="http://schemas.openxmlformats.org/drawingml/2006/main">
            <a:off x="10001250" y="4590288"/>
            <a:ext cx="140406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900">
                <a:solidFill>
                  <a:srgbClr val="5A6B84"/>
                </a:solidFill>
                <a:latin typeface="Calibri"/>
                <a:ea typeface="Calibri"/>
                <a:cs typeface="Calibri"/>
              </a:rPr>
              <a:t>no admissible threshold in the frozen grid</a:t>
            </a:r>
          </a:p>
        </p:txBody>
      </p:sp>
      <p:sp>
        <p:nvSpPr>
          <p:cNvPr id="57" name="Shape 55">
            <a:extLst xmlns:a="http://schemas.openxmlformats.org/drawingml/2006/main">
              <a:ext uri="{FF2B5EF4-FFF2-40B4-BE49-F238E27FC236}">
                <a16:creationId xmlns:a16="http://schemas.microsoft.com/office/drawing/2014/main" id="{C73C1118-0CD0-4F61-A441-822536BC0448}"/>
              </a:ext>
            </a:extLst>
          </p:cNvPr>
          <p:cNvSpPr>
            <a:spLocks xmlns:a="http://schemas.openxmlformats.org/drawingml/2006/main" noGrp="1"/>
          </p:cNvSpPr>
          <p:nvPr/>
        </p:nvSpPr>
        <p:spPr>
          <a:xfrm xmlns:a="http://schemas.openxmlformats.org/drawingml/2006/main">
            <a:off x="640080" y="5321808"/>
            <a:ext cx="10911535" cy="841248"/>
          </a:xfrm>
          <a:prstGeom xmlns:a="http://schemas.openxmlformats.org/drawingml/2006/main" prst="roundRect">
            <a:avLst>
              <a:gd name="adj" fmla="val 543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177F9FD9-4039-4107-BFEB-7630B3DC30B0}"/>
              </a:ext>
            </a:extLst>
          </p:cNvPr>
          <p:cNvSpPr>
            <a:spLocks xmlns:a="http://schemas.openxmlformats.org/drawingml/2006/main" noGrp="1"/>
          </p:cNvSpPr>
          <p:nvPr/>
        </p:nvSpPr>
        <p:spPr>
          <a:xfrm xmlns:a="http://schemas.openxmlformats.org/drawingml/2006/main">
            <a:off x="896112" y="5431536"/>
            <a:ext cx="10399471"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A93B2B"/>
                </a:solidFill>
                <a:latin typeface="Calibri"/>
                <a:ea typeface="Calibri"/>
                <a:cs typeface="Calibri"/>
              </a:rPr>
              <a:t>HARD BARRIERS — NO STATISTICAL EVIDENCE CAN LICENSE AN ARTIFACT</a:t>
            </a:r>
          </a:p>
        </p:txBody>
      </p:sp>
      <p:sp>
        <p:nvSpPr>
          <p:cNvPr id="59" name="Text 57">
            <a:extLst xmlns:a="http://schemas.openxmlformats.org/drawingml/2006/main">
              <a:ext uri="{FF2B5EF4-FFF2-40B4-BE49-F238E27FC236}">
                <a16:creationId xmlns:a16="http://schemas.microsoft.com/office/drawing/2014/main" id="{8002D195-5559-4832-8181-55304211F6CE}"/>
              </a:ext>
            </a:extLst>
          </p:cNvPr>
          <p:cNvSpPr>
            <a:spLocks xmlns:a="http://schemas.openxmlformats.org/drawingml/2006/main" noGrp="1"/>
          </p:cNvSpPr>
          <p:nvPr/>
        </p:nvSpPr>
        <p:spPr>
          <a:xfrm xmlns:a="http://schemas.openxmlformats.org/drawingml/2006/main">
            <a:off x="896112" y="5669280"/>
            <a:ext cx="1039947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150">
                <a:solidFill>
                  <a:srgbClr val="5C4034"/>
                </a:solidFill>
                <a:latin typeface="Calibri"/>
                <a:ea typeface="Calibri"/>
                <a:cs typeface="Calibri"/>
              </a:rPr>
              <a:t>unknown or irreversible effect  ·  approval  ·  handoff  ·  ungrounded or ambiguous argument  ·  manifest or isolation mismatch  ·  non-prefix position, eq. (2)</a:t>
            </a:r>
          </a:p>
        </p:txBody>
      </p:sp>
    </p:spTree>
    <p:extLst>
      <p:ext uri="{BB962C8B-B14F-4D97-AF65-F5344CB8AC3E}">
        <p14:creationId xmlns:p14="http://schemas.microsoft.com/office/powerpoint/2010/main" val="721774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79DD96-1398-4564-AEFE-1D63F03FAA09}"/>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9D15F593-37C3-41E6-97A2-FA1BCACC30CA}"/>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10</a:t>
            </a:r>
          </a:p>
        </p:txBody>
      </p:sp>
      <p:sp>
        <p:nvSpPr>
          <p:cNvPr id="4" name="Text 2">
            <a:extLst xmlns:a="http://schemas.openxmlformats.org/drawingml/2006/main">
              <a:ext uri="{FF2B5EF4-FFF2-40B4-BE49-F238E27FC236}">
                <a16:creationId xmlns:a16="http://schemas.microsoft.com/office/drawing/2014/main" id="{88C4ECCA-898E-4CC5-A826-2761AC6C4AC3}"/>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  ·  ALGORITHM 2 (BUILDPATG)</a:t>
            </a:r>
          </a:p>
        </p:txBody>
      </p:sp>
      <p:sp>
        <p:nvSpPr>
          <p:cNvPr id="5" name="Text 3">
            <a:extLst xmlns:a="http://schemas.openxmlformats.org/drawingml/2006/main">
              <a:ext uri="{FF2B5EF4-FFF2-40B4-BE49-F238E27FC236}">
                <a16:creationId xmlns:a16="http://schemas.microsoft.com/office/drawing/2014/main" id="{F191C55A-6A01-4E97-86F7-965A97FAB66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Typed argument provenance: no witness, or too many, both block</a:t>
            </a:r>
          </a:p>
        </p:txBody>
      </p:sp>
      <p:sp>
        <p:nvSpPr>
          <p:cNvPr id="6" name="Text 4">
            <a:extLst xmlns:a="http://schemas.openxmlformats.org/drawingml/2006/main">
              <a:ext uri="{FF2B5EF4-FFF2-40B4-BE49-F238E27FC236}">
                <a16:creationId xmlns:a16="http://schemas.microsoft.com/office/drawing/2014/main" id="{1527A4B5-B5DD-4204-BF7A-41EAAC580A59}"/>
              </a:ext>
            </a:extLst>
          </p:cNvPr>
          <p:cNvSpPr>
            <a:spLocks xmlns:a="http://schemas.openxmlformats.org/drawingml/2006/main" noGrp="1"/>
          </p:cNvSpPr>
          <p:nvPr/>
        </p:nvSpPr>
        <p:spPr>
          <a:xfrm xmlns:a="http://schemas.openxmlformats.org/drawingml/2006/main">
            <a:off x="640080" y="1188720"/>
            <a:ext cx="1091153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250">
                <a:solidFill>
                  <a:srgbClr val="24354F"/>
                </a:solidFill>
                <a:latin typeface="Calibri"/>
                <a:ea typeface="Calibri"/>
                <a:cs typeface="Calibri"/>
              </a:rPr>
              <a:t>For each call-argument slot the program-argument trace graph searches entry-state and prior-result paths for typed values and bounded transforms. Exact matches, stable field paths, and transformations in ℒ become candidate producer edges; literal-only slots are restricted to identity or constant witnesses, so a page index or limit is never reconstructed.</a:t>
            </a:r>
          </a:p>
        </p:txBody>
      </p:sp>
      <p:sp>
        <p:nvSpPr>
          <p:cNvPr id="7" name="Shape 5">
            <a:extLst xmlns:a="http://schemas.openxmlformats.org/drawingml/2006/main">
              <a:ext uri="{FF2B5EF4-FFF2-40B4-BE49-F238E27FC236}">
                <a16:creationId xmlns:a16="http://schemas.microsoft.com/office/drawing/2014/main" id="{E8BB116B-C988-4698-B881-9774B18C5665}"/>
              </a:ext>
            </a:extLst>
          </p:cNvPr>
          <p:cNvSpPr>
            <a:spLocks xmlns:a="http://schemas.openxmlformats.org/drawingml/2006/main" noGrp="1"/>
          </p:cNvSpPr>
          <p:nvPr/>
        </p:nvSpPr>
        <p:spPr>
          <a:xfrm xmlns:a="http://schemas.openxmlformats.org/drawingml/2006/main">
            <a:off x="640080" y="1847088"/>
            <a:ext cx="3466490" cy="1481328"/>
          </a:xfrm>
          <a:prstGeom xmlns:a="http://schemas.openxmlformats.org/drawingml/2006/main" prst="roundRect">
            <a:avLst>
              <a:gd name="adj" fmla="val 3086"/>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423016A2-4147-451F-9E8B-3F7D0DD737C9}"/>
              </a:ext>
            </a:extLst>
          </p:cNvPr>
          <p:cNvSpPr>
            <a:spLocks xmlns:a="http://schemas.openxmlformats.org/drawingml/2006/main" noGrp="1"/>
          </p:cNvSpPr>
          <p:nvPr/>
        </p:nvSpPr>
        <p:spPr>
          <a:xfrm xmlns:a="http://schemas.openxmlformats.org/drawingml/2006/main">
            <a:off x="859536" y="2011680"/>
            <a:ext cx="310896" cy="31089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22BFBB6C-6ABD-4F9F-B320-0C7D80E1BC2C}"/>
              </a:ext>
            </a:extLst>
          </p:cNvPr>
          <p:cNvSpPr>
            <a:spLocks xmlns:a="http://schemas.openxmlformats.org/drawingml/2006/main" noGrp="1"/>
          </p:cNvSpPr>
          <p:nvPr/>
        </p:nvSpPr>
        <p:spPr>
          <a:xfrm xmlns:a="http://schemas.openxmlformats.org/drawingml/2006/main">
            <a:off x="859536" y="20116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0" name="Text 8">
            <a:extLst xmlns:a="http://schemas.openxmlformats.org/drawingml/2006/main">
              <a:ext uri="{FF2B5EF4-FFF2-40B4-BE49-F238E27FC236}">
                <a16:creationId xmlns:a16="http://schemas.microsoft.com/office/drawing/2014/main" id="{C3A9B93B-8D5C-4ED6-ADA4-E834D2E8F12E}"/>
              </a:ext>
            </a:extLst>
          </p:cNvPr>
          <p:cNvSpPr>
            <a:spLocks xmlns:a="http://schemas.openxmlformats.org/drawingml/2006/main" noGrp="1"/>
          </p:cNvSpPr>
          <p:nvPr/>
        </p:nvSpPr>
        <p:spPr>
          <a:xfrm xmlns:a="http://schemas.openxmlformats.org/drawingml/2006/main">
            <a:off x="1243584" y="2011680"/>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i="1">
                <a:solidFill>
                  <a:srgbClr val="1F8A99"/>
                </a:solidFill>
                <a:latin typeface="Cambria"/>
                <a:ea typeface="Cambria"/>
                <a:cs typeface="Cambria"/>
              </a:rPr>
              <a:t>|H| = 1</a:t>
            </a:r>
          </a:p>
        </p:txBody>
      </p:sp>
      <p:sp>
        <p:nvSpPr>
          <p:cNvPr id="11" name="Text 9">
            <a:extLst xmlns:a="http://schemas.openxmlformats.org/drawingml/2006/main">
              <a:ext uri="{FF2B5EF4-FFF2-40B4-BE49-F238E27FC236}">
                <a16:creationId xmlns:a16="http://schemas.microsoft.com/office/drawing/2014/main" id="{C7B18032-A97B-4384-8737-4F0CC2C46BAF}"/>
              </a:ext>
            </a:extLst>
          </p:cNvPr>
          <p:cNvSpPr>
            <a:spLocks xmlns:a="http://schemas.openxmlformats.org/drawingml/2006/main" noGrp="1"/>
          </p:cNvSpPr>
          <p:nvPr/>
        </p:nvSpPr>
        <p:spPr>
          <a:xfrm xmlns:a="http://schemas.openxmlformats.org/drawingml/2006/main">
            <a:off x="2194560" y="2011680"/>
            <a:ext cx="169255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Edge admitted</a:t>
            </a:r>
          </a:p>
        </p:txBody>
      </p:sp>
      <p:sp>
        <p:nvSpPr>
          <p:cNvPr id="12" name="Text 10">
            <a:extLst xmlns:a="http://schemas.openxmlformats.org/drawingml/2006/main">
              <a:ext uri="{FF2B5EF4-FFF2-40B4-BE49-F238E27FC236}">
                <a16:creationId xmlns:a16="http://schemas.microsoft.com/office/drawing/2014/main" id="{6E3FB97F-9875-46FC-93BB-066DD72BD4B9}"/>
              </a:ext>
            </a:extLst>
          </p:cNvPr>
          <p:cNvSpPr>
            <a:spLocks xmlns:a="http://schemas.openxmlformats.org/drawingml/2006/main" noGrp="1"/>
          </p:cNvSpPr>
          <p:nvPr/>
        </p:nvSpPr>
        <p:spPr>
          <a:xfrm xmlns:a="http://schemas.openxmlformats.org/drawingml/2006/main">
            <a:off x="877824" y="2395728"/>
            <a:ext cx="299100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24354F"/>
                </a:solidFill>
                <a:latin typeface="Calibri"/>
                <a:ea typeface="Calibri"/>
                <a:cs typeface="Calibri"/>
              </a:rPr>
              <a:t>The minimum-description-length witness is recorded as the slot's producer.</a:t>
            </a:r>
          </a:p>
        </p:txBody>
      </p:sp>
      <p:sp>
        <p:nvSpPr>
          <p:cNvPr id="13" name="Shape 11">
            <a:extLst xmlns:a="http://schemas.openxmlformats.org/drawingml/2006/main">
              <a:ext uri="{FF2B5EF4-FFF2-40B4-BE49-F238E27FC236}">
                <a16:creationId xmlns:a16="http://schemas.microsoft.com/office/drawing/2014/main" id="{52155148-8DE2-47F3-AF55-7CB8901183CA}"/>
              </a:ext>
            </a:extLst>
          </p:cNvPr>
          <p:cNvSpPr>
            <a:spLocks xmlns:a="http://schemas.openxmlformats.org/drawingml/2006/main" noGrp="1"/>
          </p:cNvSpPr>
          <p:nvPr/>
        </p:nvSpPr>
        <p:spPr>
          <a:xfrm xmlns:a="http://schemas.openxmlformats.org/drawingml/2006/main">
            <a:off x="4362602" y="1847088"/>
            <a:ext cx="3466490" cy="1481328"/>
          </a:xfrm>
          <a:prstGeom xmlns:a="http://schemas.openxmlformats.org/drawingml/2006/main" prst="roundRect">
            <a:avLst>
              <a:gd name="adj" fmla="val 308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7CA8CC9B-8408-4A67-AAF4-CC907E2C27DD}"/>
              </a:ext>
            </a:extLst>
          </p:cNvPr>
          <p:cNvSpPr>
            <a:spLocks xmlns:a="http://schemas.openxmlformats.org/drawingml/2006/main" noGrp="1"/>
          </p:cNvSpPr>
          <p:nvPr/>
        </p:nvSpPr>
        <p:spPr>
          <a:xfrm xmlns:a="http://schemas.openxmlformats.org/drawingml/2006/main">
            <a:off x="4582058" y="2011680"/>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C610E811-F53A-4D54-A5D8-654AD3246BCE}"/>
              </a:ext>
            </a:extLst>
          </p:cNvPr>
          <p:cNvSpPr>
            <a:spLocks xmlns:a="http://schemas.openxmlformats.org/drawingml/2006/main" noGrp="1"/>
          </p:cNvSpPr>
          <p:nvPr/>
        </p:nvSpPr>
        <p:spPr>
          <a:xfrm xmlns:a="http://schemas.openxmlformats.org/drawingml/2006/main">
            <a:off x="4582058" y="20116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6" name="Text 14">
            <a:extLst xmlns:a="http://schemas.openxmlformats.org/drawingml/2006/main">
              <a:ext uri="{FF2B5EF4-FFF2-40B4-BE49-F238E27FC236}">
                <a16:creationId xmlns:a16="http://schemas.microsoft.com/office/drawing/2014/main" id="{3057D461-63DD-470C-A3C4-7316727CA1FD}"/>
              </a:ext>
            </a:extLst>
          </p:cNvPr>
          <p:cNvSpPr>
            <a:spLocks xmlns:a="http://schemas.openxmlformats.org/drawingml/2006/main" noGrp="1"/>
          </p:cNvSpPr>
          <p:nvPr/>
        </p:nvSpPr>
        <p:spPr>
          <a:xfrm xmlns:a="http://schemas.openxmlformats.org/drawingml/2006/main">
            <a:off x="4966106" y="2011680"/>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i="1">
                <a:solidFill>
                  <a:srgbClr val="A93B2B"/>
                </a:solidFill>
                <a:latin typeface="Cambria"/>
                <a:ea typeface="Cambria"/>
                <a:cs typeface="Cambria"/>
              </a:rPr>
              <a:t>H = ∅</a:t>
            </a:r>
          </a:p>
        </p:txBody>
      </p:sp>
      <p:sp>
        <p:nvSpPr>
          <p:cNvPr id="17" name="Text 15">
            <a:extLst xmlns:a="http://schemas.openxmlformats.org/drawingml/2006/main">
              <a:ext uri="{FF2B5EF4-FFF2-40B4-BE49-F238E27FC236}">
                <a16:creationId xmlns:a16="http://schemas.microsoft.com/office/drawing/2014/main" id="{8C414CCA-A911-4E41-AADA-231028F64555}"/>
              </a:ext>
            </a:extLst>
          </p:cNvPr>
          <p:cNvSpPr>
            <a:spLocks xmlns:a="http://schemas.openxmlformats.org/drawingml/2006/main" noGrp="1"/>
          </p:cNvSpPr>
          <p:nvPr/>
        </p:nvSpPr>
        <p:spPr>
          <a:xfrm xmlns:a="http://schemas.openxmlformats.org/drawingml/2006/main">
            <a:off x="5917082" y="2011680"/>
            <a:ext cx="169255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3B2B"/>
                </a:solidFill>
                <a:latin typeface="Cambria"/>
                <a:ea typeface="Cambria"/>
                <a:cs typeface="Cambria"/>
              </a:rPr>
              <a:t>Model-originated</a:t>
            </a:r>
          </a:p>
        </p:txBody>
      </p:sp>
      <p:sp>
        <p:nvSpPr>
          <p:cNvPr id="18" name="Text 16">
            <a:extLst xmlns:a="http://schemas.openxmlformats.org/drawingml/2006/main">
              <a:ext uri="{FF2B5EF4-FFF2-40B4-BE49-F238E27FC236}">
                <a16:creationId xmlns:a16="http://schemas.microsoft.com/office/drawing/2014/main" id="{B05EC7F5-B8A1-4149-B11C-8824AEFE3E89}"/>
              </a:ext>
            </a:extLst>
          </p:cNvPr>
          <p:cNvSpPr>
            <a:spLocks xmlns:a="http://schemas.openxmlformats.org/drawingml/2006/main" noGrp="1"/>
          </p:cNvSpPr>
          <p:nvPr/>
        </p:nvSpPr>
        <p:spPr>
          <a:xfrm xmlns:a="http://schemas.openxmlformats.org/drawingml/2006/main">
            <a:off x="4600346" y="2395728"/>
            <a:ext cx="299100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C4034"/>
                </a:solidFill>
                <a:latin typeface="Calibri"/>
                <a:ea typeface="Calibri"/>
                <a:cs typeface="Calibri"/>
              </a:rPr>
              <a:t>A genuine model decision. There is nothing in observable state to reconstruct it from.</a:t>
            </a:r>
          </a:p>
        </p:txBody>
      </p:sp>
      <p:sp>
        <p:nvSpPr>
          <p:cNvPr id="19" name="Shape 17">
            <a:extLst xmlns:a="http://schemas.openxmlformats.org/drawingml/2006/main">
              <a:ext uri="{FF2B5EF4-FFF2-40B4-BE49-F238E27FC236}">
                <a16:creationId xmlns:a16="http://schemas.microsoft.com/office/drawing/2014/main" id="{873DD2A4-B2ED-4F3E-8FCC-CF176F16C907}"/>
              </a:ext>
            </a:extLst>
          </p:cNvPr>
          <p:cNvSpPr>
            <a:spLocks xmlns:a="http://schemas.openxmlformats.org/drawingml/2006/main" noGrp="1"/>
          </p:cNvSpPr>
          <p:nvPr/>
        </p:nvSpPr>
        <p:spPr>
          <a:xfrm xmlns:a="http://schemas.openxmlformats.org/drawingml/2006/main">
            <a:off x="8085125" y="1847088"/>
            <a:ext cx="3466490" cy="1481328"/>
          </a:xfrm>
          <a:prstGeom xmlns:a="http://schemas.openxmlformats.org/drawingml/2006/main" prst="roundRect">
            <a:avLst>
              <a:gd name="adj" fmla="val 308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0" name="Shape 18">
            <a:extLst xmlns:a="http://schemas.openxmlformats.org/drawingml/2006/main">
              <a:ext uri="{FF2B5EF4-FFF2-40B4-BE49-F238E27FC236}">
                <a16:creationId xmlns:a16="http://schemas.microsoft.com/office/drawing/2014/main" id="{78C1B957-6B78-46EA-AD4C-AC8EEC9576F7}"/>
              </a:ext>
            </a:extLst>
          </p:cNvPr>
          <p:cNvSpPr>
            <a:spLocks xmlns:a="http://schemas.openxmlformats.org/drawingml/2006/main" noGrp="1"/>
          </p:cNvSpPr>
          <p:nvPr/>
        </p:nvSpPr>
        <p:spPr>
          <a:xfrm xmlns:a="http://schemas.openxmlformats.org/drawingml/2006/main">
            <a:off x="8304581" y="2011680"/>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E732482C-F860-4500-8880-538C9928B433}"/>
              </a:ext>
            </a:extLst>
          </p:cNvPr>
          <p:cNvSpPr>
            <a:spLocks xmlns:a="http://schemas.openxmlformats.org/drawingml/2006/main" noGrp="1"/>
          </p:cNvSpPr>
          <p:nvPr/>
        </p:nvSpPr>
        <p:spPr>
          <a:xfrm xmlns:a="http://schemas.openxmlformats.org/drawingml/2006/main">
            <a:off x="8304581" y="20116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22" name="Text 20">
            <a:extLst xmlns:a="http://schemas.openxmlformats.org/drawingml/2006/main">
              <a:ext uri="{FF2B5EF4-FFF2-40B4-BE49-F238E27FC236}">
                <a16:creationId xmlns:a16="http://schemas.microsoft.com/office/drawing/2014/main" id="{8AC944B1-D5ED-41F2-9286-C00183D3AFBE}"/>
              </a:ext>
            </a:extLst>
          </p:cNvPr>
          <p:cNvSpPr>
            <a:spLocks xmlns:a="http://schemas.openxmlformats.org/drawingml/2006/main" noGrp="1"/>
          </p:cNvSpPr>
          <p:nvPr/>
        </p:nvSpPr>
        <p:spPr>
          <a:xfrm xmlns:a="http://schemas.openxmlformats.org/drawingml/2006/main">
            <a:off x="8688629" y="2011680"/>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i="1">
                <a:solidFill>
                  <a:srgbClr val="A93B2B"/>
                </a:solidFill>
                <a:latin typeface="Cambria"/>
                <a:ea typeface="Cambria"/>
                <a:cs typeface="Cambria"/>
              </a:rPr>
              <a:t>|H| &gt; κ</a:t>
            </a:r>
          </a:p>
        </p:txBody>
      </p:sp>
      <p:sp>
        <p:nvSpPr>
          <p:cNvPr id="23" name="Text 21">
            <a:extLst xmlns:a="http://schemas.openxmlformats.org/drawingml/2006/main">
              <a:ext uri="{FF2B5EF4-FFF2-40B4-BE49-F238E27FC236}">
                <a16:creationId xmlns:a16="http://schemas.microsoft.com/office/drawing/2014/main" id="{BADA0C5A-6CE5-424C-BE39-65B5DEB70A20}"/>
              </a:ext>
            </a:extLst>
          </p:cNvPr>
          <p:cNvSpPr>
            <a:spLocks xmlns:a="http://schemas.openxmlformats.org/drawingml/2006/main" noGrp="1"/>
          </p:cNvSpPr>
          <p:nvPr/>
        </p:nvSpPr>
        <p:spPr>
          <a:xfrm xmlns:a="http://schemas.openxmlformats.org/drawingml/2006/main">
            <a:off x="9639605" y="2011680"/>
            <a:ext cx="169255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3B2B"/>
                </a:solidFill>
                <a:latin typeface="Cambria"/>
                <a:ea typeface="Cambria"/>
                <a:cs typeface="Cambria"/>
              </a:rPr>
              <a:t>Ambiguous</a:t>
            </a:r>
          </a:p>
        </p:txBody>
      </p:sp>
      <p:sp>
        <p:nvSpPr>
          <p:cNvPr id="24" name="Text 22">
            <a:extLst xmlns:a="http://schemas.openxmlformats.org/drawingml/2006/main">
              <a:ext uri="{FF2B5EF4-FFF2-40B4-BE49-F238E27FC236}">
                <a16:creationId xmlns:a16="http://schemas.microsoft.com/office/drawing/2014/main" id="{46FDF204-B9FF-46E8-B70C-2BFDAEA3D248}"/>
              </a:ext>
            </a:extLst>
          </p:cNvPr>
          <p:cNvSpPr>
            <a:spLocks xmlns:a="http://schemas.openxmlformats.org/drawingml/2006/main" noGrp="1"/>
          </p:cNvSpPr>
          <p:nvPr/>
        </p:nvSpPr>
        <p:spPr>
          <a:xfrm xmlns:a="http://schemas.openxmlformats.org/drawingml/2006/main">
            <a:off x="8322869" y="2395728"/>
            <a:ext cx="299100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C4034"/>
                </a:solidFill>
                <a:latin typeface="Calibri"/>
                <a:ea typeface="Calibri"/>
                <a:cs typeface="Calibri"/>
              </a:rPr>
              <a:t>Above the configured cap. Blocked rather than defaulting to the cheapest explanation.</a:t>
            </a:r>
          </a:p>
        </p:txBody>
      </p:sp>
      <p:sp>
        <p:nvSpPr>
          <p:cNvPr id="25" name="Shape 23">
            <a:extLst xmlns:a="http://schemas.openxmlformats.org/drawingml/2006/main">
              <a:ext uri="{FF2B5EF4-FFF2-40B4-BE49-F238E27FC236}">
                <a16:creationId xmlns:a16="http://schemas.microsoft.com/office/drawing/2014/main" id="{55309F1D-18FD-4D8D-A82C-6E02BB38E2E1}"/>
              </a:ext>
            </a:extLst>
          </p:cNvPr>
          <p:cNvSpPr>
            <a:spLocks xmlns:a="http://schemas.openxmlformats.org/drawingml/2006/main" noGrp="1"/>
          </p:cNvSpPr>
          <p:nvPr/>
        </p:nvSpPr>
        <p:spPr>
          <a:xfrm xmlns:a="http://schemas.openxmlformats.org/drawingml/2006/main">
            <a:off x="640080" y="3493008"/>
            <a:ext cx="10911535" cy="566928"/>
          </a:xfrm>
          <a:prstGeom xmlns:a="http://schemas.openxmlformats.org/drawingml/2006/main" prst="roundRect">
            <a:avLst>
              <a:gd name="adj" fmla="val 8065"/>
            </a:avLst>
          </a:prstGeom>
          <a:solidFill xmlns:a="http://schemas.openxmlformats.org/drawingml/2006/main">
            <a:srgbClr val="EAF1F7"/>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sp>
        <p:nvSpPr>
          <p:cNvPr id="26" name="Text 24">
            <a:extLst xmlns:a="http://schemas.openxmlformats.org/drawingml/2006/main">
              <a:ext uri="{FF2B5EF4-FFF2-40B4-BE49-F238E27FC236}">
                <a16:creationId xmlns:a16="http://schemas.microsoft.com/office/drawing/2014/main" id="{778E02F8-0AE8-4BAC-B1E7-683F8C3EB18D}"/>
              </a:ext>
            </a:extLst>
          </p:cNvPr>
          <p:cNvSpPr>
            <a:spLocks xmlns:a="http://schemas.openxmlformats.org/drawingml/2006/main" noGrp="1"/>
          </p:cNvSpPr>
          <p:nvPr/>
        </p:nvSpPr>
        <p:spPr>
          <a:xfrm xmlns:a="http://schemas.openxmlformats.org/drawingml/2006/main">
            <a:off x="877824" y="3584448"/>
            <a:ext cx="10436047"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50" b="1">
                <a:solidFill>
                  <a:srgbClr val="0E1E3A"/>
                </a:solidFill>
                <a:latin typeface="Calibri"/>
                <a:ea typeface="Calibri"/>
                <a:cs typeface="Calibri"/>
              </a:rPr>
              <a:t>Order edges. </a:t>
            </a:r>
            <a:r>
              <a:rPr sz="1150">
                <a:solidFill>
                  <a:srgbClr val="24354F"/>
                </a:solidFill>
                <a:latin typeface="Calibri"/>
                <a:ea typeface="Calibri"/>
                <a:cs typeface="Calibri"/>
              </a:rPr>
              <a:t>For every pair of events sharing a resource where either writes it, the graph adds eₛ &lt; eₜ — so a reordering can never be proposed across a conflict. This is execution provenance in the database sense, specialized to tool arguments rather than tuple derivations.</a:t>
            </a:r>
          </a:p>
        </p:txBody>
      </p:sp>
      <p:sp>
        <p:nvSpPr>
          <p:cNvPr id="27" name="Text 25">
            <a:extLst xmlns:a="http://schemas.openxmlformats.org/drawingml/2006/main">
              <a:ext uri="{FF2B5EF4-FFF2-40B4-BE49-F238E27FC236}">
                <a16:creationId xmlns:a16="http://schemas.microsoft.com/office/drawing/2014/main" id="{B4582C86-E07F-4356-87C8-459D6ADED3F8}"/>
              </a:ext>
            </a:extLst>
          </p:cNvPr>
          <p:cNvSpPr>
            <a:spLocks xmlns:a="http://schemas.openxmlformats.org/drawingml/2006/main" noGrp="1"/>
          </p:cNvSpPr>
          <p:nvPr/>
        </p:nvSpPr>
        <p:spPr>
          <a:xfrm xmlns:a="http://schemas.openxmlformats.org/drawingml/2006/main">
            <a:off x="640080" y="422452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MEASURED ON NESTFUL — 5,746 DEPENDENCY SLOTS ACROSS 1,415 EXECUTABLE EPISODES</a:t>
            </a:r>
          </a:p>
        </p:txBody>
      </p:sp>
      <p:sp>
        <p:nvSpPr>
          <p:cNvPr id="28" name="Shape 26">
            <a:extLst xmlns:a="http://schemas.openxmlformats.org/drawingml/2006/main">
              <a:ext uri="{FF2B5EF4-FFF2-40B4-BE49-F238E27FC236}">
                <a16:creationId xmlns:a16="http://schemas.microsoft.com/office/drawing/2014/main" id="{4E79BE31-16F4-40D4-8456-6EEB7DBAFB85}"/>
              </a:ext>
            </a:extLst>
          </p:cNvPr>
          <p:cNvSpPr>
            <a:spLocks xmlns:a="http://schemas.openxmlformats.org/drawingml/2006/main" noGrp="1"/>
          </p:cNvSpPr>
          <p:nvPr/>
        </p:nvSpPr>
        <p:spPr>
          <a:xfrm xmlns:a="http://schemas.openxmlformats.org/drawingml/2006/main">
            <a:off x="640080" y="4498848"/>
            <a:ext cx="1666189" cy="1133856"/>
          </a:xfrm>
          <a:prstGeom xmlns:a="http://schemas.openxmlformats.org/drawingml/2006/main" prst="roundRect">
            <a:avLst>
              <a:gd name="adj" fmla="val 403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9" name="Text 27">
            <a:extLst xmlns:a="http://schemas.openxmlformats.org/drawingml/2006/main">
              <a:ext uri="{FF2B5EF4-FFF2-40B4-BE49-F238E27FC236}">
                <a16:creationId xmlns:a16="http://schemas.microsoft.com/office/drawing/2014/main" id="{D9A8CF16-BF4C-4D3B-AC4E-AE30122AEE75}"/>
              </a:ext>
            </a:extLst>
          </p:cNvPr>
          <p:cNvSpPr>
            <a:spLocks xmlns:a="http://schemas.openxmlformats.org/drawingml/2006/main" noGrp="1"/>
          </p:cNvSpPr>
          <p:nvPr/>
        </p:nvSpPr>
        <p:spPr>
          <a:xfrm xmlns:a="http://schemas.openxmlformats.org/drawingml/2006/main">
            <a:off x="768096" y="4608576"/>
            <a:ext cx="141015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0E1E3A"/>
                </a:solidFill>
                <a:latin typeface="Cambria"/>
                <a:ea typeface="Cambria"/>
                <a:cs typeface="Cambria"/>
              </a:rPr>
              <a:t>5,531</a:t>
            </a:r>
          </a:p>
        </p:txBody>
      </p:sp>
      <p:sp>
        <p:nvSpPr>
          <p:cNvPr id="30" name="Text 28">
            <a:extLst xmlns:a="http://schemas.openxmlformats.org/drawingml/2006/main">
              <a:ext uri="{FF2B5EF4-FFF2-40B4-BE49-F238E27FC236}">
                <a16:creationId xmlns:a16="http://schemas.microsoft.com/office/drawing/2014/main" id="{A2D5A6F1-5FB4-430C-A7F4-EB096BEE8012}"/>
              </a:ext>
            </a:extLst>
          </p:cNvPr>
          <p:cNvSpPr>
            <a:spLocks xmlns:a="http://schemas.openxmlformats.org/drawingml/2006/main" noGrp="1"/>
          </p:cNvSpPr>
          <p:nvPr/>
        </p:nvSpPr>
        <p:spPr>
          <a:xfrm xmlns:a="http://schemas.openxmlformats.org/drawingml/2006/main">
            <a:off x="768096" y="4974336"/>
            <a:ext cx="141015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24354F"/>
                </a:solidFill>
                <a:latin typeface="Calibri"/>
                <a:ea typeface="Calibri"/>
                <a:cs typeface="Calibri"/>
              </a:rPr>
              <a:t>in candidate set</a:t>
            </a:r>
          </a:p>
        </p:txBody>
      </p:sp>
      <p:sp>
        <p:nvSpPr>
          <p:cNvPr id="31" name="Text 29">
            <a:extLst xmlns:a="http://schemas.openxmlformats.org/drawingml/2006/main">
              <a:ext uri="{FF2B5EF4-FFF2-40B4-BE49-F238E27FC236}">
                <a16:creationId xmlns:a16="http://schemas.microsoft.com/office/drawing/2014/main" id="{6195770B-8412-4DAF-B3A5-94FDE31D7C61}"/>
              </a:ext>
            </a:extLst>
          </p:cNvPr>
          <p:cNvSpPr>
            <a:spLocks xmlns:a="http://schemas.openxmlformats.org/drawingml/2006/main" noGrp="1"/>
          </p:cNvSpPr>
          <p:nvPr/>
        </p:nvSpPr>
        <p:spPr>
          <a:xfrm xmlns:a="http://schemas.openxmlformats.org/drawingml/2006/main">
            <a:off x="768096" y="5212080"/>
            <a:ext cx="1410157"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50">
                <a:solidFill>
                  <a:srgbClr val="5A6B84"/>
                </a:solidFill>
                <a:latin typeface="Calibri"/>
                <a:ea typeface="Calibri"/>
                <a:cs typeface="Calibri"/>
              </a:rPr>
              <a:t>96.3% recall</a:t>
            </a:r>
          </a:p>
        </p:txBody>
      </p:sp>
      <p:sp>
        <p:nvSpPr>
          <p:cNvPr id="32" name="Shape 30">
            <a:extLst xmlns:a="http://schemas.openxmlformats.org/drawingml/2006/main">
              <a:ext uri="{FF2B5EF4-FFF2-40B4-BE49-F238E27FC236}">
                <a16:creationId xmlns:a16="http://schemas.microsoft.com/office/drawing/2014/main" id="{2F814A01-59E1-4E17-AA43-E5B110B2340C}"/>
              </a:ext>
            </a:extLst>
          </p:cNvPr>
          <p:cNvSpPr>
            <a:spLocks xmlns:a="http://schemas.openxmlformats.org/drawingml/2006/main" noGrp="1"/>
          </p:cNvSpPr>
          <p:nvPr/>
        </p:nvSpPr>
        <p:spPr>
          <a:xfrm xmlns:a="http://schemas.openxmlformats.org/drawingml/2006/main">
            <a:off x="2489149" y="4498848"/>
            <a:ext cx="1666189" cy="1133856"/>
          </a:xfrm>
          <a:prstGeom xmlns:a="http://schemas.openxmlformats.org/drawingml/2006/main" prst="roundRect">
            <a:avLst>
              <a:gd name="adj" fmla="val 403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F607D9F5-F5F0-4F8E-A023-69D4842D47CE}"/>
              </a:ext>
            </a:extLst>
          </p:cNvPr>
          <p:cNvSpPr>
            <a:spLocks xmlns:a="http://schemas.openxmlformats.org/drawingml/2006/main" noGrp="1"/>
          </p:cNvSpPr>
          <p:nvPr/>
        </p:nvSpPr>
        <p:spPr>
          <a:xfrm xmlns:a="http://schemas.openxmlformats.org/drawingml/2006/main">
            <a:off x="2617165" y="4608576"/>
            <a:ext cx="141015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1F8A99"/>
                </a:solidFill>
                <a:latin typeface="Cambria"/>
                <a:ea typeface="Cambria"/>
                <a:cs typeface="Cambria"/>
              </a:rPr>
              <a:t>4,636</a:t>
            </a:r>
          </a:p>
        </p:txBody>
      </p:sp>
      <p:sp>
        <p:nvSpPr>
          <p:cNvPr id="34" name="Text 32">
            <a:extLst xmlns:a="http://schemas.openxmlformats.org/drawingml/2006/main">
              <a:ext uri="{FF2B5EF4-FFF2-40B4-BE49-F238E27FC236}">
                <a16:creationId xmlns:a16="http://schemas.microsoft.com/office/drawing/2014/main" id="{BAEAF0A2-F930-485D-A535-1516367DFB2E}"/>
              </a:ext>
            </a:extLst>
          </p:cNvPr>
          <p:cNvSpPr>
            <a:spLocks xmlns:a="http://schemas.openxmlformats.org/drawingml/2006/main" noGrp="1"/>
          </p:cNvSpPr>
          <p:nvPr/>
        </p:nvSpPr>
        <p:spPr>
          <a:xfrm xmlns:a="http://schemas.openxmlformats.org/drawingml/2006/main">
            <a:off x="2617165" y="4974336"/>
            <a:ext cx="141015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24354F"/>
                </a:solidFill>
                <a:latin typeface="Calibri"/>
                <a:ea typeface="Calibri"/>
                <a:cs typeface="Calibri"/>
              </a:rPr>
              <a:t>uniquely resolved</a:t>
            </a:r>
          </a:p>
        </p:txBody>
      </p:sp>
      <p:sp>
        <p:nvSpPr>
          <p:cNvPr id="35" name="Text 33">
            <a:extLst xmlns:a="http://schemas.openxmlformats.org/drawingml/2006/main">
              <a:ext uri="{FF2B5EF4-FFF2-40B4-BE49-F238E27FC236}">
                <a16:creationId xmlns:a16="http://schemas.microsoft.com/office/drawing/2014/main" id="{865F0288-B3F6-4E15-BD98-14EC1BC33F8C}"/>
              </a:ext>
            </a:extLst>
          </p:cNvPr>
          <p:cNvSpPr>
            <a:spLocks xmlns:a="http://schemas.openxmlformats.org/drawingml/2006/main" noGrp="1"/>
          </p:cNvSpPr>
          <p:nvPr/>
        </p:nvSpPr>
        <p:spPr>
          <a:xfrm xmlns:a="http://schemas.openxmlformats.org/drawingml/2006/main">
            <a:off x="2617165" y="5212080"/>
            <a:ext cx="1410157"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50">
                <a:solidFill>
                  <a:srgbClr val="5A6B84"/>
                </a:solidFill>
                <a:latin typeface="Calibri"/>
                <a:ea typeface="Calibri"/>
                <a:cs typeface="Calibri"/>
              </a:rPr>
              <a:t>80.7%</a:t>
            </a:r>
          </a:p>
        </p:txBody>
      </p:sp>
      <p:sp>
        <p:nvSpPr>
          <p:cNvPr id="36" name="Shape 34">
            <a:extLst xmlns:a="http://schemas.openxmlformats.org/drawingml/2006/main">
              <a:ext uri="{FF2B5EF4-FFF2-40B4-BE49-F238E27FC236}">
                <a16:creationId xmlns:a16="http://schemas.microsoft.com/office/drawing/2014/main" id="{E1A175B9-C2D8-4213-8850-A2BE551FCAC1}"/>
              </a:ext>
            </a:extLst>
          </p:cNvPr>
          <p:cNvSpPr>
            <a:spLocks xmlns:a="http://schemas.openxmlformats.org/drawingml/2006/main" noGrp="1"/>
          </p:cNvSpPr>
          <p:nvPr/>
        </p:nvSpPr>
        <p:spPr>
          <a:xfrm xmlns:a="http://schemas.openxmlformats.org/drawingml/2006/main">
            <a:off x="4338218" y="4498848"/>
            <a:ext cx="1666189" cy="1133856"/>
          </a:xfrm>
          <a:prstGeom xmlns:a="http://schemas.openxmlformats.org/drawingml/2006/main" prst="roundRect">
            <a:avLst>
              <a:gd name="adj" fmla="val 403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7" name="Text 35">
            <a:extLst xmlns:a="http://schemas.openxmlformats.org/drawingml/2006/main">
              <a:ext uri="{FF2B5EF4-FFF2-40B4-BE49-F238E27FC236}">
                <a16:creationId xmlns:a16="http://schemas.microsoft.com/office/drawing/2014/main" id="{3BF23A9A-0BF3-407A-B406-1EDE49B765EC}"/>
              </a:ext>
            </a:extLst>
          </p:cNvPr>
          <p:cNvSpPr>
            <a:spLocks xmlns:a="http://schemas.openxmlformats.org/drawingml/2006/main" noGrp="1"/>
          </p:cNvSpPr>
          <p:nvPr/>
        </p:nvSpPr>
        <p:spPr>
          <a:xfrm xmlns:a="http://schemas.openxmlformats.org/drawingml/2006/main">
            <a:off x="4466234" y="4608576"/>
            <a:ext cx="141015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A93B2B"/>
                </a:solidFill>
                <a:latin typeface="Cambria"/>
                <a:ea typeface="Cambria"/>
                <a:cs typeface="Cambria"/>
              </a:rPr>
              <a:t>895</a:t>
            </a:r>
          </a:p>
        </p:txBody>
      </p:sp>
      <p:sp>
        <p:nvSpPr>
          <p:cNvPr id="38" name="Text 36">
            <a:extLst xmlns:a="http://schemas.openxmlformats.org/drawingml/2006/main">
              <a:ext uri="{FF2B5EF4-FFF2-40B4-BE49-F238E27FC236}">
                <a16:creationId xmlns:a16="http://schemas.microsoft.com/office/drawing/2014/main" id="{C1AB8E2F-EF6B-4B43-AA3C-AD1A2AB2F272}"/>
              </a:ext>
            </a:extLst>
          </p:cNvPr>
          <p:cNvSpPr>
            <a:spLocks xmlns:a="http://schemas.openxmlformats.org/drawingml/2006/main" noGrp="1"/>
          </p:cNvSpPr>
          <p:nvPr/>
        </p:nvSpPr>
        <p:spPr>
          <a:xfrm xmlns:a="http://schemas.openxmlformats.org/drawingml/2006/main">
            <a:off x="4466234" y="4974336"/>
            <a:ext cx="141015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24354F"/>
                </a:solidFill>
                <a:latin typeface="Calibri"/>
                <a:ea typeface="Calibri"/>
                <a:cs typeface="Calibri"/>
              </a:rPr>
              <a:t>ambiguous</a:t>
            </a:r>
          </a:p>
        </p:txBody>
      </p:sp>
      <p:sp>
        <p:nvSpPr>
          <p:cNvPr id="39" name="Text 37">
            <a:extLst xmlns:a="http://schemas.openxmlformats.org/drawingml/2006/main">
              <a:ext uri="{FF2B5EF4-FFF2-40B4-BE49-F238E27FC236}">
                <a16:creationId xmlns:a16="http://schemas.microsoft.com/office/drawing/2014/main" id="{43402633-FA29-49A4-95DC-CAA676B335FC}"/>
              </a:ext>
            </a:extLst>
          </p:cNvPr>
          <p:cNvSpPr>
            <a:spLocks xmlns:a="http://schemas.openxmlformats.org/drawingml/2006/main" noGrp="1"/>
          </p:cNvSpPr>
          <p:nvPr/>
        </p:nvSpPr>
        <p:spPr>
          <a:xfrm xmlns:a="http://schemas.openxmlformats.org/drawingml/2006/main">
            <a:off x="4466234" y="5212080"/>
            <a:ext cx="1410157"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50">
                <a:solidFill>
                  <a:srgbClr val="5A6B84"/>
                </a:solidFill>
                <a:latin typeface="Calibri"/>
                <a:ea typeface="Calibri"/>
                <a:cs typeface="Calibri"/>
              </a:rPr>
              <a:t>truth among many, 15.6%</a:t>
            </a:r>
          </a:p>
        </p:txBody>
      </p:sp>
      <p:sp>
        <p:nvSpPr>
          <p:cNvPr id="40" name="Shape 38">
            <a:extLst xmlns:a="http://schemas.openxmlformats.org/drawingml/2006/main">
              <a:ext uri="{FF2B5EF4-FFF2-40B4-BE49-F238E27FC236}">
                <a16:creationId xmlns:a16="http://schemas.microsoft.com/office/drawing/2014/main" id="{7319EB09-573F-4AAB-B03D-825D79B44665}"/>
              </a:ext>
            </a:extLst>
          </p:cNvPr>
          <p:cNvSpPr>
            <a:spLocks xmlns:a="http://schemas.openxmlformats.org/drawingml/2006/main" noGrp="1"/>
          </p:cNvSpPr>
          <p:nvPr/>
        </p:nvSpPr>
        <p:spPr>
          <a:xfrm xmlns:a="http://schemas.openxmlformats.org/drawingml/2006/main">
            <a:off x="6187288" y="4498848"/>
            <a:ext cx="1666189" cy="1133856"/>
          </a:xfrm>
          <a:prstGeom xmlns:a="http://schemas.openxmlformats.org/drawingml/2006/main" prst="roundRect">
            <a:avLst>
              <a:gd name="adj" fmla="val 403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3E2DB3A0-4B6B-431D-9373-A66DFF638658}"/>
              </a:ext>
            </a:extLst>
          </p:cNvPr>
          <p:cNvSpPr>
            <a:spLocks xmlns:a="http://schemas.openxmlformats.org/drawingml/2006/main" noGrp="1"/>
          </p:cNvSpPr>
          <p:nvPr/>
        </p:nvSpPr>
        <p:spPr>
          <a:xfrm xmlns:a="http://schemas.openxmlformats.org/drawingml/2006/main">
            <a:off x="6315304" y="4608576"/>
            <a:ext cx="141015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A93B2B"/>
                </a:solidFill>
                <a:latin typeface="Cambria"/>
                <a:ea typeface="Cambria"/>
                <a:cs typeface="Cambria"/>
              </a:rPr>
              <a:t>215</a:t>
            </a:r>
          </a:p>
        </p:txBody>
      </p:sp>
      <p:sp>
        <p:nvSpPr>
          <p:cNvPr id="42" name="Text 40">
            <a:extLst xmlns:a="http://schemas.openxmlformats.org/drawingml/2006/main">
              <a:ext uri="{FF2B5EF4-FFF2-40B4-BE49-F238E27FC236}">
                <a16:creationId xmlns:a16="http://schemas.microsoft.com/office/drawing/2014/main" id="{94AC91D8-7626-4AA0-9B5C-043964A74E8C}"/>
              </a:ext>
            </a:extLst>
          </p:cNvPr>
          <p:cNvSpPr>
            <a:spLocks xmlns:a="http://schemas.openxmlformats.org/drawingml/2006/main" noGrp="1"/>
          </p:cNvSpPr>
          <p:nvPr/>
        </p:nvSpPr>
        <p:spPr>
          <a:xfrm xmlns:a="http://schemas.openxmlformats.org/drawingml/2006/main">
            <a:off x="6315304" y="4974336"/>
            <a:ext cx="141015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24354F"/>
                </a:solidFill>
                <a:latin typeface="Calibri"/>
                <a:ea typeface="Calibri"/>
                <a:cs typeface="Calibri"/>
              </a:rPr>
              <a:t>no candidate</a:t>
            </a:r>
          </a:p>
        </p:txBody>
      </p:sp>
      <p:sp>
        <p:nvSpPr>
          <p:cNvPr id="43" name="Text 41">
            <a:extLst xmlns:a="http://schemas.openxmlformats.org/drawingml/2006/main">
              <a:ext uri="{FF2B5EF4-FFF2-40B4-BE49-F238E27FC236}">
                <a16:creationId xmlns:a16="http://schemas.microsoft.com/office/drawing/2014/main" id="{9FE3A24C-5103-4E57-B82D-61988EADEC71}"/>
              </a:ext>
            </a:extLst>
          </p:cNvPr>
          <p:cNvSpPr>
            <a:spLocks xmlns:a="http://schemas.openxmlformats.org/drawingml/2006/main" noGrp="1"/>
          </p:cNvSpPr>
          <p:nvPr/>
        </p:nvSpPr>
        <p:spPr>
          <a:xfrm xmlns:a="http://schemas.openxmlformats.org/drawingml/2006/main">
            <a:off x="6315304" y="5212080"/>
            <a:ext cx="1410157"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50">
                <a:solidFill>
                  <a:srgbClr val="5A6B84"/>
                </a:solidFill>
                <a:latin typeface="Calibri"/>
                <a:ea typeface="Calibri"/>
                <a:cs typeface="Calibri"/>
              </a:rPr>
              <a:t>3.7%</a:t>
            </a:r>
          </a:p>
        </p:txBody>
      </p:sp>
      <p:sp>
        <p:nvSpPr>
          <p:cNvPr id="44" name="Shape 42">
            <a:extLst xmlns:a="http://schemas.openxmlformats.org/drawingml/2006/main">
              <a:ext uri="{FF2B5EF4-FFF2-40B4-BE49-F238E27FC236}">
                <a16:creationId xmlns:a16="http://schemas.microsoft.com/office/drawing/2014/main" id="{44A53926-FFD4-41E5-A148-F74D8D0B2A37}"/>
              </a:ext>
            </a:extLst>
          </p:cNvPr>
          <p:cNvSpPr>
            <a:spLocks xmlns:a="http://schemas.openxmlformats.org/drawingml/2006/main" noGrp="1"/>
          </p:cNvSpPr>
          <p:nvPr/>
        </p:nvSpPr>
        <p:spPr>
          <a:xfrm xmlns:a="http://schemas.openxmlformats.org/drawingml/2006/main">
            <a:off x="8036357" y="4498848"/>
            <a:ext cx="1666189" cy="1133856"/>
          </a:xfrm>
          <a:prstGeom xmlns:a="http://schemas.openxmlformats.org/drawingml/2006/main" prst="roundRect">
            <a:avLst>
              <a:gd name="adj" fmla="val 403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45" name="Text 43">
            <a:extLst xmlns:a="http://schemas.openxmlformats.org/drawingml/2006/main">
              <a:ext uri="{FF2B5EF4-FFF2-40B4-BE49-F238E27FC236}">
                <a16:creationId xmlns:a16="http://schemas.microsoft.com/office/drawing/2014/main" id="{9076C8C0-D114-40F0-B783-F835D5181CA1}"/>
              </a:ext>
            </a:extLst>
          </p:cNvPr>
          <p:cNvSpPr>
            <a:spLocks xmlns:a="http://schemas.openxmlformats.org/drawingml/2006/main" noGrp="1"/>
          </p:cNvSpPr>
          <p:nvPr/>
        </p:nvSpPr>
        <p:spPr>
          <a:xfrm xmlns:a="http://schemas.openxmlformats.org/drawingml/2006/main">
            <a:off x="8164373" y="4608576"/>
            <a:ext cx="141015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0E1E3A"/>
                </a:solidFill>
                <a:latin typeface="Cambria"/>
                <a:ea typeface="Cambria"/>
                <a:cs typeface="Cambria"/>
              </a:rPr>
              <a:t>84.3%</a:t>
            </a:r>
          </a:p>
        </p:txBody>
      </p:sp>
      <p:sp>
        <p:nvSpPr>
          <p:cNvPr id="46" name="Text 44">
            <a:extLst xmlns:a="http://schemas.openxmlformats.org/drawingml/2006/main">
              <a:ext uri="{FF2B5EF4-FFF2-40B4-BE49-F238E27FC236}">
                <a16:creationId xmlns:a16="http://schemas.microsoft.com/office/drawing/2014/main" id="{A445D0A6-BF1B-45F5-BB30-C6B3AF18A55A}"/>
              </a:ext>
            </a:extLst>
          </p:cNvPr>
          <p:cNvSpPr>
            <a:spLocks xmlns:a="http://schemas.openxmlformats.org/drawingml/2006/main" noGrp="1"/>
          </p:cNvSpPr>
          <p:nvPr/>
        </p:nvSpPr>
        <p:spPr>
          <a:xfrm xmlns:a="http://schemas.openxmlformats.org/drawingml/2006/main">
            <a:off x="8164373" y="4974336"/>
            <a:ext cx="141015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24354F"/>
                </a:solidFill>
                <a:latin typeface="Calibri"/>
                <a:ea typeface="Calibri"/>
                <a:cs typeface="Calibri"/>
              </a:rPr>
              <a:t>edge precision</a:t>
            </a:r>
          </a:p>
        </p:txBody>
      </p:sp>
      <p:sp>
        <p:nvSpPr>
          <p:cNvPr id="47" name="Text 45">
            <a:extLst xmlns:a="http://schemas.openxmlformats.org/drawingml/2006/main">
              <a:ext uri="{FF2B5EF4-FFF2-40B4-BE49-F238E27FC236}">
                <a16:creationId xmlns:a16="http://schemas.microsoft.com/office/drawing/2014/main" id="{C51589FE-A505-4FC7-AD5C-F2F3BDB089EE}"/>
              </a:ext>
            </a:extLst>
          </p:cNvPr>
          <p:cNvSpPr>
            <a:spLocks xmlns:a="http://schemas.openxmlformats.org/drawingml/2006/main" noGrp="1"/>
          </p:cNvSpPr>
          <p:nvPr/>
        </p:nvSpPr>
        <p:spPr>
          <a:xfrm xmlns:a="http://schemas.openxmlformats.org/drawingml/2006/main">
            <a:off x="8164373" y="5212080"/>
            <a:ext cx="1410157"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50">
                <a:solidFill>
                  <a:srgbClr val="5A6B84"/>
                </a:solidFill>
                <a:latin typeface="Calibri"/>
                <a:ea typeface="Calibri"/>
                <a:cs typeface="Calibri"/>
              </a:rPr>
              <a:t>5,531 / 6,564</a:t>
            </a:r>
          </a:p>
        </p:txBody>
      </p:sp>
      <p:sp>
        <p:nvSpPr>
          <p:cNvPr id="48" name="Shape 46">
            <a:extLst xmlns:a="http://schemas.openxmlformats.org/drawingml/2006/main">
              <a:ext uri="{FF2B5EF4-FFF2-40B4-BE49-F238E27FC236}">
                <a16:creationId xmlns:a16="http://schemas.microsoft.com/office/drawing/2014/main" id="{2ACE499B-BF3F-4F33-A9CE-596F920520AA}"/>
              </a:ext>
            </a:extLst>
          </p:cNvPr>
          <p:cNvSpPr>
            <a:spLocks xmlns:a="http://schemas.openxmlformats.org/drawingml/2006/main" noGrp="1"/>
          </p:cNvSpPr>
          <p:nvPr/>
        </p:nvSpPr>
        <p:spPr>
          <a:xfrm xmlns:a="http://schemas.openxmlformats.org/drawingml/2006/main">
            <a:off x="9885426" y="4498848"/>
            <a:ext cx="1666189" cy="1133856"/>
          </a:xfrm>
          <a:prstGeom xmlns:a="http://schemas.openxmlformats.org/drawingml/2006/main" prst="roundRect">
            <a:avLst>
              <a:gd name="adj" fmla="val 403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159D143A-CE5F-4FE6-80BF-9D6805D17D43}"/>
              </a:ext>
            </a:extLst>
          </p:cNvPr>
          <p:cNvSpPr>
            <a:spLocks xmlns:a="http://schemas.openxmlformats.org/drawingml/2006/main" noGrp="1"/>
          </p:cNvSpPr>
          <p:nvPr/>
        </p:nvSpPr>
        <p:spPr>
          <a:xfrm xmlns:a="http://schemas.openxmlformats.org/drawingml/2006/main">
            <a:off x="10013442" y="4608576"/>
            <a:ext cx="1410157"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0E1E3A"/>
                </a:solidFill>
                <a:latin typeface="Cambria"/>
                <a:ea typeface="Cambria"/>
                <a:cs typeface="Cambria"/>
              </a:rPr>
              <a:t>85.3%</a:t>
            </a:r>
          </a:p>
        </p:txBody>
      </p:sp>
      <p:sp>
        <p:nvSpPr>
          <p:cNvPr id="50" name="Text 48">
            <a:extLst xmlns:a="http://schemas.openxmlformats.org/drawingml/2006/main">
              <a:ext uri="{FF2B5EF4-FFF2-40B4-BE49-F238E27FC236}">
                <a16:creationId xmlns:a16="http://schemas.microsoft.com/office/drawing/2014/main" id="{C15589AC-FD4D-4E4E-8DCF-8C57CA481DB7}"/>
              </a:ext>
            </a:extLst>
          </p:cNvPr>
          <p:cNvSpPr>
            <a:spLocks xmlns:a="http://schemas.openxmlformats.org/drawingml/2006/main" noGrp="1"/>
          </p:cNvSpPr>
          <p:nvPr/>
        </p:nvSpPr>
        <p:spPr>
          <a:xfrm xmlns:a="http://schemas.openxmlformats.org/drawingml/2006/main">
            <a:off x="10013442" y="4974336"/>
            <a:ext cx="141015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a:solidFill>
                  <a:srgbClr val="24354F"/>
                </a:solidFill>
                <a:latin typeface="Calibri"/>
                <a:ea typeface="Calibri"/>
                <a:cs typeface="Calibri"/>
              </a:rPr>
              <a:t>complete windows</a:t>
            </a:r>
          </a:p>
        </p:txBody>
      </p:sp>
      <p:sp>
        <p:nvSpPr>
          <p:cNvPr id="51" name="Text 49">
            <a:extLst xmlns:a="http://schemas.openxmlformats.org/drawingml/2006/main">
              <a:ext uri="{FF2B5EF4-FFF2-40B4-BE49-F238E27FC236}">
                <a16:creationId xmlns:a16="http://schemas.microsoft.com/office/drawing/2014/main" id="{F6F4E593-D33C-4B87-9AC6-CB7CA599F5C9}"/>
              </a:ext>
            </a:extLst>
          </p:cNvPr>
          <p:cNvSpPr>
            <a:spLocks xmlns:a="http://schemas.openxmlformats.org/drawingml/2006/main" noGrp="1"/>
          </p:cNvSpPr>
          <p:nvPr/>
        </p:nvSpPr>
        <p:spPr>
          <a:xfrm xmlns:a="http://schemas.openxmlformats.org/drawingml/2006/main">
            <a:off x="10013442" y="5212080"/>
            <a:ext cx="1410157"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50">
                <a:solidFill>
                  <a:srgbClr val="5A6B84"/>
                </a:solidFill>
                <a:latin typeface="Calibri"/>
                <a:ea typeface="Calibri"/>
                <a:cs typeface="Calibri"/>
              </a:rPr>
              <a:t>1,207 / 1,415 episodes</a:t>
            </a:r>
          </a:p>
        </p:txBody>
      </p:sp>
      <p:sp>
        <p:nvSpPr>
          <p:cNvPr id="52" name="Text 50">
            <a:extLst xmlns:a="http://schemas.openxmlformats.org/drawingml/2006/main">
              <a:ext uri="{FF2B5EF4-FFF2-40B4-BE49-F238E27FC236}">
                <a16:creationId xmlns:a16="http://schemas.microsoft.com/office/drawing/2014/main" id="{CE7FEFFC-EE79-41AF-83D9-B312F9C8132E}"/>
              </a:ext>
            </a:extLst>
          </p:cNvPr>
          <p:cNvSpPr>
            <a:spLocks xmlns:a="http://schemas.openxmlformats.org/drawingml/2006/main" noGrp="1"/>
          </p:cNvSpPr>
          <p:nvPr/>
        </p:nvSpPr>
        <p:spPr>
          <a:xfrm xmlns:a="http://schemas.openxmlformats.org/drawingml/2006/main">
            <a:off x="640080" y="5760720"/>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i="1">
                <a:solidFill>
                  <a:srgbClr val="5A6B84"/>
                </a:solidFill>
                <a:latin typeface="Calibri"/>
                <a:ea typeface="Calibri"/>
                <a:cs typeface="Calibri"/>
              </a:rPr>
              <a:t>H1 was pre-specified as recovery above 90%: supported on recall, not supported on unique resolution — and we report both. Recall here measures search reachability and is close to definitional: candidates are generated by value matching, so no non-empty candidate set omitted the true producer. The 215 misses are exactly the slots with no candidate at all.</a:t>
            </a:r>
          </a:p>
        </p:txBody>
      </p:sp>
    </p:spTree>
    <p:extLst>
      <p:ext uri="{BB962C8B-B14F-4D97-AF65-F5344CB8AC3E}">
        <p14:creationId xmlns:p14="http://schemas.microsoft.com/office/powerpoint/2010/main" val="2115886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6A2C2C-8204-447B-A672-46B84F609076}"/>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9C33329B-1637-4634-A22D-1F4A8AB81BCC}"/>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11</a:t>
            </a:r>
          </a:p>
        </p:txBody>
      </p:sp>
      <p:sp>
        <p:nvSpPr>
          <p:cNvPr id="4" name="Text 2">
            <a:extLst xmlns:a="http://schemas.openxmlformats.org/drawingml/2006/main">
              <a:ext uri="{FF2B5EF4-FFF2-40B4-BE49-F238E27FC236}">
                <a16:creationId xmlns:a16="http://schemas.microsoft.com/office/drawing/2014/main" id="{EF12BFBC-9E5C-4AC8-A3B5-86AC5231B8D3}"/>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  ·  §3.1–3.2</a:t>
            </a:r>
          </a:p>
        </p:txBody>
      </p:sp>
      <p:sp>
        <p:nvSpPr>
          <p:cNvPr id="5" name="Text 3">
            <a:extLst xmlns:a="http://schemas.openxmlformats.org/drawingml/2006/main">
              <a:ext uri="{FF2B5EF4-FFF2-40B4-BE49-F238E27FC236}">
                <a16:creationId xmlns:a16="http://schemas.microsoft.com/office/drawing/2014/main" id="{01BE8EE9-52A8-4D6F-960C-A6B89EF52C43}"/>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Family mining, an MDL ranking, and a cheap decisive no</a:t>
            </a:r>
          </a:p>
        </p:txBody>
      </p:sp>
      <p:sp>
        <p:nvSpPr>
          <p:cNvPr id="6" name="Text 4">
            <a:extLst xmlns:a="http://schemas.openxmlformats.org/drawingml/2006/main">
              <a:ext uri="{FF2B5EF4-FFF2-40B4-BE49-F238E27FC236}">
                <a16:creationId xmlns:a16="http://schemas.microsoft.com/office/drawing/2014/main" id="{A9DADA0D-F81A-4CC3-A35E-99E4A792AD0C}"/>
              </a:ext>
            </a:extLst>
          </p:cNvPr>
          <p:cNvSpPr>
            <a:spLocks xmlns:a="http://schemas.openxmlformats.org/drawingml/2006/main" noGrp="1"/>
          </p:cNvSpPr>
          <p:nvPr/>
        </p:nvSpPr>
        <p:spPr>
          <a:xfrm xmlns:a="http://schemas.openxmlformats.org/drawingml/2006/main">
            <a:off x="640080" y="1188720"/>
            <a:ext cx="1091153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250">
                <a:solidFill>
                  <a:srgbClr val="24354F"/>
                </a:solidFill>
                <a:latin typeface="Calibri"/>
                <a:ea typeface="Calibri"/>
                <a:cs typeface="Calibri"/>
              </a:rPr>
              <a:t>The miner enumerates model-boundary-to-result windows with at most wₘₐₓ tool calls, qualifies effects and live-ins, and hashes tool signatures, dependency topology, run shape, and live-in/out shape while abstracting literal values. Families require support across independent scenario groups rather than raw event frequency.</a:t>
            </a:r>
          </a:p>
        </p:txBody>
      </p:sp>
      <p:sp>
        <p:nvSpPr>
          <p:cNvPr id="7" name="Shape 5">
            <a:extLst xmlns:a="http://schemas.openxmlformats.org/drawingml/2006/main">
              <a:ext uri="{FF2B5EF4-FFF2-40B4-BE49-F238E27FC236}">
                <a16:creationId xmlns:a16="http://schemas.microsoft.com/office/drawing/2014/main" id="{047957DA-A093-4888-8C0C-5E1A001F5DE2}"/>
              </a:ext>
            </a:extLst>
          </p:cNvPr>
          <p:cNvSpPr>
            <a:spLocks xmlns:a="http://schemas.openxmlformats.org/drawingml/2006/main" noGrp="1"/>
          </p:cNvSpPr>
          <p:nvPr/>
        </p:nvSpPr>
        <p:spPr>
          <a:xfrm xmlns:a="http://schemas.openxmlformats.org/drawingml/2006/main">
            <a:off x="640080" y="1792224"/>
            <a:ext cx="10911535" cy="1243584"/>
          </a:xfrm>
          <a:prstGeom xmlns:a="http://schemas.openxmlformats.org/drawingml/2006/main" prst="roundRect">
            <a:avLst>
              <a:gd name="adj" fmla="val 3676"/>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8" name="Image 0"/>
          <p:cNvPicPr>
            <a:picLocks xmlns:a="http://schemas.openxmlformats.org/drawingml/2006/main" noChangeAspect="1"/>
          </p:cNvPicPr>
          <p:nvPr/>
        </p:nvPicPr>
        <p:blipFill>
          <a:blip xmlns:r="http://schemas.openxmlformats.org/officeDocument/2006/relationships" xmlns:a="http://schemas.openxmlformats.org/drawingml/2006/main" r:embed="Rc709e4e0ae83451a"/>
          <a:stretch xmlns:a="http://schemas.openxmlformats.org/drawingml/2006/main">
            <a:fillRect l="0" t="0" r="0" b="0"/>
          </a:stretch>
        </p:blipFill>
        <p:spPr>
          <a:xfrm xmlns:a="http://schemas.openxmlformats.org/drawingml/2006/main">
            <a:off x="877824" y="1938528"/>
            <a:ext cx="8575174" cy="420624"/>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EC9940D5-249E-4F7B-9ED1-97F78CF20313}"/>
              </a:ext>
            </a:extLst>
          </p:cNvPr>
          <p:cNvSpPr>
            <a:spLocks xmlns:a="http://schemas.openxmlformats.org/drawingml/2006/main" noGrp="1"/>
          </p:cNvSpPr>
          <p:nvPr/>
        </p:nvSpPr>
        <p:spPr>
          <a:xfrm xmlns:a="http://schemas.openxmlformats.org/drawingml/2006/main">
            <a:off x="877824" y="2432304"/>
            <a:ext cx="10436047"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Expected saving from scenario-group support, mean removable model requests, and unit cost — charged for variant entropy, declared-effect exposure, and program size. The penalties matter: without λ₁ the ranking prefers a heterogeneous family whose single canonical form fits none of its members.</a:t>
            </a:r>
          </a:p>
        </p:txBody>
      </p:sp>
      <p:sp>
        <p:nvSpPr>
          <p:cNvPr id="10" name="Text 7">
            <a:extLst xmlns:a="http://schemas.openxmlformats.org/drawingml/2006/main">
              <a:ext uri="{FF2B5EF4-FFF2-40B4-BE49-F238E27FC236}">
                <a16:creationId xmlns:a16="http://schemas.microsoft.com/office/drawing/2014/main" id="{4E7D7B78-9A7D-47E4-B682-624A9210C2BC}"/>
              </a:ext>
            </a:extLst>
          </p:cNvPr>
          <p:cNvSpPr>
            <a:spLocks xmlns:a="http://schemas.openxmlformats.org/drawingml/2006/main" noGrp="1"/>
          </p:cNvSpPr>
          <p:nvPr/>
        </p:nvSpPr>
        <p:spPr>
          <a:xfrm xmlns:a="http://schemas.openxmlformats.org/drawingml/2006/main">
            <a:off x="10856671" y="1938528"/>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(6)</a:t>
            </a:r>
          </a:p>
        </p:txBody>
      </p:sp>
      <p:sp>
        <p:nvSpPr>
          <p:cNvPr id="11" name="Shape 8">
            <a:extLst xmlns:a="http://schemas.openxmlformats.org/drawingml/2006/main">
              <a:ext uri="{FF2B5EF4-FFF2-40B4-BE49-F238E27FC236}">
                <a16:creationId xmlns:a16="http://schemas.microsoft.com/office/drawing/2014/main" id="{B09EC3B6-099D-4275-A079-A33CCB541580}"/>
              </a:ext>
            </a:extLst>
          </p:cNvPr>
          <p:cNvSpPr>
            <a:spLocks xmlns:a="http://schemas.openxmlformats.org/drawingml/2006/main" noGrp="1"/>
          </p:cNvSpPr>
          <p:nvPr/>
        </p:nvSpPr>
        <p:spPr>
          <a:xfrm xmlns:a="http://schemas.openxmlformats.org/drawingml/2006/main">
            <a:off x="640080" y="3145536"/>
            <a:ext cx="10911535" cy="859536"/>
          </a:xfrm>
          <a:prstGeom xmlns:a="http://schemas.openxmlformats.org/drawingml/2006/main" prst="roundRect">
            <a:avLst>
              <a:gd name="adj" fmla="val 531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D992E07-C545-4813-A372-5CFCA9085015}"/>
              </a:ext>
            </a:extLst>
          </p:cNvPr>
          <p:cNvSpPr>
            <a:spLocks xmlns:a="http://schemas.openxmlformats.org/drawingml/2006/main" noGrp="1"/>
          </p:cNvSpPr>
          <p:nvPr/>
        </p:nvSpPr>
        <p:spPr>
          <a:xfrm xmlns:a="http://schemas.openxmlformats.org/drawingml/2006/main">
            <a:off x="896112" y="3255264"/>
            <a:ext cx="1039947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A93B2B"/>
                </a:solidFill>
                <a:latin typeface="Calibri"/>
                <a:ea typeface="Calibri"/>
                <a:cs typeface="Calibri"/>
              </a:rPr>
              <a:t>Two terms are coarser in the implementation than the notation suggests. </a:t>
            </a:r>
            <a:r>
              <a:rPr sz="1100">
                <a:solidFill>
                  <a:srgbClr val="5C4034"/>
                </a:solidFill>
                <a:latin typeface="Calibri"/>
                <a:ea typeface="Calibri"/>
                <a:cs typeface="Calibri"/>
              </a:rPr>
              <a:t>The declared-effect exposure term is approximated by the fraction of tool names containing a namespace separator — a naming convention, not a reading of the effect catalog — and |F| is substituted by the argument-slot count of the first observed window. Both appear only in a ranking heuristic: no admission decision depends on either.</a:t>
            </a:r>
          </a:p>
        </p:txBody>
      </p:sp>
      <p:sp>
        <p:nvSpPr>
          <p:cNvPr id="13" name="Shape 10">
            <a:extLst xmlns:a="http://schemas.openxmlformats.org/drawingml/2006/main">
              <a:ext uri="{FF2B5EF4-FFF2-40B4-BE49-F238E27FC236}">
                <a16:creationId xmlns:a16="http://schemas.microsoft.com/office/drawing/2014/main" id="{82F0AE8B-F931-4563-B733-E11509C53494}"/>
              </a:ext>
            </a:extLst>
          </p:cNvPr>
          <p:cNvSpPr>
            <a:spLocks xmlns:a="http://schemas.openxmlformats.org/drawingml/2006/main" noGrp="1"/>
          </p:cNvSpPr>
          <p:nvPr/>
        </p:nvSpPr>
        <p:spPr>
          <a:xfrm xmlns:a="http://schemas.openxmlformats.org/drawingml/2006/main">
            <a:off x="640080" y="4151376"/>
            <a:ext cx="5291176" cy="1371600"/>
          </a:xfrm>
          <a:prstGeom xmlns:a="http://schemas.openxmlformats.org/drawingml/2006/main" prst="roundRect">
            <a:avLst>
              <a:gd name="adj" fmla="val 3333"/>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7f96038fa9b54867"/>
          <a:stretch xmlns:a="http://schemas.openxmlformats.org/drawingml/2006/main">
            <a:fillRect l="0" t="0" r="0" b="0"/>
          </a:stretch>
        </p:blipFill>
        <p:spPr>
          <a:xfrm xmlns:a="http://schemas.openxmlformats.org/drawingml/2006/main">
            <a:off x="877824" y="4297680"/>
            <a:ext cx="4005158" cy="512064"/>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EACDE75D-4B50-41D7-B876-E411AB3BE0AF}"/>
              </a:ext>
            </a:extLst>
          </p:cNvPr>
          <p:cNvSpPr>
            <a:spLocks xmlns:a="http://schemas.openxmlformats.org/drawingml/2006/main" noGrp="1"/>
          </p:cNvSpPr>
          <p:nvPr/>
        </p:nvSpPr>
        <p:spPr>
          <a:xfrm xmlns:a="http://schemas.openxmlformats.org/drawingml/2006/main">
            <a:off x="877824" y="4882896"/>
            <a:ext cx="481568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FEASIBILITY CEILING — what the compiler could achieve with a perfect verifier and a gate that never abstains. Because it assumes ρ = 1, no measured reduction can exceed it. Reporting the ceiling first makes a decisive negative answer cheap: a workload whose ceiling is under target is declined before a compiler is built for it.</a:t>
            </a:r>
          </a:p>
        </p:txBody>
      </p:sp>
      <p:sp>
        <p:nvSpPr>
          <p:cNvPr id="16" name="Text 12">
            <a:extLst xmlns:a="http://schemas.openxmlformats.org/drawingml/2006/main">
              <a:ext uri="{FF2B5EF4-FFF2-40B4-BE49-F238E27FC236}">
                <a16:creationId xmlns:a16="http://schemas.microsoft.com/office/drawing/2014/main" id="{59027797-D0DE-4489-9D41-EEDDBE5CDC42}"/>
              </a:ext>
            </a:extLst>
          </p:cNvPr>
          <p:cNvSpPr>
            <a:spLocks xmlns:a="http://schemas.openxmlformats.org/drawingml/2006/main" noGrp="1"/>
          </p:cNvSpPr>
          <p:nvPr/>
        </p:nvSpPr>
        <p:spPr>
          <a:xfrm xmlns:a="http://schemas.openxmlformats.org/drawingml/2006/main">
            <a:off x="5236312" y="4297680"/>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(7)</a:t>
            </a:r>
          </a:p>
        </p:txBody>
      </p:sp>
      <p:sp>
        <p:nvSpPr>
          <p:cNvPr id="17" name="Shape 13">
            <a:extLst xmlns:a="http://schemas.openxmlformats.org/drawingml/2006/main">
              <a:ext uri="{FF2B5EF4-FFF2-40B4-BE49-F238E27FC236}">
                <a16:creationId xmlns:a16="http://schemas.microsoft.com/office/drawing/2014/main" id="{F505853E-1E12-44C0-97B8-BC54ACDDA5E6}"/>
              </a:ext>
            </a:extLst>
          </p:cNvPr>
          <p:cNvSpPr>
            <a:spLocks xmlns:a="http://schemas.openxmlformats.org/drawingml/2006/main" noGrp="1"/>
          </p:cNvSpPr>
          <p:nvPr/>
        </p:nvSpPr>
        <p:spPr>
          <a:xfrm xmlns:a="http://schemas.openxmlformats.org/drawingml/2006/main">
            <a:off x="6260440" y="4151376"/>
            <a:ext cx="5291176"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8" name="Text 14">
            <a:extLst xmlns:a="http://schemas.openxmlformats.org/drawingml/2006/main">
              <a:ext uri="{FF2B5EF4-FFF2-40B4-BE49-F238E27FC236}">
                <a16:creationId xmlns:a16="http://schemas.microsoft.com/office/drawing/2014/main" id="{3685D4D7-5CD8-427B-A6A7-0E5D9C2C02B0}"/>
              </a:ext>
            </a:extLst>
          </p:cNvPr>
          <p:cNvSpPr>
            <a:spLocks xmlns:a="http://schemas.openxmlformats.org/drawingml/2006/main" noGrp="1"/>
          </p:cNvSpPr>
          <p:nvPr/>
        </p:nvSpPr>
        <p:spPr>
          <a:xfrm xmlns:a="http://schemas.openxmlformats.org/drawingml/2006/main">
            <a:off x="6498184" y="4279392"/>
            <a:ext cx="48156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WORKED EXAMPLE — THE FIXED-PREFIX GITHUB STUDY</a:t>
            </a:r>
          </a:p>
        </p:txBody>
      </p:sp>
      <p:sp>
        <p:nvSpPr>
          <p:cNvPr id="19" name="Text 15">
            <a:extLst xmlns:a="http://schemas.openxmlformats.org/drawingml/2006/main">
              <a:ext uri="{FF2B5EF4-FFF2-40B4-BE49-F238E27FC236}">
                <a16:creationId xmlns:a16="http://schemas.microsoft.com/office/drawing/2014/main" id="{13E62D42-1D9E-41C8-A0AC-0F9588939FD2}"/>
              </a:ext>
            </a:extLst>
          </p:cNvPr>
          <p:cNvSpPr>
            <a:spLocks xmlns:a="http://schemas.openxmlformats.org/drawingml/2006/main" noGrp="1"/>
          </p:cNvSpPr>
          <p:nvPr/>
        </p:nvSpPr>
        <p:spPr>
          <a:xfrm xmlns:a="http://schemas.openxmlformats.org/drawingml/2006/main">
            <a:off x="6498184" y="4553712"/>
            <a:ext cx="1280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0E1E3A"/>
                </a:solidFill>
                <a:latin typeface="Cambria"/>
                <a:ea typeface="Cambria"/>
                <a:cs typeface="Cambria"/>
              </a:rPr>
              <a:t>φ = 1</a:t>
            </a:r>
          </a:p>
        </p:txBody>
      </p:sp>
      <p:sp>
        <p:nvSpPr>
          <p:cNvPr id="20" name="Text 16">
            <a:extLst xmlns:a="http://schemas.openxmlformats.org/drawingml/2006/main">
              <a:ext uri="{FF2B5EF4-FFF2-40B4-BE49-F238E27FC236}">
                <a16:creationId xmlns:a16="http://schemas.microsoft.com/office/drawing/2014/main" id="{2EDF42DB-A458-473C-82BC-9FDAE0E2954E}"/>
              </a:ext>
            </a:extLst>
          </p:cNvPr>
          <p:cNvSpPr>
            <a:spLocks xmlns:a="http://schemas.openxmlformats.org/drawingml/2006/main" noGrp="1"/>
          </p:cNvSpPr>
          <p:nvPr/>
        </p:nvSpPr>
        <p:spPr>
          <a:xfrm xmlns:a="http://schemas.openxmlformats.org/drawingml/2006/main">
            <a:off x="6498184" y="4809744"/>
            <a:ext cx="1371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A6B84"/>
                </a:solidFill>
                <a:latin typeface="Calibri"/>
                <a:ea typeface="Calibri"/>
                <a:cs typeface="Calibri"/>
              </a:rPr>
              <a:t>eligible share</a:t>
            </a:r>
          </a:p>
        </p:txBody>
      </p:sp>
      <p:sp>
        <p:nvSpPr>
          <p:cNvPr id="21" name="Text 17">
            <a:extLst xmlns:a="http://schemas.openxmlformats.org/drawingml/2006/main">
              <a:ext uri="{FF2B5EF4-FFF2-40B4-BE49-F238E27FC236}">
                <a16:creationId xmlns:a16="http://schemas.microsoft.com/office/drawing/2014/main" id="{756C2298-8D13-4DC3-AAF2-940AAC15E128}"/>
              </a:ext>
            </a:extLst>
          </p:cNvPr>
          <p:cNvSpPr>
            <a:spLocks xmlns:a="http://schemas.openxmlformats.org/drawingml/2006/main" noGrp="1"/>
          </p:cNvSpPr>
          <p:nvPr/>
        </p:nvSpPr>
        <p:spPr>
          <a:xfrm xmlns:a="http://schemas.openxmlformats.org/drawingml/2006/main">
            <a:off x="7987589" y="4553712"/>
            <a:ext cx="1280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0E1E3A"/>
                </a:solidFill>
                <a:latin typeface="Cambria"/>
                <a:ea typeface="Cambria"/>
                <a:cs typeface="Cambria"/>
              </a:rPr>
              <a:t>k = 3</a:t>
            </a:r>
          </a:p>
        </p:txBody>
      </p:sp>
      <p:sp>
        <p:nvSpPr>
          <p:cNvPr id="22" name="Text 18">
            <a:extLst xmlns:a="http://schemas.openxmlformats.org/drawingml/2006/main">
              <a:ext uri="{FF2B5EF4-FFF2-40B4-BE49-F238E27FC236}">
                <a16:creationId xmlns:a16="http://schemas.microsoft.com/office/drawing/2014/main" id="{1597F0DB-037C-413A-8E48-F0D320E2E191}"/>
              </a:ext>
            </a:extLst>
          </p:cNvPr>
          <p:cNvSpPr>
            <a:spLocks xmlns:a="http://schemas.openxmlformats.org/drawingml/2006/main" noGrp="1"/>
          </p:cNvSpPr>
          <p:nvPr/>
        </p:nvSpPr>
        <p:spPr>
          <a:xfrm xmlns:a="http://schemas.openxmlformats.org/drawingml/2006/main">
            <a:off x="7987589" y="4809744"/>
            <a:ext cx="1371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A6B84"/>
                </a:solidFill>
                <a:latin typeface="Calibri"/>
                <a:ea typeface="Calibri"/>
                <a:cs typeface="Calibri"/>
              </a:rPr>
              <a:t>requests removed</a:t>
            </a:r>
          </a:p>
        </p:txBody>
      </p:sp>
      <p:sp>
        <p:nvSpPr>
          <p:cNvPr id="23" name="Text 19">
            <a:extLst xmlns:a="http://schemas.openxmlformats.org/drawingml/2006/main">
              <a:ext uri="{FF2B5EF4-FFF2-40B4-BE49-F238E27FC236}">
                <a16:creationId xmlns:a16="http://schemas.microsoft.com/office/drawing/2014/main" id="{9C7C1F7D-2823-4EF9-8676-CC605F74AC4C}"/>
              </a:ext>
            </a:extLst>
          </p:cNvPr>
          <p:cNvSpPr>
            <a:spLocks xmlns:a="http://schemas.openxmlformats.org/drawingml/2006/main" noGrp="1"/>
          </p:cNvSpPr>
          <p:nvPr/>
        </p:nvSpPr>
        <p:spPr>
          <a:xfrm xmlns:a="http://schemas.openxmlformats.org/drawingml/2006/main">
            <a:off x="9476994" y="4553712"/>
            <a:ext cx="1280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0E1E3A"/>
                </a:solidFill>
                <a:latin typeface="Cambria"/>
                <a:ea typeface="Cambria"/>
                <a:cs typeface="Cambria"/>
              </a:rPr>
              <a:t>nᴮ = 4</a:t>
            </a:r>
          </a:p>
        </p:txBody>
      </p:sp>
      <p:sp>
        <p:nvSpPr>
          <p:cNvPr id="24" name="Text 20">
            <a:extLst xmlns:a="http://schemas.openxmlformats.org/drawingml/2006/main">
              <a:ext uri="{FF2B5EF4-FFF2-40B4-BE49-F238E27FC236}">
                <a16:creationId xmlns:a16="http://schemas.microsoft.com/office/drawing/2014/main" id="{63E6AFB6-E561-452E-96F4-EAEB327A85A0}"/>
              </a:ext>
            </a:extLst>
          </p:cNvPr>
          <p:cNvSpPr>
            <a:spLocks xmlns:a="http://schemas.openxmlformats.org/drawingml/2006/main" noGrp="1"/>
          </p:cNvSpPr>
          <p:nvPr/>
        </p:nvSpPr>
        <p:spPr>
          <a:xfrm xmlns:a="http://schemas.openxmlformats.org/drawingml/2006/main">
            <a:off x="9476994" y="4809744"/>
            <a:ext cx="1371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A6B84"/>
                </a:solidFill>
                <a:latin typeface="Calibri"/>
                <a:ea typeface="Calibri"/>
                <a:cs typeface="Calibri"/>
              </a:rPr>
              <a:t>baseline requests</a:t>
            </a:r>
          </a:p>
        </p:txBody>
      </p:sp>
      <p:sp>
        <p:nvSpPr>
          <p:cNvPr id="25" name="Shape 21">
            <a:extLst xmlns:a="http://schemas.openxmlformats.org/drawingml/2006/main">
              <a:ext uri="{FF2B5EF4-FFF2-40B4-BE49-F238E27FC236}">
                <a16:creationId xmlns:a16="http://schemas.microsoft.com/office/drawing/2014/main" id="{8B27E39C-7A76-44E9-8F7C-4DBA5495ECE2}"/>
              </a:ext>
            </a:extLst>
          </p:cNvPr>
          <p:cNvSpPr>
            <a:spLocks xmlns:a="http://schemas.openxmlformats.org/drawingml/2006/main" noGrp="1"/>
          </p:cNvSpPr>
          <p:nvPr/>
        </p:nvSpPr>
        <p:spPr>
          <a:xfrm xmlns:a="http://schemas.openxmlformats.org/drawingml/2006/main">
            <a:off x="6498184" y="5084064"/>
            <a:ext cx="4815688" cy="0"/>
          </a:xfrm>
          <a:prstGeom xmlns:a="http://schemas.openxmlformats.org/drawingml/2006/main" prst="line">
            <a:avLst/>
          </a:prstGeom>
          <a:noFill xmlns:a="http://schemas.openxmlformats.org/drawingml/2006/main"/>
          <a:ln xmlns:a="http://schemas.openxmlformats.org/drawingml/2006/main" w="12700">
            <a:solidFill>
              <a:srgbClr val="CFE4E7"/>
            </a:solidFill>
            <a:prstDash val="solid"/>
          </a:ln>
        </p:spPr>
        <p:txBody>
          <a:bodyPr xmlns:a="http://schemas.openxmlformats.org/drawingml/2006/main"/>
          <a:lstStyle xmlns:a="http://schemas.openxmlformats.org/drawingml/2006/main"/>
          <a:p xmlns:a="http://schemas.openxmlformats.org/drawingml/2006/main"/>
        </p:txBody>
      </p:sp>
      <p:sp>
        <p:nvSpPr>
          <p:cNvPr id="26" name="Text 22">
            <a:extLst xmlns:a="http://schemas.openxmlformats.org/drawingml/2006/main">
              <a:ext uri="{FF2B5EF4-FFF2-40B4-BE49-F238E27FC236}">
                <a16:creationId xmlns:a16="http://schemas.microsoft.com/office/drawing/2014/main" id="{53BD9B50-79DE-4DC3-9097-9A484D4F8722}"/>
              </a:ext>
            </a:extLst>
          </p:cNvPr>
          <p:cNvSpPr>
            <a:spLocks xmlns:a="http://schemas.openxmlformats.org/drawingml/2006/main" noGrp="1"/>
          </p:cNvSpPr>
          <p:nvPr/>
        </p:nvSpPr>
        <p:spPr>
          <a:xfrm xmlns:a="http://schemas.openxmlformats.org/drawingml/2006/main">
            <a:off x="6498184" y="5193792"/>
            <a:ext cx="4577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0.750</a:t>
            </a:r>
            <a:r>
              <a:rPr sz="1100">
                <a:solidFill>
                  <a:srgbClr val="5A6B84"/>
                </a:solidFill>
                <a:latin typeface="Calibri"/>
                <a:ea typeface="Calibri"/>
                <a:cs typeface="Calibri"/>
              </a:rPr>
              <a:t>  ceiling  →  </a:t>
            </a:r>
            <a:r>
              <a:rPr sz="1700" b="1">
                <a:solidFill>
                  <a:srgbClr val="1F8A99"/>
                </a:solidFill>
                <a:latin typeface="Cambria"/>
                <a:ea typeface="Cambria"/>
                <a:cs typeface="Cambria"/>
              </a:rPr>
              <a:t>75.0%</a:t>
            </a:r>
            <a:r>
              <a:rPr sz="1050">
                <a:solidFill>
                  <a:srgbClr val="24354F"/>
                </a:solidFill>
                <a:latin typeface="Calibri"/>
                <a:ea typeface="Calibri"/>
                <a:cs typeface="Calibri"/>
              </a:rPr>
              <a:t>  measured. A saturated ceiling says only that the task fully determined the region.</a:t>
            </a:r>
          </a:p>
        </p:txBody>
      </p:sp>
      <p:sp>
        <p:nvSpPr>
          <p:cNvPr id="27" name="Text 23">
            <a:extLst xmlns:a="http://schemas.openxmlformats.org/drawingml/2006/main">
              <a:ext uri="{FF2B5EF4-FFF2-40B4-BE49-F238E27FC236}">
                <a16:creationId xmlns:a16="http://schemas.microsoft.com/office/drawing/2014/main" id="{735C840B-C2CC-4F83-A24D-C324F0161B69}"/>
              </a:ext>
            </a:extLst>
          </p:cNvPr>
          <p:cNvSpPr>
            <a:spLocks xmlns:a="http://schemas.openxmlformats.org/drawingml/2006/main" noGrp="1"/>
          </p:cNvSpPr>
          <p:nvPr/>
        </p:nvSpPr>
        <p:spPr>
          <a:xfrm xmlns:a="http://schemas.openxmlformats.org/drawingml/2006/main">
            <a:off x="640080" y="5669280"/>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i="1">
                <a:solidFill>
                  <a:srgbClr val="5A6B84"/>
                </a:solidFill>
                <a:latin typeface="Calibri"/>
                <a:ea typeface="Calibri"/>
                <a:cs typeface="Calibri"/>
              </a:rPr>
              <a:t>Enumeration is practically bounded by the number of reachable result boundaries; the implementation's nested scan is worst-case O(NT²) when non-call spans are adversarial. We report this rather than the stronger O(NT) claim the bounded-call intuition suggests.</a:t>
            </a:r>
          </a:p>
        </p:txBody>
      </p:sp>
    </p:spTree>
    <p:extLst>
      <p:ext uri="{BB962C8B-B14F-4D97-AF65-F5344CB8AC3E}">
        <p14:creationId xmlns:p14="http://schemas.microsoft.com/office/powerpoint/2010/main" val="9478036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D135B6-5D23-4FE8-9F53-EA59E6B8D2F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6FD1F6C-A7A8-40BF-B25F-CD9ABDA3A132}"/>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12</a:t>
            </a:r>
          </a:p>
        </p:txBody>
      </p:sp>
      <p:sp>
        <p:nvSpPr>
          <p:cNvPr id="4" name="Text 2">
            <a:extLst xmlns:a="http://schemas.openxmlformats.org/drawingml/2006/main">
              <a:ext uri="{FF2B5EF4-FFF2-40B4-BE49-F238E27FC236}">
                <a16:creationId xmlns:a16="http://schemas.microsoft.com/office/drawing/2014/main" id="{603A8FEF-156F-4985-B173-28E7D5887878}"/>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  ·  §3.2</a:t>
            </a:r>
          </a:p>
        </p:txBody>
      </p:sp>
      <p:sp>
        <p:nvSpPr>
          <p:cNvPr id="5" name="Text 3">
            <a:extLst xmlns:a="http://schemas.openxmlformats.org/drawingml/2006/main">
              <a:ext uri="{FF2B5EF4-FFF2-40B4-BE49-F238E27FC236}">
                <a16:creationId xmlns:a16="http://schemas.microsoft.com/office/drawing/2014/main" id="{96CA3872-9F60-4C6D-A6EC-47FD30865425}"/>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Bounded synthesis, induced contracts — and an unrun challenge</a:t>
            </a:r>
          </a:p>
        </p:txBody>
      </p:sp>
      <p:sp>
        <p:nvSpPr>
          <p:cNvPr id="6" name="Shape 4">
            <a:extLst xmlns:a="http://schemas.openxmlformats.org/drawingml/2006/main">
              <a:ext uri="{FF2B5EF4-FFF2-40B4-BE49-F238E27FC236}">
                <a16:creationId xmlns:a16="http://schemas.microsoft.com/office/drawing/2014/main" id="{44EC2C6E-0569-4898-B15E-4FBD1C548765}"/>
              </a:ext>
            </a:extLst>
          </p:cNvPr>
          <p:cNvSpPr>
            <a:spLocks xmlns:a="http://schemas.openxmlformats.org/drawingml/2006/main" noGrp="1"/>
          </p:cNvSpPr>
          <p:nvPr/>
        </p:nvSpPr>
        <p:spPr>
          <a:xfrm xmlns:a="http://schemas.openxmlformats.org/drawingml/2006/main">
            <a:off x="640080" y="1188720"/>
            <a:ext cx="3454298" cy="3108960"/>
          </a:xfrm>
          <a:prstGeom xmlns:a="http://schemas.openxmlformats.org/drawingml/2006/main" prst="roundRect">
            <a:avLst>
              <a:gd name="adj" fmla="val 1471"/>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0877028A-9139-4F65-985F-0858A8C7E80E}"/>
              </a:ext>
            </a:extLst>
          </p:cNvPr>
          <p:cNvSpPr>
            <a:spLocks xmlns:a="http://schemas.openxmlformats.org/drawingml/2006/main" noGrp="1"/>
          </p:cNvSpPr>
          <p:nvPr/>
        </p:nvSpPr>
        <p:spPr>
          <a:xfrm xmlns:a="http://schemas.openxmlformats.org/drawingml/2006/main">
            <a:off x="877824" y="1316736"/>
            <a:ext cx="297881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F8A99"/>
                </a:solidFill>
                <a:latin typeface="Cambria"/>
                <a:ea typeface="Cambria"/>
                <a:cs typeface="Cambria"/>
              </a:rPr>
              <a:t>Synthesis</a:t>
            </a:r>
          </a:p>
        </p:txBody>
      </p:sp>
      <p:sp>
        <p:nvSpPr>
          <p:cNvPr id="8" name="Text 6">
            <a:extLst xmlns:a="http://schemas.openxmlformats.org/drawingml/2006/main">
              <a:ext uri="{FF2B5EF4-FFF2-40B4-BE49-F238E27FC236}">
                <a16:creationId xmlns:a16="http://schemas.microsoft.com/office/drawing/2014/main" id="{3EA2CBB8-0D9C-42BE-AC15-398AB5D2C045}"/>
              </a:ext>
            </a:extLst>
          </p:cNvPr>
          <p:cNvSpPr>
            <a:spLocks xmlns:a="http://schemas.openxmlformats.org/drawingml/2006/main" noGrp="1"/>
          </p:cNvSpPr>
          <p:nvPr/>
        </p:nvSpPr>
        <p:spPr>
          <a:xfrm xmlns:a="http://schemas.openxmlformats.org/drawingml/2006/main">
            <a:off x="896112" y="1700784"/>
            <a:ext cx="2942234"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23-operator closed library, depth at most two</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Path selection, indexing, string normalization, arithmetic, comparison, bounded collection ops, narrow loops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Bindings ranked by stability across groups; a group-wise refit rejects bindings that exploit row-level coincidence</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Related to programming-by-example and bounded sketching — but the hypothesis space is deliberately small enough to inspect. It does not generate arbitrary Python</a:t>
            </a:r>
          </a:p>
        </p:txBody>
      </p:sp>
      <p:sp>
        <p:nvSpPr>
          <p:cNvPr id="9" name="Shape 7">
            <a:extLst xmlns:a="http://schemas.openxmlformats.org/drawingml/2006/main">
              <a:ext uri="{FF2B5EF4-FFF2-40B4-BE49-F238E27FC236}">
                <a16:creationId xmlns:a16="http://schemas.microsoft.com/office/drawing/2014/main" id="{9DCF6D6A-4082-4747-945F-EAE0B7A67143}"/>
              </a:ext>
            </a:extLst>
          </p:cNvPr>
          <p:cNvSpPr>
            <a:spLocks xmlns:a="http://schemas.openxmlformats.org/drawingml/2006/main" noGrp="1"/>
          </p:cNvSpPr>
          <p:nvPr/>
        </p:nvSpPr>
        <p:spPr>
          <a:xfrm xmlns:a="http://schemas.openxmlformats.org/drawingml/2006/main">
            <a:off x="4368698" y="1188720"/>
            <a:ext cx="3454298" cy="3108960"/>
          </a:xfrm>
          <a:prstGeom xmlns:a="http://schemas.openxmlformats.org/drawingml/2006/main" prst="roundRect">
            <a:avLst>
              <a:gd name="adj" fmla="val 1471"/>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FA51A592-4AE0-4B8D-A1FB-A37C30E11499}"/>
              </a:ext>
            </a:extLst>
          </p:cNvPr>
          <p:cNvSpPr>
            <a:spLocks xmlns:a="http://schemas.openxmlformats.org/drawingml/2006/main" noGrp="1"/>
          </p:cNvSpPr>
          <p:nvPr/>
        </p:nvSpPr>
        <p:spPr>
          <a:xfrm xmlns:a="http://schemas.openxmlformats.org/drawingml/2006/main">
            <a:off x="4606442" y="1316736"/>
            <a:ext cx="297881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A3563"/>
                </a:solidFill>
                <a:latin typeface="Cambria"/>
                <a:ea typeface="Cambria"/>
                <a:cs typeface="Cambria"/>
              </a:rPr>
              <a:t>Hard guard H</a:t>
            </a:r>
          </a:p>
        </p:txBody>
      </p:sp>
      <p:sp>
        <p:nvSpPr>
          <p:cNvPr id="11" name="Text 9">
            <a:extLst xmlns:a="http://schemas.openxmlformats.org/drawingml/2006/main">
              <a:ext uri="{FF2B5EF4-FFF2-40B4-BE49-F238E27FC236}">
                <a16:creationId xmlns:a16="http://schemas.microsoft.com/office/drawing/2014/main" id="{E1A9A9E4-D43D-4017-A38F-1FC72443F846}"/>
              </a:ext>
            </a:extLst>
          </p:cNvPr>
          <p:cNvSpPr>
            <a:spLocks xmlns:a="http://schemas.openxmlformats.org/drawingml/2006/main" noGrp="1"/>
          </p:cNvSpPr>
          <p:nvPr/>
        </p:nvSpPr>
        <p:spPr>
          <a:xfrm xmlns:a="http://schemas.openxmlformats.org/drawingml/2006/main">
            <a:off x="4624730" y="1700784"/>
            <a:ext cx="2942234"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Entry types and required fields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Categorical sets, numeric intervals, patterns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Isolation keys and allowed effects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Manifest pins — prompt, policy, tools, guardrail, model, SDK, tracer, entry contract, effect catalog</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Evaluated before emission, so this check is exact on both integration paths</a:t>
            </a:r>
          </a:p>
        </p:txBody>
      </p:sp>
      <p:sp>
        <p:nvSpPr>
          <p:cNvPr id="12" name="Shape 10">
            <a:extLst xmlns:a="http://schemas.openxmlformats.org/drawingml/2006/main">
              <a:ext uri="{FF2B5EF4-FFF2-40B4-BE49-F238E27FC236}">
                <a16:creationId xmlns:a16="http://schemas.microsoft.com/office/drawing/2014/main" id="{16A50691-C17B-403C-A024-74EB699A2880}"/>
              </a:ext>
            </a:extLst>
          </p:cNvPr>
          <p:cNvSpPr>
            <a:spLocks xmlns:a="http://schemas.openxmlformats.org/drawingml/2006/main" noGrp="1"/>
          </p:cNvSpPr>
          <p:nvPr/>
        </p:nvSpPr>
        <p:spPr>
          <a:xfrm xmlns:a="http://schemas.openxmlformats.org/drawingml/2006/main">
            <a:off x="8097317" y="1188720"/>
            <a:ext cx="3454298" cy="3108960"/>
          </a:xfrm>
          <a:prstGeom xmlns:a="http://schemas.openxmlformats.org/drawingml/2006/main" prst="roundRect">
            <a:avLst>
              <a:gd name="adj" fmla="val 1471"/>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0F192B9F-63D5-4075-B94A-7D34958C7763}"/>
              </a:ext>
            </a:extLst>
          </p:cNvPr>
          <p:cNvSpPr>
            <a:spLocks xmlns:a="http://schemas.openxmlformats.org/drawingml/2006/main" noGrp="1"/>
          </p:cNvSpPr>
          <p:nvPr/>
        </p:nvSpPr>
        <p:spPr>
          <a:xfrm xmlns:a="http://schemas.openxmlformats.org/drawingml/2006/main">
            <a:off x="8335061" y="1316736"/>
            <a:ext cx="297881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56B3BE"/>
                </a:solidFill>
                <a:latin typeface="Cambria"/>
                <a:ea typeface="Cambria"/>
                <a:cs typeface="Cambria"/>
              </a:rPr>
              <a:t>Verifier V</a:t>
            </a:r>
          </a:p>
        </p:txBody>
      </p:sp>
      <p:sp>
        <p:nvSpPr>
          <p:cNvPr id="14" name="Text 12">
            <a:extLst xmlns:a="http://schemas.openxmlformats.org/drawingml/2006/main">
              <a:ext uri="{FF2B5EF4-FFF2-40B4-BE49-F238E27FC236}">
                <a16:creationId xmlns:a16="http://schemas.microsoft.com/office/drawing/2014/main" id="{3171E06D-0DFA-4E60-A2ED-5E42A2D5F3FB}"/>
              </a:ext>
            </a:extLst>
          </p:cNvPr>
          <p:cNvSpPr>
            <a:spLocks xmlns:a="http://schemas.openxmlformats.org/drawingml/2006/main" noGrp="1"/>
          </p:cNvSpPr>
          <p:nvPr/>
        </p:nvSpPr>
        <p:spPr>
          <a:xfrm xmlns:a="http://schemas.openxmlformats.org/drawingml/2006/main">
            <a:off x="8353349" y="1700784"/>
            <a:ext cx="2942234"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Live-out presence, type, cardinality</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Empirical hulls over observed values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Provenance and effect multisets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Call counts</a:t>
            </a:r>
          </a:p>
          <a:p xmlns:a="http://schemas.openxmlformats.org/drawingml/2006/main">
            <a:pPr marL="342900" indent="-342900">
              <a:lnSpc>
                <a:spcPct val="105000"/>
              </a:lnSpc>
              <a:spcAft>
                <a:spcPts val="500"/>
              </a:spcAft>
              <a:buChar char="•"/>
            </a:pPr>
            <a:r>
              <a:rPr sz="1050">
                <a:solidFill>
                  <a:srgbClr val="24354F"/>
                </a:solidFill>
                <a:latin typeface="Calibri"/>
                <a:ea typeface="Calibri"/>
                <a:cs typeface="Calibri"/>
              </a:rPr>
              <a:t>These are likely invariants, not proofs for all future inputs — which is why a separate calibrated gate is still required</a:t>
            </a:r>
          </a:p>
        </p:txBody>
      </p:sp>
      <p:sp>
        <p:nvSpPr>
          <p:cNvPr id="15" name="Shape 13">
            <a:extLst xmlns:a="http://schemas.openxmlformats.org/drawingml/2006/main">
              <a:ext uri="{FF2B5EF4-FFF2-40B4-BE49-F238E27FC236}">
                <a16:creationId xmlns:a16="http://schemas.microsoft.com/office/drawing/2014/main" id="{651384FA-ECC7-4E06-8D62-599CB89E9DE7}"/>
              </a:ext>
            </a:extLst>
          </p:cNvPr>
          <p:cNvSpPr>
            <a:spLocks xmlns:a="http://schemas.openxmlformats.org/drawingml/2006/main" noGrp="1"/>
          </p:cNvSpPr>
          <p:nvPr/>
        </p:nvSpPr>
        <p:spPr>
          <a:xfrm xmlns:a="http://schemas.openxmlformats.org/drawingml/2006/main">
            <a:off x="640080" y="4443984"/>
            <a:ext cx="10911535" cy="1133856"/>
          </a:xfrm>
          <a:prstGeom xmlns:a="http://schemas.openxmlformats.org/drawingml/2006/main" prst="roundRect">
            <a:avLst>
              <a:gd name="adj" fmla="val 4032"/>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6" name="Shape 14">
            <a:extLst xmlns:a="http://schemas.openxmlformats.org/drawingml/2006/main">
              <a:ext uri="{FF2B5EF4-FFF2-40B4-BE49-F238E27FC236}">
                <a16:creationId xmlns:a16="http://schemas.microsoft.com/office/drawing/2014/main" id="{66A8B8F6-6C35-49A4-8656-59741D914AD7}"/>
              </a:ext>
            </a:extLst>
          </p:cNvPr>
          <p:cNvSpPr>
            <a:spLocks xmlns:a="http://schemas.openxmlformats.org/drawingml/2006/main" noGrp="1"/>
          </p:cNvSpPr>
          <p:nvPr/>
        </p:nvSpPr>
        <p:spPr>
          <a:xfrm xmlns:a="http://schemas.openxmlformats.org/drawingml/2006/main">
            <a:off x="896112" y="4626864"/>
            <a:ext cx="329184" cy="32918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3EE60373-BECA-4AE4-A703-AB835968349A}"/>
              </a:ext>
            </a:extLst>
          </p:cNvPr>
          <p:cNvSpPr>
            <a:spLocks xmlns:a="http://schemas.openxmlformats.org/drawingml/2006/main" noGrp="1"/>
          </p:cNvSpPr>
          <p:nvPr/>
        </p:nvSpPr>
        <p:spPr>
          <a:xfrm xmlns:a="http://schemas.openxmlformats.org/drawingml/2006/main">
            <a:off x="896112" y="462686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18" name="Text 16">
            <a:extLst xmlns:a="http://schemas.openxmlformats.org/drawingml/2006/main">
              <a:ext uri="{FF2B5EF4-FFF2-40B4-BE49-F238E27FC236}">
                <a16:creationId xmlns:a16="http://schemas.microsoft.com/office/drawing/2014/main" id="{E4DC2000-7FC7-4750-A4D3-8595797CDE19}"/>
              </a:ext>
            </a:extLst>
          </p:cNvPr>
          <p:cNvSpPr>
            <a:spLocks xmlns:a="http://schemas.openxmlformats.org/drawingml/2006/main" noGrp="1"/>
          </p:cNvSpPr>
          <p:nvPr/>
        </p:nvSpPr>
        <p:spPr>
          <a:xfrm xmlns:a="http://schemas.openxmlformats.org/drawingml/2006/main">
            <a:off x="1335024" y="4590288"/>
            <a:ext cx="990569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A93B2B"/>
                </a:solidFill>
                <a:latin typeface="Cambria"/>
                <a:ea typeface="Cambria"/>
                <a:cs typeface="Cambria"/>
              </a:rPr>
              <a:t>The replay-and-perturb challenge did not run on the headline artifact</a:t>
            </a:r>
          </a:p>
        </p:txBody>
      </p:sp>
      <p:sp>
        <p:nvSpPr>
          <p:cNvPr id="19" name="Text 17">
            <a:extLst xmlns:a="http://schemas.openxmlformats.org/drawingml/2006/main">
              <a:ext uri="{FF2B5EF4-FFF2-40B4-BE49-F238E27FC236}">
                <a16:creationId xmlns:a16="http://schemas.microsoft.com/office/drawing/2014/main" id="{1363487A-37F7-4C45-9946-6DB6FADB8BA7}"/>
              </a:ext>
            </a:extLst>
          </p:cNvPr>
          <p:cNvSpPr>
            <a:spLocks xmlns:a="http://schemas.openxmlformats.org/drawingml/2006/main" noGrp="1"/>
          </p:cNvSpPr>
          <p:nvPr/>
        </p:nvSpPr>
        <p:spPr>
          <a:xfrm xmlns:a="http://schemas.openxmlformats.org/drawingml/2006/main">
            <a:off x="1335024" y="4901184"/>
            <a:ext cx="990569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100">
                <a:solidFill>
                  <a:srgbClr val="5C4034"/>
                </a:solidFill>
                <a:latin typeface="Calibri"/>
                <a:ea typeface="Calibri"/>
                <a:cs typeface="Calibri"/>
              </a:rPr>
              <a:t>Replay and perturbation are available to challenge a candidate before calibration, but they are only as strong as the substrate supplied: without a sandbox the suite cannot run at all, and the artifact then records perturbations_claimed: false rather than implying a challenge occurred. The headline live artifact of §5.2 is in exactly that position, and the paper reports it as a limitation of that run rather than as a property of the method.</a:t>
            </a:r>
          </a:p>
        </p:txBody>
      </p:sp>
    </p:spTree>
    <p:extLst>
      <p:ext uri="{BB962C8B-B14F-4D97-AF65-F5344CB8AC3E}">
        <p14:creationId xmlns:p14="http://schemas.microsoft.com/office/powerpoint/2010/main" val="20385503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C39B87-46AB-464B-9FE6-355EB88F1B7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D29D810-3126-4E15-BCEA-084C5E5FE9A4}"/>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13</a:t>
            </a:r>
          </a:p>
        </p:txBody>
      </p:sp>
      <p:sp>
        <p:nvSpPr>
          <p:cNvPr id="4" name="Text 2">
            <a:extLst xmlns:a="http://schemas.openxmlformats.org/drawingml/2006/main">
              <a:ext uri="{FF2B5EF4-FFF2-40B4-BE49-F238E27FC236}">
                <a16:creationId xmlns:a16="http://schemas.microsoft.com/office/drawing/2014/main" id="{9558AFD8-9541-4FF4-8B79-3EE7504DC118}"/>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  ·  §3.3 AND ALGORITHM 3</a:t>
            </a:r>
          </a:p>
        </p:txBody>
      </p:sp>
      <p:sp>
        <p:nvSpPr>
          <p:cNvPr id="5" name="Text 3">
            <a:extLst xmlns:a="http://schemas.openxmlformats.org/drawingml/2006/main">
              <a:ext uri="{FF2B5EF4-FFF2-40B4-BE49-F238E27FC236}">
                <a16:creationId xmlns:a16="http://schemas.microsoft.com/office/drawing/2014/main" id="{1DB4C977-F457-4F87-B209-5C09DC88038F}"/>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Exact selective admission over a pre-frozen threshold grid</a:t>
            </a:r>
          </a:p>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bfb1e94d7750465b"/>
          <a:stretch xmlns:a="http://schemas.openxmlformats.org/drawingml/2006/main">
            <a:fillRect l="0" t="0" r="0" b="0"/>
          </a:stretch>
        </p:blipFill>
        <p:spPr>
          <a:xfrm xmlns:a="http://schemas.openxmlformats.org/drawingml/2006/main">
            <a:off x="640080" y="1152144"/>
            <a:ext cx="5399649" cy="27432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7637331-8532-432E-ABD9-7EECD6659378}"/>
              </a:ext>
            </a:extLst>
          </p:cNvPr>
          <p:cNvSpPr>
            <a:spLocks xmlns:a="http://schemas.openxmlformats.org/drawingml/2006/main" noGrp="1"/>
          </p:cNvSpPr>
          <p:nvPr/>
        </p:nvSpPr>
        <p:spPr>
          <a:xfrm xmlns:a="http://schemas.openxmlformats.org/drawingml/2006/main">
            <a:off x="6350625" y="1152144"/>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B84"/>
                </a:solidFill>
                <a:latin typeface="Calibri"/>
                <a:ea typeface="Calibri"/>
                <a:cs typeface="Calibri"/>
              </a:rPr>
              <a:t>fixed before calibration</a:t>
            </a:r>
          </a:p>
        </p:txBody>
      </p:sp>
      <p:sp>
        <p:nvSpPr>
          <p:cNvPr id="8" name="Shape 5">
            <a:extLst xmlns:a="http://schemas.openxmlformats.org/drawingml/2006/main">
              <a:ext uri="{FF2B5EF4-FFF2-40B4-BE49-F238E27FC236}">
                <a16:creationId xmlns:a16="http://schemas.microsoft.com/office/drawing/2014/main" id="{5F1F23D7-D411-4138-B576-286E074CA852}"/>
              </a:ext>
            </a:extLst>
          </p:cNvPr>
          <p:cNvSpPr>
            <a:spLocks xmlns:a="http://schemas.openxmlformats.org/drawingml/2006/main" noGrp="1"/>
          </p:cNvSpPr>
          <p:nvPr/>
        </p:nvSpPr>
        <p:spPr>
          <a:xfrm xmlns:a="http://schemas.openxmlformats.org/drawingml/2006/main">
            <a:off x="640080" y="1554480"/>
            <a:ext cx="6720840" cy="1700784"/>
          </a:xfrm>
          <a:prstGeom xmlns:a="http://schemas.openxmlformats.org/drawingml/2006/main" prst="roundRect">
            <a:avLst>
              <a:gd name="adj" fmla="val 2688"/>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9" name="Image 1"/>
          <p:cNvPicPr>
            <a:picLocks xmlns:a="http://schemas.openxmlformats.org/drawingml/2006/main" noChangeAspect="1"/>
          </p:cNvPicPr>
          <p:nvPr/>
        </p:nvPicPr>
        <p:blipFill>
          <a:blip xmlns:r="http://schemas.openxmlformats.org/officeDocument/2006/relationships" xmlns:a="http://schemas.openxmlformats.org/drawingml/2006/main" r:embed="Rc178615803424db7"/>
          <a:stretch xmlns:a="http://schemas.openxmlformats.org/drawingml/2006/main">
            <a:fillRect l="0" t="0" r="0" b="0"/>
          </a:stretch>
        </p:blipFill>
        <p:spPr>
          <a:xfrm xmlns:a="http://schemas.openxmlformats.org/drawingml/2006/main">
            <a:off x="877824" y="1700784"/>
            <a:ext cx="5445364" cy="384048"/>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B70E0F6E-5316-4DB8-B845-C73D5BBC0308}"/>
              </a:ext>
            </a:extLst>
          </p:cNvPr>
          <p:cNvSpPr>
            <a:spLocks xmlns:a="http://schemas.openxmlformats.org/drawingml/2006/main" noGrp="1"/>
          </p:cNvSpPr>
          <p:nvPr/>
        </p:nvSpPr>
        <p:spPr>
          <a:xfrm xmlns:a="http://schemas.openxmlformats.org/drawingml/2006/main">
            <a:off x="6665976" y="1700784"/>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(8)</a:t>
            </a:r>
          </a:p>
        </p:txBody>
      </p:sp>
      <p:pic>
        <p:nvPicPr>
          <p:cNvPr id="11" name="Image 2"/>
          <p:cNvPicPr>
            <a:picLocks xmlns:a="http://schemas.openxmlformats.org/drawingml/2006/main" noChangeAspect="1"/>
          </p:cNvPicPr>
          <p:nvPr/>
        </p:nvPicPr>
        <p:blipFill>
          <a:blip xmlns:r="http://schemas.openxmlformats.org/officeDocument/2006/relationships" xmlns:a="http://schemas.openxmlformats.org/drawingml/2006/main" r:embed="R3f72aa398c184ba5"/>
          <a:stretch xmlns:a="http://schemas.openxmlformats.org/drawingml/2006/main">
            <a:fillRect l="0" t="0" r="0" b="0"/>
          </a:stretch>
        </p:blipFill>
        <p:spPr>
          <a:xfrm xmlns:a="http://schemas.openxmlformats.org/drawingml/2006/main">
            <a:off x="877824" y="2176272"/>
            <a:ext cx="2569272" cy="256032"/>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40F640D7-0610-4D76-A0EA-D643AF727FD6}"/>
              </a:ext>
            </a:extLst>
          </p:cNvPr>
          <p:cNvSpPr>
            <a:spLocks xmlns:a="http://schemas.openxmlformats.org/drawingml/2006/main" noGrp="1"/>
          </p:cNvSpPr>
          <p:nvPr/>
        </p:nvSpPr>
        <p:spPr>
          <a:xfrm xmlns:a="http://schemas.openxmlformats.org/drawingml/2006/main">
            <a:off x="3684840" y="2176272"/>
            <a:ext cx="34200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B84"/>
                </a:solidFill>
                <a:latin typeface="Calibri"/>
                <a:ea typeface="Calibri"/>
                <a:cs typeface="Calibri"/>
              </a:rPr>
              <a:t>— the closed form when no violation is observed</a:t>
            </a:r>
          </a:p>
        </p:txBody>
      </p:sp>
      <p:sp>
        <p:nvSpPr>
          <p:cNvPr id="13" name="Text 8">
            <a:extLst xmlns:a="http://schemas.openxmlformats.org/drawingml/2006/main">
              <a:ext uri="{FF2B5EF4-FFF2-40B4-BE49-F238E27FC236}">
                <a16:creationId xmlns:a16="http://schemas.microsoft.com/office/drawing/2014/main" id="{BFE1081D-9FEC-46EC-AA09-0E6D0F909862}"/>
              </a:ext>
            </a:extLst>
          </p:cNvPr>
          <p:cNvSpPr>
            <a:spLocks xmlns:a="http://schemas.openxmlformats.org/drawingml/2006/main" noGrp="1"/>
          </p:cNvSpPr>
          <p:nvPr/>
        </p:nvSpPr>
        <p:spPr>
          <a:xfrm xmlns:a="http://schemas.openxmlformats.org/drawingml/2006/main">
            <a:off x="877824" y="2560320"/>
            <a:ext cx="624535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One-sided Clopper–Pearson upper bound per threshold. The score q is a logistic model over entry-observable features — unseen category, distance proxy, missing fields, hull margin, temporal drift, provenance ambiguity, branch entropy — trained on development-group unproductive outcomes, then frozen. Calibration counts only violations: wrong after dispatch, never abstention.</a:t>
            </a:r>
          </a:p>
        </p:txBody>
      </p:sp>
      <p:sp>
        <p:nvSpPr>
          <p:cNvPr id="14" name="Shape 9">
            <a:extLst xmlns:a="http://schemas.openxmlformats.org/drawingml/2006/main">
              <a:ext uri="{FF2B5EF4-FFF2-40B4-BE49-F238E27FC236}">
                <a16:creationId xmlns:a16="http://schemas.microsoft.com/office/drawing/2014/main" id="{B407AF1A-1429-4344-AB68-37551261CD45}"/>
              </a:ext>
            </a:extLst>
          </p:cNvPr>
          <p:cNvSpPr>
            <a:spLocks xmlns:a="http://schemas.openxmlformats.org/drawingml/2006/main" noGrp="1"/>
          </p:cNvSpPr>
          <p:nvPr/>
        </p:nvSpPr>
        <p:spPr>
          <a:xfrm xmlns:a="http://schemas.openxmlformats.org/drawingml/2006/main">
            <a:off x="640080" y="3346704"/>
            <a:ext cx="6720840" cy="1371600"/>
          </a:xfrm>
          <a:prstGeom xmlns:a="http://schemas.openxmlformats.org/drawingml/2006/main" prst="roundRect">
            <a:avLst>
              <a:gd name="adj" fmla="val 3333"/>
            </a:avLst>
          </a:prstGeom>
          <a:solidFill xmlns:a="http://schemas.openxmlformats.org/drawingml/2006/main">
            <a:srgbClr val="EAF1F7"/>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sp>
        <p:nvSpPr>
          <p:cNvPr id="15" name="Text 10">
            <a:extLst xmlns:a="http://schemas.openxmlformats.org/drawingml/2006/main">
              <a:ext uri="{FF2B5EF4-FFF2-40B4-BE49-F238E27FC236}">
                <a16:creationId xmlns:a16="http://schemas.microsoft.com/office/drawing/2014/main" id="{8892D6A8-3A87-45B1-BB71-0AAB87C10F11}"/>
              </a:ext>
            </a:extLst>
          </p:cNvPr>
          <p:cNvSpPr>
            <a:spLocks xmlns:a="http://schemas.openxmlformats.org/drawingml/2006/main" noGrp="1"/>
          </p:cNvSpPr>
          <p:nvPr/>
        </p:nvSpPr>
        <p:spPr>
          <a:xfrm xmlns:a="http://schemas.openxmlformats.org/drawingml/2006/main">
            <a:off x="877824" y="3456432"/>
            <a:ext cx="62453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PROPOSITION 1 — SIMULTANEOUS CALIBRATION STATEMENT</a:t>
            </a:r>
          </a:p>
        </p:txBody>
      </p:sp>
      <p:sp>
        <p:nvSpPr>
          <p:cNvPr id="16" name="Text 11">
            <a:extLst xmlns:a="http://schemas.openxmlformats.org/drawingml/2006/main">
              <a:ext uri="{FF2B5EF4-FFF2-40B4-BE49-F238E27FC236}">
                <a16:creationId xmlns:a16="http://schemas.microsoft.com/office/drawing/2014/main" id="{E10785E1-520C-435F-99AB-0A2B9DCFD346}"/>
              </a:ext>
            </a:extLst>
          </p:cNvPr>
          <p:cNvSpPr>
            <a:spLocks xmlns:a="http://schemas.openxmlformats.org/drawingml/2006/main" noGrp="1"/>
          </p:cNvSpPr>
          <p:nvPr/>
        </p:nvSpPr>
        <p:spPr>
          <a:xfrm xmlns:a="http://schemas.openxmlformats.org/drawingml/2006/main">
            <a:off x="877824" y="3694176"/>
            <a:ext cx="6245352"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7000"/>
              </a:lnSpc>
              <a:buNone/>
            </a:pPr>
            <a:r>
              <a:rPr sz="1050" i="1">
                <a:solidFill>
                  <a:srgbClr val="24354F"/>
                </a:solidFill>
                <a:latin typeface="Calibri"/>
                <a:ea typeface="Calibri"/>
                <a:cs typeface="Calibri"/>
              </a:rPr>
              <a:t>If the program, score, violation definition and finite grid are fixed before calibration, and admitted calibration groups contribute i.i.d. (or conditionally i.i.d.) Bernoulli violation indicators from the same distribution as future admitted groups, then with probability at least 1 − δ over the calibration sample, every grid threshold's true group-level selective violation rate is no greater than its computed U η. Any selected threshold with U η ≤ α therefore has violation rate at most α on the same distribution.</a:t>
            </a:r>
          </a:p>
        </p:txBody>
      </p:sp>
      <p:sp>
        <p:nvSpPr>
          <p:cNvPr id="17" name="Shape 12">
            <a:extLst xmlns:a="http://schemas.openxmlformats.org/drawingml/2006/main">
              <a:ext uri="{FF2B5EF4-FFF2-40B4-BE49-F238E27FC236}">
                <a16:creationId xmlns:a16="http://schemas.microsoft.com/office/drawing/2014/main" id="{2023FB92-66CB-4F99-A515-82A68C7D6448}"/>
              </a:ext>
            </a:extLst>
          </p:cNvPr>
          <p:cNvSpPr>
            <a:spLocks xmlns:a="http://schemas.openxmlformats.org/drawingml/2006/main" noGrp="1"/>
          </p:cNvSpPr>
          <p:nvPr/>
        </p:nvSpPr>
        <p:spPr>
          <a:xfrm xmlns:a="http://schemas.openxmlformats.org/drawingml/2006/main">
            <a:off x="7726680" y="1152144"/>
            <a:ext cx="3824935" cy="2103120"/>
          </a:xfrm>
          <a:prstGeom xmlns:a="http://schemas.openxmlformats.org/drawingml/2006/main" prst="roundRect">
            <a:avLst>
              <a:gd name="adj" fmla="val 2174"/>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8" name="Text 13">
            <a:extLst xmlns:a="http://schemas.openxmlformats.org/drawingml/2006/main">
              <a:ext uri="{FF2B5EF4-FFF2-40B4-BE49-F238E27FC236}">
                <a16:creationId xmlns:a16="http://schemas.microsoft.com/office/drawing/2014/main" id="{B34CEFC6-7083-4D4C-85E5-BB7EBC556682}"/>
              </a:ext>
            </a:extLst>
          </p:cNvPr>
          <p:cNvSpPr>
            <a:spLocks xmlns:a="http://schemas.openxmlformats.org/drawingml/2006/main" noGrp="1"/>
          </p:cNvSpPr>
          <p:nvPr/>
        </p:nvSpPr>
        <p:spPr>
          <a:xfrm xmlns:a="http://schemas.openxmlformats.org/drawingml/2006/main">
            <a:off x="7964424" y="1280160"/>
            <a:ext cx="334944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SAMPLE REQUIREMENT</a:t>
            </a:r>
          </a:p>
        </p:txBody>
      </p:sp>
      <p:pic>
        <p:nvPicPr>
          <p:cNvPr id="19" name="Image 3"/>
          <p:cNvPicPr>
            <a:picLocks xmlns:a="http://schemas.openxmlformats.org/drawingml/2006/main" noChangeAspect="1"/>
          </p:cNvPicPr>
          <p:nvPr/>
        </p:nvPicPr>
        <p:blipFill>
          <a:blip xmlns:r="http://schemas.openxmlformats.org/officeDocument/2006/relationships" xmlns:a="http://schemas.openxmlformats.org/drawingml/2006/main" r:embed="Rcb4c72656323471b"/>
          <a:stretch xmlns:a="http://schemas.openxmlformats.org/drawingml/2006/main">
            <a:fillRect l="0" t="0" r="0" b="0"/>
          </a:stretch>
        </p:blipFill>
        <p:spPr>
          <a:xfrm xmlns:a="http://schemas.openxmlformats.org/drawingml/2006/main">
            <a:off x="7964424" y="1555668"/>
            <a:ext cx="1371600" cy="509688"/>
          </a:xfrm>
          <a:prstGeom xmlns:a="http://schemas.openxmlformats.org/drawingml/2006/main" prst="rect">
            <a:avLst/>
          </a:prstGeom>
        </p:spPr>
      </p:pic>
      <p:sp>
        <p:nvSpPr>
          <p:cNvPr id="20" name="Text 14">
            <a:extLst xmlns:a="http://schemas.openxmlformats.org/drawingml/2006/main">
              <a:ext uri="{FF2B5EF4-FFF2-40B4-BE49-F238E27FC236}">
                <a16:creationId xmlns:a16="http://schemas.microsoft.com/office/drawing/2014/main" id="{1DD5F0DC-5F31-4069-9219-3827F491027B}"/>
              </a:ext>
            </a:extLst>
          </p:cNvPr>
          <p:cNvSpPr>
            <a:spLocks xmlns:a="http://schemas.openxmlformats.org/drawingml/2006/main" noGrp="1"/>
          </p:cNvSpPr>
          <p:nvPr/>
        </p:nvSpPr>
        <p:spPr>
          <a:xfrm xmlns:a="http://schemas.openxmlformats.org/drawingml/2006/main">
            <a:off x="9646920" y="1554480"/>
            <a:ext cx="86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F8A99"/>
                </a:solidFill>
                <a:latin typeface="Cambria"/>
                <a:ea typeface="Cambria"/>
                <a:cs typeface="Cambria"/>
              </a:rPr>
              <a:t>92</a:t>
            </a:r>
          </a:p>
        </p:txBody>
      </p:sp>
      <p:sp>
        <p:nvSpPr>
          <p:cNvPr id="21" name="Text 15">
            <a:extLst xmlns:a="http://schemas.openxmlformats.org/drawingml/2006/main">
              <a:ext uri="{FF2B5EF4-FFF2-40B4-BE49-F238E27FC236}">
                <a16:creationId xmlns:a16="http://schemas.microsoft.com/office/drawing/2014/main" id="{742287FA-AE9C-4F13-8A60-DC59FEB467CC}"/>
              </a:ext>
            </a:extLst>
          </p:cNvPr>
          <p:cNvSpPr>
            <a:spLocks xmlns:a="http://schemas.openxmlformats.org/drawingml/2006/main" noGrp="1"/>
          </p:cNvSpPr>
          <p:nvPr/>
        </p:nvSpPr>
        <p:spPr>
          <a:xfrm xmlns:a="http://schemas.openxmlformats.org/drawingml/2006/main">
            <a:off x="10305288" y="1554480"/>
            <a:ext cx="99029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950">
                <a:solidFill>
                  <a:srgbClr val="24354F"/>
                </a:solidFill>
                <a:latin typeface="Calibri"/>
                <a:ea typeface="Calibri"/>
                <a:cs typeface="Calibri"/>
              </a:rPr>
              <a:t>independent</a:t>
            </a:r>
          </a:p>
          <a:p xmlns:a="http://schemas.openxmlformats.org/drawingml/2006/main">
            <a:pPr marL="0" indent="0">
              <a:lnSpc>
                <a:spcPct val="100000"/>
              </a:lnSpc>
              <a:buNone/>
            </a:pPr>
            <a:r>
              <a:rPr sz="950">
                <a:solidFill>
                  <a:srgbClr val="24354F"/>
                </a:solidFill>
                <a:latin typeface="Calibri"/>
                <a:ea typeface="Calibri"/>
                <a:cs typeface="Calibri"/>
              </a:rPr>
              <a:t>zero-violation</a:t>
            </a:r>
          </a:p>
          <a:p xmlns:a="http://schemas.openxmlformats.org/drawingml/2006/main">
            <a:pPr marL="0" indent="0">
              <a:lnSpc>
                <a:spcPct val="100000"/>
              </a:lnSpc>
              <a:buNone/>
            </a:pPr>
            <a:r>
              <a:rPr sz="950">
                <a:solidFill>
                  <a:srgbClr val="24354F"/>
                </a:solidFill>
                <a:latin typeface="Calibri"/>
                <a:ea typeface="Calibri"/>
                <a:cs typeface="Calibri"/>
              </a:rPr>
              <a:t>group records</a:t>
            </a:r>
          </a:p>
        </p:txBody>
      </p:sp>
      <p:sp>
        <p:nvSpPr>
          <p:cNvPr id="22" name="Text 16">
            <a:extLst xmlns:a="http://schemas.openxmlformats.org/drawingml/2006/main">
              <a:ext uri="{FF2B5EF4-FFF2-40B4-BE49-F238E27FC236}">
                <a16:creationId xmlns:a16="http://schemas.microsoft.com/office/drawing/2014/main" id="{3C6781C6-B7E2-4019-8529-8B65566F3135}"/>
              </a:ext>
            </a:extLst>
          </p:cNvPr>
          <p:cNvSpPr>
            <a:spLocks xmlns:a="http://schemas.openxmlformats.org/drawingml/2006/main" noGrp="1"/>
          </p:cNvSpPr>
          <p:nvPr/>
        </p:nvSpPr>
        <p:spPr>
          <a:xfrm xmlns:a="http://schemas.openxmlformats.org/drawingml/2006/main">
            <a:off x="7964424" y="2212848"/>
            <a:ext cx="3349447"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at α = .05,  δ = .10,  |Λ| = 11.  Pre-committing to a single threshold rather than a grid of eleven drops the requirement to 45 — a design parameter as much as a data property.</a:t>
            </a:r>
          </a:p>
        </p:txBody>
      </p:sp>
      <p:sp>
        <p:nvSpPr>
          <p:cNvPr id="23" name="Shape 17">
            <a:extLst xmlns:a="http://schemas.openxmlformats.org/drawingml/2006/main">
              <a:ext uri="{FF2B5EF4-FFF2-40B4-BE49-F238E27FC236}">
                <a16:creationId xmlns:a16="http://schemas.microsoft.com/office/drawing/2014/main" id="{97CBB4CA-F425-4BB0-ABD8-934BFF065CA5}"/>
              </a:ext>
            </a:extLst>
          </p:cNvPr>
          <p:cNvSpPr>
            <a:spLocks xmlns:a="http://schemas.openxmlformats.org/drawingml/2006/main" noGrp="1"/>
          </p:cNvSpPr>
          <p:nvPr/>
        </p:nvSpPr>
        <p:spPr>
          <a:xfrm xmlns:a="http://schemas.openxmlformats.org/drawingml/2006/main">
            <a:off x="7726680" y="3346704"/>
            <a:ext cx="3824935" cy="1371600"/>
          </a:xfrm>
          <a:prstGeom xmlns:a="http://schemas.openxmlformats.org/drawingml/2006/main" prst="roundRect">
            <a:avLst>
              <a:gd name="adj" fmla="val 3333"/>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4" name="Text 18">
            <a:extLst xmlns:a="http://schemas.openxmlformats.org/drawingml/2006/main">
              <a:ext uri="{FF2B5EF4-FFF2-40B4-BE49-F238E27FC236}">
                <a16:creationId xmlns:a16="http://schemas.microsoft.com/office/drawing/2014/main" id="{D49ECDB6-7916-4883-835E-6CEDCB1C0C83}"/>
              </a:ext>
            </a:extLst>
          </p:cNvPr>
          <p:cNvSpPr>
            <a:spLocks xmlns:a="http://schemas.openxmlformats.org/drawingml/2006/main" noGrp="1"/>
          </p:cNvSpPr>
          <p:nvPr/>
        </p:nvSpPr>
        <p:spPr>
          <a:xfrm xmlns:a="http://schemas.openxmlformats.org/drawingml/2006/main">
            <a:off x="7964424" y="3456432"/>
            <a:ext cx="334944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A93B2B"/>
                </a:solidFill>
                <a:latin typeface="Calibri"/>
                <a:ea typeface="Calibri"/>
                <a:cs typeface="Calibri"/>
              </a:rPr>
              <a:t>WHAT α BOUNDS — AND WHAT IT DOES NOT</a:t>
            </a:r>
          </a:p>
        </p:txBody>
      </p:sp>
      <p:sp>
        <p:nvSpPr>
          <p:cNvPr id="25" name="Text 19">
            <a:extLst xmlns:a="http://schemas.openxmlformats.org/drawingml/2006/main">
              <a:ext uri="{FF2B5EF4-FFF2-40B4-BE49-F238E27FC236}">
                <a16:creationId xmlns:a16="http://schemas.microsoft.com/office/drawing/2014/main" id="{77CED5A0-1B5F-425D-9E34-94708E014DAB}"/>
              </a:ext>
            </a:extLst>
          </p:cNvPr>
          <p:cNvSpPr>
            <a:spLocks xmlns:a="http://schemas.openxmlformats.org/drawingml/2006/main" noGrp="1"/>
          </p:cNvSpPr>
          <p:nvPr/>
        </p:nvSpPr>
        <p:spPr>
          <a:xfrm xmlns:a="http://schemas.openxmlformats.org/drawingml/2006/main">
            <a:off x="7964424" y="3694176"/>
            <a:ext cx="3349447"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5C4034"/>
                </a:solidFill>
                <a:latin typeface="Calibri"/>
                <a:ea typeface="Calibri"/>
                <a:cs typeface="Calibri"/>
              </a:rPr>
              <a:t>A violation is disagreement with V, and V is induced from the same traces P was synthesized from. So α bounds the rate at which a compiled region breaks its own registered contract — never the rate at which the agent's task outcome is wrong. Absent distribution shift, a program fitted to satisfy V will rarely violate V.</a:t>
            </a:r>
          </a:p>
        </p:txBody>
      </p:sp>
      <p:sp>
        <p:nvSpPr>
          <p:cNvPr id="26" name="Text 20">
            <a:extLst xmlns:a="http://schemas.openxmlformats.org/drawingml/2006/main">
              <a:ext uri="{FF2B5EF4-FFF2-40B4-BE49-F238E27FC236}">
                <a16:creationId xmlns:a16="http://schemas.microsoft.com/office/drawing/2014/main" id="{59B58FC4-0AD7-40DB-BC22-293EEF89DE59}"/>
              </a:ext>
            </a:extLst>
          </p:cNvPr>
          <p:cNvSpPr>
            <a:spLocks xmlns:a="http://schemas.openxmlformats.org/drawingml/2006/main" noGrp="1"/>
          </p:cNvSpPr>
          <p:nvPr/>
        </p:nvSpPr>
        <p:spPr>
          <a:xfrm xmlns:a="http://schemas.openxmlformats.org/drawingml/2006/main">
            <a:off x="640080" y="484632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THREE THINGS WOULD MAKE THE CHAIN INDEPENDENT — NONE IS PRESENT IN THE SHIPPED ARTIFACT</a:t>
            </a:r>
          </a:p>
        </p:txBody>
      </p:sp>
      <p:sp>
        <p:nvSpPr>
          <p:cNvPr id="27" name="Shape 21">
            <a:extLst xmlns:a="http://schemas.openxmlformats.org/drawingml/2006/main">
              <a:ext uri="{FF2B5EF4-FFF2-40B4-BE49-F238E27FC236}">
                <a16:creationId xmlns:a16="http://schemas.microsoft.com/office/drawing/2014/main" id="{3FFD8465-580F-4A62-B9FB-9AC673ED0FF7}"/>
              </a:ext>
            </a:extLst>
          </p:cNvPr>
          <p:cNvSpPr>
            <a:spLocks xmlns:a="http://schemas.openxmlformats.org/drawingml/2006/main" noGrp="1"/>
          </p:cNvSpPr>
          <p:nvPr/>
        </p:nvSpPr>
        <p:spPr>
          <a:xfrm xmlns:a="http://schemas.openxmlformats.org/drawingml/2006/main">
            <a:off x="640080" y="5120640"/>
            <a:ext cx="3466490" cy="768096"/>
          </a:xfrm>
          <a:prstGeom xmlns:a="http://schemas.openxmlformats.org/drawingml/2006/main" prst="roundRect">
            <a:avLst>
              <a:gd name="adj" fmla="val 595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8" name="Text 22">
            <a:extLst xmlns:a="http://schemas.openxmlformats.org/drawingml/2006/main">
              <a:ext uri="{FF2B5EF4-FFF2-40B4-BE49-F238E27FC236}">
                <a16:creationId xmlns:a16="http://schemas.microsoft.com/office/drawing/2014/main" id="{B8FEC359-1848-43BB-A0AA-7E03F691CE9E}"/>
              </a:ext>
            </a:extLst>
          </p:cNvPr>
          <p:cNvSpPr>
            <a:spLocks xmlns:a="http://schemas.openxmlformats.org/drawingml/2006/main" noGrp="1"/>
          </p:cNvSpPr>
          <p:nvPr/>
        </p:nvSpPr>
        <p:spPr>
          <a:xfrm xmlns:a="http://schemas.openxmlformats.org/drawingml/2006/main">
            <a:off x="859536" y="5212080"/>
            <a:ext cx="302757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0E1E3A"/>
                </a:solidFill>
                <a:latin typeface="Cambria"/>
                <a:ea typeface="Cambria"/>
                <a:cs typeface="Cambria"/>
              </a:rPr>
              <a:t>A perturbation challenge</a:t>
            </a:r>
          </a:p>
        </p:txBody>
      </p:sp>
      <p:sp>
        <p:nvSpPr>
          <p:cNvPr id="29" name="Text 23">
            <a:extLst xmlns:a="http://schemas.openxmlformats.org/drawingml/2006/main">
              <a:ext uri="{FF2B5EF4-FFF2-40B4-BE49-F238E27FC236}">
                <a16:creationId xmlns:a16="http://schemas.microsoft.com/office/drawing/2014/main" id="{62930F60-EEFE-4A53-9817-57570033F41E}"/>
              </a:ext>
            </a:extLst>
          </p:cNvPr>
          <p:cNvSpPr>
            <a:spLocks xmlns:a="http://schemas.openxmlformats.org/drawingml/2006/main" noGrp="1"/>
          </p:cNvSpPr>
          <p:nvPr/>
        </p:nvSpPr>
        <p:spPr>
          <a:xfrm xmlns:a="http://schemas.openxmlformats.org/drawingml/2006/main">
            <a:off x="859536" y="5468112"/>
            <a:ext cx="302757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00">
                <a:solidFill>
                  <a:srgbClr val="5A6B84"/>
                </a:solidFill>
                <a:latin typeface="Calibri"/>
                <a:ea typeface="Calibri"/>
                <a:cs typeface="Calibri"/>
              </a:rPr>
              <a:t>not run: perturbations_claimed: false</a:t>
            </a:r>
          </a:p>
        </p:txBody>
      </p:sp>
      <p:sp>
        <p:nvSpPr>
          <p:cNvPr id="30" name="Shape 24">
            <a:extLst xmlns:a="http://schemas.openxmlformats.org/drawingml/2006/main">
              <a:ext uri="{FF2B5EF4-FFF2-40B4-BE49-F238E27FC236}">
                <a16:creationId xmlns:a16="http://schemas.microsoft.com/office/drawing/2014/main" id="{93E3BBD1-EBE1-4502-9E46-BBFF9B500777}"/>
              </a:ext>
            </a:extLst>
          </p:cNvPr>
          <p:cNvSpPr>
            <a:spLocks xmlns:a="http://schemas.openxmlformats.org/drawingml/2006/main" noGrp="1"/>
          </p:cNvSpPr>
          <p:nvPr/>
        </p:nvSpPr>
        <p:spPr>
          <a:xfrm xmlns:a="http://schemas.openxmlformats.org/drawingml/2006/main">
            <a:off x="4362602" y="5120640"/>
            <a:ext cx="3466490" cy="768096"/>
          </a:xfrm>
          <a:prstGeom xmlns:a="http://schemas.openxmlformats.org/drawingml/2006/main" prst="roundRect">
            <a:avLst>
              <a:gd name="adj" fmla="val 595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1" name="Text 25">
            <a:extLst xmlns:a="http://schemas.openxmlformats.org/drawingml/2006/main">
              <a:ext uri="{FF2B5EF4-FFF2-40B4-BE49-F238E27FC236}">
                <a16:creationId xmlns:a16="http://schemas.microsoft.com/office/drawing/2014/main" id="{399C9A5B-9AF7-40A4-803E-6569D62A6CDC}"/>
              </a:ext>
            </a:extLst>
          </p:cNvPr>
          <p:cNvSpPr>
            <a:spLocks xmlns:a="http://schemas.openxmlformats.org/drawingml/2006/main" noGrp="1"/>
          </p:cNvSpPr>
          <p:nvPr/>
        </p:nvSpPr>
        <p:spPr>
          <a:xfrm xmlns:a="http://schemas.openxmlformats.org/drawingml/2006/main">
            <a:off x="4582058" y="5212080"/>
            <a:ext cx="302757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0E1E3A"/>
                </a:solidFill>
                <a:latin typeface="Cambria"/>
                <a:ea typeface="Cambria"/>
                <a:cs typeface="Cambria"/>
              </a:rPr>
              <a:t>An adjudication oracle</a:t>
            </a:r>
          </a:p>
        </p:txBody>
      </p:sp>
      <p:sp>
        <p:nvSpPr>
          <p:cNvPr id="32" name="Text 26">
            <a:extLst xmlns:a="http://schemas.openxmlformats.org/drawingml/2006/main">
              <a:ext uri="{FF2B5EF4-FFF2-40B4-BE49-F238E27FC236}">
                <a16:creationId xmlns:a16="http://schemas.microsoft.com/office/drawing/2014/main" id="{4B65C59E-20D7-40F5-9C25-FD781626FB07}"/>
              </a:ext>
            </a:extLst>
          </p:cNvPr>
          <p:cNvSpPr>
            <a:spLocks xmlns:a="http://schemas.openxmlformats.org/drawingml/2006/main" noGrp="1"/>
          </p:cNvSpPr>
          <p:nvPr/>
        </p:nvSpPr>
        <p:spPr>
          <a:xfrm xmlns:a="http://schemas.openxmlformats.org/drawingml/2006/main">
            <a:off x="4582058" y="5468112"/>
            <a:ext cx="302757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00">
                <a:solidFill>
                  <a:srgbClr val="5A6B84"/>
                </a:solidFill>
                <a:latin typeface="Calibri"/>
                <a:ea typeface="Calibri"/>
                <a:cs typeface="Calibri"/>
              </a:rPr>
              <a:t>separate from the induction traces</a:t>
            </a:r>
          </a:p>
        </p:txBody>
      </p:sp>
      <p:sp>
        <p:nvSpPr>
          <p:cNvPr id="33" name="Shape 27">
            <a:extLst xmlns:a="http://schemas.openxmlformats.org/drawingml/2006/main">
              <a:ext uri="{FF2B5EF4-FFF2-40B4-BE49-F238E27FC236}">
                <a16:creationId xmlns:a16="http://schemas.microsoft.com/office/drawing/2014/main" id="{13E4117B-289C-44AB-A166-C3A52C41BE3A}"/>
              </a:ext>
            </a:extLst>
          </p:cNvPr>
          <p:cNvSpPr>
            <a:spLocks xmlns:a="http://schemas.openxmlformats.org/drawingml/2006/main" noGrp="1"/>
          </p:cNvSpPr>
          <p:nvPr/>
        </p:nvSpPr>
        <p:spPr>
          <a:xfrm xmlns:a="http://schemas.openxmlformats.org/drawingml/2006/main">
            <a:off x="8085125" y="5120640"/>
            <a:ext cx="3466490" cy="768096"/>
          </a:xfrm>
          <a:prstGeom xmlns:a="http://schemas.openxmlformats.org/drawingml/2006/main" prst="roundRect">
            <a:avLst>
              <a:gd name="adj" fmla="val 595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4" name="Text 28">
            <a:extLst xmlns:a="http://schemas.openxmlformats.org/drawingml/2006/main">
              <a:ext uri="{FF2B5EF4-FFF2-40B4-BE49-F238E27FC236}">
                <a16:creationId xmlns:a16="http://schemas.microsoft.com/office/drawing/2014/main" id="{B8F0DE5D-953D-4C40-8626-A680260E8E10}"/>
              </a:ext>
            </a:extLst>
          </p:cNvPr>
          <p:cNvSpPr>
            <a:spLocks xmlns:a="http://schemas.openxmlformats.org/drawingml/2006/main" noGrp="1"/>
          </p:cNvSpPr>
          <p:nvPr/>
        </p:nvSpPr>
        <p:spPr>
          <a:xfrm xmlns:a="http://schemas.openxmlformats.org/drawingml/2006/main">
            <a:off x="8304581" y="5212080"/>
            <a:ext cx="302757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0E1E3A"/>
                </a:solidFill>
                <a:latin typeface="Cambria"/>
                <a:ea typeface="Cambria"/>
                <a:cs typeface="Cambria"/>
              </a:rPr>
              <a:t>A task-quality measure</a:t>
            </a:r>
          </a:p>
        </p:txBody>
      </p:sp>
      <p:sp>
        <p:nvSpPr>
          <p:cNvPr id="35" name="Text 29">
            <a:extLst xmlns:a="http://schemas.openxmlformats.org/drawingml/2006/main">
              <a:ext uri="{FF2B5EF4-FFF2-40B4-BE49-F238E27FC236}">
                <a16:creationId xmlns:a16="http://schemas.microsoft.com/office/drawing/2014/main" id="{37BEC2C8-34F0-4363-94AE-D0570C35C3F1}"/>
              </a:ext>
            </a:extLst>
          </p:cNvPr>
          <p:cNvSpPr>
            <a:spLocks xmlns:a="http://schemas.openxmlformats.org/drawingml/2006/main" noGrp="1"/>
          </p:cNvSpPr>
          <p:nvPr/>
        </p:nvSpPr>
        <p:spPr>
          <a:xfrm xmlns:a="http://schemas.openxmlformats.org/drawingml/2006/main">
            <a:off x="8304581" y="5468112"/>
            <a:ext cx="302757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00">
                <a:solidFill>
                  <a:srgbClr val="5A6B84"/>
                </a:solidFill>
                <a:latin typeface="Calibri"/>
                <a:ea typeface="Calibri"/>
                <a:cs typeface="Calibri"/>
              </a:rPr>
              <a:t>able to detect fabrication</a:t>
            </a:r>
          </a:p>
        </p:txBody>
      </p:sp>
      <p:sp>
        <p:nvSpPr>
          <p:cNvPr id="36" name="Text 30">
            <a:extLst xmlns:a="http://schemas.openxmlformats.org/drawingml/2006/main">
              <a:ext uri="{FF2B5EF4-FFF2-40B4-BE49-F238E27FC236}">
                <a16:creationId xmlns:a16="http://schemas.microsoft.com/office/drawing/2014/main" id="{056D226C-FB46-41CE-8C8D-B297B4DF3033}"/>
              </a:ext>
            </a:extLst>
          </p:cNvPr>
          <p:cNvSpPr>
            <a:spLocks xmlns:a="http://schemas.openxmlformats.org/drawingml/2006/main" noGrp="1"/>
          </p:cNvSpPr>
          <p:nvPr/>
        </p:nvSpPr>
        <p:spPr>
          <a:xfrm xmlns:a="http://schemas.openxmlformats.org/drawingml/2006/main">
            <a:off x="640080" y="5980176"/>
            <a:ext cx="1091153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i="1">
                <a:solidFill>
                  <a:srgbClr val="5A6B84"/>
                </a:solidFill>
                <a:latin typeface="Calibri"/>
                <a:ea typeface="Calibri"/>
                <a:cs typeface="Calibri"/>
              </a:rPr>
              <a:t>The independence assumption is load-bearing and stronger than exchangeability: groups from one repository, tenant, or time window are plausibly correlated, so a clustered deployment should calibrate at the cluster level and check sensitivity with a block bootstrap. The union bound also covers only one frozen artifact — a portfolio needs an explicit risk allocation across decisions.</a:t>
            </a:r>
          </a:p>
        </p:txBody>
      </p:sp>
    </p:spTree>
    <p:extLst>
      <p:ext uri="{BB962C8B-B14F-4D97-AF65-F5344CB8AC3E}">
        <p14:creationId xmlns:p14="http://schemas.microsoft.com/office/powerpoint/2010/main" val="12017574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83A611C-492C-4B86-B406-D805766108F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C6CB182E-A74C-4508-99F0-3CED05901F0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14</a:t>
            </a:r>
          </a:p>
        </p:txBody>
      </p:sp>
      <p:sp>
        <p:nvSpPr>
          <p:cNvPr id="4" name="Text 2">
            <a:extLst xmlns:a="http://schemas.openxmlformats.org/drawingml/2006/main">
              <a:ext uri="{FF2B5EF4-FFF2-40B4-BE49-F238E27FC236}">
                <a16:creationId xmlns:a16="http://schemas.microsoft.com/office/drawing/2014/main" id="{6B976EFE-7135-4D77-B05B-908D147EE031}"/>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  ·  ALGORITHM 4 AND §3.5.1</a:t>
            </a:r>
          </a:p>
        </p:txBody>
      </p:sp>
      <p:sp>
        <p:nvSpPr>
          <p:cNvPr id="5" name="Text 3">
            <a:extLst xmlns:a="http://schemas.openxmlformats.org/drawingml/2006/main">
              <a:ext uri="{FF2B5EF4-FFF2-40B4-BE49-F238E27FC236}">
                <a16:creationId xmlns:a16="http://schemas.microsoft.com/office/drawing/2014/main" id="{D65EFEEB-C9CB-4A95-B328-F77C9AE9B21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Boundary-time dispatch: cheap checks reject first, one edge compacts</a:t>
            </a:r>
          </a:p>
        </p:txBody>
      </p:sp>
      <p:sp>
        <p:nvSpPr>
          <p:cNvPr id="6" name="Text 4">
            <a:extLst xmlns:a="http://schemas.openxmlformats.org/drawingml/2006/main">
              <a:ext uri="{FF2B5EF4-FFF2-40B4-BE49-F238E27FC236}">
                <a16:creationId xmlns:a16="http://schemas.microsoft.com/office/drawing/2014/main" id="{A08690A2-398F-4C46-8275-E2250C47BC96}"/>
              </a:ext>
            </a:extLst>
          </p:cNvPr>
          <p:cNvSpPr>
            <a:spLocks xmlns:a="http://schemas.openxmlformats.org/drawingml/2006/main" noGrp="1"/>
          </p:cNvSpPr>
          <p:nvPr/>
        </p:nvSpPr>
        <p:spPr>
          <a:xfrm xmlns:a="http://schemas.openxmlformats.org/drawingml/2006/main">
            <a:off x="640080" y="118872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SIX CHECKS IN ORDER — THE CALIBRATED GATE RUNS ONLY ON WHAT SURVIVES THEM</a:t>
            </a:r>
          </a:p>
        </p:txBody>
      </p:sp>
      <p:sp>
        <p:nvSpPr>
          <p:cNvPr id="7" name="Shape 5">
            <a:extLst xmlns:a="http://schemas.openxmlformats.org/drawingml/2006/main">
              <a:ext uri="{FF2B5EF4-FFF2-40B4-BE49-F238E27FC236}">
                <a16:creationId xmlns:a16="http://schemas.microsoft.com/office/drawing/2014/main" id="{94160543-A9A7-4C2A-85C6-9C0929723A75}"/>
              </a:ext>
            </a:extLst>
          </p:cNvPr>
          <p:cNvSpPr>
            <a:spLocks xmlns:a="http://schemas.openxmlformats.org/drawingml/2006/main" noGrp="1"/>
          </p:cNvSpPr>
          <p:nvPr/>
        </p:nvSpPr>
        <p:spPr>
          <a:xfrm xmlns:a="http://schemas.openxmlformats.org/drawingml/2006/main">
            <a:off x="640080" y="1463040"/>
            <a:ext cx="1711909" cy="402336"/>
          </a:xfrm>
          <a:prstGeom xmlns:a="http://schemas.openxmlformats.org/drawingml/2006/main" prst="roundRect">
            <a:avLst>
              <a:gd name="adj" fmla="val 113636"/>
            </a:avLst>
          </a:prstGeom>
          <a:solidFill xmlns:a="http://schemas.openxmlformats.org/drawingml/2006/main">
            <a:srgbClr val="1A3563"/>
          </a:solidFill>
          <a:ln xmlns:a="http://schemas.openxmlformats.org/drawingml/2006/main" w="9525">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4F0239C-F392-4DD1-9614-064AE1DDBA6B}"/>
              </a:ext>
            </a:extLst>
          </p:cNvPr>
          <p:cNvSpPr>
            <a:spLocks xmlns:a="http://schemas.openxmlformats.org/drawingml/2006/main" noGrp="1"/>
          </p:cNvSpPr>
          <p:nvPr/>
        </p:nvSpPr>
        <p:spPr>
          <a:xfrm xmlns:a="http://schemas.openxmlformats.org/drawingml/2006/main">
            <a:off x="640080" y="1463040"/>
            <a:ext cx="1711909"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mode ≠ off</a:t>
            </a:r>
          </a:p>
        </p:txBody>
      </p:sp>
      <p:sp>
        <p:nvSpPr>
          <p:cNvPr id="9" name="Shape 7">
            <a:extLst xmlns:a="http://schemas.openxmlformats.org/drawingml/2006/main">
              <a:ext uri="{FF2B5EF4-FFF2-40B4-BE49-F238E27FC236}">
                <a16:creationId xmlns:a16="http://schemas.microsoft.com/office/drawing/2014/main" id="{108CE175-007D-4D6C-BF81-142ACDD0B72E}"/>
              </a:ext>
            </a:extLst>
          </p:cNvPr>
          <p:cNvSpPr>
            <a:spLocks xmlns:a="http://schemas.openxmlformats.org/drawingml/2006/main" noGrp="1"/>
          </p:cNvSpPr>
          <p:nvPr/>
        </p:nvSpPr>
        <p:spPr>
          <a:xfrm xmlns:a="http://schemas.openxmlformats.org/drawingml/2006/main">
            <a:off x="2480005" y="1463040"/>
            <a:ext cx="1711909" cy="402336"/>
          </a:xfrm>
          <a:prstGeom xmlns:a="http://schemas.openxmlformats.org/drawingml/2006/main" prst="roundRect">
            <a:avLst>
              <a:gd name="adj" fmla="val 113636"/>
            </a:avLst>
          </a:prstGeom>
          <a:solidFill xmlns:a="http://schemas.openxmlformats.org/drawingml/2006/main">
            <a:srgbClr val="1A3563"/>
          </a:solidFill>
          <a:ln xmlns:a="http://schemas.openxmlformats.org/drawingml/2006/main" w="9525">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AE4C48AC-008D-4FF7-8877-A0B92F798382}"/>
              </a:ext>
            </a:extLst>
          </p:cNvPr>
          <p:cNvSpPr>
            <a:spLocks xmlns:a="http://schemas.openxmlformats.org/drawingml/2006/main" noGrp="1"/>
          </p:cNvSpPr>
          <p:nvPr/>
        </p:nvSpPr>
        <p:spPr>
          <a:xfrm xmlns:a="http://schemas.openxmlformats.org/drawingml/2006/main">
            <a:off x="2480005" y="1463040"/>
            <a:ext cx="1711909"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resolve + signature</a:t>
            </a:r>
          </a:p>
        </p:txBody>
      </p:sp>
      <p:sp>
        <p:nvSpPr>
          <p:cNvPr id="11" name="Shape 9">
            <a:extLst xmlns:a="http://schemas.openxmlformats.org/drawingml/2006/main">
              <a:ext uri="{FF2B5EF4-FFF2-40B4-BE49-F238E27FC236}">
                <a16:creationId xmlns:a16="http://schemas.microsoft.com/office/drawing/2014/main" id="{E9C3AAAF-92C1-42E3-A1D3-F988EC21CFCC}"/>
              </a:ext>
            </a:extLst>
          </p:cNvPr>
          <p:cNvSpPr>
            <a:spLocks xmlns:a="http://schemas.openxmlformats.org/drawingml/2006/main" noGrp="1"/>
          </p:cNvSpPr>
          <p:nvPr/>
        </p:nvSpPr>
        <p:spPr>
          <a:xfrm xmlns:a="http://schemas.openxmlformats.org/drawingml/2006/main">
            <a:off x="4319930" y="1463040"/>
            <a:ext cx="1711909" cy="402336"/>
          </a:xfrm>
          <a:prstGeom xmlns:a="http://schemas.openxmlformats.org/drawingml/2006/main" prst="roundRect">
            <a:avLst>
              <a:gd name="adj" fmla="val 113636"/>
            </a:avLst>
          </a:prstGeom>
          <a:solidFill xmlns:a="http://schemas.openxmlformats.org/drawingml/2006/main">
            <a:srgbClr val="1A3563"/>
          </a:solidFill>
          <a:ln xmlns:a="http://schemas.openxmlformats.org/drawingml/2006/main" w="9525">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FBC6D10F-5C70-4470-989B-117226BA024D}"/>
              </a:ext>
            </a:extLst>
          </p:cNvPr>
          <p:cNvSpPr>
            <a:spLocks xmlns:a="http://schemas.openxmlformats.org/drawingml/2006/main" noGrp="1"/>
          </p:cNvSpPr>
          <p:nvPr/>
        </p:nvSpPr>
        <p:spPr>
          <a:xfrm xmlns:a="http://schemas.openxmlformats.org/drawingml/2006/main">
            <a:off x="4319930" y="1463040"/>
            <a:ext cx="1711909"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hard guard H</a:t>
            </a:r>
          </a:p>
        </p:txBody>
      </p:sp>
      <p:sp>
        <p:nvSpPr>
          <p:cNvPr id="13" name="Shape 11">
            <a:extLst xmlns:a="http://schemas.openxmlformats.org/drawingml/2006/main">
              <a:ext uri="{FF2B5EF4-FFF2-40B4-BE49-F238E27FC236}">
                <a16:creationId xmlns:a16="http://schemas.microsoft.com/office/drawing/2014/main" id="{6BE23348-4897-4C5F-983D-F64D5F32C448}"/>
              </a:ext>
            </a:extLst>
          </p:cNvPr>
          <p:cNvSpPr>
            <a:spLocks xmlns:a="http://schemas.openxmlformats.org/drawingml/2006/main" noGrp="1"/>
          </p:cNvSpPr>
          <p:nvPr/>
        </p:nvSpPr>
        <p:spPr>
          <a:xfrm xmlns:a="http://schemas.openxmlformats.org/drawingml/2006/main">
            <a:off x="6159856" y="1463040"/>
            <a:ext cx="1711909" cy="402336"/>
          </a:xfrm>
          <a:prstGeom xmlns:a="http://schemas.openxmlformats.org/drawingml/2006/main" prst="roundRect">
            <a:avLst>
              <a:gd name="adj" fmla="val 113636"/>
            </a:avLst>
          </a:prstGeom>
          <a:solidFill xmlns:a="http://schemas.openxmlformats.org/drawingml/2006/main">
            <a:srgbClr val="1A3563"/>
          </a:solidFill>
          <a:ln xmlns:a="http://schemas.openxmlformats.org/drawingml/2006/main" w="9525">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D7F325A8-1AD1-465C-AD68-C042CB6ED389}"/>
              </a:ext>
            </a:extLst>
          </p:cNvPr>
          <p:cNvSpPr>
            <a:spLocks xmlns:a="http://schemas.openxmlformats.org/drawingml/2006/main" noGrp="1"/>
          </p:cNvSpPr>
          <p:nvPr/>
        </p:nvSpPr>
        <p:spPr>
          <a:xfrm xmlns:a="http://schemas.openxmlformats.org/drawingml/2006/main">
            <a:off x="6159856" y="1463040"/>
            <a:ext cx="1711909"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already-observed tools</a:t>
            </a:r>
          </a:p>
        </p:txBody>
      </p:sp>
      <p:sp>
        <p:nvSpPr>
          <p:cNvPr id="15" name="Shape 13">
            <a:extLst xmlns:a="http://schemas.openxmlformats.org/drawingml/2006/main">
              <a:ext uri="{FF2B5EF4-FFF2-40B4-BE49-F238E27FC236}">
                <a16:creationId xmlns:a16="http://schemas.microsoft.com/office/drawing/2014/main" id="{EF02AF13-66D8-45A9-94CE-B5E8A240DEAA}"/>
              </a:ext>
            </a:extLst>
          </p:cNvPr>
          <p:cNvSpPr>
            <a:spLocks xmlns:a="http://schemas.openxmlformats.org/drawingml/2006/main" noGrp="1"/>
          </p:cNvSpPr>
          <p:nvPr/>
        </p:nvSpPr>
        <p:spPr>
          <a:xfrm xmlns:a="http://schemas.openxmlformats.org/drawingml/2006/main">
            <a:off x="7999781" y="1463040"/>
            <a:ext cx="1711909" cy="402336"/>
          </a:xfrm>
          <a:prstGeom xmlns:a="http://schemas.openxmlformats.org/drawingml/2006/main" prst="roundRect">
            <a:avLst>
              <a:gd name="adj" fmla="val 113636"/>
            </a:avLst>
          </a:prstGeom>
          <a:solidFill xmlns:a="http://schemas.openxmlformats.org/drawingml/2006/main">
            <a:srgbClr val="1A3563"/>
          </a:solidFill>
          <a:ln xmlns:a="http://schemas.openxmlformats.org/drawingml/2006/main" w="9525">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EE6A39F2-1B64-4ACF-A8DE-B15A1368416A}"/>
              </a:ext>
            </a:extLst>
          </p:cNvPr>
          <p:cNvSpPr>
            <a:spLocks xmlns:a="http://schemas.openxmlformats.org/drawingml/2006/main" noGrp="1"/>
          </p:cNvSpPr>
          <p:nvPr/>
        </p:nvSpPr>
        <p:spPr>
          <a:xfrm xmlns:a="http://schemas.openxmlformats.org/drawingml/2006/main">
            <a:off x="7999781" y="1463040"/>
            <a:ext cx="1711909"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quota / staging owner</a:t>
            </a:r>
          </a:p>
        </p:txBody>
      </p:sp>
      <p:sp>
        <p:nvSpPr>
          <p:cNvPr id="17" name="Shape 15">
            <a:extLst xmlns:a="http://schemas.openxmlformats.org/drawingml/2006/main">
              <a:ext uri="{FF2B5EF4-FFF2-40B4-BE49-F238E27FC236}">
                <a16:creationId xmlns:a16="http://schemas.microsoft.com/office/drawing/2014/main" id="{9593DED5-6475-4C47-BADC-1EE2C1E69139}"/>
              </a:ext>
            </a:extLst>
          </p:cNvPr>
          <p:cNvSpPr>
            <a:spLocks xmlns:a="http://schemas.openxmlformats.org/drawingml/2006/main" noGrp="1"/>
          </p:cNvSpPr>
          <p:nvPr/>
        </p:nvSpPr>
        <p:spPr>
          <a:xfrm xmlns:a="http://schemas.openxmlformats.org/drawingml/2006/main">
            <a:off x="9839706" y="1463040"/>
            <a:ext cx="1711909" cy="402336"/>
          </a:xfrm>
          <a:prstGeom xmlns:a="http://schemas.openxmlformats.org/drawingml/2006/main" prst="roundRect">
            <a:avLst>
              <a:gd name="adj" fmla="val 113636"/>
            </a:avLst>
          </a:prstGeom>
          <a:solidFill xmlns:a="http://schemas.openxmlformats.org/drawingml/2006/main">
            <a:srgbClr val="1F8A99"/>
          </a:solidFill>
          <a:ln xmlns:a="http://schemas.openxmlformats.org/drawingml/2006/main" w="9525">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62A82CBD-B283-4734-A45B-42AAB49F48E8}"/>
              </a:ext>
            </a:extLst>
          </p:cNvPr>
          <p:cNvSpPr>
            <a:spLocks xmlns:a="http://schemas.openxmlformats.org/drawingml/2006/main" noGrp="1"/>
          </p:cNvSpPr>
          <p:nvPr/>
        </p:nvSpPr>
        <p:spPr>
          <a:xfrm xmlns:a="http://schemas.openxmlformats.org/drawingml/2006/main">
            <a:off x="9839706" y="1463040"/>
            <a:ext cx="1711909"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calibrated gate q(z) ≤ η</a:t>
            </a:r>
          </a:p>
        </p:txBody>
      </p:sp>
      <p:sp>
        <p:nvSpPr>
          <p:cNvPr id="19" name="Text 17">
            <a:extLst xmlns:a="http://schemas.openxmlformats.org/drawingml/2006/main">
              <a:ext uri="{FF2B5EF4-FFF2-40B4-BE49-F238E27FC236}">
                <a16:creationId xmlns:a16="http://schemas.microsoft.com/office/drawing/2014/main" id="{3E3AD459-D5F2-49EB-B4F2-3B4BC924D2B5}"/>
              </a:ext>
            </a:extLst>
          </p:cNvPr>
          <p:cNvSpPr>
            <a:spLocks xmlns:a="http://schemas.openxmlformats.org/drawingml/2006/main" noGrp="1"/>
          </p:cNvSpPr>
          <p:nvPr/>
        </p:nvSpPr>
        <p:spPr>
          <a:xfrm xmlns:a="http://schemas.openxmlformats.org/drawingml/2006/main">
            <a:off x="640080" y="2048256"/>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SEVEN TERMINAL EDGES</a:t>
            </a:r>
          </a:p>
        </p:txBody>
      </p:sp>
      <p:sp>
        <p:nvSpPr>
          <p:cNvPr id="20" name="Shape 18">
            <a:extLst xmlns:a="http://schemas.openxmlformats.org/drawingml/2006/main">
              <a:ext uri="{FF2B5EF4-FFF2-40B4-BE49-F238E27FC236}">
                <a16:creationId xmlns:a16="http://schemas.microsoft.com/office/drawing/2014/main" id="{3F6343D4-66CD-4B05-960A-428EC1BB89A8}"/>
              </a:ext>
            </a:extLst>
          </p:cNvPr>
          <p:cNvSpPr>
            <a:spLocks xmlns:a="http://schemas.openxmlformats.org/drawingml/2006/main" noGrp="1"/>
          </p:cNvSpPr>
          <p:nvPr/>
        </p:nvSpPr>
        <p:spPr>
          <a:xfrm xmlns:a="http://schemas.openxmlformats.org/drawingml/2006/main">
            <a:off x="640080" y="2322576"/>
            <a:ext cx="3454298" cy="1517904"/>
          </a:xfrm>
          <a:prstGeom xmlns:a="http://schemas.openxmlformats.org/drawingml/2006/main" prst="roundRect">
            <a:avLst>
              <a:gd name="adj" fmla="val 301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3AE2D586-6632-4561-8E89-D077937EF132}"/>
              </a:ext>
            </a:extLst>
          </p:cNvPr>
          <p:cNvSpPr>
            <a:spLocks xmlns:a="http://schemas.openxmlformats.org/drawingml/2006/main" noGrp="1"/>
          </p:cNvSpPr>
          <p:nvPr/>
        </p:nvSpPr>
        <p:spPr>
          <a:xfrm xmlns:a="http://schemas.openxmlformats.org/drawingml/2006/main">
            <a:off x="877824" y="2450592"/>
            <a:ext cx="5486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8A99"/>
                </a:solidFill>
                <a:latin typeface="Cambria"/>
                <a:ea typeface="Cambria"/>
                <a:cs typeface="Cambria"/>
              </a:rPr>
              <a:t>1</a:t>
            </a:r>
          </a:p>
        </p:txBody>
      </p:sp>
      <p:sp>
        <p:nvSpPr>
          <p:cNvPr id="22" name="Text 20">
            <a:extLst xmlns:a="http://schemas.openxmlformats.org/drawingml/2006/main">
              <a:ext uri="{FF2B5EF4-FFF2-40B4-BE49-F238E27FC236}">
                <a16:creationId xmlns:a16="http://schemas.microsoft.com/office/drawing/2014/main" id="{A1B09CBB-1282-445C-9AD3-5482268F1648}"/>
              </a:ext>
            </a:extLst>
          </p:cNvPr>
          <p:cNvSpPr>
            <a:spLocks xmlns:a="http://schemas.openxmlformats.org/drawingml/2006/main" noGrp="1"/>
          </p:cNvSpPr>
          <p:nvPr/>
        </p:nvSpPr>
        <p:spPr>
          <a:xfrm xmlns:a="http://schemas.openxmlformats.org/drawingml/2006/main">
            <a:off x="1463040" y="2487168"/>
            <a:ext cx="239359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Compacted execution</a:t>
            </a:r>
          </a:p>
        </p:txBody>
      </p:sp>
      <p:sp>
        <p:nvSpPr>
          <p:cNvPr id="23" name="Text 21">
            <a:extLst xmlns:a="http://schemas.openxmlformats.org/drawingml/2006/main">
              <a:ext uri="{FF2B5EF4-FFF2-40B4-BE49-F238E27FC236}">
                <a16:creationId xmlns:a16="http://schemas.microsoft.com/office/drawing/2014/main" id="{83240614-B7A0-40CA-89E0-15CEDB0D8D88}"/>
              </a:ext>
            </a:extLst>
          </p:cNvPr>
          <p:cNvSpPr>
            <a:spLocks xmlns:a="http://schemas.openxmlformats.org/drawingml/2006/main" noGrp="1"/>
          </p:cNvSpPr>
          <p:nvPr/>
        </p:nvSpPr>
        <p:spPr>
          <a:xfrm xmlns:a="http://schemas.openxmlformats.org/drawingml/2006/main">
            <a:off x="896112" y="2907792"/>
            <a:ext cx="2942234"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Stage, interpret through a permission facade, verify live-outs, effect multiset and call counts, then commit.</a:t>
            </a:r>
          </a:p>
        </p:txBody>
      </p:sp>
      <p:sp>
        <p:nvSpPr>
          <p:cNvPr id="24" name="Shape 22">
            <a:extLst xmlns:a="http://schemas.openxmlformats.org/drawingml/2006/main">
              <a:ext uri="{FF2B5EF4-FFF2-40B4-BE49-F238E27FC236}">
                <a16:creationId xmlns:a16="http://schemas.microsoft.com/office/drawing/2014/main" id="{D31EF7CB-2D10-4304-849B-AA584C5297E5}"/>
              </a:ext>
            </a:extLst>
          </p:cNvPr>
          <p:cNvSpPr>
            <a:spLocks xmlns:a="http://schemas.openxmlformats.org/drawingml/2006/main" noGrp="1"/>
          </p:cNvSpPr>
          <p:nvPr/>
        </p:nvSpPr>
        <p:spPr>
          <a:xfrm xmlns:a="http://schemas.openxmlformats.org/drawingml/2006/main">
            <a:off x="4368698" y="2322576"/>
            <a:ext cx="3454298" cy="1517904"/>
          </a:xfrm>
          <a:prstGeom xmlns:a="http://schemas.openxmlformats.org/drawingml/2006/main" prst="roundRect">
            <a:avLst>
              <a:gd name="adj" fmla="val 301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8C4148FB-3660-4E54-AFEA-BDBBFEDFB163}"/>
              </a:ext>
            </a:extLst>
          </p:cNvPr>
          <p:cNvSpPr>
            <a:spLocks xmlns:a="http://schemas.openxmlformats.org/drawingml/2006/main" noGrp="1"/>
          </p:cNvSpPr>
          <p:nvPr/>
        </p:nvSpPr>
        <p:spPr>
          <a:xfrm xmlns:a="http://schemas.openxmlformats.org/drawingml/2006/main">
            <a:off x="4606442" y="2450592"/>
            <a:ext cx="5486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A3563"/>
                </a:solidFill>
                <a:latin typeface="Cambria"/>
                <a:ea typeface="Cambria"/>
                <a:cs typeface="Cambria"/>
              </a:rPr>
              <a:t>5</a:t>
            </a:r>
          </a:p>
        </p:txBody>
      </p:sp>
      <p:sp>
        <p:nvSpPr>
          <p:cNvPr id="26" name="Text 24">
            <a:extLst xmlns:a="http://schemas.openxmlformats.org/drawingml/2006/main">
              <a:ext uri="{FF2B5EF4-FFF2-40B4-BE49-F238E27FC236}">
                <a16:creationId xmlns:a16="http://schemas.microsoft.com/office/drawing/2014/main" id="{CD1FDB4F-B843-465B-8C62-E3BDAAAF0066}"/>
              </a:ext>
            </a:extLst>
          </p:cNvPr>
          <p:cNvSpPr>
            <a:spLocks xmlns:a="http://schemas.openxmlformats.org/drawingml/2006/main" noGrp="1"/>
          </p:cNvSpPr>
          <p:nvPr/>
        </p:nvSpPr>
        <p:spPr>
          <a:xfrm xmlns:a="http://schemas.openxmlformats.org/drawingml/2006/main">
            <a:off x="5191658" y="2487168"/>
            <a:ext cx="239359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Baseline agent runs</a:t>
            </a:r>
          </a:p>
        </p:txBody>
      </p:sp>
      <p:sp>
        <p:nvSpPr>
          <p:cNvPr id="27" name="Text 25">
            <a:extLst xmlns:a="http://schemas.openxmlformats.org/drawingml/2006/main">
              <a:ext uri="{FF2B5EF4-FFF2-40B4-BE49-F238E27FC236}">
                <a16:creationId xmlns:a16="http://schemas.microsoft.com/office/drawing/2014/main" id="{6A012AEA-BDDB-4448-922C-5980FE6D4DFF}"/>
              </a:ext>
            </a:extLst>
          </p:cNvPr>
          <p:cNvSpPr>
            <a:spLocks xmlns:a="http://schemas.openxmlformats.org/drawingml/2006/main" noGrp="1"/>
          </p:cNvSpPr>
          <p:nvPr/>
        </p:nvSpPr>
        <p:spPr>
          <a:xfrm xmlns:a="http://schemas.openxmlformats.org/drawingml/2006/main">
            <a:off x="4624730" y="2907792"/>
            <a:ext cx="2942234"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950">
                <a:solidFill>
                  <a:srgbClr val="24354F"/>
                </a:solidFill>
                <a:latin typeface="Calibri"/>
                <a:ea typeface="Calibri"/>
                <a:cs typeface="Calibri"/>
              </a:rPr>
              <a:t>Mode and lifecycle checks, guard or manifest miss, already-observed tools, shadow mode, calibrated abstention, a clean pre-commit failure with a staging proof, or a verifier rejection before use. Figure 1 groups Algorithm 4's individual fallback returns into these edges.</a:t>
            </a:r>
          </a:p>
        </p:txBody>
      </p:sp>
      <p:sp>
        <p:nvSpPr>
          <p:cNvPr id="28" name="Shape 26">
            <a:extLst xmlns:a="http://schemas.openxmlformats.org/drawingml/2006/main">
              <a:ext uri="{FF2B5EF4-FFF2-40B4-BE49-F238E27FC236}">
                <a16:creationId xmlns:a16="http://schemas.microsoft.com/office/drawing/2014/main" id="{B2CB71D1-0E4E-4E52-BF78-D32CCDC7757E}"/>
              </a:ext>
            </a:extLst>
          </p:cNvPr>
          <p:cNvSpPr>
            <a:spLocks xmlns:a="http://schemas.openxmlformats.org/drawingml/2006/main" noGrp="1"/>
          </p:cNvSpPr>
          <p:nvPr/>
        </p:nvSpPr>
        <p:spPr>
          <a:xfrm xmlns:a="http://schemas.openxmlformats.org/drawingml/2006/main">
            <a:off x="8097317" y="2322576"/>
            <a:ext cx="3454298" cy="1517904"/>
          </a:xfrm>
          <a:prstGeom xmlns:a="http://schemas.openxmlformats.org/drawingml/2006/main" prst="roundRect">
            <a:avLst>
              <a:gd name="adj" fmla="val 3012"/>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9" name="Text 27">
            <a:extLst xmlns:a="http://schemas.openxmlformats.org/drawingml/2006/main">
              <a:ext uri="{FF2B5EF4-FFF2-40B4-BE49-F238E27FC236}">
                <a16:creationId xmlns:a16="http://schemas.microsoft.com/office/drawing/2014/main" id="{FB72D3BB-186C-47FD-AE1E-8784497BD162}"/>
              </a:ext>
            </a:extLst>
          </p:cNvPr>
          <p:cNvSpPr>
            <a:spLocks xmlns:a="http://schemas.openxmlformats.org/drawingml/2006/main" noGrp="1"/>
          </p:cNvSpPr>
          <p:nvPr/>
        </p:nvSpPr>
        <p:spPr>
          <a:xfrm xmlns:a="http://schemas.openxmlformats.org/drawingml/2006/main">
            <a:off x="8335061" y="2450592"/>
            <a:ext cx="5486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A93B2B"/>
                </a:solidFill>
                <a:latin typeface="Cambria"/>
                <a:ea typeface="Cambria"/>
                <a:cs typeface="Cambria"/>
              </a:rPr>
              <a:t>1</a:t>
            </a:r>
          </a:p>
        </p:txBody>
      </p:sp>
      <p:sp>
        <p:nvSpPr>
          <p:cNvPr id="30" name="Text 28">
            <a:extLst xmlns:a="http://schemas.openxmlformats.org/drawingml/2006/main">
              <a:ext uri="{FF2B5EF4-FFF2-40B4-BE49-F238E27FC236}">
                <a16:creationId xmlns:a16="http://schemas.microsoft.com/office/drawing/2014/main" id="{A64A6B24-F305-411D-BDF2-11E93BD4E738}"/>
              </a:ext>
            </a:extLst>
          </p:cNvPr>
          <p:cNvSpPr>
            <a:spLocks xmlns:a="http://schemas.openxmlformats.org/drawingml/2006/main" noGrp="1"/>
          </p:cNvSpPr>
          <p:nvPr/>
        </p:nvSpPr>
        <p:spPr>
          <a:xfrm xmlns:a="http://schemas.openxmlformats.org/drawingml/2006/main">
            <a:off x="8920277" y="2487168"/>
            <a:ext cx="239359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3B2B"/>
                </a:solidFill>
                <a:latin typeface="Cambria"/>
                <a:ea typeface="Cambria"/>
                <a:cs typeface="Cambria"/>
              </a:rPr>
              <a:t>Incident raised</a:t>
            </a:r>
          </a:p>
        </p:txBody>
      </p:sp>
      <p:sp>
        <p:nvSpPr>
          <p:cNvPr id="31" name="Text 29">
            <a:extLst xmlns:a="http://schemas.openxmlformats.org/drawingml/2006/main">
              <a:ext uri="{FF2B5EF4-FFF2-40B4-BE49-F238E27FC236}">
                <a16:creationId xmlns:a16="http://schemas.microsoft.com/office/drawing/2014/main" id="{B88D0875-CF25-4EDA-B115-40A18CCC2767}"/>
              </a:ext>
            </a:extLst>
          </p:cNvPr>
          <p:cNvSpPr>
            <a:spLocks xmlns:a="http://schemas.openxmlformats.org/drawingml/2006/main" noGrp="1"/>
          </p:cNvSpPr>
          <p:nvPr/>
        </p:nvSpPr>
        <p:spPr>
          <a:xfrm xmlns:a="http://schemas.openxmlformats.org/drawingml/2006/main">
            <a:off x="8353349" y="2907792"/>
            <a:ext cx="2942234"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5C4034"/>
                </a:solidFill>
                <a:latin typeface="Calibri"/>
                <a:ea typeface="Calibri"/>
                <a:cs typeface="Calibri"/>
              </a:rPr>
              <a:t>A post-commit failure. An external commitment already happened, so the runtime does not feign a rollback.</a:t>
            </a:r>
          </a:p>
        </p:txBody>
      </p:sp>
      <p:sp>
        <p:nvSpPr>
          <p:cNvPr id="32" name="Shape 30">
            <a:extLst xmlns:a="http://schemas.openxmlformats.org/drawingml/2006/main">
              <a:ext uri="{FF2B5EF4-FFF2-40B4-BE49-F238E27FC236}">
                <a16:creationId xmlns:a16="http://schemas.microsoft.com/office/drawing/2014/main" id="{3E6507BF-3038-4F4F-ACFF-077A0CCCEE95}"/>
              </a:ext>
            </a:extLst>
          </p:cNvPr>
          <p:cNvSpPr>
            <a:spLocks xmlns:a="http://schemas.openxmlformats.org/drawingml/2006/main" noGrp="1"/>
          </p:cNvSpPr>
          <p:nvPr/>
        </p:nvSpPr>
        <p:spPr>
          <a:xfrm xmlns:a="http://schemas.openxmlformats.org/drawingml/2006/main">
            <a:off x="640080" y="4005072"/>
            <a:ext cx="10911535" cy="1700784"/>
          </a:xfrm>
          <a:prstGeom xmlns:a="http://schemas.openxmlformats.org/drawingml/2006/main" prst="roundRect">
            <a:avLst>
              <a:gd name="adj" fmla="val 2688"/>
            </a:avLst>
          </a:prstGeom>
          <a:solidFill xmlns:a="http://schemas.openxmlformats.org/drawingml/2006/main">
            <a:srgbClr val="EAF1F7"/>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FB424899-98B9-40B0-A62F-7EEA1BD3EDC3}"/>
              </a:ext>
            </a:extLst>
          </p:cNvPr>
          <p:cNvSpPr>
            <a:spLocks xmlns:a="http://schemas.openxmlformats.org/drawingml/2006/main" noGrp="1"/>
          </p:cNvSpPr>
          <p:nvPr/>
        </p:nvSpPr>
        <p:spPr>
          <a:xfrm xmlns:a="http://schemas.openxmlformats.org/drawingml/2006/main">
            <a:off x="896112" y="4133088"/>
            <a:ext cx="1039947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§3.5.1  WHERE “UNMODIFIED BASELINE” IS EXACT, AND WHERE IT IS NOT</a:t>
            </a:r>
          </a:p>
        </p:txBody>
      </p:sp>
      <p:sp>
        <p:nvSpPr>
          <p:cNvPr id="34" name="Text 32">
            <a:extLst xmlns:a="http://schemas.openxmlformats.org/drawingml/2006/main">
              <a:ext uri="{FF2B5EF4-FFF2-40B4-BE49-F238E27FC236}">
                <a16:creationId xmlns:a16="http://schemas.microsoft.com/office/drawing/2014/main" id="{134F8A30-7B73-45AF-B705-9C87481F45EB}"/>
              </a:ext>
            </a:extLst>
          </p:cNvPr>
          <p:cNvSpPr>
            <a:spLocks xmlns:a="http://schemas.openxmlformats.org/drawingml/2006/main" noGrp="1"/>
          </p:cNvSpPr>
          <p:nvPr/>
        </p:nvSpPr>
        <p:spPr>
          <a:xfrm xmlns:a="http://schemas.openxmlformats.org/drawingml/2006/main">
            <a:off x="896112" y="4407408"/>
            <a:ext cx="504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F8A99"/>
                </a:solidFill>
                <a:latin typeface="Cambria"/>
                <a:ea typeface="Cambria"/>
                <a:cs typeface="Cambria"/>
              </a:rPr>
              <a:t>Outer runner — exact</a:t>
            </a:r>
          </a:p>
        </p:txBody>
      </p:sp>
      <p:sp>
        <p:nvSpPr>
          <p:cNvPr id="35" name="Text 33">
            <a:extLst xmlns:a="http://schemas.openxmlformats.org/drawingml/2006/main">
              <a:ext uri="{FF2B5EF4-FFF2-40B4-BE49-F238E27FC236}">
                <a16:creationId xmlns:a16="http://schemas.microsoft.com/office/drawing/2014/main" id="{78CD3EC7-2660-421D-824D-CFF015624781}"/>
              </a:ext>
            </a:extLst>
          </p:cNvPr>
          <p:cNvSpPr>
            <a:spLocks xmlns:a="http://schemas.openxmlformats.org/drawingml/2006/main" noGrp="1"/>
          </p:cNvSpPr>
          <p:nvPr/>
        </p:nvSpPr>
        <p:spPr>
          <a:xfrm xmlns:a="http://schemas.openxmlformats.org/drawingml/2006/main">
            <a:off x="896112" y="4681728"/>
            <a:ext cx="50442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It owns the entry snapshot and the commit boundary, so a rejected attempt restores byte-identical model-visible input. “The baseline runs unchanged” holds at every failure point.</a:t>
            </a:r>
          </a:p>
        </p:txBody>
      </p:sp>
      <p:sp>
        <p:nvSpPr>
          <p:cNvPr id="36" name="Text 34">
            <a:extLst xmlns:a="http://schemas.openxmlformats.org/drawingml/2006/main">
              <a:ext uri="{FF2B5EF4-FFF2-40B4-BE49-F238E27FC236}">
                <a16:creationId xmlns:a16="http://schemas.microsoft.com/office/drawing/2014/main" id="{F8854B21-31F5-49EC-99E8-BC33A9BB3846}"/>
              </a:ext>
            </a:extLst>
          </p:cNvPr>
          <p:cNvSpPr>
            <a:spLocks xmlns:a="http://schemas.openxmlformats.org/drawingml/2006/main" noGrp="1"/>
          </p:cNvSpPr>
          <p:nvPr/>
        </p:nvSpPr>
        <p:spPr>
          <a:xfrm xmlns:a="http://schemas.openxmlformats.org/drawingml/2006/main">
            <a:off x="6251296" y="4407408"/>
            <a:ext cx="504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A93B2B"/>
                </a:solidFill>
                <a:latin typeface="Cambria"/>
                <a:ea typeface="Cambria"/>
                <a:cs typeface="Cambria"/>
              </a:rPr>
              <a:t>Model-boundary adapter — weaker</a:t>
            </a:r>
          </a:p>
        </p:txBody>
      </p:sp>
      <p:sp>
        <p:nvSpPr>
          <p:cNvPr id="37" name="Text 35">
            <a:extLst xmlns:a="http://schemas.openxmlformats.org/drawingml/2006/main">
              <a:ext uri="{FF2B5EF4-FFF2-40B4-BE49-F238E27FC236}">
                <a16:creationId xmlns:a16="http://schemas.microsoft.com/office/drawing/2014/main" id="{782460AC-36E8-4D12-8F4B-DDE5BE7E51FD}"/>
              </a:ext>
            </a:extLst>
          </p:cNvPr>
          <p:cNvSpPr>
            <a:spLocks xmlns:a="http://schemas.openxmlformats.org/drawingml/2006/main" noGrp="1"/>
          </p:cNvSpPr>
          <p:nvPr/>
        </p:nvSpPr>
        <p:spPr>
          <a:xfrm xmlns:a="http://schemas.openxmlformats.org/drawingml/2006/main">
            <a:off x="6251296" y="4681728"/>
            <a:ext cx="50442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Once it has returned a synthesized ModelResponse, the host runner may already have committed that item to session history, and the Model interface provides no way to withdraw it. A verifier failure after that point delegates to the wrapped model with a history the baseline would never have contained.</a:t>
            </a:r>
          </a:p>
        </p:txBody>
      </p:sp>
      <p:sp>
        <p:nvSpPr>
          <p:cNvPr id="38" name="Text 36">
            <a:extLst xmlns:a="http://schemas.openxmlformats.org/drawingml/2006/main">
              <a:ext uri="{FF2B5EF4-FFF2-40B4-BE49-F238E27FC236}">
                <a16:creationId xmlns:a16="http://schemas.microsoft.com/office/drawing/2014/main" id="{F93BCA70-8569-4483-BEDF-57409F1441FE}"/>
              </a:ext>
            </a:extLst>
          </p:cNvPr>
          <p:cNvSpPr>
            <a:spLocks xmlns:a="http://schemas.openxmlformats.org/drawingml/2006/main" noGrp="1"/>
          </p:cNvSpPr>
          <p:nvPr/>
        </p:nvSpPr>
        <p:spPr>
          <a:xfrm xmlns:a="http://schemas.openxmlformats.org/drawingml/2006/main">
            <a:off x="640080" y="5815584"/>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i="1">
                <a:solidFill>
                  <a:srgbClr val="5A6B84"/>
                </a:solidFill>
                <a:latin typeface="Calibri"/>
                <a:ea typeface="Calibri"/>
                <a:cs typeface="Calibri"/>
              </a:rPr>
              <a:t>Every check that can reject before emission — lifecycle, signature, manifest pins, hard guard, already-observed tools, quota attestation, and the calibrated gate — is therefore exact for both paths. Only post-emission verifier or binding failures are weaker for the adapter. A general solution requires artifacts to target explicit control points with continuation tokens rather than implicit model boundaries.</a:t>
            </a:r>
          </a:p>
        </p:txBody>
      </p:sp>
    </p:spTree>
    <p:extLst>
      <p:ext uri="{BB962C8B-B14F-4D97-AF65-F5344CB8AC3E}">
        <p14:creationId xmlns:p14="http://schemas.microsoft.com/office/powerpoint/2010/main" val="510680896"/>
      </p:ext>
    </p:extLst>
  </p:cSld>
</p:sld>
</file>

<file path=ppt/slides/slide15.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262CC4-F5CF-4683-941D-403358E8D0A9}"/>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43597C"/>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6DD17CC5-3C13-4D8C-B845-5BF8E1346F03}"/>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43597C"/>
                </a:solidFill>
                <a:latin typeface="Calibri"/>
                <a:ea typeface="Calibri"/>
                <a:cs typeface="Calibri"/>
              </a:rPr>
              <a:t>15</a:t>
            </a:r>
          </a:p>
        </p:txBody>
      </p:sp>
      <p:sp>
        <p:nvSpPr>
          <p:cNvPr id="4" name="Shape 2">
            <a:extLst xmlns:a="http://schemas.openxmlformats.org/drawingml/2006/main">
              <a:ext uri="{FF2B5EF4-FFF2-40B4-BE49-F238E27FC236}">
                <a16:creationId xmlns:a16="http://schemas.microsoft.com/office/drawing/2014/main" id="{1F7BE446-0704-429A-8AA7-8FA5B3E0E809}"/>
              </a:ext>
            </a:extLst>
          </p:cNvPr>
          <p:cNvSpPr>
            <a:spLocks xmlns:a="http://schemas.openxmlformats.org/drawingml/2006/main" noGrp="1"/>
          </p:cNvSpPr>
          <p:nvPr/>
        </p:nvSpPr>
        <p:spPr>
          <a:xfrm xmlns:a="http://schemas.openxmlformats.org/drawingml/2006/main">
            <a:off x="9326880" y="914400"/>
            <a:ext cx="5120640" cy="5120640"/>
          </a:xfrm>
          <a:prstGeom xmlns:a="http://schemas.openxmlformats.org/drawingml/2006/main" prst="ellipse">
            <a:avLst/>
          </a:prstGeom>
          <a:solidFill xmlns:a="http://schemas.openxmlformats.org/drawingml/2006/main">
            <a:srgbClr val="1A3563">
              <a:alpha val="60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DF8CB7A7-8431-4B48-96B9-DFEFBA763518}"/>
              </a:ext>
            </a:extLst>
          </p:cNvPr>
          <p:cNvSpPr>
            <a:spLocks xmlns:a="http://schemas.openxmlformats.org/drawingml/2006/main" noGrp="1"/>
          </p:cNvSpPr>
          <p:nvPr/>
        </p:nvSpPr>
        <p:spPr>
          <a:xfrm xmlns:a="http://schemas.openxmlformats.org/drawingml/2006/main">
            <a:off x="10607040" y="2194560"/>
            <a:ext cx="2560320" cy="2560320"/>
          </a:xfrm>
          <a:prstGeom xmlns:a="http://schemas.openxmlformats.org/drawingml/2006/main" prst="ellipse">
            <a:avLst/>
          </a:prstGeom>
          <a:solidFill xmlns:a="http://schemas.openxmlformats.org/drawingml/2006/main">
            <a:srgbClr val="1F8A99">
              <a:alpha val="45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2F24DF8-4397-44C6-81F9-495175A033DC}"/>
              </a:ext>
            </a:extLst>
          </p:cNvPr>
          <p:cNvSpPr>
            <a:spLocks xmlns:a="http://schemas.openxmlformats.org/drawingml/2006/main" noGrp="1"/>
          </p:cNvSpPr>
          <p:nvPr/>
        </p:nvSpPr>
        <p:spPr>
          <a:xfrm xmlns:a="http://schemas.openxmlformats.org/drawingml/2006/main">
            <a:off x="640080" y="2148840"/>
            <a:ext cx="14630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600" b="1">
                <a:solidFill>
                  <a:srgbClr val="56B3BE"/>
                </a:solidFill>
                <a:latin typeface="Cambria"/>
                <a:ea typeface="Cambria"/>
                <a:cs typeface="Cambria"/>
              </a:rPr>
              <a:t>III</a:t>
            </a:r>
          </a:p>
        </p:txBody>
      </p:sp>
      <p:sp>
        <p:nvSpPr>
          <p:cNvPr id="7" name="Text 5">
            <a:extLst xmlns:a="http://schemas.openxmlformats.org/drawingml/2006/main">
              <a:ext uri="{FF2B5EF4-FFF2-40B4-BE49-F238E27FC236}">
                <a16:creationId xmlns:a16="http://schemas.microsoft.com/office/drawing/2014/main" id="{C0BCC708-085F-4DC2-B435-F9A45164DF43}"/>
              </a:ext>
            </a:extLst>
          </p:cNvPr>
          <p:cNvSpPr>
            <a:spLocks xmlns:a="http://schemas.openxmlformats.org/drawingml/2006/main" noGrp="1"/>
          </p:cNvSpPr>
          <p:nvPr/>
        </p:nvSpPr>
        <p:spPr>
          <a:xfrm xmlns:a="http://schemas.openxmlformats.org/drawingml/2006/main">
            <a:off x="2240280" y="2286000"/>
            <a:ext cx="6766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Evidence and results</a:t>
            </a:r>
          </a:p>
        </p:txBody>
      </p:sp>
      <p:sp>
        <p:nvSpPr>
          <p:cNvPr id="8" name="Text 6">
            <a:extLst xmlns:a="http://schemas.openxmlformats.org/drawingml/2006/main">
              <a:ext uri="{FF2B5EF4-FFF2-40B4-BE49-F238E27FC236}">
                <a16:creationId xmlns:a16="http://schemas.microsoft.com/office/drawing/2014/main" id="{0ABD7EF6-351A-4C82-9DDF-55731BE56066}"/>
              </a:ext>
            </a:extLst>
          </p:cNvPr>
          <p:cNvSpPr>
            <a:spLocks xmlns:a="http://schemas.openxmlformats.org/drawingml/2006/main" noGrp="1"/>
          </p:cNvSpPr>
          <p:nvPr/>
        </p:nvSpPr>
        <p:spPr>
          <a:xfrm xmlns:a="http://schemas.openxmlformats.org/drawingml/2006/main">
            <a:off x="2267712" y="3017520"/>
            <a:ext cx="6675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350">
                <a:solidFill>
                  <a:srgbClr val="9BD0D6"/>
                </a:solidFill>
                <a:latin typeface="Calibri"/>
                <a:ea typeface="Calibri"/>
                <a:cs typeface="Calibri"/>
              </a:rPr>
              <a:t>Three non-overlapping tiers, six directional hypotheses, and results reported with their denominators intact.</a:t>
            </a:r>
          </a:p>
        </p:txBody>
      </p:sp>
    </p:spTree>
    <p:extLst>
      <p:ext uri="{BB962C8B-B14F-4D97-AF65-F5344CB8AC3E}">
        <p14:creationId xmlns:p14="http://schemas.microsoft.com/office/powerpoint/2010/main" val="5963102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16370B-D70C-4A03-BE94-DFCFF9ECB4FE}"/>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E96CBDC2-BAC5-4292-8643-D5A71481340D}"/>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16</a:t>
            </a:r>
          </a:p>
        </p:txBody>
      </p:sp>
      <p:sp>
        <p:nvSpPr>
          <p:cNvPr id="4" name="Text 2">
            <a:extLst xmlns:a="http://schemas.openxmlformats.org/drawingml/2006/main">
              <a:ext uri="{FF2B5EF4-FFF2-40B4-BE49-F238E27FC236}">
                <a16:creationId xmlns:a16="http://schemas.microsoft.com/office/drawing/2014/main" id="{E8652ECE-51C1-4D93-982D-ACE419B1F5C3}"/>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METHODOLOGY  ·  §4.1</a:t>
            </a:r>
          </a:p>
        </p:txBody>
      </p:sp>
      <p:sp>
        <p:nvSpPr>
          <p:cNvPr id="5" name="Text 3">
            <a:extLst xmlns:a="http://schemas.openxmlformats.org/drawingml/2006/main">
              <a:ext uri="{FF2B5EF4-FFF2-40B4-BE49-F238E27FC236}">
                <a16:creationId xmlns:a16="http://schemas.microsoft.com/office/drawing/2014/main" id="{3D182A5F-B097-4B06-AE3B-B5F0C13916AF}"/>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Three evidence tiers and six directional hypotheses</a:t>
            </a:r>
          </a:p>
        </p:txBody>
      </p:sp>
      <p:sp>
        <p:nvSpPr>
          <p:cNvPr id="6" name="Shape 4">
            <a:extLst xmlns:a="http://schemas.openxmlformats.org/drawingml/2006/main">
              <a:ext uri="{FF2B5EF4-FFF2-40B4-BE49-F238E27FC236}">
                <a16:creationId xmlns:a16="http://schemas.microsoft.com/office/drawing/2014/main" id="{A5B9F9BD-87BE-4944-909C-4C30678A3E53}"/>
              </a:ext>
            </a:extLst>
          </p:cNvPr>
          <p:cNvSpPr>
            <a:spLocks xmlns:a="http://schemas.openxmlformats.org/drawingml/2006/main" noGrp="1"/>
          </p:cNvSpPr>
          <p:nvPr/>
        </p:nvSpPr>
        <p:spPr>
          <a:xfrm xmlns:a="http://schemas.openxmlformats.org/drawingml/2006/main">
            <a:off x="640080" y="1188720"/>
            <a:ext cx="345429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BB7DBF4A-A312-446F-87AF-C9963570B892}"/>
              </a:ext>
            </a:extLst>
          </p:cNvPr>
          <p:cNvSpPr>
            <a:spLocks xmlns:a="http://schemas.openxmlformats.org/drawingml/2006/main" noGrp="1"/>
          </p:cNvSpPr>
          <p:nvPr/>
        </p:nvSpPr>
        <p:spPr>
          <a:xfrm xmlns:a="http://schemas.openxmlformats.org/drawingml/2006/main">
            <a:off x="877824" y="1353312"/>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ED3D7B6-391E-49E0-B0E8-B19F3A373AC6}"/>
              </a:ext>
            </a:extLst>
          </p:cNvPr>
          <p:cNvSpPr>
            <a:spLocks xmlns:a="http://schemas.openxmlformats.org/drawingml/2006/main" noGrp="1"/>
          </p:cNvSpPr>
          <p:nvPr/>
        </p:nvSpPr>
        <p:spPr>
          <a:xfrm xmlns:a="http://schemas.openxmlformats.org/drawingml/2006/main">
            <a:off x="877824" y="13533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p>
        </p:txBody>
      </p:sp>
      <p:sp>
        <p:nvSpPr>
          <p:cNvPr id="9" name="Text 7">
            <a:extLst xmlns:a="http://schemas.openxmlformats.org/drawingml/2006/main">
              <a:ext uri="{FF2B5EF4-FFF2-40B4-BE49-F238E27FC236}">
                <a16:creationId xmlns:a16="http://schemas.microsoft.com/office/drawing/2014/main" id="{27168C7D-AEC9-40B8-9CB5-EA1DB6A80FBF}"/>
              </a:ext>
            </a:extLst>
          </p:cNvPr>
          <p:cNvSpPr>
            <a:spLocks xmlns:a="http://schemas.openxmlformats.org/drawingml/2006/main" noGrp="1"/>
          </p:cNvSpPr>
          <p:nvPr/>
        </p:nvSpPr>
        <p:spPr>
          <a:xfrm xmlns:a="http://schemas.openxmlformats.org/drawingml/2006/main">
            <a:off x="877824" y="1828800"/>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350" b="1">
                <a:solidFill>
                  <a:srgbClr val="0E1E3A"/>
                </a:solidFill>
                <a:latin typeface="Cambria"/>
                <a:ea typeface="Cambria"/>
                <a:cs typeface="Cambria"/>
              </a:rPr>
              <a:t>External executable benchmark</a:t>
            </a:r>
          </a:p>
        </p:txBody>
      </p:sp>
      <p:sp>
        <p:nvSpPr>
          <p:cNvPr id="10" name="Text 8">
            <a:extLst xmlns:a="http://schemas.openxmlformats.org/drawingml/2006/main">
              <a:ext uri="{FF2B5EF4-FFF2-40B4-BE49-F238E27FC236}">
                <a16:creationId xmlns:a16="http://schemas.microsoft.com/office/drawing/2014/main" id="{6EFFAA55-6C17-4430-8EB7-E676ED31636E}"/>
              </a:ext>
            </a:extLst>
          </p:cNvPr>
          <p:cNvSpPr>
            <a:spLocks xmlns:a="http://schemas.openxmlformats.org/drawingml/2006/main" noGrp="1"/>
          </p:cNvSpPr>
          <p:nvPr/>
        </p:nvSpPr>
        <p:spPr>
          <a:xfrm xmlns:a="http://schemas.openxmlformats.org/drawingml/2006/main">
            <a:off x="877824" y="2377440"/>
            <a:ext cx="29788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00" i="1">
                <a:solidFill>
                  <a:srgbClr val="1F8A99"/>
                </a:solidFill>
                <a:latin typeface="Calibri"/>
                <a:ea typeface="Calibri"/>
                <a:cs typeface="Calibri"/>
              </a:rPr>
              <a:t>NESTFUL — 1,861 records, 1,416 in the audited module, 1,415 executing</a:t>
            </a:r>
          </a:p>
        </p:txBody>
      </p:sp>
      <p:sp>
        <p:nvSpPr>
          <p:cNvPr id="11" name="Text 9">
            <a:extLst xmlns:a="http://schemas.openxmlformats.org/drawingml/2006/main">
              <a:ext uri="{FF2B5EF4-FFF2-40B4-BE49-F238E27FC236}">
                <a16:creationId xmlns:a16="http://schemas.microsoft.com/office/drawing/2014/main" id="{04C908BA-E683-485B-B5C3-7D4B5C8B3E5F}"/>
              </a:ext>
            </a:extLst>
          </p:cNvPr>
          <p:cNvSpPr>
            <a:spLocks xmlns:a="http://schemas.openxmlformats.org/drawingml/2006/main" noGrp="1"/>
          </p:cNvSpPr>
          <p:nvPr/>
        </p:nvSpPr>
        <p:spPr>
          <a:xfrm xmlns:a="http://schemas.openxmlformats.org/drawingml/2006/main">
            <a:off x="896112" y="2889504"/>
            <a:ext cx="29422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Tests dependency reconstruction, synthesis, and refusal on public data with no model calls at all</a:t>
            </a:r>
          </a:p>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Per-family split is lexicographic by episode identifier, so it tests held-out windows, not distribution shift</a:t>
            </a:r>
          </a:p>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Builds provenance, mining, synthesis and replay directly rather than invoking the full compiler</a:t>
            </a:r>
          </a:p>
        </p:txBody>
      </p:sp>
      <p:sp>
        <p:nvSpPr>
          <p:cNvPr id="12" name="Shape 10">
            <a:extLst xmlns:a="http://schemas.openxmlformats.org/drawingml/2006/main">
              <a:ext uri="{FF2B5EF4-FFF2-40B4-BE49-F238E27FC236}">
                <a16:creationId xmlns:a16="http://schemas.microsoft.com/office/drawing/2014/main" id="{1FBE9F84-C96A-49F2-A0DA-A5C6DFFE2989}"/>
              </a:ext>
            </a:extLst>
          </p:cNvPr>
          <p:cNvSpPr>
            <a:spLocks xmlns:a="http://schemas.openxmlformats.org/drawingml/2006/main" noGrp="1"/>
          </p:cNvSpPr>
          <p:nvPr/>
        </p:nvSpPr>
        <p:spPr>
          <a:xfrm xmlns:a="http://schemas.openxmlformats.org/drawingml/2006/main">
            <a:off x="4368698" y="1188720"/>
            <a:ext cx="345429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72D2549C-B747-4A52-A843-ED80A1E4D2B3}"/>
              </a:ext>
            </a:extLst>
          </p:cNvPr>
          <p:cNvSpPr>
            <a:spLocks xmlns:a="http://schemas.openxmlformats.org/drawingml/2006/main" noGrp="1"/>
          </p:cNvSpPr>
          <p:nvPr/>
        </p:nvSpPr>
        <p:spPr>
          <a:xfrm xmlns:a="http://schemas.openxmlformats.org/drawingml/2006/main">
            <a:off x="4606442" y="1353312"/>
            <a:ext cx="384048" cy="384048"/>
          </a:xfrm>
          <a:prstGeom xmlns:a="http://schemas.openxmlformats.org/drawingml/2006/main" prst="ellipse">
            <a:avLst/>
          </a:prstGeom>
          <a:solidFill xmlns:a="http://schemas.openxmlformats.org/drawingml/2006/main">
            <a:srgbClr val="1A3563"/>
          </a:solidFill>
          <a:ln xmlns:a="http://schemas.openxmlformats.org/drawingml/2006/main" w="635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83F3D6D7-0702-41EE-9243-E9678D90CD67}"/>
              </a:ext>
            </a:extLst>
          </p:cNvPr>
          <p:cNvSpPr>
            <a:spLocks xmlns:a="http://schemas.openxmlformats.org/drawingml/2006/main" noGrp="1"/>
          </p:cNvSpPr>
          <p:nvPr/>
        </p:nvSpPr>
        <p:spPr>
          <a:xfrm xmlns:a="http://schemas.openxmlformats.org/drawingml/2006/main">
            <a:off x="4606442" y="13533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C2AC3956-9F40-469B-92E7-57284315A528}"/>
              </a:ext>
            </a:extLst>
          </p:cNvPr>
          <p:cNvSpPr>
            <a:spLocks xmlns:a="http://schemas.openxmlformats.org/drawingml/2006/main" noGrp="1"/>
          </p:cNvSpPr>
          <p:nvPr/>
        </p:nvSpPr>
        <p:spPr>
          <a:xfrm xmlns:a="http://schemas.openxmlformats.org/drawingml/2006/main">
            <a:off x="4606442" y="1828800"/>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350" b="1">
                <a:solidFill>
                  <a:srgbClr val="0E1E3A"/>
                </a:solidFill>
                <a:latin typeface="Cambria"/>
                <a:ea typeface="Cambria"/>
                <a:cs typeface="Cambria"/>
              </a:rPr>
              <a:t>Real records, live provider</a:t>
            </a:r>
          </a:p>
        </p:txBody>
      </p:sp>
      <p:sp>
        <p:nvSpPr>
          <p:cNvPr id="16" name="Text 14">
            <a:extLst xmlns:a="http://schemas.openxmlformats.org/drawingml/2006/main">
              <a:ext uri="{FF2B5EF4-FFF2-40B4-BE49-F238E27FC236}">
                <a16:creationId xmlns:a16="http://schemas.microsoft.com/office/drawing/2014/main" id="{DBA93F0B-2C6C-40F6-8543-0947F59AD3C8}"/>
              </a:ext>
            </a:extLst>
          </p:cNvPr>
          <p:cNvSpPr>
            <a:spLocks xmlns:a="http://schemas.openxmlformats.org/drawingml/2006/main" noGrp="1"/>
          </p:cNvSpPr>
          <p:nvPr/>
        </p:nvSpPr>
        <p:spPr>
          <a:xfrm xmlns:a="http://schemas.openxmlformats.org/drawingml/2006/main">
            <a:off x="4606442" y="2377440"/>
            <a:ext cx="29788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00" i="1">
                <a:solidFill>
                  <a:srgbClr val="1F8A99"/>
                </a:solidFill>
                <a:latin typeface="Calibri"/>
                <a:ea typeface="Calibri"/>
                <a:cs typeface="Calibri"/>
              </a:rPr>
              <a:t>Three primary GitHub workflow families plus scoped ablations on a pinned snapshot</a:t>
            </a:r>
          </a:p>
        </p:txBody>
      </p:sp>
      <p:sp>
        <p:nvSpPr>
          <p:cNvPr id="17" name="Text 15">
            <a:extLst xmlns:a="http://schemas.openxmlformats.org/drawingml/2006/main">
              <a:ext uri="{FF2B5EF4-FFF2-40B4-BE49-F238E27FC236}">
                <a16:creationId xmlns:a16="http://schemas.microsoft.com/office/drawing/2014/main" id="{AC26C033-F8B3-48BA-A283-64369EF92B87}"/>
              </a:ext>
            </a:extLst>
          </p:cNvPr>
          <p:cNvSpPr>
            <a:spLocks xmlns:a="http://schemas.openxmlformats.org/drawingml/2006/main" noGrp="1"/>
          </p:cNvSpPr>
          <p:nvPr/>
        </p:nvSpPr>
        <p:spPr>
          <a:xfrm xmlns:a="http://schemas.openxmlformats.org/drawingml/2006/main">
            <a:off x="4624730" y="2889504"/>
            <a:ext cx="29422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The first protocol prescribes a fixed prefix as a conformance ablation</a:t>
            </a:r>
          </a:p>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The review-driven follow-up and its expanded replication name required facts but no tool functions and no order</a:t>
            </a:r>
          </a:p>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A prospective portfolio pilot freezes the replication as selection evidence, then runs 12 fresh records</a:t>
            </a:r>
          </a:p>
        </p:txBody>
      </p:sp>
      <p:sp>
        <p:nvSpPr>
          <p:cNvPr id="18" name="Shape 16">
            <a:extLst xmlns:a="http://schemas.openxmlformats.org/drawingml/2006/main">
              <a:ext uri="{FF2B5EF4-FFF2-40B4-BE49-F238E27FC236}">
                <a16:creationId xmlns:a16="http://schemas.microsoft.com/office/drawing/2014/main" id="{1C4C31BB-6D0C-4CD8-895E-DCF7811E4CD9}"/>
              </a:ext>
            </a:extLst>
          </p:cNvPr>
          <p:cNvSpPr>
            <a:spLocks xmlns:a="http://schemas.openxmlformats.org/drawingml/2006/main" noGrp="1"/>
          </p:cNvSpPr>
          <p:nvPr/>
        </p:nvSpPr>
        <p:spPr>
          <a:xfrm xmlns:a="http://schemas.openxmlformats.org/drawingml/2006/main">
            <a:off x="8097317" y="1188720"/>
            <a:ext cx="345429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9" name="Shape 17">
            <a:extLst xmlns:a="http://schemas.openxmlformats.org/drawingml/2006/main">
              <a:ext uri="{FF2B5EF4-FFF2-40B4-BE49-F238E27FC236}">
                <a16:creationId xmlns:a16="http://schemas.microsoft.com/office/drawing/2014/main" id="{101CBD24-8A1F-4274-8502-E0EB452974D3}"/>
              </a:ext>
            </a:extLst>
          </p:cNvPr>
          <p:cNvSpPr>
            <a:spLocks xmlns:a="http://schemas.openxmlformats.org/drawingml/2006/main" noGrp="1"/>
          </p:cNvSpPr>
          <p:nvPr/>
        </p:nvSpPr>
        <p:spPr>
          <a:xfrm xmlns:a="http://schemas.openxmlformats.org/drawingml/2006/main">
            <a:off x="8335061" y="1353312"/>
            <a:ext cx="384048" cy="384048"/>
          </a:xfrm>
          <a:prstGeom xmlns:a="http://schemas.openxmlformats.org/drawingml/2006/main" prst="ellipse">
            <a:avLst/>
          </a:prstGeom>
          <a:solidFill xmlns:a="http://schemas.openxmlformats.org/drawingml/2006/main">
            <a:srgbClr val="56B3BE"/>
          </a:solidFill>
          <a:ln xmlns:a="http://schemas.openxmlformats.org/drawingml/2006/main" w="635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62FF871B-313B-4C2B-9113-14B03787C2C9}"/>
              </a:ext>
            </a:extLst>
          </p:cNvPr>
          <p:cNvSpPr>
            <a:spLocks xmlns:a="http://schemas.openxmlformats.org/drawingml/2006/main" noGrp="1"/>
          </p:cNvSpPr>
          <p:nvPr/>
        </p:nvSpPr>
        <p:spPr>
          <a:xfrm xmlns:a="http://schemas.openxmlformats.org/drawingml/2006/main">
            <a:off x="8335061" y="13533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p>
        </p:txBody>
      </p:sp>
      <p:sp>
        <p:nvSpPr>
          <p:cNvPr id="21" name="Text 19">
            <a:extLst xmlns:a="http://schemas.openxmlformats.org/drawingml/2006/main">
              <a:ext uri="{FF2B5EF4-FFF2-40B4-BE49-F238E27FC236}">
                <a16:creationId xmlns:a16="http://schemas.microsoft.com/office/drawing/2014/main" id="{99B00806-9D17-4E49-9D7F-800B910F0C76}"/>
              </a:ext>
            </a:extLst>
          </p:cNvPr>
          <p:cNvSpPr>
            <a:spLocks xmlns:a="http://schemas.openxmlformats.org/drawingml/2006/main" noGrp="1"/>
          </p:cNvSpPr>
          <p:nvPr/>
        </p:nvSpPr>
        <p:spPr>
          <a:xfrm xmlns:a="http://schemas.openxmlformats.org/drawingml/2006/main">
            <a:off x="8335061" y="1828800"/>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350" b="1">
                <a:solidFill>
                  <a:srgbClr val="0E1E3A"/>
                </a:solidFill>
                <a:latin typeface="Cambria"/>
                <a:ea typeface="Cambria"/>
                <a:cs typeface="Cambria"/>
              </a:rPr>
              <a:t>Controlled demonstration suite</a:t>
            </a:r>
          </a:p>
        </p:txBody>
      </p:sp>
      <p:sp>
        <p:nvSpPr>
          <p:cNvPr id="22" name="Text 20">
            <a:extLst xmlns:a="http://schemas.openxmlformats.org/drawingml/2006/main">
              <a:ext uri="{FF2B5EF4-FFF2-40B4-BE49-F238E27FC236}">
                <a16:creationId xmlns:a16="http://schemas.microsoft.com/office/drawing/2014/main" id="{FAE20360-4938-43E1-BF07-A25E2E213AB2}"/>
              </a:ext>
            </a:extLst>
          </p:cNvPr>
          <p:cNvSpPr>
            <a:spLocks xmlns:a="http://schemas.openxmlformats.org/drawingml/2006/main" noGrp="1"/>
          </p:cNvSpPr>
          <p:nvPr/>
        </p:nvSpPr>
        <p:spPr>
          <a:xfrm xmlns:a="http://schemas.openxmlformats.org/drawingml/2006/main">
            <a:off x="8335061" y="2377440"/>
            <a:ext cx="29788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00" i="1">
                <a:solidFill>
                  <a:srgbClr val="1F8A99"/>
                </a:solidFill>
                <a:latin typeface="Calibri"/>
                <a:ea typeface="Calibri"/>
                <a:cs typeface="Calibri"/>
              </a:rPr>
              <a:t>Six workflow shapes, eight conditions, real SDK runtime</a:t>
            </a:r>
          </a:p>
        </p:txBody>
      </p:sp>
      <p:sp>
        <p:nvSpPr>
          <p:cNvPr id="23" name="Text 21">
            <a:extLst xmlns:a="http://schemas.openxmlformats.org/drawingml/2006/main">
              <a:ext uri="{FF2B5EF4-FFF2-40B4-BE49-F238E27FC236}">
                <a16:creationId xmlns:a16="http://schemas.microsoft.com/office/drawing/2014/main" id="{B3BF3912-FEF7-436A-9324-84788DCBD97A}"/>
              </a:ext>
            </a:extLst>
          </p:cNvPr>
          <p:cNvSpPr>
            <a:spLocks xmlns:a="http://schemas.openxmlformats.org/drawingml/2006/main" noGrp="1"/>
          </p:cNvSpPr>
          <p:nvPr/>
        </p:nvSpPr>
        <p:spPr>
          <a:xfrm xmlns:a="http://schemas.openxmlformats.org/drawingml/2006/main">
            <a:off x="8353349" y="2889504"/>
            <a:ext cx="29422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Covers observation-dependent branches, pagination, a mandatory irreversible write, a handoff barrier, an undeclared-effect MCP surface</a:t>
            </a:r>
          </a:p>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Three conditions are negative controls whose only correct outcome is no compaction</a:t>
            </a:r>
          </a:p>
          <a:p xmlns:a="http://schemas.openxmlformats.org/drawingml/2006/main">
            <a:pPr marL="342900" indent="-342900">
              <a:lnSpc>
                <a:spcPct val="105000"/>
              </a:lnSpc>
              <a:spcAft>
                <a:spcPts val="500"/>
              </a:spcAft>
              <a:buChar char="•"/>
            </a:pPr>
            <a:r>
              <a:rPr sz="1000">
                <a:solidFill>
                  <a:srgbClr val="24354F"/>
                </a:solidFill>
                <a:latin typeface="Calibri"/>
                <a:ea typeface="Calibri"/>
                <a:cs typeface="Calibri"/>
              </a:rPr>
              <a:t>Business records are fictional — no real-world data claim</a:t>
            </a:r>
          </a:p>
        </p:txBody>
      </p:sp>
      <p:sp>
        <p:nvSpPr>
          <p:cNvPr id="24" name="Text 22">
            <a:extLst xmlns:a="http://schemas.openxmlformats.org/drawingml/2006/main">
              <a:ext uri="{FF2B5EF4-FFF2-40B4-BE49-F238E27FC236}">
                <a16:creationId xmlns:a16="http://schemas.microsoft.com/office/drawing/2014/main" id="{AD642A2B-3837-404B-A55C-0BB0779F9BC5}"/>
              </a:ext>
            </a:extLst>
          </p:cNvPr>
          <p:cNvSpPr>
            <a:spLocks xmlns:a="http://schemas.openxmlformats.org/drawingml/2006/main" noGrp="1"/>
          </p:cNvSpPr>
          <p:nvPr/>
        </p:nvSpPr>
        <p:spPr>
          <a:xfrm xmlns:a="http://schemas.openxmlformats.org/drawingml/2006/main">
            <a:off x="640080" y="4553712"/>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HYPOTHESES, FIXED INTERNALLY BEFORE THE SEALED TEST WAS SCORED — NOT EXTERNALLY PREREGISTERED</a:t>
            </a:r>
          </a:p>
        </p:txBody>
      </p:sp>
      <p:sp>
        <p:nvSpPr>
          <p:cNvPr id="25" name="Shape 23">
            <a:extLst xmlns:a="http://schemas.openxmlformats.org/drawingml/2006/main">
              <a:ext uri="{FF2B5EF4-FFF2-40B4-BE49-F238E27FC236}">
                <a16:creationId xmlns:a16="http://schemas.microsoft.com/office/drawing/2014/main" id="{8A18DE42-C71F-4641-86CF-B2ABB9D2A955}"/>
              </a:ext>
            </a:extLst>
          </p:cNvPr>
          <p:cNvSpPr>
            <a:spLocks xmlns:a="http://schemas.openxmlformats.org/drawingml/2006/main" noGrp="1"/>
          </p:cNvSpPr>
          <p:nvPr/>
        </p:nvSpPr>
        <p:spPr>
          <a:xfrm xmlns:a="http://schemas.openxmlformats.org/drawingml/2006/main">
            <a:off x="640080" y="4846320"/>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6" name="Text 24">
            <a:extLst xmlns:a="http://schemas.openxmlformats.org/drawingml/2006/main">
              <a:ext uri="{FF2B5EF4-FFF2-40B4-BE49-F238E27FC236}">
                <a16:creationId xmlns:a16="http://schemas.microsoft.com/office/drawing/2014/main" id="{0BFA5797-C084-48A7-B63C-D13B19705494}"/>
              </a:ext>
            </a:extLst>
          </p:cNvPr>
          <p:cNvSpPr>
            <a:spLocks xmlns:a="http://schemas.openxmlformats.org/drawingml/2006/main" noGrp="1"/>
          </p:cNvSpPr>
          <p:nvPr/>
        </p:nvSpPr>
        <p:spPr>
          <a:xfrm xmlns:a="http://schemas.openxmlformats.org/drawingml/2006/main">
            <a:off x="640080" y="4846320"/>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H1</a:t>
            </a:r>
          </a:p>
        </p:txBody>
      </p:sp>
      <p:sp>
        <p:nvSpPr>
          <p:cNvPr id="27" name="Text 25">
            <a:extLst xmlns:a="http://schemas.openxmlformats.org/drawingml/2006/main">
              <a:ext uri="{FF2B5EF4-FFF2-40B4-BE49-F238E27FC236}">
                <a16:creationId xmlns:a16="http://schemas.microsoft.com/office/drawing/2014/main" id="{72B02E0A-74C5-409E-B0D5-AF3FD488C1A7}"/>
              </a:ext>
            </a:extLst>
          </p:cNvPr>
          <p:cNvSpPr>
            <a:spLocks xmlns:a="http://schemas.openxmlformats.org/drawingml/2006/main" noGrp="1"/>
          </p:cNvSpPr>
          <p:nvPr/>
        </p:nvSpPr>
        <p:spPr>
          <a:xfrm xmlns:a="http://schemas.openxmlformats.org/drawingml/2006/main">
            <a:off x="1097280" y="4809744"/>
            <a:ext cx="303367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24354F"/>
                </a:solidFill>
                <a:latin typeface="Calibri"/>
                <a:ea typeface="Calibri"/>
                <a:cs typeface="Calibri"/>
              </a:rPr>
              <a:t>provenance places the expected producer for &gt; 90% of executable nested slots</a:t>
            </a:r>
          </a:p>
        </p:txBody>
      </p:sp>
      <p:sp>
        <p:nvSpPr>
          <p:cNvPr id="28" name="Shape 26">
            <a:extLst xmlns:a="http://schemas.openxmlformats.org/drawingml/2006/main">
              <a:ext uri="{FF2B5EF4-FFF2-40B4-BE49-F238E27FC236}">
                <a16:creationId xmlns:a16="http://schemas.microsoft.com/office/drawing/2014/main" id="{84EF8C1A-3B96-4375-8463-40E32A008789}"/>
              </a:ext>
            </a:extLst>
          </p:cNvPr>
          <p:cNvSpPr>
            <a:spLocks xmlns:a="http://schemas.openxmlformats.org/drawingml/2006/main" noGrp="1"/>
          </p:cNvSpPr>
          <p:nvPr/>
        </p:nvSpPr>
        <p:spPr>
          <a:xfrm xmlns:a="http://schemas.openxmlformats.org/drawingml/2006/main">
            <a:off x="4350410" y="4846320"/>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9" name="Text 27">
            <a:extLst xmlns:a="http://schemas.openxmlformats.org/drawingml/2006/main">
              <a:ext uri="{FF2B5EF4-FFF2-40B4-BE49-F238E27FC236}">
                <a16:creationId xmlns:a16="http://schemas.microsoft.com/office/drawing/2014/main" id="{46D71D8F-4088-4CD1-9431-7BC756DEB40C}"/>
              </a:ext>
            </a:extLst>
          </p:cNvPr>
          <p:cNvSpPr>
            <a:spLocks xmlns:a="http://schemas.openxmlformats.org/drawingml/2006/main" noGrp="1"/>
          </p:cNvSpPr>
          <p:nvPr/>
        </p:nvSpPr>
        <p:spPr>
          <a:xfrm xmlns:a="http://schemas.openxmlformats.org/drawingml/2006/main">
            <a:off x="4350410" y="4846320"/>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H2</a:t>
            </a:r>
          </a:p>
        </p:txBody>
      </p:sp>
      <p:sp>
        <p:nvSpPr>
          <p:cNvPr id="30" name="Text 28">
            <a:extLst xmlns:a="http://schemas.openxmlformats.org/drawingml/2006/main">
              <a:ext uri="{FF2B5EF4-FFF2-40B4-BE49-F238E27FC236}">
                <a16:creationId xmlns:a16="http://schemas.microsoft.com/office/drawing/2014/main" id="{5BDA185C-01F7-4FCF-AD07-79C7E84A62D8}"/>
              </a:ext>
            </a:extLst>
          </p:cNvPr>
          <p:cNvSpPr>
            <a:spLocks xmlns:a="http://schemas.openxmlformats.org/drawingml/2006/main" noGrp="1"/>
          </p:cNvSpPr>
          <p:nvPr/>
        </p:nvSpPr>
        <p:spPr>
          <a:xfrm xmlns:a="http://schemas.openxmlformats.org/drawingml/2006/main">
            <a:off x="4807610" y="4809744"/>
            <a:ext cx="303367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24354F"/>
                </a:solidFill>
                <a:latin typeface="Calibri"/>
                <a:ea typeface="Calibri"/>
                <a:cs typeface="Calibri"/>
              </a:rPr>
              <a:t>the compiled prefix reduces provider requests and total tokens</a:t>
            </a:r>
          </a:p>
        </p:txBody>
      </p:sp>
      <p:sp>
        <p:nvSpPr>
          <p:cNvPr id="31" name="Shape 29">
            <a:extLst xmlns:a="http://schemas.openxmlformats.org/drawingml/2006/main">
              <a:ext uri="{FF2B5EF4-FFF2-40B4-BE49-F238E27FC236}">
                <a16:creationId xmlns:a16="http://schemas.microsoft.com/office/drawing/2014/main" id="{81C76F6A-F731-4E5F-8815-156D7EAC9B8A}"/>
              </a:ext>
            </a:extLst>
          </p:cNvPr>
          <p:cNvSpPr>
            <a:spLocks xmlns:a="http://schemas.openxmlformats.org/drawingml/2006/main" noGrp="1"/>
          </p:cNvSpPr>
          <p:nvPr/>
        </p:nvSpPr>
        <p:spPr>
          <a:xfrm xmlns:a="http://schemas.openxmlformats.org/drawingml/2006/main">
            <a:off x="8060741" y="4846320"/>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D0B9EE86-4786-4B3F-AC86-1A0438392897}"/>
              </a:ext>
            </a:extLst>
          </p:cNvPr>
          <p:cNvSpPr>
            <a:spLocks xmlns:a="http://schemas.openxmlformats.org/drawingml/2006/main" noGrp="1"/>
          </p:cNvSpPr>
          <p:nvPr/>
        </p:nvSpPr>
        <p:spPr>
          <a:xfrm xmlns:a="http://schemas.openxmlformats.org/drawingml/2006/main">
            <a:off x="8060741" y="4846320"/>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H3</a:t>
            </a:r>
          </a:p>
        </p:txBody>
      </p:sp>
      <p:sp>
        <p:nvSpPr>
          <p:cNvPr id="33" name="Text 31">
            <a:extLst xmlns:a="http://schemas.openxmlformats.org/drawingml/2006/main">
              <a:ext uri="{FF2B5EF4-FFF2-40B4-BE49-F238E27FC236}">
                <a16:creationId xmlns:a16="http://schemas.microsoft.com/office/drawing/2014/main" id="{FE02B20B-59D0-4EA9-9E3A-4C7D54C82D8C}"/>
              </a:ext>
            </a:extLst>
          </p:cNvPr>
          <p:cNvSpPr>
            <a:spLocks xmlns:a="http://schemas.openxmlformats.org/drawingml/2006/main" noGrp="1"/>
          </p:cNvSpPr>
          <p:nvPr/>
        </p:nvSpPr>
        <p:spPr>
          <a:xfrm xmlns:a="http://schemas.openxmlformats.org/drawingml/2006/main">
            <a:off x="8517941" y="4809744"/>
            <a:ext cx="303367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24354F"/>
                </a:solidFill>
                <a:latin typeface="Calibri"/>
                <a:ea typeface="Calibri"/>
                <a:cs typeface="Calibri"/>
              </a:rPr>
              <a:t>no observed quality loss on the sealed task</a:t>
            </a:r>
          </a:p>
        </p:txBody>
      </p:sp>
      <p:sp>
        <p:nvSpPr>
          <p:cNvPr id="34" name="Shape 32">
            <a:extLst xmlns:a="http://schemas.openxmlformats.org/drawingml/2006/main">
              <a:ext uri="{FF2B5EF4-FFF2-40B4-BE49-F238E27FC236}">
                <a16:creationId xmlns:a16="http://schemas.microsoft.com/office/drawing/2014/main" id="{6DAC8501-F6F5-496E-90B4-D7DC48700D7E}"/>
              </a:ext>
            </a:extLst>
          </p:cNvPr>
          <p:cNvSpPr>
            <a:spLocks xmlns:a="http://schemas.openxmlformats.org/drawingml/2006/main" noGrp="1"/>
          </p:cNvSpPr>
          <p:nvPr/>
        </p:nvSpPr>
        <p:spPr>
          <a:xfrm xmlns:a="http://schemas.openxmlformats.org/drawingml/2006/main">
            <a:off x="640080" y="5449824"/>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5" name="Text 33">
            <a:extLst xmlns:a="http://schemas.openxmlformats.org/drawingml/2006/main">
              <a:ext uri="{FF2B5EF4-FFF2-40B4-BE49-F238E27FC236}">
                <a16:creationId xmlns:a16="http://schemas.microsoft.com/office/drawing/2014/main" id="{FD6002D7-0783-46F7-BA30-12F1D491CB75}"/>
              </a:ext>
            </a:extLst>
          </p:cNvPr>
          <p:cNvSpPr>
            <a:spLocks xmlns:a="http://schemas.openxmlformats.org/drawingml/2006/main" noGrp="1"/>
          </p:cNvSpPr>
          <p:nvPr/>
        </p:nvSpPr>
        <p:spPr>
          <a:xfrm xmlns:a="http://schemas.openxmlformats.org/drawingml/2006/main">
            <a:off x="640080" y="544982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H4</a:t>
            </a:r>
          </a:p>
        </p:txBody>
      </p:sp>
      <p:sp>
        <p:nvSpPr>
          <p:cNvPr id="36" name="Text 34">
            <a:extLst xmlns:a="http://schemas.openxmlformats.org/drawingml/2006/main">
              <a:ext uri="{FF2B5EF4-FFF2-40B4-BE49-F238E27FC236}">
                <a16:creationId xmlns:a16="http://schemas.microsoft.com/office/drawing/2014/main" id="{E03CDB11-4D8D-4AAB-B13D-54FF173F10F6}"/>
              </a:ext>
            </a:extLst>
          </p:cNvPr>
          <p:cNvSpPr>
            <a:spLocks xmlns:a="http://schemas.openxmlformats.org/drawingml/2006/main" noGrp="1"/>
          </p:cNvSpPr>
          <p:nvPr/>
        </p:nvSpPr>
        <p:spPr>
          <a:xfrm xmlns:a="http://schemas.openxmlformats.org/drawingml/2006/main">
            <a:off x="1097280" y="5413248"/>
            <a:ext cx="303367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24354F"/>
                </a:solidFill>
                <a:latin typeface="Calibri"/>
                <a:ea typeface="Calibri"/>
                <a:cs typeface="Calibri"/>
              </a:rPr>
              <a:t>families below the exact-gate sample requirement retire</a:t>
            </a:r>
          </a:p>
        </p:txBody>
      </p:sp>
      <p:sp>
        <p:nvSpPr>
          <p:cNvPr id="37" name="Shape 35">
            <a:extLst xmlns:a="http://schemas.openxmlformats.org/drawingml/2006/main">
              <a:ext uri="{FF2B5EF4-FFF2-40B4-BE49-F238E27FC236}">
                <a16:creationId xmlns:a16="http://schemas.microsoft.com/office/drawing/2014/main" id="{0D3DC74A-2A84-4B6B-85CA-A64395343BF2}"/>
              </a:ext>
            </a:extLst>
          </p:cNvPr>
          <p:cNvSpPr>
            <a:spLocks xmlns:a="http://schemas.openxmlformats.org/drawingml/2006/main" noGrp="1"/>
          </p:cNvSpPr>
          <p:nvPr/>
        </p:nvSpPr>
        <p:spPr>
          <a:xfrm xmlns:a="http://schemas.openxmlformats.org/drawingml/2006/main">
            <a:off x="4350410" y="5449824"/>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8" name="Text 36">
            <a:extLst xmlns:a="http://schemas.openxmlformats.org/drawingml/2006/main">
              <a:ext uri="{FF2B5EF4-FFF2-40B4-BE49-F238E27FC236}">
                <a16:creationId xmlns:a16="http://schemas.microsoft.com/office/drawing/2014/main" id="{5D952E04-214C-410A-B537-71E9719FA5FA}"/>
              </a:ext>
            </a:extLst>
          </p:cNvPr>
          <p:cNvSpPr>
            <a:spLocks xmlns:a="http://schemas.openxmlformats.org/drawingml/2006/main" noGrp="1"/>
          </p:cNvSpPr>
          <p:nvPr/>
        </p:nvSpPr>
        <p:spPr>
          <a:xfrm xmlns:a="http://schemas.openxmlformats.org/drawingml/2006/main">
            <a:off x="4350410" y="544982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H5</a:t>
            </a:r>
          </a:p>
        </p:txBody>
      </p:sp>
      <p:sp>
        <p:nvSpPr>
          <p:cNvPr id="39" name="Text 37">
            <a:extLst xmlns:a="http://schemas.openxmlformats.org/drawingml/2006/main">
              <a:ext uri="{FF2B5EF4-FFF2-40B4-BE49-F238E27FC236}">
                <a16:creationId xmlns:a16="http://schemas.microsoft.com/office/drawing/2014/main" id="{3D0577AA-30DF-4DE0-AFC5-A163577CCE6B}"/>
              </a:ext>
            </a:extLst>
          </p:cNvPr>
          <p:cNvSpPr>
            <a:spLocks xmlns:a="http://schemas.openxmlformats.org/drawingml/2006/main" noGrp="1"/>
          </p:cNvSpPr>
          <p:nvPr/>
        </p:nvSpPr>
        <p:spPr>
          <a:xfrm xmlns:a="http://schemas.openxmlformats.org/drawingml/2006/main">
            <a:off x="4807610" y="5413248"/>
            <a:ext cx="303367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24354F"/>
                </a:solidFill>
                <a:latin typeface="Calibri"/>
                <a:ea typeface="Calibri"/>
                <a:cs typeface="Calibri"/>
              </a:rPr>
              <a:t>a condition that must refuse reproduces the baseline model-call count and quality</a:t>
            </a:r>
          </a:p>
        </p:txBody>
      </p:sp>
      <p:sp>
        <p:nvSpPr>
          <p:cNvPr id="40" name="Shape 38">
            <a:extLst xmlns:a="http://schemas.openxmlformats.org/drawingml/2006/main">
              <a:ext uri="{FF2B5EF4-FFF2-40B4-BE49-F238E27FC236}">
                <a16:creationId xmlns:a16="http://schemas.microsoft.com/office/drawing/2014/main" id="{9533C424-DA28-4DD4-9107-D5A6B2ED64E5}"/>
              </a:ext>
            </a:extLst>
          </p:cNvPr>
          <p:cNvSpPr>
            <a:spLocks xmlns:a="http://schemas.openxmlformats.org/drawingml/2006/main" noGrp="1"/>
          </p:cNvSpPr>
          <p:nvPr/>
        </p:nvSpPr>
        <p:spPr>
          <a:xfrm xmlns:a="http://schemas.openxmlformats.org/drawingml/2006/main">
            <a:off x="8060741" y="5449824"/>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D7710CC6-7F2B-4F2F-8192-A6DE264F5699}"/>
              </a:ext>
            </a:extLst>
          </p:cNvPr>
          <p:cNvSpPr>
            <a:spLocks xmlns:a="http://schemas.openxmlformats.org/drawingml/2006/main" noGrp="1"/>
          </p:cNvSpPr>
          <p:nvPr/>
        </p:nvSpPr>
        <p:spPr>
          <a:xfrm xmlns:a="http://schemas.openxmlformats.org/drawingml/2006/main">
            <a:off x="8060741" y="544982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H6</a:t>
            </a:r>
          </a:p>
        </p:txBody>
      </p:sp>
      <p:sp>
        <p:nvSpPr>
          <p:cNvPr id="42" name="Text 40">
            <a:extLst xmlns:a="http://schemas.openxmlformats.org/drawingml/2006/main">
              <a:ext uri="{FF2B5EF4-FFF2-40B4-BE49-F238E27FC236}">
                <a16:creationId xmlns:a16="http://schemas.microsoft.com/office/drawing/2014/main" id="{9C62E1EF-829D-4457-AFD7-BF99932F4A70}"/>
              </a:ext>
            </a:extLst>
          </p:cNvPr>
          <p:cNvSpPr>
            <a:spLocks xmlns:a="http://schemas.openxmlformats.org/drawingml/2006/main" noGrp="1"/>
          </p:cNvSpPr>
          <p:nvPr/>
        </p:nvSpPr>
        <p:spPr>
          <a:xfrm xmlns:a="http://schemas.openxmlformats.org/drawingml/2006/main">
            <a:off x="8517941" y="5413248"/>
            <a:ext cx="303367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4000"/>
              </a:lnSpc>
              <a:buNone/>
            </a:pPr>
            <a:r>
              <a:rPr sz="1000">
                <a:solidFill>
                  <a:srgbClr val="24354F"/>
                </a:solidFill>
                <a:latin typeface="Calibri"/>
                <a:ea typeface="Calibri"/>
                <a:cs typeface="Calibri"/>
              </a:rPr>
              <a:t>the frozen selector's chosen action passes all fresh task contracts and reduces the weighted objective</a:t>
            </a:r>
          </a:p>
        </p:txBody>
      </p:sp>
      <p:sp>
        <p:nvSpPr>
          <p:cNvPr id="43" name="Text 41">
            <a:extLst xmlns:a="http://schemas.openxmlformats.org/drawingml/2006/main">
              <a:ext uri="{FF2B5EF4-FFF2-40B4-BE49-F238E27FC236}">
                <a16:creationId xmlns:a16="http://schemas.microsoft.com/office/drawing/2014/main" id="{E6E24064-6349-4B2F-A5CA-06803132EC4A}"/>
              </a:ext>
            </a:extLst>
          </p:cNvPr>
          <p:cNvSpPr>
            <a:spLocks xmlns:a="http://schemas.openxmlformats.org/drawingml/2006/main" noGrp="1"/>
          </p:cNvSpPr>
          <p:nvPr/>
        </p:nvSpPr>
        <p:spPr>
          <a:xfrm xmlns:a="http://schemas.openxmlformats.org/drawingml/2006/main">
            <a:off x="640080" y="5998464"/>
            <a:ext cx="1091153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i="1">
                <a:solidFill>
                  <a:srgbClr val="5A6B84"/>
                </a:solidFill>
                <a:latin typeface="Calibri"/>
                <a:ea typeface="Calibri"/>
                <a:cs typeface="Calibri"/>
              </a:rPr>
              <a:t>H5 is deliberately not stated in dollars: refusing conditions cost more than baseline for prompt-cache reasons unrelated to whether the refusal was correct. H3 is an observed-sample hypothesis, not a population equivalence claim.</a:t>
            </a:r>
          </a:p>
        </p:txBody>
      </p:sp>
    </p:spTree>
    <p:extLst>
      <p:ext uri="{BB962C8B-B14F-4D97-AF65-F5344CB8AC3E}">
        <p14:creationId xmlns:p14="http://schemas.microsoft.com/office/powerpoint/2010/main" val="14346833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EBA2E1-BB91-4003-820B-0C34DAE3D39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7FF269B8-61D4-444E-8770-8FB2116A41D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17</a:t>
            </a:r>
          </a:p>
        </p:txBody>
      </p:sp>
      <p:sp>
        <p:nvSpPr>
          <p:cNvPr id="4" name="Text 2">
            <a:extLst xmlns:a="http://schemas.openxmlformats.org/drawingml/2006/main">
              <a:ext uri="{FF2B5EF4-FFF2-40B4-BE49-F238E27FC236}">
                <a16:creationId xmlns:a16="http://schemas.microsoft.com/office/drawing/2014/main" id="{DD9647F6-8A4D-402C-AFE3-CC33425769BF}"/>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RQ1 AND RQ3  ·  §5.1</a:t>
            </a:r>
          </a:p>
        </p:txBody>
      </p:sp>
      <p:sp>
        <p:nvSpPr>
          <p:cNvPr id="5" name="Text 3">
            <a:extLst xmlns:a="http://schemas.openxmlformats.org/drawingml/2006/main">
              <a:ext uri="{FF2B5EF4-FFF2-40B4-BE49-F238E27FC236}">
                <a16:creationId xmlns:a16="http://schemas.microsoft.com/office/drawing/2014/main" id="{C7D2A2CA-671C-41FF-8FA3-E84D38574C82}"/>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Provenance succeeds more often than certification</a:t>
            </a:r>
          </a:p>
        </p:txBody>
      </p:sp>
      <p:sp>
        <p:nvSpPr>
          <p:cNvPr id="6" name="Text 4">
            <a:extLst xmlns:a="http://schemas.openxmlformats.org/drawingml/2006/main">
              <a:ext uri="{FF2B5EF4-FFF2-40B4-BE49-F238E27FC236}">
                <a16:creationId xmlns:a16="http://schemas.microsoft.com/office/drawing/2014/main" id="{E16C6543-5E90-4472-A172-57076FAA754D}"/>
              </a:ext>
            </a:extLst>
          </p:cNvPr>
          <p:cNvSpPr>
            <a:spLocks xmlns:a="http://schemas.openxmlformats.org/drawingml/2006/main" noGrp="1"/>
          </p:cNvSpPr>
          <p:nvPr/>
        </p:nvSpPr>
        <p:spPr>
          <a:xfrm xmlns:a="http://schemas.openxmlformats.org/drawingml/2006/main">
            <a:off x="640080" y="1188720"/>
            <a:ext cx="566928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Recurrence is fragmented: 714 candidate families exist, only 32 have support of at least five, and maximum support is 26.</a:t>
            </a:r>
          </a:p>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Of 32 attempted families, 12 synthesize. Their 36 held-out windows yield 24 passes, 12 abstentions, and zero wrong executions. Dominant synthesis failures are unsupported loop predicates and slots that fail grouped refitting.</a:t>
            </a:r>
          </a:p>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Zero wrong does not certify the programs. The exact gate requires 92 zero-violation groups, so every family retires — H4 supported.</a:t>
            </a:r>
          </a:p>
        </p:txBody>
      </p:sp>
      <p:sp>
        <p:nvSpPr>
          <p:cNvPr id="7" name="Shape 5">
            <a:extLst xmlns:a="http://schemas.openxmlformats.org/drawingml/2006/main">
              <a:ext uri="{FF2B5EF4-FFF2-40B4-BE49-F238E27FC236}">
                <a16:creationId xmlns:a16="http://schemas.microsoft.com/office/drawing/2014/main" id="{FE000C01-BE96-4CCB-B91F-E8EB421E580A}"/>
              </a:ext>
            </a:extLst>
          </p:cNvPr>
          <p:cNvSpPr>
            <a:spLocks xmlns:a="http://schemas.openxmlformats.org/drawingml/2006/main" noGrp="1"/>
          </p:cNvSpPr>
          <p:nvPr/>
        </p:nvSpPr>
        <p:spPr>
          <a:xfrm xmlns:a="http://schemas.openxmlformats.org/drawingml/2006/main">
            <a:off x="640080" y="3419856"/>
            <a:ext cx="5669280" cy="1188720"/>
          </a:xfrm>
          <a:prstGeom xmlns:a="http://schemas.openxmlformats.org/drawingml/2006/main" prst="roundRect">
            <a:avLst>
              <a:gd name="adj" fmla="val 384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960028B-5273-4EE3-9745-879B8EB9FB03}"/>
              </a:ext>
            </a:extLst>
          </p:cNvPr>
          <p:cNvSpPr>
            <a:spLocks xmlns:a="http://schemas.openxmlformats.org/drawingml/2006/main" noGrp="1"/>
          </p:cNvSpPr>
          <p:nvPr/>
        </p:nvSpPr>
        <p:spPr>
          <a:xfrm xmlns:a="http://schemas.openxmlformats.org/drawingml/2006/main">
            <a:off x="896112" y="3547872"/>
            <a:ext cx="5157216"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100" b="1">
                <a:solidFill>
                  <a:srgbClr val="A93B2B"/>
                </a:solidFill>
                <a:latin typeface="Calibri"/>
                <a:ea typeface="Calibri"/>
                <a:cs typeface="Calibri"/>
              </a:rPr>
              <a:t>A scientifically useful negative result. </a:t>
            </a:r>
            <a:r>
              <a:rPr sz="1100">
                <a:solidFill>
                  <a:srgbClr val="5C4034"/>
                </a:solidFill>
                <a:latin typeface="Calibri"/>
                <a:ea typeface="Calibri"/>
                <a:cs typeface="Calibri"/>
              </a:rPr>
              <a:t>A system that emitted all 32 recurrent families would look more productive, yet none has the required support. Refusal exposes the data requirement rather than moving it into an undocumented heuristic — and it is what distinguishes a guarded compiler from a recurrence-only macro miner.</a:t>
            </a:r>
          </a:p>
        </p:txBody>
      </p:sp>
      <p:graphicFrame>
        <p:nvGraphicFramePr>
          <p:cNvPr id="9" name="Chart 0"/>
          <p:cNvGraphicFramePr/>
          <p:nvPr/>
        </p:nvGraphicFramePr>
        <p:xfrm>
          <a:off xmlns:a="http://schemas.openxmlformats.org/drawingml/2006/main" x="6675120" y="1152144"/>
          <a:ext xmlns:a="http://schemas.openxmlformats.org/drawingml/2006/main" cx="4873752" cy="3456432"/>
        </p:xfrm>
        <a:graphic xmlns:a="http://schemas.openxmlformats.org/drawingml/2006/main">
          <a:graphicData uri="http://schemas.openxmlformats.org/drawingml/2006/chart">
            <c:chart xmlns:r="http://schemas.openxmlformats.org/officeDocument/2006/relationships" xmlns:c="http://schemas.openxmlformats.org/drawingml/2006/chart" r:id="R5236a7dd85af42e1"/>
          </a:graphicData>
        </a:graphic>
      </p:graphicFrame>
      <p:sp>
        <p:nvSpPr>
          <p:cNvPr id="10" name="Text 7">
            <a:extLst xmlns:a="http://schemas.openxmlformats.org/drawingml/2006/main">
              <a:ext uri="{FF2B5EF4-FFF2-40B4-BE49-F238E27FC236}">
                <a16:creationId xmlns:a16="http://schemas.microsoft.com/office/drawing/2014/main" id="{B32FD0FE-2125-4ED0-9B7E-ED068DA6B4D2}"/>
              </a:ext>
            </a:extLst>
          </p:cNvPr>
          <p:cNvSpPr>
            <a:spLocks xmlns:a="http://schemas.openxmlformats.org/drawingml/2006/main" noGrp="1"/>
          </p:cNvSpPr>
          <p:nvPr/>
        </p:nvSpPr>
        <p:spPr>
          <a:xfrm xmlns:a="http://schemas.openxmlformats.org/drawingml/2006/main">
            <a:off x="640080" y="475488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TABLE 1 — EXTERNAL NESTFUL COMPILER RESULTS</a:t>
            </a:r>
          </a:p>
        </p:txBody>
      </p:sp>
      <p:sp>
        <p:nvSpPr>
          <p:cNvPr id="11" name="Shape 8">
            <a:extLst xmlns:a="http://schemas.openxmlformats.org/drawingml/2006/main">
              <a:ext uri="{FF2B5EF4-FFF2-40B4-BE49-F238E27FC236}">
                <a16:creationId xmlns:a16="http://schemas.microsoft.com/office/drawing/2014/main" id="{F9403A64-0ADC-4E4E-8704-8B74DF0520AB}"/>
              </a:ext>
            </a:extLst>
          </p:cNvPr>
          <p:cNvSpPr>
            <a:spLocks xmlns:a="http://schemas.openxmlformats.org/drawingml/2006/main" noGrp="1"/>
          </p:cNvSpPr>
          <p:nvPr/>
        </p:nvSpPr>
        <p:spPr>
          <a:xfrm xmlns:a="http://schemas.openxmlformats.org/drawingml/2006/main">
            <a:off x="640080"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0C727518-CBCB-4DC4-B3EF-F01FD432A538}"/>
              </a:ext>
            </a:extLst>
          </p:cNvPr>
          <p:cNvSpPr>
            <a:spLocks xmlns:a="http://schemas.openxmlformats.org/drawingml/2006/main" noGrp="1"/>
          </p:cNvSpPr>
          <p:nvPr/>
        </p:nvSpPr>
        <p:spPr>
          <a:xfrm xmlns:a="http://schemas.openxmlformats.org/drawingml/2006/main">
            <a:off x="749808"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1,415</a:t>
            </a:r>
          </a:p>
        </p:txBody>
      </p:sp>
      <p:sp>
        <p:nvSpPr>
          <p:cNvPr id="13" name="Text 10">
            <a:extLst xmlns:a="http://schemas.openxmlformats.org/drawingml/2006/main">
              <a:ext uri="{FF2B5EF4-FFF2-40B4-BE49-F238E27FC236}">
                <a16:creationId xmlns:a16="http://schemas.microsoft.com/office/drawing/2014/main" id="{01DCBF64-683E-4537-9298-8BE86026B58F}"/>
              </a:ext>
            </a:extLst>
          </p:cNvPr>
          <p:cNvSpPr>
            <a:spLocks xmlns:a="http://schemas.openxmlformats.org/drawingml/2006/main" noGrp="1"/>
          </p:cNvSpPr>
          <p:nvPr/>
        </p:nvSpPr>
        <p:spPr>
          <a:xfrm xmlns:a="http://schemas.openxmlformats.org/drawingml/2006/main">
            <a:off x="749808"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executable basic-function episodes</a:t>
            </a:r>
          </a:p>
        </p:txBody>
      </p:sp>
      <p:sp>
        <p:nvSpPr>
          <p:cNvPr id="14" name="Shape 11">
            <a:extLst xmlns:a="http://schemas.openxmlformats.org/drawingml/2006/main">
              <a:ext uri="{FF2B5EF4-FFF2-40B4-BE49-F238E27FC236}">
                <a16:creationId xmlns:a16="http://schemas.microsoft.com/office/drawing/2014/main" id="{AB9AC33C-CF17-448C-9CB7-D3A1B7B973D0}"/>
              </a:ext>
            </a:extLst>
          </p:cNvPr>
          <p:cNvSpPr>
            <a:spLocks xmlns:a="http://schemas.openxmlformats.org/drawingml/2006/main" noGrp="1"/>
          </p:cNvSpPr>
          <p:nvPr/>
        </p:nvSpPr>
        <p:spPr>
          <a:xfrm xmlns:a="http://schemas.openxmlformats.org/drawingml/2006/main">
            <a:off x="2219771"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342C8B2-A934-4C5B-A7D6-AEDB0EFC3011}"/>
              </a:ext>
            </a:extLst>
          </p:cNvPr>
          <p:cNvSpPr>
            <a:spLocks xmlns:a="http://schemas.openxmlformats.org/drawingml/2006/main" noGrp="1"/>
          </p:cNvSpPr>
          <p:nvPr/>
        </p:nvSpPr>
        <p:spPr>
          <a:xfrm xmlns:a="http://schemas.openxmlformats.org/drawingml/2006/main">
            <a:off x="2329499"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96.3% / 80.7%</a:t>
            </a:r>
          </a:p>
        </p:txBody>
      </p:sp>
      <p:sp>
        <p:nvSpPr>
          <p:cNvPr id="16" name="Text 13">
            <a:extLst xmlns:a="http://schemas.openxmlformats.org/drawingml/2006/main">
              <a:ext uri="{FF2B5EF4-FFF2-40B4-BE49-F238E27FC236}">
                <a16:creationId xmlns:a16="http://schemas.microsoft.com/office/drawing/2014/main" id="{03E2E680-43BB-4634-9245-78C2D0325DC6}"/>
              </a:ext>
            </a:extLst>
          </p:cNvPr>
          <p:cNvSpPr>
            <a:spLocks xmlns:a="http://schemas.openxmlformats.org/drawingml/2006/main" noGrp="1"/>
          </p:cNvSpPr>
          <p:nvPr/>
        </p:nvSpPr>
        <p:spPr>
          <a:xfrm xmlns:a="http://schemas.openxmlformats.org/drawingml/2006/main">
            <a:off x="2329499"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recall / unique resolution</a:t>
            </a:r>
          </a:p>
        </p:txBody>
      </p:sp>
      <p:sp>
        <p:nvSpPr>
          <p:cNvPr id="17" name="Shape 14">
            <a:extLst xmlns:a="http://schemas.openxmlformats.org/drawingml/2006/main">
              <a:ext uri="{FF2B5EF4-FFF2-40B4-BE49-F238E27FC236}">
                <a16:creationId xmlns:a16="http://schemas.microsoft.com/office/drawing/2014/main" id="{F9E0605E-8B4A-4CC8-9BC1-523BB8C5EA3E}"/>
              </a:ext>
            </a:extLst>
          </p:cNvPr>
          <p:cNvSpPr>
            <a:spLocks xmlns:a="http://schemas.openxmlformats.org/drawingml/2006/main" noGrp="1"/>
          </p:cNvSpPr>
          <p:nvPr/>
        </p:nvSpPr>
        <p:spPr>
          <a:xfrm xmlns:a="http://schemas.openxmlformats.org/drawingml/2006/main">
            <a:off x="3799463"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AB0568A1-373A-414C-9970-2BD5A0ED4AF8}"/>
              </a:ext>
            </a:extLst>
          </p:cNvPr>
          <p:cNvSpPr>
            <a:spLocks xmlns:a="http://schemas.openxmlformats.org/drawingml/2006/main" noGrp="1"/>
          </p:cNvSpPr>
          <p:nvPr/>
        </p:nvSpPr>
        <p:spPr>
          <a:xfrm xmlns:a="http://schemas.openxmlformats.org/drawingml/2006/main">
            <a:off x="3909191"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1,207</a:t>
            </a:r>
          </a:p>
        </p:txBody>
      </p:sp>
      <p:sp>
        <p:nvSpPr>
          <p:cNvPr id="19" name="Text 16">
            <a:extLst xmlns:a="http://schemas.openxmlformats.org/drawingml/2006/main">
              <a:ext uri="{FF2B5EF4-FFF2-40B4-BE49-F238E27FC236}">
                <a16:creationId xmlns:a16="http://schemas.microsoft.com/office/drawing/2014/main" id="{EE7B6940-7622-41CF-B029-52E8CCBC446B}"/>
              </a:ext>
            </a:extLst>
          </p:cNvPr>
          <p:cNvSpPr>
            <a:spLocks xmlns:a="http://schemas.openxmlformats.org/drawingml/2006/main" noGrp="1"/>
          </p:cNvSpPr>
          <p:nvPr/>
        </p:nvSpPr>
        <p:spPr>
          <a:xfrm xmlns:a="http://schemas.openxmlformats.org/drawingml/2006/main">
            <a:off x="3909191"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complete groundable windows</a:t>
            </a:r>
          </a:p>
        </p:txBody>
      </p:sp>
      <p:sp>
        <p:nvSpPr>
          <p:cNvPr id="20" name="Shape 17">
            <a:extLst xmlns:a="http://schemas.openxmlformats.org/drawingml/2006/main">
              <a:ext uri="{FF2B5EF4-FFF2-40B4-BE49-F238E27FC236}">
                <a16:creationId xmlns:a16="http://schemas.microsoft.com/office/drawing/2014/main" id="{8014AB30-670C-4EEB-A042-CCFEDCC252EF}"/>
              </a:ext>
            </a:extLst>
          </p:cNvPr>
          <p:cNvSpPr>
            <a:spLocks xmlns:a="http://schemas.openxmlformats.org/drawingml/2006/main" noGrp="1"/>
          </p:cNvSpPr>
          <p:nvPr/>
        </p:nvSpPr>
        <p:spPr>
          <a:xfrm xmlns:a="http://schemas.openxmlformats.org/drawingml/2006/main">
            <a:off x="5379154"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F30DA9F6-2B2A-48B0-B3A6-9435E7E9C9CC}"/>
              </a:ext>
            </a:extLst>
          </p:cNvPr>
          <p:cNvSpPr>
            <a:spLocks xmlns:a="http://schemas.openxmlformats.org/drawingml/2006/main" noGrp="1"/>
          </p:cNvSpPr>
          <p:nvPr/>
        </p:nvSpPr>
        <p:spPr>
          <a:xfrm xmlns:a="http://schemas.openxmlformats.org/drawingml/2006/main">
            <a:off x="5488882"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12 / 32</a:t>
            </a:r>
          </a:p>
        </p:txBody>
      </p:sp>
      <p:sp>
        <p:nvSpPr>
          <p:cNvPr id="22" name="Text 19">
            <a:extLst xmlns:a="http://schemas.openxmlformats.org/drawingml/2006/main">
              <a:ext uri="{FF2B5EF4-FFF2-40B4-BE49-F238E27FC236}">
                <a16:creationId xmlns:a16="http://schemas.microsoft.com/office/drawing/2014/main" id="{F8E5481A-0AD6-4BE9-AFCF-89FC87B20122}"/>
              </a:ext>
            </a:extLst>
          </p:cNvPr>
          <p:cNvSpPr>
            <a:spLocks xmlns:a="http://schemas.openxmlformats.org/drawingml/2006/main" noGrp="1"/>
          </p:cNvSpPr>
          <p:nvPr/>
        </p:nvSpPr>
        <p:spPr>
          <a:xfrm xmlns:a="http://schemas.openxmlformats.org/drawingml/2006/main">
            <a:off x="5488882"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families synthesized</a:t>
            </a:r>
          </a:p>
        </p:txBody>
      </p:sp>
      <p:sp>
        <p:nvSpPr>
          <p:cNvPr id="23" name="Shape 20">
            <a:extLst xmlns:a="http://schemas.openxmlformats.org/drawingml/2006/main">
              <a:ext uri="{FF2B5EF4-FFF2-40B4-BE49-F238E27FC236}">
                <a16:creationId xmlns:a16="http://schemas.microsoft.com/office/drawing/2014/main" id="{CFBC7A1C-6826-42E4-BE45-BF41C9426DB1}"/>
              </a:ext>
            </a:extLst>
          </p:cNvPr>
          <p:cNvSpPr>
            <a:spLocks xmlns:a="http://schemas.openxmlformats.org/drawingml/2006/main" noGrp="1"/>
          </p:cNvSpPr>
          <p:nvPr/>
        </p:nvSpPr>
        <p:spPr>
          <a:xfrm xmlns:a="http://schemas.openxmlformats.org/drawingml/2006/main">
            <a:off x="6958845"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955CA460-C668-487A-AFCD-4A4CEA42FC80}"/>
              </a:ext>
            </a:extLst>
          </p:cNvPr>
          <p:cNvSpPr>
            <a:spLocks xmlns:a="http://schemas.openxmlformats.org/drawingml/2006/main" noGrp="1"/>
          </p:cNvSpPr>
          <p:nvPr/>
        </p:nvSpPr>
        <p:spPr>
          <a:xfrm xmlns:a="http://schemas.openxmlformats.org/drawingml/2006/main">
            <a:off x="7068573"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24 / 12 / 0</a:t>
            </a:r>
          </a:p>
        </p:txBody>
      </p:sp>
      <p:sp>
        <p:nvSpPr>
          <p:cNvPr id="25" name="Text 22">
            <a:extLst xmlns:a="http://schemas.openxmlformats.org/drawingml/2006/main">
              <a:ext uri="{FF2B5EF4-FFF2-40B4-BE49-F238E27FC236}">
                <a16:creationId xmlns:a16="http://schemas.microsoft.com/office/drawing/2014/main" id="{69D17C19-FFE7-4538-99EC-0112E32C9077}"/>
              </a:ext>
            </a:extLst>
          </p:cNvPr>
          <p:cNvSpPr>
            <a:spLocks xmlns:a="http://schemas.openxmlformats.org/drawingml/2006/main" noGrp="1"/>
          </p:cNvSpPr>
          <p:nvPr/>
        </p:nvSpPr>
        <p:spPr>
          <a:xfrm xmlns:a="http://schemas.openxmlformats.org/drawingml/2006/main">
            <a:off x="7068573"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pass / abstain / wrong</a:t>
            </a:r>
          </a:p>
        </p:txBody>
      </p:sp>
      <p:sp>
        <p:nvSpPr>
          <p:cNvPr id="26" name="Shape 23">
            <a:extLst xmlns:a="http://schemas.openxmlformats.org/drawingml/2006/main">
              <a:ext uri="{FF2B5EF4-FFF2-40B4-BE49-F238E27FC236}">
                <a16:creationId xmlns:a16="http://schemas.microsoft.com/office/drawing/2014/main" id="{57CED6A0-206F-4EBA-822C-10CDE14AC62B}"/>
              </a:ext>
            </a:extLst>
          </p:cNvPr>
          <p:cNvSpPr>
            <a:spLocks xmlns:a="http://schemas.openxmlformats.org/drawingml/2006/main" noGrp="1"/>
          </p:cNvSpPr>
          <p:nvPr/>
        </p:nvSpPr>
        <p:spPr>
          <a:xfrm xmlns:a="http://schemas.openxmlformats.org/drawingml/2006/main">
            <a:off x="8538537" y="5029200"/>
            <a:ext cx="1433387" cy="969264"/>
          </a:xfrm>
          <a:prstGeom xmlns:a="http://schemas.openxmlformats.org/drawingml/2006/main" prst="roundRect">
            <a:avLst>
              <a:gd name="adj" fmla="val 4717"/>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7" name="Text 24">
            <a:extLst xmlns:a="http://schemas.openxmlformats.org/drawingml/2006/main">
              <a:ext uri="{FF2B5EF4-FFF2-40B4-BE49-F238E27FC236}">
                <a16:creationId xmlns:a16="http://schemas.microsoft.com/office/drawing/2014/main" id="{2DD0B960-FB70-4C8C-B48F-1F154568A544}"/>
              </a:ext>
            </a:extLst>
          </p:cNvPr>
          <p:cNvSpPr>
            <a:spLocks xmlns:a="http://schemas.openxmlformats.org/drawingml/2006/main" noGrp="1"/>
          </p:cNvSpPr>
          <p:nvPr/>
        </p:nvSpPr>
        <p:spPr>
          <a:xfrm xmlns:a="http://schemas.openxmlformats.org/drawingml/2006/main">
            <a:off x="8648265"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3B2B"/>
                </a:solidFill>
                <a:latin typeface="Cambria"/>
                <a:ea typeface="Cambria"/>
                <a:cs typeface="Cambria"/>
              </a:rPr>
              <a:t>0</a:t>
            </a:r>
          </a:p>
        </p:txBody>
      </p:sp>
      <p:sp>
        <p:nvSpPr>
          <p:cNvPr id="28" name="Text 25">
            <a:extLst xmlns:a="http://schemas.openxmlformats.org/drawingml/2006/main">
              <a:ext uri="{FF2B5EF4-FFF2-40B4-BE49-F238E27FC236}">
                <a16:creationId xmlns:a16="http://schemas.microsoft.com/office/drawing/2014/main" id="{9B10F922-93B2-477E-A8CC-5536A1392F8C}"/>
              </a:ext>
            </a:extLst>
          </p:cNvPr>
          <p:cNvSpPr>
            <a:spLocks xmlns:a="http://schemas.openxmlformats.org/drawingml/2006/main" noGrp="1"/>
          </p:cNvSpPr>
          <p:nvPr/>
        </p:nvSpPr>
        <p:spPr>
          <a:xfrm xmlns:a="http://schemas.openxmlformats.org/drawingml/2006/main">
            <a:off x="8648265"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certifiable families</a:t>
            </a:r>
          </a:p>
        </p:txBody>
      </p:sp>
      <p:sp>
        <p:nvSpPr>
          <p:cNvPr id="29" name="Shape 26">
            <a:extLst xmlns:a="http://schemas.openxmlformats.org/drawingml/2006/main">
              <a:ext uri="{FF2B5EF4-FFF2-40B4-BE49-F238E27FC236}">
                <a16:creationId xmlns:a16="http://schemas.microsoft.com/office/drawing/2014/main" id="{3EC1CA03-3575-46A3-A2D1-F8F00F444742}"/>
              </a:ext>
            </a:extLst>
          </p:cNvPr>
          <p:cNvSpPr>
            <a:spLocks xmlns:a="http://schemas.openxmlformats.org/drawingml/2006/main" noGrp="1"/>
          </p:cNvSpPr>
          <p:nvPr/>
        </p:nvSpPr>
        <p:spPr>
          <a:xfrm xmlns:a="http://schemas.openxmlformats.org/drawingml/2006/main">
            <a:off x="10118228"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0" name="Text 27">
            <a:extLst xmlns:a="http://schemas.openxmlformats.org/drawingml/2006/main">
              <a:ext uri="{FF2B5EF4-FFF2-40B4-BE49-F238E27FC236}">
                <a16:creationId xmlns:a16="http://schemas.microsoft.com/office/drawing/2014/main" id="{2F834B61-AD4E-4BFB-A2BD-A047519E6B8E}"/>
              </a:ext>
            </a:extLst>
          </p:cNvPr>
          <p:cNvSpPr>
            <a:spLocks xmlns:a="http://schemas.openxmlformats.org/drawingml/2006/main" noGrp="1"/>
          </p:cNvSpPr>
          <p:nvPr/>
        </p:nvSpPr>
        <p:spPr>
          <a:xfrm xmlns:a="http://schemas.openxmlformats.org/drawingml/2006/main">
            <a:off x="10227956"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23.3 MiB / 5.98 s</a:t>
            </a:r>
          </a:p>
        </p:txBody>
      </p:sp>
      <p:sp>
        <p:nvSpPr>
          <p:cNvPr id="31" name="Text 28">
            <a:extLst xmlns:a="http://schemas.openxmlformats.org/drawingml/2006/main">
              <a:ext uri="{FF2B5EF4-FFF2-40B4-BE49-F238E27FC236}">
                <a16:creationId xmlns:a16="http://schemas.microsoft.com/office/drawing/2014/main" id="{CD27D36D-02B2-4EBB-8F4B-8D9CF4B3E398}"/>
              </a:ext>
            </a:extLst>
          </p:cNvPr>
          <p:cNvSpPr>
            <a:spLocks xmlns:a="http://schemas.openxmlformats.org/drawingml/2006/main" noGrp="1"/>
          </p:cNvSpPr>
          <p:nvPr/>
        </p:nvSpPr>
        <p:spPr>
          <a:xfrm xmlns:a="http://schemas.openxmlformats.org/drawingml/2006/main">
            <a:off x="10227956"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peak memory / elapsed</a:t>
            </a:r>
          </a:p>
        </p:txBody>
      </p:sp>
    </p:spTree>
    <p:extLst>
      <p:ext uri="{BB962C8B-B14F-4D97-AF65-F5344CB8AC3E}">
        <p14:creationId xmlns:p14="http://schemas.microsoft.com/office/powerpoint/2010/main" val="7689373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EBA2E1-BB91-4003-820B-0C34DAE3D39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7FF269B8-61D4-444E-8770-8FB2116A41D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18</a:t>
            </a:r>
          </a:p>
        </p:txBody>
      </p:sp>
      <p:sp>
        <p:nvSpPr>
          <p:cNvPr id="4" name="Text 2">
            <a:extLst xmlns:a="http://schemas.openxmlformats.org/drawingml/2006/main">
              <a:ext uri="{FF2B5EF4-FFF2-40B4-BE49-F238E27FC236}">
                <a16:creationId xmlns:a16="http://schemas.microsoft.com/office/drawing/2014/main" id="{DD9647F6-8A4D-402C-AFE3-CC33425769BF}"/>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RQ6  ·  3 REAL WORKFLOW FAMILIES</a:t>
            </a:r>
          </a:p>
        </p:txBody>
      </p:sp>
      <p:sp>
        <p:nvSpPr>
          <p:cNvPr id="5" name="Text 3">
            <a:extLst xmlns:a="http://schemas.openxmlformats.org/drawingml/2006/main">
              <a:ext uri="{FF2B5EF4-FFF2-40B4-BE49-F238E27FC236}">
                <a16:creationId xmlns:a16="http://schemas.microsoft.com/office/drawing/2014/main" id="{C7D2A2CA-671C-41FF-8FA3-E84D38574C82}"/>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Efficiency transfers; manual programs remain the runtime baseline</a:t>
            </a:r>
          </a:p>
        </p:txBody>
      </p:sp>
      <p:sp>
        <p:nvSpPr>
          <p:cNvPr id="6" name="Text 4">
            <a:extLst xmlns:a="http://schemas.openxmlformats.org/drawingml/2006/main">
              <a:ext uri="{FF2B5EF4-FFF2-40B4-BE49-F238E27FC236}">
                <a16:creationId xmlns:a16="http://schemas.microsoft.com/office/drawing/2014/main" id="{E16C6543-5E90-4472-A172-57076FAA754D}"/>
              </a:ext>
            </a:extLst>
          </p:cNvPr>
          <p:cNvSpPr>
            <a:spLocks xmlns:a="http://schemas.openxmlformats.org/drawingml/2006/main" noGrp="1"/>
          </p:cNvSpPr>
          <p:nvPr/>
        </p:nvSpPr>
        <p:spPr>
          <a:xfrm xmlns:a="http://schemas.openxmlformats.org/drawingml/2006/main">
            <a:off x="640080" y="1188720"/>
            <a:ext cx="566928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Three distinct decisions and tool vocabularies use 132 balanced discovery records and 30 disjoint held-out records each; all 90 held-out records are pairwise disjoint.</a:t>
            </a:r>
          </a:p>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Compiled programs preserve 90/90 exact outcomes versus 89/90 baseline (exact McNemar p=1) while cutting requests 66.6%, tokens 63.1%, observed latency 64.2%, and estimated cost 58.7% in aggregate.</a:t>
            </a:r>
          </a:p>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All three artifacts are admitted at the registered α=.05; with no compiled-only failure the pooled discordance bound is 3.3%.</a:t>
            </a:r>
          </a:p>
          <a:p xmlns:a="http://schemas.openxmlformats.org/drawingml/2006/main">
            <a:pPr marL="342900" indent="-342900">
              <a:lnSpc>
                <a:spcPct val="105000"/>
              </a:lnSpc>
              <a:spcAft>
                <a:spcPts val="700"/>
              </a:spcAft>
              <a:buChar char="•"/>
            </a:pPr>
            <a:r>
              <a:rPr sz="1150">
                <a:solidFill>
                  <a:srgbClr val="24354F"/>
                </a:solidFill>
                <a:latin typeface="Calibri"/>
                <a:ea typeface="Calibri"/>
                <a:cs typeface="Calibri"/>
              </a:rPr>
              <a:t>Hand-written programs also reach 90/90; automatic discovery and lifecycle—not runtime dominance—are the contribution.</a:t>
            </a:r>
          </a:p>
        </p:txBody>
      </p:sp>
      <p:sp>
        <p:nvSpPr>
          <p:cNvPr id="7" name="Shape 5">
            <a:extLst xmlns:a="http://schemas.openxmlformats.org/drawingml/2006/main">
              <a:ext uri="{FF2B5EF4-FFF2-40B4-BE49-F238E27FC236}">
                <a16:creationId xmlns:a16="http://schemas.microsoft.com/office/drawing/2014/main" id="{FE000C01-BE96-4CCB-B91F-E8EB421E580A}"/>
              </a:ext>
            </a:extLst>
          </p:cNvPr>
          <p:cNvSpPr>
            <a:spLocks xmlns:a="http://schemas.openxmlformats.org/drawingml/2006/main" noGrp="1"/>
          </p:cNvSpPr>
          <p:nvPr/>
        </p:nvSpPr>
        <p:spPr>
          <a:xfrm xmlns:a="http://schemas.openxmlformats.org/drawingml/2006/main">
            <a:off x="640080" y="3419856"/>
            <a:ext cx="5669280" cy="1188720"/>
          </a:xfrm>
          <a:prstGeom xmlns:a="http://schemas.openxmlformats.org/drawingml/2006/main" prst="roundRect">
            <a:avLst>
              <a:gd name="adj" fmla="val 384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960028B-5273-4EE3-9745-879B8EB9FB03}"/>
              </a:ext>
            </a:extLst>
          </p:cNvPr>
          <p:cNvSpPr>
            <a:spLocks xmlns:a="http://schemas.openxmlformats.org/drawingml/2006/main" noGrp="1"/>
          </p:cNvSpPr>
          <p:nvPr/>
        </p:nvSpPr>
        <p:spPr>
          <a:xfrm xmlns:a="http://schemas.openxmlformats.org/drawingml/2006/main">
            <a:off x="896112" y="3547872"/>
            <a:ext cx="5157216"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100" b="1">
                <a:solidFill>
                  <a:srgbClr val="A93B2B"/>
                </a:solidFill>
                <a:latin typeface="Calibri"/>
                <a:ea typeface="Calibri"/>
                <a:cs typeface="Calibri"/>
              </a:rPr>
              <a:t>The two new families compile verified three-read pre-model programs; the original issue family retains its conservative two-read prefix. Both newer families are cache-cold in every arm, so part of the 32.0–75.3% cost range is prompt-cache warmth rather than compiled depth; provider-side break-even is 411, 182, and 181 episodes against 132 paid discovery episodes each. The study changes decision and tools, but not repository or time: cross-repository and time-forward transfer remain open.</a:t>
            </a:r>
          </a:p>
        </p:txBody>
      </p:sp>
      <p:graphicFrame>
        <p:nvGraphicFramePr>
          <p:cNvPr id="9" name="Chart 0"/>
          <p:cNvGraphicFramePr/>
          <p:nvPr/>
        </p:nvGraphicFramePr>
        <p:xfrm>
          <a:off xmlns:a="http://schemas.openxmlformats.org/drawingml/2006/main" x="6675120" y="1152144"/>
          <a:ext xmlns:a="http://schemas.openxmlformats.org/drawingml/2006/main" cx="4873752" cy="3456432"/>
        </p:xfrm>
        <a:graphic xmlns:a="http://schemas.openxmlformats.org/drawingml/2006/main">
          <a:graphicData uri="http://schemas.openxmlformats.org/drawingml/2006/chart">
            <c:chart xmlns:r="http://schemas.openxmlformats.org/officeDocument/2006/relationships" xmlns:c="http://schemas.openxmlformats.org/drawingml/2006/chart" r:id="R7df5fac1fec848d9"/>
          </a:graphicData>
        </a:graphic>
      </p:graphicFrame>
      <p:sp>
        <p:nvSpPr>
          <p:cNvPr id="10" name="Text 7">
            <a:extLst xmlns:a="http://schemas.openxmlformats.org/drawingml/2006/main">
              <a:ext uri="{FF2B5EF4-FFF2-40B4-BE49-F238E27FC236}">
                <a16:creationId xmlns:a16="http://schemas.microsoft.com/office/drawing/2014/main" id="{B32FD0FE-2125-4ED0-9B7E-ED068DA6B4D2}"/>
              </a:ext>
            </a:extLst>
          </p:cNvPr>
          <p:cNvSpPr>
            <a:spLocks xmlns:a="http://schemas.openxmlformats.org/drawingml/2006/main" noGrp="1"/>
          </p:cNvSpPr>
          <p:nvPr/>
        </p:nvSpPr>
        <p:spPr>
          <a:xfrm xmlns:a="http://schemas.openxmlformats.org/drawingml/2006/main">
            <a:off x="640080" y="475488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A6B84"/>
                </a:solidFill>
                <a:latin typeface="Calibri"/>
                <a:ea typeface="Calibri"/>
                <a:cs typeface="Calibri"/>
              </a:rPr>
              <a:t>90 HELD-OUT PUBLIC RECORDS — LIVE PROVIDER — NO SIMULATION</a:t>
            </a:r>
          </a:p>
        </p:txBody>
      </p:sp>
      <p:sp>
        <p:nvSpPr>
          <p:cNvPr id="11" name="Shape 8">
            <a:extLst xmlns:a="http://schemas.openxmlformats.org/drawingml/2006/main">
              <a:ext uri="{FF2B5EF4-FFF2-40B4-BE49-F238E27FC236}">
                <a16:creationId xmlns:a16="http://schemas.microsoft.com/office/drawing/2014/main" id="{F9403A64-0ADC-4E4E-8704-8B74DF0520AB}"/>
              </a:ext>
            </a:extLst>
          </p:cNvPr>
          <p:cNvSpPr>
            <a:spLocks xmlns:a="http://schemas.openxmlformats.org/drawingml/2006/main" noGrp="1"/>
          </p:cNvSpPr>
          <p:nvPr/>
        </p:nvSpPr>
        <p:spPr>
          <a:xfrm xmlns:a="http://schemas.openxmlformats.org/drawingml/2006/main">
            <a:off x="640080"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0C727518-CBCB-4DC4-B3EF-F01FD432A538}"/>
              </a:ext>
            </a:extLst>
          </p:cNvPr>
          <p:cNvSpPr>
            <a:spLocks xmlns:a="http://schemas.openxmlformats.org/drawingml/2006/main" noGrp="1"/>
          </p:cNvSpPr>
          <p:nvPr/>
        </p:nvSpPr>
        <p:spPr>
          <a:xfrm xmlns:a="http://schemas.openxmlformats.org/drawingml/2006/main">
            <a:off x="749808"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3</a:t>
            </a:r>
          </a:p>
        </p:txBody>
      </p:sp>
      <p:sp>
        <p:nvSpPr>
          <p:cNvPr id="13" name="Text 10">
            <a:extLst xmlns:a="http://schemas.openxmlformats.org/drawingml/2006/main">
              <a:ext uri="{FF2B5EF4-FFF2-40B4-BE49-F238E27FC236}">
                <a16:creationId xmlns:a16="http://schemas.microsoft.com/office/drawing/2014/main" id="{01DCBF64-683E-4537-9298-8BE86026B58F}"/>
              </a:ext>
            </a:extLst>
          </p:cNvPr>
          <p:cNvSpPr>
            <a:spLocks xmlns:a="http://schemas.openxmlformats.org/drawingml/2006/main" noGrp="1"/>
          </p:cNvSpPr>
          <p:nvPr/>
        </p:nvSpPr>
        <p:spPr>
          <a:xfrm xmlns:a="http://schemas.openxmlformats.org/drawingml/2006/main">
            <a:off x="749808"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workflow families</a:t>
            </a:r>
          </a:p>
        </p:txBody>
      </p:sp>
      <p:sp>
        <p:nvSpPr>
          <p:cNvPr id="14" name="Shape 11">
            <a:extLst xmlns:a="http://schemas.openxmlformats.org/drawingml/2006/main">
              <a:ext uri="{FF2B5EF4-FFF2-40B4-BE49-F238E27FC236}">
                <a16:creationId xmlns:a16="http://schemas.microsoft.com/office/drawing/2014/main" id="{AB9AC33C-CF17-448C-9CB7-D3A1B7B973D0}"/>
              </a:ext>
            </a:extLst>
          </p:cNvPr>
          <p:cNvSpPr>
            <a:spLocks xmlns:a="http://schemas.openxmlformats.org/drawingml/2006/main" noGrp="1"/>
          </p:cNvSpPr>
          <p:nvPr/>
        </p:nvSpPr>
        <p:spPr>
          <a:xfrm xmlns:a="http://schemas.openxmlformats.org/drawingml/2006/main">
            <a:off x="2219771"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342C8B2-A934-4C5B-A7D6-AEDB0EFC3011}"/>
              </a:ext>
            </a:extLst>
          </p:cNvPr>
          <p:cNvSpPr>
            <a:spLocks xmlns:a="http://schemas.openxmlformats.org/drawingml/2006/main" noGrp="1"/>
          </p:cNvSpPr>
          <p:nvPr/>
        </p:nvSpPr>
        <p:spPr>
          <a:xfrm xmlns:a="http://schemas.openxmlformats.org/drawingml/2006/main">
            <a:off x="2329499"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90 / 90</a:t>
            </a:r>
          </a:p>
        </p:txBody>
      </p:sp>
      <p:sp>
        <p:nvSpPr>
          <p:cNvPr id="16" name="Text 13">
            <a:extLst xmlns:a="http://schemas.openxmlformats.org/drawingml/2006/main">
              <a:ext uri="{FF2B5EF4-FFF2-40B4-BE49-F238E27FC236}">
                <a16:creationId xmlns:a16="http://schemas.microsoft.com/office/drawing/2014/main" id="{03E2E680-43BB-4634-9245-78C2D0325DC6}"/>
              </a:ext>
            </a:extLst>
          </p:cNvPr>
          <p:cNvSpPr>
            <a:spLocks xmlns:a="http://schemas.openxmlformats.org/drawingml/2006/main" noGrp="1"/>
          </p:cNvSpPr>
          <p:nvPr/>
        </p:nvSpPr>
        <p:spPr>
          <a:xfrm xmlns:a="http://schemas.openxmlformats.org/drawingml/2006/main">
            <a:off x="2329499"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compiled / manual exact</a:t>
            </a:r>
          </a:p>
        </p:txBody>
      </p:sp>
      <p:sp>
        <p:nvSpPr>
          <p:cNvPr id="17" name="Shape 14">
            <a:extLst xmlns:a="http://schemas.openxmlformats.org/drawingml/2006/main">
              <a:ext uri="{FF2B5EF4-FFF2-40B4-BE49-F238E27FC236}">
                <a16:creationId xmlns:a16="http://schemas.microsoft.com/office/drawing/2014/main" id="{F9E0605E-8B4A-4CC8-9BC1-523BB8C5EA3E}"/>
              </a:ext>
            </a:extLst>
          </p:cNvPr>
          <p:cNvSpPr>
            <a:spLocks xmlns:a="http://schemas.openxmlformats.org/drawingml/2006/main" noGrp="1"/>
          </p:cNvSpPr>
          <p:nvPr/>
        </p:nvSpPr>
        <p:spPr>
          <a:xfrm xmlns:a="http://schemas.openxmlformats.org/drawingml/2006/main">
            <a:off x="3799463"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AB0568A1-373A-414C-9970-2BD5A0ED4AF8}"/>
              </a:ext>
            </a:extLst>
          </p:cNvPr>
          <p:cNvSpPr>
            <a:spLocks xmlns:a="http://schemas.openxmlformats.org/drawingml/2006/main" noGrp="1"/>
          </p:cNvSpPr>
          <p:nvPr/>
        </p:nvSpPr>
        <p:spPr>
          <a:xfrm xmlns:a="http://schemas.openxmlformats.org/drawingml/2006/main">
            <a:off x="3909191"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89 / 90</a:t>
            </a:r>
          </a:p>
        </p:txBody>
      </p:sp>
      <p:sp>
        <p:nvSpPr>
          <p:cNvPr id="19" name="Text 16">
            <a:extLst xmlns:a="http://schemas.openxmlformats.org/drawingml/2006/main">
              <a:ext uri="{FF2B5EF4-FFF2-40B4-BE49-F238E27FC236}">
                <a16:creationId xmlns:a16="http://schemas.microsoft.com/office/drawing/2014/main" id="{EE7B6940-7622-41CF-B029-52E8CCBC446B}"/>
              </a:ext>
            </a:extLst>
          </p:cNvPr>
          <p:cNvSpPr>
            <a:spLocks xmlns:a="http://schemas.openxmlformats.org/drawingml/2006/main" noGrp="1"/>
          </p:cNvSpPr>
          <p:nvPr/>
        </p:nvSpPr>
        <p:spPr>
          <a:xfrm xmlns:a="http://schemas.openxmlformats.org/drawingml/2006/main">
            <a:off x="3909191"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baseline exact</a:t>
            </a:r>
          </a:p>
        </p:txBody>
      </p:sp>
      <p:sp>
        <p:nvSpPr>
          <p:cNvPr id="20" name="Shape 17">
            <a:extLst xmlns:a="http://schemas.openxmlformats.org/drawingml/2006/main">
              <a:ext uri="{FF2B5EF4-FFF2-40B4-BE49-F238E27FC236}">
                <a16:creationId xmlns:a16="http://schemas.microsoft.com/office/drawing/2014/main" id="{8014AB30-670C-4EEB-A042-CCFEDCC252EF}"/>
              </a:ext>
            </a:extLst>
          </p:cNvPr>
          <p:cNvSpPr>
            <a:spLocks xmlns:a="http://schemas.openxmlformats.org/drawingml/2006/main" noGrp="1"/>
          </p:cNvSpPr>
          <p:nvPr/>
        </p:nvSpPr>
        <p:spPr>
          <a:xfrm xmlns:a="http://schemas.openxmlformats.org/drawingml/2006/main">
            <a:off x="5379154"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F30DA9F6-2B2A-48B0-B3A6-9435E7E9C9CC}"/>
              </a:ext>
            </a:extLst>
          </p:cNvPr>
          <p:cNvSpPr>
            <a:spLocks xmlns:a="http://schemas.openxmlformats.org/drawingml/2006/main" noGrp="1"/>
          </p:cNvSpPr>
          <p:nvPr/>
        </p:nvSpPr>
        <p:spPr>
          <a:xfrm xmlns:a="http://schemas.openxmlformats.org/drawingml/2006/main">
            <a:off x="5488882"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−66.6%</a:t>
            </a:r>
          </a:p>
        </p:txBody>
      </p:sp>
      <p:sp>
        <p:nvSpPr>
          <p:cNvPr id="22" name="Text 19">
            <a:extLst xmlns:a="http://schemas.openxmlformats.org/drawingml/2006/main">
              <a:ext uri="{FF2B5EF4-FFF2-40B4-BE49-F238E27FC236}">
                <a16:creationId xmlns:a16="http://schemas.microsoft.com/office/drawing/2014/main" id="{F8E5481A-0AD6-4BE9-AFCF-89FC87B20122}"/>
              </a:ext>
            </a:extLst>
          </p:cNvPr>
          <p:cNvSpPr>
            <a:spLocks xmlns:a="http://schemas.openxmlformats.org/drawingml/2006/main" noGrp="1"/>
          </p:cNvSpPr>
          <p:nvPr/>
        </p:nvSpPr>
        <p:spPr>
          <a:xfrm xmlns:a="http://schemas.openxmlformats.org/drawingml/2006/main">
            <a:off x="5488882"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provider requests</a:t>
            </a:r>
          </a:p>
        </p:txBody>
      </p:sp>
      <p:sp>
        <p:nvSpPr>
          <p:cNvPr id="23" name="Shape 20">
            <a:extLst xmlns:a="http://schemas.openxmlformats.org/drawingml/2006/main">
              <a:ext uri="{FF2B5EF4-FFF2-40B4-BE49-F238E27FC236}">
                <a16:creationId xmlns:a16="http://schemas.microsoft.com/office/drawing/2014/main" id="{CFBC7A1C-6826-42E4-BE45-BF41C9426DB1}"/>
              </a:ext>
            </a:extLst>
          </p:cNvPr>
          <p:cNvSpPr>
            <a:spLocks xmlns:a="http://schemas.openxmlformats.org/drawingml/2006/main" noGrp="1"/>
          </p:cNvSpPr>
          <p:nvPr/>
        </p:nvSpPr>
        <p:spPr>
          <a:xfrm xmlns:a="http://schemas.openxmlformats.org/drawingml/2006/main">
            <a:off x="6958845"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955CA460-C668-487A-AFCD-4A4CEA42FC80}"/>
              </a:ext>
            </a:extLst>
          </p:cNvPr>
          <p:cNvSpPr>
            <a:spLocks xmlns:a="http://schemas.openxmlformats.org/drawingml/2006/main" noGrp="1"/>
          </p:cNvSpPr>
          <p:nvPr/>
        </p:nvSpPr>
        <p:spPr>
          <a:xfrm xmlns:a="http://schemas.openxmlformats.org/drawingml/2006/main">
            <a:off x="7068573"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−63.1%</a:t>
            </a:r>
          </a:p>
        </p:txBody>
      </p:sp>
      <p:sp>
        <p:nvSpPr>
          <p:cNvPr id="25" name="Text 22">
            <a:extLst xmlns:a="http://schemas.openxmlformats.org/drawingml/2006/main">
              <a:ext uri="{FF2B5EF4-FFF2-40B4-BE49-F238E27FC236}">
                <a16:creationId xmlns:a16="http://schemas.microsoft.com/office/drawing/2014/main" id="{69D17C19-FFE7-4538-99EC-0112E32C9077}"/>
              </a:ext>
            </a:extLst>
          </p:cNvPr>
          <p:cNvSpPr>
            <a:spLocks xmlns:a="http://schemas.openxmlformats.org/drawingml/2006/main" noGrp="1"/>
          </p:cNvSpPr>
          <p:nvPr/>
        </p:nvSpPr>
        <p:spPr>
          <a:xfrm xmlns:a="http://schemas.openxmlformats.org/drawingml/2006/main">
            <a:off x="7068573"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total tokens</a:t>
            </a:r>
          </a:p>
        </p:txBody>
      </p:sp>
      <p:sp>
        <p:nvSpPr>
          <p:cNvPr id="26" name="Shape 23">
            <a:extLst xmlns:a="http://schemas.openxmlformats.org/drawingml/2006/main">
              <a:ext uri="{FF2B5EF4-FFF2-40B4-BE49-F238E27FC236}">
                <a16:creationId xmlns:a16="http://schemas.microsoft.com/office/drawing/2014/main" id="{57CED6A0-206F-4EBA-822C-10CDE14AC62B}"/>
              </a:ext>
            </a:extLst>
          </p:cNvPr>
          <p:cNvSpPr>
            <a:spLocks xmlns:a="http://schemas.openxmlformats.org/drawingml/2006/main" noGrp="1"/>
          </p:cNvSpPr>
          <p:nvPr/>
        </p:nvSpPr>
        <p:spPr>
          <a:xfrm xmlns:a="http://schemas.openxmlformats.org/drawingml/2006/main">
            <a:off x="8538537" y="5029200"/>
            <a:ext cx="1433387" cy="969264"/>
          </a:xfrm>
          <a:prstGeom xmlns:a="http://schemas.openxmlformats.org/drawingml/2006/main" prst="roundRect">
            <a:avLst>
              <a:gd name="adj" fmla="val 4717"/>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7" name="Text 24">
            <a:extLst xmlns:a="http://schemas.openxmlformats.org/drawingml/2006/main">
              <a:ext uri="{FF2B5EF4-FFF2-40B4-BE49-F238E27FC236}">
                <a16:creationId xmlns:a16="http://schemas.microsoft.com/office/drawing/2014/main" id="{2DD0B960-FB70-4C8C-B48F-1F154568A544}"/>
              </a:ext>
            </a:extLst>
          </p:cNvPr>
          <p:cNvSpPr>
            <a:spLocks xmlns:a="http://schemas.openxmlformats.org/drawingml/2006/main" noGrp="1"/>
          </p:cNvSpPr>
          <p:nvPr/>
        </p:nvSpPr>
        <p:spPr>
          <a:xfrm xmlns:a="http://schemas.openxmlformats.org/drawingml/2006/main">
            <a:off x="8648265"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3B2B"/>
                </a:solidFill>
                <a:latin typeface="Cambria"/>
                <a:ea typeface="Cambria"/>
                <a:cs typeface="Cambria"/>
              </a:rPr>
              <a:t>−64.2%</a:t>
            </a:r>
          </a:p>
        </p:txBody>
      </p:sp>
      <p:sp>
        <p:nvSpPr>
          <p:cNvPr id="28" name="Text 25">
            <a:extLst xmlns:a="http://schemas.openxmlformats.org/drawingml/2006/main">
              <a:ext uri="{FF2B5EF4-FFF2-40B4-BE49-F238E27FC236}">
                <a16:creationId xmlns:a16="http://schemas.microsoft.com/office/drawing/2014/main" id="{9B10F922-93B2-477E-A8CC-5536A1392F8C}"/>
              </a:ext>
            </a:extLst>
          </p:cNvPr>
          <p:cNvSpPr>
            <a:spLocks xmlns:a="http://schemas.openxmlformats.org/drawingml/2006/main" noGrp="1"/>
          </p:cNvSpPr>
          <p:nvPr/>
        </p:nvSpPr>
        <p:spPr>
          <a:xfrm xmlns:a="http://schemas.openxmlformats.org/drawingml/2006/main">
            <a:off x="8648265"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observed latency</a:t>
            </a:r>
          </a:p>
        </p:txBody>
      </p:sp>
      <p:sp>
        <p:nvSpPr>
          <p:cNvPr id="29" name="Shape 26">
            <a:extLst xmlns:a="http://schemas.openxmlformats.org/drawingml/2006/main">
              <a:ext uri="{FF2B5EF4-FFF2-40B4-BE49-F238E27FC236}">
                <a16:creationId xmlns:a16="http://schemas.microsoft.com/office/drawing/2014/main" id="{3EC1CA03-3575-46A3-A2D1-F8F00F444742}"/>
              </a:ext>
            </a:extLst>
          </p:cNvPr>
          <p:cNvSpPr>
            <a:spLocks xmlns:a="http://schemas.openxmlformats.org/drawingml/2006/main" noGrp="1"/>
          </p:cNvSpPr>
          <p:nvPr/>
        </p:nvSpPr>
        <p:spPr>
          <a:xfrm xmlns:a="http://schemas.openxmlformats.org/drawingml/2006/main">
            <a:off x="10118228" y="5029200"/>
            <a:ext cx="1433387"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0" name="Text 27">
            <a:extLst xmlns:a="http://schemas.openxmlformats.org/drawingml/2006/main">
              <a:ext uri="{FF2B5EF4-FFF2-40B4-BE49-F238E27FC236}">
                <a16:creationId xmlns:a16="http://schemas.microsoft.com/office/drawing/2014/main" id="{2F834B61-AD4E-4BFB-A2BD-A047519E6B8E}"/>
              </a:ext>
            </a:extLst>
          </p:cNvPr>
          <p:cNvSpPr>
            <a:spLocks xmlns:a="http://schemas.openxmlformats.org/drawingml/2006/main" noGrp="1"/>
          </p:cNvSpPr>
          <p:nvPr/>
        </p:nvSpPr>
        <p:spPr>
          <a:xfrm xmlns:a="http://schemas.openxmlformats.org/drawingml/2006/main">
            <a:off x="10227956" y="5120640"/>
            <a:ext cx="121393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mbria"/>
                <a:ea typeface="Cambria"/>
                <a:cs typeface="Cambria"/>
              </a:rPr>
              <a:t>−58.7%</a:t>
            </a:r>
          </a:p>
        </p:txBody>
      </p:sp>
      <p:sp>
        <p:nvSpPr>
          <p:cNvPr id="31" name="Text 28">
            <a:extLst xmlns:a="http://schemas.openxmlformats.org/drawingml/2006/main">
              <a:ext uri="{FF2B5EF4-FFF2-40B4-BE49-F238E27FC236}">
                <a16:creationId xmlns:a16="http://schemas.microsoft.com/office/drawing/2014/main" id="{CD27D36D-02B2-4EBB-8F4B-8D9CF4B3E398}"/>
              </a:ext>
            </a:extLst>
          </p:cNvPr>
          <p:cNvSpPr>
            <a:spLocks xmlns:a="http://schemas.openxmlformats.org/drawingml/2006/main" noGrp="1"/>
          </p:cNvSpPr>
          <p:nvPr/>
        </p:nvSpPr>
        <p:spPr>
          <a:xfrm xmlns:a="http://schemas.openxmlformats.org/drawingml/2006/main">
            <a:off x="10227956" y="5449824"/>
            <a:ext cx="12139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estimated cost</a:t>
            </a:r>
          </a:p>
        </p:txBody>
      </p:sp>
    </p:spTree>
    <p:extLst>
      <p:ext uri="{BB962C8B-B14F-4D97-AF65-F5344CB8AC3E}">
        <p14:creationId xmlns:p14="http://schemas.microsoft.com/office/powerpoint/2010/main" val="76893739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901B87-420C-4828-A809-C31A8629C706}"/>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900CB05-628E-45CF-A0DC-4C1142679EF2}"/>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19</a:t>
            </a:r>
          </a:p>
        </p:txBody>
      </p:sp>
      <p:sp>
        <p:nvSpPr>
          <p:cNvPr id="4" name="Text 2">
            <a:extLst xmlns:a="http://schemas.openxmlformats.org/drawingml/2006/main">
              <a:ext uri="{FF2B5EF4-FFF2-40B4-BE49-F238E27FC236}">
                <a16:creationId xmlns:a16="http://schemas.microsoft.com/office/drawing/2014/main" id="{B7C5222A-79C3-498E-A1C8-8D7D82BA0EF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RQ2  ·  §5.2.1  ·  TABLE 2</a:t>
            </a:r>
          </a:p>
        </p:txBody>
      </p:sp>
      <p:sp>
        <p:nvSpPr>
          <p:cNvPr id="5" name="Text 3">
            <a:extLst xmlns:a="http://schemas.openxmlformats.org/drawingml/2006/main">
              <a:ext uri="{FF2B5EF4-FFF2-40B4-BE49-F238E27FC236}">
                <a16:creationId xmlns:a16="http://schemas.microsoft.com/office/drawing/2014/main" id="{2605E775-56C0-456B-B0E1-8190350C76A4}"/>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Expanded natural-order replication: 30 fresh real records</a:t>
            </a:r>
          </a:p>
        </p:txBody>
      </p:sp>
      <p:graphicFrame>
        <p:nvGraphicFramePr>
          <p:cNvPr id="6" name="Chart 0"/>
          <p:cNvGraphicFramePr/>
          <p:nvPr/>
        </p:nvGraphicFramePr>
        <p:xfrm>
          <a:off xmlns:a="http://schemas.openxmlformats.org/drawingml/2006/main" x="640080" y="1152144"/>
          <a:ext xmlns:a="http://schemas.openxmlformats.org/drawingml/2006/main" cx="7223760" cy="3602736"/>
        </p:xfrm>
        <a:graphic xmlns:a="http://schemas.openxmlformats.org/drawingml/2006/main">
          <a:graphicData uri="http://schemas.openxmlformats.org/drawingml/2006/chart">
            <c:chart xmlns:r="http://schemas.openxmlformats.org/officeDocument/2006/relationships" xmlns:c="http://schemas.openxmlformats.org/drawingml/2006/chart" r:id="R7a76a4dcbe73440f"/>
          </a:graphicData>
        </a:graphic>
      </p:graphicFrame>
      <p:sp>
        <p:nvSpPr>
          <p:cNvPr id="7" name="Shape 4">
            <a:extLst xmlns:a="http://schemas.openxmlformats.org/drawingml/2006/main">
              <a:ext uri="{FF2B5EF4-FFF2-40B4-BE49-F238E27FC236}">
                <a16:creationId xmlns:a16="http://schemas.microsoft.com/office/drawing/2014/main" id="{91EEFD00-2EAF-4316-85C2-AB12D3230E2A}"/>
              </a:ext>
            </a:extLst>
          </p:cNvPr>
          <p:cNvSpPr>
            <a:spLocks xmlns:a="http://schemas.openxmlformats.org/drawingml/2006/main" noGrp="1"/>
          </p:cNvSpPr>
          <p:nvPr/>
        </p:nvSpPr>
        <p:spPr>
          <a:xfrm xmlns:a="http://schemas.openxmlformats.org/drawingml/2006/main">
            <a:off x="8092440" y="1152144"/>
            <a:ext cx="3459175" cy="3602736"/>
          </a:xfrm>
          <a:prstGeom xmlns:a="http://schemas.openxmlformats.org/drawingml/2006/main" prst="roundRect">
            <a:avLst>
              <a:gd name="adj" fmla="val 132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97860B53-13E1-487D-BD98-3C88FEB4AD73}"/>
              </a:ext>
            </a:extLst>
          </p:cNvPr>
          <p:cNvSpPr>
            <a:spLocks xmlns:a="http://schemas.openxmlformats.org/drawingml/2006/main" noGrp="1"/>
          </p:cNvSpPr>
          <p:nvPr/>
        </p:nvSpPr>
        <p:spPr>
          <a:xfrm xmlns:a="http://schemas.openxmlformats.org/drawingml/2006/main">
            <a:off x="8330184" y="1298448"/>
            <a:ext cx="298368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WHAT THE COMPILER DID, AND DECLINED</a:t>
            </a:r>
          </a:p>
        </p:txBody>
      </p:sp>
      <p:sp>
        <p:nvSpPr>
          <p:cNvPr id="9" name="Text 6">
            <a:extLst xmlns:a="http://schemas.openxmlformats.org/drawingml/2006/main">
              <a:ext uri="{FF2B5EF4-FFF2-40B4-BE49-F238E27FC236}">
                <a16:creationId xmlns:a16="http://schemas.microsoft.com/office/drawing/2014/main" id="{B4433739-7996-4C7A-94B1-A423D2BE6840}"/>
              </a:ext>
            </a:extLst>
          </p:cNvPr>
          <p:cNvSpPr>
            <a:spLocks xmlns:a="http://schemas.openxmlformats.org/drawingml/2006/main" noGrp="1"/>
          </p:cNvSpPr>
          <p:nvPr/>
        </p:nvSpPr>
        <p:spPr>
          <a:xfrm xmlns:a="http://schemas.openxmlformats.org/drawingml/2006/main">
            <a:off x="8348472" y="1627632"/>
            <a:ext cx="2947111" cy="3017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600"/>
              </a:spcAft>
              <a:buChar char="•"/>
            </a:pPr>
            <a:r>
              <a:rPr sz="1000">
                <a:solidFill>
                  <a:srgbClr val="24354F"/>
                </a:solidFill>
                <a:latin typeface="Calibri"/>
                <a:ea typeface="Calibri"/>
                <a:cs typeface="Calibri"/>
              </a:rPr>
              <a:t>All 132 discovery traces read record → labels → comments under a prompt naming neither tools nor order; 130 pass the exact-source task</a:t>
            </a:r>
          </a:p>
          <a:p xmlns:a="http://schemas.openxmlformats.org/drawingml/2006/main">
            <a:pPr marL="342900" indent="-342900">
              <a:lnSpc>
                <a:spcPct val="105000"/>
              </a:lnSpc>
              <a:spcAft>
                <a:spcPts val="600"/>
              </a:spcAft>
              <a:buChar char="•"/>
            </a:pPr>
            <a:r>
              <a:rPr sz="1000">
                <a:solidFill>
                  <a:srgbClr val="24354F"/>
                </a:solidFill>
                <a:latin typeface="Calibri"/>
                <a:ea typeface="Calibri"/>
                <a:cs typeface="Calibri"/>
              </a:rPr>
              <a:t>The natural caller chose different integer comment limits, so no trace-grounded expression reproduces that argument</a:t>
            </a:r>
          </a:p>
          <a:p xmlns:a="http://schemas.openxmlformats.org/drawingml/2006/main">
            <a:pPr marL="342900" indent="-342900">
              <a:lnSpc>
                <a:spcPct val="105000"/>
              </a:lnSpc>
              <a:spcAft>
                <a:spcPts val="600"/>
              </a:spcAft>
              <a:buChar char="•"/>
            </a:pPr>
            <a:r>
              <a:rPr sz="1000">
                <a:solidFill>
                  <a:srgbClr val="24354F"/>
                </a:solidFill>
                <a:latin typeface="Calibri"/>
                <a:ea typeface="Calibri"/>
                <a:cs typeface="Calibri"/>
              </a:rPr>
              <a:t>The full three-read candidate is rejected with ungroundable_slot; the compiler emits the groundable two-read prefix and the ordinary agent performs the comments read and final rendering</a:t>
            </a:r>
          </a:p>
          <a:p xmlns:a="http://schemas.openxmlformats.org/drawingml/2006/main">
            <a:pPr marL="342900" indent="-342900">
              <a:lnSpc>
                <a:spcPct val="105000"/>
              </a:lnSpc>
              <a:spcAft>
                <a:spcPts val="600"/>
              </a:spcAft>
              <a:buChar char="•"/>
            </a:pPr>
            <a:r>
              <a:rPr sz="1000">
                <a:solidFill>
                  <a:srgbClr val="24354F"/>
                </a:solidFill>
                <a:latin typeface="Calibri"/>
                <a:ea typeface="Calibri"/>
                <a:cs typeface="Calibri"/>
              </a:rPr>
              <a:t>16 training, 8 development, 92 calibration records from the 130 eligible traces; 14 unused</a:t>
            </a:r>
          </a:p>
          <a:p xmlns:a="http://schemas.openxmlformats.org/drawingml/2006/main">
            <a:pPr marL="342900" indent="-342900">
              <a:lnSpc>
                <a:spcPct val="105000"/>
              </a:lnSpc>
              <a:spcAft>
                <a:spcPts val="600"/>
              </a:spcAft>
              <a:buChar char="•"/>
            </a:pPr>
            <a:r>
              <a:rPr sz="1000">
                <a:solidFill>
                  <a:srgbClr val="24354F"/>
                </a:solidFill>
                <a:latin typeface="Calibri"/>
                <a:ea typeface="Calibri"/>
                <a:cs typeface="Calibri"/>
              </a:rPr>
              <a:t>The gate admits 92/92 calibration groups with zero registered violations at α = .05, δ = .10, |Λ| = 11 — simultaneous upper bound 0.0498</a:t>
            </a:r>
          </a:p>
        </p:txBody>
      </p:sp>
      <p:sp>
        <p:nvSpPr>
          <p:cNvPr id="10" name="Shape 7">
            <a:extLst xmlns:a="http://schemas.openxmlformats.org/drawingml/2006/main">
              <a:ext uri="{FF2B5EF4-FFF2-40B4-BE49-F238E27FC236}">
                <a16:creationId xmlns:a16="http://schemas.microsoft.com/office/drawing/2014/main" id="{410F6585-17F3-40AE-B903-FC7698C43477}"/>
              </a:ext>
            </a:extLst>
          </p:cNvPr>
          <p:cNvSpPr>
            <a:spLocks xmlns:a="http://schemas.openxmlformats.org/drawingml/2006/main" noGrp="1"/>
          </p:cNvSpPr>
          <p:nvPr/>
        </p:nvSpPr>
        <p:spPr>
          <a:xfrm xmlns:a="http://schemas.openxmlformats.org/drawingml/2006/main">
            <a:off x="640080" y="5029200"/>
            <a:ext cx="1666189"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FC8910C6-658E-42E7-A16E-0A6784D62AC6}"/>
              </a:ext>
            </a:extLst>
          </p:cNvPr>
          <p:cNvSpPr>
            <a:spLocks xmlns:a="http://schemas.openxmlformats.org/drawingml/2006/main" noGrp="1"/>
          </p:cNvSpPr>
          <p:nvPr/>
        </p:nvSpPr>
        <p:spPr>
          <a:xfrm xmlns:a="http://schemas.openxmlformats.org/drawingml/2006/main">
            <a:off x="768096" y="5120640"/>
            <a:ext cx="141015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8A99"/>
                </a:solidFill>
                <a:latin typeface="Cambria"/>
                <a:ea typeface="Cambria"/>
                <a:cs typeface="Cambria"/>
              </a:rPr>
              <a:t>−50.0%</a:t>
            </a:r>
          </a:p>
        </p:txBody>
      </p:sp>
      <p:sp>
        <p:nvSpPr>
          <p:cNvPr id="12" name="Text 9">
            <a:extLst xmlns:a="http://schemas.openxmlformats.org/drawingml/2006/main">
              <a:ext uri="{FF2B5EF4-FFF2-40B4-BE49-F238E27FC236}">
                <a16:creationId xmlns:a16="http://schemas.microsoft.com/office/drawing/2014/main" id="{D286E7AA-4CB0-4027-9A18-97B3D13A354D}"/>
              </a:ext>
            </a:extLst>
          </p:cNvPr>
          <p:cNvSpPr>
            <a:spLocks xmlns:a="http://schemas.openxmlformats.org/drawingml/2006/main" noGrp="1"/>
          </p:cNvSpPr>
          <p:nvPr/>
        </p:nvSpPr>
        <p:spPr>
          <a:xfrm xmlns:a="http://schemas.openxmlformats.org/drawingml/2006/main">
            <a:off x="768096" y="5449824"/>
            <a:ext cx="141015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provider requests</a:t>
            </a:r>
          </a:p>
        </p:txBody>
      </p:sp>
      <p:sp>
        <p:nvSpPr>
          <p:cNvPr id="13" name="Shape 10">
            <a:extLst xmlns:a="http://schemas.openxmlformats.org/drawingml/2006/main">
              <a:ext uri="{FF2B5EF4-FFF2-40B4-BE49-F238E27FC236}">
                <a16:creationId xmlns:a16="http://schemas.microsoft.com/office/drawing/2014/main" id="{BA323C09-ED53-49B9-B170-68B6498CA898}"/>
              </a:ext>
            </a:extLst>
          </p:cNvPr>
          <p:cNvSpPr>
            <a:spLocks xmlns:a="http://schemas.openxmlformats.org/drawingml/2006/main" noGrp="1"/>
          </p:cNvSpPr>
          <p:nvPr/>
        </p:nvSpPr>
        <p:spPr>
          <a:xfrm xmlns:a="http://schemas.openxmlformats.org/drawingml/2006/main">
            <a:off x="2489149" y="5029200"/>
            <a:ext cx="1666189"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DDDE3B08-C2BD-46ED-B6B8-3A53DCD645AC}"/>
              </a:ext>
            </a:extLst>
          </p:cNvPr>
          <p:cNvSpPr>
            <a:spLocks xmlns:a="http://schemas.openxmlformats.org/drawingml/2006/main" noGrp="1"/>
          </p:cNvSpPr>
          <p:nvPr/>
        </p:nvSpPr>
        <p:spPr>
          <a:xfrm xmlns:a="http://schemas.openxmlformats.org/drawingml/2006/main">
            <a:off x="2617165" y="5120640"/>
            <a:ext cx="141015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−39.5%</a:t>
            </a:r>
          </a:p>
        </p:txBody>
      </p:sp>
      <p:sp>
        <p:nvSpPr>
          <p:cNvPr id="15" name="Text 12">
            <a:extLst xmlns:a="http://schemas.openxmlformats.org/drawingml/2006/main">
              <a:ext uri="{FF2B5EF4-FFF2-40B4-BE49-F238E27FC236}">
                <a16:creationId xmlns:a16="http://schemas.microsoft.com/office/drawing/2014/main" id="{CABF4F47-440C-4BBF-A3BD-49B617D1FBCA}"/>
              </a:ext>
            </a:extLst>
          </p:cNvPr>
          <p:cNvSpPr>
            <a:spLocks xmlns:a="http://schemas.openxmlformats.org/drawingml/2006/main" noGrp="1"/>
          </p:cNvSpPr>
          <p:nvPr/>
        </p:nvSpPr>
        <p:spPr>
          <a:xfrm xmlns:a="http://schemas.openxmlformats.org/drawingml/2006/main">
            <a:off x="2617165" y="5449824"/>
            <a:ext cx="141015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total tokens</a:t>
            </a:r>
          </a:p>
        </p:txBody>
      </p:sp>
      <p:sp>
        <p:nvSpPr>
          <p:cNvPr id="16" name="Shape 13">
            <a:extLst xmlns:a="http://schemas.openxmlformats.org/drawingml/2006/main">
              <a:ext uri="{FF2B5EF4-FFF2-40B4-BE49-F238E27FC236}">
                <a16:creationId xmlns:a16="http://schemas.microsoft.com/office/drawing/2014/main" id="{6A3EA504-16D1-4E73-89CF-51A95EFEC371}"/>
              </a:ext>
            </a:extLst>
          </p:cNvPr>
          <p:cNvSpPr>
            <a:spLocks xmlns:a="http://schemas.openxmlformats.org/drawingml/2006/main" noGrp="1"/>
          </p:cNvSpPr>
          <p:nvPr/>
        </p:nvSpPr>
        <p:spPr>
          <a:xfrm xmlns:a="http://schemas.openxmlformats.org/drawingml/2006/main">
            <a:off x="4338218" y="5029200"/>
            <a:ext cx="1666189"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E82C28DB-26C6-4B88-8022-D13875BCEEF4}"/>
              </a:ext>
            </a:extLst>
          </p:cNvPr>
          <p:cNvSpPr>
            <a:spLocks xmlns:a="http://schemas.openxmlformats.org/drawingml/2006/main" noGrp="1"/>
          </p:cNvSpPr>
          <p:nvPr/>
        </p:nvSpPr>
        <p:spPr>
          <a:xfrm xmlns:a="http://schemas.openxmlformats.org/drawingml/2006/main">
            <a:off x="4466234" y="5120640"/>
            <a:ext cx="141015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−51.7%</a:t>
            </a:r>
          </a:p>
        </p:txBody>
      </p:sp>
      <p:sp>
        <p:nvSpPr>
          <p:cNvPr id="18" name="Text 15">
            <a:extLst xmlns:a="http://schemas.openxmlformats.org/drawingml/2006/main">
              <a:ext uri="{FF2B5EF4-FFF2-40B4-BE49-F238E27FC236}">
                <a16:creationId xmlns:a16="http://schemas.microsoft.com/office/drawing/2014/main" id="{000A2180-A3D0-4D75-9140-D790441F0CD4}"/>
              </a:ext>
            </a:extLst>
          </p:cNvPr>
          <p:cNvSpPr>
            <a:spLocks xmlns:a="http://schemas.openxmlformats.org/drawingml/2006/main" noGrp="1"/>
          </p:cNvSpPr>
          <p:nvPr/>
        </p:nvSpPr>
        <p:spPr>
          <a:xfrm xmlns:a="http://schemas.openxmlformats.org/drawingml/2006/main">
            <a:off x="4466234" y="5449824"/>
            <a:ext cx="141015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observed wall latency</a:t>
            </a:r>
          </a:p>
        </p:txBody>
      </p:sp>
      <p:sp>
        <p:nvSpPr>
          <p:cNvPr id="19" name="Shape 16">
            <a:extLst xmlns:a="http://schemas.openxmlformats.org/drawingml/2006/main">
              <a:ext uri="{FF2B5EF4-FFF2-40B4-BE49-F238E27FC236}">
                <a16:creationId xmlns:a16="http://schemas.microsoft.com/office/drawing/2014/main" id="{E6A26659-DE2E-4270-A226-3C25BB7C092F}"/>
              </a:ext>
            </a:extLst>
          </p:cNvPr>
          <p:cNvSpPr>
            <a:spLocks xmlns:a="http://schemas.openxmlformats.org/drawingml/2006/main" noGrp="1"/>
          </p:cNvSpPr>
          <p:nvPr/>
        </p:nvSpPr>
        <p:spPr>
          <a:xfrm xmlns:a="http://schemas.openxmlformats.org/drawingml/2006/main">
            <a:off x="6187288" y="5029200"/>
            <a:ext cx="1666189"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A2EDF812-069F-492B-91C7-1CCBA3C1A8C9}"/>
              </a:ext>
            </a:extLst>
          </p:cNvPr>
          <p:cNvSpPr>
            <a:spLocks xmlns:a="http://schemas.openxmlformats.org/drawingml/2006/main" noGrp="1"/>
          </p:cNvSpPr>
          <p:nvPr/>
        </p:nvSpPr>
        <p:spPr>
          <a:xfrm xmlns:a="http://schemas.openxmlformats.org/drawingml/2006/main">
            <a:off x="6315304" y="5120640"/>
            <a:ext cx="141015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−32.0%</a:t>
            </a:r>
          </a:p>
        </p:txBody>
      </p:sp>
      <p:sp>
        <p:nvSpPr>
          <p:cNvPr id="21" name="Text 18">
            <a:extLst xmlns:a="http://schemas.openxmlformats.org/drawingml/2006/main">
              <a:ext uri="{FF2B5EF4-FFF2-40B4-BE49-F238E27FC236}">
                <a16:creationId xmlns:a16="http://schemas.microsoft.com/office/drawing/2014/main" id="{C409B171-DF04-41B1-97EB-C3AAAE184E17}"/>
              </a:ext>
            </a:extLst>
          </p:cNvPr>
          <p:cNvSpPr>
            <a:spLocks xmlns:a="http://schemas.openxmlformats.org/drawingml/2006/main" noGrp="1"/>
          </p:cNvSpPr>
          <p:nvPr/>
        </p:nvSpPr>
        <p:spPr>
          <a:xfrm xmlns:a="http://schemas.openxmlformats.org/drawingml/2006/main">
            <a:off x="6315304" y="5449824"/>
            <a:ext cx="141015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estimated cost</a:t>
            </a:r>
          </a:p>
        </p:txBody>
      </p:sp>
      <p:sp>
        <p:nvSpPr>
          <p:cNvPr id="22" name="Shape 19">
            <a:extLst xmlns:a="http://schemas.openxmlformats.org/drawingml/2006/main">
              <a:ext uri="{FF2B5EF4-FFF2-40B4-BE49-F238E27FC236}">
                <a16:creationId xmlns:a16="http://schemas.microsoft.com/office/drawing/2014/main" id="{64768BAF-66DD-4327-B3FD-72CF476370C1}"/>
              </a:ext>
            </a:extLst>
          </p:cNvPr>
          <p:cNvSpPr>
            <a:spLocks xmlns:a="http://schemas.openxmlformats.org/drawingml/2006/main" noGrp="1"/>
          </p:cNvSpPr>
          <p:nvPr/>
        </p:nvSpPr>
        <p:spPr>
          <a:xfrm xmlns:a="http://schemas.openxmlformats.org/drawingml/2006/main">
            <a:off x="8036357" y="5029200"/>
            <a:ext cx="1666189"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3" name="Text 20">
            <a:extLst xmlns:a="http://schemas.openxmlformats.org/drawingml/2006/main">
              <a:ext uri="{FF2B5EF4-FFF2-40B4-BE49-F238E27FC236}">
                <a16:creationId xmlns:a16="http://schemas.microsoft.com/office/drawing/2014/main" id="{11B31463-7EAE-4233-A7CD-2354DE23B645}"/>
              </a:ext>
            </a:extLst>
          </p:cNvPr>
          <p:cNvSpPr>
            <a:spLocks xmlns:a="http://schemas.openxmlformats.org/drawingml/2006/main" noGrp="1"/>
          </p:cNvSpPr>
          <p:nvPr/>
        </p:nvSpPr>
        <p:spPr>
          <a:xfrm xmlns:a="http://schemas.openxmlformats.org/drawingml/2006/main">
            <a:off x="8164373" y="5120640"/>
            <a:ext cx="141015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8A99"/>
                </a:solidFill>
                <a:latin typeface="Cambria"/>
                <a:ea typeface="Cambria"/>
                <a:cs typeface="Cambria"/>
              </a:rPr>
              <a:t>30 / 30</a:t>
            </a:r>
          </a:p>
        </p:txBody>
      </p:sp>
      <p:sp>
        <p:nvSpPr>
          <p:cNvPr id="24" name="Text 21">
            <a:extLst xmlns:a="http://schemas.openxmlformats.org/drawingml/2006/main">
              <a:ext uri="{FF2B5EF4-FFF2-40B4-BE49-F238E27FC236}">
                <a16:creationId xmlns:a16="http://schemas.microsoft.com/office/drawing/2014/main" id="{1B2A1142-B1EB-4E1C-B298-11A66A535DED}"/>
              </a:ext>
            </a:extLst>
          </p:cNvPr>
          <p:cNvSpPr>
            <a:spLocks xmlns:a="http://schemas.openxmlformats.org/drawingml/2006/main" noGrp="1"/>
          </p:cNvSpPr>
          <p:nvPr/>
        </p:nvSpPr>
        <p:spPr>
          <a:xfrm xmlns:a="http://schemas.openxmlformats.org/drawingml/2006/main">
            <a:off x="8164373" y="5449824"/>
            <a:ext cx="141015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exact + full task contracts, every arm</a:t>
            </a:r>
          </a:p>
        </p:txBody>
      </p:sp>
      <p:sp>
        <p:nvSpPr>
          <p:cNvPr id="25" name="Shape 22">
            <a:extLst xmlns:a="http://schemas.openxmlformats.org/drawingml/2006/main">
              <a:ext uri="{FF2B5EF4-FFF2-40B4-BE49-F238E27FC236}">
                <a16:creationId xmlns:a16="http://schemas.microsoft.com/office/drawing/2014/main" id="{110A2506-18D8-4128-84F3-747CEBE28B87}"/>
              </a:ext>
            </a:extLst>
          </p:cNvPr>
          <p:cNvSpPr>
            <a:spLocks xmlns:a="http://schemas.openxmlformats.org/drawingml/2006/main" noGrp="1"/>
          </p:cNvSpPr>
          <p:nvPr/>
        </p:nvSpPr>
        <p:spPr>
          <a:xfrm xmlns:a="http://schemas.openxmlformats.org/drawingml/2006/main">
            <a:off x="9885426" y="5029200"/>
            <a:ext cx="1666189" cy="969264"/>
          </a:xfrm>
          <a:prstGeom xmlns:a="http://schemas.openxmlformats.org/drawingml/2006/main" prst="roundRect">
            <a:avLst>
              <a:gd name="adj" fmla="val 4717"/>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6" name="Text 23">
            <a:extLst xmlns:a="http://schemas.openxmlformats.org/drawingml/2006/main">
              <a:ext uri="{FF2B5EF4-FFF2-40B4-BE49-F238E27FC236}">
                <a16:creationId xmlns:a16="http://schemas.microsoft.com/office/drawing/2014/main" id="{5A084AE7-FE0E-4275-9277-7E6C6DA997CD}"/>
              </a:ext>
            </a:extLst>
          </p:cNvPr>
          <p:cNvSpPr>
            <a:spLocks xmlns:a="http://schemas.openxmlformats.org/drawingml/2006/main" noGrp="1"/>
          </p:cNvSpPr>
          <p:nvPr/>
        </p:nvSpPr>
        <p:spPr>
          <a:xfrm xmlns:a="http://schemas.openxmlformats.org/drawingml/2006/main">
            <a:off x="10013442" y="5120640"/>
            <a:ext cx="141015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A93B2B"/>
                </a:solidFill>
                <a:latin typeface="Cambria"/>
                <a:ea typeface="Cambria"/>
                <a:cs typeface="Cambria"/>
              </a:rPr>
              <a:t>9.5%</a:t>
            </a:r>
          </a:p>
        </p:txBody>
      </p:sp>
      <p:sp>
        <p:nvSpPr>
          <p:cNvPr id="27" name="Text 24">
            <a:extLst xmlns:a="http://schemas.openxmlformats.org/drawingml/2006/main">
              <a:ext uri="{FF2B5EF4-FFF2-40B4-BE49-F238E27FC236}">
                <a16:creationId xmlns:a16="http://schemas.microsoft.com/office/drawing/2014/main" id="{A1FB5531-0070-408E-8EFE-F7C1A08CF08A}"/>
              </a:ext>
            </a:extLst>
          </p:cNvPr>
          <p:cNvSpPr>
            <a:spLocks xmlns:a="http://schemas.openxmlformats.org/drawingml/2006/main" noGrp="1"/>
          </p:cNvSpPr>
          <p:nvPr/>
        </p:nvSpPr>
        <p:spPr>
          <a:xfrm xmlns:a="http://schemas.openxmlformats.org/drawingml/2006/main">
            <a:off x="10013442" y="5449824"/>
            <a:ext cx="141015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900">
                <a:solidFill>
                  <a:srgbClr val="5A6B84"/>
                </a:solidFill>
                <a:latin typeface="Calibri"/>
                <a:ea typeface="Calibri"/>
                <a:cs typeface="Calibri"/>
              </a:rPr>
              <a:t>one-sided bound on paired degradation</a:t>
            </a:r>
          </a:p>
        </p:txBody>
      </p:sp>
      <p:sp>
        <p:nvSpPr>
          <p:cNvPr id="28" name="Text 25">
            <a:extLst xmlns:a="http://schemas.openxmlformats.org/drawingml/2006/main">
              <a:ext uri="{FF2B5EF4-FFF2-40B4-BE49-F238E27FC236}">
                <a16:creationId xmlns:a16="http://schemas.microsoft.com/office/drawing/2014/main" id="{0B3235D2-C986-49C9-B8A7-E2BBFC195515}"/>
              </a:ext>
            </a:extLst>
          </p:cNvPr>
          <p:cNvSpPr>
            <a:spLocks xmlns:a="http://schemas.openxmlformats.org/drawingml/2006/main" noGrp="1"/>
          </p:cNvSpPr>
          <p:nvPr/>
        </p:nvSpPr>
        <p:spPr>
          <a:xfrm xmlns:a="http://schemas.openxmlformats.org/drawingml/2006/main">
            <a:off x="640080" y="5998464"/>
            <a:ext cx="1091153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i="1">
                <a:solidFill>
                  <a:srgbClr val="5A6B84"/>
                </a:solidFill>
                <a:latin typeface="Calibri"/>
                <a:ea typeface="Calibri"/>
                <a:cs typeface="Calibri"/>
              </a:rPr>
              <a:t>Thresholds below 0.11 admit none and those at or above 0.11 admit all 92, so this remains a sample-size gate rather than a demonstrated risk–coverage discriminator. Break-even against the 132-episode discovery cost lands between 176 and 292 eligible future episodes depending on which resource is amortized.</a:t>
            </a:r>
          </a:p>
        </p:txBody>
      </p:sp>
    </p:spTree>
    <p:extLst>
      <p:ext uri="{BB962C8B-B14F-4D97-AF65-F5344CB8AC3E}">
        <p14:creationId xmlns:p14="http://schemas.microsoft.com/office/powerpoint/2010/main" val="8354366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D2F780-CD7E-4287-9912-1E1D2F42E4C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91C5BF02-3AC2-4565-8287-03A83EB28069}"/>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20</a:t>
            </a:r>
          </a:p>
        </p:txBody>
      </p:sp>
      <p:sp>
        <p:nvSpPr>
          <p:cNvPr id="4" name="Text 2">
            <a:extLst xmlns:a="http://schemas.openxmlformats.org/drawingml/2006/main">
              <a:ext uri="{FF2B5EF4-FFF2-40B4-BE49-F238E27FC236}">
                <a16:creationId xmlns:a16="http://schemas.microsoft.com/office/drawing/2014/main" id="{5EB4CFEF-34F1-4D82-BC22-DBAF92357E5E}"/>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§5.2  ·  TABLES 3 AND 4</a:t>
            </a:r>
          </a:p>
        </p:txBody>
      </p:sp>
      <p:sp>
        <p:nvSpPr>
          <p:cNvPr id="5" name="Text 3">
            <a:extLst xmlns:a="http://schemas.openxmlformats.org/drawingml/2006/main">
              <a:ext uri="{FF2B5EF4-FFF2-40B4-BE49-F238E27FC236}">
                <a16:creationId xmlns:a16="http://schemas.microsoft.com/office/drawing/2014/main" id="{D523BD44-1C12-46F1-A753-940BC2AC822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Preservation is not invariant to compilation depth</a:t>
            </a:r>
          </a:p>
        </p:txBody>
      </p:sp>
      <p:sp>
        <p:nvSpPr>
          <p:cNvPr id="6" name="Shape 4">
            <a:extLst xmlns:a="http://schemas.openxmlformats.org/drawingml/2006/main">
              <a:ext uri="{FF2B5EF4-FFF2-40B4-BE49-F238E27FC236}">
                <a16:creationId xmlns:a16="http://schemas.microsoft.com/office/drawing/2014/main" id="{5D17CEA0-41B2-470F-A064-572E9189326A}"/>
              </a:ext>
            </a:extLst>
          </p:cNvPr>
          <p:cNvSpPr>
            <a:spLocks xmlns:a="http://schemas.openxmlformats.org/drawingml/2006/main" noGrp="1"/>
          </p:cNvSpPr>
          <p:nvPr/>
        </p:nvSpPr>
        <p:spPr>
          <a:xfrm xmlns:a="http://schemas.openxmlformats.org/drawingml/2006/main">
            <a:off x="640080" y="1170432"/>
            <a:ext cx="5272888" cy="2944368"/>
          </a:xfrm>
          <a:prstGeom xmlns:a="http://schemas.openxmlformats.org/drawingml/2006/main" prst="roundRect">
            <a:avLst>
              <a:gd name="adj" fmla="val 155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97F6A203-925D-4BB2-857C-5A9B9DFCE119}"/>
              </a:ext>
            </a:extLst>
          </p:cNvPr>
          <p:cNvSpPr>
            <a:spLocks xmlns:a="http://schemas.openxmlformats.org/drawingml/2006/main" noGrp="1"/>
          </p:cNvSpPr>
          <p:nvPr/>
        </p:nvSpPr>
        <p:spPr>
          <a:xfrm xmlns:a="http://schemas.openxmlformats.org/drawingml/2006/main">
            <a:off x="914400" y="1316736"/>
            <a:ext cx="4724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0E1E3A"/>
                </a:solidFill>
                <a:latin typeface="Cambria"/>
                <a:ea typeface="Cambria"/>
                <a:cs typeface="Cambria"/>
              </a:rPr>
              <a:t>Two-read prefix</a:t>
            </a:r>
          </a:p>
        </p:txBody>
      </p:sp>
      <p:sp>
        <p:nvSpPr>
          <p:cNvPr id="8" name="Text 6">
            <a:extLst xmlns:a="http://schemas.openxmlformats.org/drawingml/2006/main">
              <a:ext uri="{FF2B5EF4-FFF2-40B4-BE49-F238E27FC236}">
                <a16:creationId xmlns:a16="http://schemas.microsoft.com/office/drawing/2014/main" id="{BF304F30-B28B-481A-9FE6-6A494265D3DD}"/>
              </a:ext>
            </a:extLst>
          </p:cNvPr>
          <p:cNvSpPr>
            <a:spLocks xmlns:a="http://schemas.openxmlformats.org/drawingml/2006/main" noGrp="1"/>
          </p:cNvSpPr>
          <p:nvPr/>
        </p:nvSpPr>
        <p:spPr>
          <a:xfrm xmlns:a="http://schemas.openxmlformats.org/drawingml/2006/main">
            <a:off x="914400" y="1645920"/>
            <a:ext cx="47242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5A6B84"/>
                </a:solidFill>
                <a:latin typeface="Calibri"/>
                <a:ea typeface="Calibri"/>
                <a:cs typeface="Calibri"/>
              </a:rPr>
              <a:t>expanded replication, 30 issues</a:t>
            </a:r>
          </a:p>
        </p:txBody>
      </p:sp>
      <p:sp>
        <p:nvSpPr>
          <p:cNvPr id="9" name="Text 7">
            <a:extLst xmlns:a="http://schemas.openxmlformats.org/drawingml/2006/main">
              <a:ext uri="{FF2B5EF4-FFF2-40B4-BE49-F238E27FC236}">
                <a16:creationId xmlns:a16="http://schemas.microsoft.com/office/drawing/2014/main" id="{DB8414C7-F309-4335-B6D1-74CB5AC5D0E0}"/>
              </a:ext>
            </a:extLst>
          </p:cNvPr>
          <p:cNvSpPr>
            <a:spLocks xmlns:a="http://schemas.openxmlformats.org/drawingml/2006/main" noGrp="1"/>
          </p:cNvSpPr>
          <p:nvPr/>
        </p:nvSpPr>
        <p:spPr>
          <a:xfrm xmlns:a="http://schemas.openxmlformats.org/drawingml/2006/main">
            <a:off x="914400" y="1975104"/>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−50.0%</a:t>
            </a:r>
          </a:p>
        </p:txBody>
      </p:sp>
      <p:sp>
        <p:nvSpPr>
          <p:cNvPr id="10" name="Text 8">
            <a:extLst xmlns:a="http://schemas.openxmlformats.org/drawingml/2006/main">
              <a:ext uri="{FF2B5EF4-FFF2-40B4-BE49-F238E27FC236}">
                <a16:creationId xmlns:a16="http://schemas.microsoft.com/office/drawing/2014/main" id="{157A420D-EDB0-4A0B-958E-B42A445B1A57}"/>
              </a:ext>
            </a:extLst>
          </p:cNvPr>
          <p:cNvSpPr>
            <a:spLocks xmlns:a="http://schemas.openxmlformats.org/drawingml/2006/main" noGrp="1"/>
          </p:cNvSpPr>
          <p:nvPr/>
        </p:nvSpPr>
        <p:spPr>
          <a:xfrm xmlns:a="http://schemas.openxmlformats.org/drawingml/2006/main">
            <a:off x="2377440" y="1975104"/>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provider requests</a:t>
            </a:r>
          </a:p>
        </p:txBody>
      </p:sp>
      <p:sp>
        <p:nvSpPr>
          <p:cNvPr id="11" name="Text 9">
            <a:extLst xmlns:a="http://schemas.openxmlformats.org/drawingml/2006/main">
              <a:ext uri="{FF2B5EF4-FFF2-40B4-BE49-F238E27FC236}">
                <a16:creationId xmlns:a16="http://schemas.microsoft.com/office/drawing/2014/main" id="{0216CD5F-AB09-4C08-8069-EEEAC6C3BF41}"/>
              </a:ext>
            </a:extLst>
          </p:cNvPr>
          <p:cNvSpPr>
            <a:spLocks xmlns:a="http://schemas.openxmlformats.org/drawingml/2006/main" noGrp="1"/>
          </p:cNvSpPr>
          <p:nvPr/>
        </p:nvSpPr>
        <p:spPr>
          <a:xfrm xmlns:a="http://schemas.openxmlformats.org/drawingml/2006/main">
            <a:off x="914400" y="2377440"/>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−39.5%</a:t>
            </a:r>
          </a:p>
        </p:txBody>
      </p:sp>
      <p:sp>
        <p:nvSpPr>
          <p:cNvPr id="12" name="Text 10">
            <a:extLst xmlns:a="http://schemas.openxmlformats.org/drawingml/2006/main">
              <a:ext uri="{FF2B5EF4-FFF2-40B4-BE49-F238E27FC236}">
                <a16:creationId xmlns:a16="http://schemas.microsoft.com/office/drawing/2014/main" id="{B03C82F9-055D-4241-91CF-1E13600919B4}"/>
              </a:ext>
            </a:extLst>
          </p:cNvPr>
          <p:cNvSpPr>
            <a:spLocks xmlns:a="http://schemas.openxmlformats.org/drawingml/2006/main" noGrp="1"/>
          </p:cNvSpPr>
          <p:nvPr/>
        </p:nvSpPr>
        <p:spPr>
          <a:xfrm xmlns:a="http://schemas.openxmlformats.org/drawingml/2006/main">
            <a:off x="2377440" y="2377440"/>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total tokens</a:t>
            </a:r>
          </a:p>
        </p:txBody>
      </p:sp>
      <p:sp>
        <p:nvSpPr>
          <p:cNvPr id="13" name="Text 11">
            <a:extLst xmlns:a="http://schemas.openxmlformats.org/drawingml/2006/main">
              <a:ext uri="{FF2B5EF4-FFF2-40B4-BE49-F238E27FC236}">
                <a16:creationId xmlns:a16="http://schemas.microsoft.com/office/drawing/2014/main" id="{FE782F5B-3DA3-42FD-8696-FBB797DFD361}"/>
              </a:ext>
            </a:extLst>
          </p:cNvPr>
          <p:cNvSpPr>
            <a:spLocks xmlns:a="http://schemas.openxmlformats.org/drawingml/2006/main" noGrp="1"/>
          </p:cNvSpPr>
          <p:nvPr/>
        </p:nvSpPr>
        <p:spPr>
          <a:xfrm xmlns:a="http://schemas.openxmlformats.org/drawingml/2006/main">
            <a:off x="914400" y="2779776"/>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30 / 30</a:t>
            </a:r>
          </a:p>
        </p:txBody>
      </p:sp>
      <p:sp>
        <p:nvSpPr>
          <p:cNvPr id="14" name="Text 12">
            <a:extLst xmlns:a="http://schemas.openxmlformats.org/drawingml/2006/main">
              <a:ext uri="{FF2B5EF4-FFF2-40B4-BE49-F238E27FC236}">
                <a16:creationId xmlns:a16="http://schemas.microsoft.com/office/drawing/2014/main" id="{0EB5638F-BED2-4935-826A-44F8C82A6392}"/>
              </a:ext>
            </a:extLst>
          </p:cNvPr>
          <p:cNvSpPr>
            <a:spLocks xmlns:a="http://schemas.openxmlformats.org/drawingml/2006/main" noGrp="1"/>
          </p:cNvSpPr>
          <p:nvPr/>
        </p:nvSpPr>
        <p:spPr>
          <a:xfrm xmlns:a="http://schemas.openxmlformats.org/drawingml/2006/main">
            <a:off x="2377440" y="2779776"/>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exact source contracts</a:t>
            </a:r>
          </a:p>
        </p:txBody>
      </p:sp>
      <p:sp>
        <p:nvSpPr>
          <p:cNvPr id="15" name="Text 13">
            <a:extLst xmlns:a="http://schemas.openxmlformats.org/drawingml/2006/main">
              <a:ext uri="{FF2B5EF4-FFF2-40B4-BE49-F238E27FC236}">
                <a16:creationId xmlns:a16="http://schemas.microsoft.com/office/drawing/2014/main" id="{ABFDB29F-C6BC-4D6D-B841-26C5B9183316}"/>
              </a:ext>
            </a:extLst>
          </p:cNvPr>
          <p:cNvSpPr>
            <a:spLocks xmlns:a="http://schemas.openxmlformats.org/drawingml/2006/main" noGrp="1"/>
          </p:cNvSpPr>
          <p:nvPr/>
        </p:nvSpPr>
        <p:spPr>
          <a:xfrm xmlns:a="http://schemas.openxmlformats.org/drawingml/2006/main">
            <a:off x="914400" y="3182112"/>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9.5%</a:t>
            </a:r>
          </a:p>
        </p:txBody>
      </p:sp>
      <p:sp>
        <p:nvSpPr>
          <p:cNvPr id="16" name="Text 14">
            <a:extLst xmlns:a="http://schemas.openxmlformats.org/drawingml/2006/main">
              <a:ext uri="{FF2B5EF4-FFF2-40B4-BE49-F238E27FC236}">
                <a16:creationId xmlns:a16="http://schemas.microsoft.com/office/drawing/2014/main" id="{7D41A7A1-4D62-4FC3-8BEA-8563950AEEB7}"/>
              </a:ext>
            </a:extLst>
          </p:cNvPr>
          <p:cNvSpPr>
            <a:spLocks xmlns:a="http://schemas.openxmlformats.org/drawingml/2006/main" noGrp="1"/>
          </p:cNvSpPr>
          <p:nvPr/>
        </p:nvSpPr>
        <p:spPr>
          <a:xfrm xmlns:a="http://schemas.openxmlformats.org/drawingml/2006/main">
            <a:off x="2377440" y="3182112"/>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degradation bound</a:t>
            </a:r>
          </a:p>
        </p:txBody>
      </p:sp>
      <p:sp>
        <p:nvSpPr>
          <p:cNvPr id="17" name="Text 15">
            <a:extLst xmlns:a="http://schemas.openxmlformats.org/drawingml/2006/main">
              <a:ext uri="{FF2B5EF4-FFF2-40B4-BE49-F238E27FC236}">
                <a16:creationId xmlns:a16="http://schemas.microsoft.com/office/drawing/2014/main" id="{C084E31B-84EF-4D8D-8C10-C8DC26B96F81}"/>
              </a:ext>
            </a:extLst>
          </p:cNvPr>
          <p:cNvSpPr>
            <a:spLocks xmlns:a="http://schemas.openxmlformats.org/drawingml/2006/main" noGrp="1"/>
          </p:cNvSpPr>
          <p:nvPr/>
        </p:nvSpPr>
        <p:spPr>
          <a:xfrm xmlns:a="http://schemas.openxmlformats.org/drawingml/2006/main">
            <a:off x="914400" y="3621024"/>
            <a:ext cx="47242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Groundability permits only two of three reads. Nothing is lost, and the bound is what the sample size allows — not equivalence.</a:t>
            </a:r>
          </a:p>
        </p:txBody>
      </p:sp>
      <p:sp>
        <p:nvSpPr>
          <p:cNvPr id="18" name="Shape 16">
            <a:extLst xmlns:a="http://schemas.openxmlformats.org/drawingml/2006/main">
              <a:ext uri="{FF2B5EF4-FFF2-40B4-BE49-F238E27FC236}">
                <a16:creationId xmlns:a16="http://schemas.microsoft.com/office/drawing/2014/main" id="{CA7E7CDA-43C6-46EF-95AC-9D685C3BD062}"/>
              </a:ext>
            </a:extLst>
          </p:cNvPr>
          <p:cNvSpPr>
            <a:spLocks xmlns:a="http://schemas.openxmlformats.org/drawingml/2006/main" noGrp="1"/>
          </p:cNvSpPr>
          <p:nvPr/>
        </p:nvSpPr>
        <p:spPr>
          <a:xfrm xmlns:a="http://schemas.openxmlformats.org/drawingml/2006/main">
            <a:off x="6278728" y="1170432"/>
            <a:ext cx="5272888" cy="2944368"/>
          </a:xfrm>
          <a:prstGeom xmlns:a="http://schemas.openxmlformats.org/drawingml/2006/main" prst="roundRect">
            <a:avLst>
              <a:gd name="adj" fmla="val 1553"/>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A8ED96A2-2DB1-4E4F-9E1A-A2FE72A3A7C8}"/>
              </a:ext>
            </a:extLst>
          </p:cNvPr>
          <p:cNvSpPr>
            <a:spLocks xmlns:a="http://schemas.openxmlformats.org/drawingml/2006/main" noGrp="1"/>
          </p:cNvSpPr>
          <p:nvPr/>
        </p:nvSpPr>
        <p:spPr>
          <a:xfrm xmlns:a="http://schemas.openxmlformats.org/drawingml/2006/main">
            <a:off x="6553048" y="1316736"/>
            <a:ext cx="4724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A93B2B"/>
                </a:solidFill>
                <a:latin typeface="Cambria"/>
                <a:ea typeface="Cambria"/>
                <a:cs typeface="Cambria"/>
              </a:rPr>
              <a:t>Three-read artifact</a:t>
            </a:r>
          </a:p>
        </p:txBody>
      </p:sp>
      <p:sp>
        <p:nvSpPr>
          <p:cNvPr id="20" name="Text 18">
            <a:extLst xmlns:a="http://schemas.openxmlformats.org/drawingml/2006/main">
              <a:ext uri="{FF2B5EF4-FFF2-40B4-BE49-F238E27FC236}">
                <a16:creationId xmlns:a16="http://schemas.microsoft.com/office/drawing/2014/main" id="{F2F8B897-D0D4-495F-816A-6286A1724281}"/>
              </a:ext>
            </a:extLst>
          </p:cNvPr>
          <p:cNvSpPr>
            <a:spLocks xmlns:a="http://schemas.openxmlformats.org/drawingml/2006/main" noGrp="1"/>
          </p:cNvSpPr>
          <p:nvPr/>
        </p:nvSpPr>
        <p:spPr>
          <a:xfrm xmlns:a="http://schemas.openxmlformats.org/drawingml/2006/main">
            <a:off x="6553048" y="1645920"/>
            <a:ext cx="47242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5A6B84"/>
                </a:solidFill>
                <a:latin typeface="Calibri"/>
                <a:ea typeface="Calibri"/>
                <a:cs typeface="Calibri"/>
              </a:rPr>
              <a:t>earlier aggressive study, 18 issues</a:t>
            </a:r>
          </a:p>
        </p:txBody>
      </p:sp>
      <p:sp>
        <p:nvSpPr>
          <p:cNvPr id="21" name="Text 19">
            <a:extLst xmlns:a="http://schemas.openxmlformats.org/drawingml/2006/main">
              <a:ext uri="{FF2B5EF4-FFF2-40B4-BE49-F238E27FC236}">
                <a16:creationId xmlns:a16="http://schemas.microsoft.com/office/drawing/2014/main" id="{7EA4C625-0C96-4AC0-9807-2001012A0C82}"/>
              </a:ext>
            </a:extLst>
          </p:cNvPr>
          <p:cNvSpPr>
            <a:spLocks xmlns:a="http://schemas.openxmlformats.org/drawingml/2006/main" noGrp="1"/>
          </p:cNvSpPr>
          <p:nvPr/>
        </p:nvSpPr>
        <p:spPr>
          <a:xfrm xmlns:a="http://schemas.openxmlformats.org/drawingml/2006/main">
            <a:off x="6553048" y="1975104"/>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A93B2B"/>
                </a:solidFill>
                <a:latin typeface="Cambria"/>
                <a:ea typeface="Cambria"/>
                <a:cs typeface="Cambria"/>
              </a:rPr>
              <a:t>−75.0%</a:t>
            </a:r>
          </a:p>
        </p:txBody>
      </p:sp>
      <p:sp>
        <p:nvSpPr>
          <p:cNvPr id="22" name="Text 20">
            <a:extLst xmlns:a="http://schemas.openxmlformats.org/drawingml/2006/main">
              <a:ext uri="{FF2B5EF4-FFF2-40B4-BE49-F238E27FC236}">
                <a16:creationId xmlns:a16="http://schemas.microsoft.com/office/drawing/2014/main" id="{F4CADD13-7721-4C21-A2F9-328CEF30A2A9}"/>
              </a:ext>
            </a:extLst>
          </p:cNvPr>
          <p:cNvSpPr>
            <a:spLocks xmlns:a="http://schemas.openxmlformats.org/drawingml/2006/main" noGrp="1"/>
          </p:cNvSpPr>
          <p:nvPr/>
        </p:nvSpPr>
        <p:spPr>
          <a:xfrm xmlns:a="http://schemas.openxmlformats.org/drawingml/2006/main">
            <a:off x="8016088" y="1975104"/>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provider requests</a:t>
            </a:r>
          </a:p>
        </p:txBody>
      </p:sp>
      <p:sp>
        <p:nvSpPr>
          <p:cNvPr id="23" name="Text 21">
            <a:extLst xmlns:a="http://schemas.openxmlformats.org/drawingml/2006/main">
              <a:ext uri="{FF2B5EF4-FFF2-40B4-BE49-F238E27FC236}">
                <a16:creationId xmlns:a16="http://schemas.microsoft.com/office/drawing/2014/main" id="{B43EB1A1-C4D9-4E45-91BE-F49396A0C9F5}"/>
              </a:ext>
            </a:extLst>
          </p:cNvPr>
          <p:cNvSpPr>
            <a:spLocks xmlns:a="http://schemas.openxmlformats.org/drawingml/2006/main" noGrp="1"/>
          </p:cNvSpPr>
          <p:nvPr/>
        </p:nvSpPr>
        <p:spPr>
          <a:xfrm xmlns:a="http://schemas.openxmlformats.org/drawingml/2006/main">
            <a:off x="6553048" y="2377440"/>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A93B2B"/>
                </a:solidFill>
                <a:latin typeface="Cambria"/>
                <a:ea typeface="Cambria"/>
                <a:cs typeface="Cambria"/>
              </a:rPr>
              <a:t>−66.0%</a:t>
            </a:r>
          </a:p>
        </p:txBody>
      </p:sp>
      <p:sp>
        <p:nvSpPr>
          <p:cNvPr id="24" name="Text 22">
            <a:extLst xmlns:a="http://schemas.openxmlformats.org/drawingml/2006/main">
              <a:ext uri="{FF2B5EF4-FFF2-40B4-BE49-F238E27FC236}">
                <a16:creationId xmlns:a16="http://schemas.microsoft.com/office/drawing/2014/main" id="{DEB2E538-A497-4C94-B158-7176B0CF1D0D}"/>
              </a:ext>
            </a:extLst>
          </p:cNvPr>
          <p:cNvSpPr>
            <a:spLocks xmlns:a="http://schemas.openxmlformats.org/drawingml/2006/main" noGrp="1"/>
          </p:cNvSpPr>
          <p:nvPr/>
        </p:nvSpPr>
        <p:spPr>
          <a:xfrm xmlns:a="http://schemas.openxmlformats.org/drawingml/2006/main">
            <a:off x="8016088" y="2377440"/>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total tokens</a:t>
            </a:r>
          </a:p>
        </p:txBody>
      </p:sp>
      <p:sp>
        <p:nvSpPr>
          <p:cNvPr id="25" name="Text 23">
            <a:extLst xmlns:a="http://schemas.openxmlformats.org/drawingml/2006/main">
              <a:ext uri="{FF2B5EF4-FFF2-40B4-BE49-F238E27FC236}">
                <a16:creationId xmlns:a16="http://schemas.microsoft.com/office/drawing/2014/main" id="{6BB45B8B-9949-466F-B65D-2BC9E4245DA3}"/>
              </a:ext>
            </a:extLst>
          </p:cNvPr>
          <p:cNvSpPr>
            <a:spLocks xmlns:a="http://schemas.openxmlformats.org/drawingml/2006/main" noGrp="1"/>
          </p:cNvSpPr>
          <p:nvPr/>
        </p:nvSpPr>
        <p:spPr>
          <a:xfrm xmlns:a="http://schemas.openxmlformats.org/drawingml/2006/main">
            <a:off x="6553048" y="2779776"/>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A93B2B"/>
                </a:solidFill>
                <a:latin typeface="Cambria"/>
                <a:ea typeface="Cambria"/>
                <a:cs typeface="Cambria"/>
              </a:rPr>
              <a:t>17 / 18</a:t>
            </a:r>
          </a:p>
        </p:txBody>
      </p:sp>
      <p:sp>
        <p:nvSpPr>
          <p:cNvPr id="26" name="Text 24">
            <a:extLst xmlns:a="http://schemas.openxmlformats.org/drawingml/2006/main">
              <a:ext uri="{FF2B5EF4-FFF2-40B4-BE49-F238E27FC236}">
                <a16:creationId xmlns:a16="http://schemas.microsoft.com/office/drawing/2014/main" id="{717E4E33-BC45-4C59-BA2D-6314A879A900}"/>
              </a:ext>
            </a:extLst>
          </p:cNvPr>
          <p:cNvSpPr>
            <a:spLocks xmlns:a="http://schemas.openxmlformats.org/drawingml/2006/main" noGrp="1"/>
          </p:cNvSpPr>
          <p:nvPr/>
        </p:nvSpPr>
        <p:spPr>
          <a:xfrm xmlns:a="http://schemas.openxmlformats.org/drawingml/2006/main">
            <a:off x="8016088" y="2779776"/>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exact source contracts</a:t>
            </a:r>
          </a:p>
        </p:txBody>
      </p:sp>
      <p:sp>
        <p:nvSpPr>
          <p:cNvPr id="27" name="Text 25">
            <a:extLst xmlns:a="http://schemas.openxmlformats.org/drawingml/2006/main">
              <a:ext uri="{FF2B5EF4-FFF2-40B4-BE49-F238E27FC236}">
                <a16:creationId xmlns:a16="http://schemas.microsoft.com/office/drawing/2014/main" id="{9706D796-61D1-49D6-A13E-B28083E38117}"/>
              </a:ext>
            </a:extLst>
          </p:cNvPr>
          <p:cNvSpPr>
            <a:spLocks xmlns:a="http://schemas.openxmlformats.org/drawingml/2006/main" noGrp="1"/>
          </p:cNvSpPr>
          <p:nvPr/>
        </p:nvSpPr>
        <p:spPr>
          <a:xfrm xmlns:a="http://schemas.openxmlformats.org/drawingml/2006/main">
            <a:off x="6553048" y="3182112"/>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A93B2B"/>
                </a:solidFill>
                <a:latin typeface="Cambria"/>
                <a:ea typeface="Cambria"/>
                <a:cs typeface="Cambria"/>
              </a:rPr>
              <a:t>23.8%</a:t>
            </a:r>
          </a:p>
        </p:txBody>
      </p:sp>
      <p:sp>
        <p:nvSpPr>
          <p:cNvPr id="28" name="Text 26">
            <a:extLst xmlns:a="http://schemas.openxmlformats.org/drawingml/2006/main">
              <a:ext uri="{FF2B5EF4-FFF2-40B4-BE49-F238E27FC236}">
                <a16:creationId xmlns:a16="http://schemas.microsoft.com/office/drawing/2014/main" id="{8F65A9F3-2772-44B4-BB72-05E29A47FC3A}"/>
              </a:ext>
            </a:extLst>
          </p:cNvPr>
          <p:cNvSpPr>
            <a:spLocks xmlns:a="http://schemas.openxmlformats.org/drawingml/2006/main" noGrp="1"/>
          </p:cNvSpPr>
          <p:nvPr/>
        </p:nvSpPr>
        <p:spPr>
          <a:xfrm xmlns:a="http://schemas.openxmlformats.org/drawingml/2006/main">
            <a:off x="8016088" y="3182112"/>
            <a:ext cx="32612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4354F"/>
                </a:solidFill>
                <a:latin typeface="Calibri"/>
                <a:ea typeface="Calibri"/>
                <a:cs typeface="Calibri"/>
              </a:rPr>
              <a:t>degradation bound</a:t>
            </a:r>
          </a:p>
        </p:txBody>
      </p:sp>
      <p:sp>
        <p:nvSpPr>
          <p:cNvPr id="29" name="Text 27">
            <a:extLst xmlns:a="http://schemas.openxmlformats.org/drawingml/2006/main">
              <a:ext uri="{FF2B5EF4-FFF2-40B4-BE49-F238E27FC236}">
                <a16:creationId xmlns:a16="http://schemas.microsoft.com/office/drawing/2014/main" id="{8C5DF349-4923-434F-A22F-F33A5791C1C4}"/>
              </a:ext>
            </a:extLst>
          </p:cNvPr>
          <p:cNvSpPr>
            <a:spLocks xmlns:a="http://schemas.openxmlformats.org/drawingml/2006/main" noGrp="1"/>
          </p:cNvSpPr>
          <p:nvPr/>
        </p:nvSpPr>
        <p:spPr>
          <a:xfrm xmlns:a="http://schemas.openxmlformats.org/drawingml/2006/main">
            <a:off x="6553048" y="3621024"/>
            <a:ext cx="47242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C4034"/>
                </a:solidFill>
                <a:latin typeface="Calibri"/>
                <a:ea typeface="Calibri"/>
                <a:cs typeface="Calibri"/>
              </a:rPr>
              <a:t>On issue 6602 the source contained a Markdown link; the compiled continuation dropped the URL and returned only its anchor text.</a:t>
            </a:r>
          </a:p>
        </p:txBody>
      </p:sp>
      <p:sp>
        <p:nvSpPr>
          <p:cNvPr id="30" name="Shape 28">
            <a:extLst xmlns:a="http://schemas.openxmlformats.org/drawingml/2006/main">
              <a:ext uri="{FF2B5EF4-FFF2-40B4-BE49-F238E27FC236}">
                <a16:creationId xmlns:a16="http://schemas.microsoft.com/office/drawing/2014/main" id="{DAFFD835-9ECC-4326-BB28-F9EE2C313D24}"/>
              </a:ext>
            </a:extLst>
          </p:cNvPr>
          <p:cNvSpPr>
            <a:spLocks xmlns:a="http://schemas.openxmlformats.org/drawingml/2006/main" noGrp="1"/>
          </p:cNvSpPr>
          <p:nvPr/>
        </p:nvSpPr>
        <p:spPr>
          <a:xfrm xmlns:a="http://schemas.openxmlformats.org/drawingml/2006/main">
            <a:off x="640080" y="4261104"/>
            <a:ext cx="10911535" cy="1207008"/>
          </a:xfrm>
          <a:prstGeom xmlns:a="http://schemas.openxmlformats.org/drawingml/2006/main" prst="roundRect">
            <a:avLst>
              <a:gd name="adj" fmla="val 3788"/>
            </a:avLst>
          </a:prstGeom>
          <a:solidFill xmlns:a="http://schemas.openxmlformats.org/drawingml/2006/main">
            <a:srgbClr val="EAF1F7"/>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1" name="Shape 29">
            <a:extLst xmlns:a="http://schemas.openxmlformats.org/drawingml/2006/main">
              <a:ext uri="{FF2B5EF4-FFF2-40B4-BE49-F238E27FC236}">
                <a16:creationId xmlns:a16="http://schemas.microsoft.com/office/drawing/2014/main" id="{E0F51929-3717-4EDA-9E17-CA03B41D1AF8}"/>
              </a:ext>
            </a:extLst>
          </p:cNvPr>
          <p:cNvSpPr>
            <a:spLocks xmlns:a="http://schemas.openxmlformats.org/drawingml/2006/main" noGrp="1"/>
          </p:cNvSpPr>
          <p:nvPr/>
        </p:nvSpPr>
        <p:spPr>
          <a:xfrm xmlns:a="http://schemas.openxmlformats.org/drawingml/2006/main">
            <a:off x="896112" y="4443984"/>
            <a:ext cx="329184" cy="32918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4FF653A0-B50E-4053-A9EB-7E9A1533F927}"/>
              </a:ext>
            </a:extLst>
          </p:cNvPr>
          <p:cNvSpPr>
            <a:spLocks xmlns:a="http://schemas.openxmlformats.org/drawingml/2006/main" noGrp="1"/>
          </p:cNvSpPr>
          <p:nvPr/>
        </p:nvSpPr>
        <p:spPr>
          <a:xfrm xmlns:a="http://schemas.openxmlformats.org/drawingml/2006/main">
            <a:off x="896112" y="444398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33" name="Text 31">
            <a:extLst xmlns:a="http://schemas.openxmlformats.org/drawingml/2006/main">
              <a:ext uri="{FF2B5EF4-FFF2-40B4-BE49-F238E27FC236}">
                <a16:creationId xmlns:a16="http://schemas.microsoft.com/office/drawing/2014/main" id="{1755EF7E-2C4E-48FE-B51B-057B17F9ED87}"/>
              </a:ext>
            </a:extLst>
          </p:cNvPr>
          <p:cNvSpPr>
            <a:spLocks xmlns:a="http://schemas.openxmlformats.org/drawingml/2006/main" noGrp="1"/>
          </p:cNvSpPr>
          <p:nvPr/>
        </p:nvSpPr>
        <p:spPr>
          <a:xfrm xmlns:a="http://schemas.openxmlformats.org/drawingml/2006/main">
            <a:off x="1335024" y="4407408"/>
            <a:ext cx="990569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1E3A"/>
                </a:solidFill>
                <a:latin typeface="Cambria"/>
                <a:ea typeface="Cambria"/>
                <a:cs typeface="Cambria"/>
              </a:rPr>
              <a:t>The miss fixes the gate's scope — and motivates a second admission layer</a:t>
            </a:r>
          </a:p>
        </p:txBody>
      </p:sp>
      <p:sp>
        <p:nvSpPr>
          <p:cNvPr id="34" name="Text 32">
            <a:extLst xmlns:a="http://schemas.openxmlformats.org/drawingml/2006/main">
              <a:ext uri="{FF2B5EF4-FFF2-40B4-BE49-F238E27FC236}">
                <a16:creationId xmlns:a16="http://schemas.microsoft.com/office/drawing/2014/main" id="{F97C92E0-7D51-4562-9E09-FFE6D9331BEF}"/>
              </a:ext>
            </a:extLst>
          </p:cNvPr>
          <p:cNvSpPr>
            <a:spLocks xmlns:a="http://schemas.openxmlformats.org/drawingml/2006/main" noGrp="1"/>
          </p:cNvSpPr>
          <p:nvPr/>
        </p:nvSpPr>
        <p:spPr>
          <a:xfrm xmlns:a="http://schemas.openxmlformats.org/drawingml/2006/main">
            <a:off x="1335024" y="4700016"/>
            <a:ext cx="990569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Zero calibration violations concern the compiled tool program: grounded arguments, tool outputs, call counts, declared effects. The verifier does not certify the downstream model continuation, so 45/45 clean program replays and a held-out factual miss are compatible. A framework-neutral ContinuationGuard — candidate answer, then an optional deterministic renderer, then baseline, revalidating either output before release — accepts 17 retained answers, detects issue 6602, and checked-renders it to 18/18 in provider-free replay. That establishes detection and rendering on retained records, not live latency, cost, non-inferiority, or cross-domain safety.</a:t>
            </a:r>
          </a:p>
        </p:txBody>
      </p:sp>
      <p:sp>
        <p:nvSpPr>
          <p:cNvPr id="35" name="Text 33">
            <a:extLst xmlns:a="http://schemas.openxmlformats.org/drawingml/2006/main">
              <a:ext uri="{FF2B5EF4-FFF2-40B4-BE49-F238E27FC236}">
                <a16:creationId xmlns:a16="http://schemas.microsoft.com/office/drawing/2014/main" id="{CB37B22E-001C-4AF0-A8D8-D65286C31791}"/>
              </a:ext>
            </a:extLst>
          </p:cNvPr>
          <p:cNvSpPr>
            <a:spLocks xmlns:a="http://schemas.openxmlformats.org/drawingml/2006/main" noGrp="1"/>
          </p:cNvSpPr>
          <p:nvPr/>
        </p:nvSpPr>
        <p:spPr>
          <a:xfrm xmlns:a="http://schemas.openxmlformats.org/drawingml/2006/main">
            <a:off x="640080" y="5596128"/>
            <a:ext cx="1091153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i="1">
                <a:solidFill>
                  <a:srgbClr val="5A6B84"/>
                </a:solidFill>
                <a:latin typeface="Calibri"/>
                <a:ea typeface="Calibri"/>
                <a:cs typeface="Calibri"/>
              </a:rPr>
              <a:t>McNemar carries almost no information at these sample sizes — p = 1 in both arms. The informative quantity is the one-sided exact bound on the paired degradation rate: 9.5% for the 30-record arm with zero compiler-only failures, 23.8% for the 18-record arm with its single discordance. H3 is therefore supported for the two-read artifact and not supported for the three-read one. A predeclared non-inferiority margin of a few percentage points would need hundreds of sealed pairs per domain.</a:t>
            </a:r>
          </a:p>
        </p:txBody>
      </p:sp>
    </p:spTree>
    <p:extLst>
      <p:ext uri="{BB962C8B-B14F-4D97-AF65-F5344CB8AC3E}">
        <p14:creationId xmlns:p14="http://schemas.microsoft.com/office/powerpoint/2010/main" val="13093039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32B28CC-C5A5-439E-AFD0-EA9B5777836D}"/>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70462BAD-1BFA-4C63-8A8F-61B7D2F808AB}"/>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21</a:t>
            </a:r>
          </a:p>
        </p:txBody>
      </p:sp>
      <p:sp>
        <p:nvSpPr>
          <p:cNvPr id="4" name="Text 2">
            <a:extLst xmlns:a="http://schemas.openxmlformats.org/drawingml/2006/main">
              <a:ext uri="{FF2B5EF4-FFF2-40B4-BE49-F238E27FC236}">
                <a16:creationId xmlns:a16="http://schemas.microsoft.com/office/drawing/2014/main" id="{01C8FBC7-4648-4830-BC6F-118DB348847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RQ4  ·  §5.3  ·  TABLE 5</a:t>
            </a:r>
          </a:p>
        </p:txBody>
      </p:sp>
      <p:sp>
        <p:nvSpPr>
          <p:cNvPr id="5" name="Text 3">
            <a:extLst xmlns:a="http://schemas.openxmlformats.org/drawingml/2006/main">
              <a:ext uri="{FF2B5EF4-FFF2-40B4-BE49-F238E27FC236}">
                <a16:creationId xmlns:a16="http://schemas.microsoft.com/office/drawing/2014/main" id="{523FCC0C-DE06-4761-895E-9AE697A6F7B5}"/>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Where compaction is partial, and where the saving inverts</a:t>
            </a:r>
          </a:p>
        </p:txBody>
      </p:sp>
      <p:graphicFrame>
        <p:nvGraphicFramePr>
          <p:cNvPr id="6" name="Chart 0"/>
          <p:cNvGraphicFramePr/>
          <p:nvPr/>
        </p:nvGraphicFramePr>
        <p:xfrm>
          <a:off xmlns:a="http://schemas.openxmlformats.org/drawingml/2006/main" x="640080" y="1152144"/>
          <a:ext xmlns:a="http://schemas.openxmlformats.org/drawingml/2006/main" cx="6766560" cy="3657600"/>
        </p:xfrm>
        <a:graphic xmlns:a="http://schemas.openxmlformats.org/drawingml/2006/main">
          <a:graphicData uri="http://schemas.openxmlformats.org/drawingml/2006/chart">
            <c:chart xmlns:r="http://schemas.openxmlformats.org/officeDocument/2006/relationships" xmlns:c="http://schemas.openxmlformats.org/drawingml/2006/chart" r:id="R43e41adab0e54d91"/>
          </a:graphicData>
        </a:graphic>
      </p:graphicFrame>
      <p:sp>
        <p:nvSpPr>
          <p:cNvPr id="7" name="Shape 4">
            <a:extLst xmlns:a="http://schemas.openxmlformats.org/drawingml/2006/main">
              <a:ext uri="{FF2B5EF4-FFF2-40B4-BE49-F238E27FC236}">
                <a16:creationId xmlns:a16="http://schemas.microsoft.com/office/drawing/2014/main" id="{1E5C47E7-EB3C-4FF5-A5D6-CE08402B28A1}"/>
              </a:ext>
            </a:extLst>
          </p:cNvPr>
          <p:cNvSpPr>
            <a:spLocks xmlns:a="http://schemas.openxmlformats.org/drawingml/2006/main" noGrp="1"/>
          </p:cNvSpPr>
          <p:nvPr/>
        </p:nvSpPr>
        <p:spPr>
          <a:xfrm xmlns:a="http://schemas.openxmlformats.org/drawingml/2006/main">
            <a:off x="7635240" y="1152144"/>
            <a:ext cx="3916375" cy="1700784"/>
          </a:xfrm>
          <a:prstGeom xmlns:a="http://schemas.openxmlformats.org/drawingml/2006/main" prst="roundRect">
            <a:avLst>
              <a:gd name="adj" fmla="val 2688"/>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B7B2F913-1D2A-4CD2-9280-808FAABD6D25}"/>
              </a:ext>
            </a:extLst>
          </p:cNvPr>
          <p:cNvSpPr>
            <a:spLocks xmlns:a="http://schemas.openxmlformats.org/drawingml/2006/main" noGrp="1"/>
          </p:cNvSpPr>
          <p:nvPr/>
        </p:nvSpPr>
        <p:spPr>
          <a:xfrm xmlns:a="http://schemas.openxmlformats.org/drawingml/2006/main">
            <a:off x="7854696" y="1280160"/>
            <a:ext cx="347746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150" b="1">
                <a:solidFill>
                  <a:srgbClr val="0E1E3A"/>
                </a:solidFill>
                <a:latin typeface="Cambria"/>
                <a:ea typeface="Cambria"/>
                <a:cs typeface="Cambria"/>
              </a:rPr>
              <a:t>Partial compaction is the correct outcome when a workflow commits</a:t>
            </a:r>
          </a:p>
        </p:txBody>
      </p:sp>
      <p:sp>
        <p:nvSpPr>
          <p:cNvPr id="9" name="Text 6">
            <a:extLst xmlns:a="http://schemas.openxmlformats.org/drawingml/2006/main">
              <a:ext uri="{FF2B5EF4-FFF2-40B4-BE49-F238E27FC236}">
                <a16:creationId xmlns:a16="http://schemas.microsoft.com/office/drawing/2014/main" id="{E4819C4C-412A-4A38-9547-F007ACC1B99E}"/>
              </a:ext>
            </a:extLst>
          </p:cNvPr>
          <p:cNvSpPr>
            <a:spLocks xmlns:a="http://schemas.openxmlformats.org/drawingml/2006/main" noGrp="1"/>
          </p:cNvSpPr>
          <p:nvPr/>
        </p:nvSpPr>
        <p:spPr>
          <a:xfrm xmlns:a="http://schemas.openxmlformats.org/drawingml/2006/main">
            <a:off x="7854696" y="1719072"/>
            <a:ext cx="3477463"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a:solidFill>
                  <a:srgbClr val="24354F"/>
                </a:solidFill>
                <a:latin typeface="Calibri"/>
                <a:ea typeface="Calibri"/>
                <a:cs typeface="Calibri"/>
              </a:rPr>
              <a:t>Demo E holds two entry-state branches and one observation-dependent branch, and ends every episode in an irreversible write. Model calls fall 7 → 2 rather than 7 → 1: the evidence turns disappear, the decision turn and the write survive, and tokens fall 66.4% at unchanged quality. This is the shape most real operational workflows have, and it is absent from Tiers 1 and 2.</a:t>
            </a:r>
          </a:p>
        </p:txBody>
      </p:sp>
      <p:sp>
        <p:nvSpPr>
          <p:cNvPr id="10" name="Shape 7">
            <a:extLst xmlns:a="http://schemas.openxmlformats.org/drawingml/2006/main">
              <a:ext uri="{FF2B5EF4-FFF2-40B4-BE49-F238E27FC236}">
                <a16:creationId xmlns:a16="http://schemas.microsoft.com/office/drawing/2014/main" id="{831751BF-F4F2-4212-8E64-663687B4BB1F}"/>
              </a:ext>
            </a:extLst>
          </p:cNvPr>
          <p:cNvSpPr>
            <a:spLocks xmlns:a="http://schemas.openxmlformats.org/drawingml/2006/main" noGrp="1"/>
          </p:cNvSpPr>
          <p:nvPr/>
        </p:nvSpPr>
        <p:spPr>
          <a:xfrm xmlns:a="http://schemas.openxmlformats.org/drawingml/2006/main">
            <a:off x="7635240" y="2980944"/>
            <a:ext cx="3916375" cy="1572768"/>
          </a:xfrm>
          <a:prstGeom xmlns:a="http://schemas.openxmlformats.org/drawingml/2006/main" prst="roundRect">
            <a:avLst>
              <a:gd name="adj" fmla="val 2907"/>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E38163DB-0985-4F21-B1CE-3C4F8FCEEA38}"/>
              </a:ext>
            </a:extLst>
          </p:cNvPr>
          <p:cNvSpPr>
            <a:spLocks xmlns:a="http://schemas.openxmlformats.org/drawingml/2006/main" noGrp="1"/>
          </p:cNvSpPr>
          <p:nvPr/>
        </p:nvSpPr>
        <p:spPr>
          <a:xfrm xmlns:a="http://schemas.openxmlformats.org/drawingml/2006/main">
            <a:off x="7854696" y="3108960"/>
            <a:ext cx="347746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Refusal reproduces the baseline execution, not the baseline invoice</a:t>
            </a:r>
          </a:p>
        </p:txBody>
      </p:sp>
      <p:sp>
        <p:nvSpPr>
          <p:cNvPr id="12" name="Text 9">
            <a:extLst xmlns:a="http://schemas.openxmlformats.org/drawingml/2006/main">
              <a:ext uri="{FF2B5EF4-FFF2-40B4-BE49-F238E27FC236}">
                <a16:creationId xmlns:a16="http://schemas.microsoft.com/office/drawing/2014/main" id="{6BAD191E-6367-4DC0-9072-0FB7F6F5105D}"/>
              </a:ext>
            </a:extLst>
          </p:cNvPr>
          <p:cNvSpPr>
            <a:spLocks xmlns:a="http://schemas.openxmlformats.org/drawingml/2006/main" noGrp="1"/>
          </p:cNvSpPr>
          <p:nvPr/>
        </p:nvSpPr>
        <p:spPr>
          <a:xfrm xmlns:a="http://schemas.openxmlformats.org/drawingml/2006/main">
            <a:off x="7854696" y="3547872"/>
            <a:ext cx="3477463"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a:solidFill>
                  <a:srgbClr val="5C4034"/>
                </a:solidFill>
                <a:latin typeface="Calibri"/>
                <a:ea typeface="Calibri"/>
                <a:cs typeface="Calibri"/>
              </a:rPr>
              <a:t>The three negative controls — undeclared MCP effects, a loop-bearing artifact the adapter cannot advance one turn at a time, and an entry state whose intake schema drifted past the guard's pin — all return baseline model-call counts at identical quality, supporting H5. Yet two bill 55.4% and 54.5% more on identical token counts.</a:t>
            </a:r>
          </a:p>
        </p:txBody>
      </p:sp>
      <p:sp>
        <p:nvSpPr>
          <p:cNvPr id="13" name="Shape 10">
            <a:extLst xmlns:a="http://schemas.openxmlformats.org/drawingml/2006/main">
              <a:ext uri="{FF2B5EF4-FFF2-40B4-BE49-F238E27FC236}">
                <a16:creationId xmlns:a16="http://schemas.microsoft.com/office/drawing/2014/main" id="{A858DF89-8394-4867-853E-668B7EAA98D5}"/>
              </a:ext>
            </a:extLst>
          </p:cNvPr>
          <p:cNvSpPr>
            <a:spLocks xmlns:a="http://schemas.openxmlformats.org/drawingml/2006/main" noGrp="1"/>
          </p:cNvSpPr>
          <p:nvPr/>
        </p:nvSpPr>
        <p:spPr>
          <a:xfrm xmlns:a="http://schemas.openxmlformats.org/drawingml/2006/main">
            <a:off x="7635240" y="4681728"/>
            <a:ext cx="3916375" cy="1481328"/>
          </a:xfrm>
          <a:prstGeom xmlns:a="http://schemas.openxmlformats.org/drawingml/2006/main" prst="roundRect">
            <a:avLst>
              <a:gd name="adj" fmla="val 308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B4BF8730-8DA2-496F-958C-BFC8B219AF74}"/>
              </a:ext>
            </a:extLst>
          </p:cNvPr>
          <p:cNvSpPr>
            <a:spLocks xmlns:a="http://schemas.openxmlformats.org/drawingml/2006/main" noGrp="1"/>
          </p:cNvSpPr>
          <p:nvPr/>
        </p:nvSpPr>
        <p:spPr>
          <a:xfrm xmlns:a="http://schemas.openxmlformats.org/drawingml/2006/main">
            <a:off x="7854696" y="4809744"/>
            <a:ext cx="347746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The mechanism is prompt caching</a:t>
            </a:r>
          </a:p>
        </p:txBody>
      </p:sp>
      <p:sp>
        <p:nvSpPr>
          <p:cNvPr id="15" name="Text 12">
            <a:extLst xmlns:a="http://schemas.openxmlformats.org/drawingml/2006/main">
              <a:ext uri="{FF2B5EF4-FFF2-40B4-BE49-F238E27FC236}">
                <a16:creationId xmlns:a16="http://schemas.microsoft.com/office/drawing/2014/main" id="{BDAF82D0-E4D6-49AD-8C2E-D4D42251A71A}"/>
              </a:ext>
            </a:extLst>
          </p:cNvPr>
          <p:cNvSpPr>
            <a:spLocks xmlns:a="http://schemas.openxmlformats.org/drawingml/2006/main" noGrp="1"/>
          </p:cNvSpPr>
          <p:nvPr/>
        </p:nvSpPr>
        <p:spPr>
          <a:xfrm xmlns:a="http://schemas.openxmlformats.org/drawingml/2006/main">
            <a:off x="7854696" y="5248656"/>
            <a:ext cx="3477463"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a:solidFill>
                  <a:srgbClr val="5C4034"/>
                </a:solidFill>
                <a:latin typeface="Calibri"/>
                <a:ea typeface="Calibri"/>
                <a:cs typeface="Calibri"/>
              </a:rPr>
              <a:t>A seven-turn baseline pays one cache write over a long prefix then reads it six times; a two-turn compacted run pays the write with almost nothing to amortize against. Route specialization is worse one level up, since each route is a distinct cache prefix. Measured cached-input share falls 96% → 38% (E) and 98% → 58% (F).</a:t>
            </a:r>
          </a:p>
        </p:txBody>
      </p:sp>
      <p:sp>
        <p:nvSpPr>
          <p:cNvPr id="16" name="Shape 13">
            <a:extLst xmlns:a="http://schemas.openxmlformats.org/drawingml/2006/main">
              <a:ext uri="{FF2B5EF4-FFF2-40B4-BE49-F238E27FC236}">
                <a16:creationId xmlns:a16="http://schemas.microsoft.com/office/drawing/2014/main" id="{616C6D55-9616-4500-9FF8-12AF62096000}"/>
              </a:ext>
            </a:extLst>
          </p:cNvPr>
          <p:cNvSpPr>
            <a:spLocks xmlns:a="http://schemas.openxmlformats.org/drawingml/2006/main" noGrp="1"/>
          </p:cNvSpPr>
          <p:nvPr/>
        </p:nvSpPr>
        <p:spPr>
          <a:xfrm xmlns:a="http://schemas.openxmlformats.org/drawingml/2006/main">
            <a:off x="640080" y="5047488"/>
            <a:ext cx="6766560" cy="1060704"/>
          </a:xfrm>
          <a:prstGeom xmlns:a="http://schemas.openxmlformats.org/drawingml/2006/main" prst="roundRect">
            <a:avLst>
              <a:gd name="adj" fmla="val 4310"/>
            </a:avLst>
          </a:prstGeom>
          <a:solidFill xmlns:a="http://schemas.openxmlformats.org/drawingml/2006/main">
            <a:srgbClr val="EAF1F7"/>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08DCD02B-B7A0-4C56-9BFE-3D83AD4ECE24}"/>
              </a:ext>
            </a:extLst>
          </p:cNvPr>
          <p:cNvSpPr>
            <a:spLocks xmlns:a="http://schemas.openxmlformats.org/drawingml/2006/main" noGrp="1"/>
          </p:cNvSpPr>
          <p:nvPr/>
        </p:nvSpPr>
        <p:spPr>
          <a:xfrm xmlns:a="http://schemas.openxmlformats.org/drawingml/2006/main">
            <a:off x="877824" y="5138928"/>
            <a:ext cx="62910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E1E3A"/>
                </a:solidFill>
                <a:latin typeface="Calibri"/>
                <a:ea typeface="Calibri"/>
                <a:cs typeface="Calibri"/>
              </a:rPr>
              <a:t>The direction is what the data supports; the magnitude is not. </a:t>
            </a:r>
            <a:r>
              <a:rPr sz="1050">
                <a:solidFill>
                  <a:srgbClr val="24354F"/>
                </a:solidFill>
                <a:latin typeface="Calibri"/>
                <a:ea typeface="Calibri"/>
                <a:cs typeface="Calibri"/>
              </a:rPr>
              <a:t>Only Demo F clears the noise floor set by the refusing controls, and the effect shrinks as episodes per prefix grow. The residue is a real design constraint eq. (5) does not price: a rarely-exercised route may never amortize its own cache write, and a cache-dominated baseline has far less dollar headroom than its token headroom implies.</a:t>
            </a:r>
          </a:p>
        </p:txBody>
      </p:sp>
    </p:spTree>
    <p:extLst>
      <p:ext uri="{BB962C8B-B14F-4D97-AF65-F5344CB8AC3E}">
        <p14:creationId xmlns:p14="http://schemas.microsoft.com/office/powerpoint/2010/main" val="11666451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4258D5-98EA-47AC-A166-5156862B5DFD}"/>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1D7FDA5D-03ED-4A01-AC41-476528B830FC}"/>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22</a:t>
            </a:r>
          </a:p>
        </p:txBody>
      </p:sp>
      <p:sp>
        <p:nvSpPr>
          <p:cNvPr id="4" name="Text 2">
            <a:extLst xmlns:a="http://schemas.openxmlformats.org/drawingml/2006/main">
              <a:ext uri="{FF2B5EF4-FFF2-40B4-BE49-F238E27FC236}">
                <a16:creationId xmlns:a16="http://schemas.microsoft.com/office/drawing/2014/main" id="{3CEF64B6-B61B-4341-952C-E88F48197F80}"/>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§5.4  ·  TABLE 6</a:t>
            </a:r>
          </a:p>
        </p:txBody>
      </p:sp>
      <p:sp>
        <p:nvSpPr>
          <p:cNvPr id="5" name="Text 3">
            <a:extLst xmlns:a="http://schemas.openxmlformats.org/drawingml/2006/main">
              <a:ext uri="{FF2B5EF4-FFF2-40B4-BE49-F238E27FC236}">
                <a16:creationId xmlns:a16="http://schemas.microsoft.com/office/drawing/2014/main" id="{00FE2AF0-1A91-4FC1-A740-78AE2F86B5C8}"/>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Manual composition is the stronger pre-GCS fixed-workflow baseline</a:t>
            </a:r>
          </a:p>
        </p:txBody>
      </p:sp>
      <p:sp>
        <p:nvSpPr>
          <p:cNvPr id="6" name="Text 4">
            <a:extLst xmlns:a="http://schemas.openxmlformats.org/drawingml/2006/main">
              <a:ext uri="{FF2B5EF4-FFF2-40B4-BE49-F238E27FC236}">
                <a16:creationId xmlns:a16="http://schemas.microsoft.com/office/drawing/2014/main" id="{EFF827D8-6CA7-4A5D-82ED-DA439FA8FFB4}"/>
              </a:ext>
            </a:extLst>
          </p:cNvPr>
          <p:cNvSpPr>
            <a:spLocks xmlns:a="http://schemas.openxmlformats.org/drawingml/2006/main" noGrp="1"/>
          </p:cNvSpPr>
          <p:nvPr/>
        </p:nvSpPr>
        <p:spPr>
          <a:xfrm xmlns:a="http://schemas.openxmlformats.org/drawingml/2006/main">
            <a:off x="640080" y="1170432"/>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250">
                <a:solidFill>
                  <a:srgbClr val="24354F"/>
                </a:solidFill>
                <a:latin typeface="Calibri"/>
                <a:ea typeface="Calibri"/>
                <a:cs typeface="Calibri"/>
              </a:rPr>
              <a:t>Against partial GRC, the hand-written composite matches exact quality and request savings while using one interface and fewer tokens. Once prefix reuse is priced the margin narrows: 30.9% fewer tokens but only 8.0% lower cost, because fusing three reads destroys the cached prefix (0.0% cache reads against 27.8% compiled). That negative result motivates interface-level synthesis rather than weakening admission.</a:t>
            </a:r>
          </a:p>
        </p:txBody>
      </p:sp>
      <p:sp>
        <p:nvSpPr>
          <p:cNvPr id="7" name="Text 5">
            <a:extLst xmlns:a="http://schemas.openxmlformats.org/drawingml/2006/main">
              <a:ext uri="{FF2B5EF4-FFF2-40B4-BE49-F238E27FC236}">
                <a16:creationId xmlns:a16="http://schemas.microsoft.com/office/drawing/2014/main" id="{0284D8CD-115F-4235-A90A-120AF97F348B}"/>
              </a:ext>
            </a:extLst>
          </p:cNvPr>
          <p:cNvSpPr>
            <a:spLocks xmlns:a="http://schemas.openxmlformats.org/drawingml/2006/main" noGrp="1"/>
          </p:cNvSpPr>
          <p:nvPr/>
        </p:nvSpPr>
        <p:spPr>
          <a:xfrm xmlns:a="http://schemas.openxmlformats.org/drawingml/2006/main">
            <a:off x="640080" y="1719072"/>
            <a:ext cx="5852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a:solidFill>
                  <a:srgbClr val="1F8A99"/>
                </a:solidFill>
                <a:latin typeface="Calibri"/>
                <a:ea typeface="Calibri"/>
                <a:cs typeface="Calibri"/>
              </a:rPr>
              <a:t>OFFLINE STRESS STUDY — PAIRED REQUEST RATIO VS THE UNCHANGED AGENT, LOWER IS BETTER</a:t>
            </a:r>
          </a:p>
        </p:txBody>
      </p:sp>
      <p:graphicFrame>
        <p:nvGraphicFramePr>
          <p:cNvPr id="8" name="Table 0"/>
          <p:cNvGraphicFramePr/>
          <p:nvPr/>
        </p:nvGraphicFramePr>
        <p:xfrm>
          <a:off xmlns:a="http://schemas.openxmlformats.org/drawingml/2006/main" x="640080" y="1956816"/>
          <a:ext xmlns:a="http://schemas.openxmlformats.org/drawingml/2006/main" cx="5852160" cy="1645920"/>
        </p:xfrm>
        <a:graphic xmlns:a="http://schemas.openxmlformats.org/drawingml/2006/main">
          <a:graphicData uri="http://schemas.openxmlformats.org/drawingml/2006/table">
            <a:tbl>
              <a:tblPr/>
              <a:tblGrid>
                <a:gridCol w="3108960"/>
                <a:gridCol w="914400"/>
                <a:gridCol w="914400"/>
                <a:gridCol w="914400"/>
              </a:tblGrid>
              <a:tr h="274320">
                <a:tc>
                  <a:txBody>
                    <a:bodyPr/>
                    <a:lstStyle/>
                    <a:p>
                      <a:pPr marL="0" indent="0">
                        <a:buNone/>
                      </a:pPr>
                      <a:r>
                        <a:rPr sz="1000" b="1">
                          <a:solidFill>
                            <a:srgbClr val="FFFFFF"/>
                          </a:solidFill>
                          <a:latin typeface="Calibri"/>
                          <a:ea typeface="Calibri"/>
                          <a:cs typeface="Calibri"/>
                        </a:rPr>
                        <a:t>Workload</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00" b="1">
                          <a:solidFill>
                            <a:srgbClr val="FFFFFF"/>
                          </a:solidFill>
                          <a:latin typeface="Calibri"/>
                          <a:ea typeface="Calibri"/>
                          <a:cs typeface="Calibri"/>
                        </a:rPr>
                        <a:t>Macro</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00" b="1">
                          <a:solidFill>
                            <a:srgbClr val="FFFFFF"/>
                          </a:solidFill>
                          <a:latin typeface="Calibri"/>
                          <a:ea typeface="Calibri"/>
                          <a:cs typeface="Calibri"/>
                        </a:rPr>
                        <a:t>GAC</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00" b="1">
                          <a:solidFill>
                            <a:srgbClr val="FFFFFF"/>
                          </a:solidFill>
                          <a:latin typeface="Calibri"/>
                          <a:ea typeface="Calibri"/>
                          <a:cs typeface="Calibri"/>
                        </a:rPr>
                        <a:t>Lower</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r>
              <a:tr h="274320">
                <a:tc>
                  <a:txBody>
                    <a:bodyPr/>
                    <a:lstStyle/>
                    <a:p>
                      <a:pPr marL="0" indent="0">
                        <a:buNone/>
                      </a:pPr>
                      <a:r>
                        <a:rPr sz="1000">
                          <a:solidFill>
                            <a:srgbClr val="24354F"/>
                          </a:solidFill>
                          <a:latin typeface="Calibri"/>
                          <a:ea typeface="Calibri"/>
                          <a:cs typeface="Calibri"/>
                        </a:rPr>
                        <a:t>Tier-1 support evidence gathering</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A93B2B"/>
                          </a:solidFill>
                          <a:latin typeface="Calibri"/>
                          <a:ea typeface="Calibri"/>
                          <a:cs typeface="Calibri"/>
                        </a:rPr>
                        <a:t>0.726</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a:solidFill>
                            <a:srgbClr val="24354F"/>
                          </a:solidFill>
                          <a:latin typeface="Calibri"/>
                          <a:ea typeface="Calibri"/>
                          <a:cs typeface="Calibri"/>
                        </a:rPr>
                        <a:t>0.755</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A93B2B"/>
                          </a:solidFill>
                          <a:latin typeface="Calibri"/>
                          <a:ea typeface="Calibri"/>
                          <a:cs typeface="Calibri"/>
                        </a:rPr>
                        <a:t>macro</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74320">
                <a:tc>
                  <a:txBody>
                    <a:bodyPr/>
                    <a:lstStyle/>
                    <a:p>
                      <a:pPr marL="0" indent="0">
                        <a:buNone/>
                      </a:pPr>
                      <a:r>
                        <a:rPr sz="1000">
                          <a:solidFill>
                            <a:srgbClr val="24354F"/>
                          </a:solidFill>
                          <a:latin typeface="Calibri"/>
                          <a:ea typeface="Calibri"/>
                          <a:cs typeface="Calibri"/>
                        </a:rPr>
                        <a:t>Permissioned RAG knowledge assistant</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0.335</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a:solidFill>
                            <a:srgbClr val="24354F"/>
                          </a:solidFill>
                          <a:latin typeface="Calibri"/>
                          <a:ea typeface="Calibri"/>
                          <a:cs typeface="Calibri"/>
                        </a:rPr>
                        <a:t>0.718</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macro</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74320">
                <a:tc>
                  <a:txBody>
                    <a:bodyPr/>
                    <a:lstStyle/>
                    <a:p>
                      <a:pPr marL="0" indent="0">
                        <a:buNone/>
                      </a:pPr>
                      <a:r>
                        <a:rPr sz="1000">
                          <a:solidFill>
                            <a:srgbClr val="24354F"/>
                          </a:solidFill>
                          <a:latin typeface="Calibri"/>
                          <a:ea typeface="Calibri"/>
                          <a:cs typeface="Calibri"/>
                        </a:rPr>
                        <a:t>Multi-agent incident triage</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a:solidFill>
                            <a:srgbClr val="24354F"/>
                          </a:solidFill>
                          <a:latin typeface="Calibri"/>
                          <a:ea typeface="Calibri"/>
                          <a:cs typeface="Calibri"/>
                        </a:rPr>
                        <a:t>0.922</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0.780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GAC</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74320">
                <a:tc>
                  <a:txBody>
                    <a:bodyPr/>
                    <a:lstStyle/>
                    <a:p>
                      <a:pPr marL="0" indent="0">
                        <a:buNone/>
                      </a:pPr>
                      <a:r>
                        <a:rPr sz="1000">
                          <a:solidFill>
                            <a:srgbClr val="24354F"/>
                          </a:solidFill>
                          <a:latin typeface="Calibri"/>
                          <a:ea typeface="Calibri"/>
                          <a:cs typeface="Calibri"/>
                        </a:rPr>
                        <a:t>Multi-tenant MCP ops (negative control)</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0.724</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a:solidFill>
                            <a:srgbClr val="24354F"/>
                          </a:solidFill>
                          <a:latin typeface="Calibri"/>
                          <a:ea typeface="Calibri"/>
                          <a:cs typeface="Calibri"/>
                        </a:rPr>
                        <a:t>1.000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macro</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74320">
                <a:tc>
                  <a:txBody>
                    <a:bodyPr/>
                    <a:lstStyle/>
                    <a:p>
                      <a:pPr marL="0" indent="0">
                        <a:buNone/>
                      </a:pPr>
                      <a:r>
                        <a:rPr sz="1000">
                          <a:solidFill>
                            <a:srgbClr val="24354F"/>
                          </a:solidFill>
                          <a:latin typeface="Calibri"/>
                          <a:ea typeface="Calibri"/>
                          <a:cs typeface="Calibri"/>
                        </a:rPr>
                        <a:t>Order-fulfillment exception handling</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a:solidFill>
                            <a:srgbClr val="24354F"/>
                          </a:solidFill>
                          <a:latin typeface="Calibri"/>
                          <a:ea typeface="Calibri"/>
                          <a:cs typeface="Calibri"/>
                        </a:rPr>
                        <a:t>0.661</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0.642</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GAC</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bl>
          </a:graphicData>
        </a:graphic>
      </p:graphicFrame>
      <p:sp>
        <p:nvSpPr>
          <p:cNvPr id="9" name="Shape 6">
            <a:extLst xmlns:a="http://schemas.openxmlformats.org/drawingml/2006/main">
              <a:ext uri="{FF2B5EF4-FFF2-40B4-BE49-F238E27FC236}">
                <a16:creationId xmlns:a16="http://schemas.microsoft.com/office/drawing/2014/main" id="{B7658AAE-B014-4D87-9171-9BAB272DE7DA}"/>
              </a:ext>
            </a:extLst>
          </p:cNvPr>
          <p:cNvSpPr>
            <a:spLocks xmlns:a="http://schemas.openxmlformats.org/drawingml/2006/main" noGrp="1"/>
          </p:cNvSpPr>
          <p:nvPr/>
        </p:nvSpPr>
        <p:spPr>
          <a:xfrm xmlns:a="http://schemas.openxmlformats.org/drawingml/2006/main">
            <a:off x="640080" y="3675888"/>
            <a:ext cx="5852160" cy="1060704"/>
          </a:xfrm>
          <a:prstGeom xmlns:a="http://schemas.openxmlformats.org/drawingml/2006/main" prst="roundRect">
            <a:avLst>
              <a:gd name="adj" fmla="val 4310"/>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42C7FE94-2ED3-48BD-8084-676E02B56C19}"/>
              </a:ext>
            </a:extLst>
          </p:cNvPr>
          <p:cNvSpPr>
            <a:spLocks xmlns:a="http://schemas.openxmlformats.org/drawingml/2006/main" noGrp="1"/>
          </p:cNvSpPr>
          <p:nvPr/>
        </p:nvSpPr>
        <p:spPr>
          <a:xfrm xmlns:a="http://schemas.openxmlformats.org/drawingml/2006/main">
            <a:off x="877824" y="3785616"/>
            <a:ext cx="537667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C4034"/>
                </a:solidFill>
                <a:latin typeface="Calibri"/>
                <a:ea typeface="Calibri"/>
                <a:cs typeface="Calibri"/>
              </a:rPr>
              <a:t>This substrate is simulated: a scripted policy stands in for the model at each boundary, so these ratios settle that the comparison was run — not the live question. The negative control is the most informative row: the macro takes a 27.6% saving that GAC refuses because the tool effects are undeclared and the catalog fails closed. Whether that is prudence or lost value depends on whether those tools really are read-only — exactly the question a human answers by writing the macro.</a:t>
            </a:r>
          </a:p>
        </p:txBody>
      </p:sp>
      <p:sp>
        <p:nvSpPr>
          <p:cNvPr id="11" name="Shape 8">
            <a:extLst xmlns:a="http://schemas.openxmlformats.org/drawingml/2006/main">
              <a:ext uri="{FF2B5EF4-FFF2-40B4-BE49-F238E27FC236}">
                <a16:creationId xmlns:a16="http://schemas.microsoft.com/office/drawing/2014/main" id="{1C095187-7E1B-4694-AD41-35A7C976B2CF}"/>
              </a:ext>
            </a:extLst>
          </p:cNvPr>
          <p:cNvSpPr>
            <a:spLocks xmlns:a="http://schemas.openxmlformats.org/drawingml/2006/main" noGrp="1"/>
          </p:cNvSpPr>
          <p:nvPr/>
        </p:nvSpPr>
        <p:spPr>
          <a:xfrm xmlns:a="http://schemas.openxmlformats.org/drawingml/2006/main">
            <a:off x="6821424" y="1719072"/>
            <a:ext cx="4730191" cy="1371600"/>
          </a:xfrm>
          <a:prstGeom xmlns:a="http://schemas.openxmlformats.org/drawingml/2006/main" prst="roundRect">
            <a:avLst>
              <a:gd name="adj" fmla="val 3333"/>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Shape 9">
            <a:extLst xmlns:a="http://schemas.openxmlformats.org/drawingml/2006/main">
              <a:ext uri="{FF2B5EF4-FFF2-40B4-BE49-F238E27FC236}">
                <a16:creationId xmlns:a16="http://schemas.microsoft.com/office/drawing/2014/main" id="{9F07AA65-0135-4A75-9353-B55424320192}"/>
              </a:ext>
            </a:extLst>
          </p:cNvPr>
          <p:cNvSpPr>
            <a:spLocks xmlns:a="http://schemas.openxmlformats.org/drawingml/2006/main" noGrp="1"/>
          </p:cNvSpPr>
          <p:nvPr/>
        </p:nvSpPr>
        <p:spPr>
          <a:xfrm xmlns:a="http://schemas.openxmlformats.org/drawingml/2006/main">
            <a:off x="7059168" y="1865376"/>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62DD83FB-6BC9-4093-93E7-EFD5D1C2C3EB}"/>
              </a:ext>
            </a:extLst>
          </p:cNvPr>
          <p:cNvSpPr>
            <a:spLocks xmlns:a="http://schemas.openxmlformats.org/drawingml/2006/main" noGrp="1"/>
          </p:cNvSpPr>
          <p:nvPr/>
        </p:nvSpPr>
        <p:spPr>
          <a:xfrm xmlns:a="http://schemas.openxmlformats.org/drawingml/2006/main">
            <a:off x="7059168" y="186537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4" name="Text 11">
            <a:extLst xmlns:a="http://schemas.openxmlformats.org/drawingml/2006/main">
              <a:ext uri="{FF2B5EF4-FFF2-40B4-BE49-F238E27FC236}">
                <a16:creationId xmlns:a16="http://schemas.microsoft.com/office/drawing/2014/main" id="{30435034-7625-4E6A-BA03-4C3678828FB9}"/>
              </a:ext>
            </a:extLst>
          </p:cNvPr>
          <p:cNvSpPr>
            <a:spLocks xmlns:a="http://schemas.openxmlformats.org/drawingml/2006/main" noGrp="1"/>
          </p:cNvSpPr>
          <p:nvPr/>
        </p:nvSpPr>
        <p:spPr>
          <a:xfrm xmlns:a="http://schemas.openxmlformats.org/drawingml/2006/main">
            <a:off x="7443216" y="1865376"/>
            <a:ext cx="38706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A93B2B"/>
                </a:solidFill>
                <a:latin typeface="Cambria"/>
                <a:ea typeface="Cambria"/>
                <a:cs typeface="Cambria"/>
              </a:rPr>
              <a:t>Write the composite tool when…</a:t>
            </a:r>
          </a:p>
        </p:txBody>
      </p:sp>
      <p:sp>
        <p:nvSpPr>
          <p:cNvPr id="15" name="Text 12">
            <a:extLst xmlns:a="http://schemas.openxmlformats.org/drawingml/2006/main">
              <a:ext uri="{FF2B5EF4-FFF2-40B4-BE49-F238E27FC236}">
                <a16:creationId xmlns:a16="http://schemas.microsoft.com/office/drawing/2014/main" id="{E7A3FA1F-2676-422A-8634-83404DC39735}"/>
              </a:ext>
            </a:extLst>
          </p:cNvPr>
          <p:cNvSpPr>
            <a:spLocks xmlns:a="http://schemas.openxmlformats.org/drawingml/2006/main" noGrp="1"/>
          </p:cNvSpPr>
          <p:nvPr/>
        </p:nvSpPr>
        <p:spPr>
          <a:xfrm xmlns:a="http://schemas.openxmlformats.org/drawingml/2006/main">
            <a:off x="7077456" y="2267712"/>
            <a:ext cx="4218127"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300"/>
              </a:spcAft>
              <a:buChar char="•"/>
            </a:pPr>
            <a:r>
              <a:rPr sz="1000">
                <a:solidFill>
                  <a:srgbClr val="5C4034"/>
                </a:solidFill>
                <a:latin typeface="Calibri"/>
                <a:ea typeface="Calibri"/>
                <a:cs typeface="Calibri"/>
              </a:rPr>
              <a:t>the read set is stable and low-entropy</a:t>
            </a:r>
          </a:p>
          <a:p xmlns:a="http://schemas.openxmlformats.org/drawingml/2006/main">
            <a:pPr marL="342900" indent="-342900">
              <a:lnSpc>
                <a:spcPct val="105000"/>
              </a:lnSpc>
              <a:spcAft>
                <a:spcPts val="300"/>
              </a:spcAft>
              <a:buChar char="•"/>
            </a:pPr>
            <a:r>
              <a:rPr sz="1000">
                <a:solidFill>
                  <a:srgbClr val="5C4034"/>
                </a:solidFill>
                <a:latin typeface="Calibri"/>
                <a:ea typeface="Calibri"/>
                <a:cs typeface="Calibri"/>
              </a:rPr>
              <a:t>the effects are already understood by a human</a:t>
            </a:r>
          </a:p>
          <a:p xmlns:a="http://schemas.openxmlformats.org/drawingml/2006/main">
            <a:pPr marL="342900" indent="-342900">
              <a:lnSpc>
                <a:spcPct val="105000"/>
              </a:lnSpc>
              <a:spcAft>
                <a:spcPts val="300"/>
              </a:spcAft>
              <a:buChar char="•"/>
            </a:pPr>
            <a:r>
              <a:rPr sz="1000">
                <a:solidFill>
                  <a:srgbClr val="5C4034"/>
                </a:solidFill>
                <a:latin typeface="Calibri"/>
                <a:ea typeface="Calibri"/>
                <a:cs typeface="Calibri"/>
              </a:rPr>
              <a:t>one interface redesign can fuse the reads</a:t>
            </a:r>
          </a:p>
        </p:txBody>
      </p:sp>
      <p:sp>
        <p:nvSpPr>
          <p:cNvPr id="16" name="Shape 13">
            <a:extLst xmlns:a="http://schemas.openxmlformats.org/drawingml/2006/main">
              <a:ext uri="{FF2B5EF4-FFF2-40B4-BE49-F238E27FC236}">
                <a16:creationId xmlns:a16="http://schemas.microsoft.com/office/drawing/2014/main" id="{0C938060-EF59-4B26-BB16-A1EDF83AC272}"/>
              </a:ext>
            </a:extLst>
          </p:cNvPr>
          <p:cNvSpPr>
            <a:spLocks xmlns:a="http://schemas.openxmlformats.org/drawingml/2006/main" noGrp="1"/>
          </p:cNvSpPr>
          <p:nvPr/>
        </p:nvSpPr>
        <p:spPr>
          <a:xfrm xmlns:a="http://schemas.openxmlformats.org/drawingml/2006/main">
            <a:off x="6821424" y="3218688"/>
            <a:ext cx="4730191"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A6CEC372-7DED-4421-A7D8-C86564F5F64C}"/>
              </a:ext>
            </a:extLst>
          </p:cNvPr>
          <p:cNvSpPr>
            <a:spLocks xmlns:a="http://schemas.openxmlformats.org/drawingml/2006/main" noGrp="1"/>
          </p:cNvSpPr>
          <p:nvPr/>
        </p:nvSpPr>
        <p:spPr>
          <a:xfrm xmlns:a="http://schemas.openxmlformats.org/drawingml/2006/main">
            <a:off x="7059168" y="3364992"/>
            <a:ext cx="310896" cy="31089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08358223-012D-4551-99DF-BEAAF176936A}"/>
              </a:ext>
            </a:extLst>
          </p:cNvPr>
          <p:cNvSpPr>
            <a:spLocks xmlns:a="http://schemas.openxmlformats.org/drawingml/2006/main" noGrp="1"/>
          </p:cNvSpPr>
          <p:nvPr/>
        </p:nvSpPr>
        <p:spPr>
          <a:xfrm xmlns:a="http://schemas.openxmlformats.org/drawingml/2006/main">
            <a:off x="7059168" y="336499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9" name="Text 16">
            <a:extLst xmlns:a="http://schemas.openxmlformats.org/drawingml/2006/main">
              <a:ext uri="{FF2B5EF4-FFF2-40B4-BE49-F238E27FC236}">
                <a16:creationId xmlns:a16="http://schemas.microsoft.com/office/drawing/2014/main" id="{C621FFCB-2015-4BB5-AB4D-2EED1638C60D}"/>
              </a:ext>
            </a:extLst>
          </p:cNvPr>
          <p:cNvSpPr>
            <a:spLocks xmlns:a="http://schemas.openxmlformats.org/drawingml/2006/main" noGrp="1"/>
          </p:cNvSpPr>
          <p:nvPr/>
        </p:nvSpPr>
        <p:spPr>
          <a:xfrm xmlns:a="http://schemas.openxmlformats.org/drawingml/2006/main">
            <a:off x="7443216" y="3364992"/>
            <a:ext cx="38706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1E3A"/>
                </a:solidFill>
                <a:latin typeface="Cambria"/>
                <a:ea typeface="Cambria"/>
                <a:cs typeface="Cambria"/>
              </a:rPr>
              <a:t>Guarded compilation earns its cost when…</a:t>
            </a:r>
          </a:p>
        </p:txBody>
      </p:sp>
      <p:sp>
        <p:nvSpPr>
          <p:cNvPr id="20" name="Text 17">
            <a:extLst xmlns:a="http://schemas.openxmlformats.org/drawingml/2006/main">
              <a:ext uri="{FF2B5EF4-FFF2-40B4-BE49-F238E27FC236}">
                <a16:creationId xmlns:a16="http://schemas.microsoft.com/office/drawing/2014/main" id="{99405B54-CE37-43DE-800A-06386A024932}"/>
              </a:ext>
            </a:extLst>
          </p:cNvPr>
          <p:cNvSpPr>
            <a:spLocks xmlns:a="http://schemas.openxmlformats.org/drawingml/2006/main" noGrp="1"/>
          </p:cNvSpPr>
          <p:nvPr/>
        </p:nvSpPr>
        <p:spPr>
          <a:xfrm xmlns:a="http://schemas.openxmlformats.org/drawingml/2006/main">
            <a:off x="7077456" y="3767328"/>
            <a:ext cx="4218127"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300"/>
              </a:spcAft>
              <a:buChar char="•"/>
            </a:pPr>
            <a:r>
              <a:rPr sz="1000">
                <a:solidFill>
                  <a:srgbClr val="24354F"/>
                </a:solidFill>
                <a:latin typeface="Calibri"/>
                <a:ea typeface="Calibri"/>
                <a:cs typeface="Calibri"/>
              </a:rPr>
              <a:t>which reads to make is itself the recurrent structure</a:t>
            </a:r>
          </a:p>
          <a:p xmlns:a="http://schemas.openxmlformats.org/drawingml/2006/main">
            <a:pPr marL="342900" indent="-342900">
              <a:lnSpc>
                <a:spcPct val="105000"/>
              </a:lnSpc>
              <a:spcAft>
                <a:spcPts val="300"/>
              </a:spcAft>
              <a:buChar char="•"/>
            </a:pPr>
            <a:r>
              <a:rPr sz="1000">
                <a:solidFill>
                  <a:srgbClr val="24354F"/>
                </a:solidFill>
                <a:latin typeface="Calibri"/>
                <a:ea typeface="Calibri"/>
                <a:cs typeface="Calibri"/>
              </a:rPr>
              <a:t>the region is branch-dependent</a:t>
            </a:r>
          </a:p>
          <a:p xmlns:a="http://schemas.openxmlformats.org/drawingml/2006/main">
            <a:pPr marL="342900" indent="-342900">
              <a:lnSpc>
                <a:spcPct val="105000"/>
              </a:lnSpc>
              <a:spcAft>
                <a:spcPts val="300"/>
              </a:spcAft>
              <a:buChar char="•"/>
            </a:pPr>
            <a:r>
              <a:rPr sz="1000">
                <a:solidFill>
                  <a:srgbClr val="24354F"/>
                </a:solidFill>
                <a:latin typeface="Calibri"/>
                <a:ea typeface="Calibri"/>
                <a:cs typeface="Calibri"/>
              </a:rPr>
              <a:t>manual discovery and maintenance would not amortize</a:t>
            </a:r>
          </a:p>
        </p:txBody>
      </p:sp>
      <p:sp>
        <p:nvSpPr>
          <p:cNvPr id="21" name="Shape 18">
            <a:extLst xmlns:a="http://schemas.openxmlformats.org/drawingml/2006/main">
              <a:ext uri="{FF2B5EF4-FFF2-40B4-BE49-F238E27FC236}">
                <a16:creationId xmlns:a16="http://schemas.microsoft.com/office/drawing/2014/main" id="{C866F2C8-EDAE-4253-9726-18901A5042CA}"/>
              </a:ext>
            </a:extLst>
          </p:cNvPr>
          <p:cNvSpPr>
            <a:spLocks xmlns:a="http://schemas.openxmlformats.org/drawingml/2006/main" noGrp="1"/>
          </p:cNvSpPr>
          <p:nvPr/>
        </p:nvSpPr>
        <p:spPr>
          <a:xfrm xmlns:a="http://schemas.openxmlformats.org/drawingml/2006/main">
            <a:off x="640080" y="4882896"/>
            <a:ext cx="10911535" cy="1225296"/>
          </a:xfrm>
          <a:prstGeom xmlns:a="http://schemas.openxmlformats.org/drawingml/2006/main" prst="roundRect">
            <a:avLst>
              <a:gd name="adj" fmla="val 3731"/>
            </a:avLst>
          </a:prstGeom>
          <a:solidFill xmlns:a="http://schemas.openxmlformats.org/drawingml/2006/main">
            <a:srgbClr val="EAF1F7"/>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19">
            <a:extLst xmlns:a="http://schemas.openxmlformats.org/drawingml/2006/main">
              <a:ext uri="{FF2B5EF4-FFF2-40B4-BE49-F238E27FC236}">
                <a16:creationId xmlns:a16="http://schemas.microsoft.com/office/drawing/2014/main" id="{D8DAC051-315E-49F0-A4DC-031BE80BF7DD}"/>
              </a:ext>
            </a:extLst>
          </p:cNvPr>
          <p:cNvSpPr>
            <a:spLocks xmlns:a="http://schemas.openxmlformats.org/drawingml/2006/main" noGrp="1"/>
          </p:cNvSpPr>
          <p:nvPr/>
        </p:nvSpPr>
        <p:spPr>
          <a:xfrm xmlns:a="http://schemas.openxmlformats.org/drawingml/2006/main">
            <a:off x="896112" y="4992624"/>
            <a:ext cx="10399471"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MECHANISTIC EXPLANATION AND A TESTABLE HYPOTHESIS</a:t>
            </a:r>
          </a:p>
        </p:txBody>
      </p:sp>
      <p:sp>
        <p:nvSpPr>
          <p:cNvPr id="23" name="Text 20">
            <a:extLst xmlns:a="http://schemas.openxmlformats.org/drawingml/2006/main">
              <a:ext uri="{FF2B5EF4-FFF2-40B4-BE49-F238E27FC236}">
                <a16:creationId xmlns:a16="http://schemas.microsoft.com/office/drawing/2014/main" id="{94488B91-4A81-4E50-911B-BD838648C7FD}"/>
              </a:ext>
            </a:extLst>
          </p:cNvPr>
          <p:cNvSpPr>
            <a:spLocks xmlns:a="http://schemas.openxmlformats.org/drawingml/2006/main" noGrp="1"/>
          </p:cNvSpPr>
          <p:nvPr/>
        </p:nvSpPr>
        <p:spPr>
          <a:xfrm xmlns:a="http://schemas.openxmlformats.org/drawingml/2006/main">
            <a:off x="896112" y="5230368"/>
            <a:ext cx="1039947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24354F"/>
                </a:solidFill>
                <a:latin typeface="Calibri"/>
                <a:ea typeface="Calibri"/>
                <a:cs typeface="Calibri"/>
              </a:rPr>
              <a:t>The macro is allowed to redesign the application interface: it fuses three reads, returns a task-specific sufficient record, and exposes one schema. The compiler is constrained to preserve existing interfaces, provenance, intermediate evidence, and fallback semantics — its groundability proof permits only a two-read prefix, and all three logical reads remain necessary. Hypothesis: manual macros dominate on stable, low-entropy workflows, while guarded compilation earns its cost across branching or changing families for which manual discovery and maintenance do not amortize. Live confirmation on 30 real issues: the macro matches the compiler's request count, uses one tool call instead of three, and beats it on tokens (−58.2% vs −39.5%) and estimated cost (−37.5% vs −32.0%); only observed wall latency favours the compiler, and that paired interval crosses zero.</a:t>
            </a:r>
          </a:p>
        </p:txBody>
      </p:sp>
    </p:spTree>
    <p:extLst>
      <p:ext uri="{BB962C8B-B14F-4D97-AF65-F5344CB8AC3E}">
        <p14:creationId xmlns:p14="http://schemas.microsoft.com/office/powerpoint/2010/main" val="16486194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4258D5-98EA-47AC-A166-5156862B5DFD}"/>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1D7FDA5D-03ED-4A01-AC41-476528B830FC}"/>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23</a:t>
            </a:r>
          </a:p>
        </p:txBody>
      </p:sp>
      <p:sp>
        <p:nvSpPr>
          <p:cNvPr id="4" name="Text 2">
            <a:extLst xmlns:a="http://schemas.openxmlformats.org/drawingml/2006/main">
              <a:ext uri="{FF2B5EF4-FFF2-40B4-BE49-F238E27FC236}">
                <a16:creationId xmlns:a16="http://schemas.microsoft.com/office/drawing/2014/main" id="{3CEF64B6-B61B-4341-952C-E88F48197F80}"/>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FAIR PLACEMENT + BOUNDED GEPA  ·  REAL-PROVIDER STUDY</a:t>
            </a:r>
          </a:p>
        </p:txBody>
      </p:sp>
      <p:sp>
        <p:nvSpPr>
          <p:cNvPr id="5" name="Text 3">
            <a:extLst xmlns:a="http://schemas.openxmlformats.org/drawingml/2006/main">
              <a:ext uri="{FF2B5EF4-FFF2-40B4-BE49-F238E27FC236}">
                <a16:creationId xmlns:a16="http://schemas.microsoft.com/office/drawing/2014/main" id="{00FE2AF0-1A91-4FC1-A740-78AE2F86B5C8}"/>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Fair placement ties GCS; bounded GEPA retains its seed</a:t>
            </a:r>
          </a:p>
        </p:txBody>
      </p:sp>
      <p:sp>
        <p:nvSpPr>
          <p:cNvPr id="6" name="Text 4">
            <a:extLst xmlns:a="http://schemas.openxmlformats.org/drawingml/2006/main">
              <a:ext uri="{FF2B5EF4-FFF2-40B4-BE49-F238E27FC236}">
                <a16:creationId xmlns:a16="http://schemas.microsoft.com/office/drawing/2014/main" id="{EFF827D8-6CA7-4A5D-82ED-DA439FA8FFB4}"/>
              </a:ext>
            </a:extLst>
          </p:cNvPr>
          <p:cNvSpPr>
            <a:spLocks xmlns:a="http://schemas.openxmlformats.org/drawingml/2006/main" noGrp="1"/>
          </p:cNvSpPr>
          <p:nvPr/>
        </p:nvSpPr>
        <p:spPr>
          <a:xfrm xmlns:a="http://schemas.openxmlformats.org/drawingml/2006/main">
            <a:off x="640080" y="1170432"/>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250">
                <a:solidFill>
                  <a:srgbClr val="24354F"/>
                </a:solidFill>
                <a:latin typeface="Calibri"/>
                <a:ea typeface="Calibri"/>
                <a:cs typeface="Calibri"/>
              </a:rPr>
              <a:t>All five arms pass 6/6. GCS and an independent manual pre-model program tie at one request, one interface, and identical input tokens; GEPA leaves the four-request workflow unchanged.</a:t>
            </a:r>
          </a:p>
        </p:txBody>
      </p:sp>
      <p:sp>
        <p:nvSpPr>
          <p:cNvPr id="7" name="Text 5">
            <a:extLst xmlns:a="http://schemas.openxmlformats.org/drawingml/2006/main">
              <a:ext uri="{FF2B5EF4-FFF2-40B4-BE49-F238E27FC236}">
                <a16:creationId xmlns:a16="http://schemas.microsoft.com/office/drawing/2014/main" id="{0284D8CD-115F-4235-A90A-120AF97F348B}"/>
              </a:ext>
            </a:extLst>
          </p:cNvPr>
          <p:cNvSpPr>
            <a:spLocks xmlns:a="http://schemas.openxmlformats.org/drawingml/2006/main" noGrp="1"/>
          </p:cNvSpPr>
          <p:nvPr/>
        </p:nvSpPr>
        <p:spPr>
          <a:xfrm xmlns:a="http://schemas.openxmlformats.org/drawingml/2006/main">
            <a:off x="640080" y="1719072"/>
            <a:ext cx="5852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a:solidFill>
                  <a:srgbClr val="1F8A99"/>
                </a:solidFill>
                <a:latin typeface="Calibri"/>
                <a:ea typeface="Calibri"/>
                <a:cs typeface="Calibri"/>
              </a:rPr>
              <a:t>6 FRESH HELD-OUT PUBLIC ISSUES — OPTIMIZATION COST EXCLUDED FROM DEPLOYMENT</a:t>
            </a:r>
          </a:p>
        </p:txBody>
      </p:sp>
      <p:graphicFrame>
        <p:nvGraphicFramePr>
          <p:cNvPr id="8" name="Table 0"/>
          <p:cNvGraphicFramePr/>
          <p:nvPr/>
        </p:nvGraphicFramePr>
        <p:xfrm>
          <a:off xmlns:a="http://schemas.openxmlformats.org/drawingml/2006/main" x="640080" y="1956816"/>
          <a:ext xmlns:a="http://schemas.openxmlformats.org/drawingml/2006/main" cx="5852160" cy="1645920"/>
        </p:xfrm>
        <a:graphic xmlns:a="http://schemas.openxmlformats.org/drawingml/2006/main">
          <a:graphicData uri="http://schemas.openxmlformats.org/drawingml/2006/table">
            <a:tbl>
              <a:tblPr/>
              <a:tblGrid>
                <a:gridCol w="3108960"/>
                <a:gridCol w="914400"/>
                <a:gridCol w="914400"/>
                <a:gridCol w="914400"/>
              </a:tblGrid>
              <a:tr h="274320">
                <a:tc>
                  <a:txBody>
                    <a:bodyPr/>
                    <a:lstStyle/>
                    <a:p>
                      <a:pPr marL="0" indent="0">
                        <a:buNone/>
                      </a:pPr>
                      <a:r>
                        <a:rPr sz="1000" b="1">
                          <a:solidFill>
                            <a:srgbClr val="FFFFFF"/>
                          </a:solidFill>
                          <a:latin typeface="Calibri"/>
                          <a:ea typeface="Calibri"/>
                          <a:cs typeface="Calibri"/>
                        </a:rPr>
                        <a:t>Condition</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00" b="1">
                          <a:solidFill>
                            <a:srgbClr val="FFFFFF"/>
                          </a:solidFill>
                          <a:latin typeface="Calibri"/>
                          <a:ea typeface="Calibri"/>
                          <a:cs typeface="Calibri"/>
                        </a:rPr>
                        <a:t>Requests</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00" b="1">
                          <a:solidFill>
                            <a:srgbClr val="FFFFFF"/>
                          </a:solidFill>
                          <a:latin typeface="Calibri"/>
                          <a:ea typeface="Calibri"/>
                          <a:cs typeface="Calibri"/>
                        </a:rPr>
                        <a:t>Interfaces</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00" b="1">
                          <a:solidFill>
                            <a:srgbClr val="FFFFFF"/>
                          </a:solidFill>
                          <a:latin typeface="Calibri"/>
                          <a:ea typeface="Calibri"/>
                          <a:cs typeface="Calibri"/>
                        </a:rPr>
                        <a:t>Exact</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r>
              <a:tr h="274320">
                <a:tc>
                  <a:txBody>
                    <a:bodyPr/>
                    <a:lstStyle/>
                    <a:p>
                      <a:pPr marL="0" indent="0">
                        <a:buNone/>
                      </a:pPr>
                      <a:r>
                        <a:rPr sz="1000">
                          <a:solidFill>
                            <a:srgbClr val="24354F"/>
                          </a:solidFill>
                          <a:latin typeface="Calibri"/>
                          <a:ea typeface="Calibri"/>
                          <a:cs typeface="Calibri"/>
                        </a:rPr>
                        <a:t>Unchanged</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A93B2B"/>
                          </a:solidFill>
                          <a:latin typeface="Calibri"/>
                          <a:ea typeface="Calibri"/>
                          <a:cs typeface="Calibri"/>
                        </a:rPr>
                        <a:t>4.0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a:solidFill>
                            <a:srgbClr val="24354F"/>
                          </a:solidFill>
                          <a:latin typeface="Calibri"/>
                          <a:ea typeface="Calibri"/>
                          <a:cs typeface="Calibri"/>
                        </a:rPr>
                        <a:t>3.0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A93B2B"/>
                          </a:solidFill>
                          <a:latin typeface="Calibri"/>
                          <a:ea typeface="Calibri"/>
                          <a:cs typeface="Calibri"/>
                        </a:rPr>
                        <a:t>6/6</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74320">
                <a:tc>
                  <a:txBody>
                    <a:bodyPr/>
                    <a:lstStyle/>
                    <a:p>
                      <a:pPr marL="0" indent="0">
                        <a:buNone/>
                      </a:pPr>
                      <a:r>
                        <a:rPr sz="1000">
                          <a:solidFill>
                            <a:srgbClr val="24354F"/>
                          </a:solidFill>
                          <a:latin typeface="Calibri"/>
                          <a:ea typeface="Calibri"/>
                          <a:cs typeface="Calibri"/>
                        </a:rPr>
                        <a:t>GEPA · seed</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4.0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a:solidFill>
                            <a:srgbClr val="24354F"/>
                          </a:solidFill>
                          <a:latin typeface="Calibri"/>
                          <a:ea typeface="Calibri"/>
                          <a:cs typeface="Calibri"/>
                        </a:rPr>
                        <a:t>3.0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6/6</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74320">
                <a:tc>
                  <a:txBody>
                    <a:bodyPr/>
                    <a:lstStyle/>
                    <a:p>
                      <a:pPr marL="0" indent="0">
                        <a:buNone/>
                      </a:pPr>
                      <a:r>
                        <a:rPr sz="1000">
                          <a:solidFill>
                            <a:srgbClr val="24354F"/>
                          </a:solidFill>
                          <a:latin typeface="Calibri"/>
                          <a:ea typeface="Calibri"/>
                          <a:cs typeface="Calibri"/>
                        </a:rPr>
                        <a:t>GCS</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a:solidFill>
                            <a:srgbClr val="24354F"/>
                          </a:solidFill>
                          <a:latin typeface="Calibri"/>
                          <a:ea typeface="Calibri"/>
                          <a:cs typeface="Calibri"/>
                        </a:rPr>
                        <a:t>1.0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1.0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6/6</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274320">
                <a:tc>
                  <a:txBody>
                    <a:bodyPr/>
                    <a:lstStyle/>
                    <a:p>
                      <a:pPr marL="0" indent="0">
                        <a:buNone/>
                      </a:pPr>
                      <a:r>
                        <a:rPr sz="1000">
                          <a:solidFill>
                            <a:srgbClr val="24354F"/>
                          </a:solidFill>
                          <a:latin typeface="Calibri"/>
                          <a:ea typeface="Calibri"/>
                          <a:cs typeface="Calibri"/>
                        </a:rPr>
                        <a:t>GCS + seed</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1.0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a:solidFill>
                            <a:srgbClr val="24354F"/>
                          </a:solidFill>
                          <a:latin typeface="Calibri"/>
                          <a:ea typeface="Calibri"/>
                          <a:cs typeface="Calibri"/>
                        </a:rPr>
                        <a:t>1.0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00" b="1">
                          <a:solidFill>
                            <a:srgbClr val="A93B2B"/>
                          </a:solidFill>
                          <a:latin typeface="Calibri"/>
                          <a:ea typeface="Calibri"/>
                          <a:cs typeface="Calibri"/>
                        </a:rPr>
                        <a:t>6/6</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274320">
                <a:tc>
                  <a:txBody>
                    <a:bodyPr/>
                    <a:lstStyle/>
                    <a:p>
                      <a:pPr marL="0" indent="0">
                        <a:buNone/>
                      </a:pPr>
                      <a:r>
                        <a:rPr sz="1000">
                          <a:solidFill>
                            <a:srgbClr val="24354F"/>
                          </a:solidFill>
                          <a:latin typeface="Calibri"/>
                          <a:ea typeface="Calibri"/>
                          <a:cs typeface="Calibri"/>
                        </a:rPr>
                        <a:t>Manual pre-model</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a:solidFill>
                            <a:srgbClr val="24354F"/>
                          </a:solidFill>
                          <a:latin typeface="Calibri"/>
                          <a:ea typeface="Calibri"/>
                          <a:cs typeface="Calibri"/>
                        </a:rPr>
                        <a:t>1.0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1.0</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00" b="1">
                          <a:solidFill>
                            <a:srgbClr val="1F8A99"/>
                          </a:solidFill>
                          <a:latin typeface="Calibri"/>
                          <a:ea typeface="Calibri"/>
                          <a:cs typeface="Calibri"/>
                        </a:rPr>
                        <a:t>6/6</a:t>
                      </a:r>
                    </a:p>
                  </a:txBody>
                  <a:tcPr marL="82296" marR="82296" marT="27432" marB="27432"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bl>
          </a:graphicData>
        </a:graphic>
      </p:graphicFrame>
      <p:sp>
        <p:nvSpPr>
          <p:cNvPr id="9" name="Shape 6">
            <a:extLst xmlns:a="http://schemas.openxmlformats.org/drawingml/2006/main">
              <a:ext uri="{FF2B5EF4-FFF2-40B4-BE49-F238E27FC236}">
                <a16:creationId xmlns:a16="http://schemas.microsoft.com/office/drawing/2014/main" id="{B7658AAE-B014-4D87-9171-9BAB272DE7DA}"/>
              </a:ext>
            </a:extLst>
          </p:cNvPr>
          <p:cNvSpPr>
            <a:spLocks xmlns:a="http://schemas.openxmlformats.org/drawingml/2006/main" noGrp="1"/>
          </p:cNvSpPr>
          <p:nvPr/>
        </p:nvSpPr>
        <p:spPr>
          <a:xfrm xmlns:a="http://schemas.openxmlformats.org/drawingml/2006/main">
            <a:off x="640080" y="3675888"/>
            <a:ext cx="5852160" cy="1060704"/>
          </a:xfrm>
          <a:prstGeom xmlns:a="http://schemas.openxmlformats.org/drawingml/2006/main" prst="roundRect">
            <a:avLst>
              <a:gd name="adj" fmla="val 4310"/>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42C7FE94-2ED3-48BD-8084-676E02B56C19}"/>
              </a:ext>
            </a:extLst>
          </p:cNvPr>
          <p:cNvSpPr>
            <a:spLocks xmlns:a="http://schemas.openxmlformats.org/drawingml/2006/main" noGrp="1"/>
          </p:cNvSpPr>
          <p:nvPr/>
        </p:nvSpPr>
        <p:spPr>
          <a:xfrm xmlns:a="http://schemas.openxmlformats.org/drawingml/2006/main">
            <a:off x="877824" y="3785616"/>
            <a:ext cx="537667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C4034"/>
                </a:solidFill>
                <a:latin typeface="Calibri"/>
                <a:ea typeface="Calibri"/>
                <a:cs typeface="Calibri"/>
              </a:rPr>
              <a:t>Real OpenAI Agents SDK executions over pinned public records. Disjoint 4/2/6 optimization train/validation/test splits were frozen before provider outcomes; condition order is balanced.</a:t>
            </a:r>
          </a:p>
        </p:txBody>
      </p:sp>
      <p:sp>
        <p:nvSpPr>
          <p:cNvPr id="11" name="Shape 8">
            <a:extLst xmlns:a="http://schemas.openxmlformats.org/drawingml/2006/main">
              <a:ext uri="{FF2B5EF4-FFF2-40B4-BE49-F238E27FC236}">
                <a16:creationId xmlns:a16="http://schemas.microsoft.com/office/drawing/2014/main" id="{1C095187-7E1B-4694-AD41-35A7C976B2CF}"/>
              </a:ext>
            </a:extLst>
          </p:cNvPr>
          <p:cNvSpPr>
            <a:spLocks xmlns:a="http://schemas.openxmlformats.org/drawingml/2006/main" noGrp="1"/>
          </p:cNvSpPr>
          <p:nvPr/>
        </p:nvSpPr>
        <p:spPr>
          <a:xfrm xmlns:a="http://schemas.openxmlformats.org/drawingml/2006/main">
            <a:off x="6821424" y="1719072"/>
            <a:ext cx="4730191" cy="1371600"/>
          </a:xfrm>
          <a:prstGeom xmlns:a="http://schemas.openxmlformats.org/drawingml/2006/main" prst="roundRect">
            <a:avLst>
              <a:gd name="adj" fmla="val 3333"/>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Shape 9">
            <a:extLst xmlns:a="http://schemas.openxmlformats.org/drawingml/2006/main">
              <a:ext uri="{FF2B5EF4-FFF2-40B4-BE49-F238E27FC236}">
                <a16:creationId xmlns:a16="http://schemas.microsoft.com/office/drawing/2014/main" id="{9F07AA65-0135-4A75-9353-B55424320192}"/>
              </a:ext>
            </a:extLst>
          </p:cNvPr>
          <p:cNvSpPr>
            <a:spLocks xmlns:a="http://schemas.openxmlformats.org/drawingml/2006/main" noGrp="1"/>
          </p:cNvSpPr>
          <p:nvPr/>
        </p:nvSpPr>
        <p:spPr>
          <a:xfrm xmlns:a="http://schemas.openxmlformats.org/drawingml/2006/main">
            <a:off x="7059168" y="1865376"/>
            <a:ext cx="310896" cy="310896"/>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62DD83FB-6BC9-4093-93E7-EFD5D1C2C3EB}"/>
              </a:ext>
            </a:extLst>
          </p:cNvPr>
          <p:cNvSpPr>
            <a:spLocks xmlns:a="http://schemas.openxmlformats.org/drawingml/2006/main" noGrp="1"/>
          </p:cNvSpPr>
          <p:nvPr/>
        </p:nvSpPr>
        <p:spPr>
          <a:xfrm xmlns:a="http://schemas.openxmlformats.org/drawingml/2006/main">
            <a:off x="7059168" y="186537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4" name="Text 11">
            <a:extLst xmlns:a="http://schemas.openxmlformats.org/drawingml/2006/main">
              <a:ext uri="{FF2B5EF4-FFF2-40B4-BE49-F238E27FC236}">
                <a16:creationId xmlns:a16="http://schemas.microsoft.com/office/drawing/2014/main" id="{30435034-7625-4E6A-BA03-4C3678828FB9}"/>
              </a:ext>
            </a:extLst>
          </p:cNvPr>
          <p:cNvSpPr>
            <a:spLocks xmlns:a="http://schemas.openxmlformats.org/drawingml/2006/main" noGrp="1"/>
          </p:cNvSpPr>
          <p:nvPr/>
        </p:nvSpPr>
        <p:spPr>
          <a:xfrm xmlns:a="http://schemas.openxmlformats.org/drawingml/2006/main">
            <a:off x="7443216" y="1865376"/>
            <a:ext cx="38706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A93B2B"/>
                </a:solidFill>
                <a:latin typeface="Cambria"/>
                <a:ea typeface="Cambria"/>
                <a:cs typeface="Cambria"/>
              </a:rPr>
              <a:t>What the fair test resolves…</a:t>
            </a:r>
          </a:p>
        </p:txBody>
      </p:sp>
      <p:sp>
        <p:nvSpPr>
          <p:cNvPr id="15" name="Text 12">
            <a:extLst xmlns:a="http://schemas.openxmlformats.org/drawingml/2006/main">
              <a:ext uri="{FF2B5EF4-FFF2-40B4-BE49-F238E27FC236}">
                <a16:creationId xmlns:a16="http://schemas.microsoft.com/office/drawing/2014/main" id="{E7A3FA1F-2676-422A-8634-83404DC39735}"/>
              </a:ext>
            </a:extLst>
          </p:cNvPr>
          <p:cNvSpPr>
            <a:spLocks xmlns:a="http://schemas.openxmlformats.org/drawingml/2006/main" noGrp="1"/>
          </p:cNvSpPr>
          <p:nvPr/>
        </p:nvSpPr>
        <p:spPr>
          <a:xfrm xmlns:a="http://schemas.openxmlformats.org/drawingml/2006/main">
            <a:off x="7077456" y="2267712"/>
            <a:ext cx="4218127"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300"/>
              </a:spcAft>
              <a:buChar char="•"/>
            </a:pPr>
            <a:r>
              <a:rPr sz="1000">
                <a:solidFill>
                  <a:srgbClr val="5C4034"/>
                </a:solidFill>
                <a:latin typeface="Calibri"/>
                <a:ea typeface="Calibri"/>
                <a:cs typeface="Calibri"/>
              </a:rPr>
              <a:t>manual placement can remove the same turns</a:t>
            </a:r>
          </a:p>
          <a:p xmlns:a="http://schemas.openxmlformats.org/drawingml/2006/main">
            <a:pPr marL="342900" indent="-342900">
              <a:lnSpc>
                <a:spcPct val="105000"/>
              </a:lnSpc>
              <a:spcAft>
                <a:spcPts val="300"/>
              </a:spcAft>
              <a:buChar char="•"/>
            </a:pPr>
            <a:r>
              <a:rPr sz="1000">
                <a:solidFill>
                  <a:srgbClr val="5C4034"/>
                </a:solidFill>
                <a:latin typeface="Calibri"/>
                <a:ea typeface="Calibri"/>
                <a:cs typeface="Calibri"/>
              </a:rPr>
              <a:t>GCS value shifts to discovery + admission</a:t>
            </a:r>
          </a:p>
          <a:p xmlns:a="http://schemas.openxmlformats.org/drawingml/2006/main">
            <a:pPr marL="342900" indent="-342900">
              <a:lnSpc>
                <a:spcPct val="105000"/>
              </a:lnSpc>
              <a:spcAft>
                <a:spcPts val="300"/>
              </a:spcAft>
              <a:buChar char="•"/>
            </a:pPr>
            <a:r>
              <a:rPr sz="1000">
                <a:solidFill>
                  <a:srgbClr val="5C4034"/>
                </a:solidFill>
                <a:latin typeface="Calibri"/>
                <a:ea typeface="Calibri"/>
                <a:cs typeface="Calibri"/>
              </a:rPr>
              <a:t>GEPA does not improve this bounded run</a:t>
            </a:r>
          </a:p>
        </p:txBody>
      </p:sp>
      <p:sp>
        <p:nvSpPr>
          <p:cNvPr id="16" name="Shape 13">
            <a:extLst xmlns:a="http://schemas.openxmlformats.org/drawingml/2006/main">
              <a:ext uri="{FF2B5EF4-FFF2-40B4-BE49-F238E27FC236}">
                <a16:creationId xmlns:a16="http://schemas.microsoft.com/office/drawing/2014/main" id="{0C938060-EF59-4B26-BB16-A1EDF83AC272}"/>
              </a:ext>
            </a:extLst>
          </p:cNvPr>
          <p:cNvSpPr>
            <a:spLocks xmlns:a="http://schemas.openxmlformats.org/drawingml/2006/main" noGrp="1"/>
          </p:cNvSpPr>
          <p:nvPr/>
        </p:nvSpPr>
        <p:spPr>
          <a:xfrm xmlns:a="http://schemas.openxmlformats.org/drawingml/2006/main">
            <a:off x="6821424" y="3218688"/>
            <a:ext cx="4730191"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A6CEC372-7DED-4421-A7D8-C86564F5F64C}"/>
              </a:ext>
            </a:extLst>
          </p:cNvPr>
          <p:cNvSpPr>
            <a:spLocks xmlns:a="http://schemas.openxmlformats.org/drawingml/2006/main" noGrp="1"/>
          </p:cNvSpPr>
          <p:nvPr/>
        </p:nvSpPr>
        <p:spPr>
          <a:xfrm xmlns:a="http://schemas.openxmlformats.org/drawingml/2006/main">
            <a:off x="7059168" y="3364992"/>
            <a:ext cx="310896" cy="31089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08358223-012D-4551-99DF-BEAAF176936A}"/>
              </a:ext>
            </a:extLst>
          </p:cNvPr>
          <p:cNvSpPr>
            <a:spLocks xmlns:a="http://schemas.openxmlformats.org/drawingml/2006/main" noGrp="1"/>
          </p:cNvSpPr>
          <p:nvPr/>
        </p:nvSpPr>
        <p:spPr>
          <a:xfrm xmlns:a="http://schemas.openxmlformats.org/drawingml/2006/main">
            <a:off x="7059168" y="336499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9" name="Text 16">
            <a:extLst xmlns:a="http://schemas.openxmlformats.org/drawingml/2006/main">
              <a:ext uri="{FF2B5EF4-FFF2-40B4-BE49-F238E27FC236}">
                <a16:creationId xmlns:a16="http://schemas.microsoft.com/office/drawing/2014/main" id="{C621FFCB-2015-4BB5-AB4D-2EED1638C60D}"/>
              </a:ext>
            </a:extLst>
          </p:cNvPr>
          <p:cNvSpPr>
            <a:spLocks xmlns:a="http://schemas.openxmlformats.org/drawingml/2006/main" noGrp="1"/>
          </p:cNvSpPr>
          <p:nvPr/>
        </p:nvSpPr>
        <p:spPr>
          <a:xfrm xmlns:a="http://schemas.openxmlformats.org/drawingml/2006/main">
            <a:off x="7443216" y="3364992"/>
            <a:ext cx="38706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1E3A"/>
                </a:solidFill>
                <a:latin typeface="Cambria"/>
                <a:ea typeface="Cambria"/>
                <a:cs typeface="Cambria"/>
              </a:rPr>
              <a:t>What remains unresolved…</a:t>
            </a:r>
          </a:p>
        </p:txBody>
      </p:sp>
      <p:sp>
        <p:nvSpPr>
          <p:cNvPr id="20" name="Text 17">
            <a:extLst xmlns:a="http://schemas.openxmlformats.org/drawingml/2006/main">
              <a:ext uri="{FF2B5EF4-FFF2-40B4-BE49-F238E27FC236}">
                <a16:creationId xmlns:a16="http://schemas.microsoft.com/office/drawing/2014/main" id="{99405B54-CE37-43DE-800A-06386A024932}"/>
              </a:ext>
            </a:extLst>
          </p:cNvPr>
          <p:cNvSpPr>
            <a:spLocks xmlns:a="http://schemas.openxmlformats.org/drawingml/2006/main" noGrp="1"/>
          </p:cNvSpPr>
          <p:nvPr/>
        </p:nvSpPr>
        <p:spPr>
          <a:xfrm xmlns:a="http://schemas.openxmlformats.org/drawingml/2006/main">
            <a:off x="7077456" y="3767328"/>
            <a:ext cx="4218127"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5000"/>
              </a:lnSpc>
              <a:spcAft>
                <a:spcPts val="300"/>
              </a:spcAft>
              <a:buChar char="•"/>
            </a:pPr>
            <a:r>
              <a:rPr sz="1000">
                <a:solidFill>
                  <a:srgbClr val="24354F"/>
                </a:solidFill>
                <a:latin typeface="Calibri"/>
                <a:ea typeface="Calibri"/>
                <a:cs typeface="Calibri"/>
              </a:rPr>
              <a:t>manual engineering and review effort</a:t>
            </a:r>
          </a:p>
          <a:p xmlns:a="http://schemas.openxmlformats.org/drawingml/2006/main">
            <a:pPr marL="342900" indent="-342900">
              <a:lnSpc>
                <a:spcPct val="105000"/>
              </a:lnSpc>
              <a:spcAft>
                <a:spcPts val="300"/>
              </a:spcAft>
              <a:buChar char="•"/>
            </a:pPr>
            <a:r>
              <a:rPr sz="1000">
                <a:solidFill>
                  <a:srgbClr val="24354F"/>
                </a:solidFill>
                <a:latin typeface="Calibri"/>
                <a:ea typeface="Calibri"/>
                <a:cs typeface="Calibri"/>
              </a:rPr>
              <a:t>AWO · Agent JIT · EvoC2F execution</a:t>
            </a:r>
          </a:p>
          <a:p xmlns:a="http://schemas.openxmlformats.org/drawingml/2006/main">
            <a:pPr marL="342900" indent="-342900">
              <a:lnSpc>
                <a:spcPct val="105000"/>
              </a:lnSpc>
              <a:spcAft>
                <a:spcPts val="300"/>
              </a:spcAft>
              <a:buChar char="•"/>
            </a:pPr>
            <a:r>
              <a:rPr sz="1000">
                <a:solidFill>
                  <a:srgbClr val="24354F"/>
                </a:solidFill>
                <a:latin typeface="Calibri"/>
                <a:ea typeface="Calibri"/>
                <a:cs typeface="Calibri"/>
              </a:rPr>
              <a:t>multiple families and time-forward drift</a:t>
            </a:r>
          </a:p>
        </p:txBody>
      </p:sp>
      <p:sp>
        <p:nvSpPr>
          <p:cNvPr id="21" name="Shape 18">
            <a:extLst xmlns:a="http://schemas.openxmlformats.org/drawingml/2006/main">
              <a:ext uri="{FF2B5EF4-FFF2-40B4-BE49-F238E27FC236}">
                <a16:creationId xmlns:a16="http://schemas.microsoft.com/office/drawing/2014/main" id="{C866F2C8-EDAE-4253-9726-18901A5042CA}"/>
              </a:ext>
            </a:extLst>
          </p:cNvPr>
          <p:cNvSpPr>
            <a:spLocks xmlns:a="http://schemas.openxmlformats.org/drawingml/2006/main" noGrp="1"/>
          </p:cNvSpPr>
          <p:nvPr/>
        </p:nvSpPr>
        <p:spPr>
          <a:xfrm xmlns:a="http://schemas.openxmlformats.org/drawingml/2006/main">
            <a:off x="640080" y="4882896"/>
            <a:ext cx="10911535" cy="1225296"/>
          </a:xfrm>
          <a:prstGeom xmlns:a="http://schemas.openxmlformats.org/drawingml/2006/main" prst="roundRect">
            <a:avLst>
              <a:gd name="adj" fmla="val 3731"/>
            </a:avLst>
          </a:prstGeom>
          <a:solidFill xmlns:a="http://schemas.openxmlformats.org/drawingml/2006/main">
            <a:srgbClr val="EAF1F7"/>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8" name="Text 19">
            <a:extLst xmlns:a="http://schemas.openxmlformats.org/drawingml/2006/main">
              <a:ext uri="{FF2B5EF4-FFF2-40B4-BE49-F238E27FC236}">
                <a16:creationId xmlns:a16="http://schemas.microsoft.com/office/drawing/2014/main" id="{D8DAC051-315E-49F0-A4DC-031BE80BF7DD}"/>
              </a:ext>
            </a:extLst>
          </p:cNvPr>
          <p:cNvSpPr>
            <a:spLocks xmlns:a="http://schemas.openxmlformats.org/drawingml/2006/main" noGrp="1"/>
          </p:cNvSpPr>
          <p:nvPr/>
        </p:nvSpPr>
        <p:spPr>
          <a:xfrm xmlns:a="http://schemas.openxmlformats.org/drawingml/2006/main">
            <a:off x="896112" y="4992624"/>
            <a:ext cx="10399471"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8A99"/>
                </a:solidFill>
                <a:latin typeface="Calibri"/>
                <a:ea typeface="Calibri"/>
                <a:cs typeface="Calibri"/>
              </a:rPr>
              <a:t>MECHANISM, EVIDENCE, AND BOUNDARY</a:t>
            </a:r>
          </a:p>
        </p:txBody>
      </p:sp>
      <p:sp>
        <p:nvSpPr>
          <p:cNvPr id="23" name="Text 20">
            <a:extLst xmlns:a="http://schemas.openxmlformats.org/drawingml/2006/main">
              <a:ext uri="{FF2B5EF4-FFF2-40B4-BE49-F238E27FC236}">
                <a16:creationId xmlns:a16="http://schemas.microsoft.com/office/drawing/2014/main" id="{94488B91-4A81-4E50-911B-BD838648C7FD}"/>
              </a:ext>
            </a:extLst>
          </p:cNvPr>
          <p:cNvSpPr>
            <a:spLocks xmlns:a="http://schemas.openxmlformats.org/drawingml/2006/main" noGrp="1"/>
          </p:cNvSpPr>
          <p:nvPr/>
        </p:nvSpPr>
        <p:spPr>
          <a:xfrm xmlns:a="http://schemas.openxmlformats.org/drawingml/2006/main">
            <a:off x="896112" y="5230368"/>
            <a:ext cx="1039947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24354F"/>
                </a:solidFill>
                <a:latin typeface="Calibri"/>
                <a:ea typeface="Calibri"/>
                <a:cs typeface="Calibri"/>
              </a:rPr>
              <a:t>The fair manual program closes the earlier placement confound: GCS and manual execution tie on requests, interfaces, input tokens, and exact quality. Official GEPA 0.1.4 makes 14 real task evaluations and three reflections, but retains its seed. Its 59-request, 63,954-token optimization overhead is reported separately. Risk scope: the GCS artifact here is calibrated at α=.10 (88/92 groups admitted, bound 0.052) and would retire at the registered α=.05, so this is a 10%-selective-risk result. This six-case result supports automatic guarded specialization—not runtime dominance or general GEPA failure.</a:t>
            </a:r>
          </a:p>
        </p:txBody>
      </p:sp>
    </p:spTree>
    <p:extLst>
      <p:ext uri="{BB962C8B-B14F-4D97-AF65-F5344CB8AC3E}">
        <p14:creationId xmlns:p14="http://schemas.microsoft.com/office/powerpoint/2010/main" val="164861947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47AD9B-64DA-4A8E-873A-82EBF8BA16D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946450A-F2A3-4113-B670-C187B1202B6B}"/>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24</a:t>
            </a:r>
          </a:p>
        </p:txBody>
      </p:sp>
      <p:sp>
        <p:nvSpPr>
          <p:cNvPr id="4" name="Text 2">
            <a:extLst xmlns:a="http://schemas.openxmlformats.org/drawingml/2006/main">
              <a:ext uri="{FF2B5EF4-FFF2-40B4-BE49-F238E27FC236}">
                <a16:creationId xmlns:a16="http://schemas.microsoft.com/office/drawing/2014/main" id="{AEFA695F-1BFA-4F6D-91FA-AF31DB6B2C1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RESULTS  ·  RQ5  ·  §3.4 AND §5.5  ·  TABLE 7</a:t>
            </a:r>
          </a:p>
        </p:txBody>
      </p:sp>
      <p:sp>
        <p:nvSpPr>
          <p:cNvPr id="5" name="Text 3">
            <a:extLst xmlns:a="http://schemas.openxmlformats.org/drawingml/2006/main">
              <a:ext uri="{FF2B5EF4-FFF2-40B4-BE49-F238E27FC236}">
                <a16:creationId xmlns:a16="http://schemas.microsoft.com/office/drawing/2014/main" id="{FF59FC1F-4626-42D3-9E79-1BEA4B1C6085}"/>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Risk-bounded selection over measured actions only</a:t>
            </a:r>
          </a:p>
        </p:txBody>
      </p:sp>
      <p:sp>
        <p:nvSpPr>
          <p:cNvPr id="6" name="Shape 4">
            <a:extLst xmlns:a="http://schemas.openxmlformats.org/drawingml/2006/main">
              <a:ext uri="{FF2B5EF4-FFF2-40B4-BE49-F238E27FC236}">
                <a16:creationId xmlns:a16="http://schemas.microsoft.com/office/drawing/2014/main" id="{8C1BCF80-C285-4318-8424-9A21AB38DC9F}"/>
              </a:ext>
            </a:extLst>
          </p:cNvPr>
          <p:cNvSpPr>
            <a:spLocks xmlns:a="http://schemas.openxmlformats.org/drawingml/2006/main" noGrp="1"/>
          </p:cNvSpPr>
          <p:nvPr/>
        </p:nvSpPr>
        <p:spPr>
          <a:xfrm xmlns:a="http://schemas.openxmlformats.org/drawingml/2006/main">
            <a:off x="640080" y="1170432"/>
            <a:ext cx="5943600" cy="1298448"/>
          </a:xfrm>
          <a:prstGeom xmlns:a="http://schemas.openxmlformats.org/drawingml/2006/main" prst="roundRect">
            <a:avLst>
              <a:gd name="adj" fmla="val 3521"/>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30c9b5271c594c10"/>
          <a:stretch xmlns:a="http://schemas.openxmlformats.org/drawingml/2006/main">
            <a:fillRect l="0" t="0" r="0" b="0"/>
          </a:stretch>
        </p:blipFill>
        <p:spPr>
          <a:xfrm xmlns:a="http://schemas.openxmlformats.org/drawingml/2006/main">
            <a:off x="877824" y="1316736"/>
            <a:ext cx="3803904" cy="40233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21CFBDA1-B9FA-4788-A1E5-A6411A8A106D}"/>
              </a:ext>
            </a:extLst>
          </p:cNvPr>
          <p:cNvSpPr>
            <a:spLocks xmlns:a="http://schemas.openxmlformats.org/drawingml/2006/main" noGrp="1"/>
          </p:cNvSpPr>
          <p:nvPr/>
        </p:nvSpPr>
        <p:spPr>
          <a:xfrm xmlns:a="http://schemas.openxmlformats.org/drawingml/2006/main">
            <a:off x="877824" y="1792224"/>
            <a:ext cx="54681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Each metric's paired reduction is one minus the candidate's cost over the baseline's, weighted 0.35 cost, 0.25 latency, 0.20 tokens, 0.20 tool calls. A quality violation is recorded whenever the candidate's task contract fails, a regret event whenever U g (a) ≤ U min. Repeated executions of one issue are averaged within that issue and never increase the independent-group count.</a:t>
            </a:r>
          </a:p>
        </p:txBody>
      </p:sp>
      <p:sp>
        <p:nvSpPr>
          <p:cNvPr id="9" name="Text 6">
            <a:extLst xmlns:a="http://schemas.openxmlformats.org/drawingml/2006/main">
              <a:ext uri="{FF2B5EF4-FFF2-40B4-BE49-F238E27FC236}">
                <a16:creationId xmlns:a16="http://schemas.microsoft.com/office/drawing/2014/main" id="{2A6CD02E-CFB7-44D3-84B3-6DDB862F559B}"/>
              </a:ext>
            </a:extLst>
          </p:cNvPr>
          <p:cNvSpPr>
            <a:spLocks xmlns:a="http://schemas.openxmlformats.org/drawingml/2006/main" noGrp="1"/>
          </p:cNvSpPr>
          <p:nvPr/>
        </p:nvSpPr>
        <p:spPr>
          <a:xfrm xmlns:a="http://schemas.openxmlformats.org/drawingml/2006/main">
            <a:off x="5888736" y="1316736"/>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(9)</a:t>
            </a:r>
          </a:p>
        </p:txBody>
      </p:sp>
      <p:sp>
        <p:nvSpPr>
          <p:cNvPr id="10" name="Shape 7">
            <a:extLst xmlns:a="http://schemas.openxmlformats.org/drawingml/2006/main">
              <a:ext uri="{FF2B5EF4-FFF2-40B4-BE49-F238E27FC236}">
                <a16:creationId xmlns:a16="http://schemas.microsoft.com/office/drawing/2014/main" id="{72E8B811-0D41-4718-A17C-8F76E73B4BAB}"/>
              </a:ext>
            </a:extLst>
          </p:cNvPr>
          <p:cNvSpPr>
            <a:spLocks xmlns:a="http://schemas.openxmlformats.org/drawingml/2006/main" noGrp="1"/>
          </p:cNvSpPr>
          <p:nvPr/>
        </p:nvSpPr>
        <p:spPr>
          <a:xfrm xmlns:a="http://schemas.openxmlformats.org/drawingml/2006/main">
            <a:off x="640080" y="2560320"/>
            <a:ext cx="5943600" cy="1188720"/>
          </a:xfrm>
          <a:prstGeom xmlns:a="http://schemas.openxmlformats.org/drawingml/2006/main" prst="roundRect">
            <a:avLst>
              <a:gd name="adj" fmla="val 3846"/>
            </a:avLst>
          </a:prstGeom>
          <a:solidFill xmlns:a="http://schemas.openxmlformats.org/drawingml/2006/main">
            <a:srgbClr val="F5F9FC"/>
          </a:solidFill>
          <a:ln xmlns:a="http://schemas.openxmlformats.org/drawingml/2006/main" w="9525">
            <a:solidFill>
              <a:srgbClr val="D5E0EB"/>
            </a:solidFill>
            <a:prstDash val="solid"/>
          </a:ln>
        </p:spPr>
        <p:txBody>
          <a:bodyPr xmlns:a="http://schemas.openxmlformats.org/drawingml/2006/main"/>
          <a:lstStyle xmlns:a="http://schemas.openxmlformats.org/drawingml/2006/main"/>
          <a:p xmlns:a="http://schemas.openxmlformats.org/drawingml/2006/main"/>
        </p:txBody>
      </p:sp>
      <p:pic>
        <p:nvPicPr>
          <p:cNvPr id="11" name="Image 1"/>
          <p:cNvPicPr>
            <a:picLocks xmlns:a="http://schemas.openxmlformats.org/drawingml/2006/main" noChangeAspect="1"/>
          </p:cNvPicPr>
          <p:nvPr/>
        </p:nvPicPr>
        <p:blipFill>
          <a:blip xmlns:r="http://schemas.openxmlformats.org/officeDocument/2006/relationships" xmlns:a="http://schemas.openxmlformats.org/drawingml/2006/main" r:embed="R67b2a6b7cd4445a0"/>
          <a:stretch xmlns:a="http://schemas.openxmlformats.org/drawingml/2006/main">
            <a:fillRect l="0" t="0" r="0" b="0"/>
          </a:stretch>
        </p:blipFill>
        <p:spPr>
          <a:xfrm xmlns:a="http://schemas.openxmlformats.org/drawingml/2006/main">
            <a:off x="877824" y="2724978"/>
            <a:ext cx="4901184" cy="310763"/>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0492F0A8-2257-473C-A9C7-0AFD71E8019E}"/>
              </a:ext>
            </a:extLst>
          </p:cNvPr>
          <p:cNvSpPr>
            <a:spLocks xmlns:a="http://schemas.openxmlformats.org/drawingml/2006/main" noGrp="1"/>
          </p:cNvSpPr>
          <p:nvPr/>
        </p:nvSpPr>
        <p:spPr>
          <a:xfrm xmlns:a="http://schemas.openxmlformats.org/drawingml/2006/main">
            <a:off x="877824" y="3127248"/>
            <a:ext cx="54681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One-sided Clopper–Pearson bounds on both endpoints, with the confidence budget split across both bounds and all compared actions. The selector returns arg max U over the admitted set, or the baseline if it is empty. Macros default to human review: the library returns a decision record, evidence, and rationale — never generated application code.</a:t>
            </a:r>
          </a:p>
        </p:txBody>
      </p:sp>
      <p:sp>
        <p:nvSpPr>
          <p:cNvPr id="13" name="Text 9">
            <a:extLst xmlns:a="http://schemas.openxmlformats.org/drawingml/2006/main">
              <a:ext uri="{FF2B5EF4-FFF2-40B4-BE49-F238E27FC236}">
                <a16:creationId xmlns:a16="http://schemas.microsoft.com/office/drawing/2014/main" id="{A56540E5-9AF3-4DB5-830E-606B8F46E69D}"/>
              </a:ext>
            </a:extLst>
          </p:cNvPr>
          <p:cNvSpPr>
            <a:spLocks xmlns:a="http://schemas.openxmlformats.org/drawingml/2006/main" noGrp="1"/>
          </p:cNvSpPr>
          <p:nvPr/>
        </p:nvSpPr>
        <p:spPr>
          <a:xfrm xmlns:a="http://schemas.openxmlformats.org/drawingml/2006/main">
            <a:off x="5888736" y="2706624"/>
            <a:ext cx="493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6B3BE"/>
                </a:solidFill>
                <a:latin typeface="Calibri"/>
                <a:ea typeface="Calibri"/>
                <a:cs typeface="Calibri"/>
              </a:rPr>
              <a:t>(10)</a:t>
            </a:r>
          </a:p>
        </p:txBody>
      </p:sp>
      <p:graphicFrame>
        <p:nvGraphicFramePr>
          <p:cNvPr id="14" name="Chart 0"/>
          <p:cNvGraphicFramePr/>
          <p:nvPr/>
        </p:nvGraphicFramePr>
        <p:xfrm>
          <a:off xmlns:a="http://schemas.openxmlformats.org/drawingml/2006/main" x="640080" y="3877056"/>
          <a:ext xmlns:a="http://schemas.openxmlformats.org/drawingml/2006/main" cx="5943600" cy="1463040"/>
        </p:xfrm>
        <a:graphic xmlns:a="http://schemas.openxmlformats.org/drawingml/2006/main">
          <a:graphicData uri="http://schemas.openxmlformats.org/drawingml/2006/chart">
            <c:chart xmlns:r="http://schemas.openxmlformats.org/officeDocument/2006/relationships" xmlns:c="http://schemas.openxmlformats.org/drawingml/2006/chart" r:id="Rfe1b320a21f34d32"/>
          </a:graphicData>
        </a:graphic>
      </p:graphicFrame>
      <p:sp>
        <p:nvSpPr>
          <p:cNvPr id="15" name="Text 10">
            <a:extLst xmlns:a="http://schemas.openxmlformats.org/drawingml/2006/main">
              <a:ext uri="{FF2B5EF4-FFF2-40B4-BE49-F238E27FC236}">
                <a16:creationId xmlns:a16="http://schemas.microsoft.com/office/drawing/2014/main" id="{68440535-6310-497D-BD0C-831C98B03440}"/>
              </a:ext>
            </a:extLst>
          </p:cNvPr>
          <p:cNvSpPr>
            <a:spLocks xmlns:a="http://schemas.openxmlformats.org/drawingml/2006/main" noGrp="1"/>
          </p:cNvSpPr>
          <p:nvPr/>
        </p:nvSpPr>
        <p:spPr>
          <a:xfrm xmlns:a="http://schemas.openxmlformats.org/drawingml/2006/main">
            <a:off x="640080" y="5431536"/>
            <a:ext cx="5943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A6B84"/>
                </a:solidFill>
                <a:latin typeface="Calibri"/>
                <a:ea typeface="Calibri"/>
                <a:cs typeface="Calibri"/>
              </a:rPr>
              <a:t>Both actions admitted: zero quality failures, zero non-positive-utility groups, exact upper bounds 0.136 against the pilot's 15% limit — intentionally looser than the compiler's 5% registered-contract bound and not to be conflated with it.</a:t>
            </a:r>
          </a:p>
        </p:txBody>
      </p:sp>
      <p:sp>
        <p:nvSpPr>
          <p:cNvPr id="16" name="Shape 11">
            <a:extLst xmlns:a="http://schemas.openxmlformats.org/drawingml/2006/main">
              <a:ext uri="{FF2B5EF4-FFF2-40B4-BE49-F238E27FC236}">
                <a16:creationId xmlns:a16="http://schemas.microsoft.com/office/drawing/2014/main" id="{2572EAC4-DD16-4570-ABA5-BB4926A9FEDC}"/>
              </a:ext>
            </a:extLst>
          </p:cNvPr>
          <p:cNvSpPr>
            <a:spLocks xmlns:a="http://schemas.openxmlformats.org/drawingml/2006/main" noGrp="1"/>
          </p:cNvSpPr>
          <p:nvPr/>
        </p:nvSpPr>
        <p:spPr>
          <a:xfrm xmlns:a="http://schemas.openxmlformats.org/drawingml/2006/main">
            <a:off x="6949440" y="1170432"/>
            <a:ext cx="4602175" cy="3346704"/>
          </a:xfrm>
          <a:prstGeom xmlns:a="http://schemas.openxmlformats.org/drawingml/2006/main" prst="roundRect">
            <a:avLst>
              <a:gd name="adj" fmla="val 1366"/>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7" name="Text 12">
            <a:extLst xmlns:a="http://schemas.openxmlformats.org/drawingml/2006/main">
              <a:ext uri="{FF2B5EF4-FFF2-40B4-BE49-F238E27FC236}">
                <a16:creationId xmlns:a16="http://schemas.microsoft.com/office/drawing/2014/main" id="{B7A5E8E0-AEE6-47B3-A8F6-EF84C311508B}"/>
              </a:ext>
            </a:extLst>
          </p:cNvPr>
          <p:cNvSpPr>
            <a:spLocks xmlns:a="http://schemas.openxmlformats.org/drawingml/2006/main" noGrp="1"/>
          </p:cNvSpPr>
          <p:nvPr/>
        </p:nvSpPr>
        <p:spPr>
          <a:xfrm xmlns:a="http://schemas.openxmlformats.org/drawingml/2006/main">
            <a:off x="7205472" y="1316736"/>
            <a:ext cx="409011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b="1">
                <a:solidFill>
                  <a:srgbClr val="1F8A99"/>
                </a:solidFill>
                <a:latin typeface="Calibri"/>
                <a:ea typeface="Calibri"/>
                <a:cs typeface="Calibri"/>
              </a:rPr>
              <a:t>PROSPECTIVE TEST — 12 FRESH PUBLIC ISSUES, DECISION AND HASH FROZEN FIRST</a:t>
            </a:r>
          </a:p>
        </p:txBody>
      </p:sp>
      <p:sp>
        <p:nvSpPr>
          <p:cNvPr id="18" name="Text 13">
            <a:extLst xmlns:a="http://schemas.openxmlformats.org/drawingml/2006/main">
              <a:ext uri="{FF2B5EF4-FFF2-40B4-BE49-F238E27FC236}">
                <a16:creationId xmlns:a16="http://schemas.microsoft.com/office/drawing/2014/main" id="{BE2A6406-4C2A-4240-867A-CD1E2E280A1F}"/>
              </a:ext>
            </a:extLst>
          </p:cNvPr>
          <p:cNvSpPr>
            <a:spLocks xmlns:a="http://schemas.openxmlformats.org/drawingml/2006/main" noGrp="1"/>
          </p:cNvSpPr>
          <p:nvPr/>
        </p:nvSpPr>
        <p:spPr>
          <a:xfrm xmlns:a="http://schemas.openxmlformats.org/drawingml/2006/main">
            <a:off x="7205472" y="1773936"/>
            <a:ext cx="1234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F8A99"/>
                </a:solidFill>
                <a:latin typeface="Cambria"/>
                <a:ea typeface="Cambria"/>
                <a:cs typeface="Cambria"/>
              </a:rPr>
              <a:t>12 / 12</a:t>
            </a:r>
          </a:p>
        </p:txBody>
      </p:sp>
      <p:sp>
        <p:nvSpPr>
          <p:cNvPr id="19" name="Text 14">
            <a:extLst xmlns:a="http://schemas.openxmlformats.org/drawingml/2006/main">
              <a:ext uri="{FF2B5EF4-FFF2-40B4-BE49-F238E27FC236}">
                <a16:creationId xmlns:a16="http://schemas.microsoft.com/office/drawing/2014/main" id="{69418A75-0AE6-47BD-BD89-2AB870F5D905}"/>
              </a:ext>
            </a:extLst>
          </p:cNvPr>
          <p:cNvSpPr>
            <a:spLocks xmlns:a="http://schemas.openxmlformats.org/drawingml/2006/main" noGrp="1"/>
          </p:cNvSpPr>
          <p:nvPr/>
        </p:nvSpPr>
        <p:spPr>
          <a:xfrm xmlns:a="http://schemas.openxmlformats.org/drawingml/2006/main">
            <a:off x="8549640" y="1773936"/>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4354F"/>
                </a:solidFill>
                <a:latin typeface="Calibri"/>
                <a:ea typeface="Calibri"/>
                <a:cs typeface="Calibri"/>
              </a:rPr>
              <a:t>exact factual and full task contracts</a:t>
            </a:r>
          </a:p>
        </p:txBody>
      </p:sp>
      <p:sp>
        <p:nvSpPr>
          <p:cNvPr id="20" name="Text 15">
            <a:extLst xmlns:a="http://schemas.openxmlformats.org/drawingml/2006/main">
              <a:ext uri="{FF2B5EF4-FFF2-40B4-BE49-F238E27FC236}">
                <a16:creationId xmlns:a16="http://schemas.microsoft.com/office/drawing/2014/main" id="{AE88C580-0FC6-41A1-90B7-4B4A307FFAE3}"/>
              </a:ext>
            </a:extLst>
          </p:cNvPr>
          <p:cNvSpPr>
            <a:spLocks xmlns:a="http://schemas.openxmlformats.org/drawingml/2006/main" noGrp="1"/>
          </p:cNvSpPr>
          <p:nvPr/>
        </p:nvSpPr>
        <p:spPr>
          <a:xfrm xmlns:a="http://schemas.openxmlformats.org/drawingml/2006/main">
            <a:off x="7205472" y="2212848"/>
            <a:ext cx="1234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−50.0%</a:t>
            </a:r>
          </a:p>
        </p:txBody>
      </p:sp>
      <p:sp>
        <p:nvSpPr>
          <p:cNvPr id="21" name="Text 16">
            <a:extLst xmlns:a="http://schemas.openxmlformats.org/drawingml/2006/main">
              <a:ext uri="{FF2B5EF4-FFF2-40B4-BE49-F238E27FC236}">
                <a16:creationId xmlns:a16="http://schemas.microsoft.com/office/drawing/2014/main" id="{8A1216B5-4A32-40A1-9C43-D456D10A739C}"/>
              </a:ext>
            </a:extLst>
          </p:cNvPr>
          <p:cNvSpPr>
            <a:spLocks xmlns:a="http://schemas.openxmlformats.org/drawingml/2006/main" noGrp="1"/>
          </p:cNvSpPr>
          <p:nvPr/>
        </p:nvSpPr>
        <p:spPr>
          <a:xfrm xmlns:a="http://schemas.openxmlformats.org/drawingml/2006/main">
            <a:off x="8549640" y="2212848"/>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4354F"/>
                </a:solidFill>
                <a:latin typeface="Calibri"/>
                <a:ea typeface="Calibri"/>
                <a:cs typeface="Calibri"/>
              </a:rPr>
              <a:t>provider requests (4 → 2)</a:t>
            </a:r>
          </a:p>
        </p:txBody>
      </p:sp>
      <p:sp>
        <p:nvSpPr>
          <p:cNvPr id="22" name="Text 17">
            <a:extLst xmlns:a="http://schemas.openxmlformats.org/drawingml/2006/main">
              <a:ext uri="{FF2B5EF4-FFF2-40B4-BE49-F238E27FC236}">
                <a16:creationId xmlns:a16="http://schemas.microsoft.com/office/drawing/2014/main" id="{9B81F335-27B1-46F4-9361-523CE7C26DCE}"/>
              </a:ext>
            </a:extLst>
          </p:cNvPr>
          <p:cNvSpPr>
            <a:spLocks xmlns:a="http://schemas.openxmlformats.org/drawingml/2006/main" noGrp="1"/>
          </p:cNvSpPr>
          <p:nvPr/>
        </p:nvSpPr>
        <p:spPr>
          <a:xfrm xmlns:a="http://schemas.openxmlformats.org/drawingml/2006/main">
            <a:off x="7205472" y="2651760"/>
            <a:ext cx="1234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−66.7%</a:t>
            </a:r>
          </a:p>
        </p:txBody>
      </p:sp>
      <p:sp>
        <p:nvSpPr>
          <p:cNvPr id="23" name="Text 18">
            <a:extLst xmlns:a="http://schemas.openxmlformats.org/drawingml/2006/main">
              <a:ext uri="{FF2B5EF4-FFF2-40B4-BE49-F238E27FC236}">
                <a16:creationId xmlns:a16="http://schemas.microsoft.com/office/drawing/2014/main" id="{0601CDFC-4D08-4F2A-B210-7C8825072DA1}"/>
              </a:ext>
            </a:extLst>
          </p:cNvPr>
          <p:cNvSpPr>
            <a:spLocks xmlns:a="http://schemas.openxmlformats.org/drawingml/2006/main" noGrp="1"/>
          </p:cNvSpPr>
          <p:nvPr/>
        </p:nvSpPr>
        <p:spPr>
          <a:xfrm xmlns:a="http://schemas.openxmlformats.org/drawingml/2006/main">
            <a:off x="8549640" y="2651760"/>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4354F"/>
                </a:solidFill>
                <a:latin typeface="Calibri"/>
                <a:ea typeface="Calibri"/>
                <a:cs typeface="Calibri"/>
              </a:rPr>
              <a:t>tool calls (3 → 1)</a:t>
            </a:r>
          </a:p>
        </p:txBody>
      </p:sp>
      <p:sp>
        <p:nvSpPr>
          <p:cNvPr id="24" name="Text 19">
            <a:extLst xmlns:a="http://schemas.openxmlformats.org/drawingml/2006/main">
              <a:ext uri="{FF2B5EF4-FFF2-40B4-BE49-F238E27FC236}">
                <a16:creationId xmlns:a16="http://schemas.microsoft.com/office/drawing/2014/main" id="{FD47020F-EEB0-4848-A920-B11B39935DE4}"/>
              </a:ext>
            </a:extLst>
          </p:cNvPr>
          <p:cNvSpPr>
            <a:spLocks xmlns:a="http://schemas.openxmlformats.org/drawingml/2006/main" noGrp="1"/>
          </p:cNvSpPr>
          <p:nvPr/>
        </p:nvSpPr>
        <p:spPr>
          <a:xfrm xmlns:a="http://schemas.openxmlformats.org/drawingml/2006/main">
            <a:off x="7205472" y="3090672"/>
            <a:ext cx="1234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−59.2%</a:t>
            </a:r>
          </a:p>
        </p:txBody>
      </p:sp>
      <p:sp>
        <p:nvSpPr>
          <p:cNvPr id="25" name="Text 20">
            <a:extLst xmlns:a="http://schemas.openxmlformats.org/drawingml/2006/main">
              <a:ext uri="{FF2B5EF4-FFF2-40B4-BE49-F238E27FC236}">
                <a16:creationId xmlns:a16="http://schemas.microsoft.com/office/drawing/2014/main" id="{6E1E6E9B-B613-48A7-ACB2-DD40A3D75C26}"/>
              </a:ext>
            </a:extLst>
          </p:cNvPr>
          <p:cNvSpPr>
            <a:spLocks xmlns:a="http://schemas.openxmlformats.org/drawingml/2006/main" noGrp="1"/>
          </p:cNvSpPr>
          <p:nvPr/>
        </p:nvSpPr>
        <p:spPr>
          <a:xfrm xmlns:a="http://schemas.openxmlformats.org/drawingml/2006/main">
            <a:off x="8549640" y="3090672"/>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4354F"/>
                </a:solidFill>
                <a:latin typeface="Calibri"/>
                <a:ea typeface="Calibri"/>
                <a:cs typeface="Calibri"/>
              </a:rPr>
              <a:t>total tokens</a:t>
            </a:r>
          </a:p>
        </p:txBody>
      </p:sp>
      <p:sp>
        <p:nvSpPr>
          <p:cNvPr id="26" name="Text 21">
            <a:extLst xmlns:a="http://schemas.openxmlformats.org/drawingml/2006/main">
              <a:ext uri="{FF2B5EF4-FFF2-40B4-BE49-F238E27FC236}">
                <a16:creationId xmlns:a16="http://schemas.microsoft.com/office/drawing/2014/main" id="{1FCED8C9-A909-4FC4-A264-8DD7BFD707E3}"/>
              </a:ext>
            </a:extLst>
          </p:cNvPr>
          <p:cNvSpPr>
            <a:spLocks xmlns:a="http://schemas.openxmlformats.org/drawingml/2006/main" noGrp="1"/>
          </p:cNvSpPr>
          <p:nvPr/>
        </p:nvSpPr>
        <p:spPr>
          <a:xfrm xmlns:a="http://schemas.openxmlformats.org/drawingml/2006/main">
            <a:off x="7205472" y="3529584"/>
            <a:ext cx="1234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−40.6%</a:t>
            </a:r>
          </a:p>
        </p:txBody>
      </p:sp>
      <p:sp>
        <p:nvSpPr>
          <p:cNvPr id="27" name="Text 22">
            <a:extLst xmlns:a="http://schemas.openxmlformats.org/drawingml/2006/main">
              <a:ext uri="{FF2B5EF4-FFF2-40B4-BE49-F238E27FC236}">
                <a16:creationId xmlns:a16="http://schemas.microsoft.com/office/drawing/2014/main" id="{3A78CAB0-61B1-4FB1-8445-AA18D3B1286E}"/>
              </a:ext>
            </a:extLst>
          </p:cNvPr>
          <p:cNvSpPr>
            <a:spLocks xmlns:a="http://schemas.openxmlformats.org/drawingml/2006/main" noGrp="1"/>
          </p:cNvSpPr>
          <p:nvPr/>
        </p:nvSpPr>
        <p:spPr>
          <a:xfrm xmlns:a="http://schemas.openxmlformats.org/drawingml/2006/main">
            <a:off x="8549640" y="3529584"/>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4354F"/>
                </a:solidFill>
                <a:latin typeface="Calibri"/>
                <a:ea typeface="Calibri"/>
                <a:cs typeface="Calibri"/>
              </a:rPr>
              <a:t>estimated cost</a:t>
            </a:r>
          </a:p>
        </p:txBody>
      </p:sp>
      <p:sp>
        <p:nvSpPr>
          <p:cNvPr id="28" name="Text 23">
            <a:extLst xmlns:a="http://schemas.openxmlformats.org/drawingml/2006/main">
              <a:ext uri="{FF2B5EF4-FFF2-40B4-BE49-F238E27FC236}">
                <a16:creationId xmlns:a16="http://schemas.microsoft.com/office/drawing/2014/main" id="{384D46FF-2A9C-4D1F-94CC-F845FE510896}"/>
              </a:ext>
            </a:extLst>
          </p:cNvPr>
          <p:cNvSpPr>
            <a:spLocks xmlns:a="http://schemas.openxmlformats.org/drawingml/2006/main" noGrp="1"/>
          </p:cNvSpPr>
          <p:nvPr/>
        </p:nvSpPr>
        <p:spPr>
          <a:xfrm xmlns:a="http://schemas.openxmlformats.org/drawingml/2006/main">
            <a:off x="7205472" y="3968496"/>
            <a:ext cx="1234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−71.6%</a:t>
            </a:r>
          </a:p>
        </p:txBody>
      </p:sp>
      <p:sp>
        <p:nvSpPr>
          <p:cNvPr id="29" name="Text 24">
            <a:extLst xmlns:a="http://schemas.openxmlformats.org/drawingml/2006/main">
              <a:ext uri="{FF2B5EF4-FFF2-40B4-BE49-F238E27FC236}">
                <a16:creationId xmlns:a16="http://schemas.microsoft.com/office/drawing/2014/main" id="{A7834B04-4D6F-4461-898A-047965FDBEC9}"/>
              </a:ext>
            </a:extLst>
          </p:cNvPr>
          <p:cNvSpPr>
            <a:spLocks xmlns:a="http://schemas.openxmlformats.org/drawingml/2006/main" noGrp="1"/>
          </p:cNvSpPr>
          <p:nvPr/>
        </p:nvSpPr>
        <p:spPr>
          <a:xfrm xmlns:a="http://schemas.openxmlformats.org/drawingml/2006/main">
            <a:off x="8549640" y="3968496"/>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4354F"/>
                </a:solidFill>
                <a:latin typeface="Calibri"/>
                <a:ea typeface="Calibri"/>
                <a:cs typeface="Calibri"/>
              </a:rPr>
              <a:t>observed wall latency</a:t>
            </a:r>
          </a:p>
        </p:txBody>
      </p:sp>
      <p:sp>
        <p:nvSpPr>
          <p:cNvPr id="30" name="Shape 25">
            <a:extLst xmlns:a="http://schemas.openxmlformats.org/drawingml/2006/main">
              <a:ext uri="{FF2B5EF4-FFF2-40B4-BE49-F238E27FC236}">
                <a16:creationId xmlns:a16="http://schemas.microsoft.com/office/drawing/2014/main" id="{D1319558-C48F-4486-B58B-396764C4D291}"/>
              </a:ext>
            </a:extLst>
          </p:cNvPr>
          <p:cNvSpPr>
            <a:spLocks xmlns:a="http://schemas.openxmlformats.org/drawingml/2006/main" noGrp="1"/>
          </p:cNvSpPr>
          <p:nvPr/>
        </p:nvSpPr>
        <p:spPr>
          <a:xfrm xmlns:a="http://schemas.openxmlformats.org/drawingml/2006/main">
            <a:off x="6949440" y="4645152"/>
            <a:ext cx="4602175" cy="1463040"/>
          </a:xfrm>
          <a:prstGeom xmlns:a="http://schemas.openxmlformats.org/drawingml/2006/main" prst="roundRect">
            <a:avLst>
              <a:gd name="adj" fmla="val 312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1" name="Text 26">
            <a:extLst xmlns:a="http://schemas.openxmlformats.org/drawingml/2006/main">
              <a:ext uri="{FF2B5EF4-FFF2-40B4-BE49-F238E27FC236}">
                <a16:creationId xmlns:a16="http://schemas.microsoft.com/office/drawing/2014/main" id="{BE925BB7-B2FE-4824-BE42-E4365E3DBD75}"/>
              </a:ext>
            </a:extLst>
          </p:cNvPr>
          <p:cNvSpPr>
            <a:spLocks xmlns:a="http://schemas.openxmlformats.org/drawingml/2006/main" noGrp="1"/>
          </p:cNvSpPr>
          <p:nvPr/>
        </p:nvSpPr>
        <p:spPr>
          <a:xfrm xmlns:a="http://schemas.openxmlformats.org/drawingml/2006/main">
            <a:off x="7205472" y="4754880"/>
            <a:ext cx="4090111"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A93B2B"/>
                </a:solidFill>
                <a:latin typeface="Cambria"/>
                <a:ea typeface="Cambria"/>
                <a:cs typeface="Cambria"/>
              </a:rPr>
              <a:t>What the pilot cannot establish</a:t>
            </a:r>
          </a:p>
        </p:txBody>
      </p:sp>
      <p:sp>
        <p:nvSpPr>
          <p:cNvPr id="32" name="Text 27">
            <a:extLst xmlns:a="http://schemas.openxmlformats.org/drawingml/2006/main">
              <a:ext uri="{FF2B5EF4-FFF2-40B4-BE49-F238E27FC236}">
                <a16:creationId xmlns:a16="http://schemas.microsoft.com/office/drawing/2014/main" id="{8089BAD3-112D-43B6-8337-4B5344E4DA24}"/>
              </a:ext>
            </a:extLst>
          </p:cNvPr>
          <p:cNvSpPr>
            <a:spLocks xmlns:a="http://schemas.openxmlformats.org/drawingml/2006/main" noGrp="1"/>
          </p:cNvSpPr>
          <p:nvPr/>
        </p:nvSpPr>
        <p:spPr>
          <a:xfrm xmlns:a="http://schemas.openxmlformats.org/drawingml/2006/main">
            <a:off x="7205472" y="5029200"/>
            <a:ext cx="4090111" cy="9692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5C4034"/>
                </a:solidFill>
                <a:latin typeface="Calibri"/>
                <a:ea typeface="Calibri"/>
                <a:cs typeface="Calibri"/>
              </a:rPr>
              <a:t>One workflow family supplies both calibration and test, no cache candidate has measured evidence, and the selected action is the same macro a static always-macro policy would choose. Showing value from selection requires multiple families on which different actions are optimal, measured construction and maintenance costs, and time-forward drift.</a:t>
            </a:r>
          </a:p>
        </p:txBody>
      </p:sp>
    </p:spTree>
    <p:extLst>
      <p:ext uri="{BB962C8B-B14F-4D97-AF65-F5344CB8AC3E}">
        <p14:creationId xmlns:p14="http://schemas.microsoft.com/office/powerpoint/2010/main" val="2800490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357CE1-A3DA-49C9-A6B3-202AF05AC9A2}"/>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D270FB0-F861-4B00-9313-53A4F69D5FF5}"/>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25</a:t>
            </a:r>
          </a:p>
        </p:txBody>
      </p:sp>
      <p:sp>
        <p:nvSpPr>
          <p:cNvPr id="4" name="Text 2">
            <a:extLst xmlns:a="http://schemas.openxmlformats.org/drawingml/2006/main">
              <a:ext uri="{FF2B5EF4-FFF2-40B4-BE49-F238E27FC236}">
                <a16:creationId xmlns:a16="http://schemas.microsoft.com/office/drawing/2014/main" id="{9D0ABAA4-8771-4F2E-9333-44BEFBEDB3A6}"/>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A93B2B"/>
                </a:solidFill>
                <a:latin typeface="Calibri"/>
                <a:ea typeface="Calibri"/>
                <a:cs typeface="Calibri"/>
              </a:rPr>
              <a:t>LIMITATIONS AND THREATS TO VALIDITY  ·  §8</a:t>
            </a:r>
          </a:p>
        </p:txBody>
      </p:sp>
      <p:sp>
        <p:nvSpPr>
          <p:cNvPr id="5" name="Text 3">
            <a:extLst xmlns:a="http://schemas.openxmlformats.org/drawingml/2006/main">
              <a:ext uri="{FF2B5EF4-FFF2-40B4-BE49-F238E27FC236}">
                <a16:creationId xmlns:a16="http://schemas.microsoft.com/office/drawing/2014/main" id="{F70183CC-C4E9-466E-8DFC-AF01C8699848}"/>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Six results the evidence deliberately does not deliver</a:t>
            </a:r>
          </a:p>
        </p:txBody>
      </p:sp>
      <p:sp>
        <p:nvSpPr>
          <p:cNvPr id="6" name="Shape 4">
            <a:extLst xmlns:a="http://schemas.openxmlformats.org/drawingml/2006/main">
              <a:ext uri="{FF2B5EF4-FFF2-40B4-BE49-F238E27FC236}">
                <a16:creationId xmlns:a16="http://schemas.microsoft.com/office/drawing/2014/main" id="{A6B1F71C-39CD-4C18-BD86-FFD0EAB217ED}"/>
              </a:ext>
            </a:extLst>
          </p:cNvPr>
          <p:cNvSpPr>
            <a:spLocks xmlns:a="http://schemas.openxmlformats.org/drawingml/2006/main" noGrp="1"/>
          </p:cNvSpPr>
          <p:nvPr/>
        </p:nvSpPr>
        <p:spPr>
          <a:xfrm xmlns:a="http://schemas.openxmlformats.org/drawingml/2006/main">
            <a:off x="640080" y="1170432"/>
            <a:ext cx="3478682" cy="2231136"/>
          </a:xfrm>
          <a:prstGeom xmlns:a="http://schemas.openxmlformats.org/drawingml/2006/main" prst="roundRect">
            <a:avLst>
              <a:gd name="adj" fmla="val 204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9BF48B77-5AD7-4E93-ABF2-66F465EA410A}"/>
              </a:ext>
            </a:extLst>
          </p:cNvPr>
          <p:cNvSpPr>
            <a:spLocks xmlns:a="http://schemas.openxmlformats.org/drawingml/2006/main" noGrp="1"/>
          </p:cNvSpPr>
          <p:nvPr/>
        </p:nvSpPr>
        <p:spPr>
          <a:xfrm xmlns:a="http://schemas.openxmlformats.org/drawingml/2006/main">
            <a:off x="859536" y="1353312"/>
            <a:ext cx="292608" cy="292608"/>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C4F5CAC-36F9-428C-9429-5172CC376DCC}"/>
              </a:ext>
            </a:extLst>
          </p:cNvPr>
          <p:cNvSpPr>
            <a:spLocks xmlns:a="http://schemas.openxmlformats.org/drawingml/2006/main" noGrp="1"/>
          </p:cNvSpPr>
          <p:nvPr/>
        </p:nvSpPr>
        <p:spPr>
          <a:xfrm xmlns:a="http://schemas.openxmlformats.org/drawingml/2006/main">
            <a:off x="859536" y="1353312"/>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9" name="Text 7">
            <a:extLst xmlns:a="http://schemas.openxmlformats.org/drawingml/2006/main">
              <a:ext uri="{FF2B5EF4-FFF2-40B4-BE49-F238E27FC236}">
                <a16:creationId xmlns:a16="http://schemas.microsoft.com/office/drawing/2014/main" id="{3B1A0EE2-4CF4-43D2-992A-207CAF776890}"/>
              </a:ext>
            </a:extLst>
          </p:cNvPr>
          <p:cNvSpPr>
            <a:spLocks xmlns:a="http://schemas.openxmlformats.org/drawingml/2006/main" noGrp="1"/>
          </p:cNvSpPr>
          <p:nvPr/>
        </p:nvSpPr>
        <p:spPr>
          <a:xfrm xmlns:a="http://schemas.openxmlformats.org/drawingml/2006/main">
            <a:off x="1225296" y="1316736"/>
            <a:ext cx="267401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The selective gate did not discriminate</a:t>
            </a:r>
          </a:p>
        </p:txBody>
      </p:sp>
      <p:sp>
        <p:nvSpPr>
          <p:cNvPr id="10" name="Text 8">
            <a:extLst xmlns:a="http://schemas.openxmlformats.org/drawingml/2006/main">
              <a:ext uri="{FF2B5EF4-FFF2-40B4-BE49-F238E27FC236}">
                <a16:creationId xmlns:a16="http://schemas.microsoft.com/office/drawing/2014/main" id="{050B1A6F-3C74-4F35-9E76-A9722103BA6F}"/>
              </a:ext>
            </a:extLst>
          </p:cNvPr>
          <p:cNvSpPr>
            <a:spLocks xmlns:a="http://schemas.openxmlformats.org/drawingml/2006/main" noGrp="1"/>
          </p:cNvSpPr>
          <p:nvPr/>
        </p:nvSpPr>
        <p:spPr>
          <a:xfrm xmlns:a="http://schemas.openxmlformats.org/drawingml/2006/main">
            <a:off x="877824" y="1792224"/>
            <a:ext cx="3003194"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a:solidFill>
                  <a:srgbClr val="4E3529"/>
                </a:solidFill>
                <a:latin typeface="Calibri"/>
                <a:ea typeface="Calibri"/>
                <a:cs typeface="Calibri"/>
              </a:rPr>
              <a:t>Every threshold below 0.14 admits zero calibration groups and every threshold at or above it admits all 92, with zero violations throughout. The score was fitted on development-group unproductive outcomes — of which there were none — so a logistic model was trained with zero positive examples over eight observations and seven features. A single-class fit yields a near-constant score, and a near-constant score is exactly what produces the observed step. Contribution (v) is demonstrated only as a sample-size counter.</a:t>
            </a:r>
          </a:p>
        </p:txBody>
      </p:sp>
      <p:sp>
        <p:nvSpPr>
          <p:cNvPr id="11" name="Shape 9">
            <a:extLst xmlns:a="http://schemas.openxmlformats.org/drawingml/2006/main">
              <a:ext uri="{FF2B5EF4-FFF2-40B4-BE49-F238E27FC236}">
                <a16:creationId xmlns:a16="http://schemas.microsoft.com/office/drawing/2014/main" id="{689F81D4-2A55-4542-8FCB-4A0E3B3DC3DA}"/>
              </a:ext>
            </a:extLst>
          </p:cNvPr>
          <p:cNvSpPr>
            <a:spLocks xmlns:a="http://schemas.openxmlformats.org/drawingml/2006/main" noGrp="1"/>
          </p:cNvSpPr>
          <p:nvPr/>
        </p:nvSpPr>
        <p:spPr>
          <a:xfrm xmlns:a="http://schemas.openxmlformats.org/drawingml/2006/main">
            <a:off x="4356506" y="1170432"/>
            <a:ext cx="3478682" cy="2231136"/>
          </a:xfrm>
          <a:prstGeom xmlns:a="http://schemas.openxmlformats.org/drawingml/2006/main" prst="roundRect">
            <a:avLst>
              <a:gd name="adj" fmla="val 204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75B7DC91-2B51-4631-B27C-294239BE9FAE}"/>
              </a:ext>
            </a:extLst>
          </p:cNvPr>
          <p:cNvSpPr>
            <a:spLocks xmlns:a="http://schemas.openxmlformats.org/drawingml/2006/main" noGrp="1"/>
          </p:cNvSpPr>
          <p:nvPr/>
        </p:nvSpPr>
        <p:spPr>
          <a:xfrm xmlns:a="http://schemas.openxmlformats.org/drawingml/2006/main">
            <a:off x="4575962" y="1353312"/>
            <a:ext cx="292608" cy="292608"/>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FC4D173D-B43B-4587-A0AD-30610D040B08}"/>
              </a:ext>
            </a:extLst>
          </p:cNvPr>
          <p:cNvSpPr>
            <a:spLocks xmlns:a="http://schemas.openxmlformats.org/drawingml/2006/main" noGrp="1"/>
          </p:cNvSpPr>
          <p:nvPr/>
        </p:nvSpPr>
        <p:spPr>
          <a:xfrm xmlns:a="http://schemas.openxmlformats.org/drawingml/2006/main">
            <a:off x="4575962" y="1353312"/>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14" name="Text 12">
            <a:extLst xmlns:a="http://schemas.openxmlformats.org/drawingml/2006/main">
              <a:ext uri="{FF2B5EF4-FFF2-40B4-BE49-F238E27FC236}">
                <a16:creationId xmlns:a16="http://schemas.microsoft.com/office/drawing/2014/main" id="{8089A3AF-B844-4894-B2B0-B6905AA55D27}"/>
              </a:ext>
            </a:extLst>
          </p:cNvPr>
          <p:cNvSpPr>
            <a:spLocks xmlns:a="http://schemas.openxmlformats.org/drawingml/2006/main" noGrp="1"/>
          </p:cNvSpPr>
          <p:nvPr/>
        </p:nvSpPr>
        <p:spPr>
          <a:xfrm xmlns:a="http://schemas.openxmlformats.org/drawingml/2006/main">
            <a:off x="4941722" y="1316736"/>
            <a:ext cx="267401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Not production safe</a:t>
            </a:r>
          </a:p>
        </p:txBody>
      </p:sp>
      <p:sp>
        <p:nvSpPr>
          <p:cNvPr id="15" name="Text 13">
            <a:extLst xmlns:a="http://schemas.openxmlformats.org/drawingml/2006/main">
              <a:ext uri="{FF2B5EF4-FFF2-40B4-BE49-F238E27FC236}">
                <a16:creationId xmlns:a16="http://schemas.microsoft.com/office/drawing/2014/main" id="{15210B99-8C50-4A04-B835-BCEADE08961D}"/>
              </a:ext>
            </a:extLst>
          </p:cNvPr>
          <p:cNvSpPr>
            <a:spLocks xmlns:a="http://schemas.openxmlformats.org/drawingml/2006/main" noGrp="1"/>
          </p:cNvSpPr>
          <p:nvPr/>
        </p:nvSpPr>
        <p:spPr>
          <a:xfrm xmlns:a="http://schemas.openxmlformats.org/drawingml/2006/main">
            <a:off x="4594250" y="1792224"/>
            <a:ext cx="3003194"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a:solidFill>
                  <a:srgbClr val="4E3529"/>
                </a:solidFill>
                <a:latin typeface="Calibri"/>
                <a:ea typeface="Calibri"/>
                <a:cs typeface="Calibri"/>
              </a:rPr>
              <a:t>No live GitHub service, no canary, no multi-domain test; the artifact was activated only under a lab-protocol flag. Registry records are mutable Python objects, lifecycle and approval fields were set directly, and signing was disabled — so immutability and signature verification are capabilities of the registry, not properties this experiment demonstrates.</a:t>
            </a:r>
          </a:p>
        </p:txBody>
      </p:sp>
      <p:sp>
        <p:nvSpPr>
          <p:cNvPr id="16" name="Shape 14">
            <a:extLst xmlns:a="http://schemas.openxmlformats.org/drawingml/2006/main">
              <a:ext uri="{FF2B5EF4-FFF2-40B4-BE49-F238E27FC236}">
                <a16:creationId xmlns:a16="http://schemas.microsoft.com/office/drawing/2014/main" id="{4C69C06F-6FE7-44A8-A090-C1CABF06B787}"/>
              </a:ext>
            </a:extLst>
          </p:cNvPr>
          <p:cNvSpPr>
            <a:spLocks xmlns:a="http://schemas.openxmlformats.org/drawingml/2006/main" noGrp="1"/>
          </p:cNvSpPr>
          <p:nvPr/>
        </p:nvSpPr>
        <p:spPr>
          <a:xfrm xmlns:a="http://schemas.openxmlformats.org/drawingml/2006/main">
            <a:off x="8072933" y="1170432"/>
            <a:ext cx="3478682" cy="2231136"/>
          </a:xfrm>
          <a:prstGeom xmlns:a="http://schemas.openxmlformats.org/drawingml/2006/main" prst="roundRect">
            <a:avLst>
              <a:gd name="adj" fmla="val 204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DAE42BC7-FB4F-4A5D-AF29-8801C311F2C4}"/>
              </a:ext>
            </a:extLst>
          </p:cNvPr>
          <p:cNvSpPr>
            <a:spLocks xmlns:a="http://schemas.openxmlformats.org/drawingml/2006/main" noGrp="1"/>
          </p:cNvSpPr>
          <p:nvPr/>
        </p:nvSpPr>
        <p:spPr>
          <a:xfrm xmlns:a="http://schemas.openxmlformats.org/drawingml/2006/main">
            <a:off x="8292389" y="1353312"/>
            <a:ext cx="292608" cy="292608"/>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19843CBC-17D0-40CD-8EBD-E895CA31BA78}"/>
              </a:ext>
            </a:extLst>
          </p:cNvPr>
          <p:cNvSpPr>
            <a:spLocks xmlns:a="http://schemas.openxmlformats.org/drawingml/2006/main" noGrp="1"/>
          </p:cNvSpPr>
          <p:nvPr/>
        </p:nvSpPr>
        <p:spPr>
          <a:xfrm xmlns:a="http://schemas.openxmlformats.org/drawingml/2006/main">
            <a:off x="8292389" y="1353312"/>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19" name="Text 17">
            <a:extLst xmlns:a="http://schemas.openxmlformats.org/drawingml/2006/main">
              <a:ext uri="{FF2B5EF4-FFF2-40B4-BE49-F238E27FC236}">
                <a16:creationId xmlns:a16="http://schemas.microsoft.com/office/drawing/2014/main" id="{D9041EA1-0961-479F-A419-FBCF3C04F71D}"/>
              </a:ext>
            </a:extLst>
          </p:cNvPr>
          <p:cNvSpPr>
            <a:spLocks xmlns:a="http://schemas.openxmlformats.org/drawingml/2006/main" noGrp="1"/>
          </p:cNvSpPr>
          <p:nvPr/>
        </p:nvSpPr>
        <p:spPr>
          <a:xfrm xmlns:a="http://schemas.openxmlformats.org/drawingml/2006/main">
            <a:off x="8658149" y="1316736"/>
            <a:ext cx="267401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Compaction did not stabilize text</a:t>
            </a:r>
          </a:p>
        </p:txBody>
      </p:sp>
      <p:sp>
        <p:nvSpPr>
          <p:cNvPr id="20" name="Text 18">
            <a:extLst xmlns:a="http://schemas.openxmlformats.org/drawingml/2006/main">
              <a:ext uri="{FF2B5EF4-FFF2-40B4-BE49-F238E27FC236}">
                <a16:creationId xmlns:a16="http://schemas.microsoft.com/office/drawing/2014/main" id="{5A99B486-1747-440D-A0E0-BD214A5A2E81}"/>
              </a:ext>
            </a:extLst>
          </p:cNvPr>
          <p:cNvSpPr>
            <a:spLocks xmlns:a="http://schemas.openxmlformats.org/drawingml/2006/main" noGrp="1"/>
          </p:cNvSpPr>
          <p:nvPr/>
        </p:nvSpPr>
        <p:spPr>
          <a:xfrm xmlns:a="http://schemas.openxmlformats.org/drawingml/2006/main">
            <a:off x="8310677" y="1792224"/>
            <a:ext cx="3003194"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a:solidFill>
                  <a:srgbClr val="4E3529"/>
                </a:solidFill>
                <a:latin typeface="Calibri"/>
                <a:ea typeface="Calibri"/>
                <a:cs typeface="Calibri"/>
              </a:rPr>
              <a:t>Category decisions agree 10/10 across arms, but byte-exact answers agree 7/10 baseline, 6/10 compiled, 4/10 macro. In the earlier six-repeat pilot: 1/6 baseline and 0/6 compiled. Structural determinism of the tool prefix improves by construction; free-form surface determinism does not.</a:t>
            </a:r>
          </a:p>
        </p:txBody>
      </p:sp>
      <p:sp>
        <p:nvSpPr>
          <p:cNvPr id="21" name="Shape 19">
            <a:extLst xmlns:a="http://schemas.openxmlformats.org/drawingml/2006/main">
              <a:ext uri="{FF2B5EF4-FFF2-40B4-BE49-F238E27FC236}">
                <a16:creationId xmlns:a16="http://schemas.microsoft.com/office/drawing/2014/main" id="{BEB305F5-AA77-45D4-806E-AD2A74722CBE}"/>
              </a:ext>
            </a:extLst>
          </p:cNvPr>
          <p:cNvSpPr>
            <a:spLocks xmlns:a="http://schemas.openxmlformats.org/drawingml/2006/main" noGrp="1"/>
          </p:cNvSpPr>
          <p:nvPr/>
        </p:nvSpPr>
        <p:spPr>
          <a:xfrm xmlns:a="http://schemas.openxmlformats.org/drawingml/2006/main">
            <a:off x="640080" y="3602736"/>
            <a:ext cx="3478682" cy="2231136"/>
          </a:xfrm>
          <a:prstGeom xmlns:a="http://schemas.openxmlformats.org/drawingml/2006/main" prst="roundRect">
            <a:avLst>
              <a:gd name="adj" fmla="val 204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2" name="Shape 20">
            <a:extLst xmlns:a="http://schemas.openxmlformats.org/drawingml/2006/main">
              <a:ext uri="{FF2B5EF4-FFF2-40B4-BE49-F238E27FC236}">
                <a16:creationId xmlns:a16="http://schemas.microsoft.com/office/drawing/2014/main" id="{E4151B36-22B0-413E-8FC8-A6253C0475DA}"/>
              </a:ext>
            </a:extLst>
          </p:cNvPr>
          <p:cNvSpPr>
            <a:spLocks xmlns:a="http://schemas.openxmlformats.org/drawingml/2006/main" noGrp="1"/>
          </p:cNvSpPr>
          <p:nvPr/>
        </p:nvSpPr>
        <p:spPr>
          <a:xfrm xmlns:a="http://schemas.openxmlformats.org/drawingml/2006/main">
            <a:off x="859536" y="3785616"/>
            <a:ext cx="292608" cy="292608"/>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D7069AAA-D0F5-415B-A2F8-86E5C34C265C}"/>
              </a:ext>
            </a:extLst>
          </p:cNvPr>
          <p:cNvSpPr>
            <a:spLocks xmlns:a="http://schemas.openxmlformats.org/drawingml/2006/main" noGrp="1"/>
          </p:cNvSpPr>
          <p:nvPr/>
        </p:nvSpPr>
        <p:spPr>
          <a:xfrm xmlns:a="http://schemas.openxmlformats.org/drawingml/2006/main">
            <a:off x="859536" y="37856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24" name="Text 22">
            <a:extLst xmlns:a="http://schemas.openxmlformats.org/drawingml/2006/main">
              <a:ext uri="{FF2B5EF4-FFF2-40B4-BE49-F238E27FC236}">
                <a16:creationId xmlns:a16="http://schemas.microsoft.com/office/drawing/2014/main" id="{97AF684D-6FA6-4D5A-A4D2-80CE575CED88}"/>
              </a:ext>
            </a:extLst>
          </p:cNvPr>
          <p:cNvSpPr>
            <a:spLocks xmlns:a="http://schemas.openxmlformats.org/drawingml/2006/main" noGrp="1"/>
          </p:cNvSpPr>
          <p:nvPr/>
        </p:nvSpPr>
        <p:spPr>
          <a:xfrm xmlns:a="http://schemas.openxmlformats.org/drawingml/2006/main">
            <a:off x="1225296" y="3749040"/>
            <a:ext cx="267401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Removing turns can remove guardrails</a:t>
            </a:r>
          </a:p>
        </p:txBody>
      </p:sp>
      <p:sp>
        <p:nvSpPr>
          <p:cNvPr id="25" name="Text 23">
            <a:extLst xmlns:a="http://schemas.openxmlformats.org/drawingml/2006/main">
              <a:ext uri="{FF2B5EF4-FFF2-40B4-BE49-F238E27FC236}">
                <a16:creationId xmlns:a16="http://schemas.microsoft.com/office/drawing/2014/main" id="{7768F2B0-0E6A-4C0E-A77C-ED9F7D2F264B}"/>
              </a:ext>
            </a:extLst>
          </p:cNvPr>
          <p:cNvSpPr>
            <a:spLocks xmlns:a="http://schemas.openxmlformats.org/drawingml/2006/main" noGrp="1"/>
          </p:cNvSpPr>
          <p:nvPr/>
        </p:nvSpPr>
        <p:spPr>
          <a:xfrm xmlns:a="http://schemas.openxmlformats.org/drawingml/2006/main">
            <a:off x="877824" y="4224528"/>
            <a:ext cx="3003194"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a:solidFill>
                  <a:srgbClr val="4E3529"/>
                </a:solidFill>
                <a:latin typeface="Calibri"/>
                <a:ea typeface="Calibri"/>
                <a:cs typeface="Calibri"/>
              </a:rPr>
              <a:t>Moderation, policy, and guardrail checks commonly run at model boundaries. A region deleting three of four boundaries risks deleting three of four evaluations, and neither the effect catalog nor the read-only policy covers that: a guardrail is not a tool call, so it is invisible to both. The demonstrations expose no guardrails, so the gap is untested rather than benign.</a:t>
            </a:r>
          </a:p>
        </p:txBody>
      </p:sp>
      <p:sp>
        <p:nvSpPr>
          <p:cNvPr id="26" name="Shape 24">
            <a:extLst xmlns:a="http://schemas.openxmlformats.org/drawingml/2006/main">
              <a:ext uri="{FF2B5EF4-FFF2-40B4-BE49-F238E27FC236}">
                <a16:creationId xmlns:a16="http://schemas.microsoft.com/office/drawing/2014/main" id="{FC2A3325-57D3-4ED2-B38A-5276F492DC3D}"/>
              </a:ext>
            </a:extLst>
          </p:cNvPr>
          <p:cNvSpPr>
            <a:spLocks xmlns:a="http://schemas.openxmlformats.org/drawingml/2006/main" noGrp="1"/>
          </p:cNvSpPr>
          <p:nvPr/>
        </p:nvSpPr>
        <p:spPr>
          <a:xfrm xmlns:a="http://schemas.openxmlformats.org/drawingml/2006/main">
            <a:off x="4356506" y="3602736"/>
            <a:ext cx="3478682" cy="2231136"/>
          </a:xfrm>
          <a:prstGeom xmlns:a="http://schemas.openxmlformats.org/drawingml/2006/main" prst="roundRect">
            <a:avLst>
              <a:gd name="adj" fmla="val 204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C43C9193-97D0-4305-8D6F-1A61CB1FC832}"/>
              </a:ext>
            </a:extLst>
          </p:cNvPr>
          <p:cNvSpPr>
            <a:spLocks xmlns:a="http://schemas.openxmlformats.org/drawingml/2006/main" noGrp="1"/>
          </p:cNvSpPr>
          <p:nvPr/>
        </p:nvSpPr>
        <p:spPr>
          <a:xfrm xmlns:a="http://schemas.openxmlformats.org/drawingml/2006/main">
            <a:off x="4575962" y="3785616"/>
            <a:ext cx="292608" cy="292608"/>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0FF0E8FF-EE37-4E6D-94EA-447CD9F2C8E6}"/>
              </a:ext>
            </a:extLst>
          </p:cNvPr>
          <p:cNvSpPr>
            <a:spLocks xmlns:a="http://schemas.openxmlformats.org/drawingml/2006/main" noGrp="1"/>
          </p:cNvSpPr>
          <p:nvPr/>
        </p:nvSpPr>
        <p:spPr>
          <a:xfrm xmlns:a="http://schemas.openxmlformats.org/drawingml/2006/main">
            <a:off x="4575962" y="37856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29" name="Text 27">
            <a:extLst xmlns:a="http://schemas.openxmlformats.org/drawingml/2006/main">
              <a:ext uri="{FF2B5EF4-FFF2-40B4-BE49-F238E27FC236}">
                <a16:creationId xmlns:a16="http://schemas.microsoft.com/office/drawing/2014/main" id="{5186EA46-4689-4B53-9E4F-A5A509519A7E}"/>
              </a:ext>
            </a:extLst>
          </p:cNvPr>
          <p:cNvSpPr>
            <a:spLocks xmlns:a="http://schemas.openxmlformats.org/drawingml/2006/main" noGrp="1"/>
          </p:cNvSpPr>
          <p:nvPr/>
        </p:nvSpPr>
        <p:spPr>
          <a:xfrm xmlns:a="http://schemas.openxmlformats.org/drawingml/2006/main">
            <a:off x="4941722" y="3749040"/>
            <a:ext cx="267401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Factual quality is narrow</a:t>
            </a:r>
          </a:p>
        </p:txBody>
      </p:sp>
      <p:sp>
        <p:nvSpPr>
          <p:cNvPr id="30" name="Text 28">
            <a:extLst xmlns:a="http://schemas.openxmlformats.org/drawingml/2006/main">
              <a:ext uri="{FF2B5EF4-FFF2-40B4-BE49-F238E27FC236}">
                <a16:creationId xmlns:a16="http://schemas.microsoft.com/office/drawing/2014/main" id="{BE878E8C-B3B0-4CEE-8838-0FC2110E5B87}"/>
              </a:ext>
            </a:extLst>
          </p:cNvPr>
          <p:cNvSpPr>
            <a:spLocks xmlns:a="http://schemas.openxmlformats.org/drawingml/2006/main" noGrp="1"/>
          </p:cNvSpPr>
          <p:nvPr/>
        </p:nvSpPr>
        <p:spPr>
          <a:xfrm xmlns:a="http://schemas.openxmlformats.org/drawingml/2006/main">
            <a:off x="4594250" y="4224528"/>
            <a:ext cx="3003194"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a:solidFill>
                  <a:srgbClr val="4E3529"/>
                </a:solidFill>
                <a:latin typeface="Calibri"/>
                <a:ea typeface="Calibri"/>
                <a:cs typeface="Calibri"/>
              </a:rPr>
              <a:t>The oracle is an automatic extractive contract, not human semantic adjudication. It checks exact snapshot fields and source-supported excerpts; it does not detect fluent fabrication. Both audited oracle corrections are retained in the artifact to show that even strict-looking metrics can drift.</a:t>
            </a:r>
          </a:p>
        </p:txBody>
      </p:sp>
      <p:sp>
        <p:nvSpPr>
          <p:cNvPr id="31" name="Shape 29">
            <a:extLst xmlns:a="http://schemas.openxmlformats.org/drawingml/2006/main">
              <a:ext uri="{FF2B5EF4-FFF2-40B4-BE49-F238E27FC236}">
                <a16:creationId xmlns:a16="http://schemas.microsoft.com/office/drawing/2014/main" id="{072ECF0C-A020-42FA-A9B7-6A87FC558411}"/>
              </a:ext>
            </a:extLst>
          </p:cNvPr>
          <p:cNvSpPr>
            <a:spLocks xmlns:a="http://schemas.openxmlformats.org/drawingml/2006/main" noGrp="1"/>
          </p:cNvSpPr>
          <p:nvPr/>
        </p:nvSpPr>
        <p:spPr>
          <a:xfrm xmlns:a="http://schemas.openxmlformats.org/drawingml/2006/main">
            <a:off x="8072933" y="3602736"/>
            <a:ext cx="3478682" cy="2231136"/>
          </a:xfrm>
          <a:prstGeom xmlns:a="http://schemas.openxmlformats.org/drawingml/2006/main" prst="roundRect">
            <a:avLst>
              <a:gd name="adj" fmla="val 204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5000"/>
              </a:srgbClr>
            </a:outerShdw>
          </a:effectLst>
        </p:spPr>
        <p:txBody>
          <a:bodyPr xmlns:a="http://schemas.openxmlformats.org/drawingml/2006/main"/>
          <a:lstStyle xmlns:a="http://schemas.openxmlformats.org/drawingml/2006/main"/>
          <a:p xmlns:a="http://schemas.openxmlformats.org/drawingml/2006/main"/>
        </p:txBody>
      </p:sp>
      <p:sp>
        <p:nvSpPr>
          <p:cNvPr id="32" name="Shape 30">
            <a:extLst xmlns:a="http://schemas.openxmlformats.org/drawingml/2006/main">
              <a:ext uri="{FF2B5EF4-FFF2-40B4-BE49-F238E27FC236}">
                <a16:creationId xmlns:a16="http://schemas.microsoft.com/office/drawing/2014/main" id="{36B1DC00-BFF5-4947-84E9-4ECFACA35D4D}"/>
              </a:ext>
            </a:extLst>
          </p:cNvPr>
          <p:cNvSpPr>
            <a:spLocks xmlns:a="http://schemas.openxmlformats.org/drawingml/2006/main" noGrp="1"/>
          </p:cNvSpPr>
          <p:nvPr/>
        </p:nvSpPr>
        <p:spPr>
          <a:xfrm xmlns:a="http://schemas.openxmlformats.org/drawingml/2006/main">
            <a:off x="8292389" y="3785616"/>
            <a:ext cx="292608" cy="292608"/>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17EF352A-F0EE-426E-AE01-EF4B4405DFD9}"/>
              </a:ext>
            </a:extLst>
          </p:cNvPr>
          <p:cNvSpPr>
            <a:spLocks xmlns:a="http://schemas.openxmlformats.org/drawingml/2006/main" noGrp="1"/>
          </p:cNvSpPr>
          <p:nvPr/>
        </p:nvSpPr>
        <p:spPr>
          <a:xfrm xmlns:a="http://schemas.openxmlformats.org/drawingml/2006/main">
            <a:off x="8292389" y="378561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t>
            </a:r>
          </a:p>
        </p:txBody>
      </p:sp>
      <p:sp>
        <p:nvSpPr>
          <p:cNvPr id="34" name="Text 32">
            <a:extLst xmlns:a="http://schemas.openxmlformats.org/drawingml/2006/main">
              <a:ext uri="{FF2B5EF4-FFF2-40B4-BE49-F238E27FC236}">
                <a16:creationId xmlns:a16="http://schemas.microsoft.com/office/drawing/2014/main" id="{6E7FE7CE-A80E-48F6-A3F5-2BC5650EBDBD}"/>
              </a:ext>
            </a:extLst>
          </p:cNvPr>
          <p:cNvSpPr>
            <a:spLocks xmlns:a="http://schemas.openxmlformats.org/drawingml/2006/main" noGrp="1"/>
          </p:cNvSpPr>
          <p:nvPr/>
        </p:nvSpPr>
        <p:spPr>
          <a:xfrm xmlns:a="http://schemas.openxmlformats.org/drawingml/2006/main">
            <a:off x="8658149" y="3749040"/>
            <a:ext cx="267401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50" b="1">
                <a:solidFill>
                  <a:srgbClr val="A93B2B"/>
                </a:solidFill>
                <a:latin typeface="Cambria"/>
                <a:ea typeface="Cambria"/>
                <a:cs typeface="Cambria"/>
              </a:rPr>
              <a:t>Latency is partly confounded</a:t>
            </a:r>
          </a:p>
        </p:txBody>
      </p:sp>
      <p:sp>
        <p:nvSpPr>
          <p:cNvPr id="35" name="Text 33">
            <a:extLst xmlns:a="http://schemas.openxmlformats.org/drawingml/2006/main">
              <a:ext uri="{FF2B5EF4-FFF2-40B4-BE49-F238E27FC236}">
                <a16:creationId xmlns:a16="http://schemas.microsoft.com/office/drawing/2014/main" id="{E23A4064-5F2F-4E52-A6F2-43DBE17FEEAA}"/>
              </a:ext>
            </a:extLst>
          </p:cNvPr>
          <p:cNvSpPr>
            <a:spLocks xmlns:a="http://schemas.openxmlformats.org/drawingml/2006/main" noGrp="1"/>
          </p:cNvSpPr>
          <p:nvPr/>
        </p:nvSpPr>
        <p:spPr>
          <a:xfrm xmlns:a="http://schemas.openxmlformats.org/drawingml/2006/main">
            <a:off x="8310677" y="4224528"/>
            <a:ext cx="3003194"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00">
                <a:solidFill>
                  <a:srgbClr val="4E3529"/>
                </a:solidFill>
                <a:latin typeface="Calibri"/>
                <a:ea typeface="Calibri"/>
                <a:cs typeface="Calibri"/>
              </a:rPr>
              <a:t>The fixed-prefix harness ran the entire baseline batch and then the entire compiled batch, so provider load, connection reuse, and prompt-cache warmth differ systematically between conditions. The request-count reduction is structural and unaffected, but the −85.0% wall-latency figure should be read as an observation under that ordering. Both natural-order studies counterbalance all six condition permutations.</a:t>
            </a:r>
          </a:p>
        </p:txBody>
      </p:sp>
      <p:sp>
        <p:nvSpPr>
          <p:cNvPr id="36" name="Text 34">
            <a:extLst xmlns:a="http://schemas.openxmlformats.org/drawingml/2006/main">
              <a:ext uri="{FF2B5EF4-FFF2-40B4-BE49-F238E27FC236}">
                <a16:creationId xmlns:a16="http://schemas.microsoft.com/office/drawing/2014/main" id="{B11D2FCE-17A2-4BC6-8575-2ED34D155AAF}"/>
              </a:ext>
            </a:extLst>
          </p:cNvPr>
          <p:cNvSpPr>
            <a:spLocks xmlns:a="http://schemas.openxmlformats.org/drawingml/2006/main" noGrp="1"/>
          </p:cNvSpPr>
          <p:nvPr/>
        </p:nvSpPr>
        <p:spPr>
          <a:xfrm xmlns:a="http://schemas.openxmlformats.org/drawingml/2006/main">
            <a:off x="640080" y="5943600"/>
            <a:ext cx="1091153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950" i="1">
                <a:solidFill>
                  <a:srgbClr val="5A6B84"/>
                </a:solidFill>
                <a:latin typeface="Calibri"/>
                <a:ea typeface="Calibri"/>
                <a:cs typeface="Calibri"/>
              </a:rPr>
              <a:t>Also: discovery is not free (132 episodes cost 528 provider requests, 533,293 tokens, and about $0.096), and provider-side break-even runs 181–411 episodes; part of the reported 32.0–75.3% cost range is prompt-cache warmth rather than compiled depth, and no cache-controlled replication exists; the fair-placement/GEPA study has only six held-out records; risk control is per artifact; the closed DSL misses legitimate transformations and loops; and pre-snapshot Git ancestry cannot be reconstructed.</a:t>
            </a:r>
          </a:p>
        </p:txBody>
      </p:sp>
    </p:spTree>
    <p:extLst>
      <p:ext uri="{BB962C8B-B14F-4D97-AF65-F5344CB8AC3E}">
        <p14:creationId xmlns:p14="http://schemas.microsoft.com/office/powerpoint/2010/main" val="84919564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ED5F6B-CEDB-4652-A7B8-417B0A20932E}"/>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D32E7537-29B5-400D-AF8C-7A1664E3CC80}"/>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26</a:t>
            </a:r>
          </a:p>
        </p:txBody>
      </p:sp>
      <p:sp>
        <p:nvSpPr>
          <p:cNvPr id="4" name="Text 2">
            <a:extLst xmlns:a="http://schemas.openxmlformats.org/drawingml/2006/main">
              <a:ext uri="{FF2B5EF4-FFF2-40B4-BE49-F238E27FC236}">
                <a16:creationId xmlns:a16="http://schemas.microsoft.com/office/drawing/2014/main" id="{C6A5A488-3A02-4BA9-A998-24632BFC5B4D}"/>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8A99"/>
                </a:solidFill>
                <a:latin typeface="Calibri"/>
                <a:ea typeface="Calibri"/>
                <a:cs typeface="Calibri"/>
              </a:rPr>
              <a:t>APPENDIX C / TABLE 9</a:t>
            </a:r>
          </a:p>
        </p:txBody>
      </p:sp>
      <p:sp>
        <p:nvSpPr>
          <p:cNvPr id="5" name="Text 3">
            <a:extLst xmlns:a="http://schemas.openxmlformats.org/drawingml/2006/main">
              <a:ext uri="{FF2B5EF4-FFF2-40B4-BE49-F238E27FC236}">
                <a16:creationId xmlns:a16="http://schemas.microsoft.com/office/drawing/2014/main" id="{8150CFCA-65BA-4DD4-B17A-F93F42975E5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The complete claims register — retained to prevent narrative drift</a:t>
            </a:r>
          </a:p>
        </p:txBody>
      </p:sp>
      <p:graphicFrame>
        <p:nvGraphicFramePr>
          <p:cNvPr id="6" name="Table 0"/>
          <p:cNvGraphicFramePr/>
          <p:nvPr/>
        </p:nvGraphicFramePr>
        <p:xfrm>
          <a:off xmlns:a="http://schemas.openxmlformats.org/drawingml/2006/main" x="640080" y="1170432"/>
          <a:ext xmlns:a="http://schemas.openxmlformats.org/drawingml/2006/main" cx="10908792" cy="3712464"/>
        </p:xfrm>
        <a:graphic xmlns:a="http://schemas.openxmlformats.org/drawingml/2006/main">
          <a:graphicData uri="http://schemas.openxmlformats.org/drawingml/2006/table">
            <a:tbl>
              <a:tblPr/>
              <a:tblGrid>
                <a:gridCol w="457200"/>
                <a:gridCol w="3657600"/>
                <a:gridCol w="4690872"/>
                <a:gridCol w="2103120"/>
              </a:tblGrid>
              <a:tr h="265176">
                <a:tc>
                  <a:txBody>
                    <a:bodyPr/>
                    <a:lstStyle/>
                    <a:p>
                      <a:pPr marL="0" indent="0">
                        <a:buNone/>
                      </a:pPr>
                      <a:r>
                        <a:rPr sz="900" b="1">
                          <a:solidFill>
                            <a:srgbClr val="FFFFFF"/>
                          </a:solidFill>
                          <a:latin typeface="Calibri"/>
                          <a:ea typeface="Calibri"/>
                          <a:cs typeface="Calibri"/>
                        </a:rPr>
                        <a:t>ID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Claim</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Direct evidence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buNone/>
                      </a:pPr>
                      <a:r>
                        <a:rPr sz="900" b="1">
                          <a:solidFill>
                            <a:srgbClr val="FFFFFF"/>
                          </a:solidFill>
                          <a:latin typeface="Calibri"/>
                          <a:ea typeface="Calibri"/>
                          <a:cs typeface="Calibri"/>
                        </a:rPr>
                        <a:t>Verdict (as recorded in Table 9)</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r>
              <a:tr h="265176">
                <a:tc>
                  <a:txBody>
                    <a:bodyPr/>
                    <a:lstStyle/>
                    <a:p>
                      <a:pPr marL="0" indent="0">
                        <a:buNone/>
                      </a:pPr>
                      <a:r>
                        <a:rPr sz="850" b="1">
                          <a:solidFill>
                            <a:srgbClr val="0E1E3A"/>
                          </a:solidFill>
                          <a:latin typeface="Calibri"/>
                          <a:ea typeface="Calibri"/>
                          <a:cs typeface="Calibri"/>
                        </a:rPr>
                        <a:t>C1</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Expected producer appears in the provenance candidate set</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Pinned NESTFUL: 5,531 / 5,746 dependency slots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B5821F"/>
                          </a:solidFill>
                          <a:latin typeface="Calibri"/>
                          <a:ea typeface="Calibri"/>
                          <a:cs typeface="Calibri"/>
                        </a:rPr>
                        <a:t>96.3% recall; 80.7% unique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4E6"/>
                    </a:solidFill>
                  </a:tcPr>
                </a:tc>
              </a:tr>
              <a:tr h="265176">
                <a:tc>
                  <a:txBody>
                    <a:bodyPr/>
                    <a:lstStyle/>
                    <a:p>
                      <a:pPr marL="0" indent="0">
                        <a:buNone/>
                      </a:pPr>
                      <a:r>
                        <a:rPr sz="850" b="1">
                          <a:solidFill>
                            <a:srgbClr val="0E1E3A"/>
                          </a:solidFill>
                          <a:latin typeface="Calibri"/>
                          <a:ea typeface="Calibri"/>
                          <a:cs typeface="Calibri"/>
                        </a:rPr>
                        <a:t>C2</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A naturally recurring prefix can remove model decisions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132 live discovery records; 30 counterbalanced real-record tests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B5821F"/>
                          </a:solidFill>
                          <a:latin typeface="Calibri"/>
                          <a:ea typeface="Calibri"/>
                          <a:cs typeface="Calibri"/>
                        </a:rPr>
                        <a:t>Yes; one snapshot domain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4E6"/>
                    </a:solidFill>
                  </a:tcPr>
                </a:tc>
              </a:tr>
              <a:tr h="265176">
                <a:tc>
                  <a:txBody>
                    <a:bodyPr/>
                    <a:lstStyle/>
                    <a:p>
                      <a:pPr marL="0" indent="0">
                        <a:buNone/>
                      </a:pPr>
                      <a:r>
                        <a:rPr sz="850" b="1">
                          <a:solidFill>
                            <a:srgbClr val="0E1E3A"/>
                          </a:solidFill>
                          <a:latin typeface="Calibri"/>
                          <a:ea typeface="Calibri"/>
                          <a:cs typeface="Calibri"/>
                        </a:rPr>
                        <a:t>C3</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Source-grounded task quality is preserved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Expanded partial compiler: all three arms 30/30; earlier aggressive: 17/18</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B5821F"/>
                          </a:solidFill>
                          <a:latin typeface="Calibri"/>
                          <a:ea typeface="Calibri"/>
                          <a:cs typeface="Calibri"/>
                        </a:rPr>
                        <a:t>This sample only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4E6"/>
                    </a:solidFill>
                  </a:tcPr>
                </a:tc>
              </a:tr>
              <a:tr h="265176">
                <a:tc>
                  <a:txBody>
                    <a:bodyPr/>
                    <a:lstStyle/>
                    <a:p>
                      <a:pPr marL="0" indent="0">
                        <a:buNone/>
                      </a:pPr>
                      <a:r>
                        <a:rPr sz="850" b="1">
                          <a:solidFill>
                            <a:srgbClr val="0E1E3A"/>
                          </a:solidFill>
                          <a:latin typeface="Calibri"/>
                          <a:ea typeface="Calibri"/>
                          <a:cs typeface="Calibri"/>
                        </a:rPr>
                        <a:t>C4</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Configured selective admission is data hungry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NESTFUL max support 26 vs required 92</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B5821F"/>
                          </a:solidFill>
                          <a:latin typeface="Calibri"/>
                          <a:ea typeface="Calibri"/>
                          <a:cs typeface="Calibri"/>
                        </a:rPr>
                        <a:t>This grid / risk setting</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4E6"/>
                    </a:solidFill>
                  </a:tcPr>
                </a:tc>
              </a:tr>
              <a:tr h="265176">
                <a:tc>
                  <a:txBody>
                    <a:bodyPr/>
                    <a:lstStyle/>
                    <a:p>
                      <a:pPr marL="0" indent="0">
                        <a:buNone/>
                      </a:pPr>
                      <a:r>
                        <a:rPr sz="850" b="1">
                          <a:solidFill>
                            <a:srgbClr val="0E1E3A"/>
                          </a:solidFill>
                          <a:latin typeface="Calibri"/>
                          <a:ea typeface="Calibri"/>
                          <a:cs typeface="Calibri"/>
                        </a:rPr>
                        <a:t>C5</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Compaction improves text determinism</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Exact-answer agreement 1/6 vs 0/6 (n = 6)</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A93B2B"/>
                          </a:solidFill>
                          <a:latin typeface="Calibri"/>
                          <a:ea typeface="Calibri"/>
                          <a:cs typeface="Calibri"/>
                        </a:rPr>
                        <a:t>Not supported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0EC"/>
                    </a:solidFill>
                  </a:tcPr>
                </a:tc>
              </a:tr>
              <a:tr h="265176">
                <a:tc>
                  <a:txBody>
                    <a:bodyPr/>
                    <a:lstStyle/>
                    <a:p>
                      <a:pPr marL="0" indent="0">
                        <a:buNone/>
                      </a:pPr>
                      <a:r>
                        <a:rPr sz="850" b="1">
                          <a:solidFill>
                            <a:srgbClr val="0E1E3A"/>
                          </a:solidFill>
                          <a:latin typeface="Calibri"/>
                          <a:ea typeface="Calibri"/>
                          <a:cs typeface="Calibri"/>
                        </a:rPr>
                        <a:t>C6</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The artifact is production safe</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No live GitHub service, canary, or multi-domain test</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A93B2B"/>
                          </a:solidFill>
                          <a:latin typeface="Calibri"/>
                          <a:ea typeface="Calibri"/>
                          <a:cs typeface="Calibri"/>
                        </a:rPr>
                        <a:t>Not supported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0EC"/>
                    </a:solidFill>
                  </a:tcPr>
                </a:tc>
              </a:tr>
              <a:tr h="265176">
                <a:tc>
                  <a:txBody>
                    <a:bodyPr/>
                    <a:lstStyle/>
                    <a:p>
                      <a:pPr marL="0" indent="0">
                        <a:buNone/>
                      </a:pPr>
                      <a:r>
                        <a:rPr sz="850" b="1">
                          <a:solidFill>
                            <a:srgbClr val="0E1E3A"/>
                          </a:solidFill>
                          <a:latin typeface="Calibri"/>
                          <a:ea typeface="Calibri"/>
                          <a:cs typeface="Calibri"/>
                        </a:rPr>
                        <a:t>C7</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The learned gate discriminates risky from safe inputs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0 positive dev examples; gate admits none or all</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A93B2B"/>
                          </a:solidFill>
                          <a:latin typeface="Calibri"/>
                          <a:ea typeface="Calibri"/>
                          <a:cs typeface="Calibri"/>
                        </a:rPr>
                        <a:t>Not supported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0EC"/>
                    </a:solidFill>
                  </a:tcPr>
                </a:tc>
              </a:tr>
              <a:tr h="265176">
                <a:tc>
                  <a:txBody>
                    <a:bodyPr/>
                    <a:lstStyle/>
                    <a:p>
                      <a:pPr marL="0" indent="0">
                        <a:buNone/>
                      </a:pPr>
                      <a:r>
                        <a:rPr sz="850" b="1">
                          <a:solidFill>
                            <a:srgbClr val="0E1E3A"/>
                          </a:solidFill>
                          <a:latin typeface="Calibri"/>
                          <a:ea typeface="Calibri"/>
                          <a:cs typeface="Calibri"/>
                        </a:rPr>
                        <a:t>C8</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Factual summary quality is preserved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Oracle accepts fluent fabrication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5A6B84"/>
                          </a:solidFill>
                          <a:latin typeface="Calibri"/>
                          <a:ea typeface="Calibri"/>
                          <a:cs typeface="Calibri"/>
                        </a:rPr>
                        <a:t>Not evaluated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FF1F4"/>
                    </a:solidFill>
                  </a:tcPr>
                </a:tc>
              </a:tr>
              <a:tr h="265176">
                <a:tc>
                  <a:txBody>
                    <a:bodyPr/>
                    <a:lstStyle/>
                    <a:p>
                      <a:pPr marL="0" indent="0">
                        <a:buNone/>
                      </a:pPr>
                      <a:r>
                        <a:rPr sz="850" b="1">
                          <a:solidFill>
                            <a:srgbClr val="0E1E3A"/>
                          </a:solidFill>
                          <a:latin typeface="Calibri"/>
                          <a:ea typeface="Calibri"/>
                          <a:cs typeface="Calibri"/>
                        </a:rPr>
                        <a:t>C9</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The learned compiler generally dominates hand-written composition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Macro beats partial GRC; fair pre-model manual ties GCS on 6 fresh pairs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A93B2B"/>
                          </a:solidFill>
                          <a:latin typeface="Calibri"/>
                          <a:ea typeface="Calibri"/>
                          <a:cs typeface="Calibri"/>
                        </a:rPr>
                        <a:t>Not supported; structural parity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0EC"/>
                    </a:solidFill>
                  </a:tcPr>
                </a:tc>
              </a:tr>
              <a:tr h="265176">
                <a:tc>
                  <a:txBody>
                    <a:bodyPr/>
                    <a:lstStyle/>
                    <a:p>
                      <a:pPr marL="0" indent="0">
                        <a:buNone/>
                      </a:pPr>
                      <a:r>
                        <a:rPr sz="850" b="1">
                          <a:solidFill>
                            <a:srgbClr val="0E1E3A"/>
                          </a:solidFill>
                          <a:latin typeface="Calibri"/>
                          <a:ea typeface="Calibri"/>
                          <a:cs typeface="Calibri"/>
                        </a:rPr>
                        <a:t>C10</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A continuation contract recovers the retained exact-source miss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Provider-free replay detects issue 6602 and checked-renders 1/18 cases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B5821F"/>
                          </a:solidFill>
                          <a:latin typeface="Calibri"/>
                          <a:ea typeface="Calibri"/>
                          <a:cs typeface="Calibri"/>
                        </a:rPr>
                        <a:t>Verified counterfactual</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4E6"/>
                    </a:solidFill>
                  </a:tcPr>
                </a:tc>
              </a:tr>
              <a:tr h="265176">
                <a:tc>
                  <a:txBody>
                    <a:bodyPr/>
                    <a:lstStyle/>
                    <a:p>
                      <a:pPr marL="0" indent="0">
                        <a:buNone/>
                      </a:pPr>
                      <a:r>
                        <a:rPr sz="850" b="1">
                          <a:solidFill>
                            <a:srgbClr val="0E1E3A"/>
                          </a:solidFill>
                          <a:latin typeface="Calibri"/>
                          <a:ea typeface="Calibri"/>
                          <a:cs typeface="Calibri"/>
                        </a:rPr>
                        <a:t>C11</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The portfolio recommends a measured macro</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30 frozen independent groups; 12 fresh paired issues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B5821F"/>
                          </a:solidFill>
                          <a:latin typeface="Calibri"/>
                          <a:ea typeface="Calibri"/>
                          <a:cs typeface="Calibri"/>
                        </a:rPr>
                        <a:t>Verified, one family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4E6"/>
                    </a:solidFill>
                  </a:tcPr>
                </a:tc>
              </a:tr>
              <a:tr h="265176">
                <a:tc>
                  <a:txBody>
                    <a:bodyPr/>
                    <a:lstStyle/>
                    <a:p>
                      <a:pPr marL="0" indent="0">
                        <a:buNone/>
                      </a:pPr>
                      <a:r>
                        <a:rPr sz="850" b="1">
                          <a:solidFill>
                            <a:srgbClr val="0E1E3A"/>
                          </a:solidFill>
                          <a:latin typeface="Calibri"/>
                          <a:ea typeface="Calibri"/>
                          <a:cs typeface="Calibri"/>
                        </a:rPr>
                        <a:t>C12</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The portfolio synthesizes a macro or evaluates a cache action</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Public portfolio API accepts externally supplied measurements only</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5A6B84"/>
                          </a:solidFill>
                          <a:latin typeface="Calibri"/>
                          <a:ea typeface="Calibri"/>
                          <a:cs typeface="Calibri"/>
                        </a:rPr>
                        <a:t>Not implemented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EFF1F4"/>
                    </a:solidFill>
                  </a:tcPr>
                </a:tc>
              </a:tr>
              <a:tr h="265176">
                <a:tc>
                  <a:txBody>
                    <a:bodyPr/>
                    <a:lstStyle/>
                    <a:p>
                      <a:pPr marL="0" indent="0">
                        <a:buNone/>
                      </a:pPr>
                      <a:r>
                        <a:rPr sz="850" b="1">
                          <a:solidFill>
                            <a:srgbClr val="0E1E3A"/>
                          </a:solidFill>
                          <a:latin typeface="Calibri"/>
                          <a:ea typeface="Calibri"/>
                          <a:cs typeface="Calibri"/>
                        </a:rPr>
                        <a:t>C13</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24354F"/>
                          </a:solidFill>
                          <a:latin typeface="Calibri"/>
                          <a:ea typeface="Calibri"/>
                          <a:cs typeface="Calibri"/>
                        </a:rPr>
                        <a:t>Portfolio selection beats an always-macro policy across workflows</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a:solidFill>
                            <a:srgbClr val="5A6B84"/>
                          </a:solidFill>
                          <a:latin typeface="Calibri"/>
                          <a:ea typeface="Calibri"/>
                          <a:cs typeface="Calibri"/>
                        </a:rPr>
                        <a:t>One family in which the measured macro is selected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buNone/>
                      </a:pPr>
                      <a:r>
                        <a:rPr sz="850" b="1">
                          <a:solidFill>
                            <a:srgbClr val="A93B2B"/>
                          </a:solidFill>
                          <a:latin typeface="Calibri"/>
                          <a:ea typeface="Calibri"/>
                          <a:cs typeface="Calibri"/>
                        </a:rPr>
                        <a:t>Not supported</a:t>
                      </a:r>
                    </a:p>
                  </a:txBody>
                  <a:tcPr marL="82296" marR="82296" marT="18288" marB="18288"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BF0EC"/>
                    </a:solidFill>
                  </a:tcPr>
                </a:tc>
              </a:tr>
            </a:tbl>
          </a:graphicData>
        </a:graphic>
      </p:graphicFrame>
      <p:sp>
        <p:nvSpPr>
          <p:cNvPr id="7" name="Text 4">
            <a:extLst xmlns:a="http://schemas.openxmlformats.org/drawingml/2006/main">
              <a:ext uri="{FF2B5EF4-FFF2-40B4-BE49-F238E27FC236}">
                <a16:creationId xmlns:a16="http://schemas.microsoft.com/office/drawing/2014/main" id="{604CFAFF-7A54-485C-B5A7-A98CBC4FA51D}"/>
              </a:ext>
            </a:extLst>
          </p:cNvPr>
          <p:cNvSpPr>
            <a:spLocks xmlns:a="http://schemas.openxmlformats.org/drawingml/2006/main" noGrp="1"/>
          </p:cNvSpPr>
          <p:nvPr/>
        </p:nvSpPr>
        <p:spPr>
          <a:xfrm xmlns:a="http://schemas.openxmlformats.org/drawingml/2006/main">
            <a:off x="640080" y="5029200"/>
            <a:ext cx="1091153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5A6B84"/>
                </a:solidFill>
                <a:latin typeface="Calibri"/>
                <a:ea typeface="Calibri"/>
                <a:cs typeface="Calibri"/>
              </a:rPr>
              <a:t>Manual composition beats partial GRC; once placement is equal, the manual program ties GCS. GEPA also retains its seed under the bounded search. No arm establishes universal superiority.</a:t>
            </a:r>
          </a:p>
        </p:txBody>
      </p:sp>
      <p:sp>
        <p:nvSpPr>
          <p:cNvPr id="8" name="Shape 5">
            <a:extLst xmlns:a="http://schemas.openxmlformats.org/drawingml/2006/main">
              <a:ext uri="{FF2B5EF4-FFF2-40B4-BE49-F238E27FC236}">
                <a16:creationId xmlns:a16="http://schemas.microsoft.com/office/drawing/2014/main" id="{E06B56E0-45E9-4F3B-9B7E-B24A84AD79A0}"/>
              </a:ext>
            </a:extLst>
          </p:cNvPr>
          <p:cNvSpPr>
            <a:spLocks xmlns:a="http://schemas.openxmlformats.org/drawingml/2006/main" noGrp="1"/>
          </p:cNvSpPr>
          <p:nvPr/>
        </p:nvSpPr>
        <p:spPr>
          <a:xfrm xmlns:a="http://schemas.openxmlformats.org/drawingml/2006/main">
            <a:off x="640080" y="5431536"/>
            <a:ext cx="10911535" cy="731520"/>
          </a:xfrm>
          <a:prstGeom xmlns:a="http://schemas.openxmlformats.org/drawingml/2006/main" prst="roundRect">
            <a:avLst>
              <a:gd name="adj" fmla="val 6250"/>
            </a:avLst>
          </a:prstGeom>
          <a:solidFill xmlns:a="http://schemas.openxmlformats.org/drawingml/2006/main">
            <a:srgbClr val="FBF0EC"/>
          </a:solidFill>
          <a:ln xmlns:a="http://schemas.openxmlformats.org/drawingml/2006/main" w="9525">
            <a:solidFill>
              <a:srgbClr val="EFDCD4"/>
            </a:solidFill>
            <a:prstDash val="solid"/>
          </a:ln>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42B4C456-35BA-4EF9-AD79-2E4C193BEA45}"/>
              </a:ext>
            </a:extLst>
          </p:cNvPr>
          <p:cNvSpPr>
            <a:spLocks xmlns:a="http://schemas.openxmlformats.org/drawingml/2006/main" noGrp="1"/>
          </p:cNvSpPr>
          <p:nvPr/>
        </p:nvSpPr>
        <p:spPr>
          <a:xfrm xmlns:a="http://schemas.openxmlformats.org/drawingml/2006/main">
            <a:off x="877824" y="5541264"/>
            <a:ext cx="2103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a:solidFill>
                  <a:srgbClr val="A93B2B"/>
                </a:solidFill>
                <a:latin typeface="Calibri"/>
                <a:ea typeface="Calibri"/>
                <a:cs typeface="Calibri"/>
              </a:rPr>
              <a:t>THE FOUR NEGATIVE RESULTS</a:t>
            </a:r>
          </a:p>
        </p:txBody>
      </p:sp>
      <p:sp>
        <p:nvSpPr>
          <p:cNvPr id="10" name="Text 7">
            <a:extLst xmlns:a="http://schemas.openxmlformats.org/drawingml/2006/main">
              <a:ext uri="{FF2B5EF4-FFF2-40B4-BE49-F238E27FC236}">
                <a16:creationId xmlns:a16="http://schemas.microsoft.com/office/drawing/2014/main" id="{94ED5959-A3C6-400D-9567-0B53A61FF9EA}"/>
              </a:ext>
            </a:extLst>
          </p:cNvPr>
          <p:cNvSpPr>
            <a:spLocks xmlns:a="http://schemas.openxmlformats.org/drawingml/2006/main" noGrp="1"/>
          </p:cNvSpPr>
          <p:nvPr/>
        </p:nvSpPr>
        <p:spPr>
          <a:xfrm xmlns:a="http://schemas.openxmlformats.org/drawingml/2006/main">
            <a:off x="3017520" y="5541264"/>
            <a:ext cx="825977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5C4034"/>
                </a:solidFill>
                <a:latin typeface="Calibri"/>
                <a:ea typeface="Calibri"/>
                <a:cs typeface="Calibri"/>
              </a:rPr>
              <a:t>Efficiency gains establish no factual quality  ·  no superiority over hand-written code  ·  no portfolio superiority  ·  no admission safety</a:t>
            </a:r>
          </a:p>
        </p:txBody>
      </p:sp>
    </p:spTree>
    <p:extLst>
      <p:ext uri="{BB962C8B-B14F-4D97-AF65-F5344CB8AC3E}">
        <p14:creationId xmlns:p14="http://schemas.microsoft.com/office/powerpoint/2010/main" val="1385779936"/>
      </p:ext>
    </p:extLst>
  </p:cSld>
</p:sld>
</file>

<file path=ppt/slides/slide27.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FA52F8-E6C1-4930-A6D0-A5682D192000}"/>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43597C"/>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C8073621-8F20-40B3-87EF-32CE503CE271}"/>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43597C"/>
                </a:solidFill>
                <a:latin typeface="Calibri"/>
                <a:ea typeface="Calibri"/>
                <a:cs typeface="Calibri"/>
              </a:rPr>
              <a:t>27</a:t>
            </a:r>
          </a:p>
        </p:txBody>
      </p:sp>
      <p:sp>
        <p:nvSpPr>
          <p:cNvPr id="4" name="Shape 2">
            <a:extLst xmlns:a="http://schemas.openxmlformats.org/drawingml/2006/main">
              <a:ext uri="{FF2B5EF4-FFF2-40B4-BE49-F238E27FC236}">
                <a16:creationId xmlns:a16="http://schemas.microsoft.com/office/drawing/2014/main" id="{AF09B380-444A-4AF4-9C29-903BF81D2D99}"/>
              </a:ext>
            </a:extLst>
          </p:cNvPr>
          <p:cNvSpPr>
            <a:spLocks xmlns:a="http://schemas.openxmlformats.org/drawingml/2006/main" noGrp="1"/>
          </p:cNvSpPr>
          <p:nvPr/>
        </p:nvSpPr>
        <p:spPr>
          <a:xfrm xmlns:a="http://schemas.openxmlformats.org/drawingml/2006/main">
            <a:off x="11247120" y="4846320"/>
            <a:ext cx="4023360" cy="4023360"/>
          </a:xfrm>
          <a:prstGeom xmlns:a="http://schemas.openxmlformats.org/drawingml/2006/main" prst="ellipse">
            <a:avLst/>
          </a:prstGeom>
          <a:solidFill xmlns:a="http://schemas.openxmlformats.org/drawingml/2006/main">
            <a:srgbClr val="1A3563">
              <a:alpha val="58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2C981EF-A57C-4AFF-9911-F0F26CF87C3E}"/>
              </a:ext>
            </a:extLst>
          </p:cNvPr>
          <p:cNvSpPr>
            <a:spLocks xmlns:a="http://schemas.openxmlformats.org/drawingml/2006/main" noGrp="1"/>
          </p:cNvSpPr>
          <p:nvPr/>
        </p:nvSpPr>
        <p:spPr>
          <a:xfrm xmlns:a="http://schemas.openxmlformats.org/drawingml/2006/main">
            <a:off x="11978640" y="5577840"/>
            <a:ext cx="2011680" cy="2011680"/>
          </a:xfrm>
          <a:prstGeom xmlns:a="http://schemas.openxmlformats.org/drawingml/2006/main" prst="ellipse">
            <a:avLst/>
          </a:prstGeom>
          <a:solidFill xmlns:a="http://schemas.openxmlformats.org/drawingml/2006/main">
            <a:srgbClr val="1F8A99">
              <a:alpha val="52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52620C51-154A-4E2D-A0E5-AEC063C47F55}"/>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6B3BE"/>
                </a:solidFill>
                <a:latin typeface="Calibri"/>
                <a:ea typeface="Calibri"/>
                <a:cs typeface="Calibri"/>
              </a:rPr>
              <a:t>CONCLUSION</a:t>
            </a:r>
          </a:p>
        </p:txBody>
      </p:sp>
      <p:sp>
        <p:nvSpPr>
          <p:cNvPr id="7" name="Text 5">
            <a:extLst xmlns:a="http://schemas.openxmlformats.org/drawingml/2006/main">
              <a:ext uri="{FF2B5EF4-FFF2-40B4-BE49-F238E27FC236}">
                <a16:creationId xmlns:a16="http://schemas.microsoft.com/office/drawing/2014/main" id="{AD6EEFC9-F908-43C4-AC21-587F3D898C88}"/>
              </a:ext>
            </a:extLst>
          </p:cNvPr>
          <p:cNvSpPr>
            <a:spLocks xmlns:a="http://schemas.openxmlformats.org/drawingml/2006/main" noGrp="1"/>
          </p:cNvSpPr>
          <p:nvPr/>
        </p:nvSpPr>
        <p:spPr>
          <a:xfrm xmlns:a="http://schemas.openxmlformats.org/drawingml/2006/main">
            <a:off x="640080" y="658368"/>
            <a:ext cx="102412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500" b="1">
                <a:solidFill>
                  <a:srgbClr val="FFFFFF"/>
                </a:solidFill>
                <a:latin typeface="Cambria"/>
                <a:ea typeface="Cambria"/>
                <a:cs typeface="Cambria"/>
              </a:rPr>
              <a:t>An agent optimizer should be judged by whether it can explain and enforce when it must not compile</a:t>
            </a:r>
          </a:p>
        </p:txBody>
      </p:sp>
      <p:sp>
        <p:nvSpPr>
          <p:cNvPr id="8" name="Shape 6">
            <a:extLst xmlns:a="http://schemas.openxmlformats.org/drawingml/2006/main">
              <a:ext uri="{FF2B5EF4-FFF2-40B4-BE49-F238E27FC236}">
                <a16:creationId xmlns:a16="http://schemas.microsoft.com/office/drawing/2014/main" id="{E746A367-AD33-41CF-9C1A-6EF94BEC08F7}"/>
              </a:ext>
            </a:extLst>
          </p:cNvPr>
          <p:cNvSpPr>
            <a:spLocks xmlns:a="http://schemas.openxmlformats.org/drawingml/2006/main" noGrp="1"/>
          </p:cNvSpPr>
          <p:nvPr/>
        </p:nvSpPr>
        <p:spPr>
          <a:xfrm xmlns:a="http://schemas.openxmlformats.org/drawingml/2006/main">
            <a:off x="640080" y="2084832"/>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64C1032D-81F6-4609-9A09-E9ABF53F2730}"/>
              </a:ext>
            </a:extLst>
          </p:cNvPr>
          <p:cNvSpPr>
            <a:spLocks xmlns:a="http://schemas.openxmlformats.org/drawingml/2006/main" noGrp="1"/>
          </p:cNvSpPr>
          <p:nvPr/>
        </p:nvSpPr>
        <p:spPr>
          <a:xfrm xmlns:a="http://schemas.openxmlformats.org/drawingml/2006/main">
            <a:off x="640080" y="208483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p>
        </p:txBody>
      </p:sp>
      <p:sp>
        <p:nvSpPr>
          <p:cNvPr id="10" name="Text 8">
            <a:extLst xmlns:a="http://schemas.openxmlformats.org/drawingml/2006/main">
              <a:ext uri="{FF2B5EF4-FFF2-40B4-BE49-F238E27FC236}">
                <a16:creationId xmlns:a16="http://schemas.microsoft.com/office/drawing/2014/main" id="{B51FD4A9-0931-47F2-B68A-21DF7B03F2B3}"/>
              </a:ext>
            </a:extLst>
          </p:cNvPr>
          <p:cNvSpPr>
            <a:spLocks xmlns:a="http://schemas.openxmlformats.org/drawingml/2006/main" noGrp="1"/>
          </p:cNvSpPr>
          <p:nvPr/>
        </p:nvSpPr>
        <p:spPr>
          <a:xfrm xmlns:a="http://schemas.openxmlformats.org/drawingml/2006/main">
            <a:off x="1188720" y="2048256"/>
            <a:ext cx="44074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400" b="1">
                <a:solidFill>
                  <a:srgbClr val="FFFFFF"/>
                </a:solidFill>
                <a:latin typeface="Cambria"/>
                <a:ea typeface="Cambria"/>
                <a:cs typeface="Cambria"/>
              </a:rPr>
              <a:t>The admission argument is the contribution</a:t>
            </a:r>
          </a:p>
        </p:txBody>
      </p:sp>
      <p:sp>
        <p:nvSpPr>
          <p:cNvPr id="11" name="Text 9">
            <a:extLst xmlns:a="http://schemas.openxmlformats.org/drawingml/2006/main">
              <a:ext uri="{FF2B5EF4-FFF2-40B4-BE49-F238E27FC236}">
                <a16:creationId xmlns:a16="http://schemas.microsoft.com/office/drawing/2014/main" id="{F84196EE-F79C-44AD-8260-7DCAC4C2233D}"/>
              </a:ext>
            </a:extLst>
          </p:cNvPr>
          <p:cNvSpPr>
            <a:spLocks xmlns:a="http://schemas.openxmlformats.org/drawingml/2006/main" noGrp="1"/>
          </p:cNvSpPr>
          <p:nvPr/>
        </p:nvSpPr>
        <p:spPr>
          <a:xfrm xmlns:a="http://schemas.openxmlformats.org/drawingml/2006/main">
            <a:off x="1188720" y="2542032"/>
            <a:ext cx="431596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9BD0D6"/>
                </a:solidFill>
                <a:latin typeface="Calibri"/>
                <a:ea typeface="Calibri"/>
                <a:cs typeface="Calibri"/>
              </a:rPr>
              <a:t>Each element — typed value-level provenance, effect and position barriers, bounded readable synthesis, verifier and staging semantics, finite-sample selective admission — has predecessors. The contribution is that an agent guard needs all five at once.</a:t>
            </a:r>
          </a:p>
        </p:txBody>
      </p:sp>
      <p:sp>
        <p:nvSpPr>
          <p:cNvPr id="12" name="Shape 10">
            <a:extLst xmlns:a="http://schemas.openxmlformats.org/drawingml/2006/main">
              <a:ext uri="{FF2B5EF4-FFF2-40B4-BE49-F238E27FC236}">
                <a16:creationId xmlns:a16="http://schemas.microsoft.com/office/drawing/2014/main" id="{14F3F64E-E139-478A-9457-B1EBDDBE1272}"/>
              </a:ext>
            </a:extLst>
          </p:cNvPr>
          <p:cNvSpPr>
            <a:spLocks xmlns:a="http://schemas.openxmlformats.org/drawingml/2006/main" noGrp="1"/>
          </p:cNvSpPr>
          <p:nvPr/>
        </p:nvSpPr>
        <p:spPr>
          <a:xfrm xmlns:a="http://schemas.openxmlformats.org/drawingml/2006/main">
            <a:off x="5925312" y="2084832"/>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98150271-1C19-4541-A46B-153698329E39}"/>
              </a:ext>
            </a:extLst>
          </p:cNvPr>
          <p:cNvSpPr>
            <a:spLocks xmlns:a="http://schemas.openxmlformats.org/drawingml/2006/main" noGrp="1"/>
          </p:cNvSpPr>
          <p:nvPr/>
        </p:nvSpPr>
        <p:spPr>
          <a:xfrm xmlns:a="http://schemas.openxmlformats.org/drawingml/2006/main">
            <a:off x="5925312" y="208483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p>
        </p:txBody>
      </p:sp>
      <p:sp>
        <p:nvSpPr>
          <p:cNvPr id="14" name="Text 12">
            <a:extLst xmlns:a="http://schemas.openxmlformats.org/drawingml/2006/main">
              <a:ext uri="{FF2B5EF4-FFF2-40B4-BE49-F238E27FC236}">
                <a16:creationId xmlns:a16="http://schemas.microsoft.com/office/drawing/2014/main" id="{13CDFF49-558D-4E11-9530-9465764310DF}"/>
              </a:ext>
            </a:extLst>
          </p:cNvPr>
          <p:cNvSpPr>
            <a:spLocks xmlns:a="http://schemas.openxmlformats.org/drawingml/2006/main" noGrp="1"/>
          </p:cNvSpPr>
          <p:nvPr/>
        </p:nvSpPr>
        <p:spPr>
          <a:xfrm xmlns:a="http://schemas.openxmlformats.org/drawingml/2006/main">
            <a:off x="6473952" y="2048256"/>
            <a:ext cx="44074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400" b="1">
                <a:solidFill>
                  <a:srgbClr val="FFFFFF"/>
                </a:solidFill>
                <a:latin typeface="Cambria"/>
                <a:ea typeface="Cambria"/>
                <a:cs typeface="Cambria"/>
              </a:rPr>
              <a:t>Certification, not recurrence, is the scarce resource</a:t>
            </a:r>
          </a:p>
        </p:txBody>
      </p:sp>
      <p:sp>
        <p:nvSpPr>
          <p:cNvPr id="15" name="Text 13">
            <a:extLst xmlns:a="http://schemas.openxmlformats.org/drawingml/2006/main">
              <a:ext uri="{FF2B5EF4-FFF2-40B4-BE49-F238E27FC236}">
                <a16:creationId xmlns:a16="http://schemas.microsoft.com/office/drawing/2014/main" id="{32F592D0-3AFE-4F19-BEFA-60032A5E17E9}"/>
              </a:ext>
            </a:extLst>
          </p:cNvPr>
          <p:cNvSpPr>
            <a:spLocks xmlns:a="http://schemas.openxmlformats.org/drawingml/2006/main" noGrp="1"/>
          </p:cNvSpPr>
          <p:nvPr/>
        </p:nvSpPr>
        <p:spPr>
          <a:xfrm xmlns:a="http://schemas.openxmlformats.org/drawingml/2006/main">
            <a:off x="6473952" y="2542032"/>
            <a:ext cx="431596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9BD0D6"/>
                </a:solidFill>
                <a:latin typeface="Calibri"/>
                <a:ea typeface="Calibri"/>
                <a:cs typeface="Calibri"/>
              </a:rPr>
              <a:t>Provenance places the true producer for 96.3% of 5,746 slots and resolves 80.7% uniquely, yet every recurrent family in 1,415 episodes retires at the configured gate. Refusal exposes the data requirement instead of hiding it.</a:t>
            </a:r>
          </a:p>
        </p:txBody>
      </p:sp>
      <p:sp>
        <p:nvSpPr>
          <p:cNvPr id="16" name="Shape 14">
            <a:extLst xmlns:a="http://schemas.openxmlformats.org/drawingml/2006/main">
              <a:ext uri="{FF2B5EF4-FFF2-40B4-BE49-F238E27FC236}">
                <a16:creationId xmlns:a16="http://schemas.microsoft.com/office/drawing/2014/main" id="{6658BC3C-8FA2-46B7-A7C8-866EEEA3D29A}"/>
              </a:ext>
            </a:extLst>
          </p:cNvPr>
          <p:cNvSpPr>
            <a:spLocks xmlns:a="http://schemas.openxmlformats.org/drawingml/2006/main" noGrp="1"/>
          </p:cNvSpPr>
          <p:nvPr/>
        </p:nvSpPr>
        <p:spPr>
          <a:xfrm xmlns:a="http://schemas.openxmlformats.org/drawingml/2006/main">
            <a:off x="640080" y="3968496"/>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F77D6704-F656-4A21-B582-D03CDF0A87D5}"/>
              </a:ext>
            </a:extLst>
          </p:cNvPr>
          <p:cNvSpPr>
            <a:spLocks xmlns:a="http://schemas.openxmlformats.org/drawingml/2006/main" noGrp="1"/>
          </p:cNvSpPr>
          <p:nvPr/>
        </p:nvSpPr>
        <p:spPr>
          <a:xfrm xmlns:a="http://schemas.openxmlformats.org/drawingml/2006/main">
            <a:off x="640080" y="396849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DB53912F-4D82-42AB-9345-4159699F1521}"/>
              </a:ext>
            </a:extLst>
          </p:cNvPr>
          <p:cNvSpPr>
            <a:spLocks xmlns:a="http://schemas.openxmlformats.org/drawingml/2006/main" noGrp="1"/>
          </p:cNvSpPr>
          <p:nvPr/>
        </p:nvSpPr>
        <p:spPr>
          <a:xfrm xmlns:a="http://schemas.openxmlformats.org/drawingml/2006/main">
            <a:off x="1188720" y="3931920"/>
            <a:ext cx="44074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400" b="1">
                <a:solidFill>
                  <a:srgbClr val="FFFFFF"/>
                </a:solidFill>
                <a:latin typeface="Cambria"/>
                <a:ea typeface="Cambria"/>
                <a:cs typeface="Cambria"/>
              </a:rPr>
              <a:t>Efficiency does not imply quality, superiority, or safety</a:t>
            </a:r>
          </a:p>
        </p:txBody>
      </p:sp>
      <p:sp>
        <p:nvSpPr>
          <p:cNvPr id="19" name="Text 17">
            <a:extLst xmlns:a="http://schemas.openxmlformats.org/drawingml/2006/main">
              <a:ext uri="{FF2B5EF4-FFF2-40B4-BE49-F238E27FC236}">
                <a16:creationId xmlns:a16="http://schemas.microsoft.com/office/drawing/2014/main" id="{61EF92B0-E670-45AD-8B14-00B6DC1FE784}"/>
              </a:ext>
            </a:extLst>
          </p:cNvPr>
          <p:cNvSpPr>
            <a:spLocks xmlns:a="http://schemas.openxmlformats.org/drawingml/2006/main" noGrp="1"/>
          </p:cNvSpPr>
          <p:nvPr/>
        </p:nvSpPr>
        <p:spPr>
          <a:xfrm xmlns:a="http://schemas.openxmlformats.org/drawingml/2006/main">
            <a:off x="1188720" y="4425696"/>
            <a:ext cx="431596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9BD0D6"/>
                </a:solidFill>
                <a:latin typeface="Calibri"/>
                <a:ea typeface="Calibri"/>
                <a:cs typeface="Calibri"/>
              </a:rPr>
              <a:t>The two-read artifact holds 30/30 while halving requests; the deeper artifact records a factual miss. Manual composition beats partial GRC, and fair pre-model placement later ties GCS at 6/6. Runtime dominance is not the contribution.</a:t>
            </a:r>
          </a:p>
        </p:txBody>
      </p:sp>
      <p:sp>
        <p:nvSpPr>
          <p:cNvPr id="20" name="Shape 18">
            <a:extLst xmlns:a="http://schemas.openxmlformats.org/drawingml/2006/main">
              <a:ext uri="{FF2B5EF4-FFF2-40B4-BE49-F238E27FC236}">
                <a16:creationId xmlns:a16="http://schemas.microsoft.com/office/drawing/2014/main" id="{76567E4F-C0A5-4220-BA27-DEDC9CFBFB4D}"/>
              </a:ext>
            </a:extLst>
          </p:cNvPr>
          <p:cNvSpPr>
            <a:spLocks xmlns:a="http://schemas.openxmlformats.org/drawingml/2006/main" noGrp="1"/>
          </p:cNvSpPr>
          <p:nvPr/>
        </p:nvSpPr>
        <p:spPr>
          <a:xfrm xmlns:a="http://schemas.openxmlformats.org/drawingml/2006/main">
            <a:off x="5925312" y="3968496"/>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F5120850-5C62-41F1-9010-E0D546992524}"/>
              </a:ext>
            </a:extLst>
          </p:cNvPr>
          <p:cNvSpPr>
            <a:spLocks xmlns:a="http://schemas.openxmlformats.org/drawingml/2006/main" noGrp="1"/>
          </p:cNvSpPr>
          <p:nvPr/>
        </p:nvSpPr>
        <p:spPr>
          <a:xfrm xmlns:a="http://schemas.openxmlformats.org/drawingml/2006/main">
            <a:off x="5925312" y="396849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p>
        </p:txBody>
      </p:sp>
      <p:sp>
        <p:nvSpPr>
          <p:cNvPr id="22" name="Text 20">
            <a:extLst xmlns:a="http://schemas.openxmlformats.org/drawingml/2006/main">
              <a:ext uri="{FF2B5EF4-FFF2-40B4-BE49-F238E27FC236}">
                <a16:creationId xmlns:a16="http://schemas.microsoft.com/office/drawing/2014/main" id="{885E2474-1246-484F-9406-7AC4A13D458D}"/>
              </a:ext>
            </a:extLst>
          </p:cNvPr>
          <p:cNvSpPr>
            <a:spLocks xmlns:a="http://schemas.openxmlformats.org/drawingml/2006/main" noGrp="1"/>
          </p:cNvSpPr>
          <p:nvPr/>
        </p:nvSpPr>
        <p:spPr>
          <a:xfrm xmlns:a="http://schemas.openxmlformats.org/drawingml/2006/main">
            <a:off x="6473952" y="3931920"/>
            <a:ext cx="44074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400" b="1">
                <a:solidFill>
                  <a:srgbClr val="FFFFFF"/>
                </a:solidFill>
                <a:latin typeface="Cambria"/>
                <a:ea typeface="Cambria"/>
                <a:cs typeface="Cambria"/>
              </a:rPr>
              <a:t>Objectives must price cache prefixes, not just tokens</a:t>
            </a:r>
          </a:p>
        </p:txBody>
      </p:sp>
      <p:sp>
        <p:nvSpPr>
          <p:cNvPr id="23" name="Text 21">
            <a:extLst xmlns:a="http://schemas.openxmlformats.org/drawingml/2006/main">
              <a:ext uri="{FF2B5EF4-FFF2-40B4-BE49-F238E27FC236}">
                <a16:creationId xmlns:a16="http://schemas.microsoft.com/office/drawing/2014/main" id="{5624CBBD-ADE2-44CC-A8E1-1C5F30416409}"/>
              </a:ext>
            </a:extLst>
          </p:cNvPr>
          <p:cNvSpPr>
            <a:spLocks xmlns:a="http://schemas.openxmlformats.org/drawingml/2006/main" noGrp="1"/>
          </p:cNvSpPr>
          <p:nvPr/>
        </p:nvSpPr>
        <p:spPr>
          <a:xfrm xmlns:a="http://schemas.openxmlformats.org/drawingml/2006/main">
            <a:off x="6473952" y="4425696"/>
            <a:ext cx="431596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9BD0D6"/>
                </a:solidFill>
                <a:latin typeface="Calibri"/>
                <a:ea typeface="Calibri"/>
                <a:cs typeface="Calibri"/>
              </a:rPr>
              <a:t>A −16.8% token change billed +123%. Route specialization fragments the cache prefix a warm fleet shared. Equation (5) counts only tokens and calls, and §7.3 lists the two-tier price model as the fix.</a:t>
            </a:r>
          </a:p>
        </p:txBody>
      </p:sp>
      <p:sp>
        <p:nvSpPr>
          <p:cNvPr id="24" name="Shape 22">
            <a:extLst xmlns:a="http://schemas.openxmlformats.org/drawingml/2006/main">
              <a:ext uri="{FF2B5EF4-FFF2-40B4-BE49-F238E27FC236}">
                <a16:creationId xmlns:a16="http://schemas.microsoft.com/office/drawing/2014/main" id="{3F6E9BBE-72CA-4D67-AC80-55307F2563A3}"/>
              </a:ext>
            </a:extLst>
          </p:cNvPr>
          <p:cNvSpPr>
            <a:spLocks xmlns:a="http://schemas.openxmlformats.org/drawingml/2006/main" noGrp="1"/>
          </p:cNvSpPr>
          <p:nvPr/>
        </p:nvSpPr>
        <p:spPr>
          <a:xfrm xmlns:a="http://schemas.openxmlformats.org/drawingml/2006/main">
            <a:off x="640080" y="5797296"/>
            <a:ext cx="10241280" cy="0"/>
          </a:xfrm>
          <a:prstGeom xmlns:a="http://schemas.openxmlformats.org/drawingml/2006/main" prst="line">
            <a:avLst/>
          </a:prstGeom>
          <a:noFill xmlns:a="http://schemas.openxmlformats.org/drawingml/2006/main"/>
          <a:ln xmlns:a="http://schemas.openxmlformats.org/drawingml/2006/main" w="12700">
            <a:solidFill>
              <a:srgbClr val="2C4467"/>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460CCD72-264A-4DD1-950E-51A83B43A043}"/>
              </a:ext>
            </a:extLst>
          </p:cNvPr>
          <p:cNvSpPr>
            <a:spLocks xmlns:a="http://schemas.openxmlformats.org/drawingml/2006/main" noGrp="1"/>
          </p:cNvSpPr>
          <p:nvPr/>
        </p:nvSpPr>
        <p:spPr>
          <a:xfrm xmlns:a="http://schemas.openxmlformats.org/drawingml/2006/main">
            <a:off x="640080" y="5907024"/>
            <a:ext cx="10241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8FA6C0"/>
                </a:solidFill>
                <a:latin typeface="Calibri"/>
                <a:ea typeface="Calibri"/>
                <a:cs typeface="Calibri"/>
              </a:rPr>
              <a:t>Next scientific threshold: preregistered cross-repository, time-forward comparison with engineering effort, cache economics, drift, and executable AWO / Agent JIT / EvoC2F baselines.</a:t>
            </a:r>
          </a:p>
        </p:txBody>
      </p:sp>
    </p:spTree>
    <p:extLst>
      <p:ext uri="{BB962C8B-B14F-4D97-AF65-F5344CB8AC3E}">
        <p14:creationId xmlns:p14="http://schemas.microsoft.com/office/powerpoint/2010/main" val="812282528"/>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2026-08-07T04:35:20.8520000Z</dcterms:created>
  <dcterms:modified xsi:type="dcterms:W3CDTF">2026-08-07T04:35:20.8520000Z</dcterms:modified>
</coreProperties>
</file>