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c0d3d893bc48be" /><Relationship Type="http://schemas.openxmlformats.org/officeDocument/2006/relationships/extended-properties" Target="/docProps/app.xml" Id="R2e0f37d0c6804fb6" /><Relationship Type="http://schemas.openxmlformats.org/officeDocument/2006/relationships/officeDocument" Target="/ppt/presentation.xml" Id="R3808cb08e6a448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56a823436e4291"/>
  </p:sldMasterIdLst>
  <p:notesMasterIdLst>
    <p:notesMasterId xmlns:r="http://schemas.openxmlformats.org/officeDocument/2006/relationships" r:id="Rd8352e8a66d94743"/>
  </p:notesMasterIdLst>
  <p:sldIdLst>
    <p:sldId xmlns:r="http://schemas.openxmlformats.org/officeDocument/2006/relationships" id="256" r:id="Rec0209ceb66f43b9"/>
    <p:sldId xmlns:r="http://schemas.openxmlformats.org/officeDocument/2006/relationships" id="257" r:id="R157c2c3feedf421f"/>
    <p:sldId xmlns:r="http://schemas.openxmlformats.org/officeDocument/2006/relationships" id="258" r:id="R7ea76e64d7ee4e51"/>
    <p:sldId xmlns:r="http://schemas.openxmlformats.org/officeDocument/2006/relationships" id="259" r:id="R1d47e7878e814542"/>
    <p:sldId xmlns:r="http://schemas.openxmlformats.org/officeDocument/2006/relationships" id="260" r:id="R63a21fac375b473f"/>
    <p:sldId xmlns:r="http://schemas.openxmlformats.org/officeDocument/2006/relationships" id="261" r:id="R0c1ffa23cf3f458c"/>
    <p:sldId xmlns:r="http://schemas.openxmlformats.org/officeDocument/2006/relationships" id="262" r:id="R8b748edc4ee2464f"/>
    <p:sldId xmlns:r="http://schemas.openxmlformats.org/officeDocument/2006/relationships" id="263" r:id="R935366197e1d437d"/>
    <p:sldId xmlns:r="http://schemas.openxmlformats.org/officeDocument/2006/relationships" id="264" r:id="R12865ac8321e4f30"/>
    <p:sldId xmlns:r="http://schemas.openxmlformats.org/officeDocument/2006/relationships" id="265" r:id="R6609cb3e9f6d48c2"/>
    <p:sldId xmlns:r="http://schemas.openxmlformats.org/officeDocument/2006/relationships" id="266" r:id="R8442ac5039e94187"/>
    <p:sldId xmlns:r="http://schemas.openxmlformats.org/officeDocument/2006/relationships" id="267" r:id="Rf55466dcd3144993"/>
    <p:sldId xmlns:r="http://schemas.openxmlformats.org/officeDocument/2006/relationships" id="268" r:id="R1c5ac7853c1e4fdf"/>
    <p:sldId xmlns:r="http://schemas.openxmlformats.org/officeDocument/2006/relationships" id="269" r:id="R31242be884734a7e"/>
    <p:sldId xmlns:r="http://schemas.openxmlformats.org/officeDocument/2006/relationships" id="270" r:id="Raea8e3352e66477c"/>
    <p:sldId xmlns:r="http://schemas.openxmlformats.org/officeDocument/2006/relationships" id="271" r:id="R22518535eda04f3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56a823436e4291" /><Relationship Type="http://schemas.openxmlformats.org/officeDocument/2006/relationships/theme" Target="/ppt/theme/theme1.xml" Id="R3511e4b8edcf493f" /><Relationship Type="http://schemas.openxmlformats.org/officeDocument/2006/relationships/notesMaster" Target="/ppt/notesMasters/notesMaster1.xml" Id="Rd8352e8a66d94743" /><Relationship Type="http://schemas.openxmlformats.org/officeDocument/2006/relationships/presProps" Target="/ppt/presProps.xml" Id="R8f8d62ccfa6d41f4" /><Relationship Type="http://schemas.openxmlformats.org/officeDocument/2006/relationships/viewProps" Target="/ppt/viewProps.xml" Id="R6d9c8d10184d4fb2" /><Relationship Type="http://schemas.openxmlformats.org/officeDocument/2006/relationships/tableStyles" Target="/ppt/tableStyles.xml" Id="Rbd541e7107c04026" /><Relationship Type="http://schemas.openxmlformats.org/officeDocument/2006/relationships/slide" Target="/ppt/slides/slide1.xml" Id="Rec0209ceb66f43b9" /><Relationship Type="http://schemas.openxmlformats.org/officeDocument/2006/relationships/slide" Target="/ppt/slides/slide2.xml" Id="R157c2c3feedf421f" /><Relationship Type="http://schemas.openxmlformats.org/officeDocument/2006/relationships/slide" Target="/ppt/slides/slide3.xml" Id="R7ea76e64d7ee4e51" /><Relationship Type="http://schemas.openxmlformats.org/officeDocument/2006/relationships/slide" Target="/ppt/slides/slide4.xml" Id="R1d47e7878e814542" /><Relationship Type="http://schemas.openxmlformats.org/officeDocument/2006/relationships/slide" Target="/ppt/slides/slide5.xml" Id="R63a21fac375b473f" /><Relationship Type="http://schemas.openxmlformats.org/officeDocument/2006/relationships/slide" Target="/ppt/slides/slide6.xml" Id="R0c1ffa23cf3f458c" /><Relationship Type="http://schemas.openxmlformats.org/officeDocument/2006/relationships/slide" Target="/ppt/slides/slide7.xml" Id="R8b748edc4ee2464f" /><Relationship Type="http://schemas.openxmlformats.org/officeDocument/2006/relationships/slide" Target="/ppt/slides/slide8.xml" Id="R935366197e1d437d" /><Relationship Type="http://schemas.openxmlformats.org/officeDocument/2006/relationships/slide" Target="/ppt/slides/slide9.xml" Id="R12865ac8321e4f30" /><Relationship Type="http://schemas.openxmlformats.org/officeDocument/2006/relationships/slide" Target="/ppt/slides/slide10.xml" Id="R6609cb3e9f6d48c2" /><Relationship Type="http://schemas.openxmlformats.org/officeDocument/2006/relationships/slide" Target="/ppt/slides/slide11.xml" Id="R8442ac5039e94187" /><Relationship Type="http://schemas.openxmlformats.org/officeDocument/2006/relationships/slide" Target="/ppt/slides/slide12.xml" Id="Rf55466dcd3144993" /><Relationship Type="http://schemas.openxmlformats.org/officeDocument/2006/relationships/slide" Target="/ppt/slides/slide13.xml" Id="R1c5ac7853c1e4fdf" /><Relationship Type="http://schemas.openxmlformats.org/officeDocument/2006/relationships/slide" Target="/ppt/slides/slide14.xml" Id="R31242be884734a7e" /><Relationship Type="http://schemas.openxmlformats.org/officeDocument/2006/relationships/slide" Target="/ppt/slides/slide15.xml" Id="Raea8e3352e66477c" /><Relationship Type="http://schemas.openxmlformats.org/officeDocument/2006/relationships/slide" Target="/ppt/slides/slide16.xml" Id="R22518535eda04f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64487d1d6964a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197619f38f4f2d" /><Relationship Type="http://schemas.openxmlformats.org/officeDocument/2006/relationships/notesMaster" Target="/ppt/notesMasters/notesMaster1.xml" Id="Rddad767fd7af4f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1a31eaa4564e8d" /><Relationship Type="http://schemas.openxmlformats.org/officeDocument/2006/relationships/notesMaster" Target="/ppt/notesMasters/notesMaster1.xml" Id="R8c3db92640c54f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162b028f5541ba" /><Relationship Type="http://schemas.openxmlformats.org/officeDocument/2006/relationships/notesMaster" Target="/ppt/notesMasters/notesMaster1.xml" Id="R5303d3002a3b46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c7fe3a22e14b4d" /><Relationship Type="http://schemas.openxmlformats.org/officeDocument/2006/relationships/notesMaster" Target="/ppt/notesMasters/notesMaster1.xml" Id="Ra034ef18131c4a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6b11e11901416a" /><Relationship Type="http://schemas.openxmlformats.org/officeDocument/2006/relationships/notesMaster" Target="/ppt/notesMasters/notesMaster1.xml" Id="R82af8db89ca740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e228e2b50e43d9" /><Relationship Type="http://schemas.openxmlformats.org/officeDocument/2006/relationships/notesMaster" Target="/ppt/notesMasters/notesMaster1.xml" Id="R057f97ef66c14a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594e1da1f24210" /><Relationship Type="http://schemas.openxmlformats.org/officeDocument/2006/relationships/notesMaster" Target="/ppt/notesMasters/notesMaster1.xml" Id="Rd81cb0adee9046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5ebb716dc346fe" /><Relationship Type="http://schemas.openxmlformats.org/officeDocument/2006/relationships/notesMaster" Target="/ppt/notesMasters/notesMaster1.xml" Id="R32926d45f7cd44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e4accf3e6c4bfc" /><Relationship Type="http://schemas.openxmlformats.org/officeDocument/2006/relationships/notesMaster" Target="/ppt/notesMasters/notesMaster1.xml" Id="Rc1e628d3e8ac4a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5a3c61cab244f1" /><Relationship Type="http://schemas.openxmlformats.org/officeDocument/2006/relationships/notesMaster" Target="/ppt/notesMasters/notesMaster1.xml" Id="Ra10cb117b8f843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1fdbc966bb4fb5" /><Relationship Type="http://schemas.openxmlformats.org/officeDocument/2006/relationships/notesMaster" Target="/ppt/notesMasters/notesMaster1.xml" Id="R50adc07fa0a445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20f19ec0594730" /><Relationship Type="http://schemas.openxmlformats.org/officeDocument/2006/relationships/notesMaster" Target="/ppt/notesMasters/notesMaster1.xml" Id="R9fa562b3753149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3171a12b860485a" /><Relationship Type="http://schemas.openxmlformats.org/officeDocument/2006/relationships/notesMaster" Target="/ppt/notesMasters/notesMaster1.xml" Id="R2852831a1dfa40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ef3e96492fc44de" /><Relationship Type="http://schemas.openxmlformats.org/officeDocument/2006/relationships/notesMaster" Target="/ppt/notesMasters/notesMaster1.xml" Id="Rf72f4fb9c930475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6437c2108054f57" /><Relationship Type="http://schemas.openxmlformats.org/officeDocument/2006/relationships/notesMaster" Target="/ppt/notesMasters/notesMaster1.xml" Id="Ra7eb4992e1414f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3ad7a7269444e91" /><Relationship Type="http://schemas.openxmlformats.org/officeDocument/2006/relationships/notesMaster" Target="/ppt/notesMasters/notesMaster1.xml" Id="R16e21f2ccb9e42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0a9e689e5d4dc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8a1e9d31eb64742" /><Relationship Type="http://schemas.openxmlformats.org/officeDocument/2006/relationships/slideLayout" Target="/ppt/slideLayouts/slideLayout2.xml" Id="Raf079482672341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079482672341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5382a26ad84006" /><Relationship Type="http://schemas.openxmlformats.org/officeDocument/2006/relationships/notesSlide" Target="/ppt/notesSlides/notesSlide1.xml" Id="R1d455f0f36074e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b5fd2497f14106" /><Relationship Type="http://schemas.openxmlformats.org/officeDocument/2006/relationships/notesSlide" Target="/ppt/notesSlides/notesSlide2.xml" Id="R86ee7da4cff442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aa6e5b584b4b95" /><Relationship Type="http://schemas.openxmlformats.org/officeDocument/2006/relationships/notesSlide" Target="/ppt/notesSlides/notesSlide3.xml" Id="Re53272e131c144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d05b01c6054030" /><Relationship Type="http://schemas.openxmlformats.org/officeDocument/2006/relationships/notesSlide" Target="/ppt/notesSlides/notesSlide4.xml" Id="R75e5b1dcb28840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d38f49a8794d6c" /><Relationship Type="http://schemas.openxmlformats.org/officeDocument/2006/relationships/notesSlide" Target="/ppt/notesSlides/notesSlide5.xml" Id="R3b69e005f12649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74f24a0c1f48b1" /><Relationship Type="http://schemas.openxmlformats.org/officeDocument/2006/relationships/notesSlide" Target="/ppt/notesSlides/notesSlide6.xml" Id="R2655d25472c149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d55b5b49c44207" /><Relationship Type="http://schemas.openxmlformats.org/officeDocument/2006/relationships/notesSlide" Target="/ppt/notesSlides/notesSlide7.xml" Id="Re468a46bd92348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ad9e9b0b2e471a" /><Relationship Type="http://schemas.openxmlformats.org/officeDocument/2006/relationships/notesSlide" Target="/ppt/notesSlides/notesSlide8.xml" Id="R7229ead879ec44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0b8dc328d34856" /><Relationship Type="http://schemas.openxmlformats.org/officeDocument/2006/relationships/notesSlide" Target="/ppt/notesSlides/notesSlide9.xml" Id="Rfa0d1548c76149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303ba84970462c" /><Relationship Type="http://schemas.openxmlformats.org/officeDocument/2006/relationships/notesSlide" Target="/ppt/notesSlides/notesSlide10.xml" Id="Rc61a7a0b59b741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a8b2874a234509" /><Relationship Type="http://schemas.openxmlformats.org/officeDocument/2006/relationships/notesSlide" Target="/ppt/notesSlides/notesSlide11.xml" Id="R95ca1582e02743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b4f0401b0846cb" /><Relationship Type="http://schemas.openxmlformats.org/officeDocument/2006/relationships/notesSlide" Target="/ppt/notesSlides/notesSlide12.xml" Id="Rf809b93fabd145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446326a7fb48fc" /><Relationship Type="http://schemas.openxmlformats.org/officeDocument/2006/relationships/notesSlide" Target="/ppt/notesSlides/notesSlide13.xml" Id="Ra971898d2e214eb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05f5bf4cb24f57" /><Relationship Type="http://schemas.openxmlformats.org/officeDocument/2006/relationships/notesSlide" Target="/ppt/notesSlides/notesSlide14.xml" Id="R96427b37dca34a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824c9ba62845f1" /><Relationship Type="http://schemas.openxmlformats.org/officeDocument/2006/relationships/notesSlide" Target="/ppt/notesSlides/notesSlide15.xml" Id="Rca689d99ce5e48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1f35ccd68549b4" /><Relationship Type="http://schemas.openxmlformats.org/officeDocument/2006/relationships/notesSlide" Target="/ppt/notesSlides/notesSlide16.xml" Id="R88f24a849acf4e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493136-0906-49C7-AD75-2FCFD3F4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7B187-A3B6-4A26-B08C-D9CB405F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AGENT WORKFLOW OPTIMIZATION · RESEARCH PAPER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304ED-8BC8-4410-86BF-26B80CE1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8286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Compiling Recurrent Agent</a:t>
            </a:r>
          </a:p>
          <a:p xmlns:a="http://schemas.openxmlformats.org/drawingml/2006/main">
            <a:pPr algn="l">
              <a:defRPr sz="36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Workflows into Guarded Programs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22AD7-899E-4B96-B84D-74C3CD5E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62250"/>
            <a:ext cx="7334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FD8F5"/>
                </a:solidFill>
                <a:latin typeface="Arial"/>
                <a:ea typeface="Arial"/>
                <a:cs typeface="Arial"/>
              </a:rPr>
              <a:t>Trace-derived specialization with typed provenance, hard effect barriers, exact admission, and default abstention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90EAA-2028-43ED-B740-B15B14A3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7239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D30"/>
          </a:solidFill>
          <a:ln xmlns:a="http://schemas.openxmlformats.org/drawingml/2006/main" w="1905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1A614C-D10F-4158-9A6D-CCA9A982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049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3D"/>
          </a:solidFill>
          <a:ln xmlns:a="http://schemas.openxmlformats.org/drawingml/2006/main" w="19050">
            <a:solidFill>
              <a:srgbClr val="BFD8F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49B9F-A54B-4244-BCCF-A5826EDF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6002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6BDEC-6597-4C0D-AE78-038BA046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2194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TRACE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603F9-F378-440B-A81D-E271175D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67125"/>
            <a:ext cx="220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→  PROGRAM 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0329C-2782-4D2A-A0E6-684EFCEA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71950"/>
            <a:ext cx="2095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44029-E307-4F76-A181-3C92A8EB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38625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GUARD · GATE · 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EBB24C-55AC-4925-83B0-0EEDD633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Reza Rahimi, PhD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26B100-7C93-49F7-AD0D-C7458078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Public artifact · August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08469-DF15-47DF-BD2B-363D482B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agent-compaction · publication deck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851A9D-17C6-4EC8-B22B-D0E3E7AF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012048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72C973-2751-41E8-89F2-048DC468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60171-4A0F-463C-9678-5344AD8E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CORE 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B5BB4-829B-49E4-A2D6-D4E86314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Recurrence is evidence of repetition—not permission to remove a model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F0BCC5-EA04-4638-966F-7B430F15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2454A-5034-4523-AC40-0408E26A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91E32-9CAA-4BC3-9059-6FE5C33E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EBE59-B6C8-4D99-9FC8-011BEF94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33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40A9F-C34A-4320-925B-527EBD06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28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Observed recurrence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DF1DCF-6922-4E05-A01F-B9A7F9D9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38425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The same tool path appears across independent scenarios.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704C0-F8CE-42E9-AA84-D4083DCE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43840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73856-113E-4106-BA5A-F48F16BA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90750"/>
            <a:ext cx="2333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CDDB0-797F-4260-B425-8649076D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028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0D2C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0D2CF"/>
                </a:solidFill>
                <a:latin typeface="Arial"/>
                <a:ea typeface="Arial"/>
                <a:cs typeface="Arial"/>
              </a:rPr>
              <a:t>Typed provenance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9F3007-7AEC-466B-BD0F-EDE5FFE3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38425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Every argument resolves from entry state or prior results.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3A765-B45A-4FB6-8E90-1A7AAD13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3840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C8B5B7-E55F-48AA-A054-A5871204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90750"/>
            <a:ext cx="2333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5CD3A4-8FBA-44D0-A6EE-7B32BB9D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43150"/>
            <a:ext cx="2028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Admissibility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296351-9B4B-4298-A808-E1BF3876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38425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Effects, position, manifests, and contracts all permit replacement.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49FD39-F263-4302-84D0-31AC4EB5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3840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FE802B-A8C0-4E58-B9AB-24B5D3AF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2057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85D449-9A3B-4604-87DB-D127413B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431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Dispatch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A060C7-E2BE-42F2-B010-1D477142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38425"/>
            <a:ext cx="1752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Only a calibrated, pinned artifact may run.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91CFE0-797F-4B17-B752-51DA520E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52292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0EAD8B-747B-4558-BFBD-1E11AC72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38575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ANY HARD BARRIER → RETIRE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B6E04C-1603-40A9-8425-75B01878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19575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unknown/write effect · approval · handoff · ungrounded value · incompatible manifest · unsupported position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BBE9BD-B4E8-44FA-9B36-FC56ACAA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5191125"/>
            <a:ext cx="6724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optimizer's valid output is often no program.</a:t>
            </a:r>
          </a:p>
        </p:txBody>
      </p:sp>
    </p:spTree>
    <p:extLst>
      <p:ext uri="{BB962C8B-B14F-4D97-AF65-F5344CB8AC3E}">
        <p14:creationId xmlns:p14="http://schemas.microsoft.com/office/powerpoint/2010/main" val="8162725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D901B1-A1AB-40DC-87C1-A0FBF067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58F84-5A9F-4AD3-B75F-4710CEAF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D32F7-1DAD-44C2-9381-0363505C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One typed execution seam separates frameworks from optimization policy.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1D950-AC99-4DE1-BF82-A69E4808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EC8F6F-7CC0-4E7E-B7B2-955913F5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71C1D-3076-423A-A9FA-64CCFA0B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FF3D2-9F0D-4350-B712-863ABDA0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25165-1BD6-48CB-BD93-6EDD16B9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SDK traces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88A35B-DFB6-4C91-AEBE-1895049C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model · tool · handoff ·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09B78-EE04-4CC9-8269-1F7DE652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47950"/>
            <a:ext cx="323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CE8F1-E935-4CAA-A124-AA07E9DB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55290-ED76-4B91-AFDF-713A1358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Episode 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B96F72-8B23-4E50-AFD9-B8FCFC1B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typed events · entry state · manifest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678A7A-6512-43D6-82CE-0E075951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47950"/>
            <a:ext cx="323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D131F-DEAC-46D0-BD47-180CB9EC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55CCA9-9B24-41B3-88EB-99386635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0D2C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0D2CF"/>
                </a:solidFill>
                <a:latin typeface="Arial"/>
                <a:ea typeface="Arial"/>
                <a:cs typeface="Arial"/>
              </a:rPr>
              <a:t>Offline compiler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D8C3B3-6B42-4F1E-B0AF-93EF2FE8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provenance · mining · synthesis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A5067-FDBA-45DF-9B86-F7278A39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47950"/>
            <a:ext cx="323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35026B-7333-436D-9C76-2B925669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3BF4B7-97D2-4ADB-BB95-1AA33EE6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0D2C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0D2CF"/>
                </a:solidFill>
                <a:latin typeface="Arial"/>
                <a:ea typeface="Arial"/>
                <a:cs typeface="Arial"/>
              </a:rPr>
              <a:t>Signed registry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402968-A84D-4FBB-90FC-971E75F5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program · guards · verifier · pins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111FCF-9D11-40F1-9556-E0E52F06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47950"/>
            <a:ext cx="323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0E0EE1-BC3E-4A6C-8CD7-2897EA05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5527BE-FD60-4DA3-907F-B9134E03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Runtime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A0FF20-91B5-432E-AD64-DF7A603B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dispatch · stage · verify · fallback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F0448F-9B57-45C6-B568-02CFB0E1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867150"/>
            <a:ext cx="37909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014B17-70FE-4BA4-84E7-1D865BF2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76700"/>
            <a:ext cx="3295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FRAMEWORK-NEUTRAL CORE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076B50-BEAF-4D4C-9E42-4DF96F98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10075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Canonical JSONL + strict Episode IR; OpenAI Agents SDK is an adapter, not the algorithm.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28FF47-F8E0-463F-9DAA-F1F11D73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67150"/>
            <a:ext cx="37909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92C768-34ED-44EA-BF3E-657B4AFE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3295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RUNTIME SAFETY BOUNDARY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415950-59A4-4C91-9A90-876EE37E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0075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 guard miss or clean failure returns the unchanged agent; dirty failure becomes an incident.</a:t>
            </a:r>
          </a:p>
        </p:txBody>
      </p:sp>
    </p:spTree>
    <p:extLst>
      <p:ext uri="{BB962C8B-B14F-4D97-AF65-F5344CB8AC3E}">
        <p14:creationId xmlns:p14="http://schemas.microsoft.com/office/powerpoint/2010/main" val="9179318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435496-342B-4A86-9294-4322A48E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91A07-8ED1-4A66-86F8-A31819E1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COMPILER CASCADE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F73322-7CE7-4775-B66F-BCADB2DF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Six independent rejection points make abstention observable and auditable.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73E4AC-31A5-4FC2-B1F3-4B64719D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06E21-BB09-4B87-AC30-51F8E29C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9E89A-9276-4092-B748-41C51B6D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CEC1C-F54B-4FEB-957C-21663626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164FC-8C7F-41ED-B1E6-911D48C0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98DCDA-1799-41D4-8C37-39B556A7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Partition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B1A1E-9722-4E71-A027-A70B0AE7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compatibility 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9F9FCE-FFCB-471C-828E-D053EEB1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8F9F3D-4A5C-4B18-88F4-D67D0A7B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5F9B42-0D01-4ACB-89A0-8177FA2B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AEA15-2D22-44AE-8848-CA65B9BC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Provenance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857ABF-5CEB-4FCA-822D-7D980C0E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ground arguments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9BE56-FD01-4BAE-A022-3725C517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C2CB55-726D-4C44-BC74-14844A31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0D2AAD-8772-4E22-B065-35DD2BA6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C9BBF6-71C0-4ABA-9875-43130BE3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Mine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3B8E55-7A25-4661-A7D3-0F3473C2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recurrent prefix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E1D614-98A0-4897-90ED-450BF8EF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4748C7-B35F-4F3A-B885-94E6C170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3EB203-0456-4A67-AE7E-D18F6D3A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0E63A6-3D4A-4A67-B704-77FF51A7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Feasibility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73E462-671B-4CEB-A52F-46E21F5E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effects + position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F31766-1D7C-40FD-8671-7A721B9E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866022-5482-431B-BDDE-43BDD873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96A80C-8EC0-4DCB-B62E-7DEBAE78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4387CD-DD61-4B1F-8B7C-DDFF922F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Synthesize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08BBA8-78CD-46FC-B420-FEE7295E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closed 23-op DSL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B259D8-8A0A-4AD3-9523-C17CBDD4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949DE3-C936-437D-AF77-EE66DED7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D5A11B-4A76-4EEB-ABE3-341EC265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DAD1DB-F72A-4D85-8442-D4AD3303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Calibrate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6CBF65-D99E-402B-9CE6-4201F088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exact risk gate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417BB6-D8EA-4179-ACA9-AA0E36CC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09347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B8538B-26E7-402F-A12B-574EB156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71975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RETIRE PATH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568571-D01E-4C93-BB32-33663173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24350"/>
            <a:ext cx="876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A rejected family is retained with a reason; no stage can statistically override a structural barrier.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C40324-8D25-468A-AC2C-F502958D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95825"/>
            <a:ext cx="800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This converts compiler refusal from an error into a measured result.</a:t>
            </a:r>
          </a:p>
        </p:txBody>
      </p:sp>
    </p:spTree>
    <p:extLst>
      <p:ext uri="{BB962C8B-B14F-4D97-AF65-F5344CB8AC3E}">
        <p14:creationId xmlns:p14="http://schemas.microsoft.com/office/powerpoint/2010/main" val="16043373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1360B9-ED8D-4E45-9E08-7B847A56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9CDC6D-B2C5-44F7-9F68-523E06DC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RUNTIME SEMANTICS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4CC40-991B-452A-813E-A778A9CE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Fallback is exact only before the host has crossed a clean commit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67436-4EB9-4405-A7C6-361A6E8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323FB-EA01-4594-8645-F13A69ED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C57C8-5B63-4553-B280-92C62DB9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B098E2-066B-4427-9E02-C39D0CE5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165D0F-4D42-4583-A0B2-34E4A067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B9825-F582-404C-BFB3-4C098E60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7F1AD-1877-41ED-8F4A-BAE66968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2B6C9-1536-4B12-903A-654FC68B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GUARD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12D8F-9C94-4C3C-B726-F3C8C418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49494-140C-4F14-8615-B81FD529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694515-C696-455F-A5EF-89043B2C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2FCCC-6846-41CA-BB64-7DEF30F6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384501-AB1A-4C82-8C1D-F2F38D80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2C120B-78EC-4B94-9EE1-C3B96C14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5224F7-2783-4915-88A6-AB8669C7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4DFC7D-DC26-481F-A69B-DE1CE225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34BC31-2211-4636-A87E-B815D1D5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INTERPRET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D9794A-3338-470C-8C6B-6BEC63C9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2AD0B0-3838-40E2-BF91-4D088D04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9DE296-C145-4CED-907B-FDB4A385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E0F548-7EE3-4981-A38E-F439A15F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6B590A-A3CD-4DBB-904A-CE1627F6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480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BEFORE COMMIT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3CF1B-D2D9-430B-9933-9B55278F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guard miss</a:t>
            </a:r>
          </a:p>
          <a:p xmlns:a="http://schemas.openxmlformats.org/drawingml/2006/main">
            <a:pPr algn="l"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gate miss</a:t>
            </a:r>
          </a:p>
          <a:p xmlns:a="http://schemas.openxmlformats.org/drawingml/2006/main">
            <a:pPr algn="l"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clean failure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7EAFC6-B34A-4EE3-A7A6-466BC82A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962400"/>
            <a:ext cx="1181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→ unchanged</a:t>
            </a:r>
          </a:p>
          <a:p xmlns:a="http://schemas.openxmlformats.org/drawingml/2006/main">
            <a:pPr algn="r"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8DC141-3F1D-4B96-8548-7BA61C80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3850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255779-A18E-4F51-B907-2DE9C824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480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AFTER CLEAN VERIFY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78181D-55E9-4F2D-B489-EA8015C0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90950"/>
            <a:ext cx="2762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checked artifact output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3C1ADD-3A9C-4137-AD08-303632EF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67200"/>
            <a:ext cx="15525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→ compacted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275510-2177-4B3F-BE3C-78877E35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36D38F-6A92-4472-AA1B-A0E46FBA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480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DIRTY FAILURE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BA78BE-700A-42A6-80A1-4975F947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90950"/>
            <a:ext cx="2762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write or external effect may have committed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459EBE-1847-48C7-8D35-631E3B2E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67200"/>
            <a:ext cx="1628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→ incident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B580E7-94BF-4A14-9017-5FC352CF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67325"/>
            <a:ext cx="975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9DB0C8"/>
                </a:solidFill>
                <a:latin typeface="Georgia"/>
                <a:ea typeface="Georgia"/>
                <a:cs typeface="Georgia"/>
              </a:defRPr>
            </a:pPr>
            <a:r>
              <a:rPr sz="1650" b="0">
                <a:solidFill>
                  <a:srgbClr val="9DB0C8"/>
                </a:solidFill>
                <a:latin typeface="Georgia"/>
                <a:ea typeface="Georgia"/>
                <a:cs typeface="Georgia"/>
              </a:rPr>
              <a:t>The model-boundary adapter cannot un-emit host history; the outer runner owns exact restoration.</a:t>
            </a:r>
          </a:p>
        </p:txBody>
      </p:sp>
    </p:spTree>
    <p:extLst>
      <p:ext uri="{BB962C8B-B14F-4D97-AF65-F5344CB8AC3E}">
        <p14:creationId xmlns:p14="http://schemas.microsoft.com/office/powerpoint/2010/main" val="20338885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15F995-EF43-4515-8AD2-FD5DE9F4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09792-F48F-4530-A76A-97178A98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EVIDENCE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FD44B-AA78-45CF-9CE5-42608CCB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Three tiers answer different questions; none substitutes for another.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22456-380C-432D-BA32-DC75534C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6E9F2-3EC1-4429-8078-00415AEF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C019E-6809-4BEF-8303-4B7B6C55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84A35-429B-4BA1-B043-5FECE01D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33337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108F5-4614-4FA1-B7A0-A2B8E272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47625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2CF6C4-6C7E-4287-B18C-E7612A85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TIER 1 · NESTFUL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55E832-0901-4DDF-8A27-C5C09A68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146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1,415 episodes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1EAE2-36CE-41EB-8BBE-0EB37694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29337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Public executable benchmark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Tests provenance, synthesis, replay, and statistical retirement.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Provider-free; not a planning benchmark.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76BB3-6799-43FA-96F5-D08FC06D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76450"/>
            <a:ext cx="33337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359237-8582-4CF4-9C6A-0B2F9D2D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76450"/>
            <a:ext cx="47625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94A7C5-9F66-401A-9055-E2EFCD73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4790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TIER 2 · GITHUB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EF8B1-3B8A-4095-9373-5CBAD67F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146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132 → 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24D5D2-01ED-4B7F-8E5F-B9637DC2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009900"/>
            <a:ext cx="29337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Real public issue records + live provider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Tests quality, requests, tokens, latency, cost, and depth sensitivity.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Primary confirmatory study: 30 fresh records.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37DC81-7EF0-481F-8461-4387096B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76450"/>
            <a:ext cx="33337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5A4F6B-3F5E-447F-9482-BA61616C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76450"/>
            <a:ext cx="47625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B41233-A7B6-4576-AF36-6AA804B7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4790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TIER 3 ·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10EA69-1454-4C46-8EF4-E7764AE8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8 conditions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2F117F-FAD1-414E-9BDE-79A0BCC3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09900"/>
            <a:ext cx="29337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Real SDK/runtime + live provider against deterministic local services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Tests branching, pagination, writes, handoffs, refusal, and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Business records are fictional.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92E131-4F05-4BEB-B582-715D45DE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524500"/>
            <a:ext cx="9105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3C56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3C56B"/>
                </a:solidFill>
                <a:latin typeface="Arial"/>
                <a:ea typeface="Arial"/>
                <a:cs typeface="Arial"/>
              </a:rPr>
              <a:t>Multidomain evidence remains preflight-only and is excluded from optimization claims.</a:t>
            </a:r>
          </a:p>
        </p:txBody>
      </p:sp>
    </p:spTree>
    <p:extLst>
      <p:ext uri="{BB962C8B-B14F-4D97-AF65-F5344CB8AC3E}">
        <p14:creationId xmlns:p14="http://schemas.microsoft.com/office/powerpoint/2010/main" val="5210468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7AE5FB-5E79-490E-AC50-7683E231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AA862-39DB-4746-88C3-10EC8ED1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REAL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4D943-59ED-4D7D-9EB3-B48607EA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A path can recur 132 times and still contain an argument the trace cannot justify.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13359-7698-4A0E-B377-0AB3B13F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1CEA2-C9C2-4557-8F5F-D2DCAE29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178E2C-B8E5-47EC-96C0-EBD31B02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F382BC-803B-4112-95C4-F7BB510D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2095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7B7975-3F3A-4B94-AA00-79FE6F26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Read issue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EE43C3-B2EB-4450-8217-6C04D25F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38425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issue number ← entry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7CB6F-0921-4EBE-888F-D846485A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5745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5FB4B-311F-4E03-B4B4-B6F5E10A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190750"/>
            <a:ext cx="2095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29D703-F6CE-4421-A1CE-28BC4E39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431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Read labels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C3F37-1D7F-4C28-BB93-4098E65B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38425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issue number ← step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1DC86-05F4-4114-A740-39153680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5745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40B530-58EF-43D5-B44E-D0152325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2095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04AE2F-FC6E-4548-8AF6-280484BA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431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Read comments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8512AE-B78A-4CAD-893E-D815A8ED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38425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limit = 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CA9DEB-8346-4B83-AAB6-8A3C3E52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5745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E8CB7F-729A-4AF5-A5CD-920F0E55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190750"/>
            <a:ext cx="2095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170C71-F199-4280-8CF0-31DAD2A2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431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D039E2-1CDE-4349-83F7-C4F3C6A2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38425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model continuation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00B40F-C00A-4907-8839-0B10DC54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71850"/>
            <a:ext cx="2095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B7CF25-0518-48F6-B0D3-C3AB2DC1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1828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UNGROUNDED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02AC7C-A8A5-4010-92FA-53AE90CB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2905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no stable expression for comment limit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144F08-6E3D-4BF5-B904-F6497ABF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132/132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15ABE0-AC49-4E78-8129-7E7E19EC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same three-read order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39426C-36FE-44DE-837D-94900CD4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130/132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8FEC62-D3F6-4E3E-A51B-49C65A25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340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exact-source task pass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16E88A-2CC3-47EC-9C92-10BCED42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625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2 reads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775CFA-729C-4198-A3F0-AAD21EBF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3340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compiled prefix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3005EB-9F58-4616-812A-C2EF7DFA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7625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08A7F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08A7F"/>
                </a:solidFill>
                <a:latin typeface="Georgia"/>
                <a:ea typeface="Georgia"/>
                <a:cs typeface="Georgia"/>
              </a:rPr>
              <a:t>1 read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FC800E-9FCB-4559-B2F0-C1D120FF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340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left to the agent</a:t>
            </a:r>
          </a:p>
        </p:txBody>
      </p:sp>
    </p:spTree>
    <p:extLst>
      <p:ext uri="{BB962C8B-B14F-4D97-AF65-F5344CB8AC3E}">
        <p14:creationId xmlns:p14="http://schemas.microsoft.com/office/powerpoint/2010/main" val="145784739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C7A9BD-F7F7-4873-8815-5174210B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C374F8-39D8-45CE-A549-6B3432F6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PRIMARY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82725-D5D8-4F2C-BE91-1D80F3DA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groundable two-read prefix halves model requests at 30/30 observed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EB43D-8DD7-4232-8D91-C18D5916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3C0AE-50B8-4A42-8DBE-4B93D328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37714-081C-4F83-9A8F-6AD1E312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86EE4-5C70-450E-809A-A30AAED5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2143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30/30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767996-5248-43A2-BDEC-F126AD1E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exact factual + task contracts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7E969-E8E8-4586-92ED-4EDEA373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81200"/>
            <a:ext cx="2143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−50.0%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DDE92-C8D0-4766-9631-0FF3A548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 requests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32C4E-90D4-4350-88DC-C2E826D8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981200"/>
            <a:ext cx="2143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−39.5%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0FFC3-D093-482E-82E4-16E3AF1D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52700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total tokens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E5FC5-1603-4C06-BD0D-403D704A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81200"/>
            <a:ext cx="2143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−51.7%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4A4FF-2163-429B-A20F-D7506A33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52700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observed wall latency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F81A1E-14D7-4432-BD1F-CF4356AE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 requests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E07677-5269-4EAB-A500-2FCF7FF2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590925"/>
            <a:ext cx="514350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B747C-34D9-4375-8F1F-DD5D660B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590925"/>
            <a:ext cx="2571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B522C6-DC92-457B-9827-24DC12FA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5282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50.0%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20CB06-04AB-4E53-91AC-B3BE8A02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Total tokens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7CD785-F9CB-4667-AE29-AF932CFA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29075"/>
            <a:ext cx="514350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B01B82-DDD1-49E3-8440-9E73EEE0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29075"/>
            <a:ext cx="203168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60D2CF"/>
          </a:solidFill>
          <a:ln xmlns:a="http://schemas.openxmlformats.org/drawingml/2006/main" w="0">
            <a:solidFill>
              <a:srgbClr val="60D2C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6A85A3-CA76-4819-87B7-9EDD6AFD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909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39.5%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1A8DB9-C404-4703-85B3-9CED30B1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Wall latency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7E0C04-0DA5-43A7-BFFD-99CCC04B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467225"/>
            <a:ext cx="514350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FEC39C-34C9-40F4-9FF2-98442207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467225"/>
            <a:ext cx="265919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1F4428-7CF3-4368-8879-93B7B54A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42912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51.7%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33BF21-98F7-4B7B-BEC6-4AB839ED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Estimated cost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BF17EA-0B06-4118-84CD-766F93DA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05375"/>
            <a:ext cx="514350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7B44B7-5666-400D-83DE-D1BCEA40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05375"/>
            <a:ext cx="164592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3C56B"/>
          </a:solidFill>
          <a:ln xmlns:a="http://schemas.openxmlformats.org/drawingml/2006/main" w="0">
            <a:solidFill>
              <a:srgbClr val="F3C56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D85DC8-788C-4363-98E4-08F4D217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672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32.0%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825F49-E2F1-432E-8F3C-2193CD53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62350"/>
            <a:ext cx="21907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7E0646-EE1F-425D-B84C-1662B9D3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6235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241045-43CF-40C3-A257-BBFD2824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33800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WHAT STAYED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623160-41D9-4309-AAAB-88F224C6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000500"/>
            <a:ext cx="1790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0% tools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32F862-25BE-43B0-A165-832CAE1C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495800"/>
            <a:ext cx="1790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Three necessary reads remain. The compiler removed repeated model choices—not evidence acquisition.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D0AC68-9494-46F8-B4FA-91F37B41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62625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Observed preservation on one domain; the 95% upper bound on compiler-only discordance is still 9.5%.</a:t>
            </a:r>
          </a:p>
        </p:txBody>
      </p:sp>
    </p:spTree>
    <p:extLst>
      <p:ext uri="{BB962C8B-B14F-4D97-AF65-F5344CB8AC3E}">
        <p14:creationId xmlns:p14="http://schemas.microsoft.com/office/powerpoint/2010/main" val="207816765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9B3F45-BACD-452A-A8F9-75BFE5EB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2EE161-DB90-4992-98D7-F0333975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COMPARATOR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78842-11C2-44DF-8D7F-6A7F153F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For this fixed workflow, hand-written composition remains the stronger baseline.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09FC5-F8F2-4FFA-ABDA-2C89C5F6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D63F8-82F0-4086-8957-F26C3C33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F6ABD-B581-4E7D-B33B-184B0EE7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E5B92-CFE7-43B2-8AA0-0B84ADE4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RELATIVE TO UNCHANGED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711D5-E847-43A5-BB30-EC85979B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E99C0-C9EF-457E-A861-02602425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00300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E41D5-9A98-419E-BC51-CE9A7B81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00300"/>
            <a:ext cx="2925536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3A714C-8671-4A14-826B-35E579BD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5267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compiler 50.0%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A748E8-6BAF-4D9C-8E60-DDEA39C8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76525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0F5C1-304E-4B3C-B9EF-5081D94B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76525"/>
            <a:ext cx="2925536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4F847-426B-494D-9709-E422C325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50.0%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B4E80C-2CFE-4602-8310-A2BE19E0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Tool calls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E1C9E7-70B8-4F75-8964-26971543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1350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504934-973F-4D97-A7EC-ABAE8059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1350"/>
            <a:ext cx="0" cy="152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4F92FE-E404-4CB3-83B9-0F1980C7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3372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compiler 0.0%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71EFEE-37FD-4222-B256-9D411CD3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57575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81AE7A-561F-495D-AE4C-DF428ECD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57575"/>
            <a:ext cx="3902665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6A0D04-F8E1-463A-87B7-87015365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099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66.7%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F80F7E-88DA-4CCA-AEDF-C6518872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Tokens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BE8ACE-B40B-42EB-8A1D-39F344DB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62400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25AD77-A7B8-473F-B9FB-79878401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62400"/>
            <a:ext cx="231117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BFD918-7FE0-4D04-A509-1947C8C5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compiler 39.5%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94AE0-596D-4EC6-B20C-04E732B4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38625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6FA406-0EC3-44CD-86EF-FA79BC94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38625"/>
            <a:ext cx="3405324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9D6E82-99C9-4AD5-89CD-B4015DAF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910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58.2%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30B5F9-DDA4-4CBE-8806-09B3EC2F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EAEBC2-0070-4658-97A8-FF63836F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A2C5D5-217C-48B1-A848-3972B659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187234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3AB90A-FB96-48F8-82C6-3FEAD9E7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9582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compiler 32.0%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6031CB-F067-4D2E-97C4-80BD5866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19675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377385-A8AF-408D-A88D-F85E1022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19675"/>
            <a:ext cx="2194152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895323-BA11-4F5A-8976-011445A7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720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37.5%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5392C-BFD2-4855-9953-10F03DFC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62200"/>
            <a:ext cx="32004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ECD076-938D-46EB-944F-3A936B50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622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77B03C-C6DF-427F-91E2-FB28F642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533650"/>
            <a:ext cx="2800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A9D447-E0C8-4AB6-8276-18E6E1F9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800350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Macro wins 3/4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50A5AB-10DB-44B0-8178-EE1ABED9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295650"/>
            <a:ext cx="28003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Both arms pass 30/30. The macro matches request savings while using one tool call and fewer tokens. The compiler's lower observed mean latency is uncertain because its paired interval versus the macro crosses zero.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A37464-43E7-4D2E-8FE7-53EC342A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772150"/>
            <a:ext cx="883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Learned compilation must beat—or justify itself against—ordinary software composition.</a:t>
            </a:r>
          </a:p>
        </p:txBody>
      </p:sp>
    </p:spTree>
    <p:extLst>
      <p:ext uri="{BB962C8B-B14F-4D97-AF65-F5344CB8AC3E}">
        <p14:creationId xmlns:p14="http://schemas.microsoft.com/office/powerpoint/2010/main" val="148853450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A8DFBE-2B21-42AF-897C-A747E31A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FBBB2-3398-4011-9E83-67AB10F9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DEPTH ABLATION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B3140-47F0-4A73-AAB3-7CFE9012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One extra compiled read bought efficiency—and lost a factual contract.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E95F8-7614-4CC7-997F-DD997288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10A7FB-95BA-4E16-85B3-591C0D53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A5D33-1D67-4C81-B033-32FD9B3C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BE77B6-92AA-47C2-8A86-486DC0E4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AE54C-7AFD-478E-A93E-FC48E54A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8AE18-218A-4CC7-8C0A-B6463D79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436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TWO-READ PREFIX · PRIMARY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3D9E4-B26F-4722-957F-78F95C79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436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30 / 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311938-6683-43FB-99A9-74DABCDC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43624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Grounded issue + label reads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Agent retains comments and answer generation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Observed factual 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20745-6587-4159-98F6-D5BBFD9F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4B7ED-B5F7-44AF-8F9D-2FC77836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33975"/>
            <a:ext cx="1428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EFA0F4-D267-4F21-9543-6CCDF440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33975"/>
            <a:ext cx="714375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8BC33-830F-4C2C-B798-F772BE42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0958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50.0%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DF57D2-A841-4A37-B429-2774904E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7645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3937EA-1E57-4126-B898-FBEA12F1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76450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2DB82D-9871-460C-B6A0-6DA5C0C3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436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THREE-READ PREFIX · EARLIER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F79B12-8B06-4D0C-8FC6-DDFF602E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14600"/>
            <a:ext cx="436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17 / 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CF5490-AD25-492A-AC2E-2C9ADC60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09900"/>
            <a:ext cx="43624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Compiled comments despite continuation risk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Issue 6602 drops a Markdown URL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Observed factual contract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16F87-A595-47B8-9BC2-6A2FA0B3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054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538F78-BCF3-4B05-9B07-A36CB1BC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133975"/>
            <a:ext cx="1428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F3BD6D-48F3-46F1-8B07-8D582AAF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133975"/>
            <a:ext cx="107156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E4EA94-B057-4477-8691-E79DF48B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0958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75.0%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2C165B-F2E8-4096-B311-3F68377D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086100"/>
            <a:ext cx="933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2F4B24-084E-4237-A11A-4683168C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581400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+25 pts saving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6BDB75-26D7-450F-A0FF-5BB5B58F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943350"/>
            <a:ext cx="57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93AD15-A780-4450-965A-D0C4775E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674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The calibrated tool program does not certify the downstream model continuation.</a:t>
            </a:r>
          </a:p>
        </p:txBody>
      </p:sp>
    </p:spTree>
    <p:extLst>
      <p:ext uri="{BB962C8B-B14F-4D97-AF65-F5344CB8AC3E}">
        <p14:creationId xmlns:p14="http://schemas.microsoft.com/office/powerpoint/2010/main" val="71358645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82105A-F6E2-4697-98D3-AB6F0C33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59E0F3-1CFB-451C-AC0D-AA1A48A6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PROSPECTIVE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3D396C-7541-49FF-94D4-760958A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Frozen paired evidence selects a review action—not a claim of universal superiority.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78D74-2AB1-4020-A396-DD7E3482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E48B-FE92-4097-9CDE-D5676194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AC6EB2-3FE0-4E7D-832F-C34738FE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5210B-25DB-4B1B-AA9C-6EB6B58C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30 independent calibration groups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B08F6-AFC8-4555-AF67-B65AA826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Compiler utility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D281A-567C-465E-B019-ADCC4B51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05075"/>
            <a:ext cx="3714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D8CCE8-1821-45FD-8FFE-20AEE020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05075"/>
            <a:ext cx="121472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F061C-8246-40A6-B090-0FF76FA7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669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32.7%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D0704C-8425-4F65-91D7-E55AEE85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Macro utility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5824A-08F2-4C17-9C23-A07F5975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38475"/>
            <a:ext cx="3714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E73EF-C0DC-45CF-82DF-D764435C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38475"/>
            <a:ext cx="181651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787961-8E30-490F-9E33-5E398A3A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003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48.9%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3C204C-8446-4277-85C7-CCF909D8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52700"/>
            <a:ext cx="3619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0">
            <a:solidFill>
              <a:srgbClr val="2B18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F5459C-A2A9-4BBA-9D57-6CE395C7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193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SELECTED · HUMAN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BEAD7A-31CB-475D-B78D-4B0CD853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289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decision + weights + compatibility key + source digest frozen before fresh records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869B00-E615-4204-9D3E-507D3652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8036B-EC67-4D73-B4E8-F12E4B4F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12/12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B39230-DDB3-4FEF-B116-317DD9E8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fresh factual + task pass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3FE117-E270-41B4-A0C5-AF334350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−50.0%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3BCCCC-7900-4082-994A-99154CC3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 requests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32D805-5DC7-40AE-A70D-2750BD3D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−66.7%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1BF4F2-ABEC-4546-8E8B-FD065294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tool calls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E245AD-28ED-4FDB-8072-CBE978BE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−59.2%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DCB6A8-6A5B-4767-B3DC-D69CCA2E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total tokens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778526-EF5A-4AE4-A3B2-D4189F2B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3C56B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3C56B"/>
                </a:solidFill>
                <a:latin typeface="Georgia"/>
                <a:ea typeface="Georgia"/>
                <a:cs typeface="Georgia"/>
              </a:rPr>
              <a:t>−40.6%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8FA5F5-BCAA-450A-BB7B-DB09B042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estimated cost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2EA38F-1D99-4FD0-B775-00D7142F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1025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One workflow family; no evidence yet that portfolio selection outperforms a static always-macro policy.</a:t>
            </a:r>
          </a:p>
        </p:txBody>
      </p:sp>
    </p:spTree>
    <p:extLst>
      <p:ext uri="{BB962C8B-B14F-4D97-AF65-F5344CB8AC3E}">
        <p14:creationId xmlns:p14="http://schemas.microsoft.com/office/powerpoint/2010/main" val="745343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2E57ED-579B-413B-A8E5-CD94540B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7FF6F-8CA6-432C-89FB-93E5B141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NESTFUL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F1973-9429-47BA-B3AA-EE5B5DDD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true producer is usually found—but rarely justified enough to ship.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110FB-8DAF-46E5-A916-0986A2A0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F99B2-72AE-47F2-AD5F-AC6EDED8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AF677-6C68-465B-9469-6715E2E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0D0413-E435-4D8B-AFF8-E892DD8D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96.3%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AD508-08D5-45F0-B9DB-301B70CE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expected producer in candidates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30C26-6399-44BF-A2F7-26C9EB9F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621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08A7F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08A7F"/>
                </a:solidFill>
                <a:latin typeface="Georgia"/>
                <a:ea typeface="Georgia"/>
                <a:cs typeface="Georgia"/>
              </a:rPr>
              <a:t>80.7%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021DE-30A6-40B2-91FF-C04F0F35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336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unique producer resolution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0AF320-506A-4865-8832-15BBA461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24 / 12 /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C91396-7F5B-441C-9164-9E19B99C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336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pass / abstain / wrong replays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8B056-E9A9-4F2C-ACE3-BDDF1581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621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1,415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41E436-EEC4-466C-B644-D01C64E8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executable episodes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4D5BB-BC9B-401C-BCB9-11BCED8A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Calibration support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AF64D-8D66-4E1E-B50E-3E7135C9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9429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B75F10-7000-4176-B858-EDA5A9AB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2664929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A19B96-9454-4E02-80EC-B4C6A15D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max observed 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17B02-57B2-48D7-83B3-49F008C4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838575"/>
            <a:ext cx="2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E2AEDE-9912-4600-B3AE-3411CB0C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1485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required 92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7E3C7C-FEEA-4CBF-84E2-8CD91DB3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53000"/>
            <a:ext cx="3467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0">
            <a:solidFill>
              <a:srgbClr val="2B182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42EBF-34BA-482C-AF1C-56C22706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1967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ALL 714 FAMILIES RETIRE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C7A227-2654-4E60-9535-AB95C2BB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9750"/>
            <a:ext cx="8686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High candidate recall is not unique grounding; correct replay is not finite-sample certification.</a:t>
            </a:r>
          </a:p>
        </p:txBody>
      </p:sp>
    </p:spTree>
    <p:extLst>
      <p:ext uri="{BB962C8B-B14F-4D97-AF65-F5344CB8AC3E}">
        <p14:creationId xmlns:p14="http://schemas.microsoft.com/office/powerpoint/2010/main" val="195387077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90B14D-A4C6-4DFA-8EEC-706CC957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B6EE6-45B0-4D07-B260-A7CF8B11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OPERATIONAL SHAPES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234BF-1A72-4441-AF65-87ED717A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correct optimization sometimes stops before a write—or refuses completely.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3C80D-7B8D-4E06-9EFE-D985173F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95558-038F-4F31-953E-96E53841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4266FA-C786-4B40-BEFC-B5B38177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62C47-0429-47CF-9D20-7D4D6BF6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238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CC21A-8C28-413D-8528-D48E3D68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4705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PARTIAL COMPACTION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ABE46-C0FC-4ED2-8F54-AD9A1ED4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0990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C88C6-3C4B-4F50-B02F-33D34727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765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D3B93E-6280-45C9-9A2E-9B811EFB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009900"/>
            <a:ext cx="228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763A7-D27A-41B5-9439-E90F75B8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0990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063AA5-02A7-48A9-BB23-1CAE824B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765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BRANCH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F6301-67CC-4CE8-B5C2-E1AE56AA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9900"/>
            <a:ext cx="228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3AAA86-AAF5-4CD9-A5C8-F7913708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9A899-1461-44AC-B82C-B82AA5CC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765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0B3E0C-721E-420A-9E21-D832FECE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009900"/>
            <a:ext cx="228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AC9740-3C8D-4EBE-BF50-98A1150B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29E6A2-2BEA-42EE-A978-3EB416E0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765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WRITE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7FF94E-EF75-4AB9-8DFD-6EDAF22F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528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compile evidence turns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7363AA-EA38-4612-AFF1-35ACACC8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528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retain decision + irreversible write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361481-02F6-4E72-810F-79F493CED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29150"/>
            <a:ext cx="447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Demo E: model calls 7 → 2; quality unchanged.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D51ECC-9E0C-4593-8F14-91787F8A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5238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3423D9-4E95-4B45-91D3-9C2666F2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09800"/>
            <a:ext cx="4705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REFUSAL CONTROLS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4A199-4540-4D5F-A538-3DA2DAA3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1390650" cy="14287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104ACF-900A-40D5-8C01-CC96EECC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026E74-FC35-41C5-8176-C40E08A0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575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MCP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B12774-0F12-4A28-8FB9-94D2FCC3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62300"/>
            <a:ext cx="990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undeclared effects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D71C39-CBBA-4797-8AD5-5F7062D2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86050"/>
            <a:ext cx="1390650" cy="14287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EB0164-4F38-4100-84AD-72E29A3F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860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51BE56-178D-4396-8054-08FA2ED8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575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LOOP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DAA660-AEB9-4302-8632-A002631D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62300"/>
            <a:ext cx="990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adapter cannot advance safely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85AD84-6116-4084-A552-0D0B6299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86050"/>
            <a:ext cx="1390650" cy="14287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298D72-912A-45A0-A5E5-92C7D9BD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860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9E2EC0-907D-4F1F-A246-43DA664A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575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DRIFT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B168F6-4BB4-4504-9872-3ABF0E0C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162300"/>
            <a:ext cx="990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entry schema mismatches pin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2C4B5A-FA4D-4F30-8AE9-75771A4E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2915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Each returns the exact baseline model-call count at unchanged quality.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5C8363-5F7D-4736-8968-25AA3A92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57875"/>
            <a:ext cx="853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9DB0C8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9DB0C8"/>
                </a:solidFill>
                <a:latin typeface="Georgia"/>
                <a:ea typeface="Georgia"/>
                <a:cs typeface="Georgia"/>
              </a:rPr>
              <a:t>A refusal is a successful safety outcome, not a missing benchmark win.</a:t>
            </a:r>
          </a:p>
        </p:txBody>
      </p:sp>
    </p:spTree>
    <p:extLst>
      <p:ext uri="{BB962C8B-B14F-4D97-AF65-F5344CB8AC3E}">
        <p14:creationId xmlns:p14="http://schemas.microsoft.com/office/powerpoint/2010/main" val="73823224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53FBF9-D985-4454-82A6-B6FB1EA8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BBEFD7-94E6-4674-8BA4-D706C77E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COST REALITY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340954-727D-4ABB-A396-5FF0945E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Fewer tokens can cost more when compaction destroys a warm prompt prefix.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446EF-540B-46CB-AAB8-3D2170C3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89FCB-5744-4850-A43C-5020654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FB2473-76ED-4DD8-AFBA-2E89A2FA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5E8091-B4CF-4A34-A236-D503CC2D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9B2E8C-C9BD-43E6-893C-57B4962F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422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BASELINE LOOP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B1D54-3613-4BA1-9A2E-9B0A6BA1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long prefix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CA62C0-F768-4BC8-BA17-AB14D708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81325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46534-85F9-4735-8575-6225925F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003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 cache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AFF303-BDFE-4C2A-B6CB-30E129C6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29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+ repeated cheap reads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46F62-0FBD-4967-805F-909C97DF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0"/>
            <a:ext cx="4000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96–98% cached-input share in comparable baselines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64AF1-A594-4590-9CA0-C86A31CA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3360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EEE2D-18B1-4B05-8EEF-F2C87623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62200"/>
            <a:ext cx="422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COMPACTED ROUTE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118947-1D04-4F01-A972-7C43B6EF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new prefix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D1F0AB-3118-45D4-B072-DB9BB8BA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81325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9D878-0517-4618-A970-8AF95992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003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cache write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B8E44C-CAE9-46DB-88F7-0E75C5B7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29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3C56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C56B"/>
                </a:solidFill>
                <a:latin typeface="Arial"/>
                <a:ea typeface="Arial"/>
                <a:cs typeface="Arial"/>
              </a:rPr>
              <a:t>little amortization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247E99-F8E7-4998-A07F-23DBC776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00500"/>
            <a:ext cx="4000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Demo F: −16.8% tokens yet +123.0% estimated cost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49524E-3D4B-4DE9-B578-73652964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197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17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Optimize the invoice, not a token proxy—and counterbalance cache warmth.</a:t>
            </a:r>
          </a:p>
        </p:txBody>
      </p:sp>
    </p:spTree>
    <p:extLst>
      <p:ext uri="{BB962C8B-B14F-4D97-AF65-F5344CB8AC3E}">
        <p14:creationId xmlns:p14="http://schemas.microsoft.com/office/powerpoint/2010/main" val="125163728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091C4B-1E0E-4861-BAD3-CA4E291F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0E512-7742-4E96-9422-43FBFF73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ASSURANCE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165C0-8D59-406C-A91F-3631DFB1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artifact is reproducible; the evidence is not production certification.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CF010-2B40-4899-93FB-F7D9AA91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4AE67C-7749-4782-B9BC-BCFE1FF5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4D6C6-E709-48F0-804D-597F7A2B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96244-3462-4B4C-A3D3-5C9D0EFF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3337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E7D68-2F30-4D2E-90F7-17589A77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476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7818E-C791-4E0F-9A6A-D0ECA123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VERIFIED IMPLEMENTATION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6C5DB5-4A84-4F6C-9CF3-C68DEC06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311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C88FF-FB13-4B47-A17D-32713880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2933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Canonical atomic JSONL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Strict typed Episode IR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OpenAI Agents SDK adapter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Compiler + runtime + portfolio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Continuation guard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472E8-B08C-4D09-9182-A8053C6B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95500"/>
            <a:ext cx="33337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0D753-7168-4539-A3E0-84FA3E51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95500"/>
            <a:ext cx="476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4D1BF-DEA4-4B8C-8476-2842B883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669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ARTIFACT INTEGRITY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59AB21-A80A-4023-B34B-3597A983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3365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1,292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DC64E-5FC1-4E4E-AB4B-23FEB70F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028950"/>
            <a:ext cx="2933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Two LaTeX builds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Claim/evidence validator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Sealed result digests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Provider-free reproduction path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No MLflow dependency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5F4C2-D8AC-4078-B157-7DCE0DAB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33337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B4BD76-3A50-4772-AAFA-A23636B9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476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3E061-3604-4C14-AE5E-1B59367F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669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NOT ESTABLISHED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2E1820-0619-4E1A-9804-1EB07C44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5 boundaries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2575D-3D66-4C32-BD79-02B5E7D0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2933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Production safety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Cross-domain non-inferiority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Learned gate discrimination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Deterministic free text</a:t>
            </a:r>
          </a:p>
          <a:p xmlns:a="http://schemas.openxmlformats.org/drawingml/2006/main">
            <a:pPr algn="l"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Universal macro superiority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D68F17-37B2-49DA-8477-E5378BCD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Next: powered time-forward multi-domain trials, continuation admission, cache-aware economics, and drift monitoring.</a:t>
            </a:r>
          </a:p>
        </p:txBody>
      </p:sp>
    </p:spTree>
    <p:extLst>
      <p:ext uri="{BB962C8B-B14F-4D97-AF65-F5344CB8AC3E}">
        <p14:creationId xmlns:p14="http://schemas.microsoft.com/office/powerpoint/2010/main" val="88588765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A60156-8F46-48CE-AC51-3165F039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09D27-B235-4A59-B0A3-AB0A4287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TAKEAWAY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8DC28-84FF-4810-9389-89F1FFC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72390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Compile the grounded prefix.</a:t>
            </a:r>
          </a:p>
          <a:p xmlns:a="http://schemas.openxmlformats.org/drawingml/2006/main">
            <a:pPr algn="l">
              <a:defRPr sz="32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Keep the unresolved decision.</a:t>
            </a:r>
          </a:p>
          <a:p xmlns:a="http://schemas.openxmlformats.org/drawingml/2006/main">
            <a:pPr algn="l">
              <a:defRPr sz="32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Treat abstention as success.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3BC01-45A7-46B4-A606-F9B98A91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2343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209D6-1FF0-426C-AF79-FEDE28AB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DAFB7-AEFE-4180-B7B3-0632F2B3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TRACES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4B721-E6C5-4221-B38A-A7E2CD5F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establish recurrence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D008-FE29-48E5-8EFE-A91AB9C9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14750"/>
            <a:ext cx="2343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862286-71EB-44EC-8F6E-30C36FB4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671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2694B-9B49-45EE-B897-4BF51B92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767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PROVENANCE + EFFECTS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A8C528-6452-4BAE-80D7-1E704E0F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5148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establish structural admissibility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3BE2E0-8725-41D0-B2BB-4207F93D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343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2E964-2C19-4D46-81FC-6534757B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671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1528EB-F8DC-4250-AF02-2E65F00C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767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CONTRACTS + 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0BFC2-83D4-4C26-B4BD-5868553E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148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bound observed dispatch 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E37F10-A6C4-49D2-96B5-80F608C1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14750"/>
            <a:ext cx="2343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536C24-053D-41D6-A0B5-37346DF5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671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15E1B6-93B9-4C0A-84E0-7FE69008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767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FALLBACK + INCIDENT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F70D46-3E56-4913-A808-3C16636B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148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preserve runtime semantics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CDF7AC-69C7-435F-A7E7-5C9EACED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505450"/>
            <a:ext cx="37338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0">
            <a:solidFill>
              <a:srgbClr val="2B18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899AA3-0D7F-4646-97CB-98D30EBE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572125"/>
            <a:ext cx="3733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RECURRENCE ≠ ADMISSIBILITY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E66DC4-1D06-44F7-9BD1-560D328D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github.com/rrahimi-uci/agent-compaction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4BBCDD-802D-4ED7-A66B-DF0364F2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531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Questions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1A419F-5BE1-4FB8-AE17-A6DC79BE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Compiling Recurrent Agent Workflows into Guarded Programs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83B512-96F3-4725-BD18-AE048B9F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799946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2026-08-04T20:05:25.8440000Z</dcterms:created>
  <dcterms:modified xsi:type="dcterms:W3CDTF">2026-08-04T20:05:25.8440000Z</dcterms:modified>
</coreProperties>
</file>