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3.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bde1bbde94449d0" /><Relationship Type="http://schemas.openxmlformats.org/officeDocument/2006/relationships/extended-properties" Target="/docProps/app.xml" Id="R22aed6755a834c63" /><Relationship Type="http://schemas.openxmlformats.org/officeDocument/2006/relationships/officeDocument" Target="/ppt/presentation.xml" Id="Ra15bb4c476c746f5" /></Relationships>
</file>

<file path=ppt/presentation.xml><?xml version="1.0" encoding="utf-8"?>
<p:presentation xmlns:p="http://schemas.openxmlformats.org/presentationml/2006/main">
  <p:sldMasterIdLst>
    <p:sldMasterId xmlns:r="http://schemas.openxmlformats.org/officeDocument/2006/relationships" id="2147483648" r:id="Ra6f33a157f4f42e1"/>
  </p:sldMasterIdLst>
  <p:notesMasterIdLst>
    <p:notesMasterId xmlns:r="http://schemas.openxmlformats.org/officeDocument/2006/relationships" r:id="R31898192c61341b3"/>
  </p:notesMasterIdLst>
  <p:sldIdLst>
    <p:sldId xmlns:r="http://schemas.openxmlformats.org/officeDocument/2006/relationships" id="256" r:id="R7c9f64c740904aea"/>
    <p:sldId xmlns:r="http://schemas.openxmlformats.org/officeDocument/2006/relationships" id="257" r:id="Rd592e6dab0ef4f4d"/>
    <p:sldId xmlns:r="http://schemas.openxmlformats.org/officeDocument/2006/relationships" id="258" r:id="R2b779bc60e324d68"/>
    <p:sldId xmlns:r="http://schemas.openxmlformats.org/officeDocument/2006/relationships" id="259" r:id="R76249f07d93a44ea"/>
    <p:sldId xmlns:r="http://schemas.openxmlformats.org/officeDocument/2006/relationships" id="260" r:id="R60cc051afdd94906"/>
    <p:sldId xmlns:r="http://schemas.openxmlformats.org/officeDocument/2006/relationships" id="261" r:id="R5691bb3f078c4123"/>
    <p:sldId xmlns:r="http://schemas.openxmlformats.org/officeDocument/2006/relationships" id="262" r:id="R3f8878d2863d41f1"/>
    <p:sldId xmlns:r="http://schemas.openxmlformats.org/officeDocument/2006/relationships" id="263" r:id="Refcc3aee39b64a63"/>
    <p:sldId xmlns:r="http://schemas.openxmlformats.org/officeDocument/2006/relationships" id="264" r:id="Re0dd0ae08ad247f6"/>
    <p:sldId xmlns:r="http://schemas.openxmlformats.org/officeDocument/2006/relationships" id="265" r:id="Re0e85e453b4340da"/>
    <p:sldId xmlns:r="http://schemas.openxmlformats.org/officeDocument/2006/relationships" id="266" r:id="Rb8f414fe2bc84f3c"/>
    <p:sldId xmlns:r="http://schemas.openxmlformats.org/officeDocument/2006/relationships" id="267" r:id="R94ff287843864392"/>
    <p:sldId xmlns:r="http://schemas.openxmlformats.org/officeDocument/2006/relationships" id="268" r:id="R448d27e2cc104f74"/>
    <p:sldId xmlns:r="http://schemas.openxmlformats.org/officeDocument/2006/relationships" id="269" r:id="R4bb0d7a24893452e"/>
    <p:sldId xmlns:r="http://schemas.openxmlformats.org/officeDocument/2006/relationships" id="270" r:id="R60355df6e657423d"/>
    <p:sldId xmlns:r="http://schemas.openxmlformats.org/officeDocument/2006/relationships" id="271" r:id="R4102f26a33d84bb4"/>
    <p:sldId xmlns:r="http://schemas.openxmlformats.org/officeDocument/2006/relationships" id="272" r:id="Rb0414a4b77c442ec"/>
    <p:sldId xmlns:r="http://schemas.openxmlformats.org/officeDocument/2006/relationships" id="273" r:id="R9a1dd547072f4e97"/>
    <p:sldId xmlns:r="http://schemas.openxmlformats.org/officeDocument/2006/relationships" id="274" r:id="Rcc0c8a491cc044af"/>
    <p:sldId xmlns:r="http://schemas.openxmlformats.org/officeDocument/2006/relationships" id="275" r:id="Rf40dd3e8b3e54971"/>
    <p:sldId xmlns:r="http://schemas.openxmlformats.org/officeDocument/2006/relationships" id="276" r:id="R6dafad61a6304997"/>
    <p:sldId xmlns:r="http://schemas.openxmlformats.org/officeDocument/2006/relationships" id="277" r:id="R8c09bad9bc9b4543"/>
    <p:sldId xmlns:r="http://schemas.openxmlformats.org/officeDocument/2006/relationships" id="278" r:id="R466be1c2a16b43b2"/>
    <p:sldId xmlns:r="http://schemas.openxmlformats.org/officeDocument/2006/relationships" id="279" r:id="R73a5f1c911b44be9"/>
    <p:sldId xmlns:r="http://schemas.openxmlformats.org/officeDocument/2006/relationships" id="280" r:id="Rebff5e4969a24e75"/>
    <p:sldId xmlns:r="http://schemas.openxmlformats.org/officeDocument/2006/relationships" id="281" r:id="R09c4dd3bc584415a"/>
    <p:sldId xmlns:r="http://schemas.openxmlformats.org/officeDocument/2006/relationships" id="282" r:id="R0c143c5346554d6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6f33a157f4f42e1" /><Relationship Type="http://schemas.openxmlformats.org/officeDocument/2006/relationships/theme" Target="/ppt/theme/theme1.xml" Id="R0cc041b8129d4d1d" /><Relationship Type="http://schemas.openxmlformats.org/officeDocument/2006/relationships/notesMaster" Target="/ppt/notesMasters/notesMaster1.xml" Id="R31898192c61341b3" /><Relationship Type="http://schemas.openxmlformats.org/officeDocument/2006/relationships/presProps" Target="/ppt/presProps.xml" Id="R06b95976d9ce4bda" /><Relationship Type="http://schemas.openxmlformats.org/officeDocument/2006/relationships/viewProps" Target="/ppt/viewProps.xml" Id="Rdd2c6d578c9244ec" /><Relationship Type="http://schemas.openxmlformats.org/officeDocument/2006/relationships/tableStyles" Target="/ppt/tableStyles.xml" Id="Rb6465b1a775f45d1" /><Relationship Type="http://schemas.openxmlformats.org/officeDocument/2006/relationships/slide" Target="/ppt/slides/slide1.xml" Id="R7c9f64c740904aea" /><Relationship Type="http://schemas.openxmlformats.org/officeDocument/2006/relationships/slide" Target="/ppt/slides/slide2.xml" Id="Rd592e6dab0ef4f4d" /><Relationship Type="http://schemas.openxmlformats.org/officeDocument/2006/relationships/slide" Target="/ppt/slides/slide3.xml" Id="R2b779bc60e324d68" /><Relationship Type="http://schemas.openxmlformats.org/officeDocument/2006/relationships/slide" Target="/ppt/slides/slide4.xml" Id="R76249f07d93a44ea" /><Relationship Type="http://schemas.openxmlformats.org/officeDocument/2006/relationships/slide" Target="/ppt/slides/slide5.xml" Id="R60cc051afdd94906" /><Relationship Type="http://schemas.openxmlformats.org/officeDocument/2006/relationships/slide" Target="/ppt/slides/slide6.xml" Id="R5691bb3f078c4123" /><Relationship Type="http://schemas.openxmlformats.org/officeDocument/2006/relationships/slide" Target="/ppt/slides/slide7.xml" Id="R3f8878d2863d41f1" /><Relationship Type="http://schemas.openxmlformats.org/officeDocument/2006/relationships/slide" Target="/ppt/slides/slide8.xml" Id="Refcc3aee39b64a63" /><Relationship Type="http://schemas.openxmlformats.org/officeDocument/2006/relationships/slide" Target="/ppt/slides/slide9.xml" Id="Re0dd0ae08ad247f6" /><Relationship Type="http://schemas.openxmlformats.org/officeDocument/2006/relationships/slide" Target="/ppt/slides/slide10.xml" Id="Re0e85e453b4340da" /><Relationship Type="http://schemas.openxmlformats.org/officeDocument/2006/relationships/slide" Target="/ppt/slides/slide11.xml" Id="Rb8f414fe2bc84f3c" /><Relationship Type="http://schemas.openxmlformats.org/officeDocument/2006/relationships/slide" Target="/ppt/slides/slide12.xml" Id="R94ff287843864392" /><Relationship Type="http://schemas.openxmlformats.org/officeDocument/2006/relationships/slide" Target="/ppt/slides/slide13.xml" Id="R448d27e2cc104f74" /><Relationship Type="http://schemas.openxmlformats.org/officeDocument/2006/relationships/slide" Target="/ppt/slides/slide14.xml" Id="R4bb0d7a24893452e" /><Relationship Type="http://schemas.openxmlformats.org/officeDocument/2006/relationships/slide" Target="/ppt/slides/slide15.xml" Id="R60355df6e657423d" /><Relationship Type="http://schemas.openxmlformats.org/officeDocument/2006/relationships/slide" Target="/ppt/slides/slide16.xml" Id="R4102f26a33d84bb4" /><Relationship Type="http://schemas.openxmlformats.org/officeDocument/2006/relationships/slide" Target="/ppt/slides/slide17.xml" Id="Rb0414a4b77c442ec" /><Relationship Type="http://schemas.openxmlformats.org/officeDocument/2006/relationships/slide" Target="/ppt/slides/slide18.xml" Id="R9a1dd547072f4e97" /><Relationship Type="http://schemas.openxmlformats.org/officeDocument/2006/relationships/slide" Target="/ppt/slides/slide19.xml" Id="Rcc0c8a491cc044af" /><Relationship Type="http://schemas.openxmlformats.org/officeDocument/2006/relationships/slide" Target="/ppt/slides/slide20.xml" Id="Rf40dd3e8b3e54971" /><Relationship Type="http://schemas.openxmlformats.org/officeDocument/2006/relationships/slide" Target="/ppt/slides/slide21.xml" Id="R6dafad61a6304997" /><Relationship Type="http://schemas.openxmlformats.org/officeDocument/2006/relationships/slide" Target="/ppt/slides/slide22.xml" Id="R8c09bad9bc9b4543" /><Relationship Type="http://schemas.openxmlformats.org/officeDocument/2006/relationships/slide" Target="/ppt/slides/slide23.xml" Id="R466be1c2a16b43b2" /><Relationship Type="http://schemas.openxmlformats.org/officeDocument/2006/relationships/slide" Target="/ppt/slides/slide24.xml" Id="R73a5f1c911b44be9" /><Relationship Type="http://schemas.openxmlformats.org/officeDocument/2006/relationships/slide" Target="/ppt/slides/slide25.xml" Id="Rebff5e4969a24e75" /><Relationship Type="http://schemas.openxmlformats.org/officeDocument/2006/relationships/slide" Target="/ppt/slides/slide26.xml" Id="R09c4dd3bc584415a" /><Relationship Type="http://schemas.openxmlformats.org/officeDocument/2006/relationships/slide" Target="/ppt/slides/slide27.xml" Id="R0c143c5346554d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3d3b2d10466249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bad8ebd33c4c44" /><Relationship Type="http://schemas.openxmlformats.org/officeDocument/2006/relationships/notesMaster" Target="/ppt/notesMasters/notesMaster1.xml" Id="R25ad87a49bf449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599e1cf9ab4be0" /><Relationship Type="http://schemas.openxmlformats.org/officeDocument/2006/relationships/notesMaster" Target="/ppt/notesMasters/notesMaster1.xml" Id="R95e37d6cb17549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ce3d1edca041f2" /><Relationship Type="http://schemas.openxmlformats.org/officeDocument/2006/relationships/notesMaster" Target="/ppt/notesMasters/notesMaster1.xml" Id="Re1617352311b44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0cf1b2d0904c45" /><Relationship Type="http://schemas.openxmlformats.org/officeDocument/2006/relationships/notesMaster" Target="/ppt/notesMasters/notesMaster1.xml" Id="R330cd8c015f14b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2e7b2e448c42fa" /><Relationship Type="http://schemas.openxmlformats.org/officeDocument/2006/relationships/notesMaster" Target="/ppt/notesMasters/notesMaster1.xml" Id="Rd71cf66c2f5347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d26317906748e1" /><Relationship Type="http://schemas.openxmlformats.org/officeDocument/2006/relationships/notesMaster" Target="/ppt/notesMasters/notesMaster1.xml" Id="R6b0a42bb1df84e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61aa59806db41c5" /><Relationship Type="http://schemas.openxmlformats.org/officeDocument/2006/relationships/notesMaster" Target="/ppt/notesMasters/notesMaster1.xml" Id="R4f81d6cff79044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a050fba2c341a0" /><Relationship Type="http://schemas.openxmlformats.org/officeDocument/2006/relationships/notesMaster" Target="/ppt/notesMasters/notesMaster1.xml" Id="R19b3309c2b414b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a2eb9620c54090" /><Relationship Type="http://schemas.openxmlformats.org/officeDocument/2006/relationships/notesMaster" Target="/ppt/notesMasters/notesMaster1.xml" Id="R94270c72af9c4b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4982fe22aa4c64" /><Relationship Type="http://schemas.openxmlformats.org/officeDocument/2006/relationships/notesMaster" Target="/ppt/notesMasters/notesMaster1.xml" Id="R938159ea4fa246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7a68871fc5947a4" /><Relationship Type="http://schemas.openxmlformats.org/officeDocument/2006/relationships/notesMaster" Target="/ppt/notesMasters/notesMaster1.xml" Id="Rcc8c587162b040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e044c773d54a5e" /><Relationship Type="http://schemas.openxmlformats.org/officeDocument/2006/relationships/notesMaster" Target="/ppt/notesMasters/notesMaster1.xml" Id="Ra6bcd689a6304b1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15c05063ff493e" /><Relationship Type="http://schemas.openxmlformats.org/officeDocument/2006/relationships/notesMaster" Target="/ppt/notesMasters/notesMaster1.xml" Id="R2bb1b78d50e24b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7034993833b457d" /><Relationship Type="http://schemas.openxmlformats.org/officeDocument/2006/relationships/notesMaster" Target="/ppt/notesMasters/notesMaster1.xml" Id="Rb262e9fe8a3e47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473122ab68b4208" /><Relationship Type="http://schemas.openxmlformats.org/officeDocument/2006/relationships/notesMaster" Target="/ppt/notesMasters/notesMaster1.xml" Id="R7091ba333fbe4a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98ac9e1f9da46f3" /><Relationship Type="http://schemas.openxmlformats.org/officeDocument/2006/relationships/notesMaster" Target="/ppt/notesMasters/notesMaster1.xml" Id="R35b19f5494784f6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3626aeaf6fb4adf" /><Relationship Type="http://schemas.openxmlformats.org/officeDocument/2006/relationships/notesMaster" Target="/ppt/notesMasters/notesMaster1.xml" Id="R0ec07aeb440c45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291db4372d4a03" /><Relationship Type="http://schemas.openxmlformats.org/officeDocument/2006/relationships/notesMaster" Target="/ppt/notesMasters/notesMaster1.xml" Id="R605e08e5c53b4ed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ee27b069b8040c8" /><Relationship Type="http://schemas.openxmlformats.org/officeDocument/2006/relationships/notesMaster" Target="/ppt/notesMasters/notesMaster1.xml" Id="R55b01fc2cc38487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640b8a3556c46e1" /><Relationship Type="http://schemas.openxmlformats.org/officeDocument/2006/relationships/notesMaster" Target="/ppt/notesMasters/notesMaster1.xml" Id="R5834d27493b94d6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b69a6150e0948a7" /><Relationship Type="http://schemas.openxmlformats.org/officeDocument/2006/relationships/notesMaster" Target="/ppt/notesMasters/notesMaster1.xml" Id="Re3a681cb294747a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aa1aa1571274282" /><Relationship Type="http://schemas.openxmlformats.org/officeDocument/2006/relationships/notesMaster" Target="/ppt/notesMasters/notesMaster1.xml" Id="R84aca894787549f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67c28435f3549b0" /><Relationship Type="http://schemas.openxmlformats.org/officeDocument/2006/relationships/notesMaster" Target="/ppt/notesMasters/notesMaster1.xml" Id="Rfcbb2bcaed90457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b44ea03e0f04313" /><Relationship Type="http://schemas.openxmlformats.org/officeDocument/2006/relationships/notesMaster" Target="/ppt/notesMasters/notesMaster1.xml" Id="R0a0c0fcffa2046d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642a5ffa3504325" /><Relationship Type="http://schemas.openxmlformats.org/officeDocument/2006/relationships/notesMaster" Target="/ppt/notesMasters/notesMaster1.xml" Id="Rab73c63eafcf4a3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29bc8897c92439e" /><Relationship Type="http://schemas.openxmlformats.org/officeDocument/2006/relationships/notesMaster" Target="/ppt/notesMasters/notesMaster1.xml" Id="Rc0801b218011429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729af95f5b1457f" /><Relationship Type="http://schemas.openxmlformats.org/officeDocument/2006/relationships/notesMaster" Target="/ppt/notesMasters/notesMaster1.xml" Id="Rbc32afcdfad244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questions. Most workflow-optimization papers report what their system compresses; this one also asks what it must decline and what remains broken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2 of the paper. The important move is that admissibility is defined structurally, before any statistics 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3. Every stage can only reject; none can rescue a candidate that an earlier stage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of the two places a reviewer will push hardest. The strongest live result was never adversarially challenged; it passed replay, not perturbation.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sharp version out loud: zero violations in 92 groups should be read as self-consistency, not as correctness. Algorithm 3's alpha bounds contract violation, never bounding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Sections 4 and 5. The hypotheses were fixed internally before the sealed test was scored, but the study was not externally preregistered — state that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c9242082774427"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80d55c43d7c6489e" /><Relationship Type="http://schemas.openxmlformats.org/officeDocument/2006/relationships/slideLayout" Target="/ppt/slideLayouts/slideLayout2.xml" Id="Re3c9748574414ee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c9748574414eeb"/>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391e8863735a4ec5" /><Relationship Type="http://schemas.openxmlformats.org/officeDocument/2006/relationships/notesSlide" Target="/ppt/notesSlides/notesSlide1.xml" Id="R7fc4fa2546b44c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61eed06a4174083" /><Relationship Type="http://schemas.openxmlformats.org/officeDocument/2006/relationships/notesSlide" Target="/ppt/notesSlides/notesSlide2.xml" Id="Rf11fea3f9ba649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52e7f6a03ad4136" /><Relationship Type="http://schemas.openxmlformats.org/officeDocument/2006/relationships/notesSlide" Target="/ppt/notesSlides/notesSlide3.xml" Id="R91ec5e4ec66743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9ad64aac0414bda" /><Relationship Type="http://schemas.openxmlformats.org/officeDocument/2006/relationships/notesSlide" Target="/ppt/notesSlides/notesSlide4.xml" Id="Ree20abacf12c4f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7683de9d63b49e7" /><Relationship Type="http://schemas.openxmlformats.org/officeDocument/2006/relationships/notesSlide" Target="/ppt/notesSlides/notesSlide5.xml" Id="Reb03dedea5a848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d29d5a18fce40d9" /><Relationship Type="http://schemas.openxmlformats.org/officeDocument/2006/relationships/image" Target="/ppt/media/image.png" Id="R552b6dc72caa4247" /><Relationship Type="http://schemas.openxmlformats.org/officeDocument/2006/relationships/image" Target="/ppt/media/image2.png" Id="R4832e41156724911" /><Relationship Type="http://schemas.openxmlformats.org/officeDocument/2006/relationships/image" Target="/ppt/media/image3.png" Id="R9f68ea71c40442d0" /><Relationship Type="http://schemas.openxmlformats.org/officeDocument/2006/relationships/notesSlide" Target="/ppt/notesSlides/notesSlide6.xml" Id="Ra1bd65dd063c40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24c2d64114dd46e7" /><Relationship Type="http://schemas.openxmlformats.org/officeDocument/2006/relationships/image" Target="/ppt/media/image4.png" Id="R0bacce38a624463e" /><Relationship Type="http://schemas.openxmlformats.org/officeDocument/2006/relationships/image" Target="/ppt/media/image5.png" Id="R3b52f5b2f5c94c04" /><Relationship Type="http://schemas.openxmlformats.org/officeDocument/2006/relationships/image" Target="/ppt/media/image6.png" Id="Rcd2d6dec024f4431" /><Relationship Type="http://schemas.openxmlformats.org/officeDocument/2006/relationships/image" Target="/ppt/media/image7.png" Id="Rb34d1ae9670b4ab0" /><Relationship Type="http://schemas.openxmlformats.org/officeDocument/2006/relationships/image" Target="/ppt/media/image8.png" Id="R26a29eafff354f15" /><Relationship Type="http://schemas.openxmlformats.org/officeDocument/2006/relationships/image" Target="/ppt/media/image9.png" Id="R646661bb9ef5488f" /><Relationship Type="http://schemas.openxmlformats.org/officeDocument/2006/relationships/image" Target="/ppt/media/image10.png" Id="R9b73d701d7e44040" /><Relationship Type="http://schemas.openxmlformats.org/officeDocument/2006/relationships/image" Target="/ppt/media/image11.png" Id="Rf72f8d857c3c4903" /><Relationship Type="http://schemas.openxmlformats.org/officeDocument/2006/relationships/notesSlide" Target="/ppt/notesSlides/notesSlide7.xml" Id="R933b9e17db344c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c1d9766766734df4" /><Relationship Type="http://schemas.openxmlformats.org/officeDocument/2006/relationships/notesSlide" Target="/ppt/notesSlides/notesSlide8.xml" Id="R0e35690076444e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fa3ad160ab34144" /><Relationship Type="http://schemas.openxmlformats.org/officeDocument/2006/relationships/notesSlide" Target="/ppt/notesSlides/notesSlide9.xml" Id="R64befede7acb4d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719a0dc67e44876" /><Relationship Type="http://schemas.openxmlformats.org/officeDocument/2006/relationships/notesSlide" Target="/ppt/notesSlides/notesSlide10.xml" Id="R0ed1f776ec1c4f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14bddf15de3d4667" /><Relationship Type="http://schemas.openxmlformats.org/officeDocument/2006/relationships/image" Target="/ppt/media/image12.png" Id="Rc709e4e0ae83451a" /><Relationship Type="http://schemas.openxmlformats.org/officeDocument/2006/relationships/image" Target="/ppt/media/image13.png" Id="R7f96038fa9b54867" /><Relationship Type="http://schemas.openxmlformats.org/officeDocument/2006/relationships/notesSlide" Target="/ppt/notesSlides/notesSlide11.xml" Id="Rd2d9f1a4f7dd4c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793166fc11254a29" /><Relationship Type="http://schemas.openxmlformats.org/officeDocument/2006/relationships/notesSlide" Target="/ppt/notesSlides/notesSlide12.xml" Id="Re0ab724a56f44b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d07adec9052846f9" /><Relationship Type="http://schemas.openxmlformats.org/officeDocument/2006/relationships/image" Target="/ppt/media/image14.png" Id="Rbfb1e94d7750465b" /><Relationship Type="http://schemas.openxmlformats.org/officeDocument/2006/relationships/image" Target="/ppt/media/image15.png" Id="Rc178615803424db7" /><Relationship Type="http://schemas.openxmlformats.org/officeDocument/2006/relationships/image" Target="/ppt/media/image16.png" Id="R3f72aa398c184ba5" /><Relationship Type="http://schemas.openxmlformats.org/officeDocument/2006/relationships/image" Target="/ppt/media/image17.png" Id="Rcb4c72656323471b" /><Relationship Type="http://schemas.openxmlformats.org/officeDocument/2006/relationships/notesSlide" Target="/ppt/notesSlides/notesSlide13.xml" Id="R19590aac699c498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b1c1a65717394f99" /><Relationship Type="http://schemas.openxmlformats.org/officeDocument/2006/relationships/notesSlide" Target="/ppt/notesSlides/notesSlide14.xml" Id="R6ba1da51ec52491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f990b772f0e848f1" /><Relationship Type="http://schemas.openxmlformats.org/officeDocument/2006/relationships/notesSlide" Target="/ppt/notesSlides/notesSlide15.xml" Id="R1993e38e049a42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12683dc667b447eb" /><Relationship Type="http://schemas.openxmlformats.org/officeDocument/2006/relationships/notesSlide" Target="/ppt/notesSlides/notesSlide16.xml" Id="R469fd0510dc1436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543312dbefd4485c" /><Relationship Type="http://schemas.openxmlformats.org/officeDocument/2006/relationships/chart" Target="/ppt/slides/charts/chart1.xml" Id="R5236a7dd85af42e1" /><Relationship Type="http://schemas.openxmlformats.org/officeDocument/2006/relationships/notesSlide" Target="/ppt/notesSlides/notesSlide17.xml" Id="R2b4ae0fb228c46e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bc86d8ce5b2747d0" /><Relationship Type="http://schemas.openxmlformats.org/officeDocument/2006/relationships/chart" Target="/ppt/slides/charts/chart2.xml" Id="R7df5fac1fec848d9" /><Relationship Type="http://schemas.openxmlformats.org/officeDocument/2006/relationships/notesSlide" Target="/ppt/notesSlides/notesSlide18.xml" Id="Rfd7e764a71724c0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6f18913237e74f25" /><Relationship Type="http://schemas.openxmlformats.org/officeDocument/2006/relationships/chart" Target="/ppt/slides/charts/chart3.xml" Id="R7a76a4dcbe73440f" /><Relationship Type="http://schemas.openxmlformats.org/officeDocument/2006/relationships/notesSlide" Target="/ppt/notesSlides/notesSlide19.xml" Id="Rd273941876ae4e6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50ba9953059441eb" /><Relationship Type="http://schemas.openxmlformats.org/officeDocument/2006/relationships/notesSlide" Target="/ppt/notesSlides/notesSlide20.xml" Id="R1b8e5c85e6d54c5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c1d5d934d2644e7d" /><Relationship Type="http://schemas.openxmlformats.org/officeDocument/2006/relationships/chart" Target="/ppt/slides/charts/chart4.xml" Id="R43e41adab0e54d91" /><Relationship Type="http://schemas.openxmlformats.org/officeDocument/2006/relationships/notesSlide" Target="/ppt/notesSlides/notesSlide21.xml" Id="R57291a3c8c2f455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6b77b51f3cbf42d7" /><Relationship Type="http://schemas.openxmlformats.org/officeDocument/2006/relationships/notesSlide" Target="/ppt/notesSlides/notesSlide22.xml" Id="R207a15e77bbf404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75d05b4dc57349eb" /><Relationship Type="http://schemas.openxmlformats.org/officeDocument/2006/relationships/notesSlide" Target="/ppt/notesSlides/notesSlide23.xml" Id="R21da8e6910f5463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cd5b579403ad436d" /><Relationship Type="http://schemas.openxmlformats.org/officeDocument/2006/relationships/image" Target="/ppt/media/image18.png" Id="R30c9b5271c594c10" /><Relationship Type="http://schemas.openxmlformats.org/officeDocument/2006/relationships/image" Target="/ppt/media/image19.png" Id="R67b2a6b7cd4445a0" /><Relationship Type="http://schemas.openxmlformats.org/officeDocument/2006/relationships/chart" Target="/ppt/slides/charts/chart5.xml" Id="Rfe1b320a21f34d32" /><Relationship Type="http://schemas.openxmlformats.org/officeDocument/2006/relationships/notesSlide" Target="/ppt/notesSlides/notesSlide24.xml" Id="R46dcfd585578461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ad2d031496f3416a" /><Relationship Type="http://schemas.openxmlformats.org/officeDocument/2006/relationships/notesSlide" Target="/ppt/notesSlides/notesSlide25.xml" Id="Rb208502199884b4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353918c8c01e4ceb" /><Relationship Type="http://schemas.openxmlformats.org/officeDocument/2006/relationships/notesSlide" Target="/ppt/notesSlides/notesSlide26.xml" Id="R5d74335b2b8b4c8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ce35a44173b646e0" /><Relationship Type="http://schemas.openxmlformats.org/officeDocument/2006/relationships/notesSlide" Target="/ppt/notesSlides/notesSlide27.xml" Id="Rf646d4bafcc34942"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Per-episode resource use,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A2FFEA7-6501-4989-8759-2723716D736C}"/>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EA379408-97A9-4A71-8BB8-00D71FDFD39E}"/>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32E3CD93-23A5-4FE8-99FC-981BAFE4BA73}"/>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F9739D09-BB16-44CC-B240-4E76EC1C468B}"/>
              </a:ext>
            </a:extLst>
          </p:cNvPr>
          <p:cNvSpPr>
            <a:spLocks xmlns:a="http://schemas.openxmlformats.org/drawingml/2006/main" noGrp="1"/>
          </p:cNvSpPr>
          <p:nvPr/>
        </p:nvSpPr>
        <p:spPr>
          <a:xfrm xmlns:a="http://schemas.openxmlformats.org/drawingml/2006/main">
            <a:off x="640080" y="1371600"/>
            <a:ext cx="7680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LLM AGENTS  ·  PROGRAM SYNTHESIS  ·  SELECTIVE RISK CONTROL</a:t>
            </a:r>
          </a:p>
        </p:txBody>
      </p:sp>
      <p:sp>
        <p:nvSpPr>
          <p:cNvPr id="6" name="Text 4">
            <a:extLst xmlns:a="http://schemas.openxmlformats.org/drawingml/2006/main">
              <a:ext uri="{FF2B5EF4-FFF2-40B4-BE49-F238E27FC236}">
                <a16:creationId xmlns:a16="http://schemas.microsoft.com/office/drawing/2014/main" id="{B79844C4-7AFA-49C9-B3F8-6440BDE4E88D}"/>
              </a:ext>
            </a:extLst>
          </p:cNvPr>
          <p:cNvSpPr>
            <a:spLocks xmlns:a="http://schemas.openxmlformats.org/drawingml/2006/main" noGrp="1"/>
          </p:cNvSpPr>
          <p:nvPr/>
        </p:nvSpPr>
        <p:spPr>
          <a:xfrm xmlns:a="http://schemas.openxmlformats.org/drawingml/2006/main">
            <a:off x="640080" y="1810512"/>
            <a:ext cx="80467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nSpc>
                <a:spcPct val="100000"/>
              </a:lnSpc>
              <a:buNone/>
            </a:pPr>
            <a:r>
              <a:rPr sz="32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89026B7-9996-4B37-80DB-41EDE0704C58}"/>
              </a:ext>
            </a:extLst>
          </p:cNvPr>
          <p:cNvSpPr>
            <a:spLocks xmlns:a="http://schemas.openxmlformats.org/drawingml/2006/main" noGrp="1"/>
          </p:cNvSpPr>
          <p:nvPr/>
        </p:nvSpPr>
        <p:spPr>
          <a:xfrm xmlns:a="http://schemas.openxmlformats.org/drawingml/2006/main">
            <a:off x="640080" y="3584448"/>
            <a:ext cx="75895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5000"/>
              </a:lnSpc>
              <a:buNone/>
            </a:pPr>
            <a:r>
              <a:rPr sz="1450" b="1">
                <a:solidFill>
                  <a:srgbClr val="FFFFFF"/>
                </a:solidFill>
                <a:latin typeface="Calibri"/>
                <a:ea typeface="Calibri"/>
                <a:cs typeface="Calibri"/>
              </a:rPr>
              <a:t>Guarded agentic compaction. Traces establish recurrence, not admissibility. We specify the evidence a compiler needs, the barriers it must respect, and the limits its evidence retains.</a:t>
            </a:r>
          </a:p>
        </p:txBody>
      </p:sp>
      <p:sp>
        <p:nvSpPr>
          <p:cNvPr id="8" name="Shape 6">
            <a:extLst xmlns:a="http://schemas.openxmlformats.org/drawingml/2006/main">
              <a:ext uri="{FF2B5EF4-FFF2-40B4-BE49-F238E27FC236}">
                <a16:creationId xmlns:a16="http://schemas.microsoft.com/office/drawing/2014/main" id="{9218F37F-D6F0-446A-A755-95AF7D2DF3A3}"/>
              </a:ext>
            </a:extLst>
          </p:cNvPr>
          <p:cNvSpPr>
            <a:spLocks xmlns:a="http://schemas.openxmlformats.org/drawingml/2006/main" noGrp="1"/>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5D72604B-F345-4FD0-8004-1B2AD5A58F6A}"/>
              </a:ext>
            </a:extLst>
          </p:cNvPr>
          <p:cNvSpPr>
            <a:spLocks xmlns:a="http://schemas.openxmlformats.org/drawingml/2006/main" noGrp="1"/>
          </p:cNvSpPr>
          <p:nvPr/>
        </p:nvSpPr>
        <p:spPr>
          <a:xfrm xmlns:a="http://schemas.openxmlformats.org/drawingml/2006/main">
            <a:off x="64008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Real workflows</a:t>
            </a:r>
          </a:p>
        </p:txBody>
      </p:sp>
      <p:sp>
        <p:nvSpPr>
          <p:cNvPr id="10" name="Text 8">
            <a:extLst xmlns:a="http://schemas.openxmlformats.org/drawingml/2006/main">
              <a:ext uri="{FF2B5EF4-FFF2-40B4-BE49-F238E27FC236}">
                <a16:creationId xmlns:a16="http://schemas.microsoft.com/office/drawing/2014/main" id="{1F1550F7-2A46-44C3-87E9-7BE6AF91808E}"/>
              </a:ext>
            </a:extLst>
          </p:cNvPr>
          <p:cNvSpPr>
            <a:spLocks xmlns:a="http://schemas.openxmlformats.org/drawingml/2006/main" noGrp="1"/>
          </p:cNvSpPr>
          <p:nvPr/>
        </p:nvSpPr>
        <p:spPr>
          <a:xfrm xmlns:a="http://schemas.openxmlformats.org/drawingml/2006/main">
            <a:off x="64008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3 families</a:t>
            </a:r>
          </a:p>
          <a:p xmlns:a="http://schemas.openxmlformats.org/drawingml/2006/main">
            <a:pPr marL="0" indent="0">
              <a:lnSpc>
                <a:spcPct val="105000"/>
              </a:lnSpc>
              <a:buNone/>
            </a:pPr>
            <a:r>
              <a:rPr sz="1050">
                <a:solidFill>
                  <a:srgbClr val="8FA6C0"/>
                </a:solidFill>
                <a:latin typeface="Calibri"/>
                <a:ea typeface="Calibri"/>
                <a:cs typeface="Calibri"/>
              </a:rPr>
              <a:t>90 held-out records</a:t>
            </a:r>
          </a:p>
        </p:txBody>
      </p:sp>
      <p:sp>
        <p:nvSpPr>
          <p:cNvPr id="11" name="Text 9">
            <a:extLst xmlns:a="http://schemas.openxmlformats.org/drawingml/2006/main">
              <a:ext uri="{FF2B5EF4-FFF2-40B4-BE49-F238E27FC236}">
                <a16:creationId xmlns:a16="http://schemas.microsoft.com/office/drawing/2014/main" id="{E3960870-7F20-4E37-98A9-C92ABDFFC357}"/>
              </a:ext>
            </a:extLst>
          </p:cNvPr>
          <p:cNvSpPr>
            <a:spLocks xmlns:a="http://schemas.openxmlformats.org/drawingml/2006/main" noGrp="1"/>
          </p:cNvSpPr>
          <p:nvPr/>
        </p:nvSpPr>
        <p:spPr>
          <a:xfrm xmlns:a="http://schemas.openxmlformats.org/drawingml/2006/main">
            <a:off x="324612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GitHub</a:t>
            </a:r>
          </a:p>
        </p:txBody>
      </p:sp>
      <p:sp>
        <p:nvSpPr>
          <p:cNvPr id="12" name="Text 10">
            <a:extLst xmlns:a="http://schemas.openxmlformats.org/drawingml/2006/main">
              <a:ext uri="{FF2B5EF4-FFF2-40B4-BE49-F238E27FC236}">
                <a16:creationId xmlns:a16="http://schemas.microsoft.com/office/drawing/2014/main" id="{6549AFDE-6027-406C-A1D6-7E350D1F1AAB}"/>
              </a:ext>
            </a:extLst>
          </p:cNvPr>
          <p:cNvSpPr>
            <a:spLocks xmlns:a="http://schemas.openxmlformats.org/drawingml/2006/main" noGrp="1"/>
          </p:cNvSpPr>
          <p:nvPr/>
        </p:nvSpPr>
        <p:spPr>
          <a:xfrm xmlns:a="http://schemas.openxmlformats.org/drawingml/2006/main">
            <a:off x="324612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 provider calls on a</a:t>
            </a:r>
          </a:p>
          <a:p xmlns:a="http://schemas.openxmlformats.org/drawingml/2006/main">
            <a:pPr marL="0" indent="0">
              <a:lnSpc>
                <a:spcPct val="105000"/>
              </a:lnSpc>
              <a:buNone/>
            </a:pPr>
            <a:r>
              <a:rPr sz="1050">
                <a:solidFill>
                  <a:srgbClr val="8FA6C0"/>
                </a:solidFill>
                <a:latin typeface="Calibri"/>
                <a:ea typeface="Calibri"/>
                <a:cs typeface="Calibri"/>
              </a:rPr>
              <a:t>pinned public snapshot</a:t>
            </a:r>
          </a:p>
        </p:txBody>
      </p:sp>
      <p:sp>
        <p:nvSpPr>
          <p:cNvPr id="13" name="Text 11">
            <a:extLst xmlns:a="http://schemas.openxmlformats.org/drawingml/2006/main">
              <a:ext uri="{FF2B5EF4-FFF2-40B4-BE49-F238E27FC236}">
                <a16:creationId xmlns:a16="http://schemas.microsoft.com/office/drawing/2014/main" id="{46D8C737-1F26-4D80-9C0A-E44685688B27}"/>
              </a:ext>
            </a:extLst>
          </p:cNvPr>
          <p:cNvSpPr>
            <a:spLocks xmlns:a="http://schemas.openxmlformats.org/drawingml/2006/main" noGrp="1"/>
          </p:cNvSpPr>
          <p:nvPr/>
        </p:nvSpPr>
        <p:spPr>
          <a:xfrm xmlns:a="http://schemas.openxmlformats.org/drawingml/2006/main">
            <a:off x="585216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Demo suite</a:t>
            </a:r>
          </a:p>
        </p:txBody>
      </p:sp>
      <p:sp>
        <p:nvSpPr>
          <p:cNvPr id="14" name="Text 12">
            <a:extLst xmlns:a="http://schemas.openxmlformats.org/drawingml/2006/main">
              <a:ext uri="{FF2B5EF4-FFF2-40B4-BE49-F238E27FC236}">
                <a16:creationId xmlns:a16="http://schemas.microsoft.com/office/drawing/2014/main" id="{0A9AA230-251F-4889-9D1E-1826D9B8C9E8}"/>
              </a:ext>
            </a:extLst>
          </p:cNvPr>
          <p:cNvSpPr>
            <a:spLocks xmlns:a="http://schemas.openxmlformats.org/drawingml/2006/main" noGrp="1"/>
          </p:cNvSpPr>
          <p:nvPr/>
        </p:nvSpPr>
        <p:spPr>
          <a:xfrm xmlns:a="http://schemas.openxmlformats.org/drawingml/2006/main">
            <a:off x="585216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workflow shapes,</a:t>
            </a:r>
          </a:p>
          <a:p xmlns:a="http://schemas.openxmlformats.org/drawingml/2006/main">
            <a:pPr marL="0" indent="0">
              <a:lnSpc>
                <a:spcPct val="105000"/>
              </a:lnSpc>
              <a:buNone/>
            </a:pPr>
            <a:r>
              <a:rPr sz="1050">
                <a:solidFill>
                  <a:srgbClr val="8FA6C0"/>
                </a:solidFill>
                <a:latin typeface="Calibri"/>
                <a:ea typeface="Calibri"/>
                <a:cs typeface="Calibri"/>
              </a:rPr>
              <a:t>3 negative controls</a:t>
            </a:r>
          </a:p>
        </p:txBody>
      </p:sp>
      <p:sp>
        <p:nvSpPr>
          <p:cNvPr id="15" name="Text 13">
            <a:extLst xmlns:a="http://schemas.openxmlformats.org/drawingml/2006/main">
              <a:ext uri="{FF2B5EF4-FFF2-40B4-BE49-F238E27FC236}">
                <a16:creationId xmlns:a16="http://schemas.microsoft.com/office/drawing/2014/main" id="{085A28D6-9BD2-4982-94A5-5743942A571D}"/>
              </a:ext>
            </a:extLst>
          </p:cNvPr>
          <p:cNvSpPr>
            <a:spLocks xmlns:a="http://schemas.openxmlformats.org/drawingml/2006/main" noGrp="1"/>
          </p:cNvSpPr>
          <p:nvPr/>
        </p:nvSpPr>
        <p:spPr>
          <a:xfrm xmlns:a="http://schemas.openxmlformats.org/drawingml/2006/main">
            <a:off x="640080" y="594360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43597C"/>
                </a:solidFill>
                <a:latin typeface="Calibri"/>
                <a:ea typeface="Calibri"/>
                <a:cs typeface="Calibri"/>
              </a:rPr>
              <a:t>Seminar presentation  ·  prepared by JazzX AI  ·  August 2026</a:t>
            </a:r>
          </a:p>
        </p:txBody>
      </p:sp>
    </p:spTree>
    <p:extLst>
      <p:ext uri="{BB962C8B-B14F-4D97-AF65-F5344CB8AC3E}">
        <p14:creationId xmlns:p14="http://schemas.microsoft.com/office/powerpoint/2010/main" val="95455307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68B8AB2-A027-49BB-84AF-1E94195A5F1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3C9095-330B-45F1-B037-738CFAB59EE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79735734-042F-415F-9BE9-37B551AFFB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MOTIVATION</a:t>
            </a:r>
          </a:p>
        </p:txBody>
      </p:sp>
      <p:sp>
        <p:nvSpPr>
          <p:cNvPr id="5" name="Text 3">
            <a:extLst xmlns:a="http://schemas.openxmlformats.org/drawingml/2006/main">
              <a:ext uri="{FF2B5EF4-FFF2-40B4-BE49-F238E27FC236}">
                <a16:creationId xmlns:a16="http://schemas.microsoft.com/office/drawing/2014/main" id="{37BD9962-8577-4FD6-A810-250F32794FE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observable; admissibility is not</a:t>
            </a:r>
          </a:p>
        </p:txBody>
      </p:sp>
      <p:sp>
        <p:nvSpPr>
          <p:cNvPr id="6" name="Text 4">
            <a:extLst xmlns:a="http://schemas.openxmlformats.org/drawingml/2006/main">
              <a:ext uri="{FF2B5EF4-FFF2-40B4-BE49-F238E27FC236}">
                <a16:creationId xmlns:a16="http://schemas.microsoft.com/office/drawing/2014/main" id="{EE434FEB-90A1-4936-89BF-83269EA8B93B}"/>
              </a:ext>
            </a:extLst>
          </p:cNvPr>
          <p:cNvSpPr>
            <a:spLocks xmlns:a="http://schemas.openxmlformats.org/drawingml/2006/main" noGrp="1"/>
          </p:cNvSpPr>
          <p:nvPr/>
        </p:nvSpPr>
        <p:spPr>
          <a:xfrm xmlns:a="http://schemas.openxmlformats.org/drawingml/2006/main">
            <a:off x="640080" y="128016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 mature tool-using agent spends model calls reselecting the same read-only evidence path. Recurrence alone does not license removing them: </a:t>
            </a:r>
            <a:r>
              <a:rPr sz="1250" b="1">
                <a:solidFill>
                  <a:srgbClr val="24354F"/>
                </a:solidFill>
                <a:latin typeface="Calibri"/>
                <a:ea typeface="Calibri"/>
                <a:cs typeface="Calibri"/>
              </a:rPr>
              <a:t>an argument may not be grounded in observable state, an effect may not permit speculation, and a replacement may not hold on the next input.</a:t>
            </a:r>
          </a:p>
        </p:txBody>
      </p:sp>
      <p:sp>
        <p:nvSpPr>
          <p:cNvPr id="7" name="Text 5">
            <a:extLst xmlns:a="http://schemas.openxmlformats.org/drawingml/2006/main">
              <a:ext uri="{FF2B5EF4-FFF2-40B4-BE49-F238E27FC236}">
                <a16:creationId xmlns:a16="http://schemas.microsoft.com/office/drawing/2014/main" id="{ABDAE33C-2571-428A-9F01-253569A27905}"/>
              </a:ext>
            </a:extLst>
          </p:cNvPr>
          <p:cNvSpPr>
            <a:spLocks xmlns:a="http://schemas.openxmlformats.org/drawingml/2006/main" noGrp="1"/>
          </p:cNvSpPr>
          <p:nvPr/>
        </p:nvSpPr>
        <p:spPr>
          <a:xfrm xmlns:a="http://schemas.openxmlformats.org/drawingml/2006/main">
            <a:off x="640080" y="20116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FOUR STRUCTURAL HAZARDS A CACHE DOES NOT SEE</a:t>
            </a:r>
          </a:p>
        </p:txBody>
      </p:sp>
      <p:sp>
        <p:nvSpPr>
          <p:cNvPr id="8" name="Shape 6">
            <a:extLst xmlns:a="http://schemas.openxmlformats.org/drawingml/2006/main">
              <a:ext uri="{FF2B5EF4-FFF2-40B4-BE49-F238E27FC236}">
                <a16:creationId xmlns:a16="http://schemas.microsoft.com/office/drawing/2014/main" id="{D8699F75-F9A5-46C5-99AE-83CD11EE8C4C}"/>
              </a:ext>
            </a:extLst>
          </p:cNvPr>
          <p:cNvSpPr>
            <a:spLocks xmlns:a="http://schemas.openxmlformats.org/drawingml/2006/main" noGrp="1"/>
          </p:cNvSpPr>
          <p:nvPr/>
        </p:nvSpPr>
        <p:spPr>
          <a:xfrm xmlns:a="http://schemas.openxmlformats.org/drawingml/2006/main">
            <a:off x="640080"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AE24CF2F-B5A4-406E-A552-42A71816B851}"/>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3EEF282D-BD83-4E7D-AE36-E6789A656043}"/>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047E7201-D0E3-493F-BEA5-2AB4C743E9A3}"/>
              </a:ext>
            </a:extLst>
          </p:cNvPr>
          <p:cNvSpPr>
            <a:spLocks xmlns:a="http://schemas.openxmlformats.org/drawingml/2006/main" noGrp="1"/>
          </p:cNvSpPr>
          <p:nvPr/>
        </p:nvSpPr>
        <p:spPr>
          <a:xfrm xmlns:a="http://schemas.openxmlformats.org/drawingml/2006/main">
            <a:off x="1243584"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Ungrounded argument</a:t>
            </a:r>
          </a:p>
        </p:txBody>
      </p:sp>
      <p:sp>
        <p:nvSpPr>
          <p:cNvPr id="12" name="Text 10">
            <a:extLst xmlns:a="http://schemas.openxmlformats.org/drawingml/2006/main">
              <a:ext uri="{FF2B5EF4-FFF2-40B4-BE49-F238E27FC236}">
                <a16:creationId xmlns:a16="http://schemas.microsoft.com/office/drawing/2014/main" id="{46D9ACEE-601B-4180-A996-2B08E155420C}"/>
              </a:ext>
            </a:extLst>
          </p:cNvPr>
          <p:cNvSpPr>
            <a:spLocks xmlns:a="http://schemas.openxmlformats.org/drawingml/2006/main" noGrp="1"/>
          </p:cNvSpPr>
          <p:nvPr/>
        </p:nvSpPr>
        <p:spPr>
          <a:xfrm xmlns:a="http://schemas.openxmlformats.org/drawingml/2006/main">
            <a:off x="877824"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No expression over entry state or prior results reproduces the value. The slot is a genuine model decision, and there is nothing to reconstruct it from.</a:t>
            </a:r>
          </a:p>
        </p:txBody>
      </p:sp>
      <p:sp>
        <p:nvSpPr>
          <p:cNvPr id="13" name="Shape 11">
            <a:extLst xmlns:a="http://schemas.openxmlformats.org/drawingml/2006/main">
              <a:ext uri="{FF2B5EF4-FFF2-40B4-BE49-F238E27FC236}">
                <a16:creationId xmlns:a16="http://schemas.microsoft.com/office/drawing/2014/main" id="{09DEC2E7-B574-42A5-AC36-22114582BBD2}"/>
              </a:ext>
            </a:extLst>
          </p:cNvPr>
          <p:cNvSpPr>
            <a:spLocks xmlns:a="http://schemas.openxmlformats.org/drawingml/2006/main" noGrp="1"/>
          </p:cNvSpPr>
          <p:nvPr/>
        </p:nvSpPr>
        <p:spPr>
          <a:xfrm xmlns:a="http://schemas.openxmlformats.org/drawingml/2006/main">
            <a:off x="3422828"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44E52477-97F5-4ADB-926E-B2E56762C24D}"/>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38AEC745-215A-4B38-AC32-3565E8FEFCDA}"/>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6E418781-42CE-400A-90CB-7B37C8291C45}"/>
              </a:ext>
            </a:extLst>
          </p:cNvPr>
          <p:cNvSpPr>
            <a:spLocks xmlns:a="http://schemas.openxmlformats.org/drawingml/2006/main" noGrp="1"/>
          </p:cNvSpPr>
          <p:nvPr/>
        </p:nvSpPr>
        <p:spPr>
          <a:xfrm xmlns:a="http://schemas.openxmlformats.org/drawingml/2006/main">
            <a:off x="4026332"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Undeclared effect</a:t>
            </a:r>
          </a:p>
        </p:txBody>
      </p:sp>
      <p:sp>
        <p:nvSpPr>
          <p:cNvPr id="17" name="Text 15">
            <a:extLst xmlns:a="http://schemas.openxmlformats.org/drawingml/2006/main">
              <a:ext uri="{FF2B5EF4-FFF2-40B4-BE49-F238E27FC236}">
                <a16:creationId xmlns:a16="http://schemas.microsoft.com/office/drawing/2014/main" id="{2D169046-F752-4119-A3EC-C7BAF3F22155}"/>
              </a:ext>
            </a:extLst>
          </p:cNvPr>
          <p:cNvSpPr>
            <a:spLocks xmlns:a="http://schemas.openxmlformats.org/drawingml/2006/main" noGrp="1"/>
          </p:cNvSpPr>
          <p:nvPr/>
        </p:nvSpPr>
        <p:spPr>
          <a:xfrm xmlns:a="http://schemas.openxmlformats.org/drawingml/2006/main">
            <a:off x="3660572"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 nominal read may carry an external effect. An effect the catalog does not declare cannot be shown safe to speculate on, and an unknown effect is not a read.</a:t>
            </a:r>
          </a:p>
        </p:txBody>
      </p:sp>
      <p:sp>
        <p:nvSpPr>
          <p:cNvPr id="18" name="Shape 16">
            <a:extLst xmlns:a="http://schemas.openxmlformats.org/drawingml/2006/main">
              <a:ext uri="{FF2B5EF4-FFF2-40B4-BE49-F238E27FC236}">
                <a16:creationId xmlns:a16="http://schemas.microsoft.com/office/drawing/2014/main" id="{32D63DFB-8324-410F-BD04-FC3395CFBAAD}"/>
              </a:ext>
            </a:extLst>
          </p:cNvPr>
          <p:cNvSpPr>
            <a:spLocks xmlns:a="http://schemas.openxmlformats.org/drawingml/2006/main" noGrp="1"/>
          </p:cNvSpPr>
          <p:nvPr/>
        </p:nvSpPr>
        <p:spPr>
          <a:xfrm xmlns:a="http://schemas.openxmlformats.org/drawingml/2006/main">
            <a:off x="6205576"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89332C1-9364-4BC4-8063-4518F7D38F48}"/>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535C2DC-DDB8-483E-9E32-450A2A3DD444}"/>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1" name="Text 19">
            <a:extLst xmlns:a="http://schemas.openxmlformats.org/drawingml/2006/main">
              <a:ext uri="{FF2B5EF4-FFF2-40B4-BE49-F238E27FC236}">
                <a16:creationId xmlns:a16="http://schemas.microsoft.com/office/drawing/2014/main" id="{F3762CD0-4ABF-4AB6-AC0F-B57CA6E4D6E9}"/>
              </a:ext>
            </a:extLst>
          </p:cNvPr>
          <p:cNvSpPr>
            <a:spLocks xmlns:a="http://schemas.openxmlformats.org/drawingml/2006/main" noGrp="1"/>
          </p:cNvSpPr>
          <p:nvPr/>
        </p:nvSpPr>
        <p:spPr>
          <a:xfrm xmlns:a="http://schemas.openxmlformats.org/drawingml/2006/main">
            <a:off x="6809080"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Barrier crossed</a:t>
            </a:r>
          </a:p>
        </p:txBody>
      </p:sp>
      <p:sp>
        <p:nvSpPr>
          <p:cNvPr id="22" name="Text 20">
            <a:extLst xmlns:a="http://schemas.openxmlformats.org/drawingml/2006/main">
              <a:ext uri="{FF2B5EF4-FFF2-40B4-BE49-F238E27FC236}">
                <a16:creationId xmlns:a16="http://schemas.microsoft.com/office/drawing/2014/main" id="{45A517A3-4F74-4D3B-A7C6-0BAE972E1511}"/>
              </a:ext>
            </a:extLst>
          </p:cNvPr>
          <p:cNvSpPr>
            <a:spLocks xmlns:a="http://schemas.openxmlformats.org/drawingml/2006/main" noGrp="1"/>
          </p:cNvSpPr>
          <p:nvPr/>
        </p:nvSpPr>
        <p:spPr>
          <a:xfrm xmlns:a="http://schemas.openxmlformats.org/drawingml/2006/main">
            <a:off x="6443320"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The repeated sequence may cross an approval, a write, a handoff, or a commit boundary. These are hard barriers, not costs to trade off against a saving.</a:t>
            </a:r>
          </a:p>
        </p:txBody>
      </p:sp>
      <p:sp>
        <p:nvSpPr>
          <p:cNvPr id="23" name="Shape 21">
            <a:extLst xmlns:a="http://schemas.openxmlformats.org/drawingml/2006/main">
              <a:ext uri="{FF2B5EF4-FFF2-40B4-BE49-F238E27FC236}">
                <a16:creationId xmlns:a16="http://schemas.microsoft.com/office/drawing/2014/main" id="{1C992A25-204C-4718-9F35-B02445823914}"/>
              </a:ext>
            </a:extLst>
          </p:cNvPr>
          <p:cNvSpPr>
            <a:spLocks xmlns:a="http://schemas.openxmlformats.org/drawingml/2006/main" noGrp="1"/>
          </p:cNvSpPr>
          <p:nvPr/>
        </p:nvSpPr>
        <p:spPr>
          <a:xfrm xmlns:a="http://schemas.openxmlformats.org/drawingml/2006/main">
            <a:off x="8988323"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0CA1F1D0-34AA-4002-97D1-E2F583CB3C24}"/>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28DAEAA2-254E-4920-967E-4BD8F54690CB}"/>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6" name="Text 24">
            <a:extLst xmlns:a="http://schemas.openxmlformats.org/drawingml/2006/main">
              <a:ext uri="{FF2B5EF4-FFF2-40B4-BE49-F238E27FC236}">
                <a16:creationId xmlns:a16="http://schemas.microsoft.com/office/drawing/2014/main" id="{4199882E-4B52-4D27-8A4E-40DE4728C402}"/>
              </a:ext>
            </a:extLst>
          </p:cNvPr>
          <p:cNvSpPr>
            <a:spLocks xmlns:a="http://schemas.openxmlformats.org/drawingml/2006/main" noGrp="1"/>
          </p:cNvSpPr>
          <p:nvPr/>
        </p:nvSpPr>
        <p:spPr>
          <a:xfrm xmlns:a="http://schemas.openxmlformats.org/drawingml/2006/main">
            <a:off x="9591827"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Drift on the next input</a:t>
            </a:r>
          </a:p>
        </p:txBody>
      </p:sp>
      <p:sp>
        <p:nvSpPr>
          <p:cNvPr id="27" name="Text 25">
            <a:extLst xmlns:a="http://schemas.openxmlformats.org/drawingml/2006/main">
              <a:ext uri="{FF2B5EF4-FFF2-40B4-BE49-F238E27FC236}">
                <a16:creationId xmlns:a16="http://schemas.microsoft.com/office/drawing/2014/main" id="{47FE5EDA-9816-4DAD-807D-07EB7A5C66F0}"/>
              </a:ext>
            </a:extLst>
          </p:cNvPr>
          <p:cNvSpPr>
            <a:spLocks xmlns:a="http://schemas.openxmlformats.org/drawingml/2006/main" noGrp="1"/>
          </p:cNvSpPr>
          <p:nvPr/>
        </p:nvSpPr>
        <p:spPr>
          <a:xfrm xmlns:a="http://schemas.openxmlformats.org/drawingml/2006/main">
            <a:off x="9226067"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An input resembling the training trace may violate a permission, freshness, or schema constraint that held when that trace was recorded.</a:t>
            </a:r>
          </a:p>
        </p:txBody>
      </p:sp>
      <p:sp>
        <p:nvSpPr>
          <p:cNvPr id="28" name="Shape 26">
            <a:extLst xmlns:a="http://schemas.openxmlformats.org/drawingml/2006/main">
              <a:ext uri="{FF2B5EF4-FFF2-40B4-BE49-F238E27FC236}">
                <a16:creationId xmlns:a16="http://schemas.microsoft.com/office/drawing/2014/main" id="{9DA62AEE-BC3D-4BAB-AC49-C8B318264712}"/>
              </a:ext>
            </a:extLst>
          </p:cNvPr>
          <p:cNvSpPr>
            <a:spLocks xmlns:a="http://schemas.openxmlformats.org/drawingml/2006/main" noGrp="1"/>
          </p:cNvSpPr>
          <p:nvPr/>
        </p:nvSpPr>
        <p:spPr>
          <a:xfrm xmlns:a="http://schemas.openxmlformats.org/drawingml/2006/main">
            <a:off x="640080" y="4261104"/>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2D577875-25BB-483A-ACD1-972D54BD1C86}"/>
              </a:ext>
            </a:extLst>
          </p:cNvPr>
          <p:cNvSpPr>
            <a:spLocks xmlns:a="http://schemas.openxmlformats.org/drawingml/2006/main" noGrp="1"/>
          </p:cNvSpPr>
          <p:nvPr/>
        </p:nvSpPr>
        <p:spPr>
          <a:xfrm xmlns:a="http://schemas.openxmlformats.org/drawingml/2006/main">
            <a:off x="89611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What a trace does establish</a:t>
            </a:r>
          </a:p>
        </p:txBody>
      </p:sp>
      <p:sp>
        <p:nvSpPr>
          <p:cNvPr id="30" name="Text 28">
            <a:extLst xmlns:a="http://schemas.openxmlformats.org/drawingml/2006/main">
              <a:ext uri="{FF2B5EF4-FFF2-40B4-BE49-F238E27FC236}">
                <a16:creationId xmlns:a16="http://schemas.microsoft.com/office/drawing/2014/main" id="{4C296D93-8F3F-4266-855B-214E25214927}"/>
              </a:ext>
            </a:extLst>
          </p:cNvPr>
          <p:cNvSpPr>
            <a:spLocks xmlns:a="http://schemas.openxmlformats.org/drawingml/2006/main" noGrp="1"/>
          </p:cNvSpPr>
          <p:nvPr/>
        </p:nvSpPr>
        <p:spPr>
          <a:xfrm xmlns:a="http://schemas.openxmlformats.org/drawingml/2006/main">
            <a:off x="89611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a region recurs, with the same tool signatures, dependency topology, run shape, and live-in/out shape across independent scenario groups. That is a mining result, and it is what prior trace-based systems consume.</a:t>
            </a:r>
          </a:p>
        </p:txBody>
      </p:sp>
      <p:sp>
        <p:nvSpPr>
          <p:cNvPr id="31" name="Shape 29">
            <a:extLst xmlns:a="http://schemas.openxmlformats.org/drawingml/2006/main">
              <a:ext uri="{FF2B5EF4-FFF2-40B4-BE49-F238E27FC236}">
                <a16:creationId xmlns:a16="http://schemas.microsoft.com/office/drawing/2014/main" id="{3540D925-B234-4749-A337-57484E22AC88}"/>
              </a:ext>
            </a:extLst>
          </p:cNvPr>
          <p:cNvSpPr>
            <a:spLocks xmlns:a="http://schemas.openxmlformats.org/drawingml/2006/main" noGrp="1"/>
          </p:cNvSpPr>
          <p:nvPr/>
        </p:nvSpPr>
        <p:spPr>
          <a:xfrm xmlns:a="http://schemas.openxmlformats.org/drawingml/2006/main">
            <a:off x="6260440" y="4261104"/>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E0B8487C-2434-4C34-9F86-3331F1536DCC}"/>
              </a:ext>
            </a:extLst>
          </p:cNvPr>
          <p:cNvSpPr>
            <a:spLocks xmlns:a="http://schemas.openxmlformats.org/drawingml/2006/main" noGrp="1"/>
          </p:cNvSpPr>
          <p:nvPr/>
        </p:nvSpPr>
        <p:spPr>
          <a:xfrm xmlns:a="http://schemas.openxmlformats.org/drawingml/2006/main">
            <a:off x="651647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What a compiler must additionally establish</a:t>
            </a:r>
          </a:p>
        </p:txBody>
      </p:sp>
      <p:sp>
        <p:nvSpPr>
          <p:cNvPr id="33" name="Text 31">
            <a:extLst xmlns:a="http://schemas.openxmlformats.org/drawingml/2006/main">
              <a:ext uri="{FF2B5EF4-FFF2-40B4-BE49-F238E27FC236}">
                <a16:creationId xmlns:a16="http://schemas.microsoft.com/office/drawing/2014/main" id="{50C4DC94-6CB3-4CB5-967F-CA5328985B3E}"/>
              </a:ext>
            </a:extLst>
          </p:cNvPr>
          <p:cNvSpPr>
            <a:spLocks xmlns:a="http://schemas.openxmlformats.org/drawingml/2006/main" noGrp="1"/>
          </p:cNvSpPr>
          <p:nvPr/>
        </p:nvSpPr>
        <p:spPr>
          <a:xfrm xmlns:a="http://schemas.openxmlformats.org/drawingml/2006/main">
            <a:off x="651647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every argument is grounded in observable state, that each tool's declared effects permit speculative execution, and that the residual error rate of the specialized region carries a finite-sample bound. The missing argument, not the missing optimizer.</a:t>
            </a:r>
          </a:p>
        </p:txBody>
      </p:sp>
      <p:sp>
        <p:nvSpPr>
          <p:cNvPr id="34" name="Text 32">
            <a:extLst xmlns:a="http://schemas.openxmlformats.org/drawingml/2006/main">
              <a:ext uri="{FF2B5EF4-FFF2-40B4-BE49-F238E27FC236}">
                <a16:creationId xmlns:a16="http://schemas.microsoft.com/office/drawing/2014/main" id="{13AEF141-0080-4296-9623-7B6FCAF60A7F}"/>
              </a:ext>
            </a:extLst>
          </p:cNvPr>
          <p:cNvSpPr>
            <a:spLocks xmlns:a="http://schemas.openxmlformats.org/drawingml/2006/main" noGrp="1"/>
          </p:cNvSpPr>
          <p:nvPr/>
        </p:nvSpPr>
        <p:spPr>
          <a:xfrm xmlns:a="http://schemas.openxmlformats.org/drawingml/2006/main">
            <a:off x="640080" y="5797296"/>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Deleting a model decision is a semantic change, not a memoization — which is why each hazard is checked structurally, and why no amount of statistical evidence can override a barrier hit.</a:t>
            </a:r>
          </a:p>
        </p:txBody>
      </p:sp>
    </p:spTree>
    <p:extLst>
      <p:ext uri="{BB962C8B-B14F-4D97-AF65-F5344CB8AC3E}">
        <p14:creationId xmlns:p14="http://schemas.microsoft.com/office/powerpoint/2010/main" val="20446710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0D3387-5C88-4F0A-9AE9-42AC648483A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11FF81F-86BF-4C92-AED4-D79CF25B4AB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55AD03D9-449D-4B6B-ADB2-4676D6141E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RELATED WORK  ·  §6 AND §7.1  ·  TABLE 8</a:t>
            </a:r>
          </a:p>
        </p:txBody>
      </p:sp>
      <p:sp>
        <p:nvSpPr>
          <p:cNvPr id="5" name="Text 3">
            <a:extLst xmlns:a="http://schemas.openxmlformats.org/drawingml/2006/main">
              <a:ext uri="{FF2B5EF4-FFF2-40B4-BE49-F238E27FC236}">
                <a16:creationId xmlns:a16="http://schemas.microsoft.com/office/drawing/2014/main" id="{2E3683E5-CD72-41E7-957B-12FD9E908FEB}"/>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Positioning: “admission” is how a candidate rewrite is permitted</a:t>
            </a:r>
          </a:p>
        </p:txBody>
      </p:sp>
      <p:graphicFrame>
        <p:nvGraphicFramePr>
          <p:cNvPr id="6" name="Table 0"/>
          <p:cNvGraphicFramePr/>
          <p:nvPr/>
        </p:nvGraphicFramePr>
        <p:xfrm>
          <a:off xmlns:a="http://schemas.openxmlformats.org/drawingml/2006/main" x="640080" y="1170432"/>
          <a:ext xmlns:a="http://schemas.openxmlformats.org/drawingml/2006/main" cx="10908792" cy="2816352"/>
        </p:xfrm>
        <a:graphic xmlns:a="http://schemas.openxmlformats.org/drawingml/2006/main">
          <a:graphicData uri="http://schemas.openxmlformats.org/drawingml/2006/table">
            <a:tbl>
              <a:tblPr/>
              <a:tblGrid>
                <a:gridCol w="1600200"/>
                <a:gridCol w="2331720"/>
                <a:gridCol w="2423160"/>
                <a:gridCol w="2148840"/>
                <a:gridCol w="2404872"/>
              </a:tblGrid>
              <a:tr h="256032">
                <a:tc>
                  <a:txBody>
                    <a:bodyPr/>
                    <a:lstStyle/>
                    <a:p>
                      <a:pPr marL="0" indent="0">
                        <a:buNone/>
                      </a:pPr>
                      <a:r>
                        <a:rPr sz="900" b="1">
                          <a:solidFill>
                            <a:srgbClr val="FFFFFF"/>
                          </a:solidFill>
                          <a:latin typeface="Calibri"/>
                          <a:ea typeface="Calibri"/>
                          <a:cs typeface="Calibri"/>
                        </a:rPr>
                        <a:t>System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Source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Rewrite target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Hard safety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Admission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56032">
                <a:tc>
                  <a:txBody>
                    <a:bodyPr/>
                    <a:lstStyle/>
                    <a:p>
                      <a:pPr marL="0" indent="0">
                        <a:buNone/>
                      </a:pPr>
                      <a:r>
                        <a:rPr sz="900">
                          <a:solidFill>
                            <a:srgbClr val="24354F"/>
                          </a:solidFill>
                          <a:latin typeface="Calibri"/>
                          <a:ea typeface="Calibri"/>
                          <a:cs typeface="Calibri"/>
                        </a:rPr>
                        <a:t>LLMCompiler</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Current-query scheduling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Parallel tool calls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DSPy / MIPRO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Prompt / program parameters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Metric optimization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GEPA</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Execution + evaluation traces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Reflective prompt evolution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Held-out metric + Pareto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AgentSlimming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Multi-agent graph</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Node pruning / quantization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Baseline rule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AWO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Trace tool sequences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Deterministic meta-tools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Empirical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 JIT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Task description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Validated code + schedule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Tool pre/post invariants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Candidate validation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EvoC2F</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Plan IR + trajectories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DAG compiler + macro-skills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 + resources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Tests + contracts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FlowCompile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Declared workflow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Configuration Pareto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Profiled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COVENANT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Declared policy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Workflow CFG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Runtime checks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b="1">
                          <a:solidFill>
                            <a:srgbClr val="0E1E3A"/>
                          </a:solidFill>
                          <a:latin typeface="Calibri"/>
                          <a:ea typeface="Calibri"/>
                          <a:cs typeface="Calibri"/>
                        </a:rPr>
                        <a:t>GAC (ours)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Observed value 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Decision-eliding program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Provenance + 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Exact selective bound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r>
            </a:tbl>
          </a:graphicData>
        </a:graphic>
      </p:graphicFrame>
      <p:sp>
        <p:nvSpPr>
          <p:cNvPr id="7" name="Shape 4">
            <a:extLst xmlns:a="http://schemas.openxmlformats.org/drawingml/2006/main">
              <a:ext uri="{FF2B5EF4-FFF2-40B4-BE49-F238E27FC236}">
                <a16:creationId xmlns:a16="http://schemas.microsoft.com/office/drawing/2014/main" id="{E4D0F16E-15E3-4A4F-8CE0-62703D921DC5}"/>
              </a:ext>
            </a:extLst>
          </p:cNvPr>
          <p:cNvSpPr>
            <a:spLocks xmlns:a="http://schemas.openxmlformats.org/drawingml/2006/main" noGrp="1"/>
          </p:cNvSpPr>
          <p:nvPr/>
        </p:nvSpPr>
        <p:spPr>
          <a:xfrm xmlns:a="http://schemas.openxmlformats.org/drawingml/2006/main">
            <a:off x="640080" y="4279392"/>
            <a:ext cx="5291176" cy="1609344"/>
          </a:xfrm>
          <a:prstGeom xmlns:a="http://schemas.openxmlformats.org/drawingml/2006/main" prst="roundRect">
            <a:avLst>
              <a:gd name="adj" fmla="val 2841"/>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0A1FBD3-65E6-4F0C-9439-37668B194570}"/>
              </a:ext>
            </a:extLst>
          </p:cNvPr>
          <p:cNvSpPr>
            <a:spLocks xmlns:a="http://schemas.openxmlformats.org/drawingml/2006/main" noGrp="1"/>
          </p:cNvSpPr>
          <p:nvPr/>
        </p:nvSpPr>
        <p:spPr>
          <a:xfrm xmlns:a="http://schemas.openxmlformats.org/drawingml/2006/main">
            <a:off x="89611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A93B2B"/>
                </a:solidFill>
                <a:latin typeface="Cambria"/>
                <a:ea typeface="Cambria"/>
                <a:cs typeface="Cambria"/>
              </a:rPr>
              <a:t>What is not claimed as novel</a:t>
            </a:r>
          </a:p>
        </p:txBody>
      </p:sp>
      <p:sp>
        <p:nvSpPr>
          <p:cNvPr id="9" name="Text 6">
            <a:extLst xmlns:a="http://schemas.openxmlformats.org/drawingml/2006/main">
              <a:ext uri="{FF2B5EF4-FFF2-40B4-BE49-F238E27FC236}">
                <a16:creationId xmlns:a16="http://schemas.microsoft.com/office/drawing/2014/main" id="{85529636-9EB0-445F-A345-9CF432862E99}"/>
              </a:ext>
            </a:extLst>
          </p:cNvPr>
          <p:cNvSpPr>
            <a:spLocks xmlns:a="http://schemas.openxmlformats.org/drawingml/2006/main" noGrp="1"/>
          </p:cNvSpPr>
          <p:nvPr/>
        </p:nvSpPr>
        <p:spPr>
          <a:xfrm xmlns:a="http://schemas.openxmlformats.org/drawingml/2006/main">
            <a:off x="89611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p>
        </p:txBody>
      </p:sp>
      <p:sp>
        <p:nvSpPr>
          <p:cNvPr id="10" name="Shape 7">
            <a:extLst xmlns:a="http://schemas.openxmlformats.org/drawingml/2006/main">
              <a:ext uri="{FF2B5EF4-FFF2-40B4-BE49-F238E27FC236}">
                <a16:creationId xmlns:a16="http://schemas.microsoft.com/office/drawing/2014/main" id="{47BE70A2-DD7B-4AA1-B2ED-23281900A3B2}"/>
              </a:ext>
            </a:extLst>
          </p:cNvPr>
          <p:cNvSpPr>
            <a:spLocks xmlns:a="http://schemas.openxmlformats.org/drawingml/2006/main" noGrp="1"/>
          </p:cNvSpPr>
          <p:nvPr/>
        </p:nvSpPr>
        <p:spPr>
          <a:xfrm xmlns:a="http://schemas.openxmlformats.org/drawingml/2006/main">
            <a:off x="6260440" y="4279392"/>
            <a:ext cx="5291176" cy="1609344"/>
          </a:xfrm>
          <a:prstGeom xmlns:a="http://schemas.openxmlformats.org/drawingml/2006/main" prst="roundRect">
            <a:avLst>
              <a:gd name="adj" fmla="val 2841"/>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D394FBCC-5884-4169-BEFF-2B7E60D6CE58}"/>
              </a:ext>
            </a:extLst>
          </p:cNvPr>
          <p:cNvSpPr>
            <a:spLocks xmlns:a="http://schemas.openxmlformats.org/drawingml/2006/main" noGrp="1"/>
          </p:cNvSpPr>
          <p:nvPr/>
        </p:nvSpPr>
        <p:spPr>
          <a:xfrm xmlns:a="http://schemas.openxmlformats.org/drawingml/2006/main">
            <a:off x="651647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The comparative statement</a:t>
            </a:r>
          </a:p>
        </p:txBody>
      </p:sp>
      <p:sp>
        <p:nvSpPr>
          <p:cNvPr id="12" name="Text 9">
            <a:extLst xmlns:a="http://schemas.openxmlformats.org/drawingml/2006/main">
              <a:ext uri="{FF2B5EF4-FFF2-40B4-BE49-F238E27FC236}">
                <a16:creationId xmlns:a16="http://schemas.microsoft.com/office/drawing/2014/main" id="{A7F5E6CA-F614-4F48-8407-91FAB1F7572A}"/>
              </a:ext>
            </a:extLst>
          </p:cNvPr>
          <p:cNvSpPr>
            <a:spLocks xmlns:a="http://schemas.openxmlformats.org/drawingml/2006/main" noGrp="1"/>
          </p:cNvSpPr>
          <p:nvPr/>
        </p:nvSpPr>
        <p:spPr>
          <a:xfrm xmlns:a="http://schemas.openxmlformats.org/drawingml/2006/main">
            <a:off x="651647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p>
        </p:txBody>
      </p:sp>
    </p:spTree>
    <p:extLst>
      <p:ext uri="{BB962C8B-B14F-4D97-AF65-F5344CB8AC3E}">
        <p14:creationId xmlns:p14="http://schemas.microsoft.com/office/powerpoint/2010/main" val="14915284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C1642AB-9166-446B-AE41-C19AD1BF052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BA7E545-8AB7-4040-8C1F-A1445073F38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9D47BCB7-363C-49D6-9C77-5A2A10E0870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F57DECB7-7597-485A-B14A-927DAFFAB8C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research problem, and what the paper claims</a:t>
            </a:r>
          </a:p>
        </p:txBody>
      </p:sp>
      <p:sp>
        <p:nvSpPr>
          <p:cNvPr id="6" name="Shape 4">
            <a:extLst xmlns:a="http://schemas.openxmlformats.org/drawingml/2006/main">
              <a:ext uri="{FF2B5EF4-FFF2-40B4-BE49-F238E27FC236}">
                <a16:creationId xmlns:a16="http://schemas.microsoft.com/office/drawing/2014/main" id="{5CF7C4CB-52C9-41E7-A9DB-98F029F4C550}"/>
              </a:ext>
            </a:extLst>
          </p:cNvPr>
          <p:cNvSpPr>
            <a:spLocks xmlns:a="http://schemas.openxmlformats.org/drawingml/2006/main" noGrp="1"/>
          </p:cNvSpPr>
          <p:nvPr/>
        </p:nvSpPr>
        <p:spPr>
          <a:xfrm xmlns:a="http://schemas.openxmlformats.org/drawingml/2006/main">
            <a:off x="640080" y="1243584"/>
            <a:ext cx="10911535" cy="932688"/>
          </a:xfrm>
          <a:prstGeom xmlns:a="http://schemas.openxmlformats.org/drawingml/2006/main" prst="roundRect">
            <a:avLst>
              <a:gd name="adj" fmla="val 4902"/>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0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0379D42B-BCD3-4E4F-AA54-DD8FE4A16860}"/>
              </a:ext>
            </a:extLst>
          </p:cNvPr>
          <p:cNvSpPr>
            <a:spLocks xmlns:a="http://schemas.openxmlformats.org/drawingml/2006/main" noGrp="1"/>
          </p:cNvSpPr>
          <p:nvPr/>
        </p:nvSpPr>
        <p:spPr>
          <a:xfrm xmlns:a="http://schemas.openxmlformats.org/drawingml/2006/main">
            <a:off x="1024128" y="1371600"/>
            <a:ext cx="10143439"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40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EB2077D3-E4FD-467A-82F7-D16B62667581}"/>
              </a:ext>
            </a:extLst>
          </p:cNvPr>
          <p:cNvSpPr>
            <a:spLocks xmlns:a="http://schemas.openxmlformats.org/drawingml/2006/main" noGrp="1"/>
          </p:cNvSpPr>
          <p:nvPr/>
        </p:nvSpPr>
        <p:spPr>
          <a:xfrm xmlns:a="http://schemas.openxmlformats.org/drawingml/2006/main">
            <a:off x="640080"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RESEARCH QUESTIONS</a:t>
            </a:r>
          </a:p>
        </p:txBody>
      </p:sp>
      <p:sp>
        <p:nvSpPr>
          <p:cNvPr id="9" name="Shape 7">
            <a:extLst xmlns:a="http://schemas.openxmlformats.org/drawingml/2006/main">
              <a:ext uri="{FF2B5EF4-FFF2-40B4-BE49-F238E27FC236}">
                <a16:creationId xmlns:a16="http://schemas.microsoft.com/office/drawing/2014/main" id="{8AF46C28-FBA4-4CA2-B06E-346F0CF06E58}"/>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D0DA9EAB-8E1C-48AB-8D51-F87C94B284C0}"/>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RQ1</a:t>
            </a:r>
          </a:p>
        </p:txBody>
      </p:sp>
      <p:sp>
        <p:nvSpPr>
          <p:cNvPr id="11" name="Text 9">
            <a:extLst xmlns:a="http://schemas.openxmlformats.org/drawingml/2006/main">
              <a:ext uri="{FF2B5EF4-FFF2-40B4-BE49-F238E27FC236}">
                <a16:creationId xmlns:a16="http://schemas.microsoft.com/office/drawing/2014/main" id="{B30C408B-320E-4E1E-BAD6-2CB64647A5FA}"/>
              </a:ext>
            </a:extLst>
          </p:cNvPr>
          <p:cNvSpPr>
            <a:spLocks xmlns:a="http://schemas.openxmlformats.org/drawingml/2006/main" noGrp="1"/>
          </p:cNvSpPr>
          <p:nvPr/>
        </p:nvSpPr>
        <p:spPr>
          <a:xfrm xmlns:a="http://schemas.openxmlformats.org/drawingml/2006/main">
            <a:off x="1170432" y="263347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typed trace provenance reconstruct the dependencies needed to synthesize recurrent tool programs?</a:t>
            </a:r>
          </a:p>
        </p:txBody>
      </p:sp>
      <p:sp>
        <p:nvSpPr>
          <p:cNvPr id="12" name="Shape 10">
            <a:extLst xmlns:a="http://schemas.openxmlformats.org/drawingml/2006/main">
              <a:ext uri="{FF2B5EF4-FFF2-40B4-BE49-F238E27FC236}">
                <a16:creationId xmlns:a16="http://schemas.microsoft.com/office/drawing/2014/main" id="{4F512C3A-5A8A-460A-ABF9-E997D256F1A5}"/>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BECE7D13-A4F5-48D4-9457-0CFF32BCB529}"/>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RQ2</a:t>
            </a:r>
          </a:p>
        </p:txBody>
      </p:sp>
      <p:sp>
        <p:nvSpPr>
          <p:cNvPr id="14" name="Text 12">
            <a:extLst xmlns:a="http://schemas.openxmlformats.org/drawingml/2006/main">
              <a:ext uri="{FF2B5EF4-FFF2-40B4-BE49-F238E27FC236}">
                <a16:creationId xmlns:a16="http://schemas.microsoft.com/office/drawing/2014/main" id="{624A88B3-8699-4F50-A984-D4E692D25C76}"/>
              </a:ext>
            </a:extLst>
          </p:cNvPr>
          <p:cNvSpPr>
            <a:spLocks xmlns:a="http://schemas.openxmlformats.org/drawingml/2006/main" noGrp="1"/>
          </p:cNvSpPr>
          <p:nvPr/>
        </p:nvSpPr>
        <p:spPr>
          <a:xfrm xmlns:a="http://schemas.openxmlformats.org/drawingml/2006/main">
            <a:off x="1170432" y="3346704"/>
            <a:ext cx="4742536"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Across distinct real-record workflow families, do guarded programs preserve exact outcomes while reducing requests, tokens, latency, and cost—and how do they compare with fair manual programs?</a:t>
            </a:r>
          </a:p>
        </p:txBody>
      </p:sp>
      <p:sp>
        <p:nvSpPr>
          <p:cNvPr id="15" name="Shape 13">
            <a:extLst xmlns:a="http://schemas.openxmlformats.org/drawingml/2006/main">
              <a:ext uri="{FF2B5EF4-FFF2-40B4-BE49-F238E27FC236}">
                <a16:creationId xmlns:a16="http://schemas.microsoft.com/office/drawing/2014/main" id="{AAFB9DB8-D67D-405D-8923-1D43542D05AA}"/>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26278B5F-CD53-4DCA-B555-8B47DD164D9E}"/>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RQ3</a:t>
            </a:r>
          </a:p>
        </p:txBody>
      </p:sp>
      <p:sp>
        <p:nvSpPr>
          <p:cNvPr id="17" name="Text 15">
            <a:extLst xmlns:a="http://schemas.openxmlformats.org/drawingml/2006/main">
              <a:ext uri="{FF2B5EF4-FFF2-40B4-BE49-F238E27FC236}">
                <a16:creationId xmlns:a16="http://schemas.microsoft.com/office/drawing/2014/main" id="{A84F0183-A6D5-488D-8141-813E140B54BF}"/>
              </a:ext>
            </a:extLst>
          </p:cNvPr>
          <p:cNvSpPr>
            <a:spLocks xmlns:a="http://schemas.openxmlformats.org/drawingml/2006/main" noGrp="1"/>
          </p:cNvSpPr>
          <p:nvPr/>
        </p:nvSpPr>
        <p:spPr>
          <a:xfrm xmlns:a="http://schemas.openxmlformats.org/drawingml/2006/main">
            <a:off x="1170432" y="4251960"/>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Does exact selective admission reject recurrent families when calibration support is inadequate?</a:t>
            </a:r>
          </a:p>
        </p:txBody>
      </p:sp>
      <p:sp>
        <p:nvSpPr>
          <p:cNvPr id="18" name="Shape 16">
            <a:extLst xmlns:a="http://schemas.openxmlformats.org/drawingml/2006/main">
              <a:ext uri="{FF2B5EF4-FFF2-40B4-BE49-F238E27FC236}">
                <a16:creationId xmlns:a16="http://schemas.microsoft.com/office/drawing/2014/main" id="{6BC1213D-DA42-4FA5-8CE2-DFF282E79482}"/>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72F1841D-A3AF-477A-B7EF-ED8F0680A943}"/>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RQ4</a:t>
            </a:r>
          </a:p>
        </p:txBody>
      </p:sp>
      <p:sp>
        <p:nvSpPr>
          <p:cNvPr id="20" name="Text 18">
            <a:extLst xmlns:a="http://schemas.openxmlformats.org/drawingml/2006/main">
              <a:ext uri="{FF2B5EF4-FFF2-40B4-BE49-F238E27FC236}">
                <a16:creationId xmlns:a16="http://schemas.microsoft.com/office/drawing/2014/main" id="{C027E8B7-26A3-46D3-8B7D-4D4DDC8D01A0}"/>
              </a:ext>
            </a:extLst>
          </p:cNvPr>
          <p:cNvSpPr>
            <a:spLocks xmlns:a="http://schemas.openxmlformats.org/drawingml/2006/main" noGrp="1"/>
          </p:cNvSpPr>
          <p:nvPr/>
        </p:nvSpPr>
        <p:spPr>
          <a:xfrm xmlns:a="http://schemas.openxmlformats.org/drawingml/2006/main">
            <a:off x="1170432" y="496519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Which failure modes remain after structural compilation, and what does compaction not improve?</a:t>
            </a:r>
          </a:p>
        </p:txBody>
      </p:sp>
      <p:sp>
        <p:nvSpPr>
          <p:cNvPr id="21" name="Shape 19">
            <a:extLst xmlns:a="http://schemas.openxmlformats.org/drawingml/2006/main">
              <a:ext uri="{FF2B5EF4-FFF2-40B4-BE49-F238E27FC236}">
                <a16:creationId xmlns:a16="http://schemas.microsoft.com/office/drawing/2014/main" id="{78C6547A-90EE-4F58-B0C7-D172FFE3B1CF}"/>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2" name="Text 20">
            <a:extLst xmlns:a="http://schemas.openxmlformats.org/drawingml/2006/main">
              <a:ext uri="{FF2B5EF4-FFF2-40B4-BE49-F238E27FC236}">
                <a16:creationId xmlns:a16="http://schemas.microsoft.com/office/drawing/2014/main" id="{AC86A419-9AEA-46CE-A324-85CB6BA06D8E}"/>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RQ5</a:t>
            </a:r>
          </a:p>
        </p:txBody>
      </p:sp>
      <p:sp>
        <p:nvSpPr>
          <p:cNvPr id="23" name="Text 21">
            <a:extLst xmlns:a="http://schemas.openxmlformats.org/drawingml/2006/main">
              <a:ext uri="{FF2B5EF4-FFF2-40B4-BE49-F238E27FC236}">
                <a16:creationId xmlns:a16="http://schemas.microsoft.com/office/drawing/2014/main" id="{02C24414-05A1-4F48-A26C-A6B33E8219FA}"/>
              </a:ext>
            </a:extLst>
          </p:cNvPr>
          <p:cNvSpPr>
            <a:spLocks xmlns:a="http://schemas.openxmlformats.org/drawingml/2006/main" noGrp="1"/>
          </p:cNvSpPr>
          <p:nvPr/>
        </p:nvSpPr>
        <p:spPr>
          <a:xfrm xmlns:a="http://schemas.openxmlformats.org/drawingml/2006/main">
            <a:off x="1170432" y="5678424"/>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group-level paired evidence select a risk-bounded action before a fresh cohort?</a:t>
            </a:r>
          </a:p>
        </p:txBody>
      </p:sp>
      <p:sp>
        <p:nvSpPr>
          <p:cNvPr id="24" name="Text 22">
            <a:extLst xmlns:a="http://schemas.openxmlformats.org/drawingml/2006/main">
              <a:ext uri="{FF2B5EF4-FFF2-40B4-BE49-F238E27FC236}">
                <a16:creationId xmlns:a16="http://schemas.microsoft.com/office/drawing/2014/main" id="{C53B652C-B266-4FB5-B153-B5E9E0B0519D}"/>
              </a:ext>
            </a:extLst>
          </p:cNvPr>
          <p:cNvSpPr>
            <a:spLocks xmlns:a="http://schemas.openxmlformats.org/drawingml/2006/main" noGrp="1"/>
          </p:cNvSpPr>
          <p:nvPr/>
        </p:nvSpPr>
        <p:spPr>
          <a:xfrm xmlns:a="http://schemas.openxmlformats.org/drawingml/2006/main">
            <a:off x="6278728"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CONTRIBUTIONS</a:t>
            </a:r>
          </a:p>
        </p:txBody>
      </p:sp>
      <p:sp>
        <p:nvSpPr>
          <p:cNvPr id="25" name="Shape 23">
            <a:extLst xmlns:a="http://schemas.openxmlformats.org/drawingml/2006/main">
              <a:ext uri="{FF2B5EF4-FFF2-40B4-BE49-F238E27FC236}">
                <a16:creationId xmlns:a16="http://schemas.microsoft.com/office/drawing/2014/main" id="{E912B470-6261-44C4-964E-B1DCE0D23C18}"/>
              </a:ext>
            </a:extLst>
          </p:cNvPr>
          <p:cNvSpPr>
            <a:spLocks xmlns:a="http://schemas.openxmlformats.org/drawingml/2006/main" noGrp="1"/>
          </p:cNvSpPr>
          <p:nvPr/>
        </p:nvSpPr>
        <p:spPr>
          <a:xfrm xmlns:a="http://schemas.openxmlformats.org/drawingml/2006/main">
            <a:off x="6278728" y="2615184"/>
            <a:ext cx="5272888" cy="2286000"/>
          </a:xfrm>
          <a:prstGeom xmlns:a="http://schemas.openxmlformats.org/drawingml/2006/main" prst="roundRect">
            <a:avLst>
              <a:gd name="adj" fmla="val 200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257EF6C0-022E-41E7-920C-779BD394EF20}"/>
              </a:ext>
            </a:extLst>
          </p:cNvPr>
          <p:cNvSpPr>
            <a:spLocks xmlns:a="http://schemas.openxmlformats.org/drawingml/2006/main" noGrp="1"/>
          </p:cNvSpPr>
          <p:nvPr/>
        </p:nvSpPr>
        <p:spPr>
          <a:xfrm xmlns:a="http://schemas.openxmlformats.org/drawingml/2006/main">
            <a:off x="6516472" y="2761488"/>
            <a:ext cx="479740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trace-to-program formulation combining typed value provenance, effect-aware barriers, a closed synthesis language, empirical contracts, and runtime fallback</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dispatch protocol whose score is frozen before calibration and whose fixed threshold grid receives a simultaneous one-sided exact binomial bound</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90-case real-provider study spanning three decisions, tool vocabularies, and exact graders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An identifier-aware contract refinement derived from an archived failed pilot</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NESTFUL and API-Bank refusal evidence plus a supplementary interoperability ledger</a:t>
            </a:r>
          </a:p>
        </p:txBody>
      </p:sp>
      <p:sp>
        <p:nvSpPr>
          <p:cNvPr id="27" name="Shape 25">
            <a:extLst xmlns:a="http://schemas.openxmlformats.org/drawingml/2006/main">
              <a:ext uri="{FF2B5EF4-FFF2-40B4-BE49-F238E27FC236}">
                <a16:creationId xmlns:a16="http://schemas.microsoft.com/office/drawing/2014/main" id="{D19DAD66-8656-48EA-B4C8-441C988E1A6F}"/>
              </a:ext>
            </a:extLst>
          </p:cNvPr>
          <p:cNvSpPr>
            <a:spLocks xmlns:a="http://schemas.openxmlformats.org/drawingml/2006/main" noGrp="1"/>
          </p:cNvSpPr>
          <p:nvPr/>
        </p:nvSpPr>
        <p:spPr>
          <a:xfrm xmlns:a="http://schemas.openxmlformats.org/drawingml/2006/main">
            <a:off x="6278728" y="5029200"/>
            <a:ext cx="5272888"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AFAF5FD4-386E-4EE0-AF30-9C38F09D31A0}"/>
              </a:ext>
            </a:extLst>
          </p:cNvPr>
          <p:cNvSpPr>
            <a:spLocks xmlns:a="http://schemas.openxmlformats.org/drawingml/2006/main" noGrp="1"/>
          </p:cNvSpPr>
          <p:nvPr/>
        </p:nvSpPr>
        <p:spPr>
          <a:xfrm xmlns:a="http://schemas.openxmlformats.org/drawingml/2006/main">
            <a:off x="6516472" y="5157216"/>
            <a:ext cx="4797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Explicitly not claimed</a:t>
            </a:r>
          </a:p>
        </p:txBody>
      </p:sp>
      <p:sp>
        <p:nvSpPr>
          <p:cNvPr id="29" name="Text 27">
            <a:extLst xmlns:a="http://schemas.openxmlformats.org/drawingml/2006/main">
              <a:ext uri="{FF2B5EF4-FFF2-40B4-BE49-F238E27FC236}">
                <a16:creationId xmlns:a16="http://schemas.microsoft.com/office/drawing/2014/main" id="{41CDFC62-0EB4-4779-BCA2-9EAC04CB2D55}"/>
              </a:ext>
            </a:extLst>
          </p:cNvPr>
          <p:cNvSpPr>
            <a:spLocks xmlns:a="http://schemas.openxmlformats.org/drawingml/2006/main" noGrp="1"/>
          </p:cNvSpPr>
          <p:nvPr/>
        </p:nvSpPr>
        <p:spPr>
          <a:xfrm xmlns:a="http://schemas.openxmlformats.org/drawingml/2006/main">
            <a:off x="6516472" y="5449824"/>
            <a:ext cx="4797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50">
                <a:solidFill>
                  <a:srgbClr val="5C4034"/>
                </a:solidFill>
                <a:latin typeface="Calibri"/>
                <a:ea typeface="Calibri"/>
                <a:cs typeface="Calibri"/>
              </a:rPr>
              <a:t>universal semantic equivalence  ·  production certification  ·  cross-domain generalization  ·  fewer necessary tool calls  ·  deterministic natural-language generation</a:t>
            </a:r>
          </a:p>
        </p:txBody>
      </p:sp>
    </p:spTree>
    <p:extLst>
      <p:ext uri="{BB962C8B-B14F-4D97-AF65-F5344CB8AC3E}">
        <p14:creationId xmlns:p14="http://schemas.microsoft.com/office/powerpoint/2010/main" val="691915279"/>
      </p:ext>
    </p:extLst>
  </p:cSld>
</p:sld>
</file>

<file path=ppt/slides/slide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5828BB7-3E93-4A1E-9268-6D62C893D96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99E24B3-7740-4872-BCA4-02D4099E99B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5</a:t>
            </a:r>
          </a:p>
        </p:txBody>
      </p:sp>
      <p:sp>
        <p:nvSpPr>
          <p:cNvPr id="4" name="Shape 2">
            <a:extLst xmlns:a="http://schemas.openxmlformats.org/drawingml/2006/main">
              <a:ext uri="{FF2B5EF4-FFF2-40B4-BE49-F238E27FC236}">
                <a16:creationId xmlns:a16="http://schemas.microsoft.com/office/drawing/2014/main" id="{0BB607D2-D3D2-475A-9CBB-4B983EC15CCB}"/>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EA5F3CAF-C5A0-4004-9B42-214F7F96840B}"/>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A9AB1A9D-D1BA-4C18-9596-07085A137C99}"/>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a:t>
            </a:r>
          </a:p>
        </p:txBody>
      </p:sp>
      <p:sp>
        <p:nvSpPr>
          <p:cNvPr id="7" name="Text 5">
            <a:extLst xmlns:a="http://schemas.openxmlformats.org/drawingml/2006/main">
              <a:ext uri="{FF2B5EF4-FFF2-40B4-BE49-F238E27FC236}">
                <a16:creationId xmlns:a16="http://schemas.microsoft.com/office/drawing/2014/main" id="{1E31F77B-CD64-48DB-9979-8AB100DED118}"/>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Problem formulation</a:t>
            </a:r>
          </a:p>
        </p:txBody>
      </p:sp>
      <p:sp>
        <p:nvSpPr>
          <p:cNvPr id="8" name="Text 6">
            <a:extLst xmlns:a="http://schemas.openxmlformats.org/drawingml/2006/main">
              <a:ext uri="{FF2B5EF4-FFF2-40B4-BE49-F238E27FC236}">
                <a16:creationId xmlns:a16="http://schemas.microsoft.com/office/drawing/2014/main" id="{B4B37EA4-2130-46BA-9032-33C0D6BCA227}"/>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Episodes, candidate regions, groundability, effect admissibility, the position invariant, and the selective objective.</a:t>
            </a:r>
          </a:p>
        </p:txBody>
      </p:sp>
    </p:spTree>
    <p:extLst>
      <p:ext uri="{BB962C8B-B14F-4D97-AF65-F5344CB8AC3E}">
        <p14:creationId xmlns:p14="http://schemas.microsoft.com/office/powerpoint/2010/main" val="12632047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0E672B-A6D2-4EED-BDB4-FEB9A0A555D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04BAF99-1DC8-42C5-81D7-78F611314F9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F0AE32D9-77A3-4A82-85EA-5598A9F3C73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§2.1</a:t>
            </a:r>
          </a:p>
        </p:txBody>
      </p:sp>
      <p:sp>
        <p:nvSpPr>
          <p:cNvPr id="5" name="Text 3">
            <a:extLst xmlns:a="http://schemas.openxmlformats.org/drawingml/2006/main">
              <a:ext uri="{FF2B5EF4-FFF2-40B4-BE49-F238E27FC236}">
                <a16:creationId xmlns:a16="http://schemas.microsoft.com/office/drawing/2014/main" id="{2C31A0B3-BCD4-4151-A13E-0723AC5A3D9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Episodes, candidate regions, and two admissibility conditions</a:t>
            </a:r>
          </a:p>
        </p:txBody>
      </p:sp>
      <p:sp>
        <p:nvSpPr>
          <p:cNvPr id="6" name="Shape 4">
            <a:extLst xmlns:a="http://schemas.openxmlformats.org/drawingml/2006/main">
              <a:ext uri="{FF2B5EF4-FFF2-40B4-BE49-F238E27FC236}">
                <a16:creationId xmlns:a16="http://schemas.microsoft.com/office/drawing/2014/main" id="{B3A3EF0D-FEAE-41D8-9D0F-D206198E0238}"/>
              </a:ext>
            </a:extLst>
          </p:cNvPr>
          <p:cNvSpPr>
            <a:spLocks xmlns:a="http://schemas.openxmlformats.org/drawingml/2006/main" noGrp="1"/>
          </p:cNvSpPr>
          <p:nvPr/>
        </p:nvSpPr>
        <p:spPr>
          <a:xfrm xmlns:a="http://schemas.openxmlformats.org/drawingml/2006/main">
            <a:off x="640080" y="1152144"/>
            <a:ext cx="10911535" cy="603504"/>
          </a:xfrm>
          <a:prstGeom xmlns:a="http://schemas.openxmlformats.org/drawingml/2006/main" prst="roundRect">
            <a:avLst>
              <a:gd name="adj" fmla="val 7576"/>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552b6dc72caa4247"/>
          <a:stretch xmlns:a="http://schemas.openxmlformats.org/drawingml/2006/main">
            <a:fillRect l="0" t="0" r="0" b="0"/>
          </a:stretch>
        </p:blipFill>
        <p:spPr>
          <a:xfrm xmlns:a="http://schemas.openxmlformats.org/drawingml/2006/main">
            <a:off x="896112" y="1289304"/>
            <a:ext cx="2124222" cy="329184"/>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E4158A53-D388-4FB2-BC3B-CE548FDD1375}"/>
              </a:ext>
            </a:extLst>
          </p:cNvPr>
          <p:cNvSpPr>
            <a:spLocks xmlns:a="http://schemas.openxmlformats.org/drawingml/2006/main" noGrp="1"/>
          </p:cNvSpPr>
          <p:nvPr/>
        </p:nvSpPr>
        <p:spPr>
          <a:xfrm xmlns:a="http://schemas.openxmlformats.org/drawingml/2006/main">
            <a:off x="3349518" y="1289304"/>
            <a:ext cx="796435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4354F"/>
                </a:solidFill>
                <a:latin typeface="Calibri"/>
                <a:ea typeface="Calibri"/>
                <a:cs typeface="Calibri"/>
              </a:rPr>
              <a:t>entry-state snapshot z  ·  content-addressed execution manifest M  ·  ordered events e t  ·  observable outcome y</a:t>
            </a:r>
          </a:p>
        </p:txBody>
      </p:sp>
      <p:sp>
        <p:nvSpPr>
          <p:cNvPr id="9" name="Shape 6">
            <a:extLst xmlns:a="http://schemas.openxmlformats.org/drawingml/2006/main">
              <a:ext uri="{FF2B5EF4-FFF2-40B4-BE49-F238E27FC236}">
                <a16:creationId xmlns:a16="http://schemas.microsoft.com/office/drawing/2014/main" id="{E8914E2C-7271-4839-A694-A9E49A3D6318}"/>
              </a:ext>
            </a:extLst>
          </p:cNvPr>
          <p:cNvSpPr>
            <a:spLocks xmlns:a="http://schemas.openxmlformats.org/drawingml/2006/main" noGrp="1"/>
          </p:cNvSpPr>
          <p:nvPr/>
        </p:nvSpPr>
        <p:spPr>
          <a:xfrm xmlns:a="http://schemas.openxmlformats.org/drawingml/2006/main">
            <a:off x="640080" y="1828800"/>
            <a:ext cx="10911535" cy="1042416"/>
          </a:xfrm>
          <a:prstGeom xmlns:a="http://schemas.openxmlformats.org/drawingml/2006/main" prst="roundRect">
            <a:avLst>
              <a:gd name="adj" fmla="val 438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4832e41156724911"/>
          <a:stretch xmlns:a="http://schemas.openxmlformats.org/drawingml/2006/main">
            <a:fillRect l="0" t="0" r="0" b="0"/>
          </a:stretch>
        </p:blipFill>
        <p:spPr>
          <a:xfrm xmlns:a="http://schemas.openxmlformats.org/drawingml/2006/main">
            <a:off x="877824" y="1975104"/>
            <a:ext cx="7303477" cy="384048"/>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4FCA790F-1C65-4987-B1C6-0A8D1BFEDA48}"/>
              </a:ext>
            </a:extLst>
          </p:cNvPr>
          <p:cNvSpPr>
            <a:spLocks xmlns:a="http://schemas.openxmlformats.org/drawingml/2006/main" noGrp="1"/>
          </p:cNvSpPr>
          <p:nvPr/>
        </p:nvSpPr>
        <p:spPr>
          <a:xfrm xmlns:a="http://schemas.openxmlformats.org/drawingml/2006/main">
            <a:off x="877824" y="2432304"/>
            <a:ext cx="1043604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GROUNDABLE — every call argument in the region has an expression over entry state or prior results, drawn from a closed, bounded transform library ℒ. A slot with no such expression is a genuine model decision.</a:t>
            </a:r>
          </a:p>
        </p:txBody>
      </p:sp>
      <p:sp>
        <p:nvSpPr>
          <p:cNvPr id="12" name="Text 8">
            <a:extLst xmlns:a="http://schemas.openxmlformats.org/drawingml/2006/main">
              <a:ext uri="{FF2B5EF4-FFF2-40B4-BE49-F238E27FC236}">
                <a16:creationId xmlns:a16="http://schemas.microsoft.com/office/drawing/2014/main" id="{108D38E6-289D-4745-B80B-CFBD0C7254C2}"/>
              </a:ext>
            </a:extLst>
          </p:cNvPr>
          <p:cNvSpPr>
            <a:spLocks xmlns:a="http://schemas.openxmlformats.org/drawingml/2006/main" noGrp="1"/>
          </p:cNvSpPr>
          <p:nvPr/>
        </p:nvSpPr>
        <p:spPr>
          <a:xfrm xmlns:a="http://schemas.openxmlformats.org/drawingml/2006/main">
            <a:off x="10856671" y="197510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a:t>
            </a:r>
          </a:p>
        </p:txBody>
      </p:sp>
      <p:sp>
        <p:nvSpPr>
          <p:cNvPr id="13" name="Shape 9">
            <a:extLst xmlns:a="http://schemas.openxmlformats.org/drawingml/2006/main">
              <a:ext uri="{FF2B5EF4-FFF2-40B4-BE49-F238E27FC236}">
                <a16:creationId xmlns:a16="http://schemas.microsoft.com/office/drawing/2014/main" id="{BB62EB8A-BF88-42DB-A58D-0549E3AC578D}"/>
              </a:ext>
            </a:extLst>
          </p:cNvPr>
          <p:cNvSpPr>
            <a:spLocks xmlns:a="http://schemas.openxmlformats.org/drawingml/2006/main" noGrp="1"/>
          </p:cNvSpPr>
          <p:nvPr/>
        </p:nvSpPr>
        <p:spPr>
          <a:xfrm xmlns:a="http://schemas.openxmlformats.org/drawingml/2006/main">
            <a:off x="640080" y="2944368"/>
            <a:ext cx="10911535" cy="749808"/>
          </a:xfrm>
          <a:prstGeom xmlns:a="http://schemas.openxmlformats.org/drawingml/2006/main" prst="roundRect">
            <a:avLst>
              <a:gd name="adj" fmla="val 6098"/>
            </a:avLst>
          </a:prstGeom>
          <a:solidFill xmlns:a="http://schemas.openxmlformats.org/drawingml/2006/main">
            <a:srgbClr val="E8F4F5"/>
          </a:solidFill>
          <a:ln xmlns:a="http://schemas.openxmlformats.org/drawingml/2006/main" w="9525">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14" name="Text 10">
            <a:extLst xmlns:a="http://schemas.openxmlformats.org/drawingml/2006/main">
              <a:ext uri="{FF2B5EF4-FFF2-40B4-BE49-F238E27FC236}">
                <a16:creationId xmlns:a16="http://schemas.microsoft.com/office/drawing/2014/main" id="{CD0C7161-7533-4E6B-ADB7-0AED09F79D2A}"/>
              </a:ext>
            </a:extLst>
          </p:cNvPr>
          <p:cNvSpPr>
            <a:spLocks xmlns:a="http://schemas.openxmlformats.org/drawingml/2006/main" noGrp="1"/>
          </p:cNvSpPr>
          <p:nvPr/>
        </p:nvSpPr>
        <p:spPr>
          <a:xfrm xmlns:a="http://schemas.openxmlformats.org/drawingml/2006/main">
            <a:off x="896112" y="305409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1F8A99"/>
                </a:solidFill>
                <a:latin typeface="Calibri"/>
                <a:ea typeface="Calibri"/>
                <a:cs typeface="Calibri"/>
              </a:rPr>
              <a:t>EFFECT-ADMISSIBLE</a:t>
            </a:r>
          </a:p>
        </p:txBody>
      </p:sp>
      <p:sp>
        <p:nvSpPr>
          <p:cNvPr id="15" name="Text 11">
            <a:extLst xmlns:a="http://schemas.openxmlformats.org/drawingml/2006/main">
              <a:ext uri="{FF2B5EF4-FFF2-40B4-BE49-F238E27FC236}">
                <a16:creationId xmlns:a16="http://schemas.microsoft.com/office/drawing/2014/main" id="{A5DC06C6-EB8E-4336-8AF6-6B748E15C047}"/>
              </a:ext>
            </a:extLst>
          </p:cNvPr>
          <p:cNvSpPr>
            <a:spLocks xmlns:a="http://schemas.openxmlformats.org/drawingml/2006/main" noGrp="1"/>
          </p:cNvSpPr>
          <p:nvPr/>
        </p:nvSpPr>
        <p:spPr>
          <a:xfrm xmlns:a="http://schemas.openxmlformats.org/drawingml/2006/main">
            <a:off x="2834640" y="3035808"/>
            <a:ext cx="844265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All tools in the region are declared read-only, speculatable, replayable, and inside the same principal / isolation partition. Handoffs, approvals, writes, errors, and unknown effects are barriers — and an unknown effect is not a read.</a:t>
            </a:r>
          </a:p>
        </p:txBody>
      </p:sp>
      <p:sp>
        <p:nvSpPr>
          <p:cNvPr id="16" name="Shape 12">
            <a:extLst xmlns:a="http://schemas.openxmlformats.org/drawingml/2006/main">
              <a:ext uri="{FF2B5EF4-FFF2-40B4-BE49-F238E27FC236}">
                <a16:creationId xmlns:a16="http://schemas.microsoft.com/office/drawing/2014/main" id="{0D59995F-C84F-4C9E-B1A7-45432F361C4F}"/>
              </a:ext>
            </a:extLst>
          </p:cNvPr>
          <p:cNvSpPr>
            <a:spLocks xmlns:a="http://schemas.openxmlformats.org/drawingml/2006/main" noGrp="1"/>
          </p:cNvSpPr>
          <p:nvPr/>
        </p:nvSpPr>
        <p:spPr>
          <a:xfrm xmlns:a="http://schemas.openxmlformats.org/drawingml/2006/main">
            <a:off x="640080" y="3767328"/>
            <a:ext cx="10911535"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7" name="Image 2"/>
          <p:cNvPicPr>
            <a:picLocks xmlns:a="http://schemas.openxmlformats.org/drawingml/2006/main" noChangeAspect="1"/>
          </p:cNvPicPr>
          <p:nvPr/>
        </p:nvPicPr>
        <p:blipFill>
          <a:blip xmlns:r="http://schemas.openxmlformats.org/officeDocument/2006/relationships" xmlns:a="http://schemas.openxmlformats.org/drawingml/2006/main" r:embed="R9f68ea71c40442d0"/>
          <a:stretch xmlns:a="http://schemas.openxmlformats.org/drawingml/2006/main">
            <a:fillRect l="0" t="0" r="0" b="0"/>
          </a:stretch>
        </p:blipFill>
        <p:spPr>
          <a:xfrm xmlns:a="http://schemas.openxmlformats.org/drawingml/2006/main">
            <a:off x="877824" y="3913632"/>
            <a:ext cx="960120" cy="25603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45739EE5-A230-4C05-9583-5CEC86248E64}"/>
              </a:ext>
            </a:extLst>
          </p:cNvPr>
          <p:cNvSpPr>
            <a:spLocks xmlns:a="http://schemas.openxmlformats.org/drawingml/2006/main" noGrp="1"/>
          </p:cNvSpPr>
          <p:nvPr/>
        </p:nvSpPr>
        <p:spPr>
          <a:xfrm xmlns:a="http://schemas.openxmlformats.org/drawingml/2006/main">
            <a:off x="2148840" y="3913632"/>
            <a:ext cx="8598103"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24354F"/>
                </a:solidFill>
                <a:latin typeface="Calibri"/>
                <a:ea typeface="Calibri"/>
                <a:cs typeface="Calibri"/>
              </a:rPr>
              <a:t>in the normalized model-boundary index</a:t>
            </a:r>
          </a:p>
        </p:txBody>
      </p:sp>
      <p:sp>
        <p:nvSpPr>
          <p:cNvPr id="19" name="Text 14">
            <a:extLst xmlns:a="http://schemas.openxmlformats.org/drawingml/2006/main">
              <a:ext uri="{FF2B5EF4-FFF2-40B4-BE49-F238E27FC236}">
                <a16:creationId xmlns:a16="http://schemas.microsoft.com/office/drawing/2014/main" id="{FA0F426C-15D7-4EA5-9F78-EBC74EFA647D}"/>
              </a:ext>
            </a:extLst>
          </p:cNvPr>
          <p:cNvSpPr>
            <a:spLocks xmlns:a="http://schemas.openxmlformats.org/drawingml/2006/main" noGrp="1"/>
          </p:cNvSpPr>
          <p:nvPr/>
        </p:nvSpPr>
        <p:spPr>
          <a:xfrm xmlns:a="http://schemas.openxmlformats.org/drawingml/2006/main">
            <a:off x="877824" y="4242816"/>
            <a:ext cx="1043604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p>
        </p:txBody>
      </p:sp>
      <p:sp>
        <p:nvSpPr>
          <p:cNvPr id="20" name="Text 15">
            <a:extLst xmlns:a="http://schemas.openxmlformats.org/drawingml/2006/main">
              <a:ext uri="{FF2B5EF4-FFF2-40B4-BE49-F238E27FC236}">
                <a16:creationId xmlns:a16="http://schemas.microsoft.com/office/drawing/2014/main" id="{4570D7CA-DA8D-4FAC-A9E7-F5E32D2DC2C0}"/>
              </a:ext>
            </a:extLst>
          </p:cNvPr>
          <p:cNvSpPr>
            <a:spLocks xmlns:a="http://schemas.openxmlformats.org/drawingml/2006/main" noGrp="1"/>
          </p:cNvSpPr>
          <p:nvPr/>
        </p:nvSpPr>
        <p:spPr>
          <a:xfrm xmlns:a="http://schemas.openxmlformats.org/drawingml/2006/main">
            <a:off x="10856671" y="391363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(2)</a:t>
            </a:r>
          </a:p>
        </p:txBody>
      </p:sp>
      <p:sp>
        <p:nvSpPr>
          <p:cNvPr id="21" name="Shape 16">
            <a:extLst xmlns:a="http://schemas.openxmlformats.org/drawingml/2006/main">
              <a:ext uri="{FF2B5EF4-FFF2-40B4-BE49-F238E27FC236}">
                <a16:creationId xmlns:a16="http://schemas.microsoft.com/office/drawing/2014/main" id="{ADAF1330-79E3-46BA-AB93-3603B320F0B5}"/>
              </a:ext>
            </a:extLst>
          </p:cNvPr>
          <p:cNvSpPr>
            <a:spLocks xmlns:a="http://schemas.openxmlformats.org/drawingml/2006/main" noGrp="1"/>
          </p:cNvSpPr>
          <p:nvPr/>
        </p:nvSpPr>
        <p:spPr>
          <a:xfrm xmlns:a="http://schemas.openxmlformats.org/drawingml/2006/main">
            <a:off x="640080" y="4846320"/>
            <a:ext cx="10911535" cy="1316736"/>
          </a:xfrm>
          <a:prstGeom xmlns:a="http://schemas.openxmlformats.org/drawingml/2006/main" prst="roundRect">
            <a:avLst>
              <a:gd name="adj" fmla="val 347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Text 17">
            <a:extLst xmlns:a="http://schemas.openxmlformats.org/drawingml/2006/main">
              <a:ext uri="{FF2B5EF4-FFF2-40B4-BE49-F238E27FC236}">
                <a16:creationId xmlns:a16="http://schemas.microsoft.com/office/drawing/2014/main" id="{F90B2D16-0479-45D4-9287-C773B924816A}"/>
              </a:ext>
            </a:extLst>
          </p:cNvPr>
          <p:cNvSpPr>
            <a:spLocks xmlns:a="http://schemas.openxmlformats.org/drawingml/2006/main" noGrp="1"/>
          </p:cNvSpPr>
          <p:nvPr/>
        </p:nvSpPr>
        <p:spPr>
          <a:xfrm xmlns:a="http://schemas.openxmlformats.org/drawingml/2006/main">
            <a:off x="896112" y="4974336"/>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EVIDENCE FROM THE ARCHIVED PILOT — REQUEST SAVINGS AT THE WRONG EXECUTION POSITION</a:t>
            </a:r>
          </a:p>
        </p:txBody>
      </p:sp>
      <p:sp>
        <p:nvSpPr>
          <p:cNvPr id="23" name="Text 18">
            <a:extLst xmlns:a="http://schemas.openxmlformats.org/drawingml/2006/main">
              <a:ext uri="{FF2B5EF4-FFF2-40B4-BE49-F238E27FC236}">
                <a16:creationId xmlns:a16="http://schemas.microsoft.com/office/drawing/2014/main" id="{AAD13A35-F02D-4E3E-968C-FA063EDFCE20}"/>
              </a:ext>
            </a:extLst>
          </p:cNvPr>
          <p:cNvSpPr>
            <a:spLocks xmlns:a="http://schemas.openxmlformats.org/drawingml/2006/main" noGrp="1"/>
          </p:cNvSpPr>
          <p:nvPr/>
        </p:nvSpPr>
        <p:spPr>
          <a:xfrm xmlns:a="http://schemas.openxmlformats.org/drawingml/2006/main">
            <a:off x="3931920" y="5230368"/>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5A6B84"/>
                </a:solidFill>
                <a:latin typeface="Calibri"/>
                <a:ea typeface="Calibri"/>
                <a:cs typeface="Calibri"/>
              </a:rPr>
              <a:t>archived suffix pilot</a:t>
            </a:r>
          </a:p>
        </p:txBody>
      </p:sp>
      <p:sp>
        <p:nvSpPr>
          <p:cNvPr id="24" name="Text 19">
            <a:extLst xmlns:a="http://schemas.openxmlformats.org/drawingml/2006/main">
              <a:ext uri="{FF2B5EF4-FFF2-40B4-BE49-F238E27FC236}">
                <a16:creationId xmlns:a16="http://schemas.microsoft.com/office/drawing/2014/main" id="{30D9A910-D7DF-4F14-A9ED-298943B6776C}"/>
              </a:ext>
            </a:extLst>
          </p:cNvPr>
          <p:cNvSpPr>
            <a:spLocks xmlns:a="http://schemas.openxmlformats.org/drawingml/2006/main" noGrp="1"/>
          </p:cNvSpPr>
          <p:nvPr/>
        </p:nvSpPr>
        <p:spPr>
          <a:xfrm xmlns:a="http://schemas.openxmlformats.org/drawingml/2006/main">
            <a:off x="5669280" y="5230368"/>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1F8A99"/>
                </a:solidFill>
                <a:latin typeface="Calibri"/>
                <a:ea typeface="Calibri"/>
                <a:cs typeface="Calibri"/>
              </a:rPr>
              <a:t>corrected prefix compiler</a:t>
            </a:r>
          </a:p>
        </p:txBody>
      </p:sp>
      <p:sp>
        <p:nvSpPr>
          <p:cNvPr id="25" name="Text 20">
            <a:extLst xmlns:a="http://schemas.openxmlformats.org/drawingml/2006/main">
              <a:ext uri="{FF2B5EF4-FFF2-40B4-BE49-F238E27FC236}">
                <a16:creationId xmlns:a16="http://schemas.microsoft.com/office/drawing/2014/main" id="{018DFEDC-CF65-4D02-932D-4EA3EDD5DB17}"/>
              </a:ext>
            </a:extLst>
          </p:cNvPr>
          <p:cNvSpPr>
            <a:spLocks xmlns:a="http://schemas.openxmlformats.org/drawingml/2006/main" noGrp="1"/>
          </p:cNvSpPr>
          <p:nvPr/>
        </p:nvSpPr>
        <p:spPr>
          <a:xfrm xmlns:a="http://schemas.openxmlformats.org/drawingml/2006/main">
            <a:off x="896112" y="5449824"/>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task quality</a:t>
            </a:r>
          </a:p>
        </p:txBody>
      </p:sp>
      <p:sp>
        <p:nvSpPr>
          <p:cNvPr id="26" name="Text 21">
            <a:extLst xmlns:a="http://schemas.openxmlformats.org/drawingml/2006/main">
              <a:ext uri="{FF2B5EF4-FFF2-40B4-BE49-F238E27FC236}">
                <a16:creationId xmlns:a16="http://schemas.microsoft.com/office/drawing/2014/main" id="{87FA214F-1BC5-4CFE-A163-9A2EF98041CE}"/>
              </a:ext>
            </a:extLst>
          </p:cNvPr>
          <p:cNvSpPr>
            <a:spLocks xmlns:a="http://schemas.openxmlformats.org/drawingml/2006/main" noGrp="1"/>
          </p:cNvSpPr>
          <p:nvPr/>
        </p:nvSpPr>
        <p:spPr>
          <a:xfrm xmlns:a="http://schemas.openxmlformats.org/drawingml/2006/main">
            <a:off x="3931920" y="5449824"/>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27" name="Text 22">
            <a:extLst xmlns:a="http://schemas.openxmlformats.org/drawingml/2006/main">
              <a:ext uri="{FF2B5EF4-FFF2-40B4-BE49-F238E27FC236}">
                <a16:creationId xmlns:a16="http://schemas.microsoft.com/office/drawing/2014/main" id="{B3994102-A2BC-4903-BE82-370A3C360A08}"/>
              </a:ext>
            </a:extLst>
          </p:cNvPr>
          <p:cNvSpPr>
            <a:spLocks xmlns:a="http://schemas.openxmlformats.org/drawingml/2006/main" noGrp="1"/>
          </p:cNvSpPr>
          <p:nvPr/>
        </p:nvSpPr>
        <p:spPr>
          <a:xfrm xmlns:a="http://schemas.openxmlformats.org/drawingml/2006/main">
            <a:off x="5669280" y="5449824"/>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28" name="Text 23">
            <a:extLst xmlns:a="http://schemas.openxmlformats.org/drawingml/2006/main">
              <a:ext uri="{FF2B5EF4-FFF2-40B4-BE49-F238E27FC236}">
                <a16:creationId xmlns:a16="http://schemas.microsoft.com/office/drawing/2014/main" id="{7FF00C27-3D1C-4410-9F1B-128D10A00B78}"/>
              </a:ext>
            </a:extLst>
          </p:cNvPr>
          <p:cNvSpPr>
            <a:spLocks xmlns:a="http://schemas.openxmlformats.org/drawingml/2006/main" noGrp="1"/>
          </p:cNvSpPr>
          <p:nvPr/>
        </p:nvSpPr>
        <p:spPr>
          <a:xfrm xmlns:a="http://schemas.openxmlformats.org/drawingml/2006/main">
            <a:off x="896112" y="5669280"/>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tool-contract validity</a:t>
            </a:r>
          </a:p>
        </p:txBody>
      </p:sp>
      <p:sp>
        <p:nvSpPr>
          <p:cNvPr id="29" name="Text 24">
            <a:extLst xmlns:a="http://schemas.openxmlformats.org/drawingml/2006/main">
              <a:ext uri="{FF2B5EF4-FFF2-40B4-BE49-F238E27FC236}">
                <a16:creationId xmlns:a16="http://schemas.microsoft.com/office/drawing/2014/main" id="{C12F14E9-B234-413F-9CF8-C3BE49F5E72B}"/>
              </a:ext>
            </a:extLst>
          </p:cNvPr>
          <p:cNvSpPr>
            <a:spLocks xmlns:a="http://schemas.openxmlformats.org/drawingml/2006/main" noGrp="1"/>
          </p:cNvSpPr>
          <p:nvPr/>
        </p:nvSpPr>
        <p:spPr>
          <a:xfrm xmlns:a="http://schemas.openxmlformats.org/drawingml/2006/main">
            <a:off x="3931920" y="5669280"/>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30" name="Text 25">
            <a:extLst xmlns:a="http://schemas.openxmlformats.org/drawingml/2006/main">
              <a:ext uri="{FF2B5EF4-FFF2-40B4-BE49-F238E27FC236}">
                <a16:creationId xmlns:a16="http://schemas.microsoft.com/office/drawing/2014/main" id="{A89530C3-4F75-4082-859B-08679F43560A}"/>
              </a:ext>
            </a:extLst>
          </p:cNvPr>
          <p:cNvSpPr>
            <a:spLocks xmlns:a="http://schemas.openxmlformats.org/drawingml/2006/main" noGrp="1"/>
          </p:cNvSpPr>
          <p:nvPr/>
        </p:nvSpPr>
        <p:spPr>
          <a:xfrm xmlns:a="http://schemas.openxmlformats.org/drawingml/2006/main">
            <a:off x="5669280" y="5669280"/>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31" name="Text 26">
            <a:extLst xmlns:a="http://schemas.openxmlformats.org/drawingml/2006/main">
              <a:ext uri="{FF2B5EF4-FFF2-40B4-BE49-F238E27FC236}">
                <a16:creationId xmlns:a16="http://schemas.microsoft.com/office/drawing/2014/main" id="{88E43648-AA5E-417B-9891-AED3C199F8F4}"/>
              </a:ext>
            </a:extLst>
          </p:cNvPr>
          <p:cNvSpPr>
            <a:spLocks xmlns:a="http://schemas.openxmlformats.org/drawingml/2006/main" noGrp="1"/>
          </p:cNvSpPr>
          <p:nvPr/>
        </p:nvSpPr>
        <p:spPr>
          <a:xfrm xmlns:a="http://schemas.openxmlformats.org/drawingml/2006/main">
            <a:off x="896112" y="5888736"/>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provider-request reduction</a:t>
            </a:r>
          </a:p>
        </p:txBody>
      </p:sp>
      <p:sp>
        <p:nvSpPr>
          <p:cNvPr id="32" name="Text 27">
            <a:extLst xmlns:a="http://schemas.openxmlformats.org/drawingml/2006/main">
              <a:ext uri="{FF2B5EF4-FFF2-40B4-BE49-F238E27FC236}">
                <a16:creationId xmlns:a16="http://schemas.microsoft.com/office/drawing/2014/main" id="{55CB3994-36BD-4FB6-8151-FC9E16A19DE5}"/>
              </a:ext>
            </a:extLst>
          </p:cNvPr>
          <p:cNvSpPr>
            <a:spLocks xmlns:a="http://schemas.openxmlformats.org/drawingml/2006/main" noGrp="1"/>
          </p:cNvSpPr>
          <p:nvPr/>
        </p:nvSpPr>
        <p:spPr>
          <a:xfrm xmlns:a="http://schemas.openxmlformats.org/drawingml/2006/main">
            <a:off x="3931920" y="5888736"/>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36.7%</a:t>
            </a:r>
          </a:p>
        </p:txBody>
      </p:sp>
      <p:sp>
        <p:nvSpPr>
          <p:cNvPr id="33" name="Text 28">
            <a:extLst xmlns:a="http://schemas.openxmlformats.org/drawingml/2006/main">
              <a:ext uri="{FF2B5EF4-FFF2-40B4-BE49-F238E27FC236}">
                <a16:creationId xmlns:a16="http://schemas.microsoft.com/office/drawing/2014/main" id="{CF661202-A13F-4D28-9827-79E6E138F3C8}"/>
              </a:ext>
            </a:extLst>
          </p:cNvPr>
          <p:cNvSpPr>
            <a:spLocks xmlns:a="http://schemas.openxmlformats.org/drawingml/2006/main" noGrp="1"/>
          </p:cNvSpPr>
          <p:nvPr/>
        </p:nvSpPr>
        <p:spPr>
          <a:xfrm xmlns:a="http://schemas.openxmlformats.org/drawingml/2006/main">
            <a:off x="5669280" y="5888736"/>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75.0%</a:t>
            </a:r>
          </a:p>
        </p:txBody>
      </p:sp>
      <p:sp>
        <p:nvSpPr>
          <p:cNvPr id="34" name="Text 29">
            <a:extLst xmlns:a="http://schemas.openxmlformats.org/drawingml/2006/main">
              <a:ext uri="{FF2B5EF4-FFF2-40B4-BE49-F238E27FC236}">
                <a16:creationId xmlns:a16="http://schemas.microsoft.com/office/drawing/2014/main" id="{202B07B5-6AF0-4500-A1D1-155DD62A9F17}"/>
              </a:ext>
            </a:extLst>
          </p:cNvPr>
          <p:cNvSpPr>
            <a:spLocks xmlns:a="http://schemas.openxmlformats.org/drawingml/2006/main" noGrp="1"/>
          </p:cNvSpPr>
          <p:nvPr/>
        </p:nvSpPr>
        <p:spPr>
          <a:xfrm xmlns:a="http://schemas.openxmlformats.org/drawingml/2006/main">
            <a:off x="7863840" y="5248656"/>
            <a:ext cx="341345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pilot dispatched label and comment reads before their intended position and duplicated or reordered tools. It is archived rather than deleted, and a golden-trace regression test now rejects an otherwise eligible suffix.</a:t>
            </a:r>
          </a:p>
        </p:txBody>
      </p:sp>
    </p:spTree>
    <p:extLst>
      <p:ext uri="{BB962C8B-B14F-4D97-AF65-F5344CB8AC3E}">
        <p14:creationId xmlns:p14="http://schemas.microsoft.com/office/powerpoint/2010/main" val="17992773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582EB9C-F795-461C-824C-E983C547AB8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043BFA-3AE6-4199-90F6-BD1BD5D7D95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01BC4920-F6FE-4D44-96A1-B59A4A48E17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§2.2</a:t>
            </a:r>
          </a:p>
        </p:txBody>
      </p:sp>
      <p:sp>
        <p:nvSpPr>
          <p:cNvPr id="5" name="Text 3">
            <a:extLst xmlns:a="http://schemas.openxmlformats.org/drawingml/2006/main">
              <a:ext uri="{FF2B5EF4-FFF2-40B4-BE49-F238E27FC236}">
                <a16:creationId xmlns:a16="http://schemas.microsoft.com/office/drawing/2014/main" id="{9ED54033-8385-421C-B360-CF74DFCEEDA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compiler emits an artifact that decides whether to run</a:t>
            </a:r>
          </a:p>
        </p:txBody>
      </p:sp>
      <p:sp>
        <p:nvSpPr>
          <p:cNvPr id="6" name="Text 4">
            <a:extLst xmlns:a="http://schemas.openxmlformats.org/drawingml/2006/main">
              <a:ext uri="{FF2B5EF4-FFF2-40B4-BE49-F238E27FC236}">
                <a16:creationId xmlns:a16="http://schemas.microsoft.com/office/drawing/2014/main" id="{C64B0BD3-A8C6-4B11-9935-BFF7FDF6785B}"/>
              </a:ext>
            </a:extLst>
          </p:cNvPr>
          <p:cNvSpPr>
            <a:spLocks xmlns:a="http://schemas.openxmlformats.org/drawingml/2006/main" noGrp="1"/>
          </p:cNvSpPr>
          <p:nvPr/>
        </p:nvSpPr>
        <p:spPr>
          <a:xfrm xmlns:a="http://schemas.openxmlformats.org/drawingml/2006/main">
            <a:off x="640080" y="120700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ARTIFACT</a:t>
            </a:r>
          </a:p>
        </p:txBody>
      </p:sp>
      <p:sp>
        <p:nvSpPr>
          <p:cNvPr id="7" name="Shape 5">
            <a:extLst xmlns:a="http://schemas.openxmlformats.org/drawingml/2006/main">
              <a:ext uri="{FF2B5EF4-FFF2-40B4-BE49-F238E27FC236}">
                <a16:creationId xmlns:a16="http://schemas.microsoft.com/office/drawing/2014/main" id="{59D87D7D-7A6C-4ED2-96F5-D77B7BBAB07E}"/>
              </a:ext>
            </a:extLst>
          </p:cNvPr>
          <p:cNvSpPr>
            <a:spLocks xmlns:a="http://schemas.openxmlformats.org/drawingml/2006/main" noGrp="1"/>
          </p:cNvSpPr>
          <p:nvPr/>
        </p:nvSpPr>
        <p:spPr>
          <a:xfrm xmlns:a="http://schemas.openxmlformats.org/drawingml/2006/main">
            <a:off x="640080"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0bacce38a624463e"/>
          <a:stretch xmlns:a="http://schemas.openxmlformats.org/drawingml/2006/main">
            <a:fillRect l="0" t="0" r="0" b="0"/>
          </a:stretch>
        </p:blipFill>
        <p:spPr>
          <a:xfrm xmlns:a="http://schemas.openxmlformats.org/drawingml/2006/main">
            <a:off x="1344587" y="1591056"/>
            <a:ext cx="257175" cy="27432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2CC0A6CC-10E3-484C-A9A0-6DC6B212BAFA}"/>
              </a:ext>
            </a:extLst>
          </p:cNvPr>
          <p:cNvSpPr>
            <a:spLocks xmlns:a="http://schemas.openxmlformats.org/drawingml/2006/main" noGrp="1"/>
          </p:cNvSpPr>
          <p:nvPr/>
        </p:nvSpPr>
        <p:spPr>
          <a:xfrm xmlns:a="http://schemas.openxmlformats.org/drawingml/2006/main">
            <a:off x="694944"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deterministic</a:t>
            </a:r>
          </a:p>
          <a:p xmlns:a="http://schemas.openxmlformats.org/drawingml/2006/main">
            <a:pPr marL="0" indent="0" algn="ctr">
              <a:lnSpc>
                <a:spcPct val="100000"/>
              </a:lnSpc>
              <a:buNone/>
            </a:pPr>
            <a:r>
              <a:rPr sz="950">
                <a:solidFill>
                  <a:srgbClr val="5A6B84"/>
                </a:solidFill>
                <a:latin typeface="Calibri"/>
                <a:ea typeface="Calibri"/>
                <a:cs typeface="Calibri"/>
              </a:rPr>
              <a:t>program</a:t>
            </a:r>
          </a:p>
        </p:txBody>
      </p:sp>
      <p:sp>
        <p:nvSpPr>
          <p:cNvPr id="10" name="Shape 7">
            <a:extLst xmlns:a="http://schemas.openxmlformats.org/drawingml/2006/main">
              <a:ext uri="{FF2B5EF4-FFF2-40B4-BE49-F238E27FC236}">
                <a16:creationId xmlns:a16="http://schemas.microsoft.com/office/drawing/2014/main" id="{5E7F5211-04F9-4606-8CA8-C2A7B7F964A5}"/>
              </a:ext>
            </a:extLst>
          </p:cNvPr>
          <p:cNvSpPr>
            <a:spLocks xmlns:a="http://schemas.openxmlformats.org/drawingml/2006/main" noGrp="1"/>
          </p:cNvSpPr>
          <p:nvPr/>
        </p:nvSpPr>
        <p:spPr>
          <a:xfrm xmlns:a="http://schemas.openxmlformats.org/drawingml/2006/main">
            <a:off x="2489149"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3b52f5b2f5c94c04"/>
          <a:stretch xmlns:a="http://schemas.openxmlformats.org/drawingml/2006/main">
            <a:fillRect l="0" t="0" r="0" b="0"/>
          </a:stretch>
        </p:blipFill>
        <p:spPr>
          <a:xfrm xmlns:a="http://schemas.openxmlformats.org/drawingml/2006/main">
            <a:off x="3159366" y="1591056"/>
            <a:ext cx="325755" cy="27432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1237AC3D-20E0-4F9C-B79A-2629007E3FD6}"/>
              </a:ext>
            </a:extLst>
          </p:cNvPr>
          <p:cNvSpPr>
            <a:spLocks xmlns:a="http://schemas.openxmlformats.org/drawingml/2006/main" noGrp="1"/>
          </p:cNvSpPr>
          <p:nvPr/>
        </p:nvSpPr>
        <p:spPr>
          <a:xfrm xmlns:a="http://schemas.openxmlformats.org/drawingml/2006/main">
            <a:off x="2544013"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hard</a:t>
            </a:r>
          </a:p>
          <a:p xmlns:a="http://schemas.openxmlformats.org/drawingml/2006/main">
            <a:pPr marL="0" indent="0" algn="ctr">
              <a:lnSpc>
                <a:spcPct val="100000"/>
              </a:lnSpc>
              <a:buNone/>
            </a:pPr>
            <a:r>
              <a:rPr sz="950">
                <a:solidFill>
                  <a:srgbClr val="5A6B84"/>
                </a:solidFill>
                <a:latin typeface="Calibri"/>
                <a:ea typeface="Calibri"/>
                <a:cs typeface="Calibri"/>
              </a:rPr>
              <a:t>guard</a:t>
            </a:r>
          </a:p>
        </p:txBody>
      </p:sp>
      <p:sp>
        <p:nvSpPr>
          <p:cNvPr id="13" name="Shape 9">
            <a:extLst xmlns:a="http://schemas.openxmlformats.org/drawingml/2006/main">
              <a:ext uri="{FF2B5EF4-FFF2-40B4-BE49-F238E27FC236}">
                <a16:creationId xmlns:a16="http://schemas.microsoft.com/office/drawing/2014/main" id="{C54B0711-72E7-4587-B7BD-8B1B58600519}"/>
              </a:ext>
            </a:extLst>
          </p:cNvPr>
          <p:cNvSpPr>
            <a:spLocks xmlns:a="http://schemas.openxmlformats.org/drawingml/2006/main" noGrp="1"/>
          </p:cNvSpPr>
          <p:nvPr/>
        </p:nvSpPr>
        <p:spPr>
          <a:xfrm xmlns:a="http://schemas.openxmlformats.org/drawingml/2006/main">
            <a:off x="433821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4" name="Image 2"/>
          <p:cNvPicPr>
            <a:picLocks xmlns:a="http://schemas.openxmlformats.org/drawingml/2006/main" noChangeAspect="1"/>
          </p:cNvPicPr>
          <p:nvPr/>
        </p:nvPicPr>
        <p:blipFill>
          <a:blip xmlns:r="http://schemas.openxmlformats.org/officeDocument/2006/relationships" xmlns:a="http://schemas.openxmlformats.org/drawingml/2006/main" r:embed="Rcd2d6dec024f4431"/>
          <a:stretch xmlns:a="http://schemas.openxmlformats.org/drawingml/2006/main">
            <a:fillRect l="0" t="0" r="0" b="0"/>
          </a:stretch>
        </p:blipFill>
        <p:spPr>
          <a:xfrm xmlns:a="http://schemas.openxmlformats.org/drawingml/2006/main">
            <a:off x="5046622" y="1591056"/>
            <a:ext cx="249382" cy="27432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54E32B84-4EC8-4290-8855-4E0BB4D05AB6}"/>
              </a:ext>
            </a:extLst>
          </p:cNvPr>
          <p:cNvSpPr>
            <a:spLocks xmlns:a="http://schemas.openxmlformats.org/drawingml/2006/main" noGrp="1"/>
          </p:cNvSpPr>
          <p:nvPr/>
        </p:nvSpPr>
        <p:spPr>
          <a:xfrm xmlns:a="http://schemas.openxmlformats.org/drawingml/2006/main">
            <a:off x="439308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post-execution</a:t>
            </a:r>
          </a:p>
          <a:p xmlns:a="http://schemas.openxmlformats.org/drawingml/2006/main">
            <a:pPr marL="0" indent="0" algn="ctr">
              <a:lnSpc>
                <a:spcPct val="100000"/>
              </a:lnSpc>
              <a:buNone/>
            </a:pPr>
            <a:r>
              <a:rPr sz="950">
                <a:solidFill>
                  <a:srgbClr val="5A6B84"/>
                </a:solidFill>
                <a:latin typeface="Calibri"/>
                <a:ea typeface="Calibri"/>
                <a:cs typeface="Calibri"/>
              </a:rPr>
              <a:t>verifier</a:t>
            </a:r>
          </a:p>
        </p:txBody>
      </p:sp>
      <p:sp>
        <p:nvSpPr>
          <p:cNvPr id="16" name="Shape 11">
            <a:extLst xmlns:a="http://schemas.openxmlformats.org/drawingml/2006/main">
              <a:ext uri="{FF2B5EF4-FFF2-40B4-BE49-F238E27FC236}">
                <a16:creationId xmlns:a16="http://schemas.microsoft.com/office/drawing/2014/main" id="{910BE7A5-2562-4385-A148-8C3BB7DE5EC5}"/>
              </a:ext>
            </a:extLst>
          </p:cNvPr>
          <p:cNvSpPr>
            <a:spLocks xmlns:a="http://schemas.openxmlformats.org/drawingml/2006/main" noGrp="1"/>
          </p:cNvSpPr>
          <p:nvPr/>
        </p:nvSpPr>
        <p:spPr>
          <a:xfrm xmlns:a="http://schemas.openxmlformats.org/drawingml/2006/main">
            <a:off x="618728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b34d1ae9670b4ab0"/>
          <a:stretch xmlns:a="http://schemas.openxmlformats.org/drawingml/2006/main">
            <a:fillRect l="0" t="0" r="0" b="0"/>
          </a:stretch>
        </p:blipFill>
        <p:spPr>
          <a:xfrm xmlns:a="http://schemas.openxmlformats.org/drawingml/2006/main">
            <a:off x="6921798" y="1591056"/>
            <a:ext cx="197167"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53D4AC16-4E85-4CEE-AC45-F2B85B9EFA59}"/>
              </a:ext>
            </a:extLst>
          </p:cNvPr>
          <p:cNvSpPr>
            <a:spLocks xmlns:a="http://schemas.openxmlformats.org/drawingml/2006/main" noGrp="1"/>
          </p:cNvSpPr>
          <p:nvPr/>
        </p:nvSpPr>
        <p:spPr>
          <a:xfrm xmlns:a="http://schemas.openxmlformats.org/drawingml/2006/main">
            <a:off x="624215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nonconformity</a:t>
            </a:r>
          </a:p>
          <a:p xmlns:a="http://schemas.openxmlformats.org/drawingml/2006/main">
            <a:pPr marL="0" indent="0" algn="ctr">
              <a:lnSpc>
                <a:spcPct val="100000"/>
              </a:lnSpc>
              <a:buNone/>
            </a:pPr>
            <a:r>
              <a:rPr sz="950">
                <a:solidFill>
                  <a:srgbClr val="5A6B84"/>
                </a:solidFill>
                <a:latin typeface="Calibri"/>
                <a:ea typeface="Calibri"/>
                <a:cs typeface="Calibri"/>
              </a:rPr>
              <a:t>score</a:t>
            </a:r>
          </a:p>
        </p:txBody>
      </p:sp>
      <p:sp>
        <p:nvSpPr>
          <p:cNvPr id="19" name="Shape 13">
            <a:extLst xmlns:a="http://schemas.openxmlformats.org/drawingml/2006/main">
              <a:ext uri="{FF2B5EF4-FFF2-40B4-BE49-F238E27FC236}">
                <a16:creationId xmlns:a16="http://schemas.microsoft.com/office/drawing/2014/main" id="{82E23B89-D92B-492F-B679-46E8E988D589}"/>
              </a:ext>
            </a:extLst>
          </p:cNvPr>
          <p:cNvSpPr>
            <a:spLocks xmlns:a="http://schemas.openxmlformats.org/drawingml/2006/main" noGrp="1"/>
          </p:cNvSpPr>
          <p:nvPr/>
        </p:nvSpPr>
        <p:spPr>
          <a:xfrm xmlns:a="http://schemas.openxmlformats.org/drawingml/2006/main">
            <a:off x="8036357"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0" name="Image 4"/>
          <p:cNvPicPr>
            <a:picLocks xmlns:a="http://schemas.openxmlformats.org/drawingml/2006/main" noChangeAspect="1"/>
          </p:cNvPicPr>
          <p:nvPr/>
        </p:nvPicPr>
        <p:blipFill>
          <a:blip xmlns:r="http://schemas.openxmlformats.org/officeDocument/2006/relationships" xmlns:a="http://schemas.openxmlformats.org/drawingml/2006/main" r:embed="R26a29eafff354f15"/>
          <a:stretch xmlns:a="http://schemas.openxmlformats.org/drawingml/2006/main">
            <a:fillRect l="0" t="0" r="0" b="0"/>
          </a:stretch>
        </p:blipFill>
        <p:spPr>
          <a:xfrm xmlns:a="http://schemas.openxmlformats.org/drawingml/2006/main">
            <a:off x="8774201" y="1591056"/>
            <a:ext cx="190500" cy="274320"/>
          </a:xfrm>
          <a:prstGeom xmlns:a="http://schemas.openxmlformats.org/drawingml/2006/main" prst="rect">
            <a:avLst/>
          </a:prstGeom>
        </p:spPr>
      </p:pic>
      <p:sp>
        <p:nvSpPr>
          <p:cNvPr id="21" name="Text 14">
            <a:extLst xmlns:a="http://schemas.openxmlformats.org/drawingml/2006/main">
              <a:ext uri="{FF2B5EF4-FFF2-40B4-BE49-F238E27FC236}">
                <a16:creationId xmlns:a16="http://schemas.microsoft.com/office/drawing/2014/main" id="{EE39680C-479C-41E1-8EDB-D6313C6339CA}"/>
              </a:ext>
            </a:extLst>
          </p:cNvPr>
          <p:cNvSpPr>
            <a:spLocks xmlns:a="http://schemas.openxmlformats.org/drawingml/2006/main" noGrp="1"/>
          </p:cNvSpPr>
          <p:nvPr/>
        </p:nvSpPr>
        <p:spPr>
          <a:xfrm xmlns:a="http://schemas.openxmlformats.org/drawingml/2006/main">
            <a:off x="8091221"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calibrated</a:t>
            </a:r>
          </a:p>
          <a:p xmlns:a="http://schemas.openxmlformats.org/drawingml/2006/main">
            <a:pPr marL="0" indent="0" algn="ctr">
              <a:lnSpc>
                <a:spcPct val="100000"/>
              </a:lnSpc>
              <a:buNone/>
            </a:pPr>
            <a:r>
              <a:rPr sz="950">
                <a:solidFill>
                  <a:srgbClr val="5A6B84"/>
                </a:solidFill>
                <a:latin typeface="Calibri"/>
                <a:ea typeface="Calibri"/>
                <a:cs typeface="Calibri"/>
              </a:rPr>
              <a:t>threshold</a:t>
            </a:r>
          </a:p>
        </p:txBody>
      </p:sp>
      <p:sp>
        <p:nvSpPr>
          <p:cNvPr id="22" name="Shape 15">
            <a:extLst xmlns:a="http://schemas.openxmlformats.org/drawingml/2006/main">
              <a:ext uri="{FF2B5EF4-FFF2-40B4-BE49-F238E27FC236}">
                <a16:creationId xmlns:a16="http://schemas.microsoft.com/office/drawing/2014/main" id="{4D3AD86E-E713-4BFB-A8DF-1FF7897596C3}"/>
              </a:ext>
            </a:extLst>
          </p:cNvPr>
          <p:cNvSpPr>
            <a:spLocks xmlns:a="http://schemas.openxmlformats.org/drawingml/2006/main" noGrp="1"/>
          </p:cNvSpPr>
          <p:nvPr/>
        </p:nvSpPr>
        <p:spPr>
          <a:xfrm xmlns:a="http://schemas.openxmlformats.org/drawingml/2006/main">
            <a:off x="9885426"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3" name="Image 5"/>
          <p:cNvPicPr>
            <a:picLocks xmlns:a="http://schemas.openxmlformats.org/drawingml/2006/main" noChangeAspect="1"/>
          </p:cNvPicPr>
          <p:nvPr/>
        </p:nvPicPr>
        <p:blipFill>
          <a:blip xmlns:r="http://schemas.openxmlformats.org/officeDocument/2006/relationships" xmlns:a="http://schemas.openxmlformats.org/drawingml/2006/main" r:embed="R646661bb9ef5488f"/>
          <a:stretch xmlns:a="http://schemas.openxmlformats.org/drawingml/2006/main">
            <a:fillRect l="0" t="0" r="0" b="0"/>
          </a:stretch>
        </p:blipFill>
        <p:spPr>
          <a:xfrm xmlns:a="http://schemas.openxmlformats.org/drawingml/2006/main">
            <a:off x="10529926" y="1591056"/>
            <a:ext cx="377190" cy="27432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72DA68F5-177B-4B53-97A1-8CF7F79B3919}"/>
              </a:ext>
            </a:extLst>
          </p:cNvPr>
          <p:cNvSpPr>
            <a:spLocks xmlns:a="http://schemas.openxmlformats.org/drawingml/2006/main" noGrp="1"/>
          </p:cNvSpPr>
          <p:nvPr/>
        </p:nvSpPr>
        <p:spPr>
          <a:xfrm xmlns:a="http://schemas.openxmlformats.org/drawingml/2006/main">
            <a:off x="9940290"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manifest</a:t>
            </a:r>
          </a:p>
          <a:p xmlns:a="http://schemas.openxmlformats.org/drawingml/2006/main">
            <a:pPr marL="0" indent="0" algn="ctr">
              <a:lnSpc>
                <a:spcPct val="100000"/>
              </a:lnSpc>
              <a:buNone/>
            </a:pPr>
            <a:r>
              <a:rPr sz="950">
                <a:solidFill>
                  <a:srgbClr val="5A6B84"/>
                </a:solidFill>
                <a:latin typeface="Calibri"/>
                <a:ea typeface="Calibri"/>
                <a:cs typeface="Calibri"/>
              </a:rPr>
              <a:t>pins</a:t>
            </a:r>
          </a:p>
        </p:txBody>
      </p:sp>
      <p:sp>
        <p:nvSpPr>
          <p:cNvPr id="25" name="Shape 17">
            <a:extLst xmlns:a="http://schemas.openxmlformats.org/drawingml/2006/main">
              <a:ext uri="{FF2B5EF4-FFF2-40B4-BE49-F238E27FC236}">
                <a16:creationId xmlns:a16="http://schemas.microsoft.com/office/drawing/2014/main" id="{57057271-B69B-4B19-BB7B-02D9BB8EFCC6}"/>
              </a:ext>
            </a:extLst>
          </p:cNvPr>
          <p:cNvSpPr>
            <a:spLocks xmlns:a="http://schemas.openxmlformats.org/drawingml/2006/main" noGrp="1"/>
          </p:cNvSpPr>
          <p:nvPr/>
        </p:nvSpPr>
        <p:spPr>
          <a:xfrm xmlns:a="http://schemas.openxmlformats.org/drawingml/2006/main">
            <a:off x="64008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26" name="Image 6"/>
          <p:cNvPicPr>
            <a:picLocks xmlns:a="http://schemas.openxmlformats.org/drawingml/2006/main" noChangeAspect="1"/>
          </p:cNvPicPr>
          <p:nvPr/>
        </p:nvPicPr>
        <p:blipFill>
          <a:blip xmlns:r="http://schemas.openxmlformats.org/officeDocument/2006/relationships" xmlns:a="http://schemas.openxmlformats.org/drawingml/2006/main" r:embed="R9b73d701d7e44040"/>
          <a:stretch xmlns:a="http://schemas.openxmlformats.org/drawingml/2006/main">
            <a:fillRect l="0" t="0" r="0" b="0"/>
          </a:stretch>
        </p:blipFill>
        <p:spPr>
          <a:xfrm xmlns:a="http://schemas.openxmlformats.org/drawingml/2006/main">
            <a:off x="877824" y="2681103"/>
            <a:ext cx="4248760" cy="252209"/>
          </a:xfrm>
          <a:prstGeom xmlns:a="http://schemas.openxmlformats.org/drawingml/2006/main" prst="rect">
            <a:avLst/>
          </a:prstGeom>
        </p:spPr>
      </p:pic>
      <p:sp>
        <p:nvSpPr>
          <p:cNvPr id="27" name="Text 18">
            <a:extLst xmlns:a="http://schemas.openxmlformats.org/drawingml/2006/main">
              <a:ext uri="{FF2B5EF4-FFF2-40B4-BE49-F238E27FC236}">
                <a16:creationId xmlns:a16="http://schemas.microsoft.com/office/drawing/2014/main" id="{20108510-3A56-48F2-91EA-09389608A001}"/>
              </a:ext>
            </a:extLst>
          </p:cNvPr>
          <p:cNvSpPr>
            <a:spLocks xmlns:a="http://schemas.openxmlformats.org/drawingml/2006/main" noGrp="1"/>
          </p:cNvSpPr>
          <p:nvPr/>
        </p:nvSpPr>
        <p:spPr>
          <a:xfrm xmlns:a="http://schemas.openxmlformats.org/drawingml/2006/main">
            <a:off x="877824" y="3054096"/>
            <a:ext cx="481568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SELECTIVE DISPATCH — if any precondition fails, the baseline agent runs. A pre-commit failure with a clean staging proof also returns the baseline; a dirty failure is an incident, not a fallback.</a:t>
            </a:r>
          </a:p>
        </p:txBody>
      </p:sp>
      <p:sp>
        <p:nvSpPr>
          <p:cNvPr id="28" name="Text 19">
            <a:extLst xmlns:a="http://schemas.openxmlformats.org/drawingml/2006/main">
              <a:ext uri="{FF2B5EF4-FFF2-40B4-BE49-F238E27FC236}">
                <a16:creationId xmlns:a16="http://schemas.microsoft.com/office/drawing/2014/main" id="{DBB8E821-A3CD-4B9D-A56E-17723F38A03E}"/>
              </a:ext>
            </a:extLst>
          </p:cNvPr>
          <p:cNvSpPr>
            <a:spLocks xmlns:a="http://schemas.openxmlformats.org/drawingml/2006/main" noGrp="1"/>
          </p:cNvSpPr>
          <p:nvPr/>
        </p:nvSpPr>
        <p:spPr>
          <a:xfrm xmlns:a="http://schemas.openxmlformats.org/drawingml/2006/main">
            <a:off x="5236312"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(3)</a:t>
            </a:r>
          </a:p>
        </p:txBody>
      </p:sp>
      <p:sp>
        <p:nvSpPr>
          <p:cNvPr id="29" name="Shape 20">
            <a:extLst xmlns:a="http://schemas.openxmlformats.org/drawingml/2006/main">
              <a:ext uri="{FF2B5EF4-FFF2-40B4-BE49-F238E27FC236}">
                <a16:creationId xmlns:a16="http://schemas.microsoft.com/office/drawing/2014/main" id="{800A005A-C375-4A9C-A05A-A1457106DE40}"/>
              </a:ext>
            </a:extLst>
          </p:cNvPr>
          <p:cNvSpPr>
            <a:spLocks xmlns:a="http://schemas.openxmlformats.org/drawingml/2006/main" noGrp="1"/>
          </p:cNvSpPr>
          <p:nvPr/>
        </p:nvSpPr>
        <p:spPr>
          <a:xfrm xmlns:a="http://schemas.openxmlformats.org/drawingml/2006/main">
            <a:off x="626044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30" name="Image 7"/>
          <p:cNvPicPr>
            <a:picLocks xmlns:a="http://schemas.openxmlformats.org/drawingml/2006/main" noChangeAspect="1"/>
          </p:cNvPicPr>
          <p:nvPr/>
        </p:nvPicPr>
        <p:blipFill>
          <a:blip xmlns:r="http://schemas.openxmlformats.org/officeDocument/2006/relationships" xmlns:a="http://schemas.openxmlformats.org/drawingml/2006/main" r:embed="Rf72f8d857c3c4903"/>
          <a:stretch xmlns:a="http://schemas.openxmlformats.org/drawingml/2006/main">
            <a:fillRect l="0" t="0" r="0" b="0"/>
          </a:stretch>
        </p:blipFill>
        <p:spPr>
          <a:xfrm xmlns:a="http://schemas.openxmlformats.org/drawingml/2006/main">
            <a:off x="6498184" y="2633472"/>
            <a:ext cx="2558230" cy="621792"/>
          </a:xfrm>
          <a:prstGeom xmlns:a="http://schemas.openxmlformats.org/drawingml/2006/main" prst="rect">
            <a:avLst/>
          </a:prstGeom>
        </p:spPr>
      </p:pic>
      <p:sp>
        <p:nvSpPr>
          <p:cNvPr id="31" name="Text 21">
            <a:extLst xmlns:a="http://schemas.openxmlformats.org/drawingml/2006/main">
              <a:ext uri="{FF2B5EF4-FFF2-40B4-BE49-F238E27FC236}">
                <a16:creationId xmlns:a16="http://schemas.microsoft.com/office/drawing/2014/main" id="{5FA8C8CA-C335-4D3C-9839-12A50FB92997}"/>
              </a:ext>
            </a:extLst>
          </p:cNvPr>
          <p:cNvSpPr>
            <a:spLocks xmlns:a="http://schemas.openxmlformats.org/drawingml/2006/main" noGrp="1"/>
          </p:cNvSpPr>
          <p:nvPr/>
        </p:nvSpPr>
        <p:spPr>
          <a:xfrm xmlns:a="http://schemas.openxmlformats.org/drawingml/2006/main">
            <a:off x="6498184" y="3328416"/>
            <a:ext cx="481568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CONSTRAINED OBJECTIVE — maximize coverage-weighted saving against the unchanged agent B, subject to bounded selective risk. Returning no artifact (Retire) is a valid solution.</a:t>
            </a:r>
          </a:p>
        </p:txBody>
      </p:sp>
      <p:sp>
        <p:nvSpPr>
          <p:cNvPr id="32" name="Text 22">
            <a:extLst xmlns:a="http://schemas.openxmlformats.org/drawingml/2006/main">
              <a:ext uri="{FF2B5EF4-FFF2-40B4-BE49-F238E27FC236}">
                <a16:creationId xmlns:a16="http://schemas.microsoft.com/office/drawing/2014/main" id="{68388E31-8074-4B54-9390-C8525EDA54E7}"/>
              </a:ext>
            </a:extLst>
          </p:cNvPr>
          <p:cNvSpPr>
            <a:spLocks xmlns:a="http://schemas.openxmlformats.org/drawingml/2006/main" noGrp="1"/>
          </p:cNvSpPr>
          <p:nvPr/>
        </p:nvSpPr>
        <p:spPr>
          <a:xfrm xmlns:a="http://schemas.openxmlformats.org/drawingml/2006/main">
            <a:off x="10856671"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(4) (5)</a:t>
            </a:r>
          </a:p>
        </p:txBody>
      </p:sp>
      <p:sp>
        <p:nvSpPr>
          <p:cNvPr id="33" name="Shape 23">
            <a:extLst xmlns:a="http://schemas.openxmlformats.org/drawingml/2006/main">
              <a:ext uri="{FF2B5EF4-FFF2-40B4-BE49-F238E27FC236}">
                <a16:creationId xmlns:a16="http://schemas.microsoft.com/office/drawing/2014/main" id="{76A4D3A9-BC19-487E-8B96-00F1915FBE1B}"/>
              </a:ext>
            </a:extLst>
          </p:cNvPr>
          <p:cNvSpPr>
            <a:spLocks xmlns:a="http://schemas.openxmlformats.org/drawingml/2006/main" noGrp="1"/>
          </p:cNvSpPr>
          <p:nvPr/>
        </p:nvSpPr>
        <p:spPr>
          <a:xfrm xmlns:a="http://schemas.openxmlformats.org/drawingml/2006/main">
            <a:off x="640080" y="3913632"/>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4">
            <a:extLst xmlns:a="http://schemas.openxmlformats.org/drawingml/2006/main">
              <a:ext uri="{FF2B5EF4-FFF2-40B4-BE49-F238E27FC236}">
                <a16:creationId xmlns:a16="http://schemas.microsoft.com/office/drawing/2014/main" id="{BFB2F8A6-DC17-4785-86D1-133F384B81D7}"/>
              </a:ext>
            </a:extLst>
          </p:cNvPr>
          <p:cNvSpPr>
            <a:spLocks xmlns:a="http://schemas.openxmlformats.org/drawingml/2006/main" noGrp="1"/>
          </p:cNvSpPr>
          <p:nvPr/>
        </p:nvSpPr>
        <p:spPr>
          <a:xfrm xmlns:a="http://schemas.openxmlformats.org/drawingml/2006/main">
            <a:off x="896112" y="4005072"/>
            <a:ext cx="10399471"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b="1">
                <a:solidFill>
                  <a:srgbClr val="0E1E3A"/>
                </a:solidFill>
                <a:latin typeface="Calibri"/>
                <a:ea typeface="Calibri"/>
                <a:cs typeface="Calibri"/>
              </a:rPr>
              <a:t>Honest reading of the objective. </a:t>
            </a:r>
            <a:r>
              <a:rPr sz="1150">
                <a:solidFill>
                  <a:srgbClr val="24354F"/>
                </a:solidFill>
                <a:latin typeface="Calibri"/>
                <a:ea typeface="Calibri"/>
                <a:cs typeface="Calibri"/>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p>
        </p:txBody>
      </p:sp>
      <p:sp>
        <p:nvSpPr>
          <p:cNvPr id="35" name="Text 25">
            <a:extLst xmlns:a="http://schemas.openxmlformats.org/drawingml/2006/main">
              <a:ext uri="{FF2B5EF4-FFF2-40B4-BE49-F238E27FC236}">
                <a16:creationId xmlns:a16="http://schemas.microsoft.com/office/drawing/2014/main" id="{889E3655-FC9F-4DB0-A1B4-366FCEABAFAC}"/>
              </a:ext>
            </a:extLst>
          </p:cNvPr>
          <p:cNvSpPr>
            <a:spLocks xmlns:a="http://schemas.openxmlformats.org/drawingml/2006/main" noGrp="1"/>
          </p:cNvSpPr>
          <p:nvPr/>
        </p:nvSpPr>
        <p:spPr>
          <a:xfrm xmlns:a="http://schemas.openxmlformats.org/drawingml/2006/main">
            <a:off x="640080" y="4956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TWO DECISION LAYERS, DELIBERATELY SEPARATED</a:t>
            </a:r>
          </a:p>
        </p:txBody>
      </p:sp>
      <p:sp>
        <p:nvSpPr>
          <p:cNvPr id="36" name="Shape 26">
            <a:extLst xmlns:a="http://schemas.openxmlformats.org/drawingml/2006/main">
              <a:ext uri="{FF2B5EF4-FFF2-40B4-BE49-F238E27FC236}">
                <a16:creationId xmlns:a16="http://schemas.microsoft.com/office/drawing/2014/main" id="{60E5E73D-B436-411C-BE33-885C0A6F62A0}"/>
              </a:ext>
            </a:extLst>
          </p:cNvPr>
          <p:cNvSpPr>
            <a:spLocks xmlns:a="http://schemas.openxmlformats.org/drawingml/2006/main" noGrp="1"/>
          </p:cNvSpPr>
          <p:nvPr/>
        </p:nvSpPr>
        <p:spPr>
          <a:xfrm xmlns:a="http://schemas.openxmlformats.org/drawingml/2006/main">
            <a:off x="64008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27">
            <a:extLst xmlns:a="http://schemas.openxmlformats.org/drawingml/2006/main">
              <a:ext uri="{FF2B5EF4-FFF2-40B4-BE49-F238E27FC236}">
                <a16:creationId xmlns:a16="http://schemas.microsoft.com/office/drawing/2014/main" id="{71591C0F-D8F3-4B25-9209-0901DDC921C5}"/>
              </a:ext>
            </a:extLst>
          </p:cNvPr>
          <p:cNvSpPr>
            <a:spLocks xmlns:a="http://schemas.openxmlformats.org/drawingml/2006/main" noGrp="1"/>
          </p:cNvSpPr>
          <p:nvPr/>
        </p:nvSpPr>
        <p:spPr>
          <a:xfrm xmlns:a="http://schemas.openxmlformats.org/drawingml/2006/main">
            <a:off x="87782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Compiler layer</a:t>
            </a:r>
          </a:p>
        </p:txBody>
      </p:sp>
      <p:sp>
        <p:nvSpPr>
          <p:cNvPr id="38" name="Text 28">
            <a:extLst xmlns:a="http://schemas.openxmlformats.org/drawingml/2006/main">
              <a:ext uri="{FF2B5EF4-FFF2-40B4-BE49-F238E27FC236}">
                <a16:creationId xmlns:a16="http://schemas.microsoft.com/office/drawing/2014/main" id="{A344E4C4-BF55-4047-9844-F1482ED58530}"/>
              </a:ext>
            </a:extLst>
          </p:cNvPr>
          <p:cNvSpPr>
            <a:spLocks xmlns:a="http://schemas.openxmlformats.org/drawingml/2006/main" noGrp="1"/>
          </p:cNvSpPr>
          <p:nvPr/>
        </p:nvSpPr>
        <p:spPr>
          <a:xfrm xmlns:a="http://schemas.openxmlformats.org/drawingml/2006/main">
            <a:off x="87782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Action set is exactly {B, A}: retain the baseline, or admit one compiled artifact. Binary by construction.</a:t>
            </a:r>
          </a:p>
        </p:txBody>
      </p:sp>
      <p:sp>
        <p:nvSpPr>
          <p:cNvPr id="39" name="Shape 29">
            <a:extLst xmlns:a="http://schemas.openxmlformats.org/drawingml/2006/main">
              <a:ext uri="{FF2B5EF4-FFF2-40B4-BE49-F238E27FC236}">
                <a16:creationId xmlns:a16="http://schemas.microsoft.com/office/drawing/2014/main" id="{262DBA16-BF11-4301-B421-CB83A3645B88}"/>
              </a:ext>
            </a:extLst>
          </p:cNvPr>
          <p:cNvSpPr>
            <a:spLocks xmlns:a="http://schemas.openxmlformats.org/drawingml/2006/main" noGrp="1"/>
          </p:cNvSpPr>
          <p:nvPr/>
        </p:nvSpPr>
        <p:spPr>
          <a:xfrm xmlns:a="http://schemas.openxmlformats.org/drawingml/2006/main">
            <a:off x="626044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0" name="Text 30">
            <a:extLst xmlns:a="http://schemas.openxmlformats.org/drawingml/2006/main">
              <a:ext uri="{FF2B5EF4-FFF2-40B4-BE49-F238E27FC236}">
                <a16:creationId xmlns:a16="http://schemas.microsoft.com/office/drawing/2014/main" id="{458BD751-2529-4643-AD24-F6DE448F6A1E}"/>
              </a:ext>
            </a:extLst>
          </p:cNvPr>
          <p:cNvSpPr>
            <a:spLocks xmlns:a="http://schemas.openxmlformats.org/drawingml/2006/main" noGrp="1"/>
          </p:cNvSpPr>
          <p:nvPr/>
        </p:nvSpPr>
        <p:spPr>
          <a:xfrm xmlns:a="http://schemas.openxmlformats.org/drawingml/2006/main">
            <a:off x="649818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A3563"/>
                </a:solidFill>
                <a:latin typeface="Cambria"/>
                <a:ea typeface="Cambria"/>
                <a:cs typeface="Cambria"/>
              </a:rPr>
              <a:t>Portfolio layer</a:t>
            </a:r>
          </a:p>
        </p:txBody>
      </p:sp>
      <p:sp>
        <p:nvSpPr>
          <p:cNvPr id="41" name="Text 31">
            <a:extLst xmlns:a="http://schemas.openxmlformats.org/drawingml/2006/main">
              <a:ext uri="{FF2B5EF4-FFF2-40B4-BE49-F238E27FC236}">
                <a16:creationId xmlns:a16="http://schemas.microsoft.com/office/drawing/2014/main" id="{350AED90-93F6-4C59-BE74-955197177575}"/>
              </a:ext>
            </a:extLst>
          </p:cNvPr>
          <p:cNvSpPr>
            <a:spLocks xmlns:a="http://schemas.openxmlformats.org/drawingml/2006/main" noGrp="1"/>
          </p:cNvSpPr>
          <p:nvPr/>
        </p:nvSpPr>
        <p:spPr>
          <a:xfrm xmlns:a="http://schemas.openxmlformats.org/drawingml/2006/main">
            <a:off x="649818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Consumes paired evidence for named actions and cannot weaken compiler admission. GCS is narrower: it packages one admitted read program behind a bounded, continuation-pinned task projection.</a:t>
            </a:r>
          </a:p>
        </p:txBody>
      </p:sp>
    </p:spTree>
    <p:extLst>
      <p:ext uri="{BB962C8B-B14F-4D97-AF65-F5344CB8AC3E}">
        <p14:creationId xmlns:p14="http://schemas.microsoft.com/office/powerpoint/2010/main" val="686768912"/>
      </p:ext>
    </p:extLst>
  </p:cSld>
</p:sld>
</file>

<file path=ppt/slides/slide8.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79A4C9-9B95-4809-8D86-B7A9186797B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420D987-AE43-4AD3-83E6-D9D4134F7B9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8</a:t>
            </a:r>
          </a:p>
        </p:txBody>
      </p:sp>
      <p:sp>
        <p:nvSpPr>
          <p:cNvPr id="4" name="Shape 2">
            <a:extLst xmlns:a="http://schemas.openxmlformats.org/drawingml/2006/main">
              <a:ext uri="{FF2B5EF4-FFF2-40B4-BE49-F238E27FC236}">
                <a16:creationId xmlns:a16="http://schemas.microsoft.com/office/drawing/2014/main" id="{250F2228-94DF-454B-BA23-2480607FEE87}"/>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2905FADC-064E-4412-8AF3-010E0D196407}"/>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BF2B6B60-658F-4719-A3AD-9F7407E143E7}"/>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a:t>
            </a:r>
          </a:p>
        </p:txBody>
      </p:sp>
      <p:sp>
        <p:nvSpPr>
          <p:cNvPr id="7" name="Text 5">
            <a:extLst xmlns:a="http://schemas.openxmlformats.org/drawingml/2006/main">
              <a:ext uri="{FF2B5EF4-FFF2-40B4-BE49-F238E27FC236}">
                <a16:creationId xmlns:a16="http://schemas.microsoft.com/office/drawing/2014/main" id="{64EDBB4C-EE62-4B55-86FB-931E2B66C134}"/>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Guarded agentic compaction</a:t>
            </a:r>
          </a:p>
        </p:txBody>
      </p:sp>
      <p:sp>
        <p:nvSpPr>
          <p:cNvPr id="8" name="Text 6">
            <a:extLst xmlns:a="http://schemas.openxmlformats.org/drawingml/2006/main">
              <a:ext uri="{FF2B5EF4-FFF2-40B4-BE49-F238E27FC236}">
                <a16:creationId xmlns:a16="http://schemas.microsoft.com/office/drawing/2014/main" id="{A630A057-8C49-416F-B0CB-2D02205DF4D7}"/>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A cascade of independent rejection points: provenance, mining, feasibility, synthesis, contracts, exact calibration — then boundary-time dispatch.</a:t>
            </a:r>
          </a:p>
        </p:txBody>
      </p:sp>
    </p:spTree>
    <p:extLst>
      <p:ext uri="{BB962C8B-B14F-4D97-AF65-F5344CB8AC3E}">
        <p14:creationId xmlns:p14="http://schemas.microsoft.com/office/powerpoint/2010/main" val="79587375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9A76249-2322-41B5-AE6D-06669228B39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A0E2FF7-A6DC-459E-A879-37A96978E12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3CB8641B-6C14-453A-962C-FC56ECCD4B4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81ACFF3E-FCCA-4609-A59B-C16F5E27B9E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independent rejection points; refusal is the default output</a:t>
            </a:r>
          </a:p>
        </p:txBody>
      </p:sp>
      <p:sp>
        <p:nvSpPr>
          <p:cNvPr id="6" name="Shape 4">
            <a:extLst xmlns:a="http://schemas.openxmlformats.org/drawingml/2006/main">
              <a:ext uri="{FF2B5EF4-FFF2-40B4-BE49-F238E27FC236}">
                <a16:creationId xmlns:a16="http://schemas.microsoft.com/office/drawing/2014/main" id="{0D9B03A4-3FF8-41A3-85EE-8B089F563B1B}"/>
              </a:ext>
            </a:extLst>
          </p:cNvPr>
          <p:cNvSpPr>
            <a:spLocks xmlns:a="http://schemas.openxmlformats.org/drawingml/2006/main" noGrp="1"/>
          </p:cNvSpPr>
          <p:nvPr/>
        </p:nvSpPr>
        <p:spPr>
          <a:xfrm xmlns:a="http://schemas.openxmlformats.org/drawingml/2006/main">
            <a:off x="640080" y="1207008"/>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77ABCF72-053C-480A-B4D9-264699E362B8}"/>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3B7B942-028C-44B5-9565-B54A3BD653B6}"/>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CA92CE01-BC6D-41CA-95AC-C9CFFE4BED76}"/>
              </a:ext>
            </a:extLst>
          </p:cNvPr>
          <p:cNvSpPr>
            <a:spLocks xmlns:a="http://schemas.openxmlformats.org/drawingml/2006/main" noGrp="1"/>
          </p:cNvSpPr>
          <p:nvPr/>
        </p:nvSpPr>
        <p:spPr>
          <a:xfrm xmlns:a="http://schemas.openxmlformats.org/drawingml/2006/main">
            <a:off x="1371600" y="1335024"/>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567DF8A9-8AEA-4C67-AA8F-B9CB5C62B960}"/>
              </a:ext>
            </a:extLst>
          </p:cNvPr>
          <p:cNvSpPr>
            <a:spLocks xmlns:a="http://schemas.openxmlformats.org/drawingml/2006/main" noGrp="1"/>
          </p:cNvSpPr>
          <p:nvPr/>
        </p:nvSpPr>
        <p:spPr>
          <a:xfrm xmlns:a="http://schemas.openxmlformats.org/drawingml/2006/main">
            <a:off x="1371600" y="1609344"/>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SDK tracing processor → typed Episode IR → strict, atomic JSONL store. Manifests pin prompt, policy, tools, guardrail, model, SDK, tracer, entry contract, effect catalog.</a:t>
            </a:r>
          </a:p>
        </p:txBody>
      </p:sp>
      <p:sp>
        <p:nvSpPr>
          <p:cNvPr id="11" name="Shape 9">
            <a:extLst xmlns:a="http://schemas.openxmlformats.org/drawingml/2006/main">
              <a:ext uri="{FF2B5EF4-FFF2-40B4-BE49-F238E27FC236}">
                <a16:creationId xmlns:a16="http://schemas.microsoft.com/office/drawing/2014/main" id="{62987319-1EC1-40D3-8500-A9303EE5790B}"/>
              </a:ext>
            </a:extLst>
          </p:cNvPr>
          <p:cNvSpPr>
            <a:spLocks xmlns:a="http://schemas.openxmlformats.org/drawingml/2006/main" noGrp="1"/>
          </p:cNvSpPr>
          <p:nvPr/>
        </p:nvSpPr>
        <p:spPr>
          <a:xfrm xmlns:a="http://schemas.openxmlformats.org/drawingml/2006/main">
            <a:off x="640080" y="2066544"/>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C430F88-3ABD-4606-A5A9-569F00F22688}"/>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4FA98D9-1416-4C03-A7A6-C86EC302B63B}"/>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4" name="Text 12">
            <a:extLst xmlns:a="http://schemas.openxmlformats.org/drawingml/2006/main">
              <a:ext uri="{FF2B5EF4-FFF2-40B4-BE49-F238E27FC236}">
                <a16:creationId xmlns:a16="http://schemas.microsoft.com/office/drawing/2014/main" id="{17186805-FAB2-46A7-B9D6-C12AEF780E78}"/>
              </a:ext>
            </a:extLst>
          </p:cNvPr>
          <p:cNvSpPr>
            <a:spLocks xmlns:a="http://schemas.openxmlformats.org/drawingml/2006/main" noGrp="1"/>
          </p:cNvSpPr>
          <p:nvPr/>
        </p:nvSpPr>
        <p:spPr>
          <a:xfrm xmlns:a="http://schemas.openxmlformats.org/drawingml/2006/main">
            <a:off x="1371600" y="2194560"/>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Offline compilation</a:t>
            </a:r>
          </a:p>
        </p:txBody>
      </p:sp>
      <p:sp>
        <p:nvSpPr>
          <p:cNvPr id="15" name="Text 13">
            <a:extLst xmlns:a="http://schemas.openxmlformats.org/drawingml/2006/main">
              <a:ext uri="{FF2B5EF4-FFF2-40B4-BE49-F238E27FC236}">
                <a16:creationId xmlns:a16="http://schemas.microsoft.com/office/drawing/2014/main" id="{2E5329F2-14BE-455A-B55E-98985F5BF64B}"/>
              </a:ext>
            </a:extLst>
          </p:cNvPr>
          <p:cNvSpPr>
            <a:spLocks xmlns:a="http://schemas.openxmlformats.org/drawingml/2006/main" noGrp="1"/>
          </p:cNvSpPr>
          <p:nvPr/>
        </p:nvSpPr>
        <p:spPr>
          <a:xfrm xmlns:a="http://schemas.openxmlformats.org/drawingml/2006/main">
            <a:off x="1371600" y="2468880"/>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No production traffic. Qualify → partition → provenance → mine → canonicalize → feasibility → synthesize → contracts → calibrate → package.</a:t>
            </a:r>
          </a:p>
        </p:txBody>
      </p:sp>
      <p:sp>
        <p:nvSpPr>
          <p:cNvPr id="16" name="Shape 14">
            <a:extLst xmlns:a="http://schemas.openxmlformats.org/drawingml/2006/main">
              <a:ext uri="{FF2B5EF4-FFF2-40B4-BE49-F238E27FC236}">
                <a16:creationId xmlns:a16="http://schemas.microsoft.com/office/drawing/2014/main" id="{EF1E4C16-140A-47F4-BC4B-AEA33ABC3255}"/>
              </a:ext>
            </a:extLst>
          </p:cNvPr>
          <p:cNvSpPr>
            <a:spLocks xmlns:a="http://schemas.openxmlformats.org/drawingml/2006/main" noGrp="1"/>
          </p:cNvSpPr>
          <p:nvPr/>
        </p:nvSpPr>
        <p:spPr>
          <a:xfrm xmlns:a="http://schemas.openxmlformats.org/drawingml/2006/main">
            <a:off x="640080" y="2926080"/>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EF0A380E-0DA5-4B73-9EAD-B575E9C8EEE7}"/>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0F944F61-BDF9-4802-BD32-2DEB4F415674}"/>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19" name="Text 17">
            <a:extLst xmlns:a="http://schemas.openxmlformats.org/drawingml/2006/main">
              <a:ext uri="{FF2B5EF4-FFF2-40B4-BE49-F238E27FC236}">
                <a16:creationId xmlns:a16="http://schemas.microsoft.com/office/drawing/2014/main" id="{A9D0E132-0392-4333-A101-5DDB4DB519C8}"/>
              </a:ext>
            </a:extLst>
          </p:cNvPr>
          <p:cNvSpPr>
            <a:spLocks xmlns:a="http://schemas.openxmlformats.org/drawingml/2006/main" noGrp="1"/>
          </p:cNvSpPr>
          <p:nvPr/>
        </p:nvSpPr>
        <p:spPr>
          <a:xfrm xmlns:a="http://schemas.openxmlformats.org/drawingml/2006/main">
            <a:off x="1371600" y="3054096"/>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Runtime</a:t>
            </a:r>
          </a:p>
        </p:txBody>
      </p:sp>
      <p:sp>
        <p:nvSpPr>
          <p:cNvPr id="20" name="Text 18">
            <a:extLst xmlns:a="http://schemas.openxmlformats.org/drawingml/2006/main">
              <a:ext uri="{FF2B5EF4-FFF2-40B4-BE49-F238E27FC236}">
                <a16:creationId xmlns:a16="http://schemas.microsoft.com/office/drawing/2014/main" id="{E3A59CDF-C84D-4AED-8658-FBFC9E8AA1A1}"/>
              </a:ext>
            </a:extLst>
          </p:cNvPr>
          <p:cNvSpPr>
            <a:spLocks xmlns:a="http://schemas.openxmlformats.org/drawingml/2006/main" noGrp="1"/>
          </p:cNvSpPr>
          <p:nvPr/>
        </p:nvSpPr>
        <p:spPr>
          <a:xfrm xmlns:a="http://schemas.openxmlformats.org/drawingml/2006/main">
            <a:off x="1371600" y="3328416"/>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Bounded entry lookup. Ordinary GRC runs guard → gate → stage → interpret → verify → commit; eligible GCS artifacts may verify and project before the first provider request.</a:t>
            </a:r>
          </a:p>
        </p:txBody>
      </p:sp>
      <p:sp>
        <p:nvSpPr>
          <p:cNvPr id="21" name="Text 19">
            <a:extLst xmlns:a="http://schemas.openxmlformats.org/drawingml/2006/main">
              <a:ext uri="{FF2B5EF4-FFF2-40B4-BE49-F238E27FC236}">
                <a16:creationId xmlns:a16="http://schemas.microsoft.com/office/drawing/2014/main" id="{F7B8E869-9C78-46D2-80FE-E98A5D1B5095}"/>
              </a:ext>
            </a:extLst>
          </p:cNvPr>
          <p:cNvSpPr>
            <a:spLocks xmlns:a="http://schemas.openxmlformats.org/drawingml/2006/main" noGrp="1"/>
          </p:cNvSpPr>
          <p:nvPr/>
        </p:nvSpPr>
        <p:spPr>
          <a:xfrm xmlns:a="http://schemas.openxmlformats.org/drawingml/2006/main">
            <a:off x="640080" y="38404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CASCADE INSIDE B — ANY HIT RETURNS RETIRE WITH AN ATTRIBUTED REASON</a:t>
            </a:r>
          </a:p>
        </p:txBody>
      </p:sp>
      <p:sp>
        <p:nvSpPr>
          <p:cNvPr id="22" name="Shape 20">
            <a:extLst xmlns:a="http://schemas.openxmlformats.org/drawingml/2006/main">
              <a:ext uri="{FF2B5EF4-FFF2-40B4-BE49-F238E27FC236}">
                <a16:creationId xmlns:a16="http://schemas.microsoft.com/office/drawing/2014/main" id="{46D569D5-C047-4D72-8016-0406A28F701A}"/>
              </a:ext>
            </a:extLst>
          </p:cNvPr>
          <p:cNvSpPr>
            <a:spLocks xmlns:a="http://schemas.openxmlformats.org/drawingml/2006/main" noGrp="1"/>
          </p:cNvSpPr>
          <p:nvPr/>
        </p:nvSpPr>
        <p:spPr>
          <a:xfrm xmlns:a="http://schemas.openxmlformats.org/drawingml/2006/main">
            <a:off x="64008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Shape 21">
            <a:extLst xmlns:a="http://schemas.openxmlformats.org/drawingml/2006/main">
              <a:ext uri="{FF2B5EF4-FFF2-40B4-BE49-F238E27FC236}">
                <a16:creationId xmlns:a16="http://schemas.microsoft.com/office/drawing/2014/main" id="{8036F3A9-260C-4223-BBD6-A192822CBC3A}"/>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4CCAF8A3-8988-43E9-B978-680ECC37BAA3}"/>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1</a:t>
            </a:r>
          </a:p>
        </p:txBody>
      </p:sp>
      <p:sp>
        <p:nvSpPr>
          <p:cNvPr id="25" name="Text 23">
            <a:extLst xmlns:a="http://schemas.openxmlformats.org/drawingml/2006/main">
              <a:ext uri="{FF2B5EF4-FFF2-40B4-BE49-F238E27FC236}">
                <a16:creationId xmlns:a16="http://schemas.microsoft.com/office/drawing/2014/main" id="{F487BCD0-2027-4EBC-A345-DC09A5567FBE}"/>
              </a:ext>
            </a:extLst>
          </p:cNvPr>
          <p:cNvSpPr>
            <a:spLocks xmlns:a="http://schemas.openxmlformats.org/drawingml/2006/main" noGrp="1"/>
          </p:cNvSpPr>
          <p:nvPr/>
        </p:nvSpPr>
        <p:spPr>
          <a:xfrm xmlns:a="http://schemas.openxmlformats.org/drawingml/2006/main">
            <a:off x="113385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Qualify</a:t>
            </a:r>
          </a:p>
        </p:txBody>
      </p:sp>
      <p:sp>
        <p:nvSpPr>
          <p:cNvPr id="26" name="Text 24">
            <a:extLst xmlns:a="http://schemas.openxmlformats.org/drawingml/2006/main">
              <a:ext uri="{FF2B5EF4-FFF2-40B4-BE49-F238E27FC236}">
                <a16:creationId xmlns:a16="http://schemas.microsoft.com/office/drawing/2014/main" id="{1CA0A112-1473-4BEE-A0F8-369367990BD3}"/>
              </a:ext>
            </a:extLst>
          </p:cNvPr>
          <p:cNvSpPr>
            <a:spLocks xmlns:a="http://schemas.openxmlformats.org/drawingml/2006/main" noGrp="1"/>
          </p:cNvSpPr>
          <p:nvPr/>
        </p:nvSpPr>
        <p:spPr>
          <a:xfrm xmlns:a="http://schemas.openxmlformats.org/drawingml/2006/main">
            <a:off x="78638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partial runs, unpinned manifests, missing payloads</a:t>
            </a:r>
          </a:p>
        </p:txBody>
      </p:sp>
      <p:sp>
        <p:nvSpPr>
          <p:cNvPr id="27" name="Shape 25">
            <a:extLst xmlns:a="http://schemas.openxmlformats.org/drawingml/2006/main">
              <a:ext uri="{FF2B5EF4-FFF2-40B4-BE49-F238E27FC236}">
                <a16:creationId xmlns:a16="http://schemas.microsoft.com/office/drawing/2014/main" id="{F76C5842-7313-43B5-B096-96342799656A}"/>
              </a:ext>
            </a:extLst>
          </p:cNvPr>
          <p:cNvSpPr>
            <a:spLocks xmlns:a="http://schemas.openxmlformats.org/drawingml/2006/main" noGrp="1"/>
          </p:cNvSpPr>
          <p:nvPr/>
        </p:nvSpPr>
        <p:spPr>
          <a:xfrm xmlns:a="http://schemas.openxmlformats.org/drawingml/2006/main">
            <a:off x="235503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28" name="Shape 26">
            <a:extLst xmlns:a="http://schemas.openxmlformats.org/drawingml/2006/main">
              <a:ext uri="{FF2B5EF4-FFF2-40B4-BE49-F238E27FC236}">
                <a16:creationId xmlns:a16="http://schemas.microsoft.com/office/drawing/2014/main" id="{2DFF51D6-65BA-4A6A-8CFF-0BBB8E80BC12}"/>
              </a:ext>
            </a:extLst>
          </p:cNvPr>
          <p:cNvSpPr>
            <a:spLocks xmlns:a="http://schemas.openxmlformats.org/drawingml/2006/main" noGrp="1"/>
          </p:cNvSpPr>
          <p:nvPr/>
        </p:nvSpPr>
        <p:spPr>
          <a:xfrm xmlns:a="http://schemas.openxmlformats.org/drawingml/2006/main">
            <a:off x="248305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7C692DCA-125F-4E58-AC20-E56CABFA6F73}"/>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F0CBF380-2E3F-47F2-A3F0-D88DB33EA031}"/>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2</a:t>
            </a:r>
          </a:p>
        </p:txBody>
      </p:sp>
      <p:sp>
        <p:nvSpPr>
          <p:cNvPr id="31" name="Text 29">
            <a:extLst xmlns:a="http://schemas.openxmlformats.org/drawingml/2006/main">
              <a:ext uri="{FF2B5EF4-FFF2-40B4-BE49-F238E27FC236}">
                <a16:creationId xmlns:a16="http://schemas.microsoft.com/office/drawing/2014/main" id="{36910C72-4A89-41BF-B90E-0726A3C347A1}"/>
              </a:ext>
            </a:extLst>
          </p:cNvPr>
          <p:cNvSpPr>
            <a:spLocks xmlns:a="http://schemas.openxmlformats.org/drawingml/2006/main" noGrp="1"/>
          </p:cNvSpPr>
          <p:nvPr/>
        </p:nvSpPr>
        <p:spPr>
          <a:xfrm xmlns:a="http://schemas.openxmlformats.org/drawingml/2006/main">
            <a:off x="297682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Provenance</a:t>
            </a:r>
          </a:p>
        </p:txBody>
      </p:sp>
      <p:sp>
        <p:nvSpPr>
          <p:cNvPr id="32" name="Text 30">
            <a:extLst xmlns:a="http://schemas.openxmlformats.org/drawingml/2006/main">
              <a:ext uri="{FF2B5EF4-FFF2-40B4-BE49-F238E27FC236}">
                <a16:creationId xmlns:a16="http://schemas.microsoft.com/office/drawing/2014/main" id="{E461134B-DDCE-4225-AE06-C35D78FC8E6B}"/>
              </a:ext>
            </a:extLst>
          </p:cNvPr>
          <p:cNvSpPr>
            <a:spLocks xmlns:a="http://schemas.openxmlformats.org/drawingml/2006/main" noGrp="1"/>
          </p:cNvSpPr>
          <p:nvPr/>
        </p:nvSpPr>
        <p:spPr>
          <a:xfrm xmlns:a="http://schemas.openxmlformats.org/drawingml/2006/main">
            <a:off x="262935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ungrounded or ambiguous argument slot</a:t>
            </a:r>
          </a:p>
        </p:txBody>
      </p:sp>
      <p:sp>
        <p:nvSpPr>
          <p:cNvPr id="33" name="Shape 31">
            <a:extLst xmlns:a="http://schemas.openxmlformats.org/drawingml/2006/main">
              <a:ext uri="{FF2B5EF4-FFF2-40B4-BE49-F238E27FC236}">
                <a16:creationId xmlns:a16="http://schemas.microsoft.com/office/drawing/2014/main" id="{9DDD3F26-E117-4CD0-BB51-F343B5D3F0A6}"/>
              </a:ext>
            </a:extLst>
          </p:cNvPr>
          <p:cNvSpPr>
            <a:spLocks xmlns:a="http://schemas.openxmlformats.org/drawingml/2006/main" noGrp="1"/>
          </p:cNvSpPr>
          <p:nvPr/>
        </p:nvSpPr>
        <p:spPr>
          <a:xfrm xmlns:a="http://schemas.openxmlformats.org/drawingml/2006/main">
            <a:off x="419801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34" name="Shape 32">
            <a:extLst xmlns:a="http://schemas.openxmlformats.org/drawingml/2006/main">
              <a:ext uri="{FF2B5EF4-FFF2-40B4-BE49-F238E27FC236}">
                <a16:creationId xmlns:a16="http://schemas.microsoft.com/office/drawing/2014/main" id="{EF34CE26-F37D-4B21-AE41-86F459AA5164}"/>
              </a:ext>
            </a:extLst>
          </p:cNvPr>
          <p:cNvSpPr>
            <a:spLocks xmlns:a="http://schemas.openxmlformats.org/drawingml/2006/main" noGrp="1"/>
          </p:cNvSpPr>
          <p:nvPr/>
        </p:nvSpPr>
        <p:spPr>
          <a:xfrm xmlns:a="http://schemas.openxmlformats.org/drawingml/2006/main">
            <a:off x="4326026"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5" name="Shape 33">
            <a:extLst xmlns:a="http://schemas.openxmlformats.org/drawingml/2006/main">
              <a:ext uri="{FF2B5EF4-FFF2-40B4-BE49-F238E27FC236}">
                <a16:creationId xmlns:a16="http://schemas.microsoft.com/office/drawing/2014/main" id="{66F10B5F-3B4C-4B25-ACFB-3CE442357400}"/>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5C48808-528E-4D53-8FCA-FD1445713F13}"/>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3</a:t>
            </a:r>
          </a:p>
        </p:txBody>
      </p:sp>
      <p:sp>
        <p:nvSpPr>
          <p:cNvPr id="37" name="Text 35">
            <a:extLst xmlns:a="http://schemas.openxmlformats.org/drawingml/2006/main">
              <a:ext uri="{FF2B5EF4-FFF2-40B4-BE49-F238E27FC236}">
                <a16:creationId xmlns:a16="http://schemas.microsoft.com/office/drawing/2014/main" id="{63F728BC-5563-41AD-8FB5-A5BC149B1962}"/>
              </a:ext>
            </a:extLst>
          </p:cNvPr>
          <p:cNvSpPr>
            <a:spLocks xmlns:a="http://schemas.openxmlformats.org/drawingml/2006/main" noGrp="1"/>
          </p:cNvSpPr>
          <p:nvPr/>
        </p:nvSpPr>
        <p:spPr>
          <a:xfrm xmlns:a="http://schemas.openxmlformats.org/drawingml/2006/main">
            <a:off x="481980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Feasibility</a:t>
            </a:r>
          </a:p>
        </p:txBody>
      </p:sp>
      <p:sp>
        <p:nvSpPr>
          <p:cNvPr id="38" name="Text 36">
            <a:extLst xmlns:a="http://schemas.openxmlformats.org/drawingml/2006/main">
              <a:ext uri="{FF2B5EF4-FFF2-40B4-BE49-F238E27FC236}">
                <a16:creationId xmlns:a16="http://schemas.microsoft.com/office/drawing/2014/main" id="{5A0C979D-CDEC-4AB0-B3EA-630F38655E55}"/>
              </a:ext>
            </a:extLst>
          </p:cNvPr>
          <p:cNvSpPr>
            <a:spLocks xmlns:a="http://schemas.openxmlformats.org/drawingml/2006/main" noGrp="1"/>
          </p:cNvSpPr>
          <p:nvPr/>
        </p:nvSpPr>
        <p:spPr>
          <a:xfrm xmlns:a="http://schemas.openxmlformats.org/drawingml/2006/main">
            <a:off x="447233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ceiling below target, before paying for synthesis</a:t>
            </a:r>
          </a:p>
        </p:txBody>
      </p:sp>
      <p:sp>
        <p:nvSpPr>
          <p:cNvPr id="39" name="Shape 37">
            <a:extLst xmlns:a="http://schemas.openxmlformats.org/drawingml/2006/main">
              <a:ext uri="{FF2B5EF4-FFF2-40B4-BE49-F238E27FC236}">
                <a16:creationId xmlns:a16="http://schemas.microsoft.com/office/drawing/2014/main" id="{86A51BAD-DBDB-41A2-A907-39DE76858285}"/>
              </a:ext>
            </a:extLst>
          </p:cNvPr>
          <p:cNvSpPr>
            <a:spLocks xmlns:a="http://schemas.openxmlformats.org/drawingml/2006/main" noGrp="1"/>
          </p:cNvSpPr>
          <p:nvPr/>
        </p:nvSpPr>
        <p:spPr>
          <a:xfrm xmlns:a="http://schemas.openxmlformats.org/drawingml/2006/main">
            <a:off x="6040984"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0" name="Shape 38">
            <a:extLst xmlns:a="http://schemas.openxmlformats.org/drawingml/2006/main">
              <a:ext uri="{FF2B5EF4-FFF2-40B4-BE49-F238E27FC236}">
                <a16:creationId xmlns:a16="http://schemas.microsoft.com/office/drawing/2014/main" id="{3D952C45-1F11-4561-80CB-51917A6279B8}"/>
              </a:ext>
            </a:extLst>
          </p:cNvPr>
          <p:cNvSpPr>
            <a:spLocks xmlns:a="http://schemas.openxmlformats.org/drawingml/2006/main" noGrp="1"/>
          </p:cNvSpPr>
          <p:nvPr/>
        </p:nvSpPr>
        <p:spPr>
          <a:xfrm xmlns:a="http://schemas.openxmlformats.org/drawingml/2006/main">
            <a:off x="616900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Shape 39">
            <a:extLst xmlns:a="http://schemas.openxmlformats.org/drawingml/2006/main">
              <a:ext uri="{FF2B5EF4-FFF2-40B4-BE49-F238E27FC236}">
                <a16:creationId xmlns:a16="http://schemas.microsoft.com/office/drawing/2014/main" id="{75B5C99C-C989-42FF-8534-9FE48A96A9EE}"/>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2" name="Text 40">
            <a:extLst xmlns:a="http://schemas.openxmlformats.org/drawingml/2006/main">
              <a:ext uri="{FF2B5EF4-FFF2-40B4-BE49-F238E27FC236}">
                <a16:creationId xmlns:a16="http://schemas.microsoft.com/office/drawing/2014/main" id="{D309DA09-2082-465C-AA7D-7CB797E4836E}"/>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4</a:t>
            </a:r>
          </a:p>
        </p:txBody>
      </p:sp>
      <p:sp>
        <p:nvSpPr>
          <p:cNvPr id="43" name="Text 41">
            <a:extLst xmlns:a="http://schemas.openxmlformats.org/drawingml/2006/main">
              <a:ext uri="{FF2B5EF4-FFF2-40B4-BE49-F238E27FC236}">
                <a16:creationId xmlns:a16="http://schemas.microsoft.com/office/drawing/2014/main" id="{9F2E8DD5-66B0-47D7-A083-BFC0F5D013BA}"/>
              </a:ext>
            </a:extLst>
          </p:cNvPr>
          <p:cNvSpPr>
            <a:spLocks xmlns:a="http://schemas.openxmlformats.org/drawingml/2006/main" noGrp="1"/>
          </p:cNvSpPr>
          <p:nvPr/>
        </p:nvSpPr>
        <p:spPr>
          <a:xfrm xmlns:a="http://schemas.openxmlformats.org/drawingml/2006/main">
            <a:off x="666277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Synthesis</a:t>
            </a:r>
          </a:p>
        </p:txBody>
      </p:sp>
      <p:sp>
        <p:nvSpPr>
          <p:cNvPr id="44" name="Text 42">
            <a:extLst xmlns:a="http://schemas.openxmlformats.org/drawingml/2006/main">
              <a:ext uri="{FF2B5EF4-FFF2-40B4-BE49-F238E27FC236}">
                <a16:creationId xmlns:a16="http://schemas.microsoft.com/office/drawing/2014/main" id="{DB899289-62AD-494B-B9D6-CEB393C9B070}"/>
              </a:ext>
            </a:extLst>
          </p:cNvPr>
          <p:cNvSpPr>
            <a:spLocks xmlns:a="http://schemas.openxmlformats.org/drawingml/2006/main" noGrp="1"/>
          </p:cNvSpPr>
          <p:nvPr/>
        </p:nvSpPr>
        <p:spPr>
          <a:xfrm xmlns:a="http://schemas.openxmlformats.org/drawingml/2006/main">
            <a:off x="631530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program in ℒ at depth ≤ 2 fits the family</a:t>
            </a:r>
          </a:p>
        </p:txBody>
      </p:sp>
      <p:sp>
        <p:nvSpPr>
          <p:cNvPr id="45" name="Shape 43">
            <a:extLst xmlns:a="http://schemas.openxmlformats.org/drawingml/2006/main">
              <a:ext uri="{FF2B5EF4-FFF2-40B4-BE49-F238E27FC236}">
                <a16:creationId xmlns:a16="http://schemas.microsoft.com/office/drawing/2014/main" id="{7122A92B-1FCC-4392-8D16-13D7C3B1C700}"/>
              </a:ext>
            </a:extLst>
          </p:cNvPr>
          <p:cNvSpPr>
            <a:spLocks xmlns:a="http://schemas.openxmlformats.org/drawingml/2006/main" noGrp="1"/>
          </p:cNvSpPr>
          <p:nvPr/>
        </p:nvSpPr>
        <p:spPr>
          <a:xfrm xmlns:a="http://schemas.openxmlformats.org/drawingml/2006/main">
            <a:off x="788395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6" name="Shape 44">
            <a:extLst xmlns:a="http://schemas.openxmlformats.org/drawingml/2006/main">
              <a:ext uri="{FF2B5EF4-FFF2-40B4-BE49-F238E27FC236}">
                <a16:creationId xmlns:a16="http://schemas.microsoft.com/office/drawing/2014/main" id="{74590D62-5565-4A36-8EB7-53E55071ACA4}"/>
              </a:ext>
            </a:extLst>
          </p:cNvPr>
          <p:cNvSpPr>
            <a:spLocks xmlns:a="http://schemas.openxmlformats.org/drawingml/2006/main" noGrp="1"/>
          </p:cNvSpPr>
          <p:nvPr/>
        </p:nvSpPr>
        <p:spPr>
          <a:xfrm xmlns:a="http://schemas.openxmlformats.org/drawingml/2006/main">
            <a:off x="801197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7" name="Shape 45">
            <a:extLst xmlns:a="http://schemas.openxmlformats.org/drawingml/2006/main">
              <a:ext uri="{FF2B5EF4-FFF2-40B4-BE49-F238E27FC236}">
                <a16:creationId xmlns:a16="http://schemas.microsoft.com/office/drawing/2014/main" id="{9CB2C878-446F-4EA9-B37F-C571EFAF6DBA}"/>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8" name="Text 46">
            <a:extLst xmlns:a="http://schemas.openxmlformats.org/drawingml/2006/main">
              <a:ext uri="{FF2B5EF4-FFF2-40B4-BE49-F238E27FC236}">
                <a16:creationId xmlns:a16="http://schemas.microsoft.com/office/drawing/2014/main" id="{7998561D-B507-4C45-B96E-5A23609E3D4E}"/>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5</a:t>
            </a:r>
          </a:p>
        </p:txBody>
      </p:sp>
      <p:sp>
        <p:nvSpPr>
          <p:cNvPr id="49" name="Text 47">
            <a:extLst xmlns:a="http://schemas.openxmlformats.org/drawingml/2006/main">
              <a:ext uri="{FF2B5EF4-FFF2-40B4-BE49-F238E27FC236}">
                <a16:creationId xmlns:a16="http://schemas.microsoft.com/office/drawing/2014/main" id="{42A5BE87-04CF-4EBD-BBDB-1A923E0F464B}"/>
              </a:ext>
            </a:extLst>
          </p:cNvPr>
          <p:cNvSpPr>
            <a:spLocks xmlns:a="http://schemas.openxmlformats.org/drawingml/2006/main" noGrp="1"/>
          </p:cNvSpPr>
          <p:nvPr/>
        </p:nvSpPr>
        <p:spPr>
          <a:xfrm xmlns:a="http://schemas.openxmlformats.org/drawingml/2006/main">
            <a:off x="850574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Contracts</a:t>
            </a:r>
          </a:p>
        </p:txBody>
      </p:sp>
      <p:sp>
        <p:nvSpPr>
          <p:cNvPr id="50" name="Text 48">
            <a:extLst xmlns:a="http://schemas.openxmlformats.org/drawingml/2006/main">
              <a:ext uri="{FF2B5EF4-FFF2-40B4-BE49-F238E27FC236}">
                <a16:creationId xmlns:a16="http://schemas.microsoft.com/office/drawing/2014/main" id="{C7E59F85-762B-4291-B81F-B0D937BDCF0E}"/>
              </a:ext>
            </a:extLst>
          </p:cNvPr>
          <p:cNvSpPr>
            <a:spLocks xmlns:a="http://schemas.openxmlformats.org/drawingml/2006/main" noGrp="1"/>
          </p:cNvSpPr>
          <p:nvPr/>
        </p:nvSpPr>
        <p:spPr>
          <a:xfrm xmlns:a="http://schemas.openxmlformats.org/drawingml/2006/main">
            <a:off x="815827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replay or perturbation counterexample</a:t>
            </a:r>
          </a:p>
        </p:txBody>
      </p:sp>
      <p:sp>
        <p:nvSpPr>
          <p:cNvPr id="51" name="Shape 49">
            <a:extLst xmlns:a="http://schemas.openxmlformats.org/drawingml/2006/main">
              <a:ext uri="{FF2B5EF4-FFF2-40B4-BE49-F238E27FC236}">
                <a16:creationId xmlns:a16="http://schemas.microsoft.com/office/drawing/2014/main" id="{B0BEE2AC-7D33-477C-BD78-57DC5F313C09}"/>
              </a:ext>
            </a:extLst>
          </p:cNvPr>
          <p:cNvSpPr>
            <a:spLocks xmlns:a="http://schemas.openxmlformats.org/drawingml/2006/main" noGrp="1"/>
          </p:cNvSpPr>
          <p:nvPr/>
        </p:nvSpPr>
        <p:spPr>
          <a:xfrm xmlns:a="http://schemas.openxmlformats.org/drawingml/2006/main">
            <a:off x="972693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52" name="Shape 50">
            <a:extLst xmlns:a="http://schemas.openxmlformats.org/drawingml/2006/main">
              <a:ext uri="{FF2B5EF4-FFF2-40B4-BE49-F238E27FC236}">
                <a16:creationId xmlns:a16="http://schemas.microsoft.com/office/drawing/2014/main" id="{32D4E474-3F50-47C3-97F5-E5C03B5DDAA0}"/>
              </a:ext>
            </a:extLst>
          </p:cNvPr>
          <p:cNvSpPr>
            <a:spLocks xmlns:a="http://schemas.openxmlformats.org/drawingml/2006/main" noGrp="1"/>
          </p:cNvSpPr>
          <p:nvPr/>
        </p:nvSpPr>
        <p:spPr>
          <a:xfrm xmlns:a="http://schemas.openxmlformats.org/drawingml/2006/main">
            <a:off x="9854946" y="4114800"/>
            <a:ext cx="1696669" cy="1060704"/>
          </a:xfrm>
          <a:prstGeom xmlns:a="http://schemas.openxmlformats.org/drawingml/2006/main" prst="roundRect">
            <a:avLst>
              <a:gd name="adj" fmla="val 43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3" name="Shape 51">
            <a:extLst xmlns:a="http://schemas.openxmlformats.org/drawingml/2006/main">
              <a:ext uri="{FF2B5EF4-FFF2-40B4-BE49-F238E27FC236}">
                <a16:creationId xmlns:a16="http://schemas.microsoft.com/office/drawing/2014/main" id="{12CAC7E2-B612-4FE0-B7C9-8EA423EF7EE8}"/>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54" name="Text 52">
            <a:extLst xmlns:a="http://schemas.openxmlformats.org/drawingml/2006/main">
              <a:ext uri="{FF2B5EF4-FFF2-40B4-BE49-F238E27FC236}">
                <a16:creationId xmlns:a16="http://schemas.microsoft.com/office/drawing/2014/main" id="{C00BBCB4-14CE-4C09-BB63-C33408FB589B}"/>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6</a:t>
            </a:r>
          </a:p>
        </p:txBody>
      </p:sp>
      <p:sp>
        <p:nvSpPr>
          <p:cNvPr id="55" name="Text 53">
            <a:extLst xmlns:a="http://schemas.openxmlformats.org/drawingml/2006/main">
              <a:ext uri="{FF2B5EF4-FFF2-40B4-BE49-F238E27FC236}">
                <a16:creationId xmlns:a16="http://schemas.microsoft.com/office/drawing/2014/main" id="{C97CD542-C89B-4A60-9110-1219C78F336D}"/>
              </a:ext>
            </a:extLst>
          </p:cNvPr>
          <p:cNvSpPr>
            <a:spLocks xmlns:a="http://schemas.openxmlformats.org/drawingml/2006/main" noGrp="1"/>
          </p:cNvSpPr>
          <p:nvPr/>
        </p:nvSpPr>
        <p:spPr>
          <a:xfrm xmlns:a="http://schemas.openxmlformats.org/drawingml/2006/main">
            <a:off x="1034872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Calibration</a:t>
            </a:r>
          </a:p>
        </p:txBody>
      </p:sp>
      <p:sp>
        <p:nvSpPr>
          <p:cNvPr id="56" name="Text 54">
            <a:extLst xmlns:a="http://schemas.openxmlformats.org/drawingml/2006/main">
              <a:ext uri="{FF2B5EF4-FFF2-40B4-BE49-F238E27FC236}">
                <a16:creationId xmlns:a16="http://schemas.microsoft.com/office/drawing/2014/main" id="{0459F175-42DD-4502-BA0F-B7791FCA54BE}"/>
              </a:ext>
            </a:extLst>
          </p:cNvPr>
          <p:cNvSpPr>
            <a:spLocks xmlns:a="http://schemas.openxmlformats.org/drawingml/2006/main" noGrp="1"/>
          </p:cNvSpPr>
          <p:nvPr/>
        </p:nvSpPr>
        <p:spPr>
          <a:xfrm xmlns:a="http://schemas.openxmlformats.org/drawingml/2006/main">
            <a:off x="1000125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admissible threshold in the frozen grid</a:t>
            </a:r>
          </a:p>
        </p:txBody>
      </p:sp>
      <p:sp>
        <p:nvSpPr>
          <p:cNvPr id="57" name="Shape 55">
            <a:extLst xmlns:a="http://schemas.openxmlformats.org/drawingml/2006/main">
              <a:ext uri="{FF2B5EF4-FFF2-40B4-BE49-F238E27FC236}">
                <a16:creationId xmlns:a16="http://schemas.microsoft.com/office/drawing/2014/main" id="{C73C1118-0CD0-4F61-A441-822536BC0448}"/>
              </a:ext>
            </a:extLst>
          </p:cNvPr>
          <p:cNvSpPr>
            <a:spLocks xmlns:a="http://schemas.openxmlformats.org/drawingml/2006/main" noGrp="1"/>
          </p:cNvSpPr>
          <p:nvPr/>
        </p:nvSpPr>
        <p:spPr>
          <a:xfrm xmlns:a="http://schemas.openxmlformats.org/drawingml/2006/main">
            <a:off x="640080" y="5321808"/>
            <a:ext cx="10911535" cy="841248"/>
          </a:xfrm>
          <a:prstGeom xmlns:a="http://schemas.openxmlformats.org/drawingml/2006/main" prst="roundRect">
            <a:avLst>
              <a:gd name="adj" fmla="val 543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8" name="Text 56">
            <a:extLst xmlns:a="http://schemas.openxmlformats.org/drawingml/2006/main">
              <a:ext uri="{FF2B5EF4-FFF2-40B4-BE49-F238E27FC236}">
                <a16:creationId xmlns:a16="http://schemas.microsoft.com/office/drawing/2014/main" id="{177F9FD9-4039-4107-BFEB-7630B3DC30B0}"/>
              </a:ext>
            </a:extLst>
          </p:cNvPr>
          <p:cNvSpPr>
            <a:spLocks xmlns:a="http://schemas.openxmlformats.org/drawingml/2006/main" noGrp="1"/>
          </p:cNvSpPr>
          <p:nvPr/>
        </p:nvSpPr>
        <p:spPr>
          <a:xfrm xmlns:a="http://schemas.openxmlformats.org/drawingml/2006/main">
            <a:off x="896112" y="5431536"/>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HARD BARRIERS — NO STATISTICAL EVIDENCE CAN LICENSE AN ARTIFACT</a:t>
            </a:r>
          </a:p>
        </p:txBody>
      </p:sp>
      <p:sp>
        <p:nvSpPr>
          <p:cNvPr id="59" name="Text 57">
            <a:extLst xmlns:a="http://schemas.openxmlformats.org/drawingml/2006/main">
              <a:ext uri="{FF2B5EF4-FFF2-40B4-BE49-F238E27FC236}">
                <a16:creationId xmlns:a16="http://schemas.microsoft.com/office/drawing/2014/main" id="{8002D195-5559-4832-8181-55304211F6CE}"/>
              </a:ext>
            </a:extLst>
          </p:cNvPr>
          <p:cNvSpPr>
            <a:spLocks xmlns:a="http://schemas.openxmlformats.org/drawingml/2006/main" noGrp="1"/>
          </p:cNvSpPr>
          <p:nvPr/>
        </p:nvSpPr>
        <p:spPr>
          <a:xfrm xmlns:a="http://schemas.openxmlformats.org/drawingml/2006/main">
            <a:off x="896112" y="5669280"/>
            <a:ext cx="1039947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150">
                <a:solidFill>
                  <a:srgbClr val="5C4034"/>
                </a:solidFill>
                <a:latin typeface="Calibri"/>
                <a:ea typeface="Calibri"/>
                <a:cs typeface="Calibri"/>
              </a:rPr>
              <a:t>unknown or irreversible effect  ·  approval  ·  handoff  ·  ungrounded or ambiguous argument  ·  manifest or isolation mismatch  ·  non-prefix position, eq. (2)</a:t>
            </a:r>
          </a:p>
        </p:txBody>
      </p:sp>
    </p:spTree>
    <p:extLst>
      <p:ext uri="{BB962C8B-B14F-4D97-AF65-F5344CB8AC3E}">
        <p14:creationId xmlns:p14="http://schemas.microsoft.com/office/powerpoint/2010/main" val="72177493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79DD96-1398-4564-AEFE-1D63F03FAA0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D15F593-37C3-41E6-97A2-FA1BCACC30C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88C4ECCA-898E-4CC5-A826-2761AC6C4AC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2 (BUILDPATG)</a:t>
            </a:r>
          </a:p>
        </p:txBody>
      </p:sp>
      <p:sp>
        <p:nvSpPr>
          <p:cNvPr id="5" name="Text 3">
            <a:extLst xmlns:a="http://schemas.openxmlformats.org/drawingml/2006/main">
              <a:ext uri="{FF2B5EF4-FFF2-40B4-BE49-F238E27FC236}">
                <a16:creationId xmlns:a16="http://schemas.microsoft.com/office/drawing/2014/main" id="{F191C55A-6A01-4E97-86F7-965A97FAB66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Typed argument provenance: no witness, or too many, both block</a:t>
            </a:r>
          </a:p>
        </p:txBody>
      </p:sp>
      <p:sp>
        <p:nvSpPr>
          <p:cNvPr id="6" name="Text 4">
            <a:extLst xmlns:a="http://schemas.openxmlformats.org/drawingml/2006/main">
              <a:ext uri="{FF2B5EF4-FFF2-40B4-BE49-F238E27FC236}">
                <a16:creationId xmlns:a16="http://schemas.microsoft.com/office/drawing/2014/main" id="{1527A4B5-B5DD-4204-BF7A-41EAAC580A59}"/>
              </a:ext>
            </a:extLst>
          </p:cNvPr>
          <p:cNvSpPr>
            <a:spLocks xmlns:a="http://schemas.openxmlformats.org/drawingml/2006/main" noGrp="1"/>
          </p:cNvSpPr>
          <p:nvPr/>
        </p:nvSpPr>
        <p:spPr>
          <a:xfrm xmlns:a="http://schemas.openxmlformats.org/drawingml/2006/main">
            <a:off x="640080" y="1188720"/>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p>
        </p:txBody>
      </p:sp>
      <p:sp>
        <p:nvSpPr>
          <p:cNvPr id="7" name="Shape 5">
            <a:extLst xmlns:a="http://schemas.openxmlformats.org/drawingml/2006/main">
              <a:ext uri="{FF2B5EF4-FFF2-40B4-BE49-F238E27FC236}">
                <a16:creationId xmlns:a16="http://schemas.microsoft.com/office/drawing/2014/main" id="{E8BB116B-C988-4698-B881-9774B18C5665}"/>
              </a:ext>
            </a:extLst>
          </p:cNvPr>
          <p:cNvSpPr>
            <a:spLocks xmlns:a="http://schemas.openxmlformats.org/drawingml/2006/main" noGrp="1"/>
          </p:cNvSpPr>
          <p:nvPr/>
        </p:nvSpPr>
        <p:spPr>
          <a:xfrm xmlns:a="http://schemas.openxmlformats.org/drawingml/2006/main">
            <a:off x="640080" y="1847088"/>
            <a:ext cx="3466490" cy="1481328"/>
          </a:xfrm>
          <a:prstGeom xmlns:a="http://schemas.openxmlformats.org/drawingml/2006/main" prst="roundRect">
            <a:avLst>
              <a:gd name="adj" fmla="val 308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423016A2-4147-451F-9E8B-3F7D0DD737C9}"/>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22BFBB6C-6ABD-4F9F-B320-0C7D80E1BC2C}"/>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C3A9B93B-8D5C-4ED6-ADA4-E834D2E8F12E}"/>
              </a:ext>
            </a:extLst>
          </p:cNvPr>
          <p:cNvSpPr>
            <a:spLocks xmlns:a="http://schemas.openxmlformats.org/drawingml/2006/main" noGrp="1"/>
          </p:cNvSpPr>
          <p:nvPr/>
        </p:nvSpPr>
        <p:spPr>
          <a:xfrm xmlns:a="http://schemas.openxmlformats.org/drawingml/2006/main">
            <a:off x="1243584"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1F8A99"/>
                </a:solidFill>
                <a:latin typeface="Cambria"/>
                <a:ea typeface="Cambria"/>
                <a:cs typeface="Cambria"/>
              </a:rPr>
              <a:t>|H| = 1</a:t>
            </a:r>
          </a:p>
        </p:txBody>
      </p:sp>
      <p:sp>
        <p:nvSpPr>
          <p:cNvPr id="11" name="Text 9">
            <a:extLst xmlns:a="http://schemas.openxmlformats.org/drawingml/2006/main">
              <a:ext uri="{FF2B5EF4-FFF2-40B4-BE49-F238E27FC236}">
                <a16:creationId xmlns:a16="http://schemas.microsoft.com/office/drawing/2014/main" id="{C7B18032-A97B-4384-8737-4F0CC2C46BAF}"/>
              </a:ext>
            </a:extLst>
          </p:cNvPr>
          <p:cNvSpPr>
            <a:spLocks xmlns:a="http://schemas.openxmlformats.org/drawingml/2006/main" noGrp="1"/>
          </p:cNvSpPr>
          <p:nvPr/>
        </p:nvSpPr>
        <p:spPr>
          <a:xfrm xmlns:a="http://schemas.openxmlformats.org/drawingml/2006/main">
            <a:off x="2194560"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Edge admitted</a:t>
            </a:r>
          </a:p>
        </p:txBody>
      </p:sp>
      <p:sp>
        <p:nvSpPr>
          <p:cNvPr id="12" name="Text 10">
            <a:extLst xmlns:a="http://schemas.openxmlformats.org/drawingml/2006/main">
              <a:ext uri="{FF2B5EF4-FFF2-40B4-BE49-F238E27FC236}">
                <a16:creationId xmlns:a16="http://schemas.microsoft.com/office/drawing/2014/main" id="{6E3FB97F-9875-46FC-93BB-066DD72BD4B9}"/>
              </a:ext>
            </a:extLst>
          </p:cNvPr>
          <p:cNvSpPr>
            <a:spLocks xmlns:a="http://schemas.openxmlformats.org/drawingml/2006/main" noGrp="1"/>
          </p:cNvSpPr>
          <p:nvPr/>
        </p:nvSpPr>
        <p:spPr>
          <a:xfrm xmlns:a="http://schemas.openxmlformats.org/drawingml/2006/main">
            <a:off x="877824"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The minimum-description-length witness is recorded as the slot's producer.</a:t>
            </a:r>
          </a:p>
        </p:txBody>
      </p:sp>
      <p:sp>
        <p:nvSpPr>
          <p:cNvPr id="13" name="Shape 11">
            <a:extLst xmlns:a="http://schemas.openxmlformats.org/drawingml/2006/main">
              <a:ext uri="{FF2B5EF4-FFF2-40B4-BE49-F238E27FC236}">
                <a16:creationId xmlns:a16="http://schemas.microsoft.com/office/drawing/2014/main" id="{52155148-8DE2-47F3-AF55-7CB8901183CA}"/>
              </a:ext>
            </a:extLst>
          </p:cNvPr>
          <p:cNvSpPr>
            <a:spLocks xmlns:a="http://schemas.openxmlformats.org/drawingml/2006/main" noGrp="1"/>
          </p:cNvSpPr>
          <p:nvPr/>
        </p:nvSpPr>
        <p:spPr>
          <a:xfrm xmlns:a="http://schemas.openxmlformats.org/drawingml/2006/main">
            <a:off x="4362602"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7CA8CC9B-8408-4A67-AAF4-CC907E2C27DD}"/>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C610E811-F53A-4D54-A5D8-654AD3246BCE}"/>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3057D461-63DD-470C-A3C4-7316727CA1FD}"/>
              </a:ext>
            </a:extLst>
          </p:cNvPr>
          <p:cNvSpPr>
            <a:spLocks xmlns:a="http://schemas.openxmlformats.org/drawingml/2006/main" noGrp="1"/>
          </p:cNvSpPr>
          <p:nvPr/>
        </p:nvSpPr>
        <p:spPr>
          <a:xfrm xmlns:a="http://schemas.openxmlformats.org/drawingml/2006/main">
            <a:off x="4966106"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 ∅</a:t>
            </a:r>
          </a:p>
        </p:txBody>
      </p:sp>
      <p:sp>
        <p:nvSpPr>
          <p:cNvPr id="17" name="Text 15">
            <a:extLst xmlns:a="http://schemas.openxmlformats.org/drawingml/2006/main">
              <a:ext uri="{FF2B5EF4-FFF2-40B4-BE49-F238E27FC236}">
                <a16:creationId xmlns:a16="http://schemas.microsoft.com/office/drawing/2014/main" id="{8C414CCA-A911-4E41-AADA-231028F64555}"/>
              </a:ext>
            </a:extLst>
          </p:cNvPr>
          <p:cNvSpPr>
            <a:spLocks xmlns:a="http://schemas.openxmlformats.org/drawingml/2006/main" noGrp="1"/>
          </p:cNvSpPr>
          <p:nvPr/>
        </p:nvSpPr>
        <p:spPr>
          <a:xfrm xmlns:a="http://schemas.openxmlformats.org/drawingml/2006/main">
            <a:off x="5917082"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Model-originated</a:t>
            </a:r>
          </a:p>
        </p:txBody>
      </p:sp>
      <p:sp>
        <p:nvSpPr>
          <p:cNvPr id="18" name="Text 16">
            <a:extLst xmlns:a="http://schemas.openxmlformats.org/drawingml/2006/main">
              <a:ext uri="{FF2B5EF4-FFF2-40B4-BE49-F238E27FC236}">
                <a16:creationId xmlns:a16="http://schemas.microsoft.com/office/drawing/2014/main" id="{B05EC7F5-B8A1-4149-B11C-8824AEFE3E89}"/>
              </a:ext>
            </a:extLst>
          </p:cNvPr>
          <p:cNvSpPr>
            <a:spLocks xmlns:a="http://schemas.openxmlformats.org/drawingml/2006/main" noGrp="1"/>
          </p:cNvSpPr>
          <p:nvPr/>
        </p:nvSpPr>
        <p:spPr>
          <a:xfrm xmlns:a="http://schemas.openxmlformats.org/drawingml/2006/main">
            <a:off x="4600346"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 genuine model decision. There is nothing in observable state to reconstruct it from.</a:t>
            </a:r>
          </a:p>
        </p:txBody>
      </p:sp>
      <p:sp>
        <p:nvSpPr>
          <p:cNvPr id="19" name="Shape 17">
            <a:extLst xmlns:a="http://schemas.openxmlformats.org/drawingml/2006/main">
              <a:ext uri="{FF2B5EF4-FFF2-40B4-BE49-F238E27FC236}">
                <a16:creationId xmlns:a16="http://schemas.microsoft.com/office/drawing/2014/main" id="{873DD2A4-B2ED-4F3E-8FCC-CF176F16C907}"/>
              </a:ext>
            </a:extLst>
          </p:cNvPr>
          <p:cNvSpPr>
            <a:spLocks xmlns:a="http://schemas.openxmlformats.org/drawingml/2006/main" noGrp="1"/>
          </p:cNvSpPr>
          <p:nvPr/>
        </p:nvSpPr>
        <p:spPr>
          <a:xfrm xmlns:a="http://schemas.openxmlformats.org/drawingml/2006/main">
            <a:off x="8085125"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Shape 18">
            <a:extLst xmlns:a="http://schemas.openxmlformats.org/drawingml/2006/main">
              <a:ext uri="{FF2B5EF4-FFF2-40B4-BE49-F238E27FC236}">
                <a16:creationId xmlns:a16="http://schemas.microsoft.com/office/drawing/2014/main" id="{78C1B957-6B78-46EA-AD4C-AC8EEC9576F7}"/>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732482C-F860-4500-8880-538C9928B433}"/>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2" name="Text 20">
            <a:extLst xmlns:a="http://schemas.openxmlformats.org/drawingml/2006/main">
              <a:ext uri="{FF2B5EF4-FFF2-40B4-BE49-F238E27FC236}">
                <a16:creationId xmlns:a16="http://schemas.microsoft.com/office/drawing/2014/main" id="{8AC944B1-D5ED-41F2-9286-C00183D3AFBE}"/>
              </a:ext>
            </a:extLst>
          </p:cNvPr>
          <p:cNvSpPr>
            <a:spLocks xmlns:a="http://schemas.openxmlformats.org/drawingml/2006/main" noGrp="1"/>
          </p:cNvSpPr>
          <p:nvPr/>
        </p:nvSpPr>
        <p:spPr>
          <a:xfrm xmlns:a="http://schemas.openxmlformats.org/drawingml/2006/main">
            <a:off x="8688629"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&gt; κ</a:t>
            </a:r>
          </a:p>
        </p:txBody>
      </p:sp>
      <p:sp>
        <p:nvSpPr>
          <p:cNvPr id="23" name="Text 21">
            <a:extLst xmlns:a="http://schemas.openxmlformats.org/drawingml/2006/main">
              <a:ext uri="{FF2B5EF4-FFF2-40B4-BE49-F238E27FC236}">
                <a16:creationId xmlns:a16="http://schemas.microsoft.com/office/drawing/2014/main" id="{BADA0C5A-6CE5-424C-BE39-65B5DEB70A20}"/>
              </a:ext>
            </a:extLst>
          </p:cNvPr>
          <p:cNvSpPr>
            <a:spLocks xmlns:a="http://schemas.openxmlformats.org/drawingml/2006/main" noGrp="1"/>
          </p:cNvSpPr>
          <p:nvPr/>
        </p:nvSpPr>
        <p:spPr>
          <a:xfrm xmlns:a="http://schemas.openxmlformats.org/drawingml/2006/main">
            <a:off x="9639605"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Ambiguous</a:t>
            </a:r>
          </a:p>
        </p:txBody>
      </p:sp>
      <p:sp>
        <p:nvSpPr>
          <p:cNvPr id="24" name="Text 22">
            <a:extLst xmlns:a="http://schemas.openxmlformats.org/drawingml/2006/main">
              <a:ext uri="{FF2B5EF4-FFF2-40B4-BE49-F238E27FC236}">
                <a16:creationId xmlns:a16="http://schemas.microsoft.com/office/drawing/2014/main" id="{46FDF204-B9FF-46E8-B70C-2BFDAEA3D248}"/>
              </a:ext>
            </a:extLst>
          </p:cNvPr>
          <p:cNvSpPr>
            <a:spLocks xmlns:a="http://schemas.openxmlformats.org/drawingml/2006/main" noGrp="1"/>
          </p:cNvSpPr>
          <p:nvPr/>
        </p:nvSpPr>
        <p:spPr>
          <a:xfrm xmlns:a="http://schemas.openxmlformats.org/drawingml/2006/main">
            <a:off x="8322869"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Above the configured cap. Blocked rather than defaulting to the cheapest explanation.</a:t>
            </a:r>
          </a:p>
        </p:txBody>
      </p:sp>
      <p:sp>
        <p:nvSpPr>
          <p:cNvPr id="25" name="Shape 23">
            <a:extLst xmlns:a="http://schemas.openxmlformats.org/drawingml/2006/main">
              <a:ext uri="{FF2B5EF4-FFF2-40B4-BE49-F238E27FC236}">
                <a16:creationId xmlns:a16="http://schemas.microsoft.com/office/drawing/2014/main" id="{55309F1D-18FD-4D8D-A82C-6E02BB38E2E1}"/>
              </a:ext>
            </a:extLst>
          </p:cNvPr>
          <p:cNvSpPr>
            <a:spLocks xmlns:a="http://schemas.openxmlformats.org/drawingml/2006/main" noGrp="1"/>
          </p:cNvSpPr>
          <p:nvPr/>
        </p:nvSpPr>
        <p:spPr>
          <a:xfrm xmlns:a="http://schemas.openxmlformats.org/drawingml/2006/main">
            <a:off x="640080" y="3493008"/>
            <a:ext cx="10911535" cy="566928"/>
          </a:xfrm>
          <a:prstGeom xmlns:a="http://schemas.openxmlformats.org/drawingml/2006/main" prst="roundRect">
            <a:avLst>
              <a:gd name="adj" fmla="val 8065"/>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778E02F8-0AE8-4BAC-B1E7-683F8C3EB18D}"/>
              </a:ext>
            </a:extLst>
          </p:cNvPr>
          <p:cNvSpPr>
            <a:spLocks xmlns:a="http://schemas.openxmlformats.org/drawingml/2006/main" noGrp="1"/>
          </p:cNvSpPr>
          <p:nvPr/>
        </p:nvSpPr>
        <p:spPr>
          <a:xfrm xmlns:a="http://schemas.openxmlformats.org/drawingml/2006/main">
            <a:off x="877824" y="3584448"/>
            <a:ext cx="10436047"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50" b="1">
                <a:solidFill>
                  <a:srgbClr val="0E1E3A"/>
                </a:solidFill>
                <a:latin typeface="Calibri"/>
                <a:ea typeface="Calibri"/>
                <a:cs typeface="Calibri"/>
              </a:rPr>
              <a:t>Order edges. </a:t>
            </a:r>
            <a:r>
              <a:rPr sz="1150">
                <a:solidFill>
                  <a:srgbClr val="24354F"/>
                </a:solidFill>
                <a:latin typeface="Calibri"/>
                <a:ea typeface="Calibri"/>
                <a:cs typeface="Calibri"/>
              </a:rPr>
              <a:t>For every pair of events sharing a resource where either writes it, the graph adds eₛ &lt; eₜ — so a reordering can never be proposed across a conflict. This is execution provenance in the database sense, specialized to tool arguments rather than tuple derivations.</a:t>
            </a:r>
          </a:p>
        </p:txBody>
      </p:sp>
      <p:sp>
        <p:nvSpPr>
          <p:cNvPr id="27" name="Text 25">
            <a:extLst xmlns:a="http://schemas.openxmlformats.org/drawingml/2006/main">
              <a:ext uri="{FF2B5EF4-FFF2-40B4-BE49-F238E27FC236}">
                <a16:creationId xmlns:a16="http://schemas.microsoft.com/office/drawing/2014/main" id="{B4582C86-E07F-4356-87C8-459D6ADED3F8}"/>
              </a:ext>
            </a:extLst>
          </p:cNvPr>
          <p:cNvSpPr>
            <a:spLocks xmlns:a="http://schemas.openxmlformats.org/drawingml/2006/main" noGrp="1"/>
          </p:cNvSpPr>
          <p:nvPr/>
        </p:nvSpPr>
        <p:spPr>
          <a:xfrm xmlns:a="http://schemas.openxmlformats.org/drawingml/2006/main">
            <a:off x="640080" y="422452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MEASURED ON NESTFUL — 5,746 DEPENDENCY SLOTS ACROSS 1,415 EXECUTABLE EPISODES</a:t>
            </a:r>
          </a:p>
        </p:txBody>
      </p:sp>
      <p:sp>
        <p:nvSpPr>
          <p:cNvPr id="28" name="Shape 26">
            <a:extLst xmlns:a="http://schemas.openxmlformats.org/drawingml/2006/main">
              <a:ext uri="{FF2B5EF4-FFF2-40B4-BE49-F238E27FC236}">
                <a16:creationId xmlns:a16="http://schemas.microsoft.com/office/drawing/2014/main" id="{4E79BE31-16F4-40D4-8456-6EEB7DBAFB85}"/>
              </a:ext>
            </a:extLst>
          </p:cNvPr>
          <p:cNvSpPr>
            <a:spLocks xmlns:a="http://schemas.openxmlformats.org/drawingml/2006/main" noGrp="1"/>
          </p:cNvSpPr>
          <p:nvPr/>
        </p:nvSpPr>
        <p:spPr>
          <a:xfrm xmlns:a="http://schemas.openxmlformats.org/drawingml/2006/main">
            <a:off x="640080"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9A8CF16-BF4C-4D3B-AC4E-AE30122AEE75}"/>
              </a:ext>
            </a:extLst>
          </p:cNvPr>
          <p:cNvSpPr>
            <a:spLocks xmlns:a="http://schemas.openxmlformats.org/drawingml/2006/main" noGrp="1"/>
          </p:cNvSpPr>
          <p:nvPr/>
        </p:nvSpPr>
        <p:spPr>
          <a:xfrm xmlns:a="http://schemas.openxmlformats.org/drawingml/2006/main">
            <a:off x="768096"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5,531</a:t>
            </a:r>
          </a:p>
        </p:txBody>
      </p:sp>
      <p:sp>
        <p:nvSpPr>
          <p:cNvPr id="30" name="Text 28">
            <a:extLst xmlns:a="http://schemas.openxmlformats.org/drawingml/2006/main">
              <a:ext uri="{FF2B5EF4-FFF2-40B4-BE49-F238E27FC236}">
                <a16:creationId xmlns:a16="http://schemas.microsoft.com/office/drawing/2014/main" id="{A2D5A6F1-5FB4-430C-A7F4-EB096BEE8012}"/>
              </a:ext>
            </a:extLst>
          </p:cNvPr>
          <p:cNvSpPr>
            <a:spLocks xmlns:a="http://schemas.openxmlformats.org/drawingml/2006/main" noGrp="1"/>
          </p:cNvSpPr>
          <p:nvPr/>
        </p:nvSpPr>
        <p:spPr>
          <a:xfrm xmlns:a="http://schemas.openxmlformats.org/drawingml/2006/main">
            <a:off x="768096"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in candidate set</a:t>
            </a:r>
          </a:p>
        </p:txBody>
      </p:sp>
      <p:sp>
        <p:nvSpPr>
          <p:cNvPr id="31" name="Text 29">
            <a:extLst xmlns:a="http://schemas.openxmlformats.org/drawingml/2006/main">
              <a:ext uri="{FF2B5EF4-FFF2-40B4-BE49-F238E27FC236}">
                <a16:creationId xmlns:a16="http://schemas.microsoft.com/office/drawing/2014/main" id="{6195770B-8412-4DAF-B3A5-94FDE31D7C61}"/>
              </a:ext>
            </a:extLst>
          </p:cNvPr>
          <p:cNvSpPr>
            <a:spLocks xmlns:a="http://schemas.openxmlformats.org/drawingml/2006/main" noGrp="1"/>
          </p:cNvSpPr>
          <p:nvPr/>
        </p:nvSpPr>
        <p:spPr>
          <a:xfrm xmlns:a="http://schemas.openxmlformats.org/drawingml/2006/main">
            <a:off x="768096"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96.3% recall</a:t>
            </a:r>
          </a:p>
        </p:txBody>
      </p:sp>
      <p:sp>
        <p:nvSpPr>
          <p:cNvPr id="32" name="Shape 30">
            <a:extLst xmlns:a="http://schemas.openxmlformats.org/drawingml/2006/main">
              <a:ext uri="{FF2B5EF4-FFF2-40B4-BE49-F238E27FC236}">
                <a16:creationId xmlns:a16="http://schemas.microsoft.com/office/drawing/2014/main" id="{2F814A01-59E1-4E17-AA43-E5B110B2340C}"/>
              </a:ext>
            </a:extLst>
          </p:cNvPr>
          <p:cNvSpPr>
            <a:spLocks xmlns:a="http://schemas.openxmlformats.org/drawingml/2006/main" noGrp="1"/>
          </p:cNvSpPr>
          <p:nvPr/>
        </p:nvSpPr>
        <p:spPr>
          <a:xfrm xmlns:a="http://schemas.openxmlformats.org/drawingml/2006/main">
            <a:off x="2489149"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F607D9F5-F5F0-4F8E-A023-69D4842D47CE}"/>
              </a:ext>
            </a:extLst>
          </p:cNvPr>
          <p:cNvSpPr>
            <a:spLocks xmlns:a="http://schemas.openxmlformats.org/drawingml/2006/main" noGrp="1"/>
          </p:cNvSpPr>
          <p:nvPr/>
        </p:nvSpPr>
        <p:spPr>
          <a:xfrm xmlns:a="http://schemas.openxmlformats.org/drawingml/2006/main">
            <a:off x="2617165"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1F8A99"/>
                </a:solidFill>
                <a:latin typeface="Cambria"/>
                <a:ea typeface="Cambria"/>
                <a:cs typeface="Cambria"/>
              </a:rPr>
              <a:t>4,636</a:t>
            </a:r>
          </a:p>
        </p:txBody>
      </p:sp>
      <p:sp>
        <p:nvSpPr>
          <p:cNvPr id="34" name="Text 32">
            <a:extLst xmlns:a="http://schemas.openxmlformats.org/drawingml/2006/main">
              <a:ext uri="{FF2B5EF4-FFF2-40B4-BE49-F238E27FC236}">
                <a16:creationId xmlns:a16="http://schemas.microsoft.com/office/drawing/2014/main" id="{BAEAF0A2-F930-485D-A535-1516367DFB2E}"/>
              </a:ext>
            </a:extLst>
          </p:cNvPr>
          <p:cNvSpPr>
            <a:spLocks xmlns:a="http://schemas.openxmlformats.org/drawingml/2006/main" noGrp="1"/>
          </p:cNvSpPr>
          <p:nvPr/>
        </p:nvSpPr>
        <p:spPr>
          <a:xfrm xmlns:a="http://schemas.openxmlformats.org/drawingml/2006/main">
            <a:off x="2617165"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uniquely resolved</a:t>
            </a:r>
          </a:p>
        </p:txBody>
      </p:sp>
      <p:sp>
        <p:nvSpPr>
          <p:cNvPr id="35" name="Text 33">
            <a:extLst xmlns:a="http://schemas.openxmlformats.org/drawingml/2006/main">
              <a:ext uri="{FF2B5EF4-FFF2-40B4-BE49-F238E27FC236}">
                <a16:creationId xmlns:a16="http://schemas.microsoft.com/office/drawing/2014/main" id="{865F0288-B3F6-4E15-BD98-14EC1BC33F8C}"/>
              </a:ext>
            </a:extLst>
          </p:cNvPr>
          <p:cNvSpPr>
            <a:spLocks xmlns:a="http://schemas.openxmlformats.org/drawingml/2006/main" noGrp="1"/>
          </p:cNvSpPr>
          <p:nvPr/>
        </p:nvSpPr>
        <p:spPr>
          <a:xfrm xmlns:a="http://schemas.openxmlformats.org/drawingml/2006/main">
            <a:off x="2617165"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80.7%</a:t>
            </a:r>
          </a:p>
        </p:txBody>
      </p:sp>
      <p:sp>
        <p:nvSpPr>
          <p:cNvPr id="36" name="Shape 34">
            <a:extLst xmlns:a="http://schemas.openxmlformats.org/drawingml/2006/main">
              <a:ext uri="{FF2B5EF4-FFF2-40B4-BE49-F238E27FC236}">
                <a16:creationId xmlns:a16="http://schemas.microsoft.com/office/drawing/2014/main" id="{E1A175B9-C2D8-4213-8850-A2BE551FCAC1}"/>
              </a:ext>
            </a:extLst>
          </p:cNvPr>
          <p:cNvSpPr>
            <a:spLocks xmlns:a="http://schemas.openxmlformats.org/drawingml/2006/main" noGrp="1"/>
          </p:cNvSpPr>
          <p:nvPr/>
        </p:nvSpPr>
        <p:spPr>
          <a:xfrm xmlns:a="http://schemas.openxmlformats.org/drawingml/2006/main">
            <a:off x="433821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3BF23A9A-0BF3-407A-B406-1EDE49B765EC}"/>
              </a:ext>
            </a:extLst>
          </p:cNvPr>
          <p:cNvSpPr>
            <a:spLocks xmlns:a="http://schemas.openxmlformats.org/drawingml/2006/main" noGrp="1"/>
          </p:cNvSpPr>
          <p:nvPr/>
        </p:nvSpPr>
        <p:spPr>
          <a:xfrm xmlns:a="http://schemas.openxmlformats.org/drawingml/2006/main">
            <a:off x="446623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895</a:t>
            </a:r>
          </a:p>
        </p:txBody>
      </p:sp>
      <p:sp>
        <p:nvSpPr>
          <p:cNvPr id="38" name="Text 36">
            <a:extLst xmlns:a="http://schemas.openxmlformats.org/drawingml/2006/main">
              <a:ext uri="{FF2B5EF4-FFF2-40B4-BE49-F238E27FC236}">
                <a16:creationId xmlns:a16="http://schemas.microsoft.com/office/drawing/2014/main" id="{C1AB8E2F-EF6B-4B43-AA3C-AD1A2AB2F272}"/>
              </a:ext>
            </a:extLst>
          </p:cNvPr>
          <p:cNvSpPr>
            <a:spLocks xmlns:a="http://schemas.openxmlformats.org/drawingml/2006/main" noGrp="1"/>
          </p:cNvSpPr>
          <p:nvPr/>
        </p:nvSpPr>
        <p:spPr>
          <a:xfrm xmlns:a="http://schemas.openxmlformats.org/drawingml/2006/main">
            <a:off x="446623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ambiguous</a:t>
            </a:r>
          </a:p>
        </p:txBody>
      </p:sp>
      <p:sp>
        <p:nvSpPr>
          <p:cNvPr id="39" name="Text 37">
            <a:extLst xmlns:a="http://schemas.openxmlformats.org/drawingml/2006/main">
              <a:ext uri="{FF2B5EF4-FFF2-40B4-BE49-F238E27FC236}">
                <a16:creationId xmlns:a16="http://schemas.microsoft.com/office/drawing/2014/main" id="{43402633-FA29-49A4-95DC-CAA676B335FC}"/>
              </a:ext>
            </a:extLst>
          </p:cNvPr>
          <p:cNvSpPr>
            <a:spLocks xmlns:a="http://schemas.openxmlformats.org/drawingml/2006/main" noGrp="1"/>
          </p:cNvSpPr>
          <p:nvPr/>
        </p:nvSpPr>
        <p:spPr>
          <a:xfrm xmlns:a="http://schemas.openxmlformats.org/drawingml/2006/main">
            <a:off x="446623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truth among many, 15.6%</a:t>
            </a:r>
          </a:p>
        </p:txBody>
      </p:sp>
      <p:sp>
        <p:nvSpPr>
          <p:cNvPr id="40" name="Shape 38">
            <a:extLst xmlns:a="http://schemas.openxmlformats.org/drawingml/2006/main">
              <a:ext uri="{FF2B5EF4-FFF2-40B4-BE49-F238E27FC236}">
                <a16:creationId xmlns:a16="http://schemas.microsoft.com/office/drawing/2014/main" id="{7319EB09-573F-4AAB-B03D-825D79B44665}"/>
              </a:ext>
            </a:extLst>
          </p:cNvPr>
          <p:cNvSpPr>
            <a:spLocks xmlns:a="http://schemas.openxmlformats.org/drawingml/2006/main" noGrp="1"/>
          </p:cNvSpPr>
          <p:nvPr/>
        </p:nvSpPr>
        <p:spPr>
          <a:xfrm xmlns:a="http://schemas.openxmlformats.org/drawingml/2006/main">
            <a:off x="618728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3E2DB3A0-4B6B-431D-9373-A66DFF638658}"/>
              </a:ext>
            </a:extLst>
          </p:cNvPr>
          <p:cNvSpPr>
            <a:spLocks xmlns:a="http://schemas.openxmlformats.org/drawingml/2006/main" noGrp="1"/>
          </p:cNvSpPr>
          <p:nvPr/>
        </p:nvSpPr>
        <p:spPr>
          <a:xfrm xmlns:a="http://schemas.openxmlformats.org/drawingml/2006/main">
            <a:off x="631530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215</a:t>
            </a:r>
          </a:p>
        </p:txBody>
      </p:sp>
      <p:sp>
        <p:nvSpPr>
          <p:cNvPr id="42" name="Text 40">
            <a:extLst xmlns:a="http://schemas.openxmlformats.org/drawingml/2006/main">
              <a:ext uri="{FF2B5EF4-FFF2-40B4-BE49-F238E27FC236}">
                <a16:creationId xmlns:a16="http://schemas.microsoft.com/office/drawing/2014/main" id="{94AC91D8-7626-4AA0-9B5C-043964A74E8C}"/>
              </a:ext>
            </a:extLst>
          </p:cNvPr>
          <p:cNvSpPr>
            <a:spLocks xmlns:a="http://schemas.openxmlformats.org/drawingml/2006/main" noGrp="1"/>
          </p:cNvSpPr>
          <p:nvPr/>
        </p:nvSpPr>
        <p:spPr>
          <a:xfrm xmlns:a="http://schemas.openxmlformats.org/drawingml/2006/main">
            <a:off x="631530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no candidate</a:t>
            </a:r>
          </a:p>
        </p:txBody>
      </p:sp>
      <p:sp>
        <p:nvSpPr>
          <p:cNvPr id="43" name="Text 41">
            <a:extLst xmlns:a="http://schemas.openxmlformats.org/drawingml/2006/main">
              <a:ext uri="{FF2B5EF4-FFF2-40B4-BE49-F238E27FC236}">
                <a16:creationId xmlns:a16="http://schemas.microsoft.com/office/drawing/2014/main" id="{9FE3A24C-5103-4E57-B82D-61988EADEC71}"/>
              </a:ext>
            </a:extLst>
          </p:cNvPr>
          <p:cNvSpPr>
            <a:spLocks xmlns:a="http://schemas.openxmlformats.org/drawingml/2006/main" noGrp="1"/>
          </p:cNvSpPr>
          <p:nvPr/>
        </p:nvSpPr>
        <p:spPr>
          <a:xfrm xmlns:a="http://schemas.openxmlformats.org/drawingml/2006/main">
            <a:off x="631530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3.7%</a:t>
            </a:r>
          </a:p>
        </p:txBody>
      </p:sp>
      <p:sp>
        <p:nvSpPr>
          <p:cNvPr id="44" name="Shape 42">
            <a:extLst xmlns:a="http://schemas.openxmlformats.org/drawingml/2006/main">
              <a:ext uri="{FF2B5EF4-FFF2-40B4-BE49-F238E27FC236}">
                <a16:creationId xmlns:a16="http://schemas.microsoft.com/office/drawing/2014/main" id="{44A53926-FFD4-41E5-A148-F74D8D0B2A37}"/>
              </a:ext>
            </a:extLst>
          </p:cNvPr>
          <p:cNvSpPr>
            <a:spLocks xmlns:a="http://schemas.openxmlformats.org/drawingml/2006/main" noGrp="1"/>
          </p:cNvSpPr>
          <p:nvPr/>
        </p:nvSpPr>
        <p:spPr>
          <a:xfrm xmlns:a="http://schemas.openxmlformats.org/drawingml/2006/main">
            <a:off x="8036357"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5" name="Text 43">
            <a:extLst xmlns:a="http://schemas.openxmlformats.org/drawingml/2006/main">
              <a:ext uri="{FF2B5EF4-FFF2-40B4-BE49-F238E27FC236}">
                <a16:creationId xmlns:a16="http://schemas.microsoft.com/office/drawing/2014/main" id="{9076C8C0-D114-40F0-B783-F835D5181CA1}"/>
              </a:ext>
            </a:extLst>
          </p:cNvPr>
          <p:cNvSpPr>
            <a:spLocks xmlns:a="http://schemas.openxmlformats.org/drawingml/2006/main" noGrp="1"/>
          </p:cNvSpPr>
          <p:nvPr/>
        </p:nvSpPr>
        <p:spPr>
          <a:xfrm xmlns:a="http://schemas.openxmlformats.org/drawingml/2006/main">
            <a:off x="8164373"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84.3%</a:t>
            </a:r>
          </a:p>
        </p:txBody>
      </p:sp>
      <p:sp>
        <p:nvSpPr>
          <p:cNvPr id="46" name="Text 44">
            <a:extLst xmlns:a="http://schemas.openxmlformats.org/drawingml/2006/main">
              <a:ext uri="{FF2B5EF4-FFF2-40B4-BE49-F238E27FC236}">
                <a16:creationId xmlns:a16="http://schemas.microsoft.com/office/drawing/2014/main" id="{A445D0A6-BF1B-45F5-BB30-C6B3AF18A55A}"/>
              </a:ext>
            </a:extLst>
          </p:cNvPr>
          <p:cNvSpPr>
            <a:spLocks xmlns:a="http://schemas.openxmlformats.org/drawingml/2006/main" noGrp="1"/>
          </p:cNvSpPr>
          <p:nvPr/>
        </p:nvSpPr>
        <p:spPr>
          <a:xfrm xmlns:a="http://schemas.openxmlformats.org/drawingml/2006/main">
            <a:off x="8164373"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edge precision</a:t>
            </a:r>
          </a:p>
        </p:txBody>
      </p:sp>
      <p:sp>
        <p:nvSpPr>
          <p:cNvPr id="47" name="Text 45">
            <a:extLst xmlns:a="http://schemas.openxmlformats.org/drawingml/2006/main">
              <a:ext uri="{FF2B5EF4-FFF2-40B4-BE49-F238E27FC236}">
                <a16:creationId xmlns:a16="http://schemas.microsoft.com/office/drawing/2014/main" id="{C51589FE-A505-4FC7-AD5C-F2F3BDB089EE}"/>
              </a:ext>
            </a:extLst>
          </p:cNvPr>
          <p:cNvSpPr>
            <a:spLocks xmlns:a="http://schemas.openxmlformats.org/drawingml/2006/main" noGrp="1"/>
          </p:cNvSpPr>
          <p:nvPr/>
        </p:nvSpPr>
        <p:spPr>
          <a:xfrm xmlns:a="http://schemas.openxmlformats.org/drawingml/2006/main">
            <a:off x="8164373"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5,531 / 6,564</a:t>
            </a:r>
          </a:p>
        </p:txBody>
      </p:sp>
      <p:sp>
        <p:nvSpPr>
          <p:cNvPr id="48" name="Shape 46">
            <a:extLst xmlns:a="http://schemas.openxmlformats.org/drawingml/2006/main">
              <a:ext uri="{FF2B5EF4-FFF2-40B4-BE49-F238E27FC236}">
                <a16:creationId xmlns:a16="http://schemas.microsoft.com/office/drawing/2014/main" id="{2ACE499B-BF3F-4F33-A9CE-596F920520AA}"/>
              </a:ext>
            </a:extLst>
          </p:cNvPr>
          <p:cNvSpPr>
            <a:spLocks xmlns:a="http://schemas.openxmlformats.org/drawingml/2006/main" noGrp="1"/>
          </p:cNvSpPr>
          <p:nvPr/>
        </p:nvSpPr>
        <p:spPr>
          <a:xfrm xmlns:a="http://schemas.openxmlformats.org/drawingml/2006/main">
            <a:off x="9885426"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9" name="Text 47">
            <a:extLst xmlns:a="http://schemas.openxmlformats.org/drawingml/2006/main">
              <a:ext uri="{FF2B5EF4-FFF2-40B4-BE49-F238E27FC236}">
                <a16:creationId xmlns:a16="http://schemas.microsoft.com/office/drawing/2014/main" id="{159D143A-CE5F-4FE6-80BF-9D6805D17D43}"/>
              </a:ext>
            </a:extLst>
          </p:cNvPr>
          <p:cNvSpPr>
            <a:spLocks xmlns:a="http://schemas.openxmlformats.org/drawingml/2006/main" noGrp="1"/>
          </p:cNvSpPr>
          <p:nvPr/>
        </p:nvSpPr>
        <p:spPr>
          <a:xfrm xmlns:a="http://schemas.openxmlformats.org/drawingml/2006/main">
            <a:off x="10013442"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85.3%</a:t>
            </a:r>
          </a:p>
        </p:txBody>
      </p:sp>
      <p:sp>
        <p:nvSpPr>
          <p:cNvPr id="50" name="Text 48">
            <a:extLst xmlns:a="http://schemas.openxmlformats.org/drawingml/2006/main">
              <a:ext uri="{FF2B5EF4-FFF2-40B4-BE49-F238E27FC236}">
                <a16:creationId xmlns:a16="http://schemas.microsoft.com/office/drawing/2014/main" id="{C15589AC-FD4D-4E4E-8DCF-8C57CA481DB7}"/>
              </a:ext>
            </a:extLst>
          </p:cNvPr>
          <p:cNvSpPr>
            <a:spLocks xmlns:a="http://schemas.openxmlformats.org/drawingml/2006/main" noGrp="1"/>
          </p:cNvSpPr>
          <p:nvPr/>
        </p:nvSpPr>
        <p:spPr>
          <a:xfrm xmlns:a="http://schemas.openxmlformats.org/drawingml/2006/main">
            <a:off x="10013442"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complete windows</a:t>
            </a:r>
          </a:p>
        </p:txBody>
      </p:sp>
      <p:sp>
        <p:nvSpPr>
          <p:cNvPr id="51" name="Text 49">
            <a:extLst xmlns:a="http://schemas.openxmlformats.org/drawingml/2006/main">
              <a:ext uri="{FF2B5EF4-FFF2-40B4-BE49-F238E27FC236}">
                <a16:creationId xmlns:a16="http://schemas.microsoft.com/office/drawing/2014/main" id="{F6F4E593-D33C-4B87-9AC6-CB7CA599F5C9}"/>
              </a:ext>
            </a:extLst>
          </p:cNvPr>
          <p:cNvSpPr>
            <a:spLocks xmlns:a="http://schemas.openxmlformats.org/drawingml/2006/main" noGrp="1"/>
          </p:cNvSpPr>
          <p:nvPr/>
        </p:nvSpPr>
        <p:spPr>
          <a:xfrm xmlns:a="http://schemas.openxmlformats.org/drawingml/2006/main">
            <a:off x="10013442"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1,207 / 1,415 episodes</a:t>
            </a:r>
          </a:p>
        </p:txBody>
      </p:sp>
      <p:sp>
        <p:nvSpPr>
          <p:cNvPr id="52" name="Text 50">
            <a:extLst xmlns:a="http://schemas.openxmlformats.org/drawingml/2006/main">
              <a:ext uri="{FF2B5EF4-FFF2-40B4-BE49-F238E27FC236}">
                <a16:creationId xmlns:a16="http://schemas.microsoft.com/office/drawing/2014/main" id="{CE7FEFFC-EE79-41AF-83D9-B312F9C8132E}"/>
              </a:ext>
            </a:extLst>
          </p:cNvPr>
          <p:cNvSpPr>
            <a:spLocks xmlns:a="http://schemas.openxmlformats.org/drawingml/2006/main" noGrp="1"/>
          </p:cNvSpPr>
          <p:nvPr/>
        </p:nvSpPr>
        <p:spPr>
          <a:xfrm xmlns:a="http://schemas.openxmlformats.org/drawingml/2006/main">
            <a:off x="640080" y="576072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p>
        </p:txBody>
      </p:sp>
    </p:spTree>
    <p:extLst>
      <p:ext uri="{BB962C8B-B14F-4D97-AF65-F5344CB8AC3E}">
        <p14:creationId xmlns:p14="http://schemas.microsoft.com/office/powerpoint/2010/main" val="211588606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D6A2C2C-8204-447B-A672-46B84F60907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C33329B-1637-4634-A22D-1F4A8AB81BC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EF12BFBC-9E5C-4AC8-A3B5-86AC5231B8D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§3.1–3.2</a:t>
            </a:r>
          </a:p>
        </p:txBody>
      </p:sp>
      <p:sp>
        <p:nvSpPr>
          <p:cNvPr id="5" name="Text 3">
            <a:extLst xmlns:a="http://schemas.openxmlformats.org/drawingml/2006/main">
              <a:ext uri="{FF2B5EF4-FFF2-40B4-BE49-F238E27FC236}">
                <a16:creationId xmlns:a16="http://schemas.microsoft.com/office/drawing/2014/main" id="{01BE8EE9-52A8-4D6F-960C-A6B89EF52C43}"/>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Family mining, an MDL ranking, and a cheap decisive no</a:t>
            </a:r>
          </a:p>
        </p:txBody>
      </p:sp>
      <p:sp>
        <p:nvSpPr>
          <p:cNvPr id="6" name="Text 4">
            <a:extLst xmlns:a="http://schemas.openxmlformats.org/drawingml/2006/main">
              <a:ext uri="{FF2B5EF4-FFF2-40B4-BE49-F238E27FC236}">
                <a16:creationId xmlns:a16="http://schemas.microsoft.com/office/drawing/2014/main" id="{A9DADA0D-F81A-4CC3-A35E-99E4A792AD0C}"/>
              </a:ext>
            </a:extLst>
          </p:cNvPr>
          <p:cNvSpPr>
            <a:spLocks xmlns:a="http://schemas.openxmlformats.org/drawingml/2006/main" noGrp="1"/>
          </p:cNvSpPr>
          <p:nvPr/>
        </p:nvSpPr>
        <p:spPr>
          <a:xfrm xmlns:a="http://schemas.openxmlformats.org/drawingml/2006/main">
            <a:off x="640080" y="1188720"/>
            <a:ext cx="1091153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p>
        </p:txBody>
      </p:sp>
      <p:sp>
        <p:nvSpPr>
          <p:cNvPr id="7" name="Shape 5">
            <a:extLst xmlns:a="http://schemas.openxmlformats.org/drawingml/2006/main">
              <a:ext uri="{FF2B5EF4-FFF2-40B4-BE49-F238E27FC236}">
                <a16:creationId xmlns:a16="http://schemas.microsoft.com/office/drawing/2014/main" id="{047957DA-A093-4888-8C0C-5E1A001F5DE2}"/>
              </a:ext>
            </a:extLst>
          </p:cNvPr>
          <p:cNvSpPr>
            <a:spLocks xmlns:a="http://schemas.openxmlformats.org/drawingml/2006/main" noGrp="1"/>
          </p:cNvSpPr>
          <p:nvPr/>
        </p:nvSpPr>
        <p:spPr>
          <a:xfrm xmlns:a="http://schemas.openxmlformats.org/drawingml/2006/main">
            <a:off x="640080" y="1792224"/>
            <a:ext cx="10911535"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c709e4e0ae83451a"/>
          <a:stretch xmlns:a="http://schemas.openxmlformats.org/drawingml/2006/main">
            <a:fillRect l="0" t="0" r="0" b="0"/>
          </a:stretch>
        </p:blipFill>
        <p:spPr>
          <a:xfrm xmlns:a="http://schemas.openxmlformats.org/drawingml/2006/main">
            <a:off x="877824" y="1938528"/>
            <a:ext cx="8575174" cy="420624"/>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EC9940D5-249E-4F7B-9ED1-97F78CF20313}"/>
              </a:ext>
            </a:extLst>
          </p:cNvPr>
          <p:cNvSpPr>
            <a:spLocks xmlns:a="http://schemas.openxmlformats.org/drawingml/2006/main" noGrp="1"/>
          </p:cNvSpPr>
          <p:nvPr/>
        </p:nvSpPr>
        <p:spPr>
          <a:xfrm xmlns:a="http://schemas.openxmlformats.org/drawingml/2006/main">
            <a:off x="877824" y="2432304"/>
            <a:ext cx="10436047"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p>
        </p:txBody>
      </p:sp>
      <p:sp>
        <p:nvSpPr>
          <p:cNvPr id="10" name="Text 7">
            <a:extLst xmlns:a="http://schemas.openxmlformats.org/drawingml/2006/main">
              <a:ext uri="{FF2B5EF4-FFF2-40B4-BE49-F238E27FC236}">
                <a16:creationId xmlns:a16="http://schemas.microsoft.com/office/drawing/2014/main" id="{4E7D7B78-9A7D-47E4-B682-624A9210C2BC}"/>
              </a:ext>
            </a:extLst>
          </p:cNvPr>
          <p:cNvSpPr>
            <a:spLocks xmlns:a="http://schemas.openxmlformats.org/drawingml/2006/main" noGrp="1"/>
          </p:cNvSpPr>
          <p:nvPr/>
        </p:nvSpPr>
        <p:spPr>
          <a:xfrm xmlns:a="http://schemas.openxmlformats.org/drawingml/2006/main">
            <a:off x="10856671" y="1938528"/>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(6)</a:t>
            </a:r>
          </a:p>
        </p:txBody>
      </p:sp>
      <p:sp>
        <p:nvSpPr>
          <p:cNvPr id="11" name="Shape 8">
            <a:extLst xmlns:a="http://schemas.openxmlformats.org/drawingml/2006/main">
              <a:ext uri="{FF2B5EF4-FFF2-40B4-BE49-F238E27FC236}">
                <a16:creationId xmlns:a16="http://schemas.microsoft.com/office/drawing/2014/main" id="{B09EC3B6-099D-4275-A079-A33CCB541580}"/>
              </a:ext>
            </a:extLst>
          </p:cNvPr>
          <p:cNvSpPr>
            <a:spLocks xmlns:a="http://schemas.openxmlformats.org/drawingml/2006/main" noGrp="1"/>
          </p:cNvSpPr>
          <p:nvPr/>
        </p:nvSpPr>
        <p:spPr>
          <a:xfrm xmlns:a="http://schemas.openxmlformats.org/drawingml/2006/main">
            <a:off x="640080" y="3145536"/>
            <a:ext cx="10911535" cy="859536"/>
          </a:xfrm>
          <a:prstGeom xmlns:a="http://schemas.openxmlformats.org/drawingml/2006/main" prst="roundRect">
            <a:avLst>
              <a:gd name="adj" fmla="val 531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1D992E07-C545-4813-A372-5CFCA9085015}"/>
              </a:ext>
            </a:extLst>
          </p:cNvPr>
          <p:cNvSpPr>
            <a:spLocks xmlns:a="http://schemas.openxmlformats.org/drawingml/2006/main" noGrp="1"/>
          </p:cNvSpPr>
          <p:nvPr/>
        </p:nvSpPr>
        <p:spPr>
          <a:xfrm xmlns:a="http://schemas.openxmlformats.org/drawingml/2006/main">
            <a:off x="896112" y="3255264"/>
            <a:ext cx="10399471"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A93B2B"/>
                </a:solidFill>
                <a:latin typeface="Calibri"/>
                <a:ea typeface="Calibri"/>
                <a:cs typeface="Calibri"/>
              </a:rPr>
              <a:t>Two terms are coarser in the implementation than the notation suggests. </a:t>
            </a:r>
            <a:r>
              <a:rPr sz="1100">
                <a:solidFill>
                  <a:srgbClr val="5C4034"/>
                </a:solidFill>
                <a:latin typeface="Calibri"/>
                <a:ea typeface="Calibri"/>
                <a:cs typeface="Calibri"/>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p>
        </p:txBody>
      </p:sp>
      <p:sp>
        <p:nvSpPr>
          <p:cNvPr id="13" name="Shape 10">
            <a:extLst xmlns:a="http://schemas.openxmlformats.org/drawingml/2006/main">
              <a:ext uri="{FF2B5EF4-FFF2-40B4-BE49-F238E27FC236}">
                <a16:creationId xmlns:a16="http://schemas.microsoft.com/office/drawing/2014/main" id="{82F0AE8B-F931-4563-B733-E11509C53494}"/>
              </a:ext>
            </a:extLst>
          </p:cNvPr>
          <p:cNvSpPr>
            <a:spLocks xmlns:a="http://schemas.openxmlformats.org/drawingml/2006/main" noGrp="1"/>
          </p:cNvSpPr>
          <p:nvPr/>
        </p:nvSpPr>
        <p:spPr>
          <a:xfrm xmlns:a="http://schemas.openxmlformats.org/drawingml/2006/main">
            <a:off x="640080" y="4151376"/>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7f96038fa9b54867"/>
          <a:stretch xmlns:a="http://schemas.openxmlformats.org/drawingml/2006/main">
            <a:fillRect l="0" t="0" r="0" b="0"/>
          </a:stretch>
        </p:blipFill>
        <p:spPr>
          <a:xfrm xmlns:a="http://schemas.openxmlformats.org/drawingml/2006/main">
            <a:off x="877824" y="4297680"/>
            <a:ext cx="4005158" cy="512064"/>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EACDE75D-4B50-41D7-B876-E411AB3BE0AF}"/>
              </a:ext>
            </a:extLst>
          </p:cNvPr>
          <p:cNvSpPr>
            <a:spLocks xmlns:a="http://schemas.openxmlformats.org/drawingml/2006/main" noGrp="1"/>
          </p:cNvSpPr>
          <p:nvPr/>
        </p:nvSpPr>
        <p:spPr>
          <a:xfrm xmlns:a="http://schemas.openxmlformats.org/drawingml/2006/main">
            <a:off x="877824" y="4882896"/>
            <a:ext cx="481568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p>
        </p:txBody>
      </p:sp>
      <p:sp>
        <p:nvSpPr>
          <p:cNvPr id="16" name="Text 12">
            <a:extLst xmlns:a="http://schemas.openxmlformats.org/drawingml/2006/main">
              <a:ext uri="{FF2B5EF4-FFF2-40B4-BE49-F238E27FC236}">
                <a16:creationId xmlns:a16="http://schemas.microsoft.com/office/drawing/2014/main" id="{59027797-D0DE-4489-9D41-EEDDBE5CDC42}"/>
              </a:ext>
            </a:extLst>
          </p:cNvPr>
          <p:cNvSpPr>
            <a:spLocks xmlns:a="http://schemas.openxmlformats.org/drawingml/2006/main" noGrp="1"/>
          </p:cNvSpPr>
          <p:nvPr/>
        </p:nvSpPr>
        <p:spPr>
          <a:xfrm xmlns:a="http://schemas.openxmlformats.org/drawingml/2006/main">
            <a:off x="5236312" y="4297680"/>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(7)</a:t>
            </a:r>
          </a:p>
        </p:txBody>
      </p:sp>
      <p:sp>
        <p:nvSpPr>
          <p:cNvPr id="17" name="Shape 13">
            <a:extLst xmlns:a="http://schemas.openxmlformats.org/drawingml/2006/main">
              <a:ext uri="{FF2B5EF4-FFF2-40B4-BE49-F238E27FC236}">
                <a16:creationId xmlns:a16="http://schemas.microsoft.com/office/drawing/2014/main" id="{F505853E-1E12-44C0-97B8-BC54ACDDA5E6}"/>
              </a:ext>
            </a:extLst>
          </p:cNvPr>
          <p:cNvSpPr>
            <a:spLocks xmlns:a="http://schemas.openxmlformats.org/drawingml/2006/main" noGrp="1"/>
          </p:cNvSpPr>
          <p:nvPr/>
        </p:nvSpPr>
        <p:spPr>
          <a:xfrm xmlns:a="http://schemas.openxmlformats.org/drawingml/2006/main">
            <a:off x="6260440" y="4151376"/>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4">
            <a:extLst xmlns:a="http://schemas.openxmlformats.org/drawingml/2006/main">
              <a:ext uri="{FF2B5EF4-FFF2-40B4-BE49-F238E27FC236}">
                <a16:creationId xmlns:a16="http://schemas.microsoft.com/office/drawing/2014/main" id="{3685D4D7-5CD8-427B-A6A7-0E5D9C2C02B0}"/>
              </a:ext>
            </a:extLst>
          </p:cNvPr>
          <p:cNvSpPr>
            <a:spLocks xmlns:a="http://schemas.openxmlformats.org/drawingml/2006/main" noGrp="1"/>
          </p:cNvSpPr>
          <p:nvPr/>
        </p:nvSpPr>
        <p:spPr>
          <a:xfrm xmlns:a="http://schemas.openxmlformats.org/drawingml/2006/main">
            <a:off x="6498184" y="4279392"/>
            <a:ext cx="48156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WORKED EXAMPLE — THE FIXED-PREFIX GITHUB STUDY</a:t>
            </a:r>
          </a:p>
        </p:txBody>
      </p:sp>
      <p:sp>
        <p:nvSpPr>
          <p:cNvPr id="19" name="Text 15">
            <a:extLst xmlns:a="http://schemas.openxmlformats.org/drawingml/2006/main">
              <a:ext uri="{FF2B5EF4-FFF2-40B4-BE49-F238E27FC236}">
                <a16:creationId xmlns:a16="http://schemas.microsoft.com/office/drawing/2014/main" id="{13E62D42-1D9E-41C8-A0AC-0F9588939FD2}"/>
              </a:ext>
            </a:extLst>
          </p:cNvPr>
          <p:cNvSpPr>
            <a:spLocks xmlns:a="http://schemas.openxmlformats.org/drawingml/2006/main" noGrp="1"/>
          </p:cNvSpPr>
          <p:nvPr/>
        </p:nvSpPr>
        <p:spPr>
          <a:xfrm xmlns:a="http://schemas.openxmlformats.org/drawingml/2006/main">
            <a:off x="649818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φ = 1</a:t>
            </a:r>
          </a:p>
        </p:txBody>
      </p:sp>
      <p:sp>
        <p:nvSpPr>
          <p:cNvPr id="20" name="Text 16">
            <a:extLst xmlns:a="http://schemas.openxmlformats.org/drawingml/2006/main">
              <a:ext uri="{FF2B5EF4-FFF2-40B4-BE49-F238E27FC236}">
                <a16:creationId xmlns:a16="http://schemas.microsoft.com/office/drawing/2014/main" id="{2EDF42DB-A458-473C-82BC-9FDAE0E2954E}"/>
              </a:ext>
            </a:extLst>
          </p:cNvPr>
          <p:cNvSpPr>
            <a:spLocks xmlns:a="http://schemas.openxmlformats.org/drawingml/2006/main" noGrp="1"/>
          </p:cNvSpPr>
          <p:nvPr/>
        </p:nvSpPr>
        <p:spPr>
          <a:xfrm xmlns:a="http://schemas.openxmlformats.org/drawingml/2006/main">
            <a:off x="649818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eligible share</a:t>
            </a:r>
          </a:p>
        </p:txBody>
      </p:sp>
      <p:sp>
        <p:nvSpPr>
          <p:cNvPr id="21" name="Text 17">
            <a:extLst xmlns:a="http://schemas.openxmlformats.org/drawingml/2006/main">
              <a:ext uri="{FF2B5EF4-FFF2-40B4-BE49-F238E27FC236}">
                <a16:creationId xmlns:a16="http://schemas.microsoft.com/office/drawing/2014/main" id="{756C2298-8D13-4DC3-AAF2-940AAC15E128}"/>
              </a:ext>
            </a:extLst>
          </p:cNvPr>
          <p:cNvSpPr>
            <a:spLocks xmlns:a="http://schemas.openxmlformats.org/drawingml/2006/main" noGrp="1"/>
          </p:cNvSpPr>
          <p:nvPr/>
        </p:nvSpPr>
        <p:spPr>
          <a:xfrm xmlns:a="http://schemas.openxmlformats.org/drawingml/2006/main">
            <a:off x="7987589"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k = 3</a:t>
            </a:r>
          </a:p>
        </p:txBody>
      </p:sp>
      <p:sp>
        <p:nvSpPr>
          <p:cNvPr id="22" name="Text 18">
            <a:extLst xmlns:a="http://schemas.openxmlformats.org/drawingml/2006/main">
              <a:ext uri="{FF2B5EF4-FFF2-40B4-BE49-F238E27FC236}">
                <a16:creationId xmlns:a16="http://schemas.microsoft.com/office/drawing/2014/main" id="{1597F0DB-037C-413A-8E48-F0D320E2E191}"/>
              </a:ext>
            </a:extLst>
          </p:cNvPr>
          <p:cNvSpPr>
            <a:spLocks xmlns:a="http://schemas.openxmlformats.org/drawingml/2006/main" noGrp="1"/>
          </p:cNvSpPr>
          <p:nvPr/>
        </p:nvSpPr>
        <p:spPr>
          <a:xfrm xmlns:a="http://schemas.openxmlformats.org/drawingml/2006/main">
            <a:off x="7987589"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requests removed</a:t>
            </a:r>
          </a:p>
        </p:txBody>
      </p:sp>
      <p:sp>
        <p:nvSpPr>
          <p:cNvPr id="23" name="Text 19">
            <a:extLst xmlns:a="http://schemas.openxmlformats.org/drawingml/2006/main">
              <a:ext uri="{FF2B5EF4-FFF2-40B4-BE49-F238E27FC236}">
                <a16:creationId xmlns:a16="http://schemas.microsoft.com/office/drawing/2014/main" id="{9C7C1F7D-2823-4EF9-8676-CC605F74AC4C}"/>
              </a:ext>
            </a:extLst>
          </p:cNvPr>
          <p:cNvSpPr>
            <a:spLocks xmlns:a="http://schemas.openxmlformats.org/drawingml/2006/main" noGrp="1"/>
          </p:cNvSpPr>
          <p:nvPr/>
        </p:nvSpPr>
        <p:spPr>
          <a:xfrm xmlns:a="http://schemas.openxmlformats.org/drawingml/2006/main">
            <a:off x="947699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nᴮ = 4</a:t>
            </a:r>
          </a:p>
        </p:txBody>
      </p:sp>
      <p:sp>
        <p:nvSpPr>
          <p:cNvPr id="24" name="Text 20">
            <a:extLst xmlns:a="http://schemas.openxmlformats.org/drawingml/2006/main">
              <a:ext uri="{FF2B5EF4-FFF2-40B4-BE49-F238E27FC236}">
                <a16:creationId xmlns:a16="http://schemas.microsoft.com/office/drawing/2014/main" id="{63E6AFB6-E561-452E-96F4-EAEB327A85A0}"/>
              </a:ext>
            </a:extLst>
          </p:cNvPr>
          <p:cNvSpPr>
            <a:spLocks xmlns:a="http://schemas.openxmlformats.org/drawingml/2006/main" noGrp="1"/>
          </p:cNvSpPr>
          <p:nvPr/>
        </p:nvSpPr>
        <p:spPr>
          <a:xfrm xmlns:a="http://schemas.openxmlformats.org/drawingml/2006/main">
            <a:off x="947699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baseline requests</a:t>
            </a:r>
          </a:p>
        </p:txBody>
      </p:sp>
      <p:sp>
        <p:nvSpPr>
          <p:cNvPr id="25" name="Shape 21">
            <a:extLst xmlns:a="http://schemas.openxmlformats.org/drawingml/2006/main">
              <a:ext uri="{FF2B5EF4-FFF2-40B4-BE49-F238E27FC236}">
                <a16:creationId xmlns:a16="http://schemas.microsoft.com/office/drawing/2014/main" id="{8B27E39C-7A76-44E9-8F7C-4DBA5495ECE2}"/>
              </a:ext>
            </a:extLst>
          </p:cNvPr>
          <p:cNvSpPr>
            <a:spLocks xmlns:a="http://schemas.openxmlformats.org/drawingml/2006/main" noGrp="1"/>
          </p:cNvSpPr>
          <p:nvPr/>
        </p:nvSpPr>
        <p:spPr>
          <a:xfrm xmlns:a="http://schemas.openxmlformats.org/drawingml/2006/main">
            <a:off x="6498184" y="5084064"/>
            <a:ext cx="4815688" cy="0"/>
          </a:xfrm>
          <a:prstGeom xmlns:a="http://schemas.openxmlformats.org/drawingml/2006/main" prst="line">
            <a:avLst/>
          </a:prstGeom>
          <a:noFill xmlns:a="http://schemas.openxmlformats.org/drawingml/2006/main"/>
          <a:ln xmlns:a="http://schemas.openxmlformats.org/drawingml/2006/main" w="12700">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26" name="Text 22">
            <a:extLst xmlns:a="http://schemas.openxmlformats.org/drawingml/2006/main">
              <a:ext uri="{FF2B5EF4-FFF2-40B4-BE49-F238E27FC236}">
                <a16:creationId xmlns:a16="http://schemas.microsoft.com/office/drawing/2014/main" id="{53BD9B50-79DE-4DC3-9097-9A484D4F8722}"/>
              </a:ext>
            </a:extLst>
          </p:cNvPr>
          <p:cNvSpPr>
            <a:spLocks xmlns:a="http://schemas.openxmlformats.org/drawingml/2006/main" noGrp="1"/>
          </p:cNvSpPr>
          <p:nvPr/>
        </p:nvSpPr>
        <p:spPr>
          <a:xfrm xmlns:a="http://schemas.openxmlformats.org/drawingml/2006/main">
            <a:off x="6498184" y="5193792"/>
            <a:ext cx="457794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0.750</a:t>
            </a:r>
            <a:r>
              <a:rPr sz="1100">
                <a:solidFill>
                  <a:srgbClr val="5A6B84"/>
                </a:solidFill>
                <a:latin typeface="Calibri"/>
                <a:ea typeface="Calibri"/>
                <a:cs typeface="Calibri"/>
              </a:rPr>
              <a:t>  ceiling  →  </a:t>
            </a:r>
            <a:r>
              <a:rPr sz="1700" b="1">
                <a:solidFill>
                  <a:srgbClr val="1F8A99"/>
                </a:solidFill>
                <a:latin typeface="Cambria"/>
                <a:ea typeface="Cambria"/>
                <a:cs typeface="Cambria"/>
              </a:rPr>
              <a:t>75.0%</a:t>
            </a:r>
            <a:r>
              <a:rPr sz="1050">
                <a:solidFill>
                  <a:srgbClr val="24354F"/>
                </a:solidFill>
                <a:latin typeface="Calibri"/>
                <a:ea typeface="Calibri"/>
                <a:cs typeface="Calibri"/>
              </a:rPr>
              <a:t>  measured. A saturated ceiling says only that the task fully determined the region.</a:t>
            </a:r>
          </a:p>
        </p:txBody>
      </p:sp>
      <p:sp>
        <p:nvSpPr>
          <p:cNvPr id="27" name="Text 23">
            <a:extLst xmlns:a="http://schemas.openxmlformats.org/drawingml/2006/main">
              <a:ext uri="{FF2B5EF4-FFF2-40B4-BE49-F238E27FC236}">
                <a16:creationId xmlns:a16="http://schemas.microsoft.com/office/drawing/2014/main" id="{735C840B-C2CC-4F83-A24D-C324F0161B69}"/>
              </a:ext>
            </a:extLst>
          </p:cNvPr>
          <p:cNvSpPr>
            <a:spLocks xmlns:a="http://schemas.openxmlformats.org/drawingml/2006/main" noGrp="1"/>
          </p:cNvSpPr>
          <p:nvPr/>
        </p:nvSpPr>
        <p:spPr>
          <a:xfrm xmlns:a="http://schemas.openxmlformats.org/drawingml/2006/main">
            <a:off x="640080" y="566928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Enumeration is practically bounded by the number of reachable result boundaries; the implementation's nested scan is worst-case O(NT²) when non-call spans are adversarial. We report this rather than the stronger O(NT) claim the bounded-call intuition suggests.</a:t>
            </a:r>
          </a:p>
        </p:txBody>
      </p:sp>
    </p:spTree>
    <p:extLst>
      <p:ext uri="{BB962C8B-B14F-4D97-AF65-F5344CB8AC3E}">
        <p14:creationId xmlns:p14="http://schemas.microsoft.com/office/powerpoint/2010/main" val="9478036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D135B6-5D23-4FE8-9F53-EA59E6B8D2F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FD1F6C-A7A8-40BF-B25F-CD9ABDA3A13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603A8FEF-156F-4985-B173-28E7D588787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§3.2</a:t>
            </a:r>
          </a:p>
        </p:txBody>
      </p:sp>
      <p:sp>
        <p:nvSpPr>
          <p:cNvPr id="5" name="Text 3">
            <a:extLst xmlns:a="http://schemas.openxmlformats.org/drawingml/2006/main">
              <a:ext uri="{FF2B5EF4-FFF2-40B4-BE49-F238E27FC236}">
                <a16:creationId xmlns:a16="http://schemas.microsoft.com/office/drawing/2014/main" id="{96CA3872-9F60-4C6D-A6EC-47FD3086542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Bounded synthesis, induced contracts — and an unrun challenge</a:t>
            </a:r>
          </a:p>
        </p:txBody>
      </p:sp>
      <p:sp>
        <p:nvSpPr>
          <p:cNvPr id="6" name="Shape 4">
            <a:extLst xmlns:a="http://schemas.openxmlformats.org/drawingml/2006/main">
              <a:ext uri="{FF2B5EF4-FFF2-40B4-BE49-F238E27FC236}">
                <a16:creationId xmlns:a16="http://schemas.microsoft.com/office/drawing/2014/main" id="{44EC2C6E-0569-4898-B15E-4FBD1C548765}"/>
              </a:ext>
            </a:extLst>
          </p:cNvPr>
          <p:cNvSpPr>
            <a:spLocks xmlns:a="http://schemas.openxmlformats.org/drawingml/2006/main" noGrp="1"/>
          </p:cNvSpPr>
          <p:nvPr/>
        </p:nvSpPr>
        <p:spPr>
          <a:xfrm xmlns:a="http://schemas.openxmlformats.org/drawingml/2006/main">
            <a:off x="640080"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0877028A-9139-4F65-985F-0858A8C7E80E}"/>
              </a:ext>
            </a:extLst>
          </p:cNvPr>
          <p:cNvSpPr>
            <a:spLocks xmlns:a="http://schemas.openxmlformats.org/drawingml/2006/main" noGrp="1"/>
          </p:cNvSpPr>
          <p:nvPr/>
        </p:nvSpPr>
        <p:spPr>
          <a:xfrm xmlns:a="http://schemas.openxmlformats.org/drawingml/2006/main">
            <a:off x="877824"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F8A99"/>
                </a:solidFill>
                <a:latin typeface="Cambria"/>
                <a:ea typeface="Cambria"/>
                <a:cs typeface="Cambria"/>
              </a:rPr>
              <a:t>Synthesis</a:t>
            </a:r>
          </a:p>
        </p:txBody>
      </p:sp>
      <p:sp>
        <p:nvSpPr>
          <p:cNvPr id="8" name="Text 6">
            <a:extLst xmlns:a="http://schemas.openxmlformats.org/drawingml/2006/main">
              <a:ext uri="{FF2B5EF4-FFF2-40B4-BE49-F238E27FC236}">
                <a16:creationId xmlns:a16="http://schemas.microsoft.com/office/drawing/2014/main" id="{3EA2CBB8-0D9C-42BE-AC15-398AB5D2C045}"/>
              </a:ext>
            </a:extLst>
          </p:cNvPr>
          <p:cNvSpPr>
            <a:spLocks xmlns:a="http://schemas.openxmlformats.org/drawingml/2006/main" noGrp="1"/>
          </p:cNvSpPr>
          <p:nvPr/>
        </p:nvSpPr>
        <p:spPr>
          <a:xfrm xmlns:a="http://schemas.openxmlformats.org/drawingml/2006/main">
            <a:off x="896112"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23-operator closed library, depth at most two</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Path selection, indexing, string normalization, arithmetic, comparison, bounded collection ops, narrow loops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Bindings ranked by stability across groups; a group-wise refit rejects bindings that exploit row-level coincidence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Related to programming-by-example and bounded sketching — but the hypothesis space is deliberately small enough to inspect. It does not generate arbitrary Python</a:t>
            </a:r>
          </a:p>
        </p:txBody>
      </p:sp>
      <p:sp>
        <p:nvSpPr>
          <p:cNvPr id="9" name="Shape 7">
            <a:extLst xmlns:a="http://schemas.openxmlformats.org/drawingml/2006/main">
              <a:ext uri="{FF2B5EF4-FFF2-40B4-BE49-F238E27FC236}">
                <a16:creationId xmlns:a16="http://schemas.microsoft.com/office/drawing/2014/main" id="{9DCF6D6A-4082-4747-945F-EAE0B7A67143}"/>
              </a:ext>
            </a:extLst>
          </p:cNvPr>
          <p:cNvSpPr>
            <a:spLocks xmlns:a="http://schemas.openxmlformats.org/drawingml/2006/main" noGrp="1"/>
          </p:cNvSpPr>
          <p:nvPr/>
        </p:nvSpPr>
        <p:spPr>
          <a:xfrm xmlns:a="http://schemas.openxmlformats.org/drawingml/2006/main">
            <a:off x="4368698"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FA51A592-4AE0-4B8D-A1FB-A37C30E11499}"/>
              </a:ext>
            </a:extLst>
          </p:cNvPr>
          <p:cNvSpPr>
            <a:spLocks xmlns:a="http://schemas.openxmlformats.org/drawingml/2006/main" noGrp="1"/>
          </p:cNvSpPr>
          <p:nvPr/>
        </p:nvSpPr>
        <p:spPr>
          <a:xfrm xmlns:a="http://schemas.openxmlformats.org/drawingml/2006/main">
            <a:off x="4606442"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A3563"/>
                </a:solidFill>
                <a:latin typeface="Cambria"/>
                <a:ea typeface="Cambria"/>
                <a:cs typeface="Cambria"/>
              </a:rPr>
              <a:t>Hard guard H</a:t>
            </a:r>
          </a:p>
        </p:txBody>
      </p:sp>
      <p:sp>
        <p:nvSpPr>
          <p:cNvPr id="11" name="Text 9">
            <a:extLst xmlns:a="http://schemas.openxmlformats.org/drawingml/2006/main">
              <a:ext uri="{FF2B5EF4-FFF2-40B4-BE49-F238E27FC236}">
                <a16:creationId xmlns:a16="http://schemas.microsoft.com/office/drawing/2014/main" id="{E1A9A9E4-D43D-4017-A38F-1FC72443F846}"/>
              </a:ext>
            </a:extLst>
          </p:cNvPr>
          <p:cNvSpPr>
            <a:spLocks xmlns:a="http://schemas.openxmlformats.org/drawingml/2006/main" noGrp="1"/>
          </p:cNvSpPr>
          <p:nvPr/>
        </p:nvSpPr>
        <p:spPr>
          <a:xfrm xmlns:a="http://schemas.openxmlformats.org/drawingml/2006/main">
            <a:off x="4624730"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Entry types and required fields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Categorical sets, numeric intervals, patterns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Isolation keys and allowed effects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Manifest pins — prompt, policy, tools, guardrail, model, SDK, tracer, entry contract, effect catalog</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Evaluated before emission, so this check is exact on both integration paths</a:t>
            </a:r>
          </a:p>
        </p:txBody>
      </p:sp>
      <p:sp>
        <p:nvSpPr>
          <p:cNvPr id="12" name="Shape 10">
            <a:extLst xmlns:a="http://schemas.openxmlformats.org/drawingml/2006/main">
              <a:ext uri="{FF2B5EF4-FFF2-40B4-BE49-F238E27FC236}">
                <a16:creationId xmlns:a16="http://schemas.microsoft.com/office/drawing/2014/main" id="{16A50691-C17B-403C-A024-74EB699A2880}"/>
              </a:ext>
            </a:extLst>
          </p:cNvPr>
          <p:cNvSpPr>
            <a:spLocks xmlns:a="http://schemas.openxmlformats.org/drawingml/2006/main" noGrp="1"/>
          </p:cNvSpPr>
          <p:nvPr/>
        </p:nvSpPr>
        <p:spPr>
          <a:xfrm xmlns:a="http://schemas.openxmlformats.org/drawingml/2006/main">
            <a:off x="8097317"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F192B9F-63D5-4075-B94A-7D34958C7763}"/>
              </a:ext>
            </a:extLst>
          </p:cNvPr>
          <p:cNvSpPr>
            <a:spLocks xmlns:a="http://schemas.openxmlformats.org/drawingml/2006/main" noGrp="1"/>
          </p:cNvSpPr>
          <p:nvPr/>
        </p:nvSpPr>
        <p:spPr>
          <a:xfrm xmlns:a="http://schemas.openxmlformats.org/drawingml/2006/main">
            <a:off x="8335061"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56B3BE"/>
                </a:solidFill>
                <a:latin typeface="Cambria"/>
                <a:ea typeface="Cambria"/>
                <a:cs typeface="Cambria"/>
              </a:rPr>
              <a:t>Verifier V</a:t>
            </a:r>
          </a:p>
        </p:txBody>
      </p:sp>
      <p:sp>
        <p:nvSpPr>
          <p:cNvPr id="14" name="Text 12">
            <a:extLst xmlns:a="http://schemas.openxmlformats.org/drawingml/2006/main">
              <a:ext uri="{FF2B5EF4-FFF2-40B4-BE49-F238E27FC236}">
                <a16:creationId xmlns:a16="http://schemas.microsoft.com/office/drawing/2014/main" id="{3171E06D-0DFA-4E60-A2ED-5E42A2D5F3FB}"/>
              </a:ext>
            </a:extLst>
          </p:cNvPr>
          <p:cNvSpPr>
            <a:spLocks xmlns:a="http://schemas.openxmlformats.org/drawingml/2006/main" noGrp="1"/>
          </p:cNvSpPr>
          <p:nvPr/>
        </p:nvSpPr>
        <p:spPr>
          <a:xfrm xmlns:a="http://schemas.openxmlformats.org/drawingml/2006/main">
            <a:off x="8353349"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Live-out presence, type, cardinality</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Empirical hulls over observed values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Provenance and effect multisets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Call counts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These are likely invariants, not proofs for all future inputs — which is why a separate calibrated gate is still required</a:t>
            </a:r>
          </a:p>
        </p:txBody>
      </p:sp>
      <p:sp>
        <p:nvSpPr>
          <p:cNvPr id="15" name="Shape 13">
            <a:extLst xmlns:a="http://schemas.openxmlformats.org/drawingml/2006/main">
              <a:ext uri="{FF2B5EF4-FFF2-40B4-BE49-F238E27FC236}">
                <a16:creationId xmlns:a16="http://schemas.microsoft.com/office/drawing/2014/main" id="{651384FA-ECC7-4E06-8D62-599CB89E9DE7}"/>
              </a:ext>
            </a:extLst>
          </p:cNvPr>
          <p:cNvSpPr>
            <a:spLocks xmlns:a="http://schemas.openxmlformats.org/drawingml/2006/main" noGrp="1"/>
          </p:cNvSpPr>
          <p:nvPr/>
        </p:nvSpPr>
        <p:spPr>
          <a:xfrm xmlns:a="http://schemas.openxmlformats.org/drawingml/2006/main">
            <a:off x="640080" y="4443984"/>
            <a:ext cx="10911535" cy="1133856"/>
          </a:xfrm>
          <a:prstGeom xmlns:a="http://schemas.openxmlformats.org/drawingml/2006/main" prst="roundRect">
            <a:avLst>
              <a:gd name="adj" fmla="val 403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6" name="Shape 14">
            <a:extLst xmlns:a="http://schemas.openxmlformats.org/drawingml/2006/main">
              <a:ext uri="{FF2B5EF4-FFF2-40B4-BE49-F238E27FC236}">
                <a16:creationId xmlns:a16="http://schemas.microsoft.com/office/drawing/2014/main" id="{66A8B8F6-6C35-49A4-8656-59741D914AD7}"/>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3EE60373-BECA-4AE4-A703-AB835968349A}"/>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6">
            <a:extLst xmlns:a="http://schemas.openxmlformats.org/drawingml/2006/main">
              <a:ext uri="{FF2B5EF4-FFF2-40B4-BE49-F238E27FC236}">
                <a16:creationId xmlns:a16="http://schemas.microsoft.com/office/drawing/2014/main" id="{E4DC2000-7FC7-4750-A4D3-8595797CDE19}"/>
              </a:ext>
            </a:extLst>
          </p:cNvPr>
          <p:cNvSpPr>
            <a:spLocks xmlns:a="http://schemas.openxmlformats.org/drawingml/2006/main" noGrp="1"/>
          </p:cNvSpPr>
          <p:nvPr/>
        </p:nvSpPr>
        <p:spPr>
          <a:xfrm xmlns:a="http://schemas.openxmlformats.org/drawingml/2006/main">
            <a:off x="1335024" y="459028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The replay-and-perturb challenge did not run on the headline artifact</a:t>
            </a:r>
          </a:p>
        </p:txBody>
      </p:sp>
      <p:sp>
        <p:nvSpPr>
          <p:cNvPr id="19" name="Text 17">
            <a:extLst xmlns:a="http://schemas.openxmlformats.org/drawingml/2006/main">
              <a:ext uri="{FF2B5EF4-FFF2-40B4-BE49-F238E27FC236}">
                <a16:creationId xmlns:a16="http://schemas.microsoft.com/office/drawing/2014/main" id="{1363487A-37F7-4C45-9946-6DB6FADB8BA7}"/>
              </a:ext>
            </a:extLst>
          </p:cNvPr>
          <p:cNvSpPr>
            <a:spLocks xmlns:a="http://schemas.openxmlformats.org/drawingml/2006/main" noGrp="1"/>
          </p:cNvSpPr>
          <p:nvPr/>
        </p:nvSpPr>
        <p:spPr>
          <a:xfrm xmlns:a="http://schemas.openxmlformats.org/drawingml/2006/main">
            <a:off x="1335024" y="4901184"/>
            <a:ext cx="99056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p>
        </p:txBody>
      </p:sp>
    </p:spTree>
    <p:extLst>
      <p:ext uri="{BB962C8B-B14F-4D97-AF65-F5344CB8AC3E}">
        <p14:creationId xmlns:p14="http://schemas.microsoft.com/office/powerpoint/2010/main" val="203855039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C39B87-46AB-464B-9FE6-355EB88F1B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D29D810-3126-4E15-BCEA-084C5E5FE9A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558AFD8-9541-4FF4-8B79-3EE7504DC11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§3.3 AND ALGORITHM 3</a:t>
            </a:r>
          </a:p>
        </p:txBody>
      </p:sp>
      <p:sp>
        <p:nvSpPr>
          <p:cNvPr id="5" name="Text 3">
            <a:extLst xmlns:a="http://schemas.openxmlformats.org/drawingml/2006/main">
              <a:ext uri="{FF2B5EF4-FFF2-40B4-BE49-F238E27FC236}">
                <a16:creationId xmlns:a16="http://schemas.microsoft.com/office/drawing/2014/main" id="{1DB4C977-F457-4F87-B209-5C09DC8803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Exact selective admission over a pre-frozen threshold grid</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bfb1e94d7750465b"/>
          <a:stretch xmlns:a="http://schemas.openxmlformats.org/drawingml/2006/main">
            <a:fillRect l="0" t="0" r="0" b="0"/>
          </a:stretch>
        </p:blipFill>
        <p:spPr>
          <a:xfrm xmlns:a="http://schemas.openxmlformats.org/drawingml/2006/main">
            <a:off x="640080" y="1152144"/>
            <a:ext cx="5399649" cy="2743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77637331-8532-432E-ABD9-7EECD6659378}"/>
              </a:ext>
            </a:extLst>
          </p:cNvPr>
          <p:cNvSpPr>
            <a:spLocks xmlns:a="http://schemas.openxmlformats.org/drawingml/2006/main" noGrp="1"/>
          </p:cNvSpPr>
          <p:nvPr/>
        </p:nvSpPr>
        <p:spPr>
          <a:xfrm xmlns:a="http://schemas.openxmlformats.org/drawingml/2006/main">
            <a:off x="6350625" y="1152144"/>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fixed before calibration</a:t>
            </a:r>
          </a:p>
        </p:txBody>
      </p:sp>
      <p:sp>
        <p:nvSpPr>
          <p:cNvPr id="8" name="Shape 5">
            <a:extLst xmlns:a="http://schemas.openxmlformats.org/drawingml/2006/main">
              <a:ext uri="{FF2B5EF4-FFF2-40B4-BE49-F238E27FC236}">
                <a16:creationId xmlns:a16="http://schemas.microsoft.com/office/drawing/2014/main" id="{5F1F23D7-D411-4138-B576-286E074CA852}"/>
              </a:ext>
            </a:extLst>
          </p:cNvPr>
          <p:cNvSpPr>
            <a:spLocks xmlns:a="http://schemas.openxmlformats.org/drawingml/2006/main" noGrp="1"/>
          </p:cNvSpPr>
          <p:nvPr/>
        </p:nvSpPr>
        <p:spPr>
          <a:xfrm xmlns:a="http://schemas.openxmlformats.org/drawingml/2006/main">
            <a:off x="640080" y="1554480"/>
            <a:ext cx="6720840" cy="1700784"/>
          </a:xfrm>
          <a:prstGeom xmlns:a="http://schemas.openxmlformats.org/drawingml/2006/main" prst="roundRect">
            <a:avLst>
              <a:gd name="adj" fmla="val 2688"/>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c178615803424db7"/>
          <a:stretch xmlns:a="http://schemas.openxmlformats.org/drawingml/2006/main">
            <a:fillRect l="0" t="0" r="0" b="0"/>
          </a:stretch>
        </p:blipFill>
        <p:spPr>
          <a:xfrm xmlns:a="http://schemas.openxmlformats.org/drawingml/2006/main">
            <a:off x="877824" y="1700784"/>
            <a:ext cx="5445364" cy="38404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B70E0F6E-5316-4DB8-B845-C73D5BBC0308}"/>
              </a:ext>
            </a:extLst>
          </p:cNvPr>
          <p:cNvSpPr>
            <a:spLocks xmlns:a="http://schemas.openxmlformats.org/drawingml/2006/main" noGrp="1"/>
          </p:cNvSpPr>
          <p:nvPr/>
        </p:nvSpPr>
        <p:spPr>
          <a:xfrm xmlns:a="http://schemas.openxmlformats.org/drawingml/2006/main">
            <a:off x="6665976" y="170078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(8)</a:t>
            </a:r>
          </a:p>
        </p:txBody>
      </p:sp>
      <p:pic>
        <p:nvPicPr>
          <p:cNvPr id="11" name="Image 2"/>
          <p:cNvPicPr>
            <a:picLocks xmlns:a="http://schemas.openxmlformats.org/drawingml/2006/main" noChangeAspect="1"/>
          </p:cNvPicPr>
          <p:nvPr/>
        </p:nvPicPr>
        <p:blipFill>
          <a:blip xmlns:r="http://schemas.openxmlformats.org/officeDocument/2006/relationships" xmlns:a="http://schemas.openxmlformats.org/drawingml/2006/main" r:embed="R3f72aa398c184ba5"/>
          <a:stretch xmlns:a="http://schemas.openxmlformats.org/drawingml/2006/main">
            <a:fillRect l="0" t="0" r="0" b="0"/>
          </a:stretch>
        </p:blipFill>
        <p:spPr>
          <a:xfrm xmlns:a="http://schemas.openxmlformats.org/drawingml/2006/main">
            <a:off x="877824" y="2176272"/>
            <a:ext cx="2569272" cy="256032"/>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0F640D7-0610-4D76-A0EA-D643AF727FD6}"/>
              </a:ext>
            </a:extLst>
          </p:cNvPr>
          <p:cNvSpPr>
            <a:spLocks xmlns:a="http://schemas.openxmlformats.org/drawingml/2006/main" noGrp="1"/>
          </p:cNvSpPr>
          <p:nvPr/>
        </p:nvSpPr>
        <p:spPr>
          <a:xfrm xmlns:a="http://schemas.openxmlformats.org/drawingml/2006/main">
            <a:off x="3684840" y="2176272"/>
            <a:ext cx="34200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B84"/>
                </a:solidFill>
                <a:latin typeface="Calibri"/>
                <a:ea typeface="Calibri"/>
                <a:cs typeface="Calibri"/>
              </a:rPr>
              <a:t>— the closed form when no violation is observed</a:t>
            </a:r>
          </a:p>
        </p:txBody>
      </p:sp>
      <p:sp>
        <p:nvSpPr>
          <p:cNvPr id="13" name="Text 8">
            <a:extLst xmlns:a="http://schemas.openxmlformats.org/drawingml/2006/main">
              <a:ext uri="{FF2B5EF4-FFF2-40B4-BE49-F238E27FC236}">
                <a16:creationId xmlns:a16="http://schemas.microsoft.com/office/drawing/2014/main" id="{BFE1081D-9FEC-46EC-AA09-0E6D0F909862}"/>
              </a:ext>
            </a:extLst>
          </p:cNvPr>
          <p:cNvSpPr>
            <a:spLocks xmlns:a="http://schemas.openxmlformats.org/drawingml/2006/main" noGrp="1"/>
          </p:cNvSpPr>
          <p:nvPr/>
        </p:nvSpPr>
        <p:spPr>
          <a:xfrm xmlns:a="http://schemas.openxmlformats.org/drawingml/2006/main">
            <a:off x="877824" y="2560320"/>
            <a:ext cx="6245352"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p>
        </p:txBody>
      </p:sp>
      <p:sp>
        <p:nvSpPr>
          <p:cNvPr id="14" name="Shape 9">
            <a:extLst xmlns:a="http://schemas.openxmlformats.org/drawingml/2006/main">
              <a:ext uri="{FF2B5EF4-FFF2-40B4-BE49-F238E27FC236}">
                <a16:creationId xmlns:a16="http://schemas.microsoft.com/office/drawing/2014/main" id="{B407AF1A-1429-4344-AB68-37551261CD45}"/>
              </a:ext>
            </a:extLst>
          </p:cNvPr>
          <p:cNvSpPr>
            <a:spLocks xmlns:a="http://schemas.openxmlformats.org/drawingml/2006/main" noGrp="1"/>
          </p:cNvSpPr>
          <p:nvPr/>
        </p:nvSpPr>
        <p:spPr>
          <a:xfrm xmlns:a="http://schemas.openxmlformats.org/drawingml/2006/main">
            <a:off x="640080" y="3346704"/>
            <a:ext cx="6720840" cy="1371600"/>
          </a:xfrm>
          <a:prstGeom xmlns:a="http://schemas.openxmlformats.org/drawingml/2006/main" prst="roundRect">
            <a:avLst>
              <a:gd name="adj" fmla="val 3333"/>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5" name="Text 10">
            <a:extLst xmlns:a="http://schemas.openxmlformats.org/drawingml/2006/main">
              <a:ext uri="{FF2B5EF4-FFF2-40B4-BE49-F238E27FC236}">
                <a16:creationId xmlns:a16="http://schemas.microsoft.com/office/drawing/2014/main" id="{8892D6A8-3A87-45B1-BB71-0AAB87C10F11}"/>
              </a:ext>
            </a:extLst>
          </p:cNvPr>
          <p:cNvSpPr>
            <a:spLocks xmlns:a="http://schemas.openxmlformats.org/drawingml/2006/main" noGrp="1"/>
          </p:cNvSpPr>
          <p:nvPr/>
        </p:nvSpPr>
        <p:spPr>
          <a:xfrm xmlns:a="http://schemas.openxmlformats.org/drawingml/2006/main">
            <a:off x="877824" y="3456432"/>
            <a:ext cx="6245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PROPOSITION 1 — SIMULTANEOUS CALIBRATION STATEMENT</a:t>
            </a:r>
          </a:p>
        </p:txBody>
      </p:sp>
      <p:sp>
        <p:nvSpPr>
          <p:cNvPr id="16" name="Text 11">
            <a:extLst xmlns:a="http://schemas.openxmlformats.org/drawingml/2006/main">
              <a:ext uri="{FF2B5EF4-FFF2-40B4-BE49-F238E27FC236}">
                <a16:creationId xmlns:a16="http://schemas.microsoft.com/office/drawing/2014/main" id="{E10785E1-520C-435F-99AB-0A2B9DCFD346}"/>
              </a:ext>
            </a:extLst>
          </p:cNvPr>
          <p:cNvSpPr>
            <a:spLocks xmlns:a="http://schemas.openxmlformats.org/drawingml/2006/main" noGrp="1"/>
          </p:cNvSpPr>
          <p:nvPr/>
        </p:nvSpPr>
        <p:spPr>
          <a:xfrm xmlns:a="http://schemas.openxmlformats.org/drawingml/2006/main">
            <a:off x="877824" y="3694176"/>
            <a:ext cx="6245352"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050" i="1">
                <a:solidFill>
                  <a:srgbClr val="24354F"/>
                </a:solidFill>
                <a:latin typeface="Calibri"/>
                <a:ea typeface="Calibri"/>
                <a:cs typeface="Calibri"/>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p>
        </p:txBody>
      </p:sp>
      <p:sp>
        <p:nvSpPr>
          <p:cNvPr id="17" name="Shape 12">
            <a:extLst xmlns:a="http://schemas.openxmlformats.org/drawingml/2006/main">
              <a:ext uri="{FF2B5EF4-FFF2-40B4-BE49-F238E27FC236}">
                <a16:creationId xmlns:a16="http://schemas.microsoft.com/office/drawing/2014/main" id="{2023FB92-66CB-4F99-A515-82A68C7D6448}"/>
              </a:ext>
            </a:extLst>
          </p:cNvPr>
          <p:cNvSpPr>
            <a:spLocks xmlns:a="http://schemas.openxmlformats.org/drawingml/2006/main" noGrp="1"/>
          </p:cNvSpPr>
          <p:nvPr/>
        </p:nvSpPr>
        <p:spPr>
          <a:xfrm xmlns:a="http://schemas.openxmlformats.org/drawingml/2006/main">
            <a:off x="7726680" y="1152144"/>
            <a:ext cx="3824935" cy="2103120"/>
          </a:xfrm>
          <a:prstGeom xmlns:a="http://schemas.openxmlformats.org/drawingml/2006/main" prst="roundRect">
            <a:avLst>
              <a:gd name="adj" fmla="val 217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3">
            <a:extLst xmlns:a="http://schemas.openxmlformats.org/drawingml/2006/main">
              <a:ext uri="{FF2B5EF4-FFF2-40B4-BE49-F238E27FC236}">
                <a16:creationId xmlns:a16="http://schemas.microsoft.com/office/drawing/2014/main" id="{B34CEFC6-7083-4D4C-85E5-BB7EBC556682}"/>
              </a:ext>
            </a:extLst>
          </p:cNvPr>
          <p:cNvSpPr>
            <a:spLocks xmlns:a="http://schemas.openxmlformats.org/drawingml/2006/main" noGrp="1"/>
          </p:cNvSpPr>
          <p:nvPr/>
        </p:nvSpPr>
        <p:spPr>
          <a:xfrm xmlns:a="http://schemas.openxmlformats.org/drawingml/2006/main">
            <a:off x="7964424" y="1280160"/>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SAMPLE REQUIREMENT</a:t>
            </a:r>
          </a:p>
        </p:txBody>
      </p:sp>
      <p:pic>
        <p:nvPicPr>
          <p:cNvPr id="19" name="Image 3"/>
          <p:cNvPicPr>
            <a:picLocks xmlns:a="http://schemas.openxmlformats.org/drawingml/2006/main" noChangeAspect="1"/>
          </p:cNvPicPr>
          <p:nvPr/>
        </p:nvPicPr>
        <p:blipFill>
          <a:blip xmlns:r="http://schemas.openxmlformats.org/officeDocument/2006/relationships" xmlns:a="http://schemas.openxmlformats.org/drawingml/2006/main" r:embed="Rcb4c72656323471b"/>
          <a:stretch xmlns:a="http://schemas.openxmlformats.org/drawingml/2006/main">
            <a:fillRect l="0" t="0" r="0" b="0"/>
          </a:stretch>
        </p:blipFill>
        <p:spPr>
          <a:xfrm xmlns:a="http://schemas.openxmlformats.org/drawingml/2006/main">
            <a:off x="7964424" y="1555668"/>
            <a:ext cx="1371600" cy="509688"/>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1DD5F0DC-5F31-4069-9219-3827F491027B}"/>
              </a:ext>
            </a:extLst>
          </p:cNvPr>
          <p:cNvSpPr>
            <a:spLocks xmlns:a="http://schemas.openxmlformats.org/drawingml/2006/main" noGrp="1"/>
          </p:cNvSpPr>
          <p:nvPr/>
        </p:nvSpPr>
        <p:spPr>
          <a:xfrm xmlns:a="http://schemas.openxmlformats.org/drawingml/2006/main">
            <a:off x="9646920" y="1554480"/>
            <a:ext cx="868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1F8A99"/>
                </a:solidFill>
                <a:latin typeface="Cambria"/>
                <a:ea typeface="Cambria"/>
                <a:cs typeface="Cambria"/>
              </a:rPr>
              <a:t>92</a:t>
            </a:r>
          </a:p>
        </p:txBody>
      </p:sp>
      <p:sp>
        <p:nvSpPr>
          <p:cNvPr id="21" name="Text 15">
            <a:extLst xmlns:a="http://schemas.openxmlformats.org/drawingml/2006/main">
              <a:ext uri="{FF2B5EF4-FFF2-40B4-BE49-F238E27FC236}">
                <a16:creationId xmlns:a16="http://schemas.microsoft.com/office/drawing/2014/main" id="{742287FA-AE9C-4F13-8A60-DC59FEB467CC}"/>
              </a:ext>
            </a:extLst>
          </p:cNvPr>
          <p:cNvSpPr>
            <a:spLocks xmlns:a="http://schemas.openxmlformats.org/drawingml/2006/main" noGrp="1"/>
          </p:cNvSpPr>
          <p:nvPr/>
        </p:nvSpPr>
        <p:spPr>
          <a:xfrm xmlns:a="http://schemas.openxmlformats.org/drawingml/2006/main">
            <a:off x="10305288" y="1554480"/>
            <a:ext cx="99029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950">
                <a:solidFill>
                  <a:srgbClr val="24354F"/>
                </a:solidFill>
                <a:latin typeface="Calibri"/>
                <a:ea typeface="Calibri"/>
                <a:cs typeface="Calibri"/>
              </a:rPr>
              <a:t>independent</a:t>
            </a:r>
          </a:p>
          <a:p xmlns:a="http://schemas.openxmlformats.org/drawingml/2006/main">
            <a:pPr marL="0" indent="0">
              <a:lnSpc>
                <a:spcPct val="100000"/>
              </a:lnSpc>
              <a:buNone/>
            </a:pPr>
            <a:r>
              <a:rPr sz="950">
                <a:solidFill>
                  <a:srgbClr val="24354F"/>
                </a:solidFill>
                <a:latin typeface="Calibri"/>
                <a:ea typeface="Calibri"/>
                <a:cs typeface="Calibri"/>
              </a:rPr>
              <a:t>zero-violation</a:t>
            </a:r>
          </a:p>
          <a:p xmlns:a="http://schemas.openxmlformats.org/drawingml/2006/main">
            <a:pPr marL="0" indent="0">
              <a:lnSpc>
                <a:spcPct val="100000"/>
              </a:lnSpc>
              <a:buNone/>
            </a:pPr>
            <a:r>
              <a:rPr sz="950">
                <a:solidFill>
                  <a:srgbClr val="24354F"/>
                </a:solidFill>
                <a:latin typeface="Calibri"/>
                <a:ea typeface="Calibri"/>
                <a:cs typeface="Calibri"/>
              </a:rPr>
              <a:t>group records</a:t>
            </a:r>
          </a:p>
        </p:txBody>
      </p:sp>
      <p:sp>
        <p:nvSpPr>
          <p:cNvPr id="22" name="Text 16">
            <a:extLst xmlns:a="http://schemas.openxmlformats.org/drawingml/2006/main">
              <a:ext uri="{FF2B5EF4-FFF2-40B4-BE49-F238E27FC236}">
                <a16:creationId xmlns:a16="http://schemas.microsoft.com/office/drawing/2014/main" id="{3C6781C6-B7E2-4019-8529-8B65566F3135}"/>
              </a:ext>
            </a:extLst>
          </p:cNvPr>
          <p:cNvSpPr>
            <a:spLocks xmlns:a="http://schemas.openxmlformats.org/drawingml/2006/main" noGrp="1"/>
          </p:cNvSpPr>
          <p:nvPr/>
        </p:nvSpPr>
        <p:spPr>
          <a:xfrm xmlns:a="http://schemas.openxmlformats.org/drawingml/2006/main">
            <a:off x="7964424" y="2212848"/>
            <a:ext cx="3349447"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at α = .05,  δ = .10,  |Λ| = 11.  Pre-committing to a single threshold rather than a grid of eleven drops the requirement to 45 — a design parameter as much as a data property.</a:t>
            </a:r>
          </a:p>
        </p:txBody>
      </p:sp>
      <p:sp>
        <p:nvSpPr>
          <p:cNvPr id="23" name="Shape 17">
            <a:extLst xmlns:a="http://schemas.openxmlformats.org/drawingml/2006/main">
              <a:ext uri="{FF2B5EF4-FFF2-40B4-BE49-F238E27FC236}">
                <a16:creationId xmlns:a16="http://schemas.microsoft.com/office/drawing/2014/main" id="{97CBB4CA-F425-4BB0-ABD8-934BFF065CA5}"/>
              </a:ext>
            </a:extLst>
          </p:cNvPr>
          <p:cNvSpPr>
            <a:spLocks xmlns:a="http://schemas.openxmlformats.org/drawingml/2006/main" noGrp="1"/>
          </p:cNvSpPr>
          <p:nvPr/>
        </p:nvSpPr>
        <p:spPr>
          <a:xfrm xmlns:a="http://schemas.openxmlformats.org/drawingml/2006/main">
            <a:off x="7726680" y="3346704"/>
            <a:ext cx="3824935"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18">
            <a:extLst xmlns:a="http://schemas.openxmlformats.org/drawingml/2006/main">
              <a:ext uri="{FF2B5EF4-FFF2-40B4-BE49-F238E27FC236}">
                <a16:creationId xmlns:a16="http://schemas.microsoft.com/office/drawing/2014/main" id="{D49ECDB6-7916-4883-835E-6CEDCB1C0C83}"/>
              </a:ext>
            </a:extLst>
          </p:cNvPr>
          <p:cNvSpPr>
            <a:spLocks xmlns:a="http://schemas.openxmlformats.org/drawingml/2006/main" noGrp="1"/>
          </p:cNvSpPr>
          <p:nvPr/>
        </p:nvSpPr>
        <p:spPr>
          <a:xfrm xmlns:a="http://schemas.openxmlformats.org/drawingml/2006/main">
            <a:off x="7964424" y="3456432"/>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WHAT α BOUNDS — AND WHAT IT DOES NOT</a:t>
            </a:r>
          </a:p>
        </p:txBody>
      </p:sp>
      <p:sp>
        <p:nvSpPr>
          <p:cNvPr id="25" name="Text 19">
            <a:extLst xmlns:a="http://schemas.openxmlformats.org/drawingml/2006/main">
              <a:ext uri="{FF2B5EF4-FFF2-40B4-BE49-F238E27FC236}">
                <a16:creationId xmlns:a16="http://schemas.microsoft.com/office/drawing/2014/main" id="{77CED5A0-1B5F-425D-9E34-94708E014DAB}"/>
              </a:ext>
            </a:extLst>
          </p:cNvPr>
          <p:cNvSpPr>
            <a:spLocks xmlns:a="http://schemas.openxmlformats.org/drawingml/2006/main" noGrp="1"/>
          </p:cNvSpPr>
          <p:nvPr/>
        </p:nvSpPr>
        <p:spPr>
          <a:xfrm xmlns:a="http://schemas.openxmlformats.org/drawingml/2006/main">
            <a:off x="7964424" y="3694176"/>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5C4034"/>
                </a:solidFill>
                <a:latin typeface="Calibri"/>
                <a:ea typeface="Calibri"/>
                <a:cs typeface="Calibri"/>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p>
        </p:txBody>
      </p:sp>
      <p:sp>
        <p:nvSpPr>
          <p:cNvPr id="26" name="Text 20">
            <a:extLst xmlns:a="http://schemas.openxmlformats.org/drawingml/2006/main">
              <a:ext uri="{FF2B5EF4-FFF2-40B4-BE49-F238E27FC236}">
                <a16:creationId xmlns:a16="http://schemas.microsoft.com/office/drawing/2014/main" id="{59B58FC4-0AD7-40DB-BC22-293EEF89DE59}"/>
              </a:ext>
            </a:extLst>
          </p:cNvPr>
          <p:cNvSpPr>
            <a:spLocks xmlns:a="http://schemas.openxmlformats.org/drawingml/2006/main" noGrp="1"/>
          </p:cNvSpPr>
          <p:nvPr/>
        </p:nvSpPr>
        <p:spPr>
          <a:xfrm xmlns:a="http://schemas.openxmlformats.org/drawingml/2006/main">
            <a:off x="640080" y="48463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THREE THINGS WOULD MAKE THE CHAIN INDEPENDENT — NONE IS PRESENT IN THE SHIPPED ARTIFACT</a:t>
            </a:r>
          </a:p>
        </p:txBody>
      </p:sp>
      <p:sp>
        <p:nvSpPr>
          <p:cNvPr id="27" name="Shape 21">
            <a:extLst xmlns:a="http://schemas.openxmlformats.org/drawingml/2006/main">
              <a:ext uri="{FF2B5EF4-FFF2-40B4-BE49-F238E27FC236}">
                <a16:creationId xmlns:a16="http://schemas.microsoft.com/office/drawing/2014/main" id="{3FFD8465-580F-4A62-B9FB-9AC673ED0FF7}"/>
              </a:ext>
            </a:extLst>
          </p:cNvPr>
          <p:cNvSpPr>
            <a:spLocks xmlns:a="http://schemas.openxmlformats.org/drawingml/2006/main" noGrp="1"/>
          </p:cNvSpPr>
          <p:nvPr/>
        </p:nvSpPr>
        <p:spPr>
          <a:xfrm xmlns:a="http://schemas.openxmlformats.org/drawingml/2006/main">
            <a:off x="640080"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2">
            <a:extLst xmlns:a="http://schemas.openxmlformats.org/drawingml/2006/main">
              <a:ext uri="{FF2B5EF4-FFF2-40B4-BE49-F238E27FC236}">
                <a16:creationId xmlns:a16="http://schemas.microsoft.com/office/drawing/2014/main" id="{B8FEC359-1848-43BB-A0AA-7E03F691CE9E}"/>
              </a:ext>
            </a:extLst>
          </p:cNvPr>
          <p:cNvSpPr>
            <a:spLocks xmlns:a="http://schemas.openxmlformats.org/drawingml/2006/main" noGrp="1"/>
          </p:cNvSpPr>
          <p:nvPr/>
        </p:nvSpPr>
        <p:spPr>
          <a:xfrm xmlns:a="http://schemas.openxmlformats.org/drawingml/2006/main">
            <a:off x="859536"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perturbation challenge</a:t>
            </a:r>
          </a:p>
        </p:txBody>
      </p:sp>
      <p:sp>
        <p:nvSpPr>
          <p:cNvPr id="29" name="Text 23">
            <a:extLst xmlns:a="http://schemas.openxmlformats.org/drawingml/2006/main">
              <a:ext uri="{FF2B5EF4-FFF2-40B4-BE49-F238E27FC236}">
                <a16:creationId xmlns:a16="http://schemas.microsoft.com/office/drawing/2014/main" id="{62930F60-EEFE-4A53-9817-57570033F41E}"/>
              </a:ext>
            </a:extLst>
          </p:cNvPr>
          <p:cNvSpPr>
            <a:spLocks xmlns:a="http://schemas.openxmlformats.org/drawingml/2006/main" noGrp="1"/>
          </p:cNvSpPr>
          <p:nvPr/>
        </p:nvSpPr>
        <p:spPr>
          <a:xfrm xmlns:a="http://schemas.openxmlformats.org/drawingml/2006/main">
            <a:off x="859536"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not run: perturbations_claimed: false</a:t>
            </a:r>
          </a:p>
        </p:txBody>
      </p:sp>
      <p:sp>
        <p:nvSpPr>
          <p:cNvPr id="30" name="Shape 24">
            <a:extLst xmlns:a="http://schemas.openxmlformats.org/drawingml/2006/main">
              <a:ext uri="{FF2B5EF4-FFF2-40B4-BE49-F238E27FC236}">
                <a16:creationId xmlns:a16="http://schemas.microsoft.com/office/drawing/2014/main" id="{93E3BBD1-EBE1-4502-9E46-BBFF9B500777}"/>
              </a:ext>
            </a:extLst>
          </p:cNvPr>
          <p:cNvSpPr>
            <a:spLocks xmlns:a="http://schemas.openxmlformats.org/drawingml/2006/main" noGrp="1"/>
          </p:cNvSpPr>
          <p:nvPr/>
        </p:nvSpPr>
        <p:spPr>
          <a:xfrm xmlns:a="http://schemas.openxmlformats.org/drawingml/2006/main">
            <a:off x="4362602"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5">
            <a:extLst xmlns:a="http://schemas.openxmlformats.org/drawingml/2006/main">
              <a:ext uri="{FF2B5EF4-FFF2-40B4-BE49-F238E27FC236}">
                <a16:creationId xmlns:a16="http://schemas.microsoft.com/office/drawing/2014/main" id="{399C9A5B-9AF7-40A4-803E-6569D62A6CDC}"/>
              </a:ext>
            </a:extLst>
          </p:cNvPr>
          <p:cNvSpPr>
            <a:spLocks xmlns:a="http://schemas.openxmlformats.org/drawingml/2006/main" noGrp="1"/>
          </p:cNvSpPr>
          <p:nvPr/>
        </p:nvSpPr>
        <p:spPr>
          <a:xfrm xmlns:a="http://schemas.openxmlformats.org/drawingml/2006/main">
            <a:off x="4582058"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An adjudication oracle</a:t>
            </a:r>
          </a:p>
        </p:txBody>
      </p:sp>
      <p:sp>
        <p:nvSpPr>
          <p:cNvPr id="32" name="Text 26">
            <a:extLst xmlns:a="http://schemas.openxmlformats.org/drawingml/2006/main">
              <a:ext uri="{FF2B5EF4-FFF2-40B4-BE49-F238E27FC236}">
                <a16:creationId xmlns:a16="http://schemas.microsoft.com/office/drawing/2014/main" id="{4B65C59E-20D7-40F5-9C25-FD781626FB07}"/>
              </a:ext>
            </a:extLst>
          </p:cNvPr>
          <p:cNvSpPr>
            <a:spLocks xmlns:a="http://schemas.openxmlformats.org/drawingml/2006/main" noGrp="1"/>
          </p:cNvSpPr>
          <p:nvPr/>
        </p:nvSpPr>
        <p:spPr>
          <a:xfrm xmlns:a="http://schemas.openxmlformats.org/drawingml/2006/main">
            <a:off x="4582058"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separate from the induction traces</a:t>
            </a:r>
          </a:p>
        </p:txBody>
      </p:sp>
      <p:sp>
        <p:nvSpPr>
          <p:cNvPr id="33" name="Shape 27">
            <a:extLst xmlns:a="http://schemas.openxmlformats.org/drawingml/2006/main">
              <a:ext uri="{FF2B5EF4-FFF2-40B4-BE49-F238E27FC236}">
                <a16:creationId xmlns:a16="http://schemas.microsoft.com/office/drawing/2014/main" id="{13E4117B-289C-44AB-A166-C3A52C41BE3A}"/>
              </a:ext>
            </a:extLst>
          </p:cNvPr>
          <p:cNvSpPr>
            <a:spLocks xmlns:a="http://schemas.openxmlformats.org/drawingml/2006/main" noGrp="1"/>
          </p:cNvSpPr>
          <p:nvPr/>
        </p:nvSpPr>
        <p:spPr>
          <a:xfrm xmlns:a="http://schemas.openxmlformats.org/drawingml/2006/main">
            <a:off x="8085125"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8">
            <a:extLst xmlns:a="http://schemas.openxmlformats.org/drawingml/2006/main">
              <a:ext uri="{FF2B5EF4-FFF2-40B4-BE49-F238E27FC236}">
                <a16:creationId xmlns:a16="http://schemas.microsoft.com/office/drawing/2014/main" id="{B8F0DE5D-953D-4C40-8626-A680260E8E10}"/>
              </a:ext>
            </a:extLst>
          </p:cNvPr>
          <p:cNvSpPr>
            <a:spLocks xmlns:a="http://schemas.openxmlformats.org/drawingml/2006/main" noGrp="1"/>
          </p:cNvSpPr>
          <p:nvPr/>
        </p:nvSpPr>
        <p:spPr>
          <a:xfrm xmlns:a="http://schemas.openxmlformats.org/drawingml/2006/main">
            <a:off x="8304581"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task-quality measure</a:t>
            </a:r>
          </a:p>
        </p:txBody>
      </p:sp>
      <p:sp>
        <p:nvSpPr>
          <p:cNvPr id="35" name="Text 29">
            <a:extLst xmlns:a="http://schemas.openxmlformats.org/drawingml/2006/main">
              <a:ext uri="{FF2B5EF4-FFF2-40B4-BE49-F238E27FC236}">
                <a16:creationId xmlns:a16="http://schemas.microsoft.com/office/drawing/2014/main" id="{37BEC2C8-34F0-4363-94AE-D0570C35C3F1}"/>
              </a:ext>
            </a:extLst>
          </p:cNvPr>
          <p:cNvSpPr>
            <a:spLocks xmlns:a="http://schemas.openxmlformats.org/drawingml/2006/main" noGrp="1"/>
          </p:cNvSpPr>
          <p:nvPr/>
        </p:nvSpPr>
        <p:spPr>
          <a:xfrm xmlns:a="http://schemas.openxmlformats.org/drawingml/2006/main">
            <a:off x="8304581"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able to detect fabrication</a:t>
            </a:r>
          </a:p>
        </p:txBody>
      </p:sp>
      <p:sp>
        <p:nvSpPr>
          <p:cNvPr id="36" name="Text 30">
            <a:extLst xmlns:a="http://schemas.openxmlformats.org/drawingml/2006/main">
              <a:ext uri="{FF2B5EF4-FFF2-40B4-BE49-F238E27FC236}">
                <a16:creationId xmlns:a16="http://schemas.microsoft.com/office/drawing/2014/main" id="{056D226C-FB46-41CE-8C8D-B297B4DF3033}"/>
              </a:ext>
            </a:extLst>
          </p:cNvPr>
          <p:cNvSpPr>
            <a:spLocks xmlns:a="http://schemas.openxmlformats.org/drawingml/2006/main" noGrp="1"/>
          </p:cNvSpPr>
          <p:nvPr/>
        </p:nvSpPr>
        <p:spPr>
          <a:xfrm xmlns:a="http://schemas.openxmlformats.org/drawingml/2006/main">
            <a:off x="640080" y="5980176"/>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i="1">
                <a:solidFill>
                  <a:srgbClr val="5A6B84"/>
                </a:solidFill>
                <a:latin typeface="Calibri"/>
                <a:ea typeface="Calibri"/>
                <a:cs typeface="Calibri"/>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p>
        </p:txBody>
      </p:sp>
    </p:spTree>
    <p:extLst>
      <p:ext uri="{BB962C8B-B14F-4D97-AF65-F5344CB8AC3E}">
        <p14:creationId xmlns:p14="http://schemas.microsoft.com/office/powerpoint/2010/main" val="120175745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83A611C-492C-4B86-B406-D805766108F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CB182E-A74C-4508-99F0-3CED05901F0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6B976EFE-7135-4D77-B05B-908D147EE03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4 AND §3.5.1</a:t>
            </a:r>
          </a:p>
        </p:txBody>
      </p:sp>
      <p:sp>
        <p:nvSpPr>
          <p:cNvPr id="5" name="Text 3">
            <a:extLst xmlns:a="http://schemas.openxmlformats.org/drawingml/2006/main">
              <a:ext uri="{FF2B5EF4-FFF2-40B4-BE49-F238E27FC236}">
                <a16:creationId xmlns:a16="http://schemas.microsoft.com/office/drawing/2014/main" id="{D65EFEEB-C9CB-4A95-B328-F77C9AE9B21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Boundary-time dispatch: cheap checks reject first, one edge compacts</a:t>
            </a:r>
          </a:p>
        </p:txBody>
      </p:sp>
      <p:sp>
        <p:nvSpPr>
          <p:cNvPr id="6" name="Text 4">
            <a:extLst xmlns:a="http://schemas.openxmlformats.org/drawingml/2006/main">
              <a:ext uri="{FF2B5EF4-FFF2-40B4-BE49-F238E27FC236}">
                <a16:creationId xmlns:a16="http://schemas.microsoft.com/office/drawing/2014/main" id="{A08690A2-398F-4C46-8275-E2250C47BC96}"/>
              </a:ext>
            </a:extLst>
          </p:cNvPr>
          <p:cNvSpPr>
            <a:spLocks xmlns:a="http://schemas.openxmlformats.org/drawingml/2006/main" noGrp="1"/>
          </p:cNvSpPr>
          <p:nvPr/>
        </p:nvSpPr>
        <p:spPr>
          <a:xfrm xmlns:a="http://schemas.openxmlformats.org/drawingml/2006/main">
            <a:off x="640080" y="11887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SIX CHECKS IN ORDER — THE CALIBRATED GATE RUNS ONLY ON WHAT SURVIVES THEM</a:t>
            </a:r>
          </a:p>
        </p:txBody>
      </p:sp>
      <p:sp>
        <p:nvSpPr>
          <p:cNvPr id="7" name="Shape 5">
            <a:extLst xmlns:a="http://schemas.openxmlformats.org/drawingml/2006/main">
              <a:ext uri="{FF2B5EF4-FFF2-40B4-BE49-F238E27FC236}">
                <a16:creationId xmlns:a16="http://schemas.microsoft.com/office/drawing/2014/main" id="{94160543-A9A7-4C2A-85C6-9C0929723A75}"/>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4F0239C-F392-4DD1-9614-064AE1DDBA6B}"/>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mode ≠ off</a:t>
            </a:r>
          </a:p>
        </p:txBody>
      </p:sp>
      <p:sp>
        <p:nvSpPr>
          <p:cNvPr id="9" name="Shape 7">
            <a:extLst xmlns:a="http://schemas.openxmlformats.org/drawingml/2006/main">
              <a:ext uri="{FF2B5EF4-FFF2-40B4-BE49-F238E27FC236}">
                <a16:creationId xmlns:a16="http://schemas.microsoft.com/office/drawing/2014/main" id="{108CE175-007D-4D6C-BF81-142ACDD0B72E}"/>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E4C48AC-008D-4FF7-8877-A0B92F798382}"/>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resolve + signature</a:t>
            </a:r>
          </a:p>
        </p:txBody>
      </p:sp>
      <p:sp>
        <p:nvSpPr>
          <p:cNvPr id="11" name="Shape 9">
            <a:extLst xmlns:a="http://schemas.openxmlformats.org/drawingml/2006/main">
              <a:ext uri="{FF2B5EF4-FFF2-40B4-BE49-F238E27FC236}">
                <a16:creationId xmlns:a16="http://schemas.microsoft.com/office/drawing/2014/main" id="{E9C3AAAF-92C1-42E3-A1D3-F988EC21CFCC}"/>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FBC6D10F-5C70-4470-989B-117226BA024D}"/>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hard guard H</a:t>
            </a:r>
          </a:p>
        </p:txBody>
      </p:sp>
      <p:sp>
        <p:nvSpPr>
          <p:cNvPr id="13" name="Shape 11">
            <a:extLst xmlns:a="http://schemas.openxmlformats.org/drawingml/2006/main">
              <a:ext uri="{FF2B5EF4-FFF2-40B4-BE49-F238E27FC236}">
                <a16:creationId xmlns:a16="http://schemas.microsoft.com/office/drawing/2014/main" id="{6BE23348-4897-4C5F-983D-F64D5F32C448}"/>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D7F325A8-1AD1-465C-AD68-C042CB6ED389}"/>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already-observed tools</a:t>
            </a:r>
          </a:p>
        </p:txBody>
      </p:sp>
      <p:sp>
        <p:nvSpPr>
          <p:cNvPr id="15" name="Shape 13">
            <a:extLst xmlns:a="http://schemas.openxmlformats.org/drawingml/2006/main">
              <a:ext uri="{FF2B5EF4-FFF2-40B4-BE49-F238E27FC236}">
                <a16:creationId xmlns:a16="http://schemas.microsoft.com/office/drawing/2014/main" id="{EF02AF13-66D8-45A9-94CE-B5E8A240DEAA}"/>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EE6A39F2-1B64-4ACF-A8DE-B15A1368416A}"/>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quota / staging owner</a:t>
            </a:r>
          </a:p>
        </p:txBody>
      </p:sp>
      <p:sp>
        <p:nvSpPr>
          <p:cNvPr id="17" name="Shape 15">
            <a:extLst xmlns:a="http://schemas.openxmlformats.org/drawingml/2006/main">
              <a:ext uri="{FF2B5EF4-FFF2-40B4-BE49-F238E27FC236}">
                <a16:creationId xmlns:a16="http://schemas.microsoft.com/office/drawing/2014/main" id="{9593DED5-6475-4C47-BADC-1EE2C1E69139}"/>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oundRect">
            <a:avLst>
              <a:gd name="adj" fmla="val 11363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2A82CBD-B283-4734-A45B-42AAB49F48E8}"/>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calibrated gate q(z) ≤ η</a:t>
            </a:r>
          </a:p>
        </p:txBody>
      </p:sp>
      <p:sp>
        <p:nvSpPr>
          <p:cNvPr id="19" name="Text 17">
            <a:extLst xmlns:a="http://schemas.openxmlformats.org/drawingml/2006/main">
              <a:ext uri="{FF2B5EF4-FFF2-40B4-BE49-F238E27FC236}">
                <a16:creationId xmlns:a16="http://schemas.microsoft.com/office/drawing/2014/main" id="{3E3AD459-D5F2-49EB-B4F2-3B4BC924D2B5}"/>
              </a:ext>
            </a:extLst>
          </p:cNvPr>
          <p:cNvSpPr>
            <a:spLocks xmlns:a="http://schemas.openxmlformats.org/drawingml/2006/main" noGrp="1"/>
          </p:cNvSpPr>
          <p:nvPr/>
        </p:nvSpPr>
        <p:spPr>
          <a:xfrm xmlns:a="http://schemas.openxmlformats.org/drawingml/2006/main">
            <a:off x="640080" y="2048256"/>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SEVEN TERMINAL EDGES</a:t>
            </a:r>
          </a:p>
        </p:txBody>
      </p:sp>
      <p:sp>
        <p:nvSpPr>
          <p:cNvPr id="20" name="Shape 18">
            <a:extLst xmlns:a="http://schemas.openxmlformats.org/drawingml/2006/main">
              <a:ext uri="{FF2B5EF4-FFF2-40B4-BE49-F238E27FC236}">
                <a16:creationId xmlns:a16="http://schemas.microsoft.com/office/drawing/2014/main" id="{3F6343D4-66CD-4B05-960A-428EC1BB89A8}"/>
              </a:ext>
            </a:extLst>
          </p:cNvPr>
          <p:cNvSpPr>
            <a:spLocks xmlns:a="http://schemas.openxmlformats.org/drawingml/2006/main" noGrp="1"/>
          </p:cNvSpPr>
          <p:nvPr/>
        </p:nvSpPr>
        <p:spPr>
          <a:xfrm xmlns:a="http://schemas.openxmlformats.org/drawingml/2006/main">
            <a:off x="640080"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3AE2D586-6632-4561-8E89-D077937EF132}"/>
              </a:ext>
            </a:extLst>
          </p:cNvPr>
          <p:cNvSpPr>
            <a:spLocks xmlns:a="http://schemas.openxmlformats.org/drawingml/2006/main" noGrp="1"/>
          </p:cNvSpPr>
          <p:nvPr/>
        </p:nvSpPr>
        <p:spPr>
          <a:xfrm xmlns:a="http://schemas.openxmlformats.org/drawingml/2006/main">
            <a:off x="877824"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8A99"/>
                </a:solidFill>
                <a:latin typeface="Cambria"/>
                <a:ea typeface="Cambria"/>
                <a:cs typeface="Cambria"/>
              </a:rPr>
              <a:t>1</a:t>
            </a:r>
          </a:p>
        </p:txBody>
      </p:sp>
      <p:sp>
        <p:nvSpPr>
          <p:cNvPr id="22" name="Text 20">
            <a:extLst xmlns:a="http://schemas.openxmlformats.org/drawingml/2006/main">
              <a:ext uri="{FF2B5EF4-FFF2-40B4-BE49-F238E27FC236}">
                <a16:creationId xmlns:a16="http://schemas.microsoft.com/office/drawing/2014/main" id="{A1B09CBB-1282-445C-9AD3-5482268F1648}"/>
              </a:ext>
            </a:extLst>
          </p:cNvPr>
          <p:cNvSpPr>
            <a:spLocks xmlns:a="http://schemas.openxmlformats.org/drawingml/2006/main" noGrp="1"/>
          </p:cNvSpPr>
          <p:nvPr/>
        </p:nvSpPr>
        <p:spPr>
          <a:xfrm xmlns:a="http://schemas.openxmlformats.org/drawingml/2006/main">
            <a:off x="1463040"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Compacted execution</a:t>
            </a:r>
          </a:p>
        </p:txBody>
      </p:sp>
      <p:sp>
        <p:nvSpPr>
          <p:cNvPr id="23" name="Text 21">
            <a:extLst xmlns:a="http://schemas.openxmlformats.org/drawingml/2006/main">
              <a:ext uri="{FF2B5EF4-FFF2-40B4-BE49-F238E27FC236}">
                <a16:creationId xmlns:a16="http://schemas.microsoft.com/office/drawing/2014/main" id="{83240614-B7A0-40CA-89E0-15CEDB0D8D88}"/>
              </a:ext>
            </a:extLst>
          </p:cNvPr>
          <p:cNvSpPr>
            <a:spLocks xmlns:a="http://schemas.openxmlformats.org/drawingml/2006/main" noGrp="1"/>
          </p:cNvSpPr>
          <p:nvPr/>
        </p:nvSpPr>
        <p:spPr>
          <a:xfrm xmlns:a="http://schemas.openxmlformats.org/drawingml/2006/main">
            <a:off x="896112"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Stage, interpret through a permission facade, verify live-outs, effect multiset and call counts, then commit.</a:t>
            </a:r>
          </a:p>
        </p:txBody>
      </p:sp>
      <p:sp>
        <p:nvSpPr>
          <p:cNvPr id="24" name="Shape 22">
            <a:extLst xmlns:a="http://schemas.openxmlformats.org/drawingml/2006/main">
              <a:ext uri="{FF2B5EF4-FFF2-40B4-BE49-F238E27FC236}">
                <a16:creationId xmlns:a16="http://schemas.microsoft.com/office/drawing/2014/main" id="{D31EF7CB-2D10-4304-849B-AA584C5297E5}"/>
              </a:ext>
            </a:extLst>
          </p:cNvPr>
          <p:cNvSpPr>
            <a:spLocks xmlns:a="http://schemas.openxmlformats.org/drawingml/2006/main" noGrp="1"/>
          </p:cNvSpPr>
          <p:nvPr/>
        </p:nvSpPr>
        <p:spPr>
          <a:xfrm xmlns:a="http://schemas.openxmlformats.org/drawingml/2006/main">
            <a:off x="4368698"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8C4148FB-3660-4E54-AFEA-BDBBFEDFB163}"/>
              </a:ext>
            </a:extLst>
          </p:cNvPr>
          <p:cNvSpPr>
            <a:spLocks xmlns:a="http://schemas.openxmlformats.org/drawingml/2006/main" noGrp="1"/>
          </p:cNvSpPr>
          <p:nvPr/>
        </p:nvSpPr>
        <p:spPr>
          <a:xfrm xmlns:a="http://schemas.openxmlformats.org/drawingml/2006/main">
            <a:off x="4606442"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A356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CD1FDB4F-B843-465B-8C62-E3BDAAAF0066}"/>
              </a:ext>
            </a:extLst>
          </p:cNvPr>
          <p:cNvSpPr>
            <a:spLocks xmlns:a="http://schemas.openxmlformats.org/drawingml/2006/main" noGrp="1"/>
          </p:cNvSpPr>
          <p:nvPr/>
        </p:nvSpPr>
        <p:spPr>
          <a:xfrm xmlns:a="http://schemas.openxmlformats.org/drawingml/2006/main">
            <a:off x="5191658"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Baseline agent runs</a:t>
            </a:r>
          </a:p>
        </p:txBody>
      </p:sp>
      <p:sp>
        <p:nvSpPr>
          <p:cNvPr id="27" name="Text 25">
            <a:extLst xmlns:a="http://schemas.openxmlformats.org/drawingml/2006/main">
              <a:ext uri="{FF2B5EF4-FFF2-40B4-BE49-F238E27FC236}">
                <a16:creationId xmlns:a16="http://schemas.microsoft.com/office/drawing/2014/main" id="{6A012AEA-BDDB-4448-922C-5980FE6D4DFF}"/>
              </a:ext>
            </a:extLst>
          </p:cNvPr>
          <p:cNvSpPr>
            <a:spLocks xmlns:a="http://schemas.openxmlformats.org/drawingml/2006/main" noGrp="1"/>
          </p:cNvSpPr>
          <p:nvPr/>
        </p:nvSpPr>
        <p:spPr>
          <a:xfrm xmlns:a="http://schemas.openxmlformats.org/drawingml/2006/main">
            <a:off x="4624730"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950">
                <a:solidFill>
                  <a:srgbClr val="24354F"/>
                </a:solidFill>
                <a:latin typeface="Calibri"/>
                <a:ea typeface="Calibri"/>
                <a:cs typeface="Calibri"/>
              </a:rPr>
              <a:t>Mode and lifecycle checks, guard or manifest miss, already-observed tools, shadow mode, calibrated abstention, a clean pre-commit failure with a staging proof, or a verifier rejection before use. Figure 1 groups Algorithm 4's individual fallback returns into these edges.</a:t>
            </a:r>
          </a:p>
        </p:txBody>
      </p:sp>
      <p:sp>
        <p:nvSpPr>
          <p:cNvPr id="28" name="Shape 26">
            <a:extLst xmlns:a="http://schemas.openxmlformats.org/drawingml/2006/main">
              <a:ext uri="{FF2B5EF4-FFF2-40B4-BE49-F238E27FC236}">
                <a16:creationId xmlns:a16="http://schemas.microsoft.com/office/drawing/2014/main" id="{B2CB71D1-0E4E-4E52-BF78-D32CCDC7757E}"/>
              </a:ext>
            </a:extLst>
          </p:cNvPr>
          <p:cNvSpPr>
            <a:spLocks xmlns:a="http://schemas.openxmlformats.org/drawingml/2006/main" noGrp="1"/>
          </p:cNvSpPr>
          <p:nvPr/>
        </p:nvSpPr>
        <p:spPr>
          <a:xfrm xmlns:a="http://schemas.openxmlformats.org/drawingml/2006/main">
            <a:off x="8097317" y="2322576"/>
            <a:ext cx="3454298" cy="1517904"/>
          </a:xfrm>
          <a:prstGeom xmlns:a="http://schemas.openxmlformats.org/drawingml/2006/main" prst="roundRect">
            <a:avLst>
              <a:gd name="adj" fmla="val 301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FB72D3BB-186C-47FD-AE1E-8784497BD162}"/>
              </a:ext>
            </a:extLst>
          </p:cNvPr>
          <p:cNvSpPr>
            <a:spLocks xmlns:a="http://schemas.openxmlformats.org/drawingml/2006/main" noGrp="1"/>
          </p:cNvSpPr>
          <p:nvPr/>
        </p:nvSpPr>
        <p:spPr>
          <a:xfrm xmlns:a="http://schemas.openxmlformats.org/drawingml/2006/main">
            <a:off x="8335061"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A93B2B"/>
                </a:solidFill>
                <a:latin typeface="Cambria"/>
                <a:ea typeface="Cambria"/>
                <a:cs typeface="Cambria"/>
              </a:rPr>
              <a:t>1</a:t>
            </a:r>
          </a:p>
        </p:txBody>
      </p:sp>
      <p:sp>
        <p:nvSpPr>
          <p:cNvPr id="30" name="Text 28">
            <a:extLst xmlns:a="http://schemas.openxmlformats.org/drawingml/2006/main">
              <a:ext uri="{FF2B5EF4-FFF2-40B4-BE49-F238E27FC236}">
                <a16:creationId xmlns:a16="http://schemas.microsoft.com/office/drawing/2014/main" id="{A64A6B24-F305-411D-BDF2-11E93BD4E738}"/>
              </a:ext>
            </a:extLst>
          </p:cNvPr>
          <p:cNvSpPr>
            <a:spLocks xmlns:a="http://schemas.openxmlformats.org/drawingml/2006/main" noGrp="1"/>
          </p:cNvSpPr>
          <p:nvPr/>
        </p:nvSpPr>
        <p:spPr>
          <a:xfrm xmlns:a="http://schemas.openxmlformats.org/drawingml/2006/main">
            <a:off x="8920277"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Incident raised</a:t>
            </a:r>
          </a:p>
        </p:txBody>
      </p:sp>
      <p:sp>
        <p:nvSpPr>
          <p:cNvPr id="31" name="Text 29">
            <a:extLst xmlns:a="http://schemas.openxmlformats.org/drawingml/2006/main">
              <a:ext uri="{FF2B5EF4-FFF2-40B4-BE49-F238E27FC236}">
                <a16:creationId xmlns:a16="http://schemas.microsoft.com/office/drawing/2014/main" id="{B88D0875-CF25-4EDA-B115-40A18CCC2767}"/>
              </a:ext>
            </a:extLst>
          </p:cNvPr>
          <p:cNvSpPr>
            <a:spLocks xmlns:a="http://schemas.openxmlformats.org/drawingml/2006/main" noGrp="1"/>
          </p:cNvSpPr>
          <p:nvPr/>
        </p:nvSpPr>
        <p:spPr>
          <a:xfrm xmlns:a="http://schemas.openxmlformats.org/drawingml/2006/main">
            <a:off x="8353349"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post-commit failure. An external commitment already happened, so the runtime does not feign a rollback.</a:t>
            </a:r>
          </a:p>
        </p:txBody>
      </p:sp>
      <p:sp>
        <p:nvSpPr>
          <p:cNvPr id="32" name="Shape 30">
            <a:extLst xmlns:a="http://schemas.openxmlformats.org/drawingml/2006/main">
              <a:ext uri="{FF2B5EF4-FFF2-40B4-BE49-F238E27FC236}">
                <a16:creationId xmlns:a16="http://schemas.microsoft.com/office/drawing/2014/main" id="{3E6507BF-3038-4F4F-ACFF-077A0CCCEE95}"/>
              </a:ext>
            </a:extLst>
          </p:cNvPr>
          <p:cNvSpPr>
            <a:spLocks xmlns:a="http://schemas.openxmlformats.org/drawingml/2006/main" noGrp="1"/>
          </p:cNvSpPr>
          <p:nvPr/>
        </p:nvSpPr>
        <p:spPr>
          <a:xfrm xmlns:a="http://schemas.openxmlformats.org/drawingml/2006/main">
            <a:off x="640080" y="4005072"/>
            <a:ext cx="10911535" cy="1700784"/>
          </a:xfrm>
          <a:prstGeom xmlns:a="http://schemas.openxmlformats.org/drawingml/2006/main" prst="roundRect">
            <a:avLst>
              <a:gd name="adj" fmla="val 26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FB424899-98B9-40B0-A62F-7EEA1BD3EDC3}"/>
              </a:ext>
            </a:extLst>
          </p:cNvPr>
          <p:cNvSpPr>
            <a:spLocks xmlns:a="http://schemas.openxmlformats.org/drawingml/2006/main" noGrp="1"/>
          </p:cNvSpPr>
          <p:nvPr/>
        </p:nvSpPr>
        <p:spPr>
          <a:xfrm xmlns:a="http://schemas.openxmlformats.org/drawingml/2006/main">
            <a:off x="896112" y="4133088"/>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§3.5.1  WHERE “UNMODIFIED BASELINE” IS EXACT, AND WHERE IT IS NOT</a:t>
            </a:r>
          </a:p>
        </p:txBody>
      </p:sp>
      <p:sp>
        <p:nvSpPr>
          <p:cNvPr id="34" name="Text 32">
            <a:extLst xmlns:a="http://schemas.openxmlformats.org/drawingml/2006/main">
              <a:ext uri="{FF2B5EF4-FFF2-40B4-BE49-F238E27FC236}">
                <a16:creationId xmlns:a16="http://schemas.microsoft.com/office/drawing/2014/main" id="{134F8A30-7B73-45AF-B705-9C87481F45EB}"/>
              </a:ext>
            </a:extLst>
          </p:cNvPr>
          <p:cNvSpPr>
            <a:spLocks xmlns:a="http://schemas.openxmlformats.org/drawingml/2006/main" noGrp="1"/>
          </p:cNvSpPr>
          <p:nvPr/>
        </p:nvSpPr>
        <p:spPr>
          <a:xfrm xmlns:a="http://schemas.openxmlformats.org/drawingml/2006/main">
            <a:off x="896112"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1F8A99"/>
                </a:solidFill>
                <a:latin typeface="Cambria"/>
                <a:ea typeface="Cambria"/>
                <a:cs typeface="Cambria"/>
              </a:rPr>
              <a:t>Outer runner — exact</a:t>
            </a:r>
          </a:p>
        </p:txBody>
      </p:sp>
      <p:sp>
        <p:nvSpPr>
          <p:cNvPr id="35" name="Text 33">
            <a:extLst xmlns:a="http://schemas.openxmlformats.org/drawingml/2006/main">
              <a:ext uri="{FF2B5EF4-FFF2-40B4-BE49-F238E27FC236}">
                <a16:creationId xmlns:a16="http://schemas.microsoft.com/office/drawing/2014/main" id="{78CD3EC7-2660-421D-824D-CFF015624781}"/>
              </a:ext>
            </a:extLst>
          </p:cNvPr>
          <p:cNvSpPr>
            <a:spLocks xmlns:a="http://schemas.openxmlformats.org/drawingml/2006/main" noGrp="1"/>
          </p:cNvSpPr>
          <p:nvPr/>
        </p:nvSpPr>
        <p:spPr>
          <a:xfrm xmlns:a="http://schemas.openxmlformats.org/drawingml/2006/main">
            <a:off x="896112"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It owns the entry snapshot and the commit boundary, so a rejected attempt restores byte-identical model-visible input. “The baseline runs unchanged” holds at every failure point.</a:t>
            </a:r>
          </a:p>
        </p:txBody>
      </p:sp>
      <p:sp>
        <p:nvSpPr>
          <p:cNvPr id="36" name="Text 34">
            <a:extLst xmlns:a="http://schemas.openxmlformats.org/drawingml/2006/main">
              <a:ext uri="{FF2B5EF4-FFF2-40B4-BE49-F238E27FC236}">
                <a16:creationId xmlns:a16="http://schemas.microsoft.com/office/drawing/2014/main" id="{F8854B21-31F5-49EC-99E8-BC33A9BB3846}"/>
              </a:ext>
            </a:extLst>
          </p:cNvPr>
          <p:cNvSpPr>
            <a:spLocks xmlns:a="http://schemas.openxmlformats.org/drawingml/2006/main" noGrp="1"/>
          </p:cNvSpPr>
          <p:nvPr/>
        </p:nvSpPr>
        <p:spPr>
          <a:xfrm xmlns:a="http://schemas.openxmlformats.org/drawingml/2006/main">
            <a:off x="6251296"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Model-boundary adapter — weaker</a:t>
            </a:r>
          </a:p>
        </p:txBody>
      </p:sp>
      <p:sp>
        <p:nvSpPr>
          <p:cNvPr id="37" name="Text 35">
            <a:extLst xmlns:a="http://schemas.openxmlformats.org/drawingml/2006/main">
              <a:ext uri="{FF2B5EF4-FFF2-40B4-BE49-F238E27FC236}">
                <a16:creationId xmlns:a16="http://schemas.microsoft.com/office/drawing/2014/main" id="{782460AC-36E8-4D12-8F4B-DDE5BE7E51FD}"/>
              </a:ext>
            </a:extLst>
          </p:cNvPr>
          <p:cNvSpPr>
            <a:spLocks xmlns:a="http://schemas.openxmlformats.org/drawingml/2006/main" noGrp="1"/>
          </p:cNvSpPr>
          <p:nvPr/>
        </p:nvSpPr>
        <p:spPr>
          <a:xfrm xmlns:a="http://schemas.openxmlformats.org/drawingml/2006/main">
            <a:off x="6251296"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p>
        </p:txBody>
      </p:sp>
      <p:sp>
        <p:nvSpPr>
          <p:cNvPr id="38" name="Text 36">
            <a:extLst xmlns:a="http://schemas.openxmlformats.org/drawingml/2006/main">
              <a:ext uri="{FF2B5EF4-FFF2-40B4-BE49-F238E27FC236}">
                <a16:creationId xmlns:a16="http://schemas.microsoft.com/office/drawing/2014/main" id="{F93BCA70-8569-4483-BEDF-57409F1441FE}"/>
              </a:ext>
            </a:extLst>
          </p:cNvPr>
          <p:cNvSpPr>
            <a:spLocks xmlns:a="http://schemas.openxmlformats.org/drawingml/2006/main" noGrp="1"/>
          </p:cNvSpPr>
          <p:nvPr/>
        </p:nvSpPr>
        <p:spPr>
          <a:xfrm xmlns:a="http://schemas.openxmlformats.org/drawingml/2006/main">
            <a:off x="640080" y="5815584"/>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p>
        </p:txBody>
      </p:sp>
    </p:spTree>
    <p:extLst>
      <p:ext uri="{BB962C8B-B14F-4D97-AF65-F5344CB8AC3E}">
        <p14:creationId xmlns:p14="http://schemas.microsoft.com/office/powerpoint/2010/main" val="510680896"/>
      </p:ext>
    </p:extLst>
  </p:cSld>
</p:sld>
</file>

<file path=ppt/slides/slide1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2262CC4-F5CF-4683-941D-403358E8D0A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DD17CC5-3C13-4D8C-B845-5BF8E1346F0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15</a:t>
            </a:r>
          </a:p>
        </p:txBody>
      </p:sp>
      <p:sp>
        <p:nvSpPr>
          <p:cNvPr id="4" name="Shape 2">
            <a:extLst xmlns:a="http://schemas.openxmlformats.org/drawingml/2006/main">
              <a:ext uri="{FF2B5EF4-FFF2-40B4-BE49-F238E27FC236}">
                <a16:creationId xmlns:a16="http://schemas.microsoft.com/office/drawing/2014/main" id="{1F7BE446-0704-429A-8AA7-8FA5B3E0E809}"/>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DF8CB7A7-8431-4B48-96B9-DFEFBA763518}"/>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C2F24DF8-4397-44C6-81F9-495175A033DC}"/>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III</a:t>
            </a:r>
          </a:p>
        </p:txBody>
      </p:sp>
      <p:sp>
        <p:nvSpPr>
          <p:cNvPr id="7" name="Text 5">
            <a:extLst xmlns:a="http://schemas.openxmlformats.org/drawingml/2006/main">
              <a:ext uri="{FF2B5EF4-FFF2-40B4-BE49-F238E27FC236}">
                <a16:creationId xmlns:a16="http://schemas.microsoft.com/office/drawing/2014/main" id="{C0BCC708-085F-4DC2-B435-F9A45164DF43}"/>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Evidence and results</a:t>
            </a:r>
          </a:p>
        </p:txBody>
      </p:sp>
      <p:sp>
        <p:nvSpPr>
          <p:cNvPr id="8" name="Text 6">
            <a:extLst xmlns:a="http://schemas.openxmlformats.org/drawingml/2006/main">
              <a:ext uri="{FF2B5EF4-FFF2-40B4-BE49-F238E27FC236}">
                <a16:creationId xmlns:a16="http://schemas.microsoft.com/office/drawing/2014/main" id="{0ABD7EF6-351A-4C82-9DDF-55731BE56066}"/>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Three non-overlapping tiers, six directional hypotheses, and results reported with their denominators intact.</a:t>
            </a:r>
          </a:p>
        </p:txBody>
      </p:sp>
    </p:spTree>
    <p:extLst>
      <p:ext uri="{BB962C8B-B14F-4D97-AF65-F5344CB8AC3E}">
        <p14:creationId xmlns:p14="http://schemas.microsoft.com/office/powerpoint/2010/main" val="5963102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516370B-D70C-4A03-BE94-DFCFF9ECB4F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96CBDC2-BAC5-4292-8643-D5A71481340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E8652ECE-51C1-4D93-982D-ACE419B1F5C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METHODOLOGY  ·  §4.1</a:t>
            </a:r>
          </a:p>
        </p:txBody>
      </p:sp>
      <p:sp>
        <p:nvSpPr>
          <p:cNvPr id="5" name="Text 3">
            <a:extLst xmlns:a="http://schemas.openxmlformats.org/drawingml/2006/main">
              <a:ext uri="{FF2B5EF4-FFF2-40B4-BE49-F238E27FC236}">
                <a16:creationId xmlns:a16="http://schemas.microsoft.com/office/drawing/2014/main" id="{3D182A5F-B097-4B06-AE3B-B5F0C13916A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evidence tiers and six directional hypotheses</a:t>
            </a:r>
          </a:p>
        </p:txBody>
      </p:sp>
      <p:sp>
        <p:nvSpPr>
          <p:cNvPr id="6" name="Shape 4">
            <a:extLst xmlns:a="http://schemas.openxmlformats.org/drawingml/2006/main">
              <a:ext uri="{FF2B5EF4-FFF2-40B4-BE49-F238E27FC236}">
                <a16:creationId xmlns:a16="http://schemas.microsoft.com/office/drawing/2014/main" id="{A5B9F9BD-87BE-4944-909C-4C30678A3E53}"/>
              </a:ext>
            </a:extLst>
          </p:cNvPr>
          <p:cNvSpPr>
            <a:spLocks xmlns:a="http://schemas.openxmlformats.org/drawingml/2006/main" noGrp="1"/>
          </p:cNvSpPr>
          <p:nvPr/>
        </p:nvSpPr>
        <p:spPr>
          <a:xfrm xmlns:a="http://schemas.openxmlformats.org/drawingml/2006/main">
            <a:off x="640080"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BB7DBF4A-A312-446F-87AF-C9963570B892}"/>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ED3D7B6-391E-49E0-B0E8-B19F3A373AC6}"/>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27168C7D-AEC9-40B8-9CB5-EA1DB6A80FBF}"/>
              </a:ext>
            </a:extLst>
          </p:cNvPr>
          <p:cNvSpPr>
            <a:spLocks xmlns:a="http://schemas.openxmlformats.org/drawingml/2006/main" noGrp="1"/>
          </p:cNvSpPr>
          <p:nvPr/>
        </p:nvSpPr>
        <p:spPr>
          <a:xfrm xmlns:a="http://schemas.openxmlformats.org/drawingml/2006/main">
            <a:off x="877824"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EFFAA55-6C17-4430-8EB7-E676ED31636E}"/>
              </a:ext>
            </a:extLst>
          </p:cNvPr>
          <p:cNvSpPr>
            <a:spLocks xmlns:a="http://schemas.openxmlformats.org/drawingml/2006/main" noGrp="1"/>
          </p:cNvSpPr>
          <p:nvPr/>
        </p:nvSpPr>
        <p:spPr>
          <a:xfrm xmlns:a="http://schemas.openxmlformats.org/drawingml/2006/main">
            <a:off x="877824"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NESTFUL — 1,861 records, 1,416 in the audited module, 1,415 executing</a:t>
            </a:r>
          </a:p>
        </p:txBody>
      </p:sp>
      <p:sp>
        <p:nvSpPr>
          <p:cNvPr id="11" name="Text 9">
            <a:extLst xmlns:a="http://schemas.openxmlformats.org/drawingml/2006/main">
              <a:ext uri="{FF2B5EF4-FFF2-40B4-BE49-F238E27FC236}">
                <a16:creationId xmlns:a16="http://schemas.microsoft.com/office/drawing/2014/main" id="{04C908BA-E683-485B-B5C3-7D4B5C8B3E5F}"/>
              </a:ext>
            </a:extLst>
          </p:cNvPr>
          <p:cNvSpPr>
            <a:spLocks xmlns:a="http://schemas.openxmlformats.org/drawingml/2006/main" noGrp="1"/>
          </p:cNvSpPr>
          <p:nvPr/>
        </p:nvSpPr>
        <p:spPr>
          <a:xfrm xmlns:a="http://schemas.openxmlformats.org/drawingml/2006/main">
            <a:off x="896112"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Tests dependency reconstruction, synthesis, and refusal on public data with no model calls at all</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Per-family split is lexicographic by episode identifier, so it tests held-out windows, not distribution shift</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Builds provenance, mining, synthesis and replay directly rather than invoking the full compiler</a:t>
            </a:r>
          </a:p>
        </p:txBody>
      </p:sp>
      <p:sp>
        <p:nvSpPr>
          <p:cNvPr id="12" name="Shape 10">
            <a:extLst xmlns:a="http://schemas.openxmlformats.org/drawingml/2006/main">
              <a:ext uri="{FF2B5EF4-FFF2-40B4-BE49-F238E27FC236}">
                <a16:creationId xmlns:a16="http://schemas.microsoft.com/office/drawing/2014/main" id="{1FBE9F84-C96A-49F2-A0DA-A5C6DFFE2989}"/>
              </a:ext>
            </a:extLst>
          </p:cNvPr>
          <p:cNvSpPr>
            <a:spLocks xmlns:a="http://schemas.openxmlformats.org/drawingml/2006/main" noGrp="1"/>
          </p:cNvSpPr>
          <p:nvPr/>
        </p:nvSpPr>
        <p:spPr>
          <a:xfrm xmlns:a="http://schemas.openxmlformats.org/drawingml/2006/main">
            <a:off x="4368698"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72D2549C-B747-4A52-A843-ED80A1E4D2B3}"/>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3F3D6D7-0702-41EE-9243-E9678D90CD67}"/>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C2AC3956-9F40-469B-92E7-57284315A528}"/>
              </a:ext>
            </a:extLst>
          </p:cNvPr>
          <p:cNvSpPr>
            <a:spLocks xmlns:a="http://schemas.openxmlformats.org/drawingml/2006/main" noGrp="1"/>
          </p:cNvSpPr>
          <p:nvPr/>
        </p:nvSpPr>
        <p:spPr>
          <a:xfrm xmlns:a="http://schemas.openxmlformats.org/drawingml/2006/main">
            <a:off x="4606442"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DBA93F0B-2C6C-40F6-8543-0947F59AD3C8}"/>
              </a:ext>
            </a:extLst>
          </p:cNvPr>
          <p:cNvSpPr>
            <a:spLocks xmlns:a="http://schemas.openxmlformats.org/drawingml/2006/main" noGrp="1"/>
          </p:cNvSpPr>
          <p:nvPr/>
        </p:nvSpPr>
        <p:spPr>
          <a:xfrm xmlns:a="http://schemas.openxmlformats.org/drawingml/2006/main">
            <a:off x="4606442"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C26C033-F8B3-48BA-A283-64369EF92B87}"/>
              </a:ext>
            </a:extLst>
          </p:cNvPr>
          <p:cNvSpPr>
            <a:spLocks xmlns:a="http://schemas.openxmlformats.org/drawingml/2006/main" noGrp="1"/>
          </p:cNvSpPr>
          <p:nvPr/>
        </p:nvSpPr>
        <p:spPr>
          <a:xfrm xmlns:a="http://schemas.openxmlformats.org/drawingml/2006/main">
            <a:off x="4624730"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first protocol prescribes a fixed prefix as a conformance ablation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review-driven follow-up and its expanded replication name required facts but no tool functions and no order</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A prospective portfolio pilot freezes the replication as selection evidence, then runs 12 fresh records</a:t>
            </a:r>
          </a:p>
        </p:txBody>
      </p:sp>
      <p:sp>
        <p:nvSpPr>
          <p:cNvPr id="18" name="Shape 16">
            <a:extLst xmlns:a="http://schemas.openxmlformats.org/drawingml/2006/main">
              <a:ext uri="{FF2B5EF4-FFF2-40B4-BE49-F238E27FC236}">
                <a16:creationId xmlns:a16="http://schemas.microsoft.com/office/drawing/2014/main" id="{1C4C31BB-6D0C-4CD8-895E-DCF7811E4CD9}"/>
              </a:ext>
            </a:extLst>
          </p:cNvPr>
          <p:cNvSpPr>
            <a:spLocks xmlns:a="http://schemas.openxmlformats.org/drawingml/2006/main" noGrp="1"/>
          </p:cNvSpPr>
          <p:nvPr/>
        </p:nvSpPr>
        <p:spPr>
          <a:xfrm xmlns:a="http://schemas.openxmlformats.org/drawingml/2006/main">
            <a:off x="8097317"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101CBD24-8A1F-4274-8502-E0EB452974D3}"/>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2FF871B-313B-4C2B-9113-14B03787C2C9}"/>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99B00806-9D17-4E49-9D7F-800B910F0C76}"/>
              </a:ext>
            </a:extLst>
          </p:cNvPr>
          <p:cNvSpPr>
            <a:spLocks xmlns:a="http://schemas.openxmlformats.org/drawingml/2006/main" noGrp="1"/>
          </p:cNvSpPr>
          <p:nvPr/>
        </p:nvSpPr>
        <p:spPr>
          <a:xfrm xmlns:a="http://schemas.openxmlformats.org/drawingml/2006/main">
            <a:off x="8335061"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FAE20360-4938-43E1-BF07-A25E2E213AB2}"/>
              </a:ext>
            </a:extLst>
          </p:cNvPr>
          <p:cNvSpPr>
            <a:spLocks xmlns:a="http://schemas.openxmlformats.org/drawingml/2006/main" noGrp="1"/>
          </p:cNvSpPr>
          <p:nvPr/>
        </p:nvSpPr>
        <p:spPr>
          <a:xfrm xmlns:a="http://schemas.openxmlformats.org/drawingml/2006/main">
            <a:off x="8335061"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workflow shapes, eight conditions, real SDK runtime</a:t>
            </a:r>
          </a:p>
        </p:txBody>
      </p:sp>
      <p:sp>
        <p:nvSpPr>
          <p:cNvPr id="23" name="Text 21">
            <a:extLst xmlns:a="http://schemas.openxmlformats.org/drawingml/2006/main">
              <a:ext uri="{FF2B5EF4-FFF2-40B4-BE49-F238E27FC236}">
                <a16:creationId xmlns:a16="http://schemas.microsoft.com/office/drawing/2014/main" id="{B3BF3912-FEF7-436A-9324-84788DCBD97A}"/>
              </a:ext>
            </a:extLst>
          </p:cNvPr>
          <p:cNvSpPr>
            <a:spLocks xmlns:a="http://schemas.openxmlformats.org/drawingml/2006/main" noGrp="1"/>
          </p:cNvSpPr>
          <p:nvPr/>
        </p:nvSpPr>
        <p:spPr>
          <a:xfrm xmlns:a="http://schemas.openxmlformats.org/drawingml/2006/main">
            <a:off x="8353349"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Covers observation-dependent branches, pagination, a mandatory irreversible write, a handoff barrier, an undeclared-effect MCP surface</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Three conditions are negative controls whose only correct outcome is no compaction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Business records are fictional — no real-world data claim</a:t>
            </a:r>
          </a:p>
        </p:txBody>
      </p:sp>
      <p:sp>
        <p:nvSpPr>
          <p:cNvPr id="24" name="Text 22">
            <a:extLst xmlns:a="http://schemas.openxmlformats.org/drawingml/2006/main">
              <a:ext uri="{FF2B5EF4-FFF2-40B4-BE49-F238E27FC236}">
                <a16:creationId xmlns:a16="http://schemas.microsoft.com/office/drawing/2014/main" id="{AD642A2B-3837-404B-A55C-0BB0779F9BC5}"/>
              </a:ext>
            </a:extLst>
          </p:cNvPr>
          <p:cNvSpPr>
            <a:spLocks xmlns:a="http://schemas.openxmlformats.org/drawingml/2006/main" noGrp="1"/>
          </p:cNvSpPr>
          <p:nvPr/>
        </p:nvSpPr>
        <p:spPr>
          <a:xfrm xmlns:a="http://schemas.openxmlformats.org/drawingml/2006/main">
            <a:off x="640080" y="455371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HYPOTHESES, FIXED INTERNALLY BEFORE THE SEALED TEST WAS SCORED — NOT EXTERNALLY PREREGISTERED</a:t>
            </a:r>
          </a:p>
        </p:txBody>
      </p:sp>
      <p:sp>
        <p:nvSpPr>
          <p:cNvPr id="25" name="Shape 23">
            <a:extLst xmlns:a="http://schemas.openxmlformats.org/drawingml/2006/main">
              <a:ext uri="{FF2B5EF4-FFF2-40B4-BE49-F238E27FC236}">
                <a16:creationId xmlns:a16="http://schemas.microsoft.com/office/drawing/2014/main" id="{8A18DE42-C71F-4641-86CF-B2ABB9D2A955}"/>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0BFA5797-C084-48A7-B63C-D13B19705494}"/>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H1</a:t>
            </a:r>
          </a:p>
        </p:txBody>
      </p:sp>
      <p:sp>
        <p:nvSpPr>
          <p:cNvPr id="27" name="Text 25">
            <a:extLst xmlns:a="http://schemas.openxmlformats.org/drawingml/2006/main">
              <a:ext uri="{FF2B5EF4-FFF2-40B4-BE49-F238E27FC236}">
                <a16:creationId xmlns:a16="http://schemas.microsoft.com/office/drawing/2014/main" id="{72B02E0A-74C5-409E-B0D5-AF3FD488C1A7}"/>
              </a:ext>
            </a:extLst>
          </p:cNvPr>
          <p:cNvSpPr>
            <a:spLocks xmlns:a="http://schemas.openxmlformats.org/drawingml/2006/main" noGrp="1"/>
          </p:cNvSpPr>
          <p:nvPr/>
        </p:nvSpPr>
        <p:spPr>
          <a:xfrm xmlns:a="http://schemas.openxmlformats.org/drawingml/2006/main">
            <a:off x="109728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provenance places the expected producer for &gt; 90% of executable nested slots</a:t>
            </a:r>
          </a:p>
        </p:txBody>
      </p:sp>
      <p:sp>
        <p:nvSpPr>
          <p:cNvPr id="28" name="Shape 26">
            <a:extLst xmlns:a="http://schemas.openxmlformats.org/drawingml/2006/main">
              <a:ext uri="{FF2B5EF4-FFF2-40B4-BE49-F238E27FC236}">
                <a16:creationId xmlns:a16="http://schemas.microsoft.com/office/drawing/2014/main" id="{84EF8C1A-3B96-4375-8463-40E32A008789}"/>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46D71D8F-4088-4CD1-9431-7BC756DEB40C}"/>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H2</a:t>
            </a:r>
          </a:p>
        </p:txBody>
      </p:sp>
      <p:sp>
        <p:nvSpPr>
          <p:cNvPr id="30" name="Text 28">
            <a:extLst xmlns:a="http://schemas.openxmlformats.org/drawingml/2006/main">
              <a:ext uri="{FF2B5EF4-FFF2-40B4-BE49-F238E27FC236}">
                <a16:creationId xmlns:a16="http://schemas.microsoft.com/office/drawing/2014/main" id="{5BDA185C-01F7-4FCF-AD07-79C7E84A62D8}"/>
              </a:ext>
            </a:extLst>
          </p:cNvPr>
          <p:cNvSpPr>
            <a:spLocks xmlns:a="http://schemas.openxmlformats.org/drawingml/2006/main" noGrp="1"/>
          </p:cNvSpPr>
          <p:nvPr/>
        </p:nvSpPr>
        <p:spPr>
          <a:xfrm xmlns:a="http://schemas.openxmlformats.org/drawingml/2006/main">
            <a:off x="480761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compiled prefix reduces provider requests and total tokens</a:t>
            </a:r>
          </a:p>
        </p:txBody>
      </p:sp>
      <p:sp>
        <p:nvSpPr>
          <p:cNvPr id="31" name="Shape 29">
            <a:extLst xmlns:a="http://schemas.openxmlformats.org/drawingml/2006/main">
              <a:ext uri="{FF2B5EF4-FFF2-40B4-BE49-F238E27FC236}">
                <a16:creationId xmlns:a16="http://schemas.microsoft.com/office/drawing/2014/main" id="{81C76F6A-F731-4E5F-8815-156D7EAC9B8A}"/>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D0B9EE86-4786-4B3F-AC86-1A0438392897}"/>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H3</a:t>
            </a:r>
          </a:p>
        </p:txBody>
      </p:sp>
      <p:sp>
        <p:nvSpPr>
          <p:cNvPr id="33" name="Text 31">
            <a:extLst xmlns:a="http://schemas.openxmlformats.org/drawingml/2006/main">
              <a:ext uri="{FF2B5EF4-FFF2-40B4-BE49-F238E27FC236}">
                <a16:creationId xmlns:a16="http://schemas.microsoft.com/office/drawing/2014/main" id="{FE02B20B-59D0-4EA9-9E3A-4C7D54C82D8C}"/>
              </a:ext>
            </a:extLst>
          </p:cNvPr>
          <p:cNvSpPr>
            <a:spLocks xmlns:a="http://schemas.openxmlformats.org/drawingml/2006/main" noGrp="1"/>
          </p:cNvSpPr>
          <p:nvPr/>
        </p:nvSpPr>
        <p:spPr>
          <a:xfrm xmlns:a="http://schemas.openxmlformats.org/drawingml/2006/main">
            <a:off x="8517941"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no observed quality loss on the sealed task</a:t>
            </a:r>
          </a:p>
        </p:txBody>
      </p:sp>
      <p:sp>
        <p:nvSpPr>
          <p:cNvPr id="34" name="Shape 32">
            <a:extLst xmlns:a="http://schemas.openxmlformats.org/drawingml/2006/main">
              <a:ext uri="{FF2B5EF4-FFF2-40B4-BE49-F238E27FC236}">
                <a16:creationId xmlns:a16="http://schemas.microsoft.com/office/drawing/2014/main" id="{6DAC8501-F6F5-496E-90B4-D7DC48700D7E}"/>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FD6002D7-0783-46F7-BA30-12F1D491CB75}"/>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H4</a:t>
            </a:r>
          </a:p>
        </p:txBody>
      </p:sp>
      <p:sp>
        <p:nvSpPr>
          <p:cNvPr id="36" name="Text 34">
            <a:extLst xmlns:a="http://schemas.openxmlformats.org/drawingml/2006/main">
              <a:ext uri="{FF2B5EF4-FFF2-40B4-BE49-F238E27FC236}">
                <a16:creationId xmlns:a16="http://schemas.microsoft.com/office/drawing/2014/main" id="{E03CDB11-4D8D-4AAB-B13D-54FF173F10F6}"/>
              </a:ext>
            </a:extLst>
          </p:cNvPr>
          <p:cNvSpPr>
            <a:spLocks xmlns:a="http://schemas.openxmlformats.org/drawingml/2006/main" noGrp="1"/>
          </p:cNvSpPr>
          <p:nvPr/>
        </p:nvSpPr>
        <p:spPr>
          <a:xfrm xmlns:a="http://schemas.openxmlformats.org/drawingml/2006/main">
            <a:off x="109728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families below the exact-gate sample requirement retire</a:t>
            </a:r>
          </a:p>
        </p:txBody>
      </p:sp>
      <p:sp>
        <p:nvSpPr>
          <p:cNvPr id="37" name="Shape 35">
            <a:extLst xmlns:a="http://schemas.openxmlformats.org/drawingml/2006/main">
              <a:ext uri="{FF2B5EF4-FFF2-40B4-BE49-F238E27FC236}">
                <a16:creationId xmlns:a16="http://schemas.microsoft.com/office/drawing/2014/main" id="{0D3DC74A-2A84-4B6B-85CA-A64395343BF2}"/>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8" name="Text 36">
            <a:extLst xmlns:a="http://schemas.openxmlformats.org/drawingml/2006/main">
              <a:ext uri="{FF2B5EF4-FFF2-40B4-BE49-F238E27FC236}">
                <a16:creationId xmlns:a16="http://schemas.microsoft.com/office/drawing/2014/main" id="{5D952E04-214C-410A-B537-71E9719FA5FA}"/>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H5</a:t>
            </a:r>
          </a:p>
        </p:txBody>
      </p:sp>
      <p:sp>
        <p:nvSpPr>
          <p:cNvPr id="39" name="Text 37">
            <a:extLst xmlns:a="http://schemas.openxmlformats.org/drawingml/2006/main">
              <a:ext uri="{FF2B5EF4-FFF2-40B4-BE49-F238E27FC236}">
                <a16:creationId xmlns:a16="http://schemas.microsoft.com/office/drawing/2014/main" id="{3D0577AA-30DF-4DE0-AFC5-A163577CCE6B}"/>
              </a:ext>
            </a:extLst>
          </p:cNvPr>
          <p:cNvSpPr>
            <a:spLocks xmlns:a="http://schemas.openxmlformats.org/drawingml/2006/main" noGrp="1"/>
          </p:cNvSpPr>
          <p:nvPr/>
        </p:nvSpPr>
        <p:spPr>
          <a:xfrm xmlns:a="http://schemas.openxmlformats.org/drawingml/2006/main">
            <a:off x="480761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a condition that must refuse reproduces the baseline model-call count and quality</a:t>
            </a:r>
          </a:p>
        </p:txBody>
      </p:sp>
      <p:sp>
        <p:nvSpPr>
          <p:cNvPr id="40" name="Shape 38">
            <a:extLst xmlns:a="http://schemas.openxmlformats.org/drawingml/2006/main">
              <a:ext uri="{FF2B5EF4-FFF2-40B4-BE49-F238E27FC236}">
                <a16:creationId xmlns:a16="http://schemas.microsoft.com/office/drawing/2014/main" id="{9533C424-DA28-4DD4-9107-D5A6B2ED64E5}"/>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D7710CC6-7F2B-4F2F-8192-A6DE264F5699}"/>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H6</a:t>
            </a:r>
          </a:p>
        </p:txBody>
      </p:sp>
      <p:sp>
        <p:nvSpPr>
          <p:cNvPr id="42" name="Text 40">
            <a:extLst xmlns:a="http://schemas.openxmlformats.org/drawingml/2006/main">
              <a:ext uri="{FF2B5EF4-FFF2-40B4-BE49-F238E27FC236}">
                <a16:creationId xmlns:a16="http://schemas.microsoft.com/office/drawing/2014/main" id="{9C62E1EF-829D-4457-AFD7-BF99932F4A70}"/>
              </a:ext>
            </a:extLst>
          </p:cNvPr>
          <p:cNvSpPr>
            <a:spLocks xmlns:a="http://schemas.openxmlformats.org/drawingml/2006/main" noGrp="1"/>
          </p:cNvSpPr>
          <p:nvPr/>
        </p:nvSpPr>
        <p:spPr>
          <a:xfrm xmlns:a="http://schemas.openxmlformats.org/drawingml/2006/main">
            <a:off x="8517941"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frozen selector's chosen action passes all fresh task contracts and reduces the weighted objective</a:t>
            </a:r>
          </a:p>
        </p:txBody>
      </p:sp>
      <p:sp>
        <p:nvSpPr>
          <p:cNvPr id="43" name="Text 41">
            <a:extLst xmlns:a="http://schemas.openxmlformats.org/drawingml/2006/main">
              <a:ext uri="{FF2B5EF4-FFF2-40B4-BE49-F238E27FC236}">
                <a16:creationId xmlns:a16="http://schemas.microsoft.com/office/drawing/2014/main" id="{E6E24064-6349-4B2F-A5CA-06803132EC4A}"/>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H5 is deliberately not stated in dollars: refusing conditions cost more than baseline for prompt-cache reasons unrelated to whether the refusal was correct. H3 is an observed-sample hypothesis, not a population equivalence claim.</a:t>
            </a:r>
          </a:p>
        </p:txBody>
      </p:sp>
    </p:spTree>
    <p:extLst>
      <p:ext uri="{BB962C8B-B14F-4D97-AF65-F5344CB8AC3E}">
        <p14:creationId xmlns:p14="http://schemas.microsoft.com/office/powerpoint/2010/main" val="14346833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EBA2E1-BB91-4003-820B-0C34DAE3D39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FF269B8-61D4-444E-8770-8FB2116A41D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DD9647F6-8A4D-402C-AFE3-CC33425769B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RQ1 AND RQ3  ·  §5.1</a:t>
            </a:r>
          </a:p>
        </p:txBody>
      </p:sp>
      <p:sp>
        <p:nvSpPr>
          <p:cNvPr id="5" name="Text 3">
            <a:extLst xmlns:a="http://schemas.openxmlformats.org/drawingml/2006/main">
              <a:ext uri="{FF2B5EF4-FFF2-40B4-BE49-F238E27FC236}">
                <a16:creationId xmlns:a16="http://schemas.microsoft.com/office/drawing/2014/main" id="{C7D2A2CA-671C-41FF-8FA3-E84D38574C8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Provenance succeeds more often than certification</a:t>
            </a:r>
          </a:p>
        </p:txBody>
      </p:sp>
      <p:sp>
        <p:nvSpPr>
          <p:cNvPr id="6" name="Text 4">
            <a:extLst xmlns:a="http://schemas.openxmlformats.org/drawingml/2006/main">
              <a:ext uri="{FF2B5EF4-FFF2-40B4-BE49-F238E27FC236}">
                <a16:creationId xmlns:a16="http://schemas.microsoft.com/office/drawing/2014/main" id="{E16C6543-5E90-4472-A172-57076FAA754D}"/>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Recurrence is fragmented: 714 candidate families exist, only 32 have support of at least five, and maximum support is 26.</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Of 32 attempted families, 12 synthesize. Their 36 held-out windows yield 24 passes, 12 abstentions, and zero wrong executions. Dominant synthesis failures are unsupported loop predicates and slots that fail grouped refitting.</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Zero wrong does not certify the programs. The exact gate requires 92 zero-violation groups, so every family retires — H4 supported.</a:t>
            </a:r>
          </a:p>
        </p:txBody>
      </p:sp>
      <p:sp>
        <p:nvSpPr>
          <p:cNvPr id="7" name="Shape 5">
            <a:extLst xmlns:a="http://schemas.openxmlformats.org/drawingml/2006/main">
              <a:ext uri="{FF2B5EF4-FFF2-40B4-BE49-F238E27FC236}">
                <a16:creationId xmlns:a16="http://schemas.microsoft.com/office/drawing/2014/main" id="{FE000C01-BE96-4CCB-B91F-E8EB421E580A}"/>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9960028B-5273-4EE3-9745-879B8EB9FB03}"/>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A scientifically useful negative result. </a:t>
            </a:r>
            <a:r>
              <a:rPr sz="1100">
                <a:solidFill>
                  <a:srgbClr val="5C4034"/>
                </a:solidFill>
                <a:latin typeface="Calibri"/>
                <a:ea typeface="Calibri"/>
                <a:cs typeface="Calibri"/>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5236a7dd85af42e1"/>
          </a:graphicData>
        </a:graphic>
      </p:graphicFrame>
      <p:sp>
        <p:nvSpPr>
          <p:cNvPr id="10" name="Text 7">
            <a:extLst xmlns:a="http://schemas.openxmlformats.org/drawingml/2006/main">
              <a:ext uri="{FF2B5EF4-FFF2-40B4-BE49-F238E27FC236}">
                <a16:creationId xmlns:a16="http://schemas.microsoft.com/office/drawing/2014/main" id="{B32FD0FE-2125-4ED0-9B7E-ED068DA6B4D2}"/>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TABLE 1 — EXTERNAL NESTFUL COMPILER RESULTS</a:t>
            </a:r>
          </a:p>
        </p:txBody>
      </p:sp>
      <p:sp>
        <p:nvSpPr>
          <p:cNvPr id="11" name="Shape 8">
            <a:extLst xmlns:a="http://schemas.openxmlformats.org/drawingml/2006/main">
              <a:ext uri="{FF2B5EF4-FFF2-40B4-BE49-F238E27FC236}">
                <a16:creationId xmlns:a16="http://schemas.microsoft.com/office/drawing/2014/main" id="{F9403A64-0ADC-4E4E-8704-8B74DF0520AB}"/>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C727518-CBCB-4DC4-B3EF-F01FD432A538}"/>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1,415</a:t>
            </a:r>
          </a:p>
        </p:txBody>
      </p:sp>
      <p:sp>
        <p:nvSpPr>
          <p:cNvPr id="13" name="Text 10">
            <a:extLst xmlns:a="http://schemas.openxmlformats.org/drawingml/2006/main">
              <a:ext uri="{FF2B5EF4-FFF2-40B4-BE49-F238E27FC236}">
                <a16:creationId xmlns:a16="http://schemas.microsoft.com/office/drawing/2014/main" id="{01DCBF64-683E-4537-9298-8BE86026B58F}"/>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executable basic-function episodes</a:t>
            </a:r>
          </a:p>
        </p:txBody>
      </p:sp>
      <p:sp>
        <p:nvSpPr>
          <p:cNvPr id="14" name="Shape 11">
            <a:extLst xmlns:a="http://schemas.openxmlformats.org/drawingml/2006/main">
              <a:ext uri="{FF2B5EF4-FFF2-40B4-BE49-F238E27FC236}">
                <a16:creationId xmlns:a16="http://schemas.microsoft.com/office/drawing/2014/main" id="{AB9AC33C-CF17-448C-9CB7-D3A1B7B973D0}"/>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6342C8B2-A934-4C5B-A7D6-AEDB0EFC3011}"/>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96.3% / 80.7%</a:t>
            </a:r>
          </a:p>
        </p:txBody>
      </p:sp>
      <p:sp>
        <p:nvSpPr>
          <p:cNvPr id="16" name="Text 13">
            <a:extLst xmlns:a="http://schemas.openxmlformats.org/drawingml/2006/main">
              <a:ext uri="{FF2B5EF4-FFF2-40B4-BE49-F238E27FC236}">
                <a16:creationId xmlns:a16="http://schemas.microsoft.com/office/drawing/2014/main" id="{03E2E680-43BB-4634-9245-78C2D0325DC6}"/>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recall / unique resolution</a:t>
            </a:r>
          </a:p>
        </p:txBody>
      </p:sp>
      <p:sp>
        <p:nvSpPr>
          <p:cNvPr id="17" name="Shape 14">
            <a:extLst xmlns:a="http://schemas.openxmlformats.org/drawingml/2006/main">
              <a:ext uri="{FF2B5EF4-FFF2-40B4-BE49-F238E27FC236}">
                <a16:creationId xmlns:a16="http://schemas.microsoft.com/office/drawing/2014/main" id="{F9E0605E-8B4A-4CC8-9BC1-523BB8C5EA3E}"/>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AB0568A1-373A-414C-9970-2BD5A0ED4AF8}"/>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1,207</a:t>
            </a:r>
          </a:p>
        </p:txBody>
      </p:sp>
      <p:sp>
        <p:nvSpPr>
          <p:cNvPr id="19" name="Text 16">
            <a:extLst xmlns:a="http://schemas.openxmlformats.org/drawingml/2006/main">
              <a:ext uri="{FF2B5EF4-FFF2-40B4-BE49-F238E27FC236}">
                <a16:creationId xmlns:a16="http://schemas.microsoft.com/office/drawing/2014/main" id="{EE7B6940-7622-41CF-B029-52E8CCBC446B}"/>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complete groundable windows</a:t>
            </a:r>
          </a:p>
        </p:txBody>
      </p:sp>
      <p:sp>
        <p:nvSpPr>
          <p:cNvPr id="20" name="Shape 17">
            <a:extLst xmlns:a="http://schemas.openxmlformats.org/drawingml/2006/main">
              <a:ext uri="{FF2B5EF4-FFF2-40B4-BE49-F238E27FC236}">
                <a16:creationId xmlns:a16="http://schemas.microsoft.com/office/drawing/2014/main" id="{8014AB30-670C-4EEB-A042-CCFEDCC252EF}"/>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F30DA9F6-2B2A-48B0-B3A6-9435E7E9C9CC}"/>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 / 32</a:t>
            </a:r>
          </a:p>
        </p:txBody>
      </p:sp>
      <p:sp>
        <p:nvSpPr>
          <p:cNvPr id="22" name="Text 19">
            <a:extLst xmlns:a="http://schemas.openxmlformats.org/drawingml/2006/main">
              <a:ext uri="{FF2B5EF4-FFF2-40B4-BE49-F238E27FC236}">
                <a16:creationId xmlns:a16="http://schemas.microsoft.com/office/drawing/2014/main" id="{F8E5481A-0AD6-4BE9-AFCF-89FC87B20122}"/>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families synthesized</a:t>
            </a:r>
          </a:p>
        </p:txBody>
      </p:sp>
      <p:sp>
        <p:nvSpPr>
          <p:cNvPr id="23" name="Shape 20">
            <a:extLst xmlns:a="http://schemas.openxmlformats.org/drawingml/2006/main">
              <a:ext uri="{FF2B5EF4-FFF2-40B4-BE49-F238E27FC236}">
                <a16:creationId xmlns:a16="http://schemas.microsoft.com/office/drawing/2014/main" id="{CFBC7A1C-6826-42E4-BE45-BF41C9426DB1}"/>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955CA460-C668-487A-AFCD-4A4CEA42FC80}"/>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24 / 12 / 0</a:t>
            </a:r>
          </a:p>
        </p:txBody>
      </p:sp>
      <p:sp>
        <p:nvSpPr>
          <p:cNvPr id="25" name="Text 22">
            <a:extLst xmlns:a="http://schemas.openxmlformats.org/drawingml/2006/main">
              <a:ext uri="{FF2B5EF4-FFF2-40B4-BE49-F238E27FC236}">
                <a16:creationId xmlns:a16="http://schemas.microsoft.com/office/drawing/2014/main" id="{69D17C19-FFE7-4538-99EC-0112E32C9077}"/>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57CED6A0-206F-4EBA-822C-10CDE14AC62B}"/>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2DD0B960-FB70-4C8C-B48F-1F154568A544}"/>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9B10F922-93B2-477E-A8CC-5536A1392F8C}"/>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certifiable families</a:t>
            </a:r>
          </a:p>
        </p:txBody>
      </p:sp>
      <p:sp>
        <p:nvSpPr>
          <p:cNvPr id="29" name="Shape 26">
            <a:extLst xmlns:a="http://schemas.openxmlformats.org/drawingml/2006/main">
              <a:ext uri="{FF2B5EF4-FFF2-40B4-BE49-F238E27FC236}">
                <a16:creationId xmlns:a16="http://schemas.microsoft.com/office/drawing/2014/main" id="{3EC1CA03-3575-46A3-A2D1-F8F00F444742}"/>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2F834B61-AD4E-4BFB-A2BD-A047519E6B8E}"/>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23.3 MiB / 5.98 s</a:t>
            </a:r>
          </a:p>
        </p:txBody>
      </p:sp>
      <p:sp>
        <p:nvSpPr>
          <p:cNvPr id="31" name="Text 28">
            <a:extLst xmlns:a="http://schemas.openxmlformats.org/drawingml/2006/main">
              <a:ext uri="{FF2B5EF4-FFF2-40B4-BE49-F238E27FC236}">
                <a16:creationId xmlns:a16="http://schemas.microsoft.com/office/drawing/2014/main" id="{CD27D36D-02B2-4EBB-8F4B-8D9CF4B3E398}"/>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peak memory / elapsed</a:t>
            </a:r>
          </a:p>
        </p:txBody>
      </p:sp>
    </p:spTree>
    <p:extLst>
      <p:ext uri="{BB962C8B-B14F-4D97-AF65-F5344CB8AC3E}">
        <p14:creationId xmlns:p14="http://schemas.microsoft.com/office/powerpoint/2010/main" val="7689373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EBA2E1-BB91-4003-820B-0C34DAE3D39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FF269B8-61D4-444E-8770-8FB2116A41D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DD9647F6-8A4D-402C-AFE3-CC33425769B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RQ6  ·  3 REAL WORKFLOW FAMILIES</a:t>
            </a:r>
          </a:p>
        </p:txBody>
      </p:sp>
      <p:sp>
        <p:nvSpPr>
          <p:cNvPr id="5" name="Text 3">
            <a:extLst xmlns:a="http://schemas.openxmlformats.org/drawingml/2006/main">
              <a:ext uri="{FF2B5EF4-FFF2-40B4-BE49-F238E27FC236}">
                <a16:creationId xmlns:a16="http://schemas.microsoft.com/office/drawing/2014/main" id="{C7D2A2CA-671C-41FF-8FA3-E84D38574C8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manual programs remain the runtime baseline</a:t>
            </a:r>
          </a:p>
        </p:txBody>
      </p:sp>
      <p:sp>
        <p:nvSpPr>
          <p:cNvPr id="6" name="Text 4">
            <a:extLst xmlns:a="http://schemas.openxmlformats.org/drawingml/2006/main">
              <a:ext uri="{FF2B5EF4-FFF2-40B4-BE49-F238E27FC236}">
                <a16:creationId xmlns:a16="http://schemas.microsoft.com/office/drawing/2014/main" id="{E16C6543-5E90-4472-A172-57076FAA754D}"/>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Three distinct decisions and tool vocabularies use 132 balanced discovery records and 30 disjoint held-out records each; all 90 held-out records are pairwise disjoint.</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Compiled programs preserve 90/90 exact outcomes versus 89/90 baseline (exact McNemar p=1) while cutting requests 66.6%, tokens 63.1%, observed latency 64.2%, and estimated cost 58.7% in aggregate.</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All three artifacts are admitted at the registered α=.05; with no compiled-only failure the pooled discordance bound is 3.3%.</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Hand-written programs also reach 90/90; automatic discovery and lifecycle—not runtime dominance—are the contribution.</a:t>
            </a:r>
          </a:p>
        </p:txBody>
      </p:sp>
      <p:sp>
        <p:nvSpPr>
          <p:cNvPr id="7" name="Shape 5">
            <a:extLst xmlns:a="http://schemas.openxmlformats.org/drawingml/2006/main">
              <a:ext uri="{FF2B5EF4-FFF2-40B4-BE49-F238E27FC236}">
                <a16:creationId xmlns:a16="http://schemas.microsoft.com/office/drawing/2014/main" id="{FE000C01-BE96-4CCB-B91F-E8EB421E580A}"/>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9960028B-5273-4EE3-9745-879B8EB9FB03}"/>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7df5fac1fec848d9"/>
          </a:graphicData>
        </a:graphic>
      </p:graphicFrame>
      <p:sp>
        <p:nvSpPr>
          <p:cNvPr id="10" name="Text 7">
            <a:extLst xmlns:a="http://schemas.openxmlformats.org/drawingml/2006/main">
              <a:ext uri="{FF2B5EF4-FFF2-40B4-BE49-F238E27FC236}">
                <a16:creationId xmlns:a16="http://schemas.microsoft.com/office/drawing/2014/main" id="{B32FD0FE-2125-4ED0-9B7E-ED068DA6B4D2}"/>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90 HELD-OUT PUBLIC RECORDS — LIVE PROVIDER — NO SIMULATION</a:t>
            </a:r>
          </a:p>
        </p:txBody>
      </p:sp>
      <p:sp>
        <p:nvSpPr>
          <p:cNvPr id="11" name="Shape 8">
            <a:extLst xmlns:a="http://schemas.openxmlformats.org/drawingml/2006/main">
              <a:ext uri="{FF2B5EF4-FFF2-40B4-BE49-F238E27FC236}">
                <a16:creationId xmlns:a16="http://schemas.microsoft.com/office/drawing/2014/main" id="{F9403A64-0ADC-4E4E-8704-8B74DF0520AB}"/>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C727518-CBCB-4DC4-B3EF-F01FD432A538}"/>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3</a:t>
            </a:r>
          </a:p>
        </p:txBody>
      </p:sp>
      <p:sp>
        <p:nvSpPr>
          <p:cNvPr id="13" name="Text 10">
            <a:extLst xmlns:a="http://schemas.openxmlformats.org/drawingml/2006/main">
              <a:ext uri="{FF2B5EF4-FFF2-40B4-BE49-F238E27FC236}">
                <a16:creationId xmlns:a16="http://schemas.microsoft.com/office/drawing/2014/main" id="{01DCBF64-683E-4537-9298-8BE86026B58F}"/>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workflow families</a:t>
            </a:r>
          </a:p>
        </p:txBody>
      </p:sp>
      <p:sp>
        <p:nvSpPr>
          <p:cNvPr id="14" name="Shape 11">
            <a:extLst xmlns:a="http://schemas.openxmlformats.org/drawingml/2006/main">
              <a:ext uri="{FF2B5EF4-FFF2-40B4-BE49-F238E27FC236}">
                <a16:creationId xmlns:a16="http://schemas.microsoft.com/office/drawing/2014/main" id="{AB9AC33C-CF17-448C-9CB7-D3A1B7B973D0}"/>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6342C8B2-A934-4C5B-A7D6-AEDB0EFC3011}"/>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90 / 90</a:t>
            </a:r>
          </a:p>
        </p:txBody>
      </p:sp>
      <p:sp>
        <p:nvSpPr>
          <p:cNvPr id="16" name="Text 13">
            <a:extLst xmlns:a="http://schemas.openxmlformats.org/drawingml/2006/main">
              <a:ext uri="{FF2B5EF4-FFF2-40B4-BE49-F238E27FC236}">
                <a16:creationId xmlns:a16="http://schemas.microsoft.com/office/drawing/2014/main" id="{03E2E680-43BB-4634-9245-78C2D0325DC6}"/>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compiled / manual exact</a:t>
            </a:r>
          </a:p>
        </p:txBody>
      </p:sp>
      <p:sp>
        <p:nvSpPr>
          <p:cNvPr id="17" name="Shape 14">
            <a:extLst xmlns:a="http://schemas.openxmlformats.org/drawingml/2006/main">
              <a:ext uri="{FF2B5EF4-FFF2-40B4-BE49-F238E27FC236}">
                <a16:creationId xmlns:a16="http://schemas.microsoft.com/office/drawing/2014/main" id="{F9E0605E-8B4A-4CC8-9BC1-523BB8C5EA3E}"/>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AB0568A1-373A-414C-9970-2BD5A0ED4AF8}"/>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89 / 90</a:t>
            </a:r>
          </a:p>
        </p:txBody>
      </p:sp>
      <p:sp>
        <p:nvSpPr>
          <p:cNvPr id="19" name="Text 16">
            <a:extLst xmlns:a="http://schemas.openxmlformats.org/drawingml/2006/main">
              <a:ext uri="{FF2B5EF4-FFF2-40B4-BE49-F238E27FC236}">
                <a16:creationId xmlns:a16="http://schemas.microsoft.com/office/drawing/2014/main" id="{EE7B6940-7622-41CF-B029-52E8CCBC446B}"/>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baseline exact</a:t>
            </a:r>
          </a:p>
        </p:txBody>
      </p:sp>
      <p:sp>
        <p:nvSpPr>
          <p:cNvPr id="20" name="Shape 17">
            <a:extLst xmlns:a="http://schemas.openxmlformats.org/drawingml/2006/main">
              <a:ext uri="{FF2B5EF4-FFF2-40B4-BE49-F238E27FC236}">
                <a16:creationId xmlns:a16="http://schemas.microsoft.com/office/drawing/2014/main" id="{8014AB30-670C-4EEB-A042-CCFEDCC252EF}"/>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F30DA9F6-2B2A-48B0-B3A6-9435E7E9C9CC}"/>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−66.6%</a:t>
            </a:r>
          </a:p>
        </p:txBody>
      </p:sp>
      <p:sp>
        <p:nvSpPr>
          <p:cNvPr id="22" name="Text 19">
            <a:extLst xmlns:a="http://schemas.openxmlformats.org/drawingml/2006/main">
              <a:ext uri="{FF2B5EF4-FFF2-40B4-BE49-F238E27FC236}">
                <a16:creationId xmlns:a16="http://schemas.microsoft.com/office/drawing/2014/main" id="{F8E5481A-0AD6-4BE9-AFCF-89FC87B20122}"/>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23" name="Shape 20">
            <a:extLst xmlns:a="http://schemas.openxmlformats.org/drawingml/2006/main">
              <a:ext uri="{FF2B5EF4-FFF2-40B4-BE49-F238E27FC236}">
                <a16:creationId xmlns:a16="http://schemas.microsoft.com/office/drawing/2014/main" id="{CFBC7A1C-6826-42E4-BE45-BF41C9426DB1}"/>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955CA460-C668-487A-AFCD-4A4CEA42FC80}"/>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−63.1%</a:t>
            </a:r>
          </a:p>
        </p:txBody>
      </p:sp>
      <p:sp>
        <p:nvSpPr>
          <p:cNvPr id="25" name="Text 22">
            <a:extLst xmlns:a="http://schemas.openxmlformats.org/drawingml/2006/main">
              <a:ext uri="{FF2B5EF4-FFF2-40B4-BE49-F238E27FC236}">
                <a16:creationId xmlns:a16="http://schemas.microsoft.com/office/drawing/2014/main" id="{69D17C19-FFE7-4538-99EC-0112E32C9077}"/>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26" name="Shape 23">
            <a:extLst xmlns:a="http://schemas.openxmlformats.org/drawingml/2006/main">
              <a:ext uri="{FF2B5EF4-FFF2-40B4-BE49-F238E27FC236}">
                <a16:creationId xmlns:a16="http://schemas.microsoft.com/office/drawing/2014/main" id="{57CED6A0-206F-4EBA-822C-10CDE14AC62B}"/>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2DD0B960-FB70-4C8C-B48F-1F154568A544}"/>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−64.2%</a:t>
            </a:r>
          </a:p>
        </p:txBody>
      </p:sp>
      <p:sp>
        <p:nvSpPr>
          <p:cNvPr id="28" name="Text 25">
            <a:extLst xmlns:a="http://schemas.openxmlformats.org/drawingml/2006/main">
              <a:ext uri="{FF2B5EF4-FFF2-40B4-BE49-F238E27FC236}">
                <a16:creationId xmlns:a16="http://schemas.microsoft.com/office/drawing/2014/main" id="{9B10F922-93B2-477E-A8CC-5536A1392F8C}"/>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latency</a:t>
            </a:r>
          </a:p>
        </p:txBody>
      </p:sp>
      <p:sp>
        <p:nvSpPr>
          <p:cNvPr id="29" name="Shape 26">
            <a:extLst xmlns:a="http://schemas.openxmlformats.org/drawingml/2006/main">
              <a:ext uri="{FF2B5EF4-FFF2-40B4-BE49-F238E27FC236}">
                <a16:creationId xmlns:a16="http://schemas.microsoft.com/office/drawing/2014/main" id="{3EC1CA03-3575-46A3-A2D1-F8F00F444742}"/>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2F834B61-AD4E-4BFB-A2BD-A047519E6B8E}"/>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−58.7%</a:t>
            </a:r>
          </a:p>
        </p:txBody>
      </p:sp>
      <p:sp>
        <p:nvSpPr>
          <p:cNvPr id="31" name="Text 28">
            <a:extLst xmlns:a="http://schemas.openxmlformats.org/drawingml/2006/main">
              <a:ext uri="{FF2B5EF4-FFF2-40B4-BE49-F238E27FC236}">
                <a16:creationId xmlns:a16="http://schemas.microsoft.com/office/drawing/2014/main" id="{CD27D36D-02B2-4EBB-8F4B-8D9CF4B3E398}"/>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Tree>
    <p:extLst>
      <p:ext uri="{BB962C8B-B14F-4D97-AF65-F5344CB8AC3E}">
        <p14:creationId xmlns:p14="http://schemas.microsoft.com/office/powerpoint/2010/main" val="7689373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901B87-420C-4828-A809-C31A8629C70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900CB05-628E-45CF-A0DC-4C1142679E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B7C5222A-79C3-498E-A1C8-8D7D82BA0EF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RQ2  ·  §5.2.1  ·  TABLE 2</a:t>
            </a:r>
          </a:p>
        </p:txBody>
      </p:sp>
      <p:sp>
        <p:nvSpPr>
          <p:cNvPr id="5" name="Text 3">
            <a:extLst xmlns:a="http://schemas.openxmlformats.org/drawingml/2006/main">
              <a:ext uri="{FF2B5EF4-FFF2-40B4-BE49-F238E27FC236}">
                <a16:creationId xmlns:a16="http://schemas.microsoft.com/office/drawing/2014/main" id="{2605E775-56C0-456B-B0E1-8190350C76A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Expanded natural-order replication: 30 fresh real records</a:t>
            </a:r>
          </a:p>
        </p:txBody>
      </p:sp>
      <p:graphicFrame>
        <p:nvGraphicFramePr>
          <p:cNvPr id="6" name="Chart 0"/>
          <p:cNvGraphicFramePr/>
          <p:nvPr/>
        </p:nvGraphicFramePr>
        <p:xfrm>
          <a:off xmlns:a="http://schemas.openxmlformats.org/drawingml/2006/main" x="640080" y="1152144"/>
          <a:ext xmlns:a="http://schemas.openxmlformats.org/drawingml/2006/main" cx="7223760" cy="3602736"/>
        </p:xfrm>
        <a:graphic xmlns:a="http://schemas.openxmlformats.org/drawingml/2006/main">
          <a:graphicData uri="http://schemas.openxmlformats.org/drawingml/2006/chart">
            <c:chart xmlns:r="http://schemas.openxmlformats.org/officeDocument/2006/relationships" xmlns:c="http://schemas.openxmlformats.org/drawingml/2006/chart" r:id="R7a76a4dcbe73440f"/>
          </a:graphicData>
        </a:graphic>
      </p:graphicFrame>
      <p:sp>
        <p:nvSpPr>
          <p:cNvPr id="7" name="Shape 4">
            <a:extLst xmlns:a="http://schemas.openxmlformats.org/drawingml/2006/main">
              <a:ext uri="{FF2B5EF4-FFF2-40B4-BE49-F238E27FC236}">
                <a16:creationId xmlns:a16="http://schemas.microsoft.com/office/drawing/2014/main" id="{91EEFD00-2EAF-4316-85C2-AB12D3230E2A}"/>
              </a:ext>
            </a:extLst>
          </p:cNvPr>
          <p:cNvSpPr>
            <a:spLocks xmlns:a="http://schemas.openxmlformats.org/drawingml/2006/main" noGrp="1"/>
          </p:cNvSpPr>
          <p:nvPr/>
        </p:nvSpPr>
        <p:spPr>
          <a:xfrm xmlns:a="http://schemas.openxmlformats.org/drawingml/2006/main">
            <a:off x="8092440" y="1152144"/>
            <a:ext cx="3459175" cy="3602736"/>
          </a:xfrm>
          <a:prstGeom xmlns:a="http://schemas.openxmlformats.org/drawingml/2006/main" prst="roundRect">
            <a:avLst>
              <a:gd name="adj" fmla="val 132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97860B53-13E1-487D-BD98-3C88FEB4AD73}"/>
              </a:ext>
            </a:extLst>
          </p:cNvPr>
          <p:cNvSpPr>
            <a:spLocks xmlns:a="http://schemas.openxmlformats.org/drawingml/2006/main" noGrp="1"/>
          </p:cNvSpPr>
          <p:nvPr/>
        </p:nvSpPr>
        <p:spPr>
          <a:xfrm xmlns:a="http://schemas.openxmlformats.org/drawingml/2006/main">
            <a:off x="8330184" y="1298448"/>
            <a:ext cx="298368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WHAT THE COMPILER DID, AND DECLINED</a:t>
            </a:r>
          </a:p>
        </p:txBody>
      </p:sp>
      <p:sp>
        <p:nvSpPr>
          <p:cNvPr id="9" name="Text 6">
            <a:extLst xmlns:a="http://schemas.openxmlformats.org/drawingml/2006/main">
              <a:ext uri="{FF2B5EF4-FFF2-40B4-BE49-F238E27FC236}">
                <a16:creationId xmlns:a16="http://schemas.microsoft.com/office/drawing/2014/main" id="{B4433739-7996-4C7A-94B1-A423D2BE6840}"/>
              </a:ext>
            </a:extLst>
          </p:cNvPr>
          <p:cNvSpPr>
            <a:spLocks xmlns:a="http://schemas.openxmlformats.org/drawingml/2006/main" noGrp="1"/>
          </p:cNvSpPr>
          <p:nvPr/>
        </p:nvSpPr>
        <p:spPr>
          <a:xfrm xmlns:a="http://schemas.openxmlformats.org/drawingml/2006/main">
            <a:off x="8348472" y="1627632"/>
            <a:ext cx="2947111"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All 132 discovery traces read record → labels → comments under a prompt naming neither tools nor order; 130 pass the exact-source task</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full three-read candidate is rejected with ungroundable_slot; the compiler emits the groundable two-read prefix and the ordinary agent performs the comments read and final rendering</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16 training, 8 development, 92 calibration records from the 130 eligible traces; 14 unused</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gate admits 92/92 calibration groups with zero registered violations at α = .05, δ = .10, |Λ| = 11 — simultaneous upper bound 0.0498</a:t>
            </a:r>
          </a:p>
        </p:txBody>
      </p:sp>
      <p:sp>
        <p:nvSpPr>
          <p:cNvPr id="10" name="Shape 7">
            <a:extLst xmlns:a="http://schemas.openxmlformats.org/drawingml/2006/main">
              <a:ext uri="{FF2B5EF4-FFF2-40B4-BE49-F238E27FC236}">
                <a16:creationId xmlns:a16="http://schemas.microsoft.com/office/drawing/2014/main" id="{410F6585-17F3-40AE-B903-FC7698C43477}"/>
              </a:ext>
            </a:extLst>
          </p:cNvPr>
          <p:cNvSpPr>
            <a:spLocks xmlns:a="http://schemas.openxmlformats.org/drawingml/2006/main" noGrp="1"/>
          </p:cNvSpPr>
          <p:nvPr/>
        </p:nvSpPr>
        <p:spPr>
          <a:xfrm xmlns:a="http://schemas.openxmlformats.org/drawingml/2006/main">
            <a:off x="640080"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FC8910C6-658E-42E7-A16E-0A6784D62AC6}"/>
              </a:ext>
            </a:extLst>
          </p:cNvPr>
          <p:cNvSpPr>
            <a:spLocks xmlns:a="http://schemas.openxmlformats.org/drawingml/2006/main" noGrp="1"/>
          </p:cNvSpPr>
          <p:nvPr/>
        </p:nvSpPr>
        <p:spPr>
          <a:xfrm xmlns:a="http://schemas.openxmlformats.org/drawingml/2006/main">
            <a:off x="768096"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D286E7AA-4CB0-4027-9A18-97B3D13A354D}"/>
              </a:ext>
            </a:extLst>
          </p:cNvPr>
          <p:cNvSpPr>
            <a:spLocks xmlns:a="http://schemas.openxmlformats.org/drawingml/2006/main" noGrp="1"/>
          </p:cNvSpPr>
          <p:nvPr/>
        </p:nvSpPr>
        <p:spPr>
          <a:xfrm xmlns:a="http://schemas.openxmlformats.org/drawingml/2006/main">
            <a:off x="768096"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A323C09-ED53-49B9-B170-68B6498CA898}"/>
              </a:ext>
            </a:extLst>
          </p:cNvPr>
          <p:cNvSpPr>
            <a:spLocks xmlns:a="http://schemas.openxmlformats.org/drawingml/2006/main" noGrp="1"/>
          </p:cNvSpPr>
          <p:nvPr/>
        </p:nvSpPr>
        <p:spPr>
          <a:xfrm xmlns:a="http://schemas.openxmlformats.org/drawingml/2006/main">
            <a:off x="2489149"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DDDE3B08-C2BD-46ED-B6B8-3A53DCD645AC}"/>
              </a:ext>
            </a:extLst>
          </p:cNvPr>
          <p:cNvSpPr>
            <a:spLocks xmlns:a="http://schemas.openxmlformats.org/drawingml/2006/main" noGrp="1"/>
          </p:cNvSpPr>
          <p:nvPr/>
        </p:nvSpPr>
        <p:spPr>
          <a:xfrm xmlns:a="http://schemas.openxmlformats.org/drawingml/2006/main">
            <a:off x="2617165"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CABF4F47-440C-4BBF-A3BD-49B617D1FBCA}"/>
              </a:ext>
            </a:extLst>
          </p:cNvPr>
          <p:cNvSpPr>
            <a:spLocks xmlns:a="http://schemas.openxmlformats.org/drawingml/2006/main" noGrp="1"/>
          </p:cNvSpPr>
          <p:nvPr/>
        </p:nvSpPr>
        <p:spPr>
          <a:xfrm xmlns:a="http://schemas.openxmlformats.org/drawingml/2006/main">
            <a:off x="2617165"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6A3EA504-16D1-4E73-89CF-51A95EFEC371}"/>
              </a:ext>
            </a:extLst>
          </p:cNvPr>
          <p:cNvSpPr>
            <a:spLocks xmlns:a="http://schemas.openxmlformats.org/drawingml/2006/main" noGrp="1"/>
          </p:cNvSpPr>
          <p:nvPr/>
        </p:nvSpPr>
        <p:spPr>
          <a:xfrm xmlns:a="http://schemas.openxmlformats.org/drawingml/2006/main">
            <a:off x="433821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E82C28DB-26C6-4B88-8022-D13875BCEEF4}"/>
              </a:ext>
            </a:extLst>
          </p:cNvPr>
          <p:cNvSpPr>
            <a:spLocks xmlns:a="http://schemas.openxmlformats.org/drawingml/2006/main" noGrp="1"/>
          </p:cNvSpPr>
          <p:nvPr/>
        </p:nvSpPr>
        <p:spPr>
          <a:xfrm xmlns:a="http://schemas.openxmlformats.org/drawingml/2006/main">
            <a:off x="446623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000A2180-A3D0-4D75-9140-D790441F0CD4}"/>
              </a:ext>
            </a:extLst>
          </p:cNvPr>
          <p:cNvSpPr>
            <a:spLocks xmlns:a="http://schemas.openxmlformats.org/drawingml/2006/main" noGrp="1"/>
          </p:cNvSpPr>
          <p:nvPr/>
        </p:nvSpPr>
        <p:spPr>
          <a:xfrm xmlns:a="http://schemas.openxmlformats.org/drawingml/2006/main">
            <a:off x="446623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E6A26659-DE2E-4270-A226-3C25BB7C092F}"/>
              </a:ext>
            </a:extLst>
          </p:cNvPr>
          <p:cNvSpPr>
            <a:spLocks xmlns:a="http://schemas.openxmlformats.org/drawingml/2006/main" noGrp="1"/>
          </p:cNvSpPr>
          <p:nvPr/>
        </p:nvSpPr>
        <p:spPr>
          <a:xfrm xmlns:a="http://schemas.openxmlformats.org/drawingml/2006/main">
            <a:off x="618728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A2EDF812-069F-492B-91C7-1CCBA3C1A8C9}"/>
              </a:ext>
            </a:extLst>
          </p:cNvPr>
          <p:cNvSpPr>
            <a:spLocks xmlns:a="http://schemas.openxmlformats.org/drawingml/2006/main" noGrp="1"/>
          </p:cNvSpPr>
          <p:nvPr/>
        </p:nvSpPr>
        <p:spPr>
          <a:xfrm xmlns:a="http://schemas.openxmlformats.org/drawingml/2006/main">
            <a:off x="631530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C409B171-DF04-41B1-97EB-C3AAAE184E17}"/>
              </a:ext>
            </a:extLst>
          </p:cNvPr>
          <p:cNvSpPr>
            <a:spLocks xmlns:a="http://schemas.openxmlformats.org/drawingml/2006/main" noGrp="1"/>
          </p:cNvSpPr>
          <p:nvPr/>
        </p:nvSpPr>
        <p:spPr>
          <a:xfrm xmlns:a="http://schemas.openxmlformats.org/drawingml/2006/main">
            <a:off x="631530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64768BAF-66DD-4327-B3FD-72CF476370C1}"/>
              </a:ext>
            </a:extLst>
          </p:cNvPr>
          <p:cNvSpPr>
            <a:spLocks xmlns:a="http://schemas.openxmlformats.org/drawingml/2006/main" noGrp="1"/>
          </p:cNvSpPr>
          <p:nvPr/>
        </p:nvSpPr>
        <p:spPr>
          <a:xfrm xmlns:a="http://schemas.openxmlformats.org/drawingml/2006/main">
            <a:off x="8036357"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11B31463-7EAE-4233-A7CD-2354DE23B645}"/>
              </a:ext>
            </a:extLst>
          </p:cNvPr>
          <p:cNvSpPr>
            <a:spLocks xmlns:a="http://schemas.openxmlformats.org/drawingml/2006/main" noGrp="1"/>
          </p:cNvSpPr>
          <p:nvPr/>
        </p:nvSpPr>
        <p:spPr>
          <a:xfrm xmlns:a="http://schemas.openxmlformats.org/drawingml/2006/main">
            <a:off x="8164373"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1B2A1142-B1EB-4E1C-B298-11A66A535DED}"/>
              </a:ext>
            </a:extLst>
          </p:cNvPr>
          <p:cNvSpPr>
            <a:spLocks xmlns:a="http://schemas.openxmlformats.org/drawingml/2006/main" noGrp="1"/>
          </p:cNvSpPr>
          <p:nvPr/>
        </p:nvSpPr>
        <p:spPr>
          <a:xfrm xmlns:a="http://schemas.openxmlformats.org/drawingml/2006/main">
            <a:off x="8164373"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exact + full task contracts, every arm</a:t>
            </a:r>
          </a:p>
        </p:txBody>
      </p:sp>
      <p:sp>
        <p:nvSpPr>
          <p:cNvPr id="25" name="Shape 22">
            <a:extLst xmlns:a="http://schemas.openxmlformats.org/drawingml/2006/main">
              <a:ext uri="{FF2B5EF4-FFF2-40B4-BE49-F238E27FC236}">
                <a16:creationId xmlns:a16="http://schemas.microsoft.com/office/drawing/2014/main" id="{110A2506-18D8-4128-84F3-747CEBE28B87}"/>
              </a:ext>
            </a:extLst>
          </p:cNvPr>
          <p:cNvSpPr>
            <a:spLocks xmlns:a="http://schemas.openxmlformats.org/drawingml/2006/main" noGrp="1"/>
          </p:cNvSpPr>
          <p:nvPr/>
        </p:nvSpPr>
        <p:spPr>
          <a:xfrm xmlns:a="http://schemas.openxmlformats.org/drawingml/2006/main">
            <a:off x="9885426" y="5029200"/>
            <a:ext cx="1666189"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5A084AE7-FE0E-4275-9277-7E6C6DA997CD}"/>
              </a:ext>
            </a:extLst>
          </p:cNvPr>
          <p:cNvSpPr>
            <a:spLocks xmlns:a="http://schemas.openxmlformats.org/drawingml/2006/main" noGrp="1"/>
          </p:cNvSpPr>
          <p:nvPr/>
        </p:nvSpPr>
        <p:spPr>
          <a:xfrm xmlns:a="http://schemas.openxmlformats.org/drawingml/2006/main">
            <a:off x="10013442"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9.5%</a:t>
            </a:r>
          </a:p>
        </p:txBody>
      </p:sp>
      <p:sp>
        <p:nvSpPr>
          <p:cNvPr id="27" name="Text 24">
            <a:extLst xmlns:a="http://schemas.openxmlformats.org/drawingml/2006/main">
              <a:ext uri="{FF2B5EF4-FFF2-40B4-BE49-F238E27FC236}">
                <a16:creationId xmlns:a16="http://schemas.microsoft.com/office/drawing/2014/main" id="{A1FB5531-0070-408E-8EFE-F7C1A08CF08A}"/>
              </a:ext>
            </a:extLst>
          </p:cNvPr>
          <p:cNvSpPr>
            <a:spLocks xmlns:a="http://schemas.openxmlformats.org/drawingml/2006/main" noGrp="1"/>
          </p:cNvSpPr>
          <p:nvPr/>
        </p:nvSpPr>
        <p:spPr>
          <a:xfrm xmlns:a="http://schemas.openxmlformats.org/drawingml/2006/main">
            <a:off x="10013442"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one-sided bound on paired degradation</a:t>
            </a:r>
          </a:p>
        </p:txBody>
      </p:sp>
      <p:sp>
        <p:nvSpPr>
          <p:cNvPr id="28" name="Text 25">
            <a:extLst xmlns:a="http://schemas.openxmlformats.org/drawingml/2006/main">
              <a:ext uri="{FF2B5EF4-FFF2-40B4-BE49-F238E27FC236}">
                <a16:creationId xmlns:a16="http://schemas.microsoft.com/office/drawing/2014/main" id="{0B3235D2-C986-49C9-B8A7-E2BBFC195515}"/>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p>
        </p:txBody>
      </p:sp>
    </p:spTree>
    <p:extLst>
      <p:ext uri="{BB962C8B-B14F-4D97-AF65-F5344CB8AC3E}">
        <p14:creationId xmlns:p14="http://schemas.microsoft.com/office/powerpoint/2010/main" val="8354366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8D2F780-CD7E-4287-9912-1E1D2F42E4C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1C5BF02-3AC2-4565-8287-03A83EB2806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5EB4CFEF-34F1-4D82-BC22-DBAF92357E5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§5.2  ·  TABLES 3 AND 4</a:t>
            </a:r>
          </a:p>
        </p:txBody>
      </p:sp>
      <p:sp>
        <p:nvSpPr>
          <p:cNvPr id="5" name="Text 3">
            <a:extLst xmlns:a="http://schemas.openxmlformats.org/drawingml/2006/main">
              <a:ext uri="{FF2B5EF4-FFF2-40B4-BE49-F238E27FC236}">
                <a16:creationId xmlns:a16="http://schemas.microsoft.com/office/drawing/2014/main" id="{D523BD44-1C12-46F1-A753-940BC2AC822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Preservation is not invariant to compilation depth</a:t>
            </a:r>
          </a:p>
        </p:txBody>
      </p:sp>
      <p:sp>
        <p:nvSpPr>
          <p:cNvPr id="6" name="Shape 4">
            <a:extLst xmlns:a="http://schemas.openxmlformats.org/drawingml/2006/main">
              <a:ext uri="{FF2B5EF4-FFF2-40B4-BE49-F238E27FC236}">
                <a16:creationId xmlns:a16="http://schemas.microsoft.com/office/drawing/2014/main" id="{5D17CEA0-41B2-470F-A064-572E9189326A}"/>
              </a:ext>
            </a:extLst>
          </p:cNvPr>
          <p:cNvSpPr>
            <a:spLocks xmlns:a="http://schemas.openxmlformats.org/drawingml/2006/main" noGrp="1"/>
          </p:cNvSpPr>
          <p:nvPr/>
        </p:nvSpPr>
        <p:spPr>
          <a:xfrm xmlns:a="http://schemas.openxmlformats.org/drawingml/2006/main">
            <a:off x="640080" y="1170432"/>
            <a:ext cx="5272888" cy="2944368"/>
          </a:xfrm>
          <a:prstGeom xmlns:a="http://schemas.openxmlformats.org/drawingml/2006/main" prst="roundRect">
            <a:avLst>
              <a:gd name="adj" fmla="val 155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97F6A203-925D-4BB2-857C-5A9B9DFCE119}"/>
              </a:ext>
            </a:extLst>
          </p:cNvPr>
          <p:cNvSpPr>
            <a:spLocks xmlns:a="http://schemas.openxmlformats.org/drawingml/2006/main" noGrp="1"/>
          </p:cNvSpPr>
          <p:nvPr/>
        </p:nvSpPr>
        <p:spPr>
          <a:xfrm xmlns:a="http://schemas.openxmlformats.org/drawingml/2006/main">
            <a:off x="914400"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BF304F30-B28B-481A-9FE6-6A494265D3DD}"/>
              </a:ext>
            </a:extLst>
          </p:cNvPr>
          <p:cNvSpPr>
            <a:spLocks xmlns:a="http://schemas.openxmlformats.org/drawingml/2006/main" noGrp="1"/>
          </p:cNvSpPr>
          <p:nvPr/>
        </p:nvSpPr>
        <p:spPr>
          <a:xfrm xmlns:a="http://schemas.openxmlformats.org/drawingml/2006/main">
            <a:off x="914400"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DB8414C7-F309-4335-B6D1-74CB5AC5D0E0}"/>
              </a:ext>
            </a:extLst>
          </p:cNvPr>
          <p:cNvSpPr>
            <a:spLocks xmlns:a="http://schemas.openxmlformats.org/drawingml/2006/main" noGrp="1"/>
          </p:cNvSpPr>
          <p:nvPr/>
        </p:nvSpPr>
        <p:spPr>
          <a:xfrm xmlns:a="http://schemas.openxmlformats.org/drawingml/2006/main">
            <a:off x="914400"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157A420D-EDB0-4A0B-958E-B42A445B1A57}"/>
              </a:ext>
            </a:extLst>
          </p:cNvPr>
          <p:cNvSpPr>
            <a:spLocks xmlns:a="http://schemas.openxmlformats.org/drawingml/2006/main" noGrp="1"/>
          </p:cNvSpPr>
          <p:nvPr/>
        </p:nvSpPr>
        <p:spPr>
          <a:xfrm xmlns:a="http://schemas.openxmlformats.org/drawingml/2006/main">
            <a:off x="2377440"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0216CD5F-AB09-4C08-8069-EEEAC6C3BF41}"/>
              </a:ext>
            </a:extLst>
          </p:cNvPr>
          <p:cNvSpPr>
            <a:spLocks xmlns:a="http://schemas.openxmlformats.org/drawingml/2006/main" noGrp="1"/>
          </p:cNvSpPr>
          <p:nvPr/>
        </p:nvSpPr>
        <p:spPr>
          <a:xfrm xmlns:a="http://schemas.openxmlformats.org/drawingml/2006/main">
            <a:off x="914400"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B03C82F9-055D-4241-91CF-1E13600919B4}"/>
              </a:ext>
            </a:extLst>
          </p:cNvPr>
          <p:cNvSpPr>
            <a:spLocks xmlns:a="http://schemas.openxmlformats.org/drawingml/2006/main" noGrp="1"/>
          </p:cNvSpPr>
          <p:nvPr/>
        </p:nvSpPr>
        <p:spPr>
          <a:xfrm xmlns:a="http://schemas.openxmlformats.org/drawingml/2006/main">
            <a:off x="2377440"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FE782F5B-3DA3-42FD-8696-FBB797DFD361}"/>
              </a:ext>
            </a:extLst>
          </p:cNvPr>
          <p:cNvSpPr>
            <a:spLocks xmlns:a="http://schemas.openxmlformats.org/drawingml/2006/main" noGrp="1"/>
          </p:cNvSpPr>
          <p:nvPr/>
        </p:nvSpPr>
        <p:spPr>
          <a:xfrm xmlns:a="http://schemas.openxmlformats.org/drawingml/2006/main">
            <a:off x="914400"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0EB5638F-BED2-4935-826A-44F8C82A6392}"/>
              </a:ext>
            </a:extLst>
          </p:cNvPr>
          <p:cNvSpPr>
            <a:spLocks xmlns:a="http://schemas.openxmlformats.org/drawingml/2006/main" noGrp="1"/>
          </p:cNvSpPr>
          <p:nvPr/>
        </p:nvSpPr>
        <p:spPr>
          <a:xfrm xmlns:a="http://schemas.openxmlformats.org/drawingml/2006/main">
            <a:off x="2377440"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ABFDB29F-C6BC-4D6D-B841-26C5B9183316}"/>
              </a:ext>
            </a:extLst>
          </p:cNvPr>
          <p:cNvSpPr>
            <a:spLocks xmlns:a="http://schemas.openxmlformats.org/drawingml/2006/main" noGrp="1"/>
          </p:cNvSpPr>
          <p:nvPr/>
        </p:nvSpPr>
        <p:spPr>
          <a:xfrm xmlns:a="http://schemas.openxmlformats.org/drawingml/2006/main">
            <a:off x="914400"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9.5%</a:t>
            </a:r>
          </a:p>
        </p:txBody>
      </p:sp>
      <p:sp>
        <p:nvSpPr>
          <p:cNvPr id="16" name="Text 14">
            <a:extLst xmlns:a="http://schemas.openxmlformats.org/drawingml/2006/main">
              <a:ext uri="{FF2B5EF4-FFF2-40B4-BE49-F238E27FC236}">
                <a16:creationId xmlns:a16="http://schemas.microsoft.com/office/drawing/2014/main" id="{7D41A7A1-4D62-4FC3-8BEA-8563950AEEB7}"/>
              </a:ext>
            </a:extLst>
          </p:cNvPr>
          <p:cNvSpPr>
            <a:spLocks xmlns:a="http://schemas.openxmlformats.org/drawingml/2006/main" noGrp="1"/>
          </p:cNvSpPr>
          <p:nvPr/>
        </p:nvSpPr>
        <p:spPr>
          <a:xfrm xmlns:a="http://schemas.openxmlformats.org/drawingml/2006/main">
            <a:off x="2377440"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17" name="Text 15">
            <a:extLst xmlns:a="http://schemas.openxmlformats.org/drawingml/2006/main">
              <a:ext uri="{FF2B5EF4-FFF2-40B4-BE49-F238E27FC236}">
                <a16:creationId xmlns:a16="http://schemas.microsoft.com/office/drawing/2014/main" id="{C084E31B-84EF-4D8D-8C10-C8DC26B96F81}"/>
              </a:ext>
            </a:extLst>
          </p:cNvPr>
          <p:cNvSpPr>
            <a:spLocks xmlns:a="http://schemas.openxmlformats.org/drawingml/2006/main" noGrp="1"/>
          </p:cNvSpPr>
          <p:nvPr/>
        </p:nvSpPr>
        <p:spPr>
          <a:xfrm xmlns:a="http://schemas.openxmlformats.org/drawingml/2006/main">
            <a:off x="914400"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Groundability permits only two of three reads. Nothing is lost, and the bound is what the sample size allows — not equivalence.</a:t>
            </a:r>
          </a:p>
        </p:txBody>
      </p:sp>
      <p:sp>
        <p:nvSpPr>
          <p:cNvPr id="18" name="Shape 16">
            <a:extLst xmlns:a="http://schemas.openxmlformats.org/drawingml/2006/main">
              <a:ext uri="{FF2B5EF4-FFF2-40B4-BE49-F238E27FC236}">
                <a16:creationId xmlns:a16="http://schemas.microsoft.com/office/drawing/2014/main" id="{CA7E7CDA-43C6-46EF-95AC-9D685C3BD062}"/>
              </a:ext>
            </a:extLst>
          </p:cNvPr>
          <p:cNvSpPr>
            <a:spLocks xmlns:a="http://schemas.openxmlformats.org/drawingml/2006/main" noGrp="1"/>
          </p:cNvSpPr>
          <p:nvPr/>
        </p:nvSpPr>
        <p:spPr>
          <a:xfrm xmlns:a="http://schemas.openxmlformats.org/drawingml/2006/main">
            <a:off x="6278728" y="1170432"/>
            <a:ext cx="5272888" cy="2944368"/>
          </a:xfrm>
          <a:prstGeom xmlns:a="http://schemas.openxmlformats.org/drawingml/2006/main" prst="roundRect">
            <a:avLst>
              <a:gd name="adj" fmla="val 155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A8ED96A2-2DB1-4E4F-9E1A-A2FE72A3A7C8}"/>
              </a:ext>
            </a:extLst>
          </p:cNvPr>
          <p:cNvSpPr>
            <a:spLocks xmlns:a="http://schemas.openxmlformats.org/drawingml/2006/main" noGrp="1"/>
          </p:cNvSpPr>
          <p:nvPr/>
        </p:nvSpPr>
        <p:spPr>
          <a:xfrm xmlns:a="http://schemas.openxmlformats.org/drawingml/2006/main">
            <a:off x="6553048"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A93B2B"/>
                </a:solidFill>
                <a:latin typeface="Cambria"/>
                <a:ea typeface="Cambria"/>
                <a:cs typeface="Cambria"/>
              </a:rPr>
              <a:t>Three-read artifact</a:t>
            </a:r>
          </a:p>
        </p:txBody>
      </p:sp>
      <p:sp>
        <p:nvSpPr>
          <p:cNvPr id="20" name="Text 18">
            <a:extLst xmlns:a="http://schemas.openxmlformats.org/drawingml/2006/main">
              <a:ext uri="{FF2B5EF4-FFF2-40B4-BE49-F238E27FC236}">
                <a16:creationId xmlns:a16="http://schemas.microsoft.com/office/drawing/2014/main" id="{F2F8B897-D0D4-495F-816A-6286A1724281}"/>
              </a:ext>
            </a:extLst>
          </p:cNvPr>
          <p:cNvSpPr>
            <a:spLocks xmlns:a="http://schemas.openxmlformats.org/drawingml/2006/main" noGrp="1"/>
          </p:cNvSpPr>
          <p:nvPr/>
        </p:nvSpPr>
        <p:spPr>
          <a:xfrm xmlns:a="http://schemas.openxmlformats.org/drawingml/2006/main">
            <a:off x="6553048"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earlier aggressive study, 18 issues</a:t>
            </a:r>
          </a:p>
        </p:txBody>
      </p:sp>
      <p:sp>
        <p:nvSpPr>
          <p:cNvPr id="21" name="Text 19">
            <a:extLst xmlns:a="http://schemas.openxmlformats.org/drawingml/2006/main">
              <a:ext uri="{FF2B5EF4-FFF2-40B4-BE49-F238E27FC236}">
                <a16:creationId xmlns:a16="http://schemas.microsoft.com/office/drawing/2014/main" id="{7EA4C625-0C96-4AC0-9807-2001012A0C82}"/>
              </a:ext>
            </a:extLst>
          </p:cNvPr>
          <p:cNvSpPr>
            <a:spLocks xmlns:a="http://schemas.openxmlformats.org/drawingml/2006/main" noGrp="1"/>
          </p:cNvSpPr>
          <p:nvPr/>
        </p:nvSpPr>
        <p:spPr>
          <a:xfrm xmlns:a="http://schemas.openxmlformats.org/drawingml/2006/main">
            <a:off x="6553048"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−75.0%</a:t>
            </a:r>
          </a:p>
        </p:txBody>
      </p:sp>
      <p:sp>
        <p:nvSpPr>
          <p:cNvPr id="22" name="Text 20">
            <a:extLst xmlns:a="http://schemas.openxmlformats.org/drawingml/2006/main">
              <a:ext uri="{FF2B5EF4-FFF2-40B4-BE49-F238E27FC236}">
                <a16:creationId xmlns:a16="http://schemas.microsoft.com/office/drawing/2014/main" id="{F4CADD13-7721-4C21-A2F9-328CEF30A2A9}"/>
              </a:ext>
            </a:extLst>
          </p:cNvPr>
          <p:cNvSpPr>
            <a:spLocks xmlns:a="http://schemas.openxmlformats.org/drawingml/2006/main" noGrp="1"/>
          </p:cNvSpPr>
          <p:nvPr/>
        </p:nvSpPr>
        <p:spPr>
          <a:xfrm xmlns:a="http://schemas.openxmlformats.org/drawingml/2006/main">
            <a:off x="8016088"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23" name="Text 21">
            <a:extLst xmlns:a="http://schemas.openxmlformats.org/drawingml/2006/main">
              <a:ext uri="{FF2B5EF4-FFF2-40B4-BE49-F238E27FC236}">
                <a16:creationId xmlns:a16="http://schemas.microsoft.com/office/drawing/2014/main" id="{B43EB1A1-C4D9-4E45-91BE-F49396A0C9F5}"/>
              </a:ext>
            </a:extLst>
          </p:cNvPr>
          <p:cNvSpPr>
            <a:spLocks xmlns:a="http://schemas.openxmlformats.org/drawingml/2006/main" noGrp="1"/>
          </p:cNvSpPr>
          <p:nvPr/>
        </p:nvSpPr>
        <p:spPr>
          <a:xfrm xmlns:a="http://schemas.openxmlformats.org/drawingml/2006/main">
            <a:off x="6553048"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−66.0%</a:t>
            </a:r>
          </a:p>
        </p:txBody>
      </p:sp>
      <p:sp>
        <p:nvSpPr>
          <p:cNvPr id="24" name="Text 22">
            <a:extLst xmlns:a="http://schemas.openxmlformats.org/drawingml/2006/main">
              <a:ext uri="{FF2B5EF4-FFF2-40B4-BE49-F238E27FC236}">
                <a16:creationId xmlns:a16="http://schemas.microsoft.com/office/drawing/2014/main" id="{DEB2E538-A497-4C94-B158-7176B0CF1D0D}"/>
              </a:ext>
            </a:extLst>
          </p:cNvPr>
          <p:cNvSpPr>
            <a:spLocks xmlns:a="http://schemas.openxmlformats.org/drawingml/2006/main" noGrp="1"/>
          </p:cNvSpPr>
          <p:nvPr/>
        </p:nvSpPr>
        <p:spPr>
          <a:xfrm xmlns:a="http://schemas.openxmlformats.org/drawingml/2006/main">
            <a:off x="8016088"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25" name="Text 23">
            <a:extLst xmlns:a="http://schemas.openxmlformats.org/drawingml/2006/main">
              <a:ext uri="{FF2B5EF4-FFF2-40B4-BE49-F238E27FC236}">
                <a16:creationId xmlns:a16="http://schemas.microsoft.com/office/drawing/2014/main" id="{6BB45B8B-9949-466F-B65D-2BC9E4245DA3}"/>
              </a:ext>
            </a:extLst>
          </p:cNvPr>
          <p:cNvSpPr>
            <a:spLocks xmlns:a="http://schemas.openxmlformats.org/drawingml/2006/main" noGrp="1"/>
          </p:cNvSpPr>
          <p:nvPr/>
        </p:nvSpPr>
        <p:spPr>
          <a:xfrm xmlns:a="http://schemas.openxmlformats.org/drawingml/2006/main">
            <a:off x="6553048"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17 / 18</a:t>
            </a:r>
          </a:p>
        </p:txBody>
      </p:sp>
      <p:sp>
        <p:nvSpPr>
          <p:cNvPr id="26" name="Text 24">
            <a:extLst xmlns:a="http://schemas.openxmlformats.org/drawingml/2006/main">
              <a:ext uri="{FF2B5EF4-FFF2-40B4-BE49-F238E27FC236}">
                <a16:creationId xmlns:a16="http://schemas.microsoft.com/office/drawing/2014/main" id="{717E4E33-BC45-4C59-BA2D-6314A879A900}"/>
              </a:ext>
            </a:extLst>
          </p:cNvPr>
          <p:cNvSpPr>
            <a:spLocks xmlns:a="http://schemas.openxmlformats.org/drawingml/2006/main" noGrp="1"/>
          </p:cNvSpPr>
          <p:nvPr/>
        </p:nvSpPr>
        <p:spPr>
          <a:xfrm xmlns:a="http://schemas.openxmlformats.org/drawingml/2006/main">
            <a:off x="8016088"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27" name="Text 25">
            <a:extLst xmlns:a="http://schemas.openxmlformats.org/drawingml/2006/main">
              <a:ext uri="{FF2B5EF4-FFF2-40B4-BE49-F238E27FC236}">
                <a16:creationId xmlns:a16="http://schemas.microsoft.com/office/drawing/2014/main" id="{9706D796-61D1-49D6-A13E-B28083E38117}"/>
              </a:ext>
            </a:extLst>
          </p:cNvPr>
          <p:cNvSpPr>
            <a:spLocks xmlns:a="http://schemas.openxmlformats.org/drawingml/2006/main" noGrp="1"/>
          </p:cNvSpPr>
          <p:nvPr/>
        </p:nvSpPr>
        <p:spPr>
          <a:xfrm xmlns:a="http://schemas.openxmlformats.org/drawingml/2006/main">
            <a:off x="6553048"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23.8%</a:t>
            </a:r>
          </a:p>
        </p:txBody>
      </p:sp>
      <p:sp>
        <p:nvSpPr>
          <p:cNvPr id="28" name="Text 26">
            <a:extLst xmlns:a="http://schemas.openxmlformats.org/drawingml/2006/main">
              <a:ext uri="{FF2B5EF4-FFF2-40B4-BE49-F238E27FC236}">
                <a16:creationId xmlns:a16="http://schemas.microsoft.com/office/drawing/2014/main" id="{8F65A9F3-2772-44B4-BB72-05E29A47FC3A}"/>
              </a:ext>
            </a:extLst>
          </p:cNvPr>
          <p:cNvSpPr>
            <a:spLocks xmlns:a="http://schemas.openxmlformats.org/drawingml/2006/main" noGrp="1"/>
          </p:cNvSpPr>
          <p:nvPr/>
        </p:nvSpPr>
        <p:spPr>
          <a:xfrm xmlns:a="http://schemas.openxmlformats.org/drawingml/2006/main">
            <a:off x="8016088"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29" name="Text 27">
            <a:extLst xmlns:a="http://schemas.openxmlformats.org/drawingml/2006/main">
              <a:ext uri="{FF2B5EF4-FFF2-40B4-BE49-F238E27FC236}">
                <a16:creationId xmlns:a16="http://schemas.microsoft.com/office/drawing/2014/main" id="{8C5DF349-4923-434F-A22F-F33A5791C1C4}"/>
              </a:ext>
            </a:extLst>
          </p:cNvPr>
          <p:cNvSpPr>
            <a:spLocks xmlns:a="http://schemas.openxmlformats.org/drawingml/2006/main" noGrp="1"/>
          </p:cNvSpPr>
          <p:nvPr/>
        </p:nvSpPr>
        <p:spPr>
          <a:xfrm xmlns:a="http://schemas.openxmlformats.org/drawingml/2006/main">
            <a:off x="6553048"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 issue 6602 the source contained a Markdown link; the compiled continuation dropped the URL and returned only its anchor text.</a:t>
            </a:r>
          </a:p>
        </p:txBody>
      </p:sp>
      <p:sp>
        <p:nvSpPr>
          <p:cNvPr id="30" name="Shape 28">
            <a:extLst xmlns:a="http://schemas.openxmlformats.org/drawingml/2006/main">
              <a:ext uri="{FF2B5EF4-FFF2-40B4-BE49-F238E27FC236}">
                <a16:creationId xmlns:a16="http://schemas.microsoft.com/office/drawing/2014/main" id="{DAFFD835-9ECC-4326-BB28-F9EE2C313D24}"/>
              </a:ext>
            </a:extLst>
          </p:cNvPr>
          <p:cNvSpPr>
            <a:spLocks xmlns:a="http://schemas.openxmlformats.org/drawingml/2006/main" noGrp="1"/>
          </p:cNvSpPr>
          <p:nvPr/>
        </p:nvSpPr>
        <p:spPr>
          <a:xfrm xmlns:a="http://schemas.openxmlformats.org/drawingml/2006/main">
            <a:off x="640080" y="4261104"/>
            <a:ext cx="10911535" cy="1207008"/>
          </a:xfrm>
          <a:prstGeom xmlns:a="http://schemas.openxmlformats.org/drawingml/2006/main" prst="roundRect">
            <a:avLst>
              <a:gd name="adj" fmla="val 37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Shape 29">
            <a:extLst xmlns:a="http://schemas.openxmlformats.org/drawingml/2006/main">
              <a:ext uri="{FF2B5EF4-FFF2-40B4-BE49-F238E27FC236}">
                <a16:creationId xmlns:a16="http://schemas.microsoft.com/office/drawing/2014/main" id="{E0F51929-3717-4EDA-9E17-CA03B41D1AF8}"/>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4FF653A0-B50E-4053-A9EB-7E9A1533F927}"/>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33" name="Text 31">
            <a:extLst xmlns:a="http://schemas.openxmlformats.org/drawingml/2006/main">
              <a:ext uri="{FF2B5EF4-FFF2-40B4-BE49-F238E27FC236}">
                <a16:creationId xmlns:a16="http://schemas.microsoft.com/office/drawing/2014/main" id="{1755EF7E-2C4E-48FE-B51B-057B17F9ED87}"/>
              </a:ext>
            </a:extLst>
          </p:cNvPr>
          <p:cNvSpPr>
            <a:spLocks xmlns:a="http://schemas.openxmlformats.org/drawingml/2006/main" noGrp="1"/>
          </p:cNvSpPr>
          <p:nvPr/>
        </p:nvSpPr>
        <p:spPr>
          <a:xfrm xmlns:a="http://schemas.openxmlformats.org/drawingml/2006/main">
            <a:off x="1335024" y="440740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miss fixes the gate's scope — and motivates a second admission layer</a:t>
            </a:r>
          </a:p>
        </p:txBody>
      </p:sp>
      <p:sp>
        <p:nvSpPr>
          <p:cNvPr id="34" name="Text 32">
            <a:extLst xmlns:a="http://schemas.openxmlformats.org/drawingml/2006/main">
              <a:ext uri="{FF2B5EF4-FFF2-40B4-BE49-F238E27FC236}">
                <a16:creationId xmlns:a16="http://schemas.microsoft.com/office/drawing/2014/main" id="{F97C92E0-7D51-4562-9E09-FFE6D9331BEF}"/>
              </a:ext>
            </a:extLst>
          </p:cNvPr>
          <p:cNvSpPr>
            <a:spLocks xmlns:a="http://schemas.openxmlformats.org/drawingml/2006/main" noGrp="1"/>
          </p:cNvSpPr>
          <p:nvPr/>
        </p:nvSpPr>
        <p:spPr>
          <a:xfrm xmlns:a="http://schemas.openxmlformats.org/drawingml/2006/main">
            <a:off x="1335024" y="4700016"/>
            <a:ext cx="99056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p>
        </p:txBody>
      </p:sp>
      <p:sp>
        <p:nvSpPr>
          <p:cNvPr id="35" name="Text 33">
            <a:extLst xmlns:a="http://schemas.openxmlformats.org/drawingml/2006/main">
              <a:ext uri="{FF2B5EF4-FFF2-40B4-BE49-F238E27FC236}">
                <a16:creationId xmlns:a16="http://schemas.microsoft.com/office/drawing/2014/main" id="{CB37B22E-001C-4AF0-A8D8-D65286C31791}"/>
              </a:ext>
            </a:extLst>
          </p:cNvPr>
          <p:cNvSpPr>
            <a:spLocks xmlns:a="http://schemas.openxmlformats.org/drawingml/2006/main" noGrp="1"/>
          </p:cNvSpPr>
          <p:nvPr/>
        </p:nvSpPr>
        <p:spPr>
          <a:xfrm xmlns:a="http://schemas.openxmlformats.org/drawingml/2006/main">
            <a:off x="640080" y="5596128"/>
            <a:ext cx="1091153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p>
        </p:txBody>
      </p:sp>
    </p:spTree>
    <p:extLst>
      <p:ext uri="{BB962C8B-B14F-4D97-AF65-F5344CB8AC3E}">
        <p14:creationId xmlns:p14="http://schemas.microsoft.com/office/powerpoint/2010/main" val="130930397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32B28CC-C5A5-439E-AFD0-EA9B5777836D}"/>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0462BAD-1BFA-4C63-8A8F-61B7D2F808A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01C8FBC7-4648-4830-BC6F-118DB348847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RQ4  ·  §5.3  ·  TABLE 5</a:t>
            </a:r>
          </a:p>
        </p:txBody>
      </p:sp>
      <p:sp>
        <p:nvSpPr>
          <p:cNvPr id="5" name="Text 3">
            <a:extLst xmlns:a="http://schemas.openxmlformats.org/drawingml/2006/main">
              <a:ext uri="{FF2B5EF4-FFF2-40B4-BE49-F238E27FC236}">
                <a16:creationId xmlns:a16="http://schemas.microsoft.com/office/drawing/2014/main" id="{523FCC0C-DE06-4761-895E-9AE697A6F7B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compaction is partial, and where the saving inverts</a:t>
            </a:r>
          </a:p>
        </p:txBody>
      </p:sp>
      <p:graphicFrame>
        <p:nvGraphicFramePr>
          <p:cNvPr id="6" name="Chart 0"/>
          <p:cNvGraphicFramePr/>
          <p:nvPr/>
        </p:nvGraphicFramePr>
        <p:xfrm>
          <a:off xmlns:a="http://schemas.openxmlformats.org/drawingml/2006/main" x="640080" y="1152144"/>
          <a:ext xmlns:a="http://schemas.openxmlformats.org/drawingml/2006/main" cx="6766560" cy="3657600"/>
        </p:xfrm>
        <a:graphic xmlns:a="http://schemas.openxmlformats.org/drawingml/2006/main">
          <a:graphicData uri="http://schemas.openxmlformats.org/drawingml/2006/chart">
            <c:chart xmlns:r="http://schemas.openxmlformats.org/officeDocument/2006/relationships" xmlns:c="http://schemas.openxmlformats.org/drawingml/2006/chart" r:id="R43e41adab0e54d91"/>
          </a:graphicData>
        </a:graphic>
      </p:graphicFrame>
      <p:sp>
        <p:nvSpPr>
          <p:cNvPr id="7" name="Shape 4">
            <a:extLst xmlns:a="http://schemas.openxmlformats.org/drawingml/2006/main">
              <a:ext uri="{FF2B5EF4-FFF2-40B4-BE49-F238E27FC236}">
                <a16:creationId xmlns:a16="http://schemas.microsoft.com/office/drawing/2014/main" id="{1E5C47E7-EB3C-4FF5-A5D6-CE08402B28A1}"/>
              </a:ext>
            </a:extLst>
          </p:cNvPr>
          <p:cNvSpPr>
            <a:spLocks xmlns:a="http://schemas.openxmlformats.org/drawingml/2006/main" noGrp="1"/>
          </p:cNvSpPr>
          <p:nvPr/>
        </p:nvSpPr>
        <p:spPr>
          <a:xfrm xmlns:a="http://schemas.openxmlformats.org/drawingml/2006/main">
            <a:off x="7635240" y="1152144"/>
            <a:ext cx="3916375" cy="1700784"/>
          </a:xfrm>
          <a:prstGeom xmlns:a="http://schemas.openxmlformats.org/drawingml/2006/main" prst="roundRect">
            <a:avLst>
              <a:gd name="adj" fmla="val 2688"/>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B7B2F913-1D2A-4CD2-9280-808FAABD6D25}"/>
              </a:ext>
            </a:extLst>
          </p:cNvPr>
          <p:cNvSpPr>
            <a:spLocks xmlns:a="http://schemas.openxmlformats.org/drawingml/2006/main" noGrp="1"/>
          </p:cNvSpPr>
          <p:nvPr/>
        </p:nvSpPr>
        <p:spPr>
          <a:xfrm xmlns:a="http://schemas.openxmlformats.org/drawingml/2006/main">
            <a:off x="7854696" y="12801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E4819C4C-412A-4A38-9547-F007ACC1B99E}"/>
              </a:ext>
            </a:extLst>
          </p:cNvPr>
          <p:cNvSpPr>
            <a:spLocks xmlns:a="http://schemas.openxmlformats.org/drawingml/2006/main" noGrp="1"/>
          </p:cNvSpPr>
          <p:nvPr/>
        </p:nvSpPr>
        <p:spPr>
          <a:xfrm xmlns:a="http://schemas.openxmlformats.org/drawingml/2006/main">
            <a:off x="7854696" y="1719072"/>
            <a:ext cx="3477463"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p>
        </p:txBody>
      </p:sp>
      <p:sp>
        <p:nvSpPr>
          <p:cNvPr id="10" name="Shape 7">
            <a:extLst xmlns:a="http://schemas.openxmlformats.org/drawingml/2006/main">
              <a:ext uri="{FF2B5EF4-FFF2-40B4-BE49-F238E27FC236}">
                <a16:creationId xmlns:a16="http://schemas.microsoft.com/office/drawing/2014/main" id="{831751BF-F4F2-4212-8E64-663687B4BB1F}"/>
              </a:ext>
            </a:extLst>
          </p:cNvPr>
          <p:cNvSpPr>
            <a:spLocks xmlns:a="http://schemas.openxmlformats.org/drawingml/2006/main" noGrp="1"/>
          </p:cNvSpPr>
          <p:nvPr/>
        </p:nvSpPr>
        <p:spPr>
          <a:xfrm xmlns:a="http://schemas.openxmlformats.org/drawingml/2006/main">
            <a:off x="7635240" y="2980944"/>
            <a:ext cx="3916375"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E38163DB-0985-4F21-B1CE-3C4F8FCEEA38}"/>
              </a:ext>
            </a:extLst>
          </p:cNvPr>
          <p:cNvSpPr>
            <a:spLocks xmlns:a="http://schemas.openxmlformats.org/drawingml/2006/main" noGrp="1"/>
          </p:cNvSpPr>
          <p:nvPr/>
        </p:nvSpPr>
        <p:spPr>
          <a:xfrm xmlns:a="http://schemas.openxmlformats.org/drawingml/2006/main">
            <a:off x="7854696" y="31089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6BAD191E-6367-4DC0-9072-0FB7F6F5105D}"/>
              </a:ext>
            </a:extLst>
          </p:cNvPr>
          <p:cNvSpPr>
            <a:spLocks xmlns:a="http://schemas.openxmlformats.org/drawingml/2006/main" noGrp="1"/>
          </p:cNvSpPr>
          <p:nvPr/>
        </p:nvSpPr>
        <p:spPr>
          <a:xfrm xmlns:a="http://schemas.openxmlformats.org/drawingml/2006/main">
            <a:off x="7854696" y="3547872"/>
            <a:ext cx="3477463"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p>
        </p:txBody>
      </p:sp>
      <p:sp>
        <p:nvSpPr>
          <p:cNvPr id="13" name="Shape 10">
            <a:extLst xmlns:a="http://schemas.openxmlformats.org/drawingml/2006/main">
              <a:ext uri="{FF2B5EF4-FFF2-40B4-BE49-F238E27FC236}">
                <a16:creationId xmlns:a16="http://schemas.microsoft.com/office/drawing/2014/main" id="{A858DF89-8394-4867-853E-668B7EAA98D5}"/>
              </a:ext>
            </a:extLst>
          </p:cNvPr>
          <p:cNvSpPr>
            <a:spLocks xmlns:a="http://schemas.openxmlformats.org/drawingml/2006/main" noGrp="1"/>
          </p:cNvSpPr>
          <p:nvPr/>
        </p:nvSpPr>
        <p:spPr>
          <a:xfrm xmlns:a="http://schemas.openxmlformats.org/drawingml/2006/main">
            <a:off x="7635240" y="4681728"/>
            <a:ext cx="3916375"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B4BF8730-8DA2-496F-958C-BFC8B219AF74}"/>
              </a:ext>
            </a:extLst>
          </p:cNvPr>
          <p:cNvSpPr>
            <a:spLocks xmlns:a="http://schemas.openxmlformats.org/drawingml/2006/main" noGrp="1"/>
          </p:cNvSpPr>
          <p:nvPr/>
        </p:nvSpPr>
        <p:spPr>
          <a:xfrm xmlns:a="http://schemas.openxmlformats.org/drawingml/2006/main">
            <a:off x="7854696" y="4809744"/>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BDAF82D0-E4D6-49AD-8C2E-D4D42251A71A}"/>
              </a:ext>
            </a:extLst>
          </p:cNvPr>
          <p:cNvSpPr>
            <a:spLocks xmlns:a="http://schemas.openxmlformats.org/drawingml/2006/main" noGrp="1"/>
          </p:cNvSpPr>
          <p:nvPr/>
        </p:nvSpPr>
        <p:spPr>
          <a:xfrm xmlns:a="http://schemas.openxmlformats.org/drawingml/2006/main">
            <a:off x="7854696" y="5248656"/>
            <a:ext cx="3477463"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p>
        </p:txBody>
      </p:sp>
      <p:sp>
        <p:nvSpPr>
          <p:cNvPr id="16" name="Shape 13">
            <a:extLst xmlns:a="http://schemas.openxmlformats.org/drawingml/2006/main">
              <a:ext uri="{FF2B5EF4-FFF2-40B4-BE49-F238E27FC236}">
                <a16:creationId xmlns:a16="http://schemas.microsoft.com/office/drawing/2014/main" id="{616C6D55-9616-4500-9FF8-12AF62096000}"/>
              </a:ext>
            </a:extLst>
          </p:cNvPr>
          <p:cNvSpPr>
            <a:spLocks xmlns:a="http://schemas.openxmlformats.org/drawingml/2006/main" noGrp="1"/>
          </p:cNvSpPr>
          <p:nvPr/>
        </p:nvSpPr>
        <p:spPr>
          <a:xfrm xmlns:a="http://schemas.openxmlformats.org/drawingml/2006/main">
            <a:off x="640080" y="5047488"/>
            <a:ext cx="6766560" cy="1060704"/>
          </a:xfrm>
          <a:prstGeom xmlns:a="http://schemas.openxmlformats.org/drawingml/2006/main" prst="roundRect">
            <a:avLst>
              <a:gd name="adj" fmla="val 4310"/>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08DCD02B-B7A0-4C56-9BFE-3D83AD4ECE24}"/>
              </a:ext>
            </a:extLst>
          </p:cNvPr>
          <p:cNvSpPr>
            <a:spLocks xmlns:a="http://schemas.openxmlformats.org/drawingml/2006/main" noGrp="1"/>
          </p:cNvSpPr>
          <p:nvPr/>
        </p:nvSpPr>
        <p:spPr>
          <a:xfrm xmlns:a="http://schemas.openxmlformats.org/drawingml/2006/main">
            <a:off x="877824" y="5138928"/>
            <a:ext cx="629107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0E1E3A"/>
                </a:solidFill>
                <a:latin typeface="Calibri"/>
                <a:ea typeface="Calibri"/>
                <a:cs typeface="Calibri"/>
              </a:rPr>
              <a:t>The direction is what the data supports; the magnitude is not. </a:t>
            </a:r>
            <a:r>
              <a:rPr sz="1050">
                <a:solidFill>
                  <a:srgbClr val="24354F"/>
                </a:solidFill>
                <a:latin typeface="Calibri"/>
                <a:ea typeface="Calibri"/>
                <a:cs typeface="Calibri"/>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p>
        </p:txBody>
      </p:sp>
    </p:spTree>
    <p:extLst>
      <p:ext uri="{BB962C8B-B14F-4D97-AF65-F5344CB8AC3E}">
        <p14:creationId xmlns:p14="http://schemas.microsoft.com/office/powerpoint/2010/main" val="116664510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D4258D5-98EA-47AC-A166-5156862B5DFD}"/>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D7FDA5D-03ED-4A01-AC41-476528B830F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3CEF64B6-B61B-4341-952C-E88F48197F8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§5.4  ·  TABLE 6</a:t>
            </a:r>
          </a:p>
        </p:txBody>
      </p:sp>
      <p:sp>
        <p:nvSpPr>
          <p:cNvPr id="5" name="Text 3">
            <a:extLst xmlns:a="http://schemas.openxmlformats.org/drawingml/2006/main">
              <a:ext uri="{FF2B5EF4-FFF2-40B4-BE49-F238E27FC236}">
                <a16:creationId xmlns:a16="http://schemas.microsoft.com/office/drawing/2014/main" id="{00FE2AF0-1A91-4FC1-A740-78AE2F86B5C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Manual composition is the stronger pre-GCS fixed-workflow baseline</a:t>
            </a:r>
          </a:p>
        </p:txBody>
      </p:sp>
      <p:sp>
        <p:nvSpPr>
          <p:cNvPr id="6" name="Text 4">
            <a:extLst xmlns:a="http://schemas.openxmlformats.org/drawingml/2006/main">
              <a:ext uri="{FF2B5EF4-FFF2-40B4-BE49-F238E27FC236}">
                <a16:creationId xmlns:a16="http://schemas.microsoft.com/office/drawing/2014/main" id="{EFF827D8-6CA7-4A5D-82ED-DA439FA8FFB4}"/>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Against partial GRC, the hand-written composite matches exact quality and request savings while using one interface and fewer tokens. Once prefix reuse is priced the margin narrows: 30.9% fewer tokens but only 8.0% lower cost, because fusing three reads destroys the cached prefix (0.0% cache reads against 27.8% compiled). That negative result motivates interface-level synthesis rather than weakening admission.</a:t>
            </a:r>
          </a:p>
        </p:txBody>
      </p:sp>
      <p:sp>
        <p:nvSpPr>
          <p:cNvPr id="7" name="Text 5">
            <a:extLst xmlns:a="http://schemas.openxmlformats.org/drawingml/2006/main">
              <a:ext uri="{FF2B5EF4-FFF2-40B4-BE49-F238E27FC236}">
                <a16:creationId xmlns:a16="http://schemas.microsoft.com/office/drawing/2014/main" id="{0284D8CD-115F-4235-A90A-120AF97F348B}"/>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OFFLINE STRESS STUDY — PAIRED REQUEST RATIO VS THE UNCHANGED AGENT, LOWER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Workload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Lower</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Tier-1 support evidence gathering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0.726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0.755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Permissioned RAG knowledge assistant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0.335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0.718</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Multi-agent incident triage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0.922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0.780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Multi-tenant MCP ops (negative control)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0.724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Order-fulfillment exception handling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0.661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0.642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B7658AAE-B014-4D87-9171-9BAB272DE7DA}"/>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42C7FE94-2ED3-48BD-8084-676E02B56C19}"/>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p>
        </p:txBody>
      </p:sp>
      <p:sp>
        <p:nvSpPr>
          <p:cNvPr id="11" name="Shape 8">
            <a:extLst xmlns:a="http://schemas.openxmlformats.org/drawingml/2006/main">
              <a:ext uri="{FF2B5EF4-FFF2-40B4-BE49-F238E27FC236}">
                <a16:creationId xmlns:a16="http://schemas.microsoft.com/office/drawing/2014/main" id="{1C095187-7E1B-4694-AD41-35A7C976B2CF}"/>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9F07AA65-0135-4A75-9353-B55424320192}"/>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62DD83FB-6BC9-4093-93E7-EFD5D1C2C3EB}"/>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30435034-7625-4E6A-BA03-4C3678828FB9}"/>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Write the composite tool when…</a:t>
            </a:r>
          </a:p>
        </p:txBody>
      </p:sp>
      <p:sp>
        <p:nvSpPr>
          <p:cNvPr id="15" name="Text 12">
            <a:extLst xmlns:a="http://schemas.openxmlformats.org/drawingml/2006/main">
              <a:ext uri="{FF2B5EF4-FFF2-40B4-BE49-F238E27FC236}">
                <a16:creationId xmlns:a16="http://schemas.microsoft.com/office/drawing/2014/main" id="{E7A3FA1F-2676-422A-8634-83404DC39735}"/>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set is stable and low-entropy</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effects are already understood by a human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one interface redesign can fuse the reads</a:t>
            </a:r>
          </a:p>
        </p:txBody>
      </p:sp>
      <p:sp>
        <p:nvSpPr>
          <p:cNvPr id="16" name="Shape 13">
            <a:extLst xmlns:a="http://schemas.openxmlformats.org/drawingml/2006/main">
              <a:ext uri="{FF2B5EF4-FFF2-40B4-BE49-F238E27FC236}">
                <a16:creationId xmlns:a16="http://schemas.microsoft.com/office/drawing/2014/main" id="{0C938060-EF59-4B26-BB16-A1EDF83AC272}"/>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A6CEC372-7DED-4421-A7D8-C86564F5F64C}"/>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08358223-012D-4551-99DF-BEAAF176936A}"/>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C621FFCB-2015-4BB5-AB4D-2EED1638C60D}"/>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Guarded compilation earns its cost when…</a:t>
            </a:r>
          </a:p>
        </p:txBody>
      </p:sp>
      <p:sp>
        <p:nvSpPr>
          <p:cNvPr id="20" name="Text 17">
            <a:extLst xmlns:a="http://schemas.openxmlformats.org/drawingml/2006/main">
              <a:ext uri="{FF2B5EF4-FFF2-40B4-BE49-F238E27FC236}">
                <a16:creationId xmlns:a16="http://schemas.microsoft.com/office/drawing/2014/main" id="{99405B54-CE37-43DE-800A-06386A024932}"/>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which reads to make is itself the recurrent structure</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region is branch-dependent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discovery and maintenance would not amortize</a:t>
            </a:r>
          </a:p>
        </p:txBody>
      </p:sp>
      <p:sp>
        <p:nvSpPr>
          <p:cNvPr id="21" name="Shape 18">
            <a:extLst xmlns:a="http://schemas.openxmlformats.org/drawingml/2006/main">
              <a:ext uri="{FF2B5EF4-FFF2-40B4-BE49-F238E27FC236}">
                <a16:creationId xmlns:a16="http://schemas.microsoft.com/office/drawing/2014/main" id="{C866F2C8-EDAE-4253-9726-18901A5042CA}"/>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D8DAC051-315E-49F0-A4DC-031BE80BF7DD}"/>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MECHANISTIC EXPLANATION AND A TESTABLE HYPOTHESIS</a:t>
            </a:r>
          </a:p>
        </p:txBody>
      </p:sp>
      <p:sp>
        <p:nvSpPr>
          <p:cNvPr id="23" name="Text 20">
            <a:extLst xmlns:a="http://schemas.openxmlformats.org/drawingml/2006/main">
              <a:ext uri="{FF2B5EF4-FFF2-40B4-BE49-F238E27FC236}">
                <a16:creationId xmlns:a16="http://schemas.microsoft.com/office/drawing/2014/main" id="{94488B91-4A81-4E50-911B-BD838648C7FD}"/>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p>
        </p:txBody>
      </p:sp>
    </p:spTree>
    <p:extLst>
      <p:ext uri="{BB962C8B-B14F-4D97-AF65-F5344CB8AC3E}">
        <p14:creationId xmlns:p14="http://schemas.microsoft.com/office/powerpoint/2010/main" val="164861947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D4258D5-98EA-47AC-A166-5156862B5DFD}"/>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D7FDA5D-03ED-4A01-AC41-476528B830F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3CEF64B6-B61B-4341-952C-E88F48197F8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FAIR PLACEMENT + BOUNDED GEPA  ·  REAL-PROVIDER STUDY</a:t>
            </a:r>
          </a:p>
        </p:txBody>
      </p:sp>
      <p:sp>
        <p:nvSpPr>
          <p:cNvPr id="5" name="Text 3">
            <a:extLst xmlns:a="http://schemas.openxmlformats.org/drawingml/2006/main">
              <a:ext uri="{FF2B5EF4-FFF2-40B4-BE49-F238E27FC236}">
                <a16:creationId xmlns:a16="http://schemas.microsoft.com/office/drawing/2014/main" id="{00FE2AF0-1A91-4FC1-A740-78AE2F86B5C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EFF827D8-6CA7-4A5D-82ED-DA439FA8FFB4}"/>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All five arms pass 6/6. GCS and an independent manual pre-model program tie at one request, one interface, and identical input tokens; GEPA leaves the four-request workflow unchanged.</a:t>
            </a:r>
          </a:p>
        </p:txBody>
      </p:sp>
      <p:sp>
        <p:nvSpPr>
          <p:cNvPr id="7" name="Text 5">
            <a:extLst xmlns:a="http://schemas.openxmlformats.org/drawingml/2006/main">
              <a:ext uri="{FF2B5EF4-FFF2-40B4-BE49-F238E27FC236}">
                <a16:creationId xmlns:a16="http://schemas.microsoft.com/office/drawing/2014/main" id="{0284D8CD-115F-4235-A90A-120AF97F348B}"/>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Condition</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Requests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Interfaces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Exact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Unchanged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GEPA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GCS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GCS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Manual pre-model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B7658AAE-B014-4D87-9171-9BAB272DE7DA}"/>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42C7FE94-2ED3-48BD-8084-676E02B56C19}"/>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Real OpenAI Agents SDK executions over pinned public records. Disjoint 4/2/6 optimization train/validation/test splits were frozen before provider outcomes; condition order is balanced.</a:t>
            </a:r>
          </a:p>
        </p:txBody>
      </p:sp>
      <p:sp>
        <p:nvSpPr>
          <p:cNvPr id="11" name="Shape 8">
            <a:extLst xmlns:a="http://schemas.openxmlformats.org/drawingml/2006/main">
              <a:ext uri="{FF2B5EF4-FFF2-40B4-BE49-F238E27FC236}">
                <a16:creationId xmlns:a16="http://schemas.microsoft.com/office/drawing/2014/main" id="{1C095187-7E1B-4694-AD41-35A7C976B2CF}"/>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9F07AA65-0135-4A75-9353-B55424320192}"/>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62DD83FB-6BC9-4093-93E7-EFD5D1C2C3EB}"/>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30435034-7625-4E6A-BA03-4C3678828FB9}"/>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What the fair test resolves…</a:t>
            </a:r>
          </a:p>
        </p:txBody>
      </p:sp>
      <p:sp>
        <p:nvSpPr>
          <p:cNvPr id="15" name="Text 12">
            <a:extLst xmlns:a="http://schemas.openxmlformats.org/drawingml/2006/main">
              <a:ext uri="{FF2B5EF4-FFF2-40B4-BE49-F238E27FC236}">
                <a16:creationId xmlns:a16="http://schemas.microsoft.com/office/drawing/2014/main" id="{E7A3FA1F-2676-422A-8634-83404DC39735}"/>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manual placement can remove the same turns</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GCS value shifts to discovery + admission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GEPA does not improve this bounded run</a:t>
            </a:r>
          </a:p>
        </p:txBody>
      </p:sp>
      <p:sp>
        <p:nvSpPr>
          <p:cNvPr id="16" name="Shape 13">
            <a:extLst xmlns:a="http://schemas.openxmlformats.org/drawingml/2006/main">
              <a:ext uri="{FF2B5EF4-FFF2-40B4-BE49-F238E27FC236}">
                <a16:creationId xmlns:a16="http://schemas.microsoft.com/office/drawing/2014/main" id="{0C938060-EF59-4B26-BB16-A1EDF83AC272}"/>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A6CEC372-7DED-4421-A7D8-C86564F5F64C}"/>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08358223-012D-4551-99DF-BEAAF176936A}"/>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C621FFCB-2015-4BB5-AB4D-2EED1638C60D}"/>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What remains unresolved…</a:t>
            </a:r>
          </a:p>
        </p:txBody>
      </p:sp>
      <p:sp>
        <p:nvSpPr>
          <p:cNvPr id="20" name="Text 17">
            <a:extLst xmlns:a="http://schemas.openxmlformats.org/drawingml/2006/main">
              <a:ext uri="{FF2B5EF4-FFF2-40B4-BE49-F238E27FC236}">
                <a16:creationId xmlns:a16="http://schemas.microsoft.com/office/drawing/2014/main" id="{99405B54-CE37-43DE-800A-06386A024932}"/>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engineering and review effort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AWO · Agent JIT · EvoC2F execution</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multiple families and time-forward drift</a:t>
            </a:r>
          </a:p>
        </p:txBody>
      </p:sp>
      <p:sp>
        <p:nvSpPr>
          <p:cNvPr id="21" name="Shape 18">
            <a:extLst xmlns:a="http://schemas.openxmlformats.org/drawingml/2006/main">
              <a:ext uri="{FF2B5EF4-FFF2-40B4-BE49-F238E27FC236}">
                <a16:creationId xmlns:a16="http://schemas.microsoft.com/office/drawing/2014/main" id="{C866F2C8-EDAE-4253-9726-18901A5042CA}"/>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D8DAC051-315E-49F0-A4DC-031BE80BF7DD}"/>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MECHANISM, EVIDENCE, AND BOUNDARY</a:t>
            </a:r>
          </a:p>
        </p:txBody>
      </p:sp>
      <p:sp>
        <p:nvSpPr>
          <p:cNvPr id="23" name="Text 20">
            <a:extLst xmlns:a="http://schemas.openxmlformats.org/drawingml/2006/main">
              <a:ext uri="{FF2B5EF4-FFF2-40B4-BE49-F238E27FC236}">
                <a16:creationId xmlns:a16="http://schemas.microsoft.com/office/drawing/2014/main" id="{94488B91-4A81-4E50-911B-BD838648C7FD}"/>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fair manual program closes the earlier placement confound: GCS and manual execution tie on requests, interfaces, input tokens, and exact quality. Official GEPA 0.1.4 makes 14 real task evaluations and three reflections, but retains its seed. Its 59-request, 63,954-token optimization overhead is reported separately. Risk scope: the GCS artifact here is calibrated at α=.10 (88/92 groups admitted, bound 0.052) and would retire at the registered α=.05, so this is a 10%-selective-risk result. This six-case result supports automatic guarded specialization—not runtime dominance or general GEPA failure.</a:t>
            </a:r>
          </a:p>
        </p:txBody>
      </p:sp>
    </p:spTree>
    <p:extLst>
      <p:ext uri="{BB962C8B-B14F-4D97-AF65-F5344CB8AC3E}">
        <p14:creationId xmlns:p14="http://schemas.microsoft.com/office/powerpoint/2010/main" val="164861947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747AD9B-64DA-4A8E-873A-82EBF8BA16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946450A-F2A3-4113-B670-C187B1202B6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AEFA695F-1BFA-4F6D-91FA-AF31DB6B2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RQ5  ·  §3.4 AND §5.5  ·  TABLE 7</a:t>
            </a:r>
          </a:p>
        </p:txBody>
      </p:sp>
      <p:sp>
        <p:nvSpPr>
          <p:cNvPr id="5" name="Text 3">
            <a:extLst xmlns:a="http://schemas.openxmlformats.org/drawingml/2006/main">
              <a:ext uri="{FF2B5EF4-FFF2-40B4-BE49-F238E27FC236}">
                <a16:creationId xmlns:a16="http://schemas.microsoft.com/office/drawing/2014/main" id="{FF59FC1F-4626-42D3-9E79-1BEA4B1C608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Risk-bounded selection over measured actions only</a:t>
            </a:r>
          </a:p>
        </p:txBody>
      </p:sp>
      <p:sp>
        <p:nvSpPr>
          <p:cNvPr id="6" name="Shape 4">
            <a:extLst xmlns:a="http://schemas.openxmlformats.org/drawingml/2006/main">
              <a:ext uri="{FF2B5EF4-FFF2-40B4-BE49-F238E27FC236}">
                <a16:creationId xmlns:a16="http://schemas.microsoft.com/office/drawing/2014/main" id="{8C1BCF80-C285-4318-8424-9A21AB38DC9F}"/>
              </a:ext>
            </a:extLst>
          </p:cNvPr>
          <p:cNvSpPr>
            <a:spLocks xmlns:a="http://schemas.openxmlformats.org/drawingml/2006/main" noGrp="1"/>
          </p:cNvSpPr>
          <p:nvPr/>
        </p:nvSpPr>
        <p:spPr>
          <a:xfrm xmlns:a="http://schemas.openxmlformats.org/drawingml/2006/main">
            <a:off x="640080" y="1170432"/>
            <a:ext cx="5943600" cy="1298448"/>
          </a:xfrm>
          <a:prstGeom xmlns:a="http://schemas.openxmlformats.org/drawingml/2006/main" prst="roundRect">
            <a:avLst>
              <a:gd name="adj" fmla="val 3521"/>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30c9b5271c594c10"/>
          <a:stretch xmlns:a="http://schemas.openxmlformats.org/drawingml/2006/main">
            <a:fillRect l="0" t="0" r="0" b="0"/>
          </a:stretch>
        </p:blipFill>
        <p:spPr>
          <a:xfrm xmlns:a="http://schemas.openxmlformats.org/drawingml/2006/main">
            <a:off x="877824" y="1316736"/>
            <a:ext cx="3803904" cy="40233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21CFBDA1-B9FA-4788-A1E5-A6411A8A106D}"/>
              </a:ext>
            </a:extLst>
          </p:cNvPr>
          <p:cNvSpPr>
            <a:spLocks xmlns:a="http://schemas.openxmlformats.org/drawingml/2006/main" noGrp="1"/>
          </p:cNvSpPr>
          <p:nvPr/>
        </p:nvSpPr>
        <p:spPr>
          <a:xfrm xmlns:a="http://schemas.openxmlformats.org/drawingml/2006/main">
            <a:off x="877824" y="1792224"/>
            <a:ext cx="546811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p>
        </p:txBody>
      </p:sp>
      <p:sp>
        <p:nvSpPr>
          <p:cNvPr id="9" name="Text 6">
            <a:extLst xmlns:a="http://schemas.openxmlformats.org/drawingml/2006/main">
              <a:ext uri="{FF2B5EF4-FFF2-40B4-BE49-F238E27FC236}">
                <a16:creationId xmlns:a16="http://schemas.microsoft.com/office/drawing/2014/main" id="{2A6CD02E-CFB7-44D3-84B3-6DDB862F559B}"/>
              </a:ext>
            </a:extLst>
          </p:cNvPr>
          <p:cNvSpPr>
            <a:spLocks xmlns:a="http://schemas.openxmlformats.org/drawingml/2006/main" noGrp="1"/>
          </p:cNvSpPr>
          <p:nvPr/>
        </p:nvSpPr>
        <p:spPr>
          <a:xfrm xmlns:a="http://schemas.openxmlformats.org/drawingml/2006/main">
            <a:off x="5888736" y="1316736"/>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(9)</a:t>
            </a:r>
          </a:p>
        </p:txBody>
      </p:sp>
      <p:sp>
        <p:nvSpPr>
          <p:cNvPr id="10" name="Shape 7">
            <a:extLst xmlns:a="http://schemas.openxmlformats.org/drawingml/2006/main">
              <a:ext uri="{FF2B5EF4-FFF2-40B4-BE49-F238E27FC236}">
                <a16:creationId xmlns:a16="http://schemas.microsoft.com/office/drawing/2014/main" id="{72E8B811-0D41-4718-A17C-8F76E73B4BAB}"/>
              </a:ext>
            </a:extLst>
          </p:cNvPr>
          <p:cNvSpPr>
            <a:spLocks xmlns:a="http://schemas.openxmlformats.org/drawingml/2006/main" noGrp="1"/>
          </p:cNvSpPr>
          <p:nvPr/>
        </p:nvSpPr>
        <p:spPr>
          <a:xfrm xmlns:a="http://schemas.openxmlformats.org/drawingml/2006/main">
            <a:off x="640080" y="2560320"/>
            <a:ext cx="5943600" cy="1188720"/>
          </a:xfrm>
          <a:prstGeom xmlns:a="http://schemas.openxmlformats.org/drawingml/2006/main" prst="roundRect">
            <a:avLst>
              <a:gd name="adj" fmla="val 384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67b2a6b7cd4445a0"/>
          <a:stretch xmlns:a="http://schemas.openxmlformats.org/drawingml/2006/main">
            <a:fillRect l="0" t="0" r="0" b="0"/>
          </a:stretch>
        </p:blipFill>
        <p:spPr>
          <a:xfrm xmlns:a="http://schemas.openxmlformats.org/drawingml/2006/main">
            <a:off x="877824" y="2724978"/>
            <a:ext cx="4901184" cy="310763"/>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0492F0A8-2257-473C-A9C7-0AFD71E8019E}"/>
              </a:ext>
            </a:extLst>
          </p:cNvPr>
          <p:cNvSpPr>
            <a:spLocks xmlns:a="http://schemas.openxmlformats.org/drawingml/2006/main" noGrp="1"/>
          </p:cNvSpPr>
          <p:nvPr/>
        </p:nvSpPr>
        <p:spPr>
          <a:xfrm xmlns:a="http://schemas.openxmlformats.org/drawingml/2006/main">
            <a:off x="877824" y="3127248"/>
            <a:ext cx="5468112"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p>
        </p:txBody>
      </p:sp>
      <p:sp>
        <p:nvSpPr>
          <p:cNvPr id="13" name="Text 9">
            <a:extLst xmlns:a="http://schemas.openxmlformats.org/drawingml/2006/main">
              <a:ext uri="{FF2B5EF4-FFF2-40B4-BE49-F238E27FC236}">
                <a16:creationId xmlns:a16="http://schemas.microsoft.com/office/drawing/2014/main" id="{A56540E5-9AF3-4DB5-830E-606B8F46E69D}"/>
              </a:ext>
            </a:extLst>
          </p:cNvPr>
          <p:cNvSpPr>
            <a:spLocks xmlns:a="http://schemas.openxmlformats.org/drawingml/2006/main" noGrp="1"/>
          </p:cNvSpPr>
          <p:nvPr/>
        </p:nvSpPr>
        <p:spPr>
          <a:xfrm xmlns:a="http://schemas.openxmlformats.org/drawingml/2006/main">
            <a:off x="5888736" y="270662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(10)</a:t>
            </a:r>
          </a:p>
        </p:txBody>
      </p:sp>
      <p:graphicFrame>
        <p:nvGraphicFramePr>
          <p:cNvPr id="14" name="Chart 0"/>
          <p:cNvGraphicFramePr/>
          <p:nvPr/>
        </p:nvGraphicFramePr>
        <p:xfrm>
          <a:off xmlns:a="http://schemas.openxmlformats.org/drawingml/2006/main" x="640080" y="3877056"/>
          <a:ext xmlns:a="http://schemas.openxmlformats.org/drawingml/2006/main" cx="5943600" cy="1463040"/>
        </p:xfrm>
        <a:graphic xmlns:a="http://schemas.openxmlformats.org/drawingml/2006/main">
          <a:graphicData uri="http://schemas.openxmlformats.org/drawingml/2006/chart">
            <c:chart xmlns:r="http://schemas.openxmlformats.org/officeDocument/2006/relationships" xmlns:c="http://schemas.openxmlformats.org/drawingml/2006/chart" r:id="Rfe1b320a21f34d32"/>
          </a:graphicData>
        </a:graphic>
      </p:graphicFrame>
      <p:sp>
        <p:nvSpPr>
          <p:cNvPr id="15" name="Text 10">
            <a:extLst xmlns:a="http://schemas.openxmlformats.org/drawingml/2006/main">
              <a:ext uri="{FF2B5EF4-FFF2-40B4-BE49-F238E27FC236}">
                <a16:creationId xmlns:a16="http://schemas.microsoft.com/office/drawing/2014/main" id="{68440535-6310-497D-BD0C-831C98B03440}"/>
              </a:ext>
            </a:extLst>
          </p:cNvPr>
          <p:cNvSpPr>
            <a:spLocks xmlns:a="http://schemas.openxmlformats.org/drawingml/2006/main" noGrp="1"/>
          </p:cNvSpPr>
          <p:nvPr/>
        </p:nvSpPr>
        <p:spPr>
          <a:xfrm xmlns:a="http://schemas.openxmlformats.org/drawingml/2006/main">
            <a:off x="640080" y="5431536"/>
            <a:ext cx="5943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Both actions admitted: zero quality failures, zero non-positive-utility groups, exact upper bounds 0.136 against the pilot's 15% limit — intentionally looser than the compiler's 5% registered-contract bound and not to be conflated with it.</a:t>
            </a:r>
          </a:p>
        </p:txBody>
      </p:sp>
      <p:sp>
        <p:nvSpPr>
          <p:cNvPr id="16" name="Shape 11">
            <a:extLst xmlns:a="http://schemas.openxmlformats.org/drawingml/2006/main">
              <a:ext uri="{FF2B5EF4-FFF2-40B4-BE49-F238E27FC236}">
                <a16:creationId xmlns:a16="http://schemas.microsoft.com/office/drawing/2014/main" id="{2572EAC4-DD16-4570-ABA5-BB4926A9FEDC}"/>
              </a:ext>
            </a:extLst>
          </p:cNvPr>
          <p:cNvSpPr>
            <a:spLocks xmlns:a="http://schemas.openxmlformats.org/drawingml/2006/main" noGrp="1"/>
          </p:cNvSpPr>
          <p:nvPr/>
        </p:nvSpPr>
        <p:spPr>
          <a:xfrm xmlns:a="http://schemas.openxmlformats.org/drawingml/2006/main">
            <a:off x="6949440" y="1170432"/>
            <a:ext cx="4602175" cy="3346704"/>
          </a:xfrm>
          <a:prstGeom xmlns:a="http://schemas.openxmlformats.org/drawingml/2006/main" prst="roundRect">
            <a:avLst>
              <a:gd name="adj" fmla="val 136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2">
            <a:extLst xmlns:a="http://schemas.openxmlformats.org/drawingml/2006/main">
              <a:ext uri="{FF2B5EF4-FFF2-40B4-BE49-F238E27FC236}">
                <a16:creationId xmlns:a16="http://schemas.microsoft.com/office/drawing/2014/main" id="{B7A5E8E0-AEE6-47B3-A8F6-EF84C311508B}"/>
              </a:ext>
            </a:extLst>
          </p:cNvPr>
          <p:cNvSpPr>
            <a:spLocks xmlns:a="http://schemas.openxmlformats.org/drawingml/2006/main" noGrp="1"/>
          </p:cNvSpPr>
          <p:nvPr/>
        </p:nvSpPr>
        <p:spPr>
          <a:xfrm xmlns:a="http://schemas.openxmlformats.org/drawingml/2006/main">
            <a:off x="7205472" y="1316736"/>
            <a:ext cx="4090111"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b="1">
                <a:solidFill>
                  <a:srgbClr val="1F8A99"/>
                </a:solidFill>
                <a:latin typeface="Calibri"/>
                <a:ea typeface="Calibri"/>
                <a:cs typeface="Calibri"/>
              </a:rPr>
              <a:t>PROSPECTIVE TEST — 12 FRESH PUBLIC ISSUES, DECISION AND HASH FROZEN FIRST</a:t>
            </a:r>
          </a:p>
        </p:txBody>
      </p:sp>
      <p:sp>
        <p:nvSpPr>
          <p:cNvPr id="18" name="Text 13">
            <a:extLst xmlns:a="http://schemas.openxmlformats.org/drawingml/2006/main">
              <a:ext uri="{FF2B5EF4-FFF2-40B4-BE49-F238E27FC236}">
                <a16:creationId xmlns:a16="http://schemas.microsoft.com/office/drawing/2014/main" id="{BE2A6406-4C2A-4240-867A-CD1E2E280A1F}"/>
              </a:ext>
            </a:extLst>
          </p:cNvPr>
          <p:cNvSpPr>
            <a:spLocks xmlns:a="http://schemas.openxmlformats.org/drawingml/2006/main" noGrp="1"/>
          </p:cNvSpPr>
          <p:nvPr/>
        </p:nvSpPr>
        <p:spPr>
          <a:xfrm xmlns:a="http://schemas.openxmlformats.org/drawingml/2006/main">
            <a:off x="7205472" y="177393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F8A99"/>
                </a:solidFill>
                <a:latin typeface="Cambria"/>
                <a:ea typeface="Cambria"/>
                <a:cs typeface="Cambria"/>
              </a:rPr>
              <a:t>12 / 12</a:t>
            </a:r>
          </a:p>
        </p:txBody>
      </p:sp>
      <p:sp>
        <p:nvSpPr>
          <p:cNvPr id="19" name="Text 14">
            <a:extLst xmlns:a="http://schemas.openxmlformats.org/drawingml/2006/main">
              <a:ext uri="{FF2B5EF4-FFF2-40B4-BE49-F238E27FC236}">
                <a16:creationId xmlns:a16="http://schemas.microsoft.com/office/drawing/2014/main" id="{69418A75-0AE6-47BD-BD89-2AB870F5D905}"/>
              </a:ext>
            </a:extLst>
          </p:cNvPr>
          <p:cNvSpPr>
            <a:spLocks xmlns:a="http://schemas.openxmlformats.org/drawingml/2006/main" noGrp="1"/>
          </p:cNvSpPr>
          <p:nvPr/>
        </p:nvSpPr>
        <p:spPr>
          <a:xfrm xmlns:a="http://schemas.openxmlformats.org/drawingml/2006/main">
            <a:off x="8549640" y="177393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exact factual and full task contracts</a:t>
            </a:r>
          </a:p>
        </p:txBody>
      </p:sp>
      <p:sp>
        <p:nvSpPr>
          <p:cNvPr id="20" name="Text 15">
            <a:extLst xmlns:a="http://schemas.openxmlformats.org/drawingml/2006/main">
              <a:ext uri="{FF2B5EF4-FFF2-40B4-BE49-F238E27FC236}">
                <a16:creationId xmlns:a16="http://schemas.microsoft.com/office/drawing/2014/main" id="{AE88C580-0FC6-41A1-90B7-4B4A307FFAE3}"/>
              </a:ext>
            </a:extLst>
          </p:cNvPr>
          <p:cNvSpPr>
            <a:spLocks xmlns:a="http://schemas.openxmlformats.org/drawingml/2006/main" noGrp="1"/>
          </p:cNvSpPr>
          <p:nvPr/>
        </p:nvSpPr>
        <p:spPr>
          <a:xfrm xmlns:a="http://schemas.openxmlformats.org/drawingml/2006/main">
            <a:off x="7205472" y="2212848"/>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21" name="Text 16">
            <a:extLst xmlns:a="http://schemas.openxmlformats.org/drawingml/2006/main">
              <a:ext uri="{FF2B5EF4-FFF2-40B4-BE49-F238E27FC236}">
                <a16:creationId xmlns:a16="http://schemas.microsoft.com/office/drawing/2014/main" id="{8A1216B5-4A32-40A1-9C43-D456D10A739C}"/>
              </a:ext>
            </a:extLst>
          </p:cNvPr>
          <p:cNvSpPr>
            <a:spLocks xmlns:a="http://schemas.openxmlformats.org/drawingml/2006/main" noGrp="1"/>
          </p:cNvSpPr>
          <p:nvPr/>
        </p:nvSpPr>
        <p:spPr>
          <a:xfrm xmlns:a="http://schemas.openxmlformats.org/drawingml/2006/main">
            <a:off x="8549640" y="2212848"/>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provider requests (4 → 2)</a:t>
            </a:r>
          </a:p>
        </p:txBody>
      </p:sp>
      <p:sp>
        <p:nvSpPr>
          <p:cNvPr id="22" name="Text 17">
            <a:extLst xmlns:a="http://schemas.openxmlformats.org/drawingml/2006/main">
              <a:ext uri="{FF2B5EF4-FFF2-40B4-BE49-F238E27FC236}">
                <a16:creationId xmlns:a16="http://schemas.microsoft.com/office/drawing/2014/main" id="{9B81F335-27B1-46F4-9361-523CE7C26DCE}"/>
              </a:ext>
            </a:extLst>
          </p:cNvPr>
          <p:cNvSpPr>
            <a:spLocks xmlns:a="http://schemas.openxmlformats.org/drawingml/2006/main" noGrp="1"/>
          </p:cNvSpPr>
          <p:nvPr/>
        </p:nvSpPr>
        <p:spPr>
          <a:xfrm xmlns:a="http://schemas.openxmlformats.org/drawingml/2006/main">
            <a:off x="7205472" y="2651760"/>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−66.7%</a:t>
            </a:r>
          </a:p>
        </p:txBody>
      </p:sp>
      <p:sp>
        <p:nvSpPr>
          <p:cNvPr id="23" name="Text 18">
            <a:extLst xmlns:a="http://schemas.openxmlformats.org/drawingml/2006/main">
              <a:ext uri="{FF2B5EF4-FFF2-40B4-BE49-F238E27FC236}">
                <a16:creationId xmlns:a16="http://schemas.microsoft.com/office/drawing/2014/main" id="{0601CDFC-4D08-4F2A-B210-7C8825072DA1}"/>
              </a:ext>
            </a:extLst>
          </p:cNvPr>
          <p:cNvSpPr>
            <a:spLocks xmlns:a="http://schemas.openxmlformats.org/drawingml/2006/main" noGrp="1"/>
          </p:cNvSpPr>
          <p:nvPr/>
        </p:nvSpPr>
        <p:spPr>
          <a:xfrm xmlns:a="http://schemas.openxmlformats.org/drawingml/2006/main">
            <a:off x="8549640" y="265176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tool calls (3 → 1)</a:t>
            </a:r>
          </a:p>
        </p:txBody>
      </p:sp>
      <p:sp>
        <p:nvSpPr>
          <p:cNvPr id="24" name="Text 19">
            <a:extLst xmlns:a="http://schemas.openxmlformats.org/drawingml/2006/main">
              <a:ext uri="{FF2B5EF4-FFF2-40B4-BE49-F238E27FC236}">
                <a16:creationId xmlns:a16="http://schemas.microsoft.com/office/drawing/2014/main" id="{FD47020F-EEB0-4848-A920-B11B39935DE4}"/>
              </a:ext>
            </a:extLst>
          </p:cNvPr>
          <p:cNvSpPr>
            <a:spLocks xmlns:a="http://schemas.openxmlformats.org/drawingml/2006/main" noGrp="1"/>
          </p:cNvSpPr>
          <p:nvPr/>
        </p:nvSpPr>
        <p:spPr>
          <a:xfrm xmlns:a="http://schemas.openxmlformats.org/drawingml/2006/main">
            <a:off x="7205472" y="3090672"/>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−59.2%</a:t>
            </a:r>
          </a:p>
        </p:txBody>
      </p:sp>
      <p:sp>
        <p:nvSpPr>
          <p:cNvPr id="25" name="Text 20">
            <a:extLst xmlns:a="http://schemas.openxmlformats.org/drawingml/2006/main">
              <a:ext uri="{FF2B5EF4-FFF2-40B4-BE49-F238E27FC236}">
                <a16:creationId xmlns:a16="http://schemas.microsoft.com/office/drawing/2014/main" id="{6E1E6E9B-B613-48A7-ACB2-DD40A3D75C26}"/>
              </a:ext>
            </a:extLst>
          </p:cNvPr>
          <p:cNvSpPr>
            <a:spLocks xmlns:a="http://schemas.openxmlformats.org/drawingml/2006/main" noGrp="1"/>
          </p:cNvSpPr>
          <p:nvPr/>
        </p:nvSpPr>
        <p:spPr>
          <a:xfrm xmlns:a="http://schemas.openxmlformats.org/drawingml/2006/main">
            <a:off x="8549640" y="3090672"/>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total tokens</a:t>
            </a:r>
          </a:p>
        </p:txBody>
      </p:sp>
      <p:sp>
        <p:nvSpPr>
          <p:cNvPr id="26" name="Text 21">
            <a:extLst xmlns:a="http://schemas.openxmlformats.org/drawingml/2006/main">
              <a:ext uri="{FF2B5EF4-FFF2-40B4-BE49-F238E27FC236}">
                <a16:creationId xmlns:a16="http://schemas.microsoft.com/office/drawing/2014/main" id="{1FCED8C9-A909-4FC4-A264-8DD7BFD707E3}"/>
              </a:ext>
            </a:extLst>
          </p:cNvPr>
          <p:cNvSpPr>
            <a:spLocks xmlns:a="http://schemas.openxmlformats.org/drawingml/2006/main" noGrp="1"/>
          </p:cNvSpPr>
          <p:nvPr/>
        </p:nvSpPr>
        <p:spPr>
          <a:xfrm xmlns:a="http://schemas.openxmlformats.org/drawingml/2006/main">
            <a:off x="7205472" y="3529584"/>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−40.6%</a:t>
            </a:r>
          </a:p>
        </p:txBody>
      </p:sp>
      <p:sp>
        <p:nvSpPr>
          <p:cNvPr id="27" name="Text 22">
            <a:extLst xmlns:a="http://schemas.openxmlformats.org/drawingml/2006/main">
              <a:ext uri="{FF2B5EF4-FFF2-40B4-BE49-F238E27FC236}">
                <a16:creationId xmlns:a16="http://schemas.microsoft.com/office/drawing/2014/main" id="{3A78CAB0-61B1-4FB1-8445-AA18D3B1286E}"/>
              </a:ext>
            </a:extLst>
          </p:cNvPr>
          <p:cNvSpPr>
            <a:spLocks xmlns:a="http://schemas.openxmlformats.org/drawingml/2006/main" noGrp="1"/>
          </p:cNvSpPr>
          <p:nvPr/>
        </p:nvSpPr>
        <p:spPr>
          <a:xfrm xmlns:a="http://schemas.openxmlformats.org/drawingml/2006/main">
            <a:off x="8549640" y="3529584"/>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estimated cost</a:t>
            </a:r>
          </a:p>
        </p:txBody>
      </p:sp>
      <p:sp>
        <p:nvSpPr>
          <p:cNvPr id="28" name="Text 23">
            <a:extLst xmlns:a="http://schemas.openxmlformats.org/drawingml/2006/main">
              <a:ext uri="{FF2B5EF4-FFF2-40B4-BE49-F238E27FC236}">
                <a16:creationId xmlns:a16="http://schemas.microsoft.com/office/drawing/2014/main" id="{384D46FF-2A9C-4D1F-94CC-F845FE510896}"/>
              </a:ext>
            </a:extLst>
          </p:cNvPr>
          <p:cNvSpPr>
            <a:spLocks xmlns:a="http://schemas.openxmlformats.org/drawingml/2006/main" noGrp="1"/>
          </p:cNvSpPr>
          <p:nvPr/>
        </p:nvSpPr>
        <p:spPr>
          <a:xfrm xmlns:a="http://schemas.openxmlformats.org/drawingml/2006/main">
            <a:off x="7205472" y="396849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−71.6%</a:t>
            </a:r>
          </a:p>
        </p:txBody>
      </p:sp>
      <p:sp>
        <p:nvSpPr>
          <p:cNvPr id="29" name="Text 24">
            <a:extLst xmlns:a="http://schemas.openxmlformats.org/drawingml/2006/main">
              <a:ext uri="{FF2B5EF4-FFF2-40B4-BE49-F238E27FC236}">
                <a16:creationId xmlns:a16="http://schemas.microsoft.com/office/drawing/2014/main" id="{A7834B04-4D6F-4461-898A-047965FDBEC9}"/>
              </a:ext>
            </a:extLst>
          </p:cNvPr>
          <p:cNvSpPr>
            <a:spLocks xmlns:a="http://schemas.openxmlformats.org/drawingml/2006/main" noGrp="1"/>
          </p:cNvSpPr>
          <p:nvPr/>
        </p:nvSpPr>
        <p:spPr>
          <a:xfrm xmlns:a="http://schemas.openxmlformats.org/drawingml/2006/main">
            <a:off x="8549640" y="396849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observed wall latency</a:t>
            </a:r>
          </a:p>
        </p:txBody>
      </p:sp>
      <p:sp>
        <p:nvSpPr>
          <p:cNvPr id="30" name="Shape 25">
            <a:extLst xmlns:a="http://schemas.openxmlformats.org/drawingml/2006/main">
              <a:ext uri="{FF2B5EF4-FFF2-40B4-BE49-F238E27FC236}">
                <a16:creationId xmlns:a16="http://schemas.microsoft.com/office/drawing/2014/main" id="{D1319558-C48F-4486-B58B-396764C4D291}"/>
              </a:ext>
            </a:extLst>
          </p:cNvPr>
          <p:cNvSpPr>
            <a:spLocks xmlns:a="http://schemas.openxmlformats.org/drawingml/2006/main" noGrp="1"/>
          </p:cNvSpPr>
          <p:nvPr/>
        </p:nvSpPr>
        <p:spPr>
          <a:xfrm xmlns:a="http://schemas.openxmlformats.org/drawingml/2006/main">
            <a:off x="6949440" y="4645152"/>
            <a:ext cx="460217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6">
            <a:extLst xmlns:a="http://schemas.openxmlformats.org/drawingml/2006/main">
              <a:ext uri="{FF2B5EF4-FFF2-40B4-BE49-F238E27FC236}">
                <a16:creationId xmlns:a16="http://schemas.microsoft.com/office/drawing/2014/main" id="{BE925BB7-B2FE-4824-BE42-E4365E3DBD75}"/>
              </a:ext>
            </a:extLst>
          </p:cNvPr>
          <p:cNvSpPr>
            <a:spLocks xmlns:a="http://schemas.openxmlformats.org/drawingml/2006/main" noGrp="1"/>
          </p:cNvSpPr>
          <p:nvPr/>
        </p:nvSpPr>
        <p:spPr>
          <a:xfrm xmlns:a="http://schemas.openxmlformats.org/drawingml/2006/main">
            <a:off x="7205472" y="4754880"/>
            <a:ext cx="4090111"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What the pilot cannot establish</a:t>
            </a:r>
          </a:p>
        </p:txBody>
      </p:sp>
      <p:sp>
        <p:nvSpPr>
          <p:cNvPr id="32" name="Text 27">
            <a:extLst xmlns:a="http://schemas.openxmlformats.org/drawingml/2006/main">
              <a:ext uri="{FF2B5EF4-FFF2-40B4-BE49-F238E27FC236}">
                <a16:creationId xmlns:a16="http://schemas.microsoft.com/office/drawing/2014/main" id="{8089BAD3-112D-43B6-8337-4B5344E4DA24}"/>
              </a:ext>
            </a:extLst>
          </p:cNvPr>
          <p:cNvSpPr>
            <a:spLocks xmlns:a="http://schemas.openxmlformats.org/drawingml/2006/main" noGrp="1"/>
          </p:cNvSpPr>
          <p:nvPr/>
        </p:nvSpPr>
        <p:spPr>
          <a:xfrm xmlns:a="http://schemas.openxmlformats.org/drawingml/2006/main">
            <a:off x="7205472" y="5029200"/>
            <a:ext cx="4090111" cy="9692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p>
        </p:txBody>
      </p:sp>
    </p:spTree>
    <p:extLst>
      <p:ext uri="{BB962C8B-B14F-4D97-AF65-F5344CB8AC3E}">
        <p14:creationId xmlns:p14="http://schemas.microsoft.com/office/powerpoint/2010/main" val="28004900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357CE1-A3DA-49C9-A6B3-202AF05AC9A2}"/>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D270FB0-F861-4B00-9313-53A4F69D5FF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9D0ABAA4-8771-4F2E-9333-44BEFBEDB3A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F70183CC-C4E9-466E-8DFC-AF01C869984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results the evidence deliberately does not deliver</a:t>
            </a:r>
          </a:p>
        </p:txBody>
      </p:sp>
      <p:sp>
        <p:nvSpPr>
          <p:cNvPr id="6" name="Shape 4">
            <a:extLst xmlns:a="http://schemas.openxmlformats.org/drawingml/2006/main">
              <a:ext uri="{FF2B5EF4-FFF2-40B4-BE49-F238E27FC236}">
                <a16:creationId xmlns:a16="http://schemas.microsoft.com/office/drawing/2014/main" id="{A6B1F71C-39CD-4C18-BD86-FFD0EAB217ED}"/>
              </a:ext>
            </a:extLst>
          </p:cNvPr>
          <p:cNvSpPr>
            <a:spLocks xmlns:a="http://schemas.openxmlformats.org/drawingml/2006/main" noGrp="1"/>
          </p:cNvSpPr>
          <p:nvPr/>
        </p:nvSpPr>
        <p:spPr>
          <a:xfrm xmlns:a="http://schemas.openxmlformats.org/drawingml/2006/main">
            <a:off x="640080"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9BF48B77-5AD7-4E93-ABF2-66F465EA410A}"/>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C4F5CAC-36F9-428C-9429-5172CC376DCC}"/>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3B1A0EE2-4CF4-43D2-992A-207CAF776890}"/>
              </a:ext>
            </a:extLst>
          </p:cNvPr>
          <p:cNvSpPr>
            <a:spLocks xmlns:a="http://schemas.openxmlformats.org/drawingml/2006/main" noGrp="1"/>
          </p:cNvSpPr>
          <p:nvPr/>
        </p:nvSpPr>
        <p:spPr>
          <a:xfrm xmlns:a="http://schemas.openxmlformats.org/drawingml/2006/main">
            <a:off x="1225296"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selective gate did not discriminate</a:t>
            </a:r>
          </a:p>
        </p:txBody>
      </p:sp>
      <p:sp>
        <p:nvSpPr>
          <p:cNvPr id="10" name="Text 8">
            <a:extLst xmlns:a="http://schemas.openxmlformats.org/drawingml/2006/main">
              <a:ext uri="{FF2B5EF4-FFF2-40B4-BE49-F238E27FC236}">
                <a16:creationId xmlns:a16="http://schemas.microsoft.com/office/drawing/2014/main" id="{050B1A6F-3C74-4F35-9E76-A9722103BA6F}"/>
              </a:ext>
            </a:extLst>
          </p:cNvPr>
          <p:cNvSpPr>
            <a:spLocks xmlns:a="http://schemas.openxmlformats.org/drawingml/2006/main" noGrp="1"/>
          </p:cNvSpPr>
          <p:nvPr/>
        </p:nvSpPr>
        <p:spPr>
          <a:xfrm xmlns:a="http://schemas.openxmlformats.org/drawingml/2006/main">
            <a:off x="877824"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p>
        </p:txBody>
      </p:sp>
      <p:sp>
        <p:nvSpPr>
          <p:cNvPr id="11" name="Shape 9">
            <a:extLst xmlns:a="http://schemas.openxmlformats.org/drawingml/2006/main">
              <a:ext uri="{FF2B5EF4-FFF2-40B4-BE49-F238E27FC236}">
                <a16:creationId xmlns:a16="http://schemas.microsoft.com/office/drawing/2014/main" id="{689F81D4-2A55-4542-8FCB-4A0E3B3DC3DA}"/>
              </a:ext>
            </a:extLst>
          </p:cNvPr>
          <p:cNvSpPr>
            <a:spLocks xmlns:a="http://schemas.openxmlformats.org/drawingml/2006/main" noGrp="1"/>
          </p:cNvSpPr>
          <p:nvPr/>
        </p:nvSpPr>
        <p:spPr>
          <a:xfrm xmlns:a="http://schemas.openxmlformats.org/drawingml/2006/main">
            <a:off x="4356506"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75B7DC91-2B51-4631-B27C-294239BE9FAE}"/>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C4D173D-B43B-4587-A0AD-30610D040B08}"/>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8089A3AF-B844-4894-B2B0-B6905AA55D27}"/>
              </a:ext>
            </a:extLst>
          </p:cNvPr>
          <p:cNvSpPr>
            <a:spLocks xmlns:a="http://schemas.openxmlformats.org/drawingml/2006/main" noGrp="1"/>
          </p:cNvSpPr>
          <p:nvPr/>
        </p:nvSpPr>
        <p:spPr>
          <a:xfrm xmlns:a="http://schemas.openxmlformats.org/drawingml/2006/main">
            <a:off x="4941722"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15210B99-8C50-4A04-B835-BCEADE08961D}"/>
              </a:ext>
            </a:extLst>
          </p:cNvPr>
          <p:cNvSpPr>
            <a:spLocks xmlns:a="http://schemas.openxmlformats.org/drawingml/2006/main" noGrp="1"/>
          </p:cNvSpPr>
          <p:nvPr/>
        </p:nvSpPr>
        <p:spPr>
          <a:xfrm xmlns:a="http://schemas.openxmlformats.org/drawingml/2006/main">
            <a:off x="4594250"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p>
        </p:txBody>
      </p:sp>
      <p:sp>
        <p:nvSpPr>
          <p:cNvPr id="16" name="Shape 14">
            <a:extLst xmlns:a="http://schemas.openxmlformats.org/drawingml/2006/main">
              <a:ext uri="{FF2B5EF4-FFF2-40B4-BE49-F238E27FC236}">
                <a16:creationId xmlns:a16="http://schemas.microsoft.com/office/drawing/2014/main" id="{4C69C06F-6FE7-44A8-A090-C1CABF06B787}"/>
              </a:ext>
            </a:extLst>
          </p:cNvPr>
          <p:cNvSpPr>
            <a:spLocks xmlns:a="http://schemas.openxmlformats.org/drawingml/2006/main" noGrp="1"/>
          </p:cNvSpPr>
          <p:nvPr/>
        </p:nvSpPr>
        <p:spPr>
          <a:xfrm xmlns:a="http://schemas.openxmlformats.org/drawingml/2006/main">
            <a:off x="8072933"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AE42BC7-FB4F-4A5D-AF29-8801C311F2C4}"/>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19843CBC-17D0-40CD-8EBD-E895CA31BA78}"/>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D9041EA1-0961-479F-A419-FBCF3C04F71D}"/>
              </a:ext>
            </a:extLst>
          </p:cNvPr>
          <p:cNvSpPr>
            <a:spLocks xmlns:a="http://schemas.openxmlformats.org/drawingml/2006/main" noGrp="1"/>
          </p:cNvSpPr>
          <p:nvPr/>
        </p:nvSpPr>
        <p:spPr>
          <a:xfrm xmlns:a="http://schemas.openxmlformats.org/drawingml/2006/main">
            <a:off x="8658149"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5A99B486-1747-440D-A0E0-BD214A5A2E81}"/>
              </a:ext>
            </a:extLst>
          </p:cNvPr>
          <p:cNvSpPr>
            <a:spLocks xmlns:a="http://schemas.openxmlformats.org/drawingml/2006/main" noGrp="1"/>
          </p:cNvSpPr>
          <p:nvPr/>
        </p:nvSpPr>
        <p:spPr>
          <a:xfrm xmlns:a="http://schemas.openxmlformats.org/drawingml/2006/main">
            <a:off x="8310677"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BEB305F5-AA77-45D4-806E-AD2A74722CBE}"/>
              </a:ext>
            </a:extLst>
          </p:cNvPr>
          <p:cNvSpPr>
            <a:spLocks xmlns:a="http://schemas.openxmlformats.org/drawingml/2006/main" noGrp="1"/>
          </p:cNvSpPr>
          <p:nvPr/>
        </p:nvSpPr>
        <p:spPr>
          <a:xfrm xmlns:a="http://schemas.openxmlformats.org/drawingml/2006/main">
            <a:off x="640080"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E4151B36-22B0-413E-8FC8-A6253C0475DA}"/>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D7069AAA-D0F5-415B-A2F8-86E5C34C265C}"/>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97AF684D-6FA6-4D5A-A4D2-80CE575CED88}"/>
              </a:ext>
            </a:extLst>
          </p:cNvPr>
          <p:cNvSpPr>
            <a:spLocks xmlns:a="http://schemas.openxmlformats.org/drawingml/2006/main" noGrp="1"/>
          </p:cNvSpPr>
          <p:nvPr/>
        </p:nvSpPr>
        <p:spPr>
          <a:xfrm xmlns:a="http://schemas.openxmlformats.org/drawingml/2006/main">
            <a:off x="1225296"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7768F2B0-0E6A-4C0E-A77C-ED9F7D2F264B}"/>
              </a:ext>
            </a:extLst>
          </p:cNvPr>
          <p:cNvSpPr>
            <a:spLocks xmlns:a="http://schemas.openxmlformats.org/drawingml/2006/main" noGrp="1"/>
          </p:cNvSpPr>
          <p:nvPr/>
        </p:nvSpPr>
        <p:spPr>
          <a:xfrm xmlns:a="http://schemas.openxmlformats.org/drawingml/2006/main">
            <a:off x="877824"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p>
        </p:txBody>
      </p:sp>
      <p:sp>
        <p:nvSpPr>
          <p:cNvPr id="26" name="Shape 24">
            <a:extLst xmlns:a="http://schemas.openxmlformats.org/drawingml/2006/main">
              <a:ext uri="{FF2B5EF4-FFF2-40B4-BE49-F238E27FC236}">
                <a16:creationId xmlns:a16="http://schemas.microsoft.com/office/drawing/2014/main" id="{FC2A3325-57D3-4ED2-B38A-5276F492DC3D}"/>
              </a:ext>
            </a:extLst>
          </p:cNvPr>
          <p:cNvSpPr>
            <a:spLocks xmlns:a="http://schemas.openxmlformats.org/drawingml/2006/main" noGrp="1"/>
          </p:cNvSpPr>
          <p:nvPr/>
        </p:nvSpPr>
        <p:spPr>
          <a:xfrm xmlns:a="http://schemas.openxmlformats.org/drawingml/2006/main">
            <a:off x="4356506"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C43C9193-97D0-4305-8D6F-1A61CB1FC832}"/>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0FF0E8FF-EE37-4E6D-94EA-447CD9F2C8E6}"/>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5186EA46-4689-4B53-9E4F-A5A509519A7E}"/>
              </a:ext>
            </a:extLst>
          </p:cNvPr>
          <p:cNvSpPr>
            <a:spLocks xmlns:a="http://schemas.openxmlformats.org/drawingml/2006/main" noGrp="1"/>
          </p:cNvSpPr>
          <p:nvPr/>
        </p:nvSpPr>
        <p:spPr>
          <a:xfrm xmlns:a="http://schemas.openxmlformats.org/drawingml/2006/main">
            <a:off x="4941722"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Factual quality is narrow</a:t>
            </a:r>
          </a:p>
        </p:txBody>
      </p:sp>
      <p:sp>
        <p:nvSpPr>
          <p:cNvPr id="30" name="Text 28">
            <a:extLst xmlns:a="http://schemas.openxmlformats.org/drawingml/2006/main">
              <a:ext uri="{FF2B5EF4-FFF2-40B4-BE49-F238E27FC236}">
                <a16:creationId xmlns:a16="http://schemas.microsoft.com/office/drawing/2014/main" id="{BE878E8C-B3B0-4CEE-8838-0FC2110E5B87}"/>
              </a:ext>
            </a:extLst>
          </p:cNvPr>
          <p:cNvSpPr>
            <a:spLocks xmlns:a="http://schemas.openxmlformats.org/drawingml/2006/main" noGrp="1"/>
          </p:cNvSpPr>
          <p:nvPr/>
        </p:nvSpPr>
        <p:spPr>
          <a:xfrm xmlns:a="http://schemas.openxmlformats.org/drawingml/2006/main">
            <a:off x="4594250"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p>
        </p:txBody>
      </p:sp>
      <p:sp>
        <p:nvSpPr>
          <p:cNvPr id="31" name="Shape 29">
            <a:extLst xmlns:a="http://schemas.openxmlformats.org/drawingml/2006/main">
              <a:ext uri="{FF2B5EF4-FFF2-40B4-BE49-F238E27FC236}">
                <a16:creationId xmlns:a16="http://schemas.microsoft.com/office/drawing/2014/main" id="{072ECF0C-A020-42FA-A9B7-6A87FC558411}"/>
              </a:ext>
            </a:extLst>
          </p:cNvPr>
          <p:cNvSpPr>
            <a:spLocks xmlns:a="http://schemas.openxmlformats.org/drawingml/2006/main" noGrp="1"/>
          </p:cNvSpPr>
          <p:nvPr/>
        </p:nvSpPr>
        <p:spPr>
          <a:xfrm xmlns:a="http://schemas.openxmlformats.org/drawingml/2006/main">
            <a:off x="8072933"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Shape 30">
            <a:extLst xmlns:a="http://schemas.openxmlformats.org/drawingml/2006/main">
              <a:ext uri="{FF2B5EF4-FFF2-40B4-BE49-F238E27FC236}">
                <a16:creationId xmlns:a16="http://schemas.microsoft.com/office/drawing/2014/main" id="{36B1DC00-BFF5-4947-84E9-4ECFACA35D4D}"/>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17EF352A-F0EE-426E-AE01-EF4B4405DFD9}"/>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34" name="Text 32">
            <a:extLst xmlns:a="http://schemas.openxmlformats.org/drawingml/2006/main">
              <a:ext uri="{FF2B5EF4-FFF2-40B4-BE49-F238E27FC236}">
                <a16:creationId xmlns:a16="http://schemas.microsoft.com/office/drawing/2014/main" id="{6E7FE7CE-A80E-48F6-A3F5-2BC5650EBDBD}"/>
              </a:ext>
            </a:extLst>
          </p:cNvPr>
          <p:cNvSpPr>
            <a:spLocks xmlns:a="http://schemas.openxmlformats.org/drawingml/2006/main" noGrp="1"/>
          </p:cNvSpPr>
          <p:nvPr/>
        </p:nvSpPr>
        <p:spPr>
          <a:xfrm xmlns:a="http://schemas.openxmlformats.org/drawingml/2006/main">
            <a:off x="8658149"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Latency is partly confounded</a:t>
            </a:r>
          </a:p>
        </p:txBody>
      </p:sp>
      <p:sp>
        <p:nvSpPr>
          <p:cNvPr id="35" name="Text 33">
            <a:extLst xmlns:a="http://schemas.openxmlformats.org/drawingml/2006/main">
              <a:ext uri="{FF2B5EF4-FFF2-40B4-BE49-F238E27FC236}">
                <a16:creationId xmlns:a16="http://schemas.microsoft.com/office/drawing/2014/main" id="{E23A4064-5F2F-4E52-A6F2-43DBE17FEEAA}"/>
              </a:ext>
            </a:extLst>
          </p:cNvPr>
          <p:cNvSpPr>
            <a:spLocks xmlns:a="http://schemas.openxmlformats.org/drawingml/2006/main" noGrp="1"/>
          </p:cNvSpPr>
          <p:nvPr/>
        </p:nvSpPr>
        <p:spPr>
          <a:xfrm xmlns:a="http://schemas.openxmlformats.org/drawingml/2006/main">
            <a:off x="8310677"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p>
        </p:txBody>
      </p:sp>
      <p:sp>
        <p:nvSpPr>
          <p:cNvPr id="36" name="Text 34">
            <a:extLst xmlns:a="http://schemas.openxmlformats.org/drawingml/2006/main">
              <a:ext uri="{FF2B5EF4-FFF2-40B4-BE49-F238E27FC236}">
                <a16:creationId xmlns:a16="http://schemas.microsoft.com/office/drawing/2014/main" id="{B11D2FCE-17A2-4BC6-8575-2ED34D155AAF}"/>
              </a:ext>
            </a:extLst>
          </p:cNvPr>
          <p:cNvSpPr>
            <a:spLocks xmlns:a="http://schemas.openxmlformats.org/drawingml/2006/main" noGrp="1"/>
          </p:cNvSpPr>
          <p:nvPr/>
        </p:nvSpPr>
        <p:spPr>
          <a:xfrm xmlns:a="http://schemas.openxmlformats.org/drawingml/2006/main">
            <a:off x="640080" y="5943600"/>
            <a:ext cx="10911535"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i="1">
                <a:solidFill>
                  <a:srgbClr val="5A6B84"/>
                </a:solidFill>
                <a:latin typeface="Calibri"/>
                <a:ea typeface="Calibri"/>
                <a:cs typeface="Calibri"/>
              </a:rPr>
              <a:t>Also: discovery is not free (132 episodes cost 528 provider requests, 533,293 tokens, and about $0.096), and provider-side break-even runs 181–411 episodes; part of the reported 32.0–75.3% cost range is prompt-cache warmth rather than compiled depth, and no cache-controlled replication exists; the fair-placement/GEPA study has only six held-out records; risk control is per artifact; the closed DSL misses legitimate transformations and loops; and pre-snapshot Git ancestry cannot be reconstructed.</a:t>
            </a:r>
          </a:p>
        </p:txBody>
      </p:sp>
    </p:spTree>
    <p:extLst>
      <p:ext uri="{BB962C8B-B14F-4D97-AF65-F5344CB8AC3E}">
        <p14:creationId xmlns:p14="http://schemas.microsoft.com/office/powerpoint/2010/main" val="8491956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ED5F6B-CEDB-4652-A7B8-417B0A20932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32E7537-29B5-400D-AF8C-7A1664E3CC8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26</a:t>
            </a:r>
          </a:p>
        </p:txBody>
      </p:sp>
      <p:sp>
        <p:nvSpPr>
          <p:cNvPr id="4" name="Text 2">
            <a:extLst xmlns:a="http://schemas.openxmlformats.org/drawingml/2006/main">
              <a:ext uri="{FF2B5EF4-FFF2-40B4-BE49-F238E27FC236}">
                <a16:creationId xmlns:a16="http://schemas.microsoft.com/office/drawing/2014/main" id="{C6A5A488-3A02-4BA9-A998-24632BFC5B4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APPENDIX C / TABLE 9</a:t>
            </a:r>
          </a:p>
        </p:txBody>
      </p:sp>
      <p:sp>
        <p:nvSpPr>
          <p:cNvPr id="5" name="Text 3">
            <a:extLst xmlns:a="http://schemas.openxmlformats.org/drawingml/2006/main">
              <a:ext uri="{FF2B5EF4-FFF2-40B4-BE49-F238E27FC236}">
                <a16:creationId xmlns:a16="http://schemas.microsoft.com/office/drawing/2014/main" id="{8150CFCA-65BA-4DD4-B17A-F93F42975E5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complete claims register — retained to prevent narrative drift</a:t>
            </a:r>
          </a:p>
        </p:txBody>
      </p:sp>
      <p:graphicFrame>
        <p:nvGraphicFramePr>
          <p:cNvPr id="6" name="Table 0"/>
          <p:cNvGraphicFramePr/>
          <p:nvPr/>
        </p:nvGraphicFramePr>
        <p:xfrm>
          <a:off xmlns:a="http://schemas.openxmlformats.org/drawingml/2006/main" x="640080" y="1170432"/>
          <a:ext xmlns:a="http://schemas.openxmlformats.org/drawingml/2006/main" cx="10908792" cy="3712464"/>
        </p:xfrm>
        <a:graphic xmlns:a="http://schemas.openxmlformats.org/drawingml/2006/main">
          <a:graphicData uri="http://schemas.openxmlformats.org/drawingml/2006/table">
            <a:tbl>
              <a:tblPr/>
              <a:tblGrid>
                <a:gridCol w="457200"/>
                <a:gridCol w="3657600"/>
                <a:gridCol w="4690872"/>
                <a:gridCol w="2103120"/>
              </a:tblGrid>
              <a:tr h="265176">
                <a:tc>
                  <a:txBody>
                    <a:bodyPr/>
                    <a:lstStyle/>
                    <a:p>
                      <a:pPr marL="0" indent="0">
                        <a:buNone/>
                      </a:pPr>
                      <a:r>
                        <a:rPr sz="900" b="1">
                          <a:solidFill>
                            <a:srgbClr val="FFFFFF"/>
                          </a:solidFill>
                          <a:latin typeface="Calibri"/>
                          <a:ea typeface="Calibri"/>
                          <a:cs typeface="Calibri"/>
                        </a:rPr>
                        <a:t>ID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Claim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Direct evidence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Verdict (as recorded in Table 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65176">
                <a:tc>
                  <a:txBody>
                    <a:bodyPr/>
                    <a:lstStyle/>
                    <a:p>
                      <a:pPr marL="0" indent="0">
                        <a:buNone/>
                      </a:pPr>
                      <a:r>
                        <a:rPr sz="850" b="1">
                          <a:solidFill>
                            <a:srgbClr val="0E1E3A"/>
                          </a:solidFill>
                          <a:latin typeface="Calibri"/>
                          <a:ea typeface="Calibri"/>
                          <a:cs typeface="Calibri"/>
                        </a:rPr>
                        <a:t>C1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Expected producer appears in the provenance candidate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Pinned NESTFUL: 5,531 / 5,746 dependency slots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96.3% recall; 80.7% unique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naturally recurring prefix can remove model decisions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132 live discovery records; 30 counterbalanced real-record tests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Yes; one snapshot domain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Source-grounded task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Expanded partial compiler: all three arms 30/30; earlier aggressive: 17/18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sample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C4</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Configured selective admission is data hungry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NESTFUL max support 26 vs required 92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grid / risk setting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C5</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Compaction improves text determinism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Exact-answer agreement 1/6 vs 0/6 (n = 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artifact is production safe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No live GitHub service, canary, or multi-domain test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C7</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gate discriminates risky from safe inputs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0 positive dev examples; gate admits none or all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Factual summary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Oracle accepts fluent fabrication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evaluated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compiler generally dominates hand-written composition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Macro beats partial GRC; fair pre-model manual ties GCS on 6 fresh pairs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 structural parity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C10</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continuation contract recovers the retained exact-source miss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Provider-free replay detects issue 6602 and checked-renders 1/18 cases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counterfactual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recommends a measured macro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30 frozen independent groups; 12 fresh paired issues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one family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synthesizes a macro or evaluates a cache action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Public portfolio API accepts externally supplied measurements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implemented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C13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Portfolio selection beats an always-macro policy across workflows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One family in which the measured macro is selected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bl>
          </a:graphicData>
        </a:graphic>
      </p:graphicFrame>
      <p:sp>
        <p:nvSpPr>
          <p:cNvPr id="7" name="Text 4">
            <a:extLst xmlns:a="http://schemas.openxmlformats.org/drawingml/2006/main">
              <a:ext uri="{FF2B5EF4-FFF2-40B4-BE49-F238E27FC236}">
                <a16:creationId xmlns:a16="http://schemas.microsoft.com/office/drawing/2014/main" id="{604CFAFF-7A54-485C-B5A7-A98CBC4FA51D}"/>
              </a:ext>
            </a:extLst>
          </p:cNvPr>
          <p:cNvSpPr>
            <a:spLocks xmlns:a="http://schemas.openxmlformats.org/drawingml/2006/main" noGrp="1"/>
          </p:cNvSpPr>
          <p:nvPr/>
        </p:nvSpPr>
        <p:spPr>
          <a:xfrm xmlns:a="http://schemas.openxmlformats.org/drawingml/2006/main">
            <a:off x="640080" y="5029200"/>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Manual composition beats partial GRC; once placement is equal, the manual program ties GCS. GEPA also retains its seed under the bounded search. No arm establishes universal superiority.</a:t>
            </a:r>
          </a:p>
        </p:txBody>
      </p:sp>
      <p:sp>
        <p:nvSpPr>
          <p:cNvPr id="8" name="Shape 5">
            <a:extLst xmlns:a="http://schemas.openxmlformats.org/drawingml/2006/main">
              <a:ext uri="{FF2B5EF4-FFF2-40B4-BE49-F238E27FC236}">
                <a16:creationId xmlns:a16="http://schemas.microsoft.com/office/drawing/2014/main" id="{E06B56E0-45E9-4F3B-9B7E-B24A84AD79A0}"/>
              </a:ext>
            </a:extLst>
          </p:cNvPr>
          <p:cNvSpPr>
            <a:spLocks xmlns:a="http://schemas.openxmlformats.org/drawingml/2006/main" noGrp="1"/>
          </p:cNvSpPr>
          <p:nvPr/>
        </p:nvSpPr>
        <p:spPr>
          <a:xfrm xmlns:a="http://schemas.openxmlformats.org/drawingml/2006/main">
            <a:off x="640080" y="5431536"/>
            <a:ext cx="10911535" cy="731520"/>
          </a:xfrm>
          <a:prstGeom xmlns:a="http://schemas.openxmlformats.org/drawingml/2006/main" prst="roundRect">
            <a:avLst>
              <a:gd name="adj" fmla="val 6250"/>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9" name="Text 6">
            <a:extLst xmlns:a="http://schemas.openxmlformats.org/drawingml/2006/main">
              <a:ext uri="{FF2B5EF4-FFF2-40B4-BE49-F238E27FC236}">
                <a16:creationId xmlns:a16="http://schemas.microsoft.com/office/drawing/2014/main" id="{42B4C456-35BA-4EF9-AD79-2E4C193BEA45}"/>
              </a:ext>
            </a:extLst>
          </p:cNvPr>
          <p:cNvSpPr>
            <a:spLocks xmlns:a="http://schemas.openxmlformats.org/drawingml/2006/main" noGrp="1"/>
          </p:cNvSpPr>
          <p:nvPr/>
        </p:nvSpPr>
        <p:spPr>
          <a:xfrm xmlns:a="http://schemas.openxmlformats.org/drawingml/2006/main">
            <a:off x="877824" y="5541264"/>
            <a:ext cx="2103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A93B2B"/>
                </a:solidFill>
                <a:latin typeface="Calibri"/>
                <a:ea typeface="Calibri"/>
                <a:cs typeface="Calibri"/>
              </a:rPr>
              <a:t>THE FOUR NEGATIVE RESULTS</a:t>
            </a:r>
          </a:p>
        </p:txBody>
      </p:sp>
      <p:sp>
        <p:nvSpPr>
          <p:cNvPr id="10" name="Text 7">
            <a:extLst xmlns:a="http://schemas.openxmlformats.org/drawingml/2006/main">
              <a:ext uri="{FF2B5EF4-FFF2-40B4-BE49-F238E27FC236}">
                <a16:creationId xmlns:a16="http://schemas.microsoft.com/office/drawing/2014/main" id="{94ED5959-A3C6-400D-9567-0B53A61FF9EA}"/>
              </a:ext>
            </a:extLst>
          </p:cNvPr>
          <p:cNvSpPr>
            <a:spLocks xmlns:a="http://schemas.openxmlformats.org/drawingml/2006/main" noGrp="1"/>
          </p:cNvSpPr>
          <p:nvPr/>
        </p:nvSpPr>
        <p:spPr>
          <a:xfrm xmlns:a="http://schemas.openxmlformats.org/drawingml/2006/main">
            <a:off x="3017520" y="5541264"/>
            <a:ext cx="825977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5C4034"/>
                </a:solidFill>
                <a:latin typeface="Calibri"/>
                <a:ea typeface="Calibri"/>
                <a:cs typeface="Calibri"/>
              </a:rPr>
              <a:t>Efficiency gains establish no factual quality  ·  no superiority over hand-written code  ·  no portfolio superiority  ·  no admission safety</a:t>
            </a:r>
          </a:p>
        </p:txBody>
      </p:sp>
    </p:spTree>
    <p:extLst>
      <p:ext uri="{BB962C8B-B14F-4D97-AF65-F5344CB8AC3E}">
        <p14:creationId xmlns:p14="http://schemas.microsoft.com/office/powerpoint/2010/main" val="1385779936"/>
      </p:ext>
    </p:extLst>
  </p:cSld>
</p:sld>
</file>

<file path=ppt/slides/slide27.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8FA52F8-E6C1-4930-A6D0-A5682D19200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8073621-8F20-40B3-87EF-32CE503CE271}"/>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27</a:t>
            </a:r>
          </a:p>
        </p:txBody>
      </p:sp>
      <p:sp>
        <p:nvSpPr>
          <p:cNvPr id="4" name="Shape 2">
            <a:extLst xmlns:a="http://schemas.openxmlformats.org/drawingml/2006/main">
              <a:ext uri="{FF2B5EF4-FFF2-40B4-BE49-F238E27FC236}">
                <a16:creationId xmlns:a16="http://schemas.microsoft.com/office/drawing/2014/main" id="{AF09B380-444A-4AF4-9C29-903BF81D2D99}"/>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F2C981EF-A57C-4AFF-9911-F0F26CF87C3E}"/>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52620C51-154A-4E2D-A0E5-AEC063C47F5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CONCLUSION</a:t>
            </a:r>
          </a:p>
        </p:txBody>
      </p:sp>
      <p:sp>
        <p:nvSpPr>
          <p:cNvPr id="7" name="Text 5">
            <a:extLst xmlns:a="http://schemas.openxmlformats.org/drawingml/2006/main">
              <a:ext uri="{FF2B5EF4-FFF2-40B4-BE49-F238E27FC236}">
                <a16:creationId xmlns:a16="http://schemas.microsoft.com/office/drawing/2014/main" id="{AD6EEFC9-F908-43C4-AC21-587F3D898C88}"/>
              </a:ext>
            </a:extLst>
          </p:cNvPr>
          <p:cNvSpPr>
            <a:spLocks xmlns:a="http://schemas.openxmlformats.org/drawingml/2006/main" noGrp="1"/>
          </p:cNvSpPr>
          <p:nvPr/>
        </p:nvSpPr>
        <p:spPr>
          <a:xfrm xmlns:a="http://schemas.openxmlformats.org/drawingml/2006/main">
            <a:off x="640080" y="658368"/>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500" b="1">
                <a:solidFill>
                  <a:srgbClr val="FFFFFF"/>
                </a:solidFill>
                <a:latin typeface="Cambria"/>
                <a:ea typeface="Cambria"/>
                <a:cs typeface="Cambria"/>
              </a:rPr>
              <a:t>An agent optimizer should be judged by whether it can explain and enforce when it must not compile</a:t>
            </a:r>
          </a:p>
        </p:txBody>
      </p:sp>
      <p:sp>
        <p:nvSpPr>
          <p:cNvPr id="8" name="Shape 6">
            <a:extLst xmlns:a="http://schemas.openxmlformats.org/drawingml/2006/main">
              <a:ext uri="{FF2B5EF4-FFF2-40B4-BE49-F238E27FC236}">
                <a16:creationId xmlns:a16="http://schemas.microsoft.com/office/drawing/2014/main" id="{E746A367-AD33-41CF-9C1A-6EF94BEC08F7}"/>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4C1032D-81F6-4609-9A09-E9ABF53F2730}"/>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B51FD4A9-0931-47F2-B68A-21DF7B03F2B3}"/>
              </a:ext>
            </a:extLst>
          </p:cNvPr>
          <p:cNvSpPr>
            <a:spLocks xmlns:a="http://schemas.openxmlformats.org/drawingml/2006/main" noGrp="1"/>
          </p:cNvSpPr>
          <p:nvPr/>
        </p:nvSpPr>
        <p:spPr>
          <a:xfrm xmlns:a="http://schemas.openxmlformats.org/drawingml/2006/main">
            <a:off x="1188720"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The admission argument is the contribution</a:t>
            </a:r>
          </a:p>
        </p:txBody>
      </p:sp>
      <p:sp>
        <p:nvSpPr>
          <p:cNvPr id="11" name="Text 9">
            <a:extLst xmlns:a="http://schemas.openxmlformats.org/drawingml/2006/main">
              <a:ext uri="{FF2B5EF4-FFF2-40B4-BE49-F238E27FC236}">
                <a16:creationId xmlns:a16="http://schemas.microsoft.com/office/drawing/2014/main" id="{F84196EE-F79C-44AD-8260-7DCAC4C2233D}"/>
              </a:ext>
            </a:extLst>
          </p:cNvPr>
          <p:cNvSpPr>
            <a:spLocks xmlns:a="http://schemas.openxmlformats.org/drawingml/2006/main" noGrp="1"/>
          </p:cNvSpPr>
          <p:nvPr/>
        </p:nvSpPr>
        <p:spPr>
          <a:xfrm xmlns:a="http://schemas.openxmlformats.org/drawingml/2006/main">
            <a:off x="1188720"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Each element — typed value-level provenance, effect and position barriers, bounded readable synthesis, verifier and staging semantics, finite-sample selective admission — has predecessors. The contribution is that an agent guard needs all five at once.</a:t>
            </a:r>
          </a:p>
        </p:txBody>
      </p:sp>
      <p:sp>
        <p:nvSpPr>
          <p:cNvPr id="12" name="Shape 10">
            <a:extLst xmlns:a="http://schemas.openxmlformats.org/drawingml/2006/main">
              <a:ext uri="{FF2B5EF4-FFF2-40B4-BE49-F238E27FC236}">
                <a16:creationId xmlns:a16="http://schemas.microsoft.com/office/drawing/2014/main" id="{14F3F64E-E139-478A-9457-B1EBDDBE1272}"/>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8150271-1C19-4541-A46B-153698329E39}"/>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13CDFF49-558D-4E11-9530-9465764310DF}"/>
              </a:ext>
            </a:extLst>
          </p:cNvPr>
          <p:cNvSpPr>
            <a:spLocks xmlns:a="http://schemas.openxmlformats.org/drawingml/2006/main" noGrp="1"/>
          </p:cNvSpPr>
          <p:nvPr/>
        </p:nvSpPr>
        <p:spPr>
          <a:xfrm xmlns:a="http://schemas.openxmlformats.org/drawingml/2006/main">
            <a:off x="6473952"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Certification, not recurrence, is the scarce resource</a:t>
            </a:r>
          </a:p>
        </p:txBody>
      </p:sp>
      <p:sp>
        <p:nvSpPr>
          <p:cNvPr id="15" name="Text 13">
            <a:extLst xmlns:a="http://schemas.openxmlformats.org/drawingml/2006/main">
              <a:ext uri="{FF2B5EF4-FFF2-40B4-BE49-F238E27FC236}">
                <a16:creationId xmlns:a16="http://schemas.microsoft.com/office/drawing/2014/main" id="{32F592D0-3AFE-4F19-BEFA-60032A5E17E9}"/>
              </a:ext>
            </a:extLst>
          </p:cNvPr>
          <p:cNvSpPr>
            <a:spLocks xmlns:a="http://schemas.openxmlformats.org/drawingml/2006/main" noGrp="1"/>
          </p:cNvSpPr>
          <p:nvPr/>
        </p:nvSpPr>
        <p:spPr>
          <a:xfrm xmlns:a="http://schemas.openxmlformats.org/drawingml/2006/main">
            <a:off x="6473952"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Provenance places the true producer for 96.3% of 5,746 slots and resolves 80.7% uniquely, yet every recurrent family in 1,415 episodes retires at the configured gate. Refusal exposes the data requirement instead of hiding it.</a:t>
            </a:r>
          </a:p>
        </p:txBody>
      </p:sp>
      <p:sp>
        <p:nvSpPr>
          <p:cNvPr id="16" name="Shape 14">
            <a:extLst xmlns:a="http://schemas.openxmlformats.org/drawingml/2006/main">
              <a:ext uri="{FF2B5EF4-FFF2-40B4-BE49-F238E27FC236}">
                <a16:creationId xmlns:a16="http://schemas.microsoft.com/office/drawing/2014/main" id="{6658BC3C-8FA2-46B7-A7C8-866EEEA3D29A}"/>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F77D6704-F656-4A21-B582-D03CDF0A87D5}"/>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B53912F-4D82-42AB-9345-4159699F1521}"/>
              </a:ext>
            </a:extLst>
          </p:cNvPr>
          <p:cNvSpPr>
            <a:spLocks xmlns:a="http://schemas.openxmlformats.org/drawingml/2006/main" noGrp="1"/>
          </p:cNvSpPr>
          <p:nvPr/>
        </p:nvSpPr>
        <p:spPr>
          <a:xfrm xmlns:a="http://schemas.openxmlformats.org/drawingml/2006/main">
            <a:off x="1188720"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Efficiency does not imply quality, superiority, or safety</a:t>
            </a:r>
          </a:p>
        </p:txBody>
      </p:sp>
      <p:sp>
        <p:nvSpPr>
          <p:cNvPr id="19" name="Text 17">
            <a:extLst xmlns:a="http://schemas.openxmlformats.org/drawingml/2006/main">
              <a:ext uri="{FF2B5EF4-FFF2-40B4-BE49-F238E27FC236}">
                <a16:creationId xmlns:a16="http://schemas.microsoft.com/office/drawing/2014/main" id="{61EF92B0-E670-45AD-8B14-00B6DC1FE784}"/>
              </a:ext>
            </a:extLst>
          </p:cNvPr>
          <p:cNvSpPr>
            <a:spLocks xmlns:a="http://schemas.openxmlformats.org/drawingml/2006/main" noGrp="1"/>
          </p:cNvSpPr>
          <p:nvPr/>
        </p:nvSpPr>
        <p:spPr>
          <a:xfrm xmlns:a="http://schemas.openxmlformats.org/drawingml/2006/main">
            <a:off x="1188720"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The two-read artifact holds 30/30 while halving requests; the deeper artifact records a factual miss. Manual composition beats partial GRC, and fair pre-model placement later ties GCS at 6/6. Runtime dominance is not the contribution.</a:t>
            </a:r>
          </a:p>
        </p:txBody>
      </p:sp>
      <p:sp>
        <p:nvSpPr>
          <p:cNvPr id="20" name="Shape 18">
            <a:extLst xmlns:a="http://schemas.openxmlformats.org/drawingml/2006/main">
              <a:ext uri="{FF2B5EF4-FFF2-40B4-BE49-F238E27FC236}">
                <a16:creationId xmlns:a16="http://schemas.microsoft.com/office/drawing/2014/main" id="{76567E4F-C0A5-4220-BA27-DEDC9CFBFB4D}"/>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F5120850-5C62-41F1-9010-E0D546992524}"/>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885E2474-1246-484F-9406-7AC4A13D458D}"/>
              </a:ext>
            </a:extLst>
          </p:cNvPr>
          <p:cNvSpPr>
            <a:spLocks xmlns:a="http://schemas.openxmlformats.org/drawingml/2006/main" noGrp="1"/>
          </p:cNvSpPr>
          <p:nvPr/>
        </p:nvSpPr>
        <p:spPr>
          <a:xfrm xmlns:a="http://schemas.openxmlformats.org/drawingml/2006/main">
            <a:off x="6473952"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Objectives must price cache prefixes, not just tokens</a:t>
            </a:r>
          </a:p>
        </p:txBody>
      </p:sp>
      <p:sp>
        <p:nvSpPr>
          <p:cNvPr id="23" name="Text 21">
            <a:extLst xmlns:a="http://schemas.openxmlformats.org/drawingml/2006/main">
              <a:ext uri="{FF2B5EF4-FFF2-40B4-BE49-F238E27FC236}">
                <a16:creationId xmlns:a16="http://schemas.microsoft.com/office/drawing/2014/main" id="{5624CBBD-ADE2-44CC-A8E1-1C5F30416409}"/>
              </a:ext>
            </a:extLst>
          </p:cNvPr>
          <p:cNvSpPr>
            <a:spLocks xmlns:a="http://schemas.openxmlformats.org/drawingml/2006/main" noGrp="1"/>
          </p:cNvSpPr>
          <p:nvPr/>
        </p:nvSpPr>
        <p:spPr>
          <a:xfrm xmlns:a="http://schemas.openxmlformats.org/drawingml/2006/main">
            <a:off x="6473952"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A −16.8% token change billed +123%. Route specialization fragments the cache prefix a warm fleet shared. Equation (5) counts only tokens and calls, and §7.3 lists the two-tier price model as the fix.</a:t>
            </a:r>
          </a:p>
        </p:txBody>
      </p:sp>
      <p:sp>
        <p:nvSpPr>
          <p:cNvPr id="24" name="Shape 22">
            <a:extLst xmlns:a="http://schemas.openxmlformats.org/drawingml/2006/main">
              <a:ext uri="{FF2B5EF4-FFF2-40B4-BE49-F238E27FC236}">
                <a16:creationId xmlns:a16="http://schemas.microsoft.com/office/drawing/2014/main" id="{3F6E9BBE-72CA-4D67-AC80-55307F2563A3}"/>
              </a:ext>
            </a:extLst>
          </p:cNvPr>
          <p:cNvSpPr>
            <a:spLocks xmlns:a="http://schemas.openxmlformats.org/drawingml/2006/main" noGrp="1"/>
          </p:cNvSpPr>
          <p:nvPr/>
        </p:nvSpPr>
        <p:spPr>
          <a:xfrm xmlns:a="http://schemas.openxmlformats.org/drawingml/2006/main">
            <a:off x="640080" y="5797296"/>
            <a:ext cx="1024128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60CCD72-264A-4DD1-950E-51A83B43A043}"/>
              </a:ext>
            </a:extLst>
          </p:cNvPr>
          <p:cNvSpPr>
            <a:spLocks xmlns:a="http://schemas.openxmlformats.org/drawingml/2006/main" noGrp="1"/>
          </p:cNvSpPr>
          <p:nvPr/>
        </p:nvSpPr>
        <p:spPr>
          <a:xfrm xmlns:a="http://schemas.openxmlformats.org/drawingml/2006/main">
            <a:off x="640080" y="5907024"/>
            <a:ext cx="102412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8FA6C0"/>
                </a:solidFill>
                <a:latin typeface="Calibri"/>
                <a:ea typeface="Calibri"/>
                <a:cs typeface="Calibri"/>
              </a:rPr>
              <a:t>Next scientific threshold: preregistered cross-repository, time-forward comparison with engineering effort, cache economics, drift, and executable AWO / Agent JIT / EvoC2F baselines.</a:t>
            </a:r>
          </a:p>
        </p:txBody>
      </p:sp>
    </p:spTree>
    <p:extLst>
      <p:ext uri="{BB962C8B-B14F-4D97-AF65-F5344CB8AC3E}">
        <p14:creationId xmlns:p14="http://schemas.microsoft.com/office/powerpoint/2010/main" val="812282528"/>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2026-08-07T04:35:20.8520000Z</dcterms:created>
  <dcterms:modified xsi:type="dcterms:W3CDTF">2026-08-07T04:35:20.8520000Z</dcterms:modified>
</coreProperties>
</file>