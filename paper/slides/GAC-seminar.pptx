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6" r:id="rId22"/>
    <p:sldId id="273" r:id="rId19"/>
    <p:sldId id="274" r:id="rId20"/>
    <p:sldId id="275" r:id="rId21"/>
    <p:sldId id="281" r:id="rIdGac26"/>
    <p:sldId id="272" r:id="rId18"/>
    <p:sldId id="282" r:id="rIdGac27"/>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Gac26" Type="http://schemas.openxmlformats.org/officeDocument/2006/relationships/slide" Target="slides/slide26.xml"/><Relationship Id="rIdGac27"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00" b="0" i="0" u="none" strike="noStrike">
                <a:solidFill>
                  <a:srgbClr val="5A6B84"/>
                </a:solidFill>
                <a:latin typeface="Calibri"/>
              </a:defRPr>
            </a:pPr>
            <a:r>
              <a:rPr lang="en-US" sz="1100" b="0" i="0" u="none" strike="noStrike">
                <a:solidFill>
                  <a:srgbClr val="5A6B84"/>
                </a:solidFill>
                <a:latin typeface="Calibri"/>
              </a:rPr>
              <a:t>All 32 NESTFUL families fall below the gate requirement</a:t>
            </a:r>
          </a:p>
        </c:rich>
      </c:tx>
      <c:overlay val="0"/>
    </c:title>
    <c:autoTitleDeleted val="0"/>
    <c:plotArea>
      <c:layout/>
      <c:barChart>
        <c:barDir val="col"/>
        <c:grouping val="clustered"/>
        <c:varyColors val="0"/>
        <c:ser>
          <c:idx val="0"/>
          <c:order val="0"/>
          <c:tx>
            <c:strRef>
              <c:f>Sheet1!$B$1</c:f>
              <c:strCache>
                <c:ptCount val="1"/>
                <c:pt idx="0">
                  <c:v>Independent group records</c:v>
                </c:pt>
              </c:strCache>
            </c:strRef>
          </c:tx>
          <c:spPr>
            <a:solidFill>
              <a:srgbClr val="1F8A99"/>
            </a:solidFill>
            <a:effectLst/>
          </c:spPr>
          <c:invertIfNegative val="0"/>
          <c:dPt>
            <c:idx val="0"/>
            <c:invertIfNegative val="0"/>
            <c:bubble3D val="0"/>
            <c:extLst>
              <c:ext xmlns:c16="http://schemas.microsoft.com/office/drawing/2014/chart" uri="{C3380CC4-5D6E-409C-BE32-E72D297353CC}">
                <c16:uniqueId val="{00000001-6D89-7246-A7DB-84C6D51528B5}"/>
              </c:ext>
            </c:extLst>
          </c:dPt>
          <c:dPt>
            <c:idx val="1"/>
            <c:invertIfNegative val="0"/>
            <c:bubble3D val="0"/>
            <c:spPr>
              <a:solidFill>
                <a:srgbClr val="A93B2B"/>
              </a:solidFill>
              <a:effectLst/>
            </c:spPr>
            <c:extLst>
              <c:ext xmlns:c16="http://schemas.microsoft.com/office/drawing/2014/chart" uri="{C3380CC4-5D6E-409C-BE32-E72D297353CC}">
                <c16:uniqueId val="{00000003-6D89-7246-A7DB-84C6D51528B5}"/>
              </c:ext>
            </c:extLst>
          </c:dPt>
          <c:dLbls>
            <c:numFmt formatCode="#,##0" sourceLinked="0"/>
            <c:spPr>
              <a:noFill/>
              <a:ln>
                <a:noFill/>
              </a:ln>
              <a:effectLst/>
            </c:spPr>
            <c:txPr>
              <a:bodyPr/>
              <a:lstStyle/>
              <a:p>
                <a:pPr>
                  <a:defRPr sz="1500" b="1"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Best family support</c:v>
                </c:pt>
                <c:pt idx="1">
                  <c:v>Exact-gate requirement</c:v>
                </c:pt>
              </c:strCache>
            </c:strRef>
          </c:cat>
          <c:val>
            <c:numRef>
              <c:f>Sheet1!$B$2:$B$3</c:f>
              <c:numCache>
                <c:formatCode>General</c:formatCode>
                <c:ptCount val="2"/>
                <c:pt idx="0">
                  <c:v>26</c:v>
                </c:pt>
                <c:pt idx="1">
                  <c:v>92</c:v>
                </c:pt>
              </c:numCache>
            </c:numRef>
          </c:val>
          <c:extLst>
            <c:ext xmlns:c16="http://schemas.microsoft.com/office/drawing/2014/chart" uri="{C3380CC4-5D6E-409C-BE32-E72D297353CC}">
              <c16:uniqueId val="{00000004-6D89-7246-A7DB-84C6D51528B5}"/>
            </c:ext>
          </c:extLst>
        </c:ser>
        <c:dLbls>
          <c:showLegendKey val="0"/>
          <c:showVal val="1"/>
          <c:showCatName val="0"/>
          <c:showSerName val="0"/>
          <c:showPercent val="0"/>
          <c:showBubbleSize val="0"/>
        </c:dLbls>
        <c:gapWidth val="9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5A6B8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7EDF3"/>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A6B84"/>
                </a:solidFill>
                <a:latin typeface="Calibri"/>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00" b="0" i="0" u="none" strike="noStrike">
                <a:solidFill>
                  <a:srgbClr val="5A6B84"/>
                </a:solidFill>
                <a:latin typeface="Calibri"/>
              </a:defRPr>
            </a:pPr>
            <a:r>
              <a:rPr lang="en-US" sz="1100" b="0" i="0" u="none" strike="noStrike">
                <a:solidFill>
                  <a:srgbClr val="5A6B84"/>
                </a:solidFill>
                <a:latin typeface="Calibri"/>
              </a:rPr>
              <a:t>Per-episode resource use, normalized to the unchanged agent (%)</a:t>
            </a:r>
          </a:p>
        </c:rich>
      </c:tx>
      <c:overlay val="0"/>
    </c:title>
    <c:autoTitleDeleted val="0"/>
    <c:plotArea>
      <c:layout/>
      <c:barChart>
        <c:barDir val="col"/>
        <c:grouping val="clustered"/>
        <c:varyColors val="0"/>
        <c:ser>
          <c:idx val="0"/>
          <c:order val="0"/>
          <c:tx>
            <c:strRef>
              <c:f>Sheet1!$B$1</c:f>
              <c:strCache>
                <c:ptCount val="1"/>
                <c:pt idx="0">
                  <c:v>Unchanged agent</c:v>
                </c:pt>
              </c:strCache>
            </c:strRef>
          </c:tx>
          <c:spPr>
            <a:solidFill>
              <a:srgbClr val="9BD0D6"/>
            </a:solidFill>
            <a:effectLst/>
          </c:spPr>
          <c:invertIfNegative val="0"/>
          <c:dLbls>
            <c:numFmt formatCode="0.0" sourceLinked="0"/>
            <c:spPr>
              <a:noFill/>
              <a:ln>
                <a:noFill/>
              </a:ln>
              <a:effectLst/>
            </c:spPr>
            <c:txPr>
              <a:bodyPr/>
              <a:lstStyle/>
              <a:p>
                <a:pPr>
                  <a:defRPr sz="850" b="0"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Sheet1!$B$2:$B$6</c:f>
              <c:numCache>
                <c:formatCode>General</c:formatCode>
                <c:ptCount val="5"/>
                <c:pt idx="0">
                  <c:v>100</c:v>
                </c:pt>
                <c:pt idx="1">
                  <c:v>100</c:v>
                </c:pt>
                <c:pt idx="2">
                  <c:v>100</c:v>
                </c:pt>
                <c:pt idx="3">
                  <c:v>100</c:v>
                </c:pt>
                <c:pt idx="4">
                  <c:v>100</c:v>
                </c:pt>
              </c:numCache>
            </c:numRef>
          </c:val>
          <c:extLst>
            <c:ext xmlns:c16="http://schemas.microsoft.com/office/drawing/2014/chart" uri="{C3380CC4-5D6E-409C-BE32-E72D297353CC}">
              <c16:uniqueId val="{00000000-69BD-2043-98B0-0D73D90F32E2}"/>
            </c:ext>
          </c:extLst>
        </c:ser>
        <c:ser>
          <c:idx val="1"/>
          <c:order val="1"/>
          <c:tx>
            <c:strRef>
              <c:f>Sheet1!$C$1</c:f>
              <c:strCache>
                <c:ptCount val="1"/>
                <c:pt idx="0">
                  <c:v>GAC two-read prefix</c:v>
                </c:pt>
              </c:strCache>
            </c:strRef>
          </c:tx>
          <c:spPr>
            <a:solidFill>
              <a:srgbClr val="1F8A99"/>
            </a:solidFill>
            <a:effectLst/>
          </c:spPr>
          <c:invertIfNegative val="0"/>
          <c:dLbls>
            <c:numFmt formatCode="0.0" sourceLinked="0"/>
            <c:spPr>
              <a:noFill/>
              <a:ln>
                <a:noFill/>
              </a:ln>
              <a:effectLst/>
            </c:spPr>
            <c:txPr>
              <a:bodyPr/>
              <a:lstStyle/>
              <a:p>
                <a:pPr>
                  <a:defRPr sz="850" b="0"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Sheet1!$C$2:$C$6</c:f>
              <c:numCache>
                <c:formatCode>General</c:formatCode>
                <c:ptCount val="5"/>
                <c:pt idx="0">
                  <c:v>50</c:v>
                </c:pt>
                <c:pt idx="1">
                  <c:v>100</c:v>
                </c:pt>
                <c:pt idx="2">
                  <c:v>60.5</c:v>
                </c:pt>
                <c:pt idx="3">
                  <c:v>48.2</c:v>
                </c:pt>
                <c:pt idx="4">
                  <c:v>68</c:v>
                </c:pt>
              </c:numCache>
            </c:numRef>
          </c:val>
          <c:extLst>
            <c:ext xmlns:c16="http://schemas.microsoft.com/office/drawing/2014/chart" uri="{C3380CC4-5D6E-409C-BE32-E72D297353CC}">
              <c16:uniqueId val="{00000001-69BD-2043-98B0-0D73D90F32E2}"/>
            </c:ext>
          </c:extLst>
        </c:ser>
        <c:ser>
          <c:idx val="2"/>
          <c:order val="2"/>
          <c:tx>
            <c:strRef>
              <c:f>Sheet1!$D$1</c:f>
              <c:strCache>
                <c:ptCount val="1"/>
                <c:pt idx="0">
                  <c:v>Hand-written program</c:v>
                </c:pt>
              </c:strCache>
            </c:strRef>
          </c:tx>
          <c:spPr>
            <a:solidFill>
              <a:srgbClr val="A93B2B"/>
            </a:solidFill>
            <a:effectLst/>
          </c:spPr>
          <c:invertIfNegative val="0"/>
          <c:dLbls>
            <c:numFmt formatCode="0.0" sourceLinked="0"/>
            <c:spPr>
              <a:noFill/>
              <a:ln>
                <a:noFill/>
              </a:ln>
              <a:effectLst/>
            </c:spPr>
            <c:txPr>
              <a:bodyPr/>
              <a:lstStyle/>
              <a:p>
                <a:pPr>
                  <a:defRPr sz="850" b="0"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Provider
requests</c:v>
                </c:pt>
                <c:pt idx="1">
                  <c:v>Tool calls</c:v>
                </c:pt>
                <c:pt idx="2">
                  <c:v>Total tokens</c:v>
                </c:pt>
                <c:pt idx="3">
                  <c:v>Wall time</c:v>
                </c:pt>
                <c:pt idx="4">
                  <c:v>Estimated cost</c:v>
                </c:pt>
              </c:strCache>
            </c:strRef>
          </c:cat>
          <c:val>
            <c:numRef>
              <c:f>Sheet1!$D$2:$D$6</c:f>
              <c:numCache>
                <c:formatCode>General</c:formatCode>
                <c:ptCount val="5"/>
                <c:pt idx="0">
                  <c:v>50</c:v>
                </c:pt>
                <c:pt idx="1">
                  <c:v>33.299999999999997</c:v>
                </c:pt>
                <c:pt idx="2">
                  <c:v>41.8</c:v>
                </c:pt>
                <c:pt idx="3">
                  <c:v>52.8</c:v>
                </c:pt>
                <c:pt idx="4">
                  <c:v>62.5</c:v>
                </c:pt>
              </c:numCache>
            </c:numRef>
          </c:val>
          <c:extLst>
            <c:ext xmlns:c16="http://schemas.microsoft.com/office/drawing/2014/chart" uri="{C3380CC4-5D6E-409C-BE32-E72D297353CC}">
              <c16:uniqueId val="{00000002-69BD-2043-98B0-0D73D90F32E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A6B84"/>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9525" cap="flat">
              <a:solidFill>
                <a:srgbClr val="E7ED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B84"/>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050">
              <a:solidFill>
                <a:srgbClr val="24354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lgn="l">
              <a:defRPr sz="1100" b="0" i="0" u="none" strike="noStrike">
                <a:solidFill>
                  <a:srgbClr val="5A6B84"/>
                </a:solidFill>
                <a:latin typeface="Calibri"/>
              </a:defRPr>
            </a:pPr>
            <a:r>
              <a:rPr lang="en-US" sz="1100" b="0" i="0" u="none" strike="noStrike">
                <a:solidFill>
                  <a:srgbClr val="5A6B84"/>
                </a:solidFill>
                <a:latin typeface="Calibri"/>
              </a:rPr>
              <a:t>Saving versus the unchanged agent, per repository (%)</a:t>
            </a:r>
          </a:p>
        </c:rich>
      </c:tx>
      <c:overlay val="0"/>
    </c:title>
    <c:autoTitleDeleted val="0"/>
    <c:plotArea>
      <c:layout/>
      <c:barChart>
        <c:barDir val="col"/>
        <c:grouping val="clustered"/>
        <c:varyColors val="0"/>
        <c:ser>
          <c:idx val="0"/>
          <c:order val="0"/>
          <c:tx>
            <c:strRef>
              <c:f>Sheet1!$B$1</c:f>
              <c:strCache>
                <c:ptCount val="1"/>
                <c:pt idx="0">
                  <c:v>Requests saved</c:v>
                </c:pt>
              </c:strCache>
            </c:strRef>
          </c:tx>
          <c:spPr>
            <a:solidFill>
              <a:srgbClr val="1F8A99"/>
            </a:solidFill>
            <a:effectLst/>
          </c:spPr>
          <c:invertIfNegative val="0"/>
          <c:dLbls>
            <c:numFmt formatCode="0.0" sourceLinked="0"/>
            <c:spPr>
              <a:noFill/>
              <a:ln>
                <a:noFill/>
              </a:ln>
              <a:effectLst/>
            </c:spPr>
            <c:txPr>
              <a:bodyPr/>
              <a:lstStyle/>
              <a:p>
                <a:pPr>
                  <a:defRPr sz="850" b="0"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datasets
core</c:v>
                </c:pt>
                <c:pt idx="1">
                  <c:v>pandas
core</c:v>
                </c:pt>
                <c:pt idx="2">
                  <c:v>requests
core</c:v>
                </c:pt>
                <c:pt idx="3">
                  <c:v>streamlit
core</c:v>
                </c:pt>
                <c:pt idx="4">
                  <c:v>pandas
balanced</c:v>
                </c:pt>
                <c:pt idx="5">
                  <c:v>requests
balanced</c:v>
                </c:pt>
                <c:pt idx="6">
                  <c:v>pytorch
balanced</c:v>
                </c:pt>
              </c:strCache>
            </c:strRef>
          </c:cat>
          <c:val>
            <c:numRef>
              <c:f>Sheet1!$B$2:$B$8</c:f>
              <c:numCache>
                <c:formatCode>General</c:formatCode>
                <c:ptCount val="7"/>
                <c:pt idx="0">
                  <c:v>44.4</c:v>
                </c:pt>
                <c:pt idx="1">
                  <c:v>44.4</c:v>
                </c:pt>
                <c:pt idx="2">
                  <c:v>44.4</c:v>
                </c:pt>
                <c:pt idx="3">
                  <c:v>44.4</c:v>
                </c:pt>
                <c:pt idx="4">
                  <c:v>66.7</c:v>
                </c:pt>
                <c:pt idx="5">
                  <c:v>66.7</c:v>
                </c:pt>
                <c:pt idx="6">
                  <c:v>66.7</c:v>
                </c:pt>
              </c:numCache>
            </c:numRef>
          </c:val>
          <c:extLst>
            <c:ext xmlns:c16="http://schemas.microsoft.com/office/drawing/2014/chart" uri="{C3380CC4-5D6E-409C-BE32-E72D297353CC}">
              <c16:uniqueId val="{00000000-23FC-7F41-8B65-EC2983AB5D0F}"/>
            </c:ext>
          </c:extLst>
        </c:ser>
        <c:ser>
          <c:idx val="1"/>
          <c:order val="1"/>
          <c:tx>
            <c:strRef>
              <c:f>Sheet1!$C$1</c:f>
              <c:strCache>
                <c:ptCount val="1"/>
                <c:pt idx="0">
                  <c:v>Tokens saved</c:v>
                </c:pt>
              </c:strCache>
            </c:strRef>
          </c:tx>
          <c:spPr>
            <a:solidFill>
              <a:srgbClr val="A93B2B"/>
            </a:solidFill>
            <a:effectLst/>
          </c:spPr>
          <c:invertIfNegative val="0"/>
          <c:dLbls>
            <c:numFmt formatCode="0.0" sourceLinked="0"/>
            <c:spPr>
              <a:noFill/>
              <a:ln>
                <a:noFill/>
              </a:ln>
              <a:effectLst/>
            </c:spPr>
            <c:txPr>
              <a:bodyPr/>
              <a:lstStyle/>
              <a:p>
                <a:pPr>
                  <a:defRPr sz="850" b="0" i="0" u="none" strike="noStrike">
                    <a:solidFill>
                      <a:srgbClr val="2435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datasets
core</c:v>
                </c:pt>
                <c:pt idx="1">
                  <c:v>pandas
core</c:v>
                </c:pt>
                <c:pt idx="2">
                  <c:v>requests
core</c:v>
                </c:pt>
                <c:pt idx="3">
                  <c:v>streamlit
core</c:v>
                </c:pt>
                <c:pt idx="4">
                  <c:v>pandas
balanced</c:v>
                </c:pt>
                <c:pt idx="5">
                  <c:v>requests
balanced</c:v>
                </c:pt>
                <c:pt idx="6">
                  <c:v>pytorch
balanced</c:v>
                </c:pt>
              </c:strCache>
            </c:strRef>
          </c:cat>
          <c:val>
            <c:numRef>
              <c:f>Sheet1!$C$2:$C$8</c:f>
              <c:numCache>
                <c:formatCode>General</c:formatCode>
                <c:ptCount val="7"/>
                <c:pt idx="0">
                  <c:v>52.2</c:v>
                </c:pt>
                <c:pt idx="1">
                  <c:v>52.5</c:v>
                </c:pt>
                <c:pt idx="2">
                  <c:v>52.3</c:v>
                </c:pt>
                <c:pt idx="3">
                  <c:v>52.7</c:v>
                </c:pt>
                <c:pt idx="4">
                  <c:v>78.6</c:v>
                </c:pt>
                <c:pt idx="5">
                  <c:v>78.7</c:v>
                </c:pt>
                <c:pt idx="6">
                  <c:v>78</c:v>
                </c:pt>
              </c:numCache>
            </c:numRef>
          </c:val>
          <c:extLst>
            <c:ext xmlns:c16="http://schemas.microsoft.com/office/drawing/2014/chart" uri="{C3380CC4-5D6E-409C-BE32-E72D297353CC}">
              <c16:uniqueId val="{00000001-23FC-7F41-8B65-EC2983AB5D0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5A6B8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7EDF3"/>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A6B84"/>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050">
              <a:solidFill>
                <a:srgbClr val="24354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8061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framing sentences. The engineering result is that recurring read-only openings can be compiled into guarded programs: two-thirds fewer model calls on three GitHub workflows with 90/90 contracts kept, and 45–50% fewer on BIRD with no detected loss. The scientific result is that the compiler must refuse where evidence is thin or the opening is a per-question choice, and that its certificates mostly confirm sample size.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hazards map one-to-one onto rejection points in the compiler. The asymmetry to state early: statistics can only narrow what a structurally admissible artifact may do, never widen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Hard safety and Admission columns together. Agent JIT, EvoC2F and COVENANT do carry safety arguments; the distinction is what kind. GAC's is provenance plus declared effects, gated by an exact selective bound over a frozen grid. That combination, not any single element, is the claim.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and Q5 are the unusual questions. Most workflow-optimization papers report what their system compresses; this one also asks what it must decline, and what its guarantees actually cover.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of the paper. The important move is that admissibility is defined structurally, before any statistics enter.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archived pilot compiled suffix-only regions even though the runtime resolves only at entry. It dispatched label and comment reads before their intended position and duplicated or reordered tools. It is kept as the empirical case for the position invariant. Note the grounding rule now admits invariant literals, which is how the limit=3 slots of two artifacts are bound.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plainly: the paper marks its own optimality gap. Equation (4) is a target; the implementation calibrates a bounded ranked set. And only one certificate in the paper bounds the end-to-end event.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Every stage can only reject; none can rescue a candidate that an earlier stage blocked.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this is a tracing JIT for agent executions: hot-trace detection becomes family mining, guard synthesis becomes the hard guard, region compilation becomes bounded synthesis, and deoptimization becomes fallback to the baseline agent. What is not inherited is what an agent guard must additionally certify — grounding, declared effects, and a finite-sample residual bound.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is the paper's Figure 2. One varying literal is enough to retire the three-read region; the compiler emits the maximal justified prefix and leaves the rest to the agent.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coarse terms affect ranking only, never admission. The worked example uses the PR-outcome audit, where the measured 75.0% equals the ceiling.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reviewer pushes hardest. The guards are candidate invariants, and under tool-layer corruption their measured protective value was null or adverse.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sharp version out loud: on 92-group pools the gate can certify only full coverage, so these certificates are support-sufficiency statements. One post-cutoff cohort carries an end-to-end certificate.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cleanest example of a difference that is structural rather than an implementation gap. The problem of restoring a consistent state after a specialized region is abandoned is exactly dynamic deoptimization, and the literature's answer — explicit deoptimization points — is the mechanism deferred to future work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4 and 5. The evidence is three GitHub families on one snapshot, newer records, one fresh cohort, and three public benchmarks, two of which show no measured benefit.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comparison is paired on the same records, model, and grader. The hand-written program is the pessimistic comparator: it is written by someone who already knows the workflow.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reasons for no benefit. NESTFUL is a corpus-size fact: no family reaches the floor. AppWorld is a dispatch fact: the admitted program sits behind a documentation read that most agent designs make first.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tool-call bar is the honest one: the compiler keeps all three reads in this family and removes model decisions, not evidence acquisition. The hand-written program removes reads because a human designed it.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introduction in one slide. Recurrence alone would have shipped the three-read program; groundability retires it, and the earlier study shows why: clean replays do not certify the answer.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open-class abstentions are the verifier working as designed on an unseen class, not a failure. The post-cutoff cohort is the only place the paper certifies the end-to-end event.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does not claim GAC dominates ordinary engineering. Hand-written programs written with full knowledge tie or win on most axes; GAC's value claim is discovering and admitting such programs automatically.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gate result carefully: the step at 0.14 is the sample-size floor, not a learned risk ranking. The amended 184-group study was the attempt to buy a frontier, and it retired.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reviewer wants one slide to judge the paper's honesty, this is it. Every supported claim carries its scope, and the five unsupported claims stay in the register.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from the paper: compile only what is justified, and keep the model's reasoning everywhere else. Judge such optimizers by evidence, refusals, and fallback, not by turns removed.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BIRD is the public-benchmark result. The same compiler that refuses the standard agent compiles the schema-first one, because only the latter runs a fixed opening. Quality differences are inside the interval; the paper claims no detected loss, not equivalence.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the two certificate kinds. The primary ones confirm enough examples on an event without support; the post-cutoff one bounds the end-to-end task contract for one family and two pull-request classes.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3A"/>
        </a:solidFill>
        <a:effectLst/>
      </p:bgPr>
    </p:bg>
    <p:spTree>
      <p:nvGrpSpPr>
        <p:cNvPr id="1" name=""/>
        <p:cNvGrpSpPr/>
        <p:nvPr/>
      </p:nvGrpSpPr>
      <p:grpSpPr>
        <a:xfrm>
          <a:off x="0" y="0"/>
          <a:ext cx="0" cy="0"/>
          <a:chOff x="0" y="0"/>
          <a:chExt cx="0" cy="0"/>
        </a:xfrm>
      </p:grpSpPr>
      <p:sp>
        <p:nvSpPr>
          <p:cNvPr id="2" name="Shape 0"/>
          <p:cNvSpPr/>
          <p:nvPr/>
        </p:nvSpPr>
        <p:spPr>
          <a:xfrm>
            <a:off x="9052560" y="-1554480"/>
            <a:ext cx="6217920" cy="6217920"/>
          </a:xfrm>
          <a:prstGeom prst="ellipse">
            <a:avLst/>
          </a:prstGeom>
          <a:solidFill>
            <a:srgbClr val="1A3563">
              <a:alpha val="62000"/>
            </a:srgbClr>
          </a:solidFill>
          <a:ln w="12700">
            <a:solidFill>
              <a:srgbClr val="1A3563"/>
            </a:solidFill>
            <a:prstDash val="solid"/>
          </a:ln>
        </p:spPr>
        <p:txBody>
          <a:bodyPr/>
          <a:lstStyle/>
          <a:p>
            <a:endParaRPr lang="en-US"/>
          </a:p>
        </p:txBody>
      </p:sp>
      <p:sp>
        <p:nvSpPr>
          <p:cNvPr id="3" name="Shape 1"/>
          <p:cNvSpPr/>
          <p:nvPr/>
        </p:nvSpPr>
        <p:spPr>
          <a:xfrm>
            <a:off x="10424160" y="-91440"/>
            <a:ext cx="3291840" cy="3291840"/>
          </a:xfrm>
          <a:prstGeom prst="ellipse">
            <a:avLst/>
          </a:prstGeom>
          <a:solidFill>
            <a:srgbClr val="1F8A99">
              <a:alpha val="48000"/>
            </a:srgbClr>
          </a:solidFill>
          <a:ln w="12700">
            <a:solidFill>
              <a:srgbClr val="1F8A99"/>
            </a:solidFill>
            <a:prstDash val="solid"/>
          </a:ln>
        </p:spPr>
        <p:txBody>
          <a:bodyPr/>
          <a:lstStyle/>
          <a:p>
            <a:endParaRPr lang="en-US"/>
          </a:p>
        </p:txBody>
      </p:sp>
      <p:sp>
        <p:nvSpPr>
          <p:cNvPr id="4" name="Shape 2"/>
          <p:cNvSpPr/>
          <p:nvPr/>
        </p:nvSpPr>
        <p:spPr>
          <a:xfrm>
            <a:off x="11338560" y="822960"/>
            <a:ext cx="1463040" cy="1463040"/>
          </a:xfrm>
          <a:prstGeom prst="ellipse">
            <a:avLst/>
          </a:prstGeom>
          <a:solidFill>
            <a:srgbClr val="56B3BE">
              <a:alpha val="72000"/>
            </a:srgbClr>
          </a:solidFill>
          <a:ln w="12700">
            <a:solidFill>
              <a:srgbClr val="56B3BE"/>
            </a:solidFill>
            <a:prstDash val="solid"/>
          </a:ln>
        </p:spPr>
        <p:txBody>
          <a:bodyPr/>
          <a:lstStyle/>
          <a:p>
            <a:endParaRPr lang="en-US"/>
          </a:p>
        </p:txBody>
      </p:sp>
      <p:sp>
        <p:nvSpPr>
          <p:cNvPr id="5" name="Text 3"/>
          <p:cNvSpPr/>
          <p:nvPr/>
        </p:nvSpPr>
        <p:spPr>
          <a:xfrm>
            <a:off x="640080" y="1371600"/>
            <a:ext cx="7680960" cy="274320"/>
          </a:xfrm>
          <a:prstGeom prst="rect">
            <a:avLst/>
          </a:prstGeom>
          <a:noFill/>
          <a:ln/>
        </p:spPr>
        <p:txBody>
          <a:bodyPr wrap="square" lIns="0" tIns="0" rIns="0" bIns="0" rtlCol="0" anchor="t"/>
          <a:lstStyle/>
          <a:p>
            <a:pPr marL="0" indent="0">
              <a:buNone/>
            </a:pPr>
            <a:r>
              <a:rPr lang="en-US" sz="1050" b="1" kern="0" spc="220" dirty="0">
                <a:solidFill>
                  <a:srgbClr val="56B3BE"/>
                </a:solidFill>
                <a:latin typeface="Calibri" pitchFamily="34" charset="0"/>
                <a:ea typeface="Calibri" pitchFamily="34" charset="-122"/>
                <a:cs typeface="Calibri" pitchFamily="34" charset="-120"/>
              </a:rPr>
              <a:t>LLM AGENTS  ·  PROGRAM SYNTHESIS  ·  SELECTIVE RISK CONTROL</a:t>
            </a:r>
            <a:endParaRPr lang="en-US" sz="1050" dirty="0"/>
          </a:p>
        </p:txBody>
      </p:sp>
      <p:sp>
        <p:nvSpPr>
          <p:cNvPr id="6" name="Text 4"/>
          <p:cNvSpPr/>
          <p:nvPr/>
        </p:nvSpPr>
        <p:spPr>
          <a:xfrm>
            <a:off x="640080" y="1810512"/>
            <a:ext cx="8046720" cy="1554480"/>
          </a:xfrm>
          <a:prstGeom prst="rect">
            <a:avLst/>
          </a:prstGeom>
          <a:noFill/>
          <a:ln/>
        </p:spPr>
        <p:txBody>
          <a:bodyPr wrap="square" lIns="0" tIns="0" rIns="0" bIns="0" rtlCol="0" anchor="t"/>
          <a:lstStyle/>
          <a:p>
            <a:pPr marL="0" indent="0">
              <a:lnSpc>
                <a:spcPct val="100000"/>
              </a:lnSpc>
              <a:buNone/>
            </a:pPr>
            <a:r>
              <a:rPr lang="en-US" sz="3000" b="1" dirty="0">
                <a:solidFill>
                  <a:srgbClr val="FFFFFF"/>
                </a:solidFill>
                <a:latin typeface="Cambria" pitchFamily="34" charset="0"/>
                <a:ea typeface="Cambria" pitchFamily="34" charset="-122"/>
                <a:cs typeface="Cambria" pitchFamily="34" charset="-120"/>
              </a:rPr>
              <a:t>From Traces to Guarded Programs: Evidence-Gated Compilation of Recurrent Agent Workflows</a:t>
            </a:r>
            <a:endParaRPr lang="en-US" sz="3000" dirty="0"/>
          </a:p>
        </p:txBody>
      </p:sp>
      <p:sp>
        <p:nvSpPr>
          <p:cNvPr id="7" name="Text 5"/>
          <p:cNvSpPr/>
          <p:nvPr/>
        </p:nvSpPr>
        <p:spPr>
          <a:xfrm>
            <a:off x="640080" y="3584448"/>
            <a:ext cx="7589520" cy="822960"/>
          </a:xfrm>
          <a:prstGeom prst="rect">
            <a:avLst/>
          </a:prstGeom>
          <a:noFill/>
          <a:ln/>
        </p:spPr>
        <p:txBody>
          <a:bodyPr wrap="square" lIns="0" tIns="0" rIns="0" bIns="0" rtlCol="0" anchor="t"/>
          <a:lstStyle/>
          <a:p>
            <a:pPr marL="0" indent="0">
              <a:lnSpc>
                <a:spcPct val="115000"/>
              </a:lnSpc>
              <a:buNone/>
            </a:pPr>
            <a:r>
              <a:rPr lang="en-US" sz="1450" b="1" dirty="0">
                <a:solidFill>
                  <a:srgbClr val="FFFFFF"/>
                </a:solidFill>
                <a:latin typeface="Calibri" pitchFamily="34" charset="0"/>
                <a:ea typeface="Calibri" pitchFamily="34" charset="-122"/>
                <a:cs typeface="Calibri" pitchFamily="34" charset="-120"/>
              </a:rPr>
              <a:t>Guarded agentic compaction.</a:t>
            </a:r>
            <a:r>
              <a:rPr lang="en-US" sz="1450" dirty="0">
                <a:solidFill>
                  <a:srgbClr val="9BD0D6"/>
                </a:solidFill>
                <a:latin typeface="Calibri" pitchFamily="34" charset="0"/>
                <a:ea typeface="Calibri" pitchFamily="34" charset="-122"/>
                <a:cs typeface="Calibri" pitchFamily="34" charset="-120"/>
              </a:rPr>
              <a:t> Recurrence proposes a candidate; evidence decides whether it compiles. Every stage can refuse, and the default output is the unchanged agent.</a:t>
            </a:r>
            <a:endParaRPr lang="en-US" sz="1450" dirty="0"/>
          </a:p>
        </p:txBody>
      </p:sp>
      <p:sp>
        <p:nvSpPr>
          <p:cNvPr id="8" name="Shape 6"/>
          <p:cNvSpPr/>
          <p:nvPr/>
        </p:nvSpPr>
        <p:spPr>
          <a:xfrm>
            <a:off x="640080" y="4590288"/>
            <a:ext cx="7589520" cy="0"/>
          </a:xfrm>
          <a:prstGeom prst="line">
            <a:avLst/>
          </a:prstGeom>
          <a:noFill/>
          <a:ln w="12700">
            <a:solidFill>
              <a:srgbClr val="2C4467"/>
            </a:solidFill>
            <a:prstDash val="solid"/>
          </a:ln>
        </p:spPr>
        <p:txBody>
          <a:bodyPr/>
          <a:lstStyle/>
          <a:p>
            <a:endParaRPr lang="en-US"/>
          </a:p>
        </p:txBody>
      </p:sp>
      <p:sp>
        <p:nvSpPr>
          <p:cNvPr id="9" name="Text 7"/>
          <p:cNvSpPr/>
          <p:nvPr/>
        </p:nvSpPr>
        <p:spPr>
          <a:xfrm>
            <a:off x="640080" y="4754880"/>
            <a:ext cx="2377440" cy="274320"/>
          </a:xfrm>
          <a:prstGeom prst="rect">
            <a:avLst/>
          </a:prstGeom>
          <a:noFill/>
          <a:ln/>
        </p:spPr>
        <p:txBody>
          <a:bodyPr wrap="square" lIns="0" tIns="0" rIns="0" bIns="0" rtlCol="0" anchor="t"/>
          <a:lstStyle/>
          <a:p>
            <a:pPr marL="0" indent="0">
              <a:buNone/>
            </a:pPr>
            <a:r>
              <a:rPr lang="en-US" sz="1300" b="1" dirty="0">
                <a:solidFill>
                  <a:srgbClr val="56B3BE"/>
                </a:solidFill>
                <a:latin typeface="Cambria" pitchFamily="34" charset="0"/>
                <a:ea typeface="Cambria" pitchFamily="34" charset="-122"/>
                <a:cs typeface="Cambria" pitchFamily="34" charset="-120"/>
              </a:rPr>
              <a:t>GitHub</a:t>
            </a:r>
            <a:endParaRPr lang="en-US" sz="1300" dirty="0"/>
          </a:p>
        </p:txBody>
      </p:sp>
      <p:sp>
        <p:nvSpPr>
          <p:cNvPr id="10" name="Text 8"/>
          <p:cNvSpPr/>
          <p:nvPr/>
        </p:nvSpPr>
        <p:spPr>
          <a:xfrm>
            <a:off x="640080" y="5047488"/>
            <a:ext cx="2377440" cy="640080"/>
          </a:xfrm>
          <a:prstGeom prst="rect">
            <a:avLst/>
          </a:prstGeom>
          <a:noFill/>
          <a:ln/>
        </p:spPr>
        <p:txBody>
          <a:bodyPr wrap="square" lIns="0" tIns="0" rIns="0" bIns="0" rtlCol="0" anchor="t"/>
          <a:lstStyle/>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3 workflow families,</a:t>
            </a:r>
            <a:endParaRPr lang="en-US" sz="1050" dirty="0"/>
          </a:p>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90/90 held-out contracts</a:t>
            </a:r>
            <a:endParaRPr lang="en-US" sz="1050" dirty="0"/>
          </a:p>
        </p:txBody>
      </p:sp>
      <p:sp>
        <p:nvSpPr>
          <p:cNvPr id="11" name="Text 9"/>
          <p:cNvSpPr/>
          <p:nvPr/>
        </p:nvSpPr>
        <p:spPr>
          <a:xfrm>
            <a:off x="3246120" y="4754880"/>
            <a:ext cx="2377440" cy="274320"/>
          </a:xfrm>
          <a:prstGeom prst="rect">
            <a:avLst/>
          </a:prstGeom>
          <a:noFill/>
          <a:ln/>
        </p:spPr>
        <p:txBody>
          <a:bodyPr wrap="square" lIns="0" tIns="0" rIns="0" bIns="0" rtlCol="0" anchor="t"/>
          <a:lstStyle/>
          <a:p>
            <a:pPr marL="0" indent="0">
              <a:buNone/>
            </a:pPr>
            <a:r>
              <a:rPr lang="en-US" sz="1300" b="1" dirty="0">
                <a:solidFill>
                  <a:srgbClr val="56B3BE"/>
                </a:solidFill>
                <a:latin typeface="Cambria" pitchFamily="34" charset="0"/>
                <a:ea typeface="Cambria" pitchFamily="34" charset="-122"/>
                <a:cs typeface="Cambria" pitchFamily="34" charset="-120"/>
              </a:rPr>
              <a:t>BIRD</a:t>
            </a:r>
            <a:endParaRPr lang="en-US" sz="1300" dirty="0"/>
          </a:p>
        </p:txBody>
      </p:sp>
      <p:sp>
        <p:nvSpPr>
          <p:cNvPr id="12" name="Text 10"/>
          <p:cNvSpPr/>
          <p:nvPr/>
        </p:nvSpPr>
        <p:spPr>
          <a:xfrm>
            <a:off x="3246120" y="5047488"/>
            <a:ext cx="2377440" cy="640080"/>
          </a:xfrm>
          <a:prstGeom prst="rect">
            <a:avLst/>
          </a:prstGeom>
          <a:noFill/>
          <a:ln/>
        </p:spPr>
        <p:txBody>
          <a:bodyPr wrap="square" lIns="0" tIns="0" rIns="0" bIns="0" rtlCol="0" anchor="t"/>
          <a:lstStyle/>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26 of 31 databases compiled,</a:t>
            </a:r>
            <a:endParaRPr lang="en-US" sz="1050" dirty="0"/>
          </a:p>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45–50% fewer model calls</a:t>
            </a:r>
            <a:endParaRPr lang="en-US" sz="1050" dirty="0"/>
          </a:p>
        </p:txBody>
      </p:sp>
      <p:sp>
        <p:nvSpPr>
          <p:cNvPr id="13" name="Text 11"/>
          <p:cNvSpPr/>
          <p:nvPr/>
        </p:nvSpPr>
        <p:spPr>
          <a:xfrm>
            <a:off x="5852160" y="4754880"/>
            <a:ext cx="2377440" cy="274320"/>
          </a:xfrm>
          <a:prstGeom prst="rect">
            <a:avLst/>
          </a:prstGeom>
          <a:noFill/>
          <a:ln/>
        </p:spPr>
        <p:txBody>
          <a:bodyPr wrap="square" lIns="0" tIns="0" rIns="0" bIns="0" rtlCol="0" anchor="t"/>
          <a:lstStyle/>
          <a:p>
            <a:pPr marL="0" indent="0">
              <a:buNone/>
            </a:pPr>
            <a:r>
              <a:rPr lang="en-US" sz="1300" b="1" dirty="0">
                <a:solidFill>
                  <a:srgbClr val="56B3BE"/>
                </a:solidFill>
                <a:latin typeface="Cambria" pitchFamily="34" charset="0"/>
                <a:ea typeface="Cambria" pitchFamily="34" charset="-122"/>
                <a:cs typeface="Cambria" pitchFamily="34" charset="-120"/>
              </a:rPr>
              <a:t>NESTFUL  ·  AppWorld</a:t>
            </a:r>
            <a:endParaRPr lang="en-US" sz="1300" dirty="0"/>
          </a:p>
        </p:txBody>
      </p:sp>
      <p:sp>
        <p:nvSpPr>
          <p:cNvPr id="14" name="Text 12"/>
          <p:cNvSpPr/>
          <p:nvPr/>
        </p:nvSpPr>
        <p:spPr>
          <a:xfrm>
            <a:off x="5852160" y="5047488"/>
            <a:ext cx="2377440" cy="640080"/>
          </a:xfrm>
          <a:prstGeom prst="rect">
            <a:avLst/>
          </a:prstGeom>
          <a:noFill/>
          <a:ln/>
        </p:spPr>
        <p:txBody>
          <a:bodyPr wrap="square" lIns="0" tIns="0" rIns="0" bIns="0" rtlCol="0" anchor="t"/>
          <a:lstStyle/>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two public benchmarks,</a:t>
            </a:r>
            <a:endParaRPr lang="en-US" sz="1050" dirty="0"/>
          </a:p>
          <a:p>
            <a:pPr marL="0" indent="0">
              <a:lnSpc>
                <a:spcPct val="105000"/>
              </a:lnSpc>
              <a:buNone/>
            </a:pPr>
            <a:r>
              <a:rPr lang="en-US" sz="1050" dirty="0">
                <a:solidFill>
                  <a:srgbClr val="8FA6C0"/>
                </a:solidFill>
                <a:latin typeface="Calibri" pitchFamily="34" charset="0"/>
                <a:ea typeface="Calibri" pitchFamily="34" charset="-122"/>
                <a:cs typeface="Calibri" pitchFamily="34" charset="-120"/>
              </a:rPr>
              <a:t>no measured benefit</a:t>
            </a:r>
            <a:endParaRPr lang="en-US" sz="1050" dirty="0"/>
          </a:p>
        </p:txBody>
      </p:sp>
      <p:sp>
        <p:nvSpPr>
          <p:cNvPr id="15" name="Text 13"/>
          <p:cNvSpPr/>
          <p:nvPr/>
        </p:nvSpPr>
        <p:spPr>
          <a:xfrm>
            <a:off x="640080" y="5943600"/>
            <a:ext cx="8229600" cy="274320"/>
          </a:xfrm>
          <a:prstGeom prst="rect">
            <a:avLst/>
          </a:prstGeom>
          <a:noFill/>
          <a:ln/>
        </p:spPr>
        <p:txBody>
          <a:bodyPr wrap="square" lIns="0" tIns="0" rIns="0" bIns="0" rtlCol="0" anchor="t"/>
          <a:lstStyle/>
          <a:p>
            <a:pPr marL="0" indent="0">
              <a:buNone/>
            </a:pPr>
            <a:r>
              <a:rPr lang="en-US" sz="1050" dirty="0">
                <a:solidFill>
                  <a:srgbClr val="43597C"/>
                </a:solidFill>
                <a:latin typeface="Calibri" pitchFamily="34" charset="0"/>
                <a:ea typeface="Calibri" pitchFamily="34" charset="-122"/>
                <a:cs typeface="Calibri" pitchFamily="34" charset="-120"/>
              </a:rPr>
              <a:t>Seminar presentation  ·  prepared by JazzX AI  ·  October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MOTIVATION</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Recurrence is observable; admissibility is not</a:t>
            </a:r>
            <a:endParaRPr lang="en-US" sz="2600" dirty="0"/>
          </a:p>
        </p:txBody>
      </p:sp>
      <p:sp>
        <p:nvSpPr>
          <p:cNvPr id="6" name="Text 4"/>
          <p:cNvSpPr/>
          <p:nvPr/>
        </p:nvSpPr>
        <p:spPr>
          <a:xfrm>
            <a:off x="640080" y="1280160"/>
            <a:ext cx="10911535" cy="566928"/>
          </a:xfrm>
          <a:prstGeom prst="rect">
            <a:avLst/>
          </a:prstGeom>
          <a:noFill/>
          <a:ln/>
        </p:spPr>
        <p:txBody>
          <a:bodyPr wrap="square" lIns="0" tIns="0" rIns="0" bIns="0" rtlCol="0" anchor="t"/>
          <a:lstStyle/>
          <a:p>
            <a:pPr marL="0" indent="0">
              <a:lnSpc>
                <a:spcPct val="110000"/>
              </a:lnSpc>
              <a:buNone/>
            </a:pPr>
            <a:r>
              <a:rPr lang="en-US" sz="1250" dirty="0">
                <a:solidFill>
                  <a:srgbClr val="24354F"/>
                </a:solidFill>
                <a:latin typeface="Calibri" pitchFamily="34" charset="0"/>
                <a:ea typeface="Calibri" pitchFamily="34" charset="-122"/>
                <a:cs typeface="Calibri" pitchFamily="34" charset="-120"/>
              </a:rPr>
              <a:t>A mature tool-using agent spends model calls reselecting the same read-only evidence path. Recurrence alone does not license removing them: </a:t>
            </a:r>
            <a:r>
              <a:rPr lang="en-US" sz="1250" b="1" dirty="0">
                <a:solidFill>
                  <a:srgbClr val="24354F"/>
                </a:solidFill>
                <a:latin typeface="Calibri" pitchFamily="34" charset="0"/>
                <a:ea typeface="Calibri" pitchFamily="34" charset="-122"/>
                <a:cs typeface="Calibri" pitchFamily="34" charset="-120"/>
              </a:rPr>
              <a:t>an argument may not be grounded in observable state, an effect may not permit speculation, and a replacement may not hold on the next input.</a:t>
            </a:r>
            <a:endParaRPr lang="en-US" sz="1250" dirty="0"/>
          </a:p>
        </p:txBody>
      </p:sp>
      <p:sp>
        <p:nvSpPr>
          <p:cNvPr id="7" name="Text 5"/>
          <p:cNvSpPr/>
          <p:nvPr/>
        </p:nvSpPr>
        <p:spPr>
          <a:xfrm>
            <a:off x="640080" y="2011680"/>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FOUR STRUCTURAL HAZARDS A CACHE DOES NOT SEE</a:t>
            </a:r>
            <a:endParaRPr lang="en-US" sz="1050" dirty="0"/>
          </a:p>
        </p:txBody>
      </p:sp>
      <p:sp>
        <p:nvSpPr>
          <p:cNvPr id="8" name="Shape 6"/>
          <p:cNvSpPr/>
          <p:nvPr/>
        </p:nvSpPr>
        <p:spPr>
          <a:xfrm>
            <a:off x="640080" y="2322576"/>
            <a:ext cx="2563292" cy="1700784"/>
          </a:xfrm>
          <a:prstGeom prst="roundRect">
            <a:avLst>
              <a:gd name="adj" fmla="val 2688"/>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9" name="Shape 7"/>
          <p:cNvSpPr/>
          <p:nvPr/>
        </p:nvSpPr>
        <p:spPr>
          <a:xfrm>
            <a:off x="859536" y="2505456"/>
            <a:ext cx="310896" cy="310896"/>
          </a:xfrm>
          <a:prstGeom prst="ellipse">
            <a:avLst/>
          </a:prstGeom>
          <a:solidFill>
            <a:srgbClr val="A93B2B"/>
          </a:solidFill>
          <a:ln w="6350">
            <a:solidFill>
              <a:srgbClr val="A93B2B"/>
            </a:solidFill>
            <a:prstDash val="solid"/>
          </a:ln>
        </p:spPr>
        <p:txBody>
          <a:bodyPr/>
          <a:lstStyle/>
          <a:p>
            <a:endParaRPr lang="en-US"/>
          </a:p>
        </p:txBody>
      </p:sp>
      <p:sp>
        <p:nvSpPr>
          <p:cNvPr id="10" name="Text 8"/>
          <p:cNvSpPr/>
          <p:nvPr/>
        </p:nvSpPr>
        <p:spPr>
          <a:xfrm>
            <a:off x="859536" y="250545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1" name="Text 9"/>
          <p:cNvSpPr/>
          <p:nvPr/>
        </p:nvSpPr>
        <p:spPr>
          <a:xfrm>
            <a:off x="1243584" y="2487168"/>
            <a:ext cx="1740332" cy="347472"/>
          </a:xfrm>
          <a:prstGeom prst="rect">
            <a:avLst/>
          </a:prstGeom>
          <a:noFill/>
          <a:ln/>
        </p:spPr>
        <p:txBody>
          <a:bodyPr wrap="square" lIns="0" tIns="0" rIns="0" bIns="0" rtlCol="0" anchor="ctr"/>
          <a:lstStyle/>
          <a:p>
            <a:pPr marL="0" indent="0">
              <a:lnSpc>
                <a:spcPct val="100000"/>
              </a:lnSpc>
              <a:buNone/>
            </a:pPr>
            <a:r>
              <a:rPr lang="en-US" sz="1200" b="1" dirty="0">
                <a:solidFill>
                  <a:srgbClr val="A93B2B"/>
                </a:solidFill>
                <a:latin typeface="Cambria" pitchFamily="34" charset="0"/>
                <a:ea typeface="Cambria" pitchFamily="34" charset="-122"/>
                <a:cs typeface="Cambria" pitchFamily="34" charset="-120"/>
              </a:rPr>
              <a:t>Ungrounded argument</a:t>
            </a:r>
            <a:endParaRPr lang="en-US" sz="1200" dirty="0"/>
          </a:p>
        </p:txBody>
      </p:sp>
      <p:sp>
        <p:nvSpPr>
          <p:cNvPr id="12" name="Text 10"/>
          <p:cNvSpPr/>
          <p:nvPr/>
        </p:nvSpPr>
        <p:spPr>
          <a:xfrm>
            <a:off x="877824" y="2907792"/>
            <a:ext cx="2087804" cy="1005840"/>
          </a:xfrm>
          <a:prstGeom prst="rect">
            <a:avLst/>
          </a:prstGeom>
          <a:noFill/>
          <a:ln/>
        </p:spPr>
        <p:txBody>
          <a:bodyPr wrap="square" lIns="0" tIns="0" rIns="0" bIns="0" rtlCol="0" anchor="t"/>
          <a:lstStyle/>
          <a:p>
            <a:pPr marL="0" indent="0">
              <a:lnSpc>
                <a:spcPct val="106000"/>
              </a:lnSpc>
              <a:buNone/>
            </a:pPr>
            <a:r>
              <a:rPr lang="en-US" sz="1000" dirty="0">
                <a:solidFill>
                  <a:srgbClr val="5C4034"/>
                </a:solidFill>
                <a:latin typeface="Calibri" pitchFamily="34" charset="0"/>
                <a:ea typeface="Calibri" pitchFamily="34" charset="-122"/>
                <a:cs typeface="Calibri" pitchFamily="34" charset="-120"/>
              </a:rPr>
              <a:t>No expression over entry state or prior results reproduces the value. The slot is a genuine model decision, and there is nothing to reconstruct it from.</a:t>
            </a:r>
            <a:endParaRPr lang="en-US" sz="1000" dirty="0"/>
          </a:p>
        </p:txBody>
      </p:sp>
      <p:sp>
        <p:nvSpPr>
          <p:cNvPr id="13" name="Shape 11"/>
          <p:cNvSpPr/>
          <p:nvPr/>
        </p:nvSpPr>
        <p:spPr>
          <a:xfrm>
            <a:off x="3422828" y="2322576"/>
            <a:ext cx="2563292" cy="1700784"/>
          </a:xfrm>
          <a:prstGeom prst="roundRect">
            <a:avLst>
              <a:gd name="adj" fmla="val 2688"/>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4" name="Shape 12"/>
          <p:cNvSpPr/>
          <p:nvPr/>
        </p:nvSpPr>
        <p:spPr>
          <a:xfrm>
            <a:off x="3642284" y="2505456"/>
            <a:ext cx="310896" cy="310896"/>
          </a:xfrm>
          <a:prstGeom prst="ellipse">
            <a:avLst/>
          </a:prstGeom>
          <a:solidFill>
            <a:srgbClr val="A93B2B"/>
          </a:solidFill>
          <a:ln w="6350">
            <a:solidFill>
              <a:srgbClr val="A93B2B"/>
            </a:solidFill>
            <a:prstDash val="solid"/>
          </a:ln>
        </p:spPr>
        <p:txBody>
          <a:bodyPr/>
          <a:lstStyle/>
          <a:p>
            <a:endParaRPr lang="en-US"/>
          </a:p>
        </p:txBody>
      </p:sp>
      <p:sp>
        <p:nvSpPr>
          <p:cNvPr id="15" name="Text 13"/>
          <p:cNvSpPr/>
          <p:nvPr/>
        </p:nvSpPr>
        <p:spPr>
          <a:xfrm>
            <a:off x="3642284" y="250545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4026332" y="2487168"/>
            <a:ext cx="1740332" cy="347472"/>
          </a:xfrm>
          <a:prstGeom prst="rect">
            <a:avLst/>
          </a:prstGeom>
          <a:noFill/>
          <a:ln/>
        </p:spPr>
        <p:txBody>
          <a:bodyPr wrap="square" lIns="0" tIns="0" rIns="0" bIns="0" rtlCol="0" anchor="ctr"/>
          <a:lstStyle/>
          <a:p>
            <a:pPr marL="0" indent="0">
              <a:lnSpc>
                <a:spcPct val="100000"/>
              </a:lnSpc>
              <a:buNone/>
            </a:pPr>
            <a:r>
              <a:rPr lang="en-US" sz="1200" b="1" dirty="0">
                <a:solidFill>
                  <a:srgbClr val="A93B2B"/>
                </a:solidFill>
                <a:latin typeface="Cambria" pitchFamily="34" charset="0"/>
                <a:ea typeface="Cambria" pitchFamily="34" charset="-122"/>
                <a:cs typeface="Cambria" pitchFamily="34" charset="-120"/>
              </a:rPr>
              <a:t>Undeclared effect</a:t>
            </a:r>
            <a:endParaRPr lang="en-US" sz="1200" dirty="0"/>
          </a:p>
        </p:txBody>
      </p:sp>
      <p:sp>
        <p:nvSpPr>
          <p:cNvPr id="17" name="Text 15"/>
          <p:cNvSpPr/>
          <p:nvPr/>
        </p:nvSpPr>
        <p:spPr>
          <a:xfrm>
            <a:off x="3660572" y="2907792"/>
            <a:ext cx="2087804" cy="1005840"/>
          </a:xfrm>
          <a:prstGeom prst="rect">
            <a:avLst/>
          </a:prstGeom>
          <a:noFill/>
          <a:ln/>
        </p:spPr>
        <p:txBody>
          <a:bodyPr wrap="square" lIns="0" tIns="0" rIns="0" bIns="0" rtlCol="0" anchor="t"/>
          <a:lstStyle/>
          <a:p>
            <a:pPr marL="0" indent="0">
              <a:lnSpc>
                <a:spcPct val="106000"/>
              </a:lnSpc>
              <a:buNone/>
            </a:pPr>
            <a:r>
              <a:rPr lang="en-US" sz="1000" dirty="0">
                <a:solidFill>
                  <a:srgbClr val="5C4034"/>
                </a:solidFill>
                <a:latin typeface="Calibri" pitchFamily="34" charset="0"/>
                <a:ea typeface="Calibri" pitchFamily="34" charset="-122"/>
                <a:cs typeface="Calibri" pitchFamily="34" charset="-120"/>
              </a:rPr>
              <a:t>A nominal read may carry an external effect. An effect the catalog does not declare cannot be shown safe to speculate on, and an unknown effect is not a read.</a:t>
            </a:r>
            <a:endParaRPr lang="en-US" sz="1000" dirty="0"/>
          </a:p>
        </p:txBody>
      </p:sp>
      <p:sp>
        <p:nvSpPr>
          <p:cNvPr id="18" name="Shape 16"/>
          <p:cNvSpPr/>
          <p:nvPr/>
        </p:nvSpPr>
        <p:spPr>
          <a:xfrm>
            <a:off x="6205576" y="2322576"/>
            <a:ext cx="2563292" cy="1700784"/>
          </a:xfrm>
          <a:prstGeom prst="roundRect">
            <a:avLst>
              <a:gd name="adj" fmla="val 2688"/>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9" name="Shape 17"/>
          <p:cNvSpPr/>
          <p:nvPr/>
        </p:nvSpPr>
        <p:spPr>
          <a:xfrm>
            <a:off x="6425032" y="2505456"/>
            <a:ext cx="310896" cy="310896"/>
          </a:xfrm>
          <a:prstGeom prst="ellipse">
            <a:avLst/>
          </a:prstGeom>
          <a:solidFill>
            <a:srgbClr val="A93B2B"/>
          </a:solidFill>
          <a:ln w="6350">
            <a:solidFill>
              <a:srgbClr val="A93B2B"/>
            </a:solidFill>
            <a:prstDash val="solid"/>
          </a:ln>
        </p:spPr>
        <p:txBody>
          <a:bodyPr/>
          <a:lstStyle/>
          <a:p>
            <a:endParaRPr lang="en-US"/>
          </a:p>
        </p:txBody>
      </p:sp>
      <p:sp>
        <p:nvSpPr>
          <p:cNvPr id="20" name="Text 18"/>
          <p:cNvSpPr/>
          <p:nvPr/>
        </p:nvSpPr>
        <p:spPr>
          <a:xfrm>
            <a:off x="6425032" y="250545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1" name="Text 19"/>
          <p:cNvSpPr/>
          <p:nvPr/>
        </p:nvSpPr>
        <p:spPr>
          <a:xfrm>
            <a:off x="6809080" y="2487168"/>
            <a:ext cx="1740332" cy="347472"/>
          </a:xfrm>
          <a:prstGeom prst="rect">
            <a:avLst/>
          </a:prstGeom>
          <a:noFill/>
          <a:ln/>
        </p:spPr>
        <p:txBody>
          <a:bodyPr wrap="square" lIns="0" tIns="0" rIns="0" bIns="0" rtlCol="0" anchor="ctr"/>
          <a:lstStyle/>
          <a:p>
            <a:pPr marL="0" indent="0">
              <a:lnSpc>
                <a:spcPct val="100000"/>
              </a:lnSpc>
              <a:buNone/>
            </a:pPr>
            <a:r>
              <a:rPr lang="en-US" sz="1200" b="1" dirty="0">
                <a:solidFill>
                  <a:srgbClr val="A93B2B"/>
                </a:solidFill>
                <a:latin typeface="Cambria" pitchFamily="34" charset="0"/>
                <a:ea typeface="Cambria" pitchFamily="34" charset="-122"/>
                <a:cs typeface="Cambria" pitchFamily="34" charset="-120"/>
              </a:rPr>
              <a:t>Barrier crossed</a:t>
            </a:r>
            <a:endParaRPr lang="en-US" sz="1200" dirty="0"/>
          </a:p>
        </p:txBody>
      </p:sp>
      <p:sp>
        <p:nvSpPr>
          <p:cNvPr id="22" name="Text 20"/>
          <p:cNvSpPr/>
          <p:nvPr/>
        </p:nvSpPr>
        <p:spPr>
          <a:xfrm>
            <a:off x="6443320" y="2907792"/>
            <a:ext cx="2087804" cy="1005840"/>
          </a:xfrm>
          <a:prstGeom prst="rect">
            <a:avLst/>
          </a:prstGeom>
          <a:noFill/>
          <a:ln/>
        </p:spPr>
        <p:txBody>
          <a:bodyPr wrap="square" lIns="0" tIns="0" rIns="0" bIns="0" rtlCol="0" anchor="t"/>
          <a:lstStyle/>
          <a:p>
            <a:pPr marL="0" indent="0">
              <a:lnSpc>
                <a:spcPct val="106000"/>
              </a:lnSpc>
              <a:buNone/>
            </a:pPr>
            <a:r>
              <a:rPr lang="en-US" sz="1000" dirty="0">
                <a:solidFill>
                  <a:srgbClr val="5C4034"/>
                </a:solidFill>
                <a:latin typeface="Calibri" pitchFamily="34" charset="0"/>
                <a:ea typeface="Calibri" pitchFamily="34" charset="-122"/>
                <a:cs typeface="Calibri" pitchFamily="34" charset="-120"/>
              </a:rPr>
              <a:t>The repeated sequence may cross an approval, a write, a handoff, or a commit boundary. These are hard barriers, not costs to trade off against a saving.</a:t>
            </a:r>
            <a:endParaRPr lang="en-US" sz="1000" dirty="0"/>
          </a:p>
        </p:txBody>
      </p:sp>
      <p:sp>
        <p:nvSpPr>
          <p:cNvPr id="23" name="Shape 21"/>
          <p:cNvSpPr/>
          <p:nvPr/>
        </p:nvSpPr>
        <p:spPr>
          <a:xfrm>
            <a:off x="8988323" y="2322576"/>
            <a:ext cx="2563292" cy="1700784"/>
          </a:xfrm>
          <a:prstGeom prst="roundRect">
            <a:avLst>
              <a:gd name="adj" fmla="val 2688"/>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4" name="Shape 22"/>
          <p:cNvSpPr/>
          <p:nvPr/>
        </p:nvSpPr>
        <p:spPr>
          <a:xfrm>
            <a:off x="9207779" y="2505456"/>
            <a:ext cx="310896" cy="310896"/>
          </a:xfrm>
          <a:prstGeom prst="ellipse">
            <a:avLst/>
          </a:prstGeom>
          <a:solidFill>
            <a:srgbClr val="A93B2B"/>
          </a:solidFill>
          <a:ln w="6350">
            <a:solidFill>
              <a:srgbClr val="A93B2B"/>
            </a:solidFill>
            <a:prstDash val="solid"/>
          </a:ln>
        </p:spPr>
        <p:txBody>
          <a:bodyPr/>
          <a:lstStyle/>
          <a:p>
            <a:endParaRPr lang="en-US"/>
          </a:p>
        </p:txBody>
      </p:sp>
      <p:sp>
        <p:nvSpPr>
          <p:cNvPr id="25" name="Text 23"/>
          <p:cNvSpPr/>
          <p:nvPr/>
        </p:nvSpPr>
        <p:spPr>
          <a:xfrm>
            <a:off x="9207779" y="2505456"/>
            <a:ext cx="31089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6" name="Text 24"/>
          <p:cNvSpPr/>
          <p:nvPr/>
        </p:nvSpPr>
        <p:spPr>
          <a:xfrm>
            <a:off x="9591827" y="2487168"/>
            <a:ext cx="1740332" cy="347472"/>
          </a:xfrm>
          <a:prstGeom prst="rect">
            <a:avLst/>
          </a:prstGeom>
          <a:noFill/>
          <a:ln/>
        </p:spPr>
        <p:txBody>
          <a:bodyPr wrap="square" lIns="0" tIns="0" rIns="0" bIns="0" rtlCol="0" anchor="ctr"/>
          <a:lstStyle/>
          <a:p>
            <a:pPr marL="0" indent="0">
              <a:lnSpc>
                <a:spcPct val="100000"/>
              </a:lnSpc>
              <a:buNone/>
            </a:pPr>
            <a:r>
              <a:rPr lang="en-US" sz="1200" b="1" dirty="0">
                <a:solidFill>
                  <a:srgbClr val="A93B2B"/>
                </a:solidFill>
                <a:latin typeface="Cambria" pitchFamily="34" charset="0"/>
                <a:ea typeface="Cambria" pitchFamily="34" charset="-122"/>
                <a:cs typeface="Cambria" pitchFamily="34" charset="-120"/>
              </a:rPr>
              <a:t>Drift on the next input</a:t>
            </a:r>
            <a:endParaRPr lang="en-US" sz="1200" dirty="0"/>
          </a:p>
        </p:txBody>
      </p:sp>
      <p:sp>
        <p:nvSpPr>
          <p:cNvPr id="27" name="Text 25"/>
          <p:cNvSpPr/>
          <p:nvPr/>
        </p:nvSpPr>
        <p:spPr>
          <a:xfrm>
            <a:off x="9226067" y="2907792"/>
            <a:ext cx="2087804" cy="1005840"/>
          </a:xfrm>
          <a:prstGeom prst="rect">
            <a:avLst/>
          </a:prstGeom>
          <a:noFill/>
          <a:ln/>
        </p:spPr>
        <p:txBody>
          <a:bodyPr wrap="square" lIns="0" tIns="0" rIns="0" bIns="0" rtlCol="0" anchor="t"/>
          <a:lstStyle/>
          <a:p>
            <a:pPr marL="0" indent="0">
              <a:lnSpc>
                <a:spcPct val="106000"/>
              </a:lnSpc>
              <a:buNone/>
            </a:pPr>
            <a:r>
              <a:rPr lang="en-US" sz="1000" dirty="0">
                <a:solidFill>
                  <a:srgbClr val="5C4034"/>
                </a:solidFill>
                <a:latin typeface="Calibri" pitchFamily="34" charset="0"/>
                <a:ea typeface="Calibri" pitchFamily="34" charset="-122"/>
                <a:cs typeface="Calibri" pitchFamily="34" charset="-120"/>
              </a:rPr>
              <a:t>An input resembling the training trace may violate a permission, freshness, or schema constraint that held when that trace was recorded.</a:t>
            </a:r>
            <a:endParaRPr lang="en-US" sz="1000" dirty="0"/>
          </a:p>
        </p:txBody>
      </p:sp>
      <p:sp>
        <p:nvSpPr>
          <p:cNvPr id="28" name="Shape 26"/>
          <p:cNvSpPr/>
          <p:nvPr/>
        </p:nvSpPr>
        <p:spPr>
          <a:xfrm>
            <a:off x="640080" y="4261104"/>
            <a:ext cx="5291176" cy="1371600"/>
          </a:xfrm>
          <a:prstGeom prst="roundRect">
            <a:avLst>
              <a:gd name="adj" fmla="val 3333"/>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9" name="Text 27"/>
          <p:cNvSpPr/>
          <p:nvPr/>
        </p:nvSpPr>
        <p:spPr>
          <a:xfrm>
            <a:off x="896112" y="4389120"/>
            <a:ext cx="4779112" cy="274320"/>
          </a:xfrm>
          <a:prstGeom prst="rect">
            <a:avLst/>
          </a:prstGeom>
          <a:noFill/>
          <a:ln/>
        </p:spPr>
        <p:txBody>
          <a:bodyPr wrap="square" lIns="0" tIns="0" rIns="0" bIns="0" rtlCol="0" anchor="t"/>
          <a:lstStyle/>
          <a:p>
            <a:pPr marL="0" indent="0">
              <a:buNone/>
            </a:pPr>
            <a:r>
              <a:rPr lang="en-US" sz="1250" b="1" dirty="0">
                <a:solidFill>
                  <a:srgbClr val="0E1E3A"/>
                </a:solidFill>
                <a:latin typeface="Cambria" pitchFamily="34" charset="0"/>
                <a:ea typeface="Cambria" pitchFamily="34" charset="-122"/>
                <a:cs typeface="Cambria" pitchFamily="34" charset="-120"/>
              </a:rPr>
              <a:t>What a trace does establish</a:t>
            </a:r>
            <a:endParaRPr lang="en-US" sz="1250" dirty="0"/>
          </a:p>
        </p:txBody>
      </p:sp>
      <p:sp>
        <p:nvSpPr>
          <p:cNvPr id="30" name="Text 28"/>
          <p:cNvSpPr/>
          <p:nvPr/>
        </p:nvSpPr>
        <p:spPr>
          <a:xfrm>
            <a:off x="896112" y="4681728"/>
            <a:ext cx="4779112" cy="859536"/>
          </a:xfrm>
          <a:prstGeom prst="rect">
            <a:avLst/>
          </a:prstGeom>
          <a:noFill/>
          <a:ln/>
        </p:spPr>
        <p:txBody>
          <a:bodyPr wrap="square" lIns="0" tIns="0" rIns="0" bIns="0" rtlCol="0" anchor="t"/>
          <a:lstStyle/>
          <a:p>
            <a:pPr marL="0" indent="0">
              <a:lnSpc>
                <a:spcPct val="107000"/>
              </a:lnSpc>
              <a:buNone/>
            </a:pPr>
            <a:r>
              <a:rPr lang="en-US" sz="1100" dirty="0">
                <a:solidFill>
                  <a:srgbClr val="24354F"/>
                </a:solidFill>
                <a:latin typeface="Calibri" pitchFamily="34" charset="0"/>
                <a:ea typeface="Calibri" pitchFamily="34" charset="-122"/>
                <a:cs typeface="Calibri" pitchFamily="34" charset="-120"/>
              </a:rPr>
              <a:t>That a region recurs, with the same tool signatures, dependency topology, run shape, and live-in/out shape across independent scenario groups. That is a mining result, and it is what prior trace-based systems consume.</a:t>
            </a:r>
            <a:endParaRPr lang="en-US" sz="1100" dirty="0"/>
          </a:p>
        </p:txBody>
      </p:sp>
      <p:sp>
        <p:nvSpPr>
          <p:cNvPr id="31" name="Shape 29"/>
          <p:cNvSpPr/>
          <p:nvPr/>
        </p:nvSpPr>
        <p:spPr>
          <a:xfrm>
            <a:off x="6260440" y="4261104"/>
            <a:ext cx="5291176" cy="1371600"/>
          </a:xfrm>
          <a:prstGeom prst="roundRect">
            <a:avLst>
              <a:gd name="adj" fmla="val 333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32" name="Text 30"/>
          <p:cNvSpPr/>
          <p:nvPr/>
        </p:nvSpPr>
        <p:spPr>
          <a:xfrm>
            <a:off x="6516472" y="4389120"/>
            <a:ext cx="4779112" cy="274320"/>
          </a:xfrm>
          <a:prstGeom prst="rect">
            <a:avLst/>
          </a:prstGeom>
          <a:noFill/>
          <a:ln/>
        </p:spPr>
        <p:txBody>
          <a:bodyPr wrap="square" lIns="0" tIns="0" rIns="0" bIns="0" rtlCol="0" anchor="t"/>
          <a:lstStyle/>
          <a:p>
            <a:pPr marL="0" indent="0">
              <a:buNone/>
            </a:pPr>
            <a:r>
              <a:rPr lang="en-US" sz="1250" b="1" dirty="0">
                <a:solidFill>
                  <a:srgbClr val="1F8A99"/>
                </a:solidFill>
                <a:latin typeface="Cambria" pitchFamily="34" charset="0"/>
                <a:ea typeface="Cambria" pitchFamily="34" charset="-122"/>
                <a:cs typeface="Cambria" pitchFamily="34" charset="-120"/>
              </a:rPr>
              <a:t>What a compiler must additionally establish</a:t>
            </a:r>
            <a:endParaRPr lang="en-US" sz="1250" dirty="0"/>
          </a:p>
        </p:txBody>
      </p:sp>
      <p:sp>
        <p:nvSpPr>
          <p:cNvPr id="33" name="Text 31"/>
          <p:cNvSpPr/>
          <p:nvPr/>
        </p:nvSpPr>
        <p:spPr>
          <a:xfrm>
            <a:off x="6516472" y="4681728"/>
            <a:ext cx="4779112" cy="859536"/>
          </a:xfrm>
          <a:prstGeom prst="rect">
            <a:avLst/>
          </a:prstGeom>
          <a:noFill/>
          <a:ln/>
        </p:spPr>
        <p:txBody>
          <a:bodyPr wrap="square" lIns="0" tIns="0" rIns="0" bIns="0" rtlCol="0" anchor="t"/>
          <a:lstStyle/>
          <a:p>
            <a:pPr marL="0" indent="0">
              <a:lnSpc>
                <a:spcPct val="107000"/>
              </a:lnSpc>
              <a:buNone/>
            </a:pPr>
            <a:r>
              <a:rPr lang="en-US" sz="1100" dirty="0">
                <a:solidFill>
                  <a:srgbClr val="24354F"/>
                </a:solidFill>
                <a:latin typeface="Calibri" pitchFamily="34" charset="0"/>
                <a:ea typeface="Calibri" pitchFamily="34" charset="-122"/>
                <a:cs typeface="Calibri" pitchFamily="34" charset="-120"/>
              </a:rPr>
              <a:t>That every argument is grounded in observable state, that each tool's declared effects permit speculative execution, and that the residual error rate of the specialized region carries a finite-sample bound. The missing argument, not the missing optimizer.</a:t>
            </a:r>
            <a:endParaRPr lang="en-US" sz="1100" dirty="0"/>
          </a:p>
        </p:txBody>
      </p:sp>
      <p:sp>
        <p:nvSpPr>
          <p:cNvPr id="34" name="Text 32"/>
          <p:cNvSpPr/>
          <p:nvPr/>
        </p:nvSpPr>
        <p:spPr>
          <a:xfrm>
            <a:off x="640080" y="5797296"/>
            <a:ext cx="10911535" cy="310896"/>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Deleting a model decision is a semantic change, not a memoization — which is why each hazard is checked structurally, and why no amount of statistical evidence can override a barrier hit.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RELATED WORK  ·  §6</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Positioning: “admission” is how a candidate rewrite is permitted</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170432"/>
          <a:ext cx="10908792" cy="2816352"/>
        </p:xfrm>
        <a:graphic>
          <a:graphicData uri="http://schemas.openxmlformats.org/drawingml/2006/table">
            <a:tbl>
              <a:tblPr/>
              <a:tblGrid>
                <a:gridCol w="160020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25603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System</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Source</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Rewrite target</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Hard safety</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Admission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LLMCompiler</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Current-query scheduling</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Parallel tool calls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1"/>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DSPy / MIPRO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Prompt / program parameters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Metric optimization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GEPA</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Execution + evaluation traces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Reflective prompt evolution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Held-out metric + Pareto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3"/>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AgentSlimming</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Multi-agent graph</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Node pruning / quantization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Baseline rule</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AWO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Trace tool sequences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Deterministic meta-tools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Empirical</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5"/>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Agent JIT</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Task description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Validated code + schedule</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Tool pre/post invariants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Candidate validation</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EvoC2F</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Plan IR + trajectories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DAG compiler + macro-skills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Effects + resources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Tests + contracts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7"/>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FlowCompile</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Declared workflow</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Configuration Pareto set</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Profiled</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56032">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COVENANT</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Declared policy</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Workflow CFG</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Effects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buNone/>
                      </a:pPr>
                      <a:r>
                        <a:rPr lang="en-US" sz="900" dirty="0">
                          <a:solidFill>
                            <a:srgbClr val="24354F"/>
                          </a:solidFill>
                          <a:latin typeface="Calibri" pitchFamily="34" charset="0"/>
                          <a:ea typeface="Calibri" pitchFamily="34" charset="-122"/>
                          <a:cs typeface="Calibri" pitchFamily="34" charset="-120"/>
                        </a:rPr>
                        <a:t>Runtime checks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9"/>
                  </a:ext>
                </a:extLst>
              </a:tr>
              <a:tr h="256032">
                <a:tc>
                  <a:txBody>
                    <a:bodyPr/>
                    <a:lstStyle/>
                    <a:p>
                      <a:pPr marL="0" indent="0">
                        <a:buNone/>
                      </a:pPr>
                      <a:r>
                        <a:rPr lang="en-US" sz="900" b="1" dirty="0">
                          <a:solidFill>
                            <a:srgbClr val="0E1E3A"/>
                          </a:solidFill>
                          <a:latin typeface="Calibri" pitchFamily="34" charset="0"/>
                          <a:ea typeface="Calibri" pitchFamily="34" charset="-122"/>
                          <a:cs typeface="Calibri" pitchFamily="34" charset="-120"/>
                        </a:rPr>
                        <a:t>GAC (ours)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8F4F5"/>
                    </a:solidFill>
                  </a:tcPr>
                </a:tc>
                <a:tc>
                  <a:txBody>
                    <a:bodyPr/>
                    <a:lstStyle/>
                    <a:p>
                      <a:pPr marL="0" indent="0">
                        <a:buNone/>
                      </a:pPr>
                      <a:r>
                        <a:rPr lang="en-US" sz="900" b="1" dirty="0">
                          <a:solidFill>
                            <a:srgbClr val="0E1E3A"/>
                          </a:solidFill>
                          <a:latin typeface="Calibri" pitchFamily="34" charset="0"/>
                          <a:ea typeface="Calibri" pitchFamily="34" charset="-122"/>
                          <a:cs typeface="Calibri" pitchFamily="34" charset="-120"/>
                        </a:rPr>
                        <a:t>Observed value flow</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8F4F5"/>
                    </a:solidFill>
                  </a:tcPr>
                </a:tc>
                <a:tc>
                  <a:txBody>
                    <a:bodyPr/>
                    <a:lstStyle/>
                    <a:p>
                      <a:pPr marL="0" indent="0">
                        <a:buNone/>
                      </a:pPr>
                      <a:r>
                        <a:rPr lang="en-US" sz="900" b="1" dirty="0">
                          <a:solidFill>
                            <a:srgbClr val="0E1E3A"/>
                          </a:solidFill>
                          <a:latin typeface="Calibri" pitchFamily="34" charset="0"/>
                          <a:ea typeface="Calibri" pitchFamily="34" charset="-122"/>
                          <a:cs typeface="Calibri" pitchFamily="34" charset="-120"/>
                        </a:rPr>
                        <a:t>Decision-eliding program</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8F4F5"/>
                    </a:solidFill>
                  </a:tcPr>
                </a:tc>
                <a:tc>
                  <a:txBody>
                    <a:bodyPr/>
                    <a:lstStyle/>
                    <a:p>
                      <a:pPr marL="0" indent="0">
                        <a:buNone/>
                      </a:pPr>
                      <a:r>
                        <a:rPr lang="en-US" sz="900" b="1" dirty="0">
                          <a:solidFill>
                            <a:srgbClr val="0E1E3A"/>
                          </a:solidFill>
                          <a:latin typeface="Calibri" pitchFamily="34" charset="0"/>
                          <a:ea typeface="Calibri" pitchFamily="34" charset="-122"/>
                          <a:cs typeface="Calibri" pitchFamily="34" charset="-120"/>
                        </a:rPr>
                        <a:t>Provenance + effects</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8F4F5"/>
                    </a:solidFill>
                  </a:tcPr>
                </a:tc>
                <a:tc>
                  <a:txBody>
                    <a:bodyPr/>
                    <a:lstStyle/>
                    <a:p>
                      <a:pPr marL="0" indent="0">
                        <a:buNone/>
                      </a:pPr>
                      <a:r>
                        <a:rPr lang="en-US" sz="900" b="1" dirty="0">
                          <a:solidFill>
                            <a:srgbClr val="0E1E3A"/>
                          </a:solidFill>
                          <a:latin typeface="Calibri" pitchFamily="34" charset="0"/>
                          <a:ea typeface="Calibri" pitchFamily="34" charset="-122"/>
                          <a:cs typeface="Calibri" pitchFamily="34" charset="-120"/>
                        </a:rPr>
                        <a:t>Exact selective bound</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8F4F5"/>
                    </a:solidFill>
                  </a:tcPr>
                </a:tc>
                <a:extLst>
                  <a:ext uri="{0D108BD9-81ED-4DB2-BD59-A6C34878D82A}">
                    <a16:rowId xmlns:a16="http://schemas.microsoft.com/office/drawing/2014/main" val="10010"/>
                  </a:ext>
                </a:extLst>
              </a:tr>
            </a:tbl>
          </a:graphicData>
        </a:graphic>
      </p:graphicFrame>
      <p:sp>
        <p:nvSpPr>
          <p:cNvPr id="7" name="Shape 4"/>
          <p:cNvSpPr/>
          <p:nvPr/>
        </p:nvSpPr>
        <p:spPr>
          <a:xfrm>
            <a:off x="640080" y="4279392"/>
            <a:ext cx="5291176" cy="1609344"/>
          </a:xfrm>
          <a:prstGeom prst="roundRect">
            <a:avLst>
              <a:gd name="adj" fmla="val 2841"/>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8" name="Text 5"/>
          <p:cNvSpPr/>
          <p:nvPr/>
        </p:nvSpPr>
        <p:spPr>
          <a:xfrm>
            <a:off x="896112" y="4407408"/>
            <a:ext cx="4779112" cy="274320"/>
          </a:xfrm>
          <a:prstGeom prst="rect">
            <a:avLst/>
          </a:prstGeom>
          <a:noFill/>
          <a:ln/>
        </p:spPr>
        <p:txBody>
          <a:bodyPr wrap="square" lIns="0" tIns="0" rIns="0" bIns="0" rtlCol="0" anchor="t"/>
          <a:lstStyle/>
          <a:p>
            <a:pPr marL="0" indent="0">
              <a:buNone/>
            </a:pPr>
            <a:r>
              <a:rPr lang="en-US" sz="1250" b="1" dirty="0">
                <a:solidFill>
                  <a:srgbClr val="A93B2B"/>
                </a:solidFill>
                <a:latin typeface="Cambria" pitchFamily="34" charset="0"/>
                <a:ea typeface="Cambria" pitchFamily="34" charset="-122"/>
                <a:cs typeface="Cambria" pitchFamily="34" charset="-120"/>
              </a:rPr>
              <a:t>What is not claimed as novel</a:t>
            </a:r>
            <a:endParaRPr lang="en-US" sz="1250" dirty="0"/>
          </a:p>
        </p:txBody>
      </p:sp>
      <p:sp>
        <p:nvSpPr>
          <p:cNvPr id="9" name="Text 6"/>
          <p:cNvSpPr/>
          <p:nvPr/>
        </p:nvSpPr>
        <p:spPr>
          <a:xfrm>
            <a:off x="896112" y="4700016"/>
            <a:ext cx="4779112" cy="1097280"/>
          </a:xfrm>
          <a:prstGeom prst="rect">
            <a:avLst/>
          </a:prstGeom>
          <a:noFill/>
          <a:ln/>
        </p:spPr>
        <p:txBody>
          <a:bodyPr wrap="square" lIns="0" tIns="0" rIns="0" bIns="0" rtlCol="0" anchor="t"/>
          <a:lstStyle/>
          <a:p>
            <a:pPr marL="0" indent="0">
              <a:lnSpc>
                <a:spcPct val="105000"/>
              </a:lnSpc>
              <a:buNone/>
            </a:pPr>
            <a:r>
              <a:rPr lang="en-US" sz="950" dirty="0">
                <a:solidFill>
                  <a:srgbClr val="5C4034"/>
                </a:solidFill>
                <a:latin typeface="Calibri" pitchFamily="34" charset="0"/>
                <a:ea typeface="Calibri" pitchFamily="34" charset="-122"/>
                <a:cs typeface="Calibri" pitchFamily="34" charset="-120"/>
              </a:rPr>
              <a:t>Generic agent compilation is occupied territory. We claim none of: the first agent compiler, the first trace-derived workflow, the first deterministic macro, the first effect-aware agent IR, or the first observation that token and cost reduction diverge. Agent JIT and EvoC2F are closer compiler comparators than prompt-only optimizers, and these experiments establish superiority to neither — AWO, AWM, LLMCompiler, FlowCompile and plan caching were not re-implemented.</a:t>
            </a:r>
            <a:endParaRPr lang="en-US" sz="950" dirty="0"/>
          </a:p>
        </p:txBody>
      </p:sp>
      <p:sp>
        <p:nvSpPr>
          <p:cNvPr id="10" name="Shape 7"/>
          <p:cNvSpPr/>
          <p:nvPr/>
        </p:nvSpPr>
        <p:spPr>
          <a:xfrm>
            <a:off x="6260440" y="4279392"/>
            <a:ext cx="5291176" cy="1609344"/>
          </a:xfrm>
          <a:prstGeom prst="roundRect">
            <a:avLst>
              <a:gd name="adj" fmla="val 2841"/>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11" name="Text 8"/>
          <p:cNvSpPr/>
          <p:nvPr/>
        </p:nvSpPr>
        <p:spPr>
          <a:xfrm>
            <a:off x="6516472" y="4407408"/>
            <a:ext cx="4779112" cy="274320"/>
          </a:xfrm>
          <a:prstGeom prst="rect">
            <a:avLst/>
          </a:prstGeom>
          <a:noFill/>
          <a:ln/>
        </p:spPr>
        <p:txBody>
          <a:bodyPr wrap="square" lIns="0" tIns="0" rIns="0" bIns="0" rtlCol="0" anchor="t"/>
          <a:lstStyle/>
          <a:p>
            <a:pPr marL="0" indent="0">
              <a:buNone/>
            </a:pPr>
            <a:r>
              <a:rPr lang="en-US" sz="1250" b="1" dirty="0">
                <a:solidFill>
                  <a:srgbClr val="1F8A99"/>
                </a:solidFill>
                <a:latin typeface="Cambria" pitchFamily="34" charset="0"/>
                <a:ea typeface="Cambria" pitchFamily="34" charset="-122"/>
                <a:cs typeface="Cambria" pitchFamily="34" charset="-120"/>
              </a:rPr>
              <a:t>The comparative statement</a:t>
            </a:r>
            <a:endParaRPr lang="en-US" sz="1250" dirty="0"/>
          </a:p>
        </p:txBody>
      </p:sp>
      <p:sp>
        <p:nvSpPr>
          <p:cNvPr id="12" name="Text 9"/>
          <p:cNvSpPr/>
          <p:nvPr/>
        </p:nvSpPr>
        <p:spPr>
          <a:xfrm>
            <a:off x="6516472" y="4700016"/>
            <a:ext cx="4779112" cy="1097280"/>
          </a:xfrm>
          <a:prstGeom prst="rect">
            <a:avLst/>
          </a:prstGeom>
          <a:noFill/>
          <a:ln/>
        </p:spPr>
        <p:txBody>
          <a:bodyPr wrap="square" lIns="0" tIns="0" rIns="0" bIns="0" rtlCol="0" anchor="t"/>
          <a:lstStyle/>
          <a:p>
            <a:pPr marL="0" indent="0">
              <a:lnSpc>
                <a:spcPct val="105000"/>
              </a:lnSpc>
              <a:buNone/>
            </a:pPr>
            <a:r>
              <a:rPr lang="en-US" sz="950" dirty="0">
                <a:solidFill>
                  <a:srgbClr val="24354F"/>
                </a:solidFill>
                <a:latin typeface="Calibri" pitchFamily="34" charset="0"/>
                <a:ea typeface="Calibri" pitchFamily="34" charset="-122"/>
                <a:cs typeface="Calibri" pitchFamily="34" charset="-120"/>
              </a:rPr>
              <a:t>GAC is a tracing JIT whose guard must certify things a compiler's guard never had to. A classical guard checks types and shapes; this one must additionally establish that every argument is grounded in observable state, that each tool's declared effects permit speculation, and that the residual error rate of the specialized region carries a finite-sample bound. Each of the five elements has predecessors — the contribution is that an agent guard needs all five at once, and the finite-sample element is currently the weakest.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SCOPE</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The research problem, and what the paper claims</a:t>
            </a:r>
            <a:endParaRPr lang="en-US" sz="2600" dirty="0"/>
          </a:p>
        </p:txBody>
      </p:sp>
      <p:sp>
        <p:nvSpPr>
          <p:cNvPr id="6" name="Shape 4"/>
          <p:cNvSpPr/>
          <p:nvPr/>
        </p:nvSpPr>
        <p:spPr>
          <a:xfrm>
            <a:off x="640080" y="1243584"/>
            <a:ext cx="10911535" cy="932688"/>
          </a:xfrm>
          <a:prstGeom prst="roundRect">
            <a:avLst>
              <a:gd name="adj" fmla="val 4902"/>
            </a:avLst>
          </a:prstGeom>
          <a:solidFill>
            <a:srgbClr val="0E1E3A"/>
          </a:solidFill>
          <a:ln w="9525">
            <a:solidFill>
              <a:srgbClr val="0E1E3A"/>
            </a:solidFill>
            <a:prstDash val="solid"/>
          </a:ln>
          <a:effectLst>
            <a:outerShdw blurRad="114300" dist="17780" dir="5400000" algn="bl" rotWithShape="0">
              <a:srgbClr val="94A6BC">
                <a:alpha val="20000"/>
              </a:srgbClr>
            </a:outerShdw>
          </a:effectLst>
        </p:spPr>
        <p:txBody>
          <a:bodyPr/>
          <a:lstStyle/>
          <a:p>
            <a:endParaRPr lang="en-US"/>
          </a:p>
        </p:txBody>
      </p:sp>
      <p:sp>
        <p:nvSpPr>
          <p:cNvPr id="7" name="Text 5"/>
          <p:cNvSpPr/>
          <p:nvPr/>
        </p:nvSpPr>
        <p:spPr>
          <a:xfrm>
            <a:off x="1024128" y="1371600"/>
            <a:ext cx="10143439" cy="694944"/>
          </a:xfrm>
          <a:prstGeom prst="rect">
            <a:avLst/>
          </a:prstGeom>
          <a:noFill/>
          <a:ln/>
        </p:spPr>
        <p:txBody>
          <a:bodyPr wrap="square" lIns="0" tIns="0" rIns="0" bIns="0" rtlCol="0" anchor="ctr"/>
          <a:lstStyle/>
          <a:p>
            <a:pPr marL="0" indent="0">
              <a:lnSpc>
                <a:spcPct val="112000"/>
              </a:lnSpc>
              <a:buNone/>
            </a:pPr>
            <a:r>
              <a:rPr lang="en-US" sz="1400" i="1" dirty="0">
                <a:solidFill>
                  <a:srgbClr val="FFFFFF"/>
                </a:solidFill>
                <a:latin typeface="Cambria" pitchFamily="34" charset="0"/>
                <a:ea typeface="Cambria" pitchFamily="34" charset="-122"/>
                <a:cs typeface="Cambria" pitchFamily="34" charset="-120"/>
              </a:rPr>
              <a:t>Given historical executions of a tool-using agent, identify a deterministic region that can replace model-mediated control flow, and dispatch it only where observable evidence supports that replacement.</a:t>
            </a:r>
            <a:endParaRPr lang="en-US" sz="1400" dirty="0"/>
          </a:p>
        </p:txBody>
      </p:sp>
      <p:sp>
        <p:nvSpPr>
          <p:cNvPr id="8" name="Text 6"/>
          <p:cNvSpPr/>
          <p:nvPr/>
        </p:nvSpPr>
        <p:spPr>
          <a:xfrm>
            <a:off x="640080" y="2377440"/>
            <a:ext cx="5272888"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QUESTIONS THIS TALK ANSWERS</a:t>
            </a:r>
            <a:endParaRPr lang="en-US" sz="1050" dirty="0"/>
          </a:p>
        </p:txBody>
      </p:sp>
      <p:sp>
        <p:nvSpPr>
          <p:cNvPr id="9" name="Shape 7"/>
          <p:cNvSpPr/>
          <p:nvPr/>
        </p:nvSpPr>
        <p:spPr>
          <a:xfrm>
            <a:off x="640080" y="2651760"/>
            <a:ext cx="384048" cy="384048"/>
          </a:xfrm>
          <a:prstGeom prst="ellipse">
            <a:avLst/>
          </a:prstGeom>
          <a:solidFill>
            <a:srgbClr val="1F8A99"/>
          </a:solidFill>
          <a:ln w="6350">
            <a:solidFill>
              <a:srgbClr val="1F8A99"/>
            </a:solidFill>
            <a:prstDash val="solid"/>
          </a:ln>
        </p:spPr>
        <p:txBody>
          <a:bodyPr/>
          <a:lstStyle/>
          <a:p>
            <a:endParaRPr lang="en-US"/>
          </a:p>
        </p:txBody>
      </p:sp>
      <p:sp>
        <p:nvSpPr>
          <p:cNvPr id="10" name="Text 8"/>
          <p:cNvSpPr/>
          <p:nvPr/>
        </p:nvSpPr>
        <p:spPr>
          <a:xfrm>
            <a:off x="640080" y="265176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Q1</a:t>
            </a:r>
            <a:endParaRPr lang="en-US" sz="900" dirty="0"/>
          </a:p>
        </p:txBody>
      </p:sp>
      <p:sp>
        <p:nvSpPr>
          <p:cNvPr id="11" name="Text 9"/>
          <p:cNvSpPr/>
          <p:nvPr/>
        </p:nvSpPr>
        <p:spPr>
          <a:xfrm>
            <a:off x="1170432" y="2633472"/>
            <a:ext cx="4742536" cy="566928"/>
          </a:xfrm>
          <a:prstGeom prst="rect">
            <a:avLst/>
          </a:prstGeom>
          <a:noFill/>
          <a:ln/>
        </p:spPr>
        <p:txBody>
          <a:bodyPr wrap="square" lIns="0" tIns="0" rIns="0" bIns="0" rtlCol="0" anchor="t"/>
          <a:lstStyle/>
          <a:p>
            <a:pPr marL="0" indent="0">
              <a:lnSpc>
                <a:spcPct val="104000"/>
              </a:lnSpc>
              <a:buNone/>
            </a:pPr>
            <a:r>
              <a:rPr lang="en-US" sz="1150" dirty="0">
                <a:solidFill>
                  <a:srgbClr val="24354F"/>
                </a:solidFill>
                <a:latin typeface="Calibri" pitchFamily="34" charset="0"/>
                <a:ea typeface="Calibri" pitchFamily="34" charset="-122"/>
                <a:cs typeface="Calibri" pitchFamily="34" charset="-120"/>
              </a:rPr>
              <a:t>When may a recurring read-only opening be compiled into a deterministic program, and when must it be refused?</a:t>
            </a:r>
            <a:endParaRPr lang="en-US" sz="1150" dirty="0"/>
          </a:p>
        </p:txBody>
      </p:sp>
      <p:sp>
        <p:nvSpPr>
          <p:cNvPr id="12" name="Shape 10"/>
          <p:cNvSpPr/>
          <p:nvPr/>
        </p:nvSpPr>
        <p:spPr>
          <a:xfrm>
            <a:off x="640080" y="3364992"/>
            <a:ext cx="384048" cy="384048"/>
          </a:xfrm>
          <a:prstGeom prst="ellipse">
            <a:avLst/>
          </a:prstGeom>
          <a:solidFill>
            <a:srgbClr val="1F8A99"/>
          </a:solidFill>
          <a:ln w="6350">
            <a:solidFill>
              <a:srgbClr val="1F8A99"/>
            </a:solidFill>
            <a:prstDash val="solid"/>
          </a:ln>
        </p:spPr>
        <p:txBody>
          <a:bodyPr/>
          <a:lstStyle/>
          <a:p>
            <a:endParaRPr lang="en-US"/>
          </a:p>
        </p:txBody>
      </p:sp>
      <p:sp>
        <p:nvSpPr>
          <p:cNvPr id="13" name="Text 11"/>
          <p:cNvSpPr/>
          <p:nvPr/>
        </p:nvSpPr>
        <p:spPr>
          <a:xfrm>
            <a:off x="640080" y="336499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Q2</a:t>
            </a:r>
            <a:endParaRPr lang="en-US" sz="900" dirty="0"/>
          </a:p>
        </p:txBody>
      </p:sp>
      <p:sp>
        <p:nvSpPr>
          <p:cNvPr id="14" name="Text 12"/>
          <p:cNvSpPr/>
          <p:nvPr/>
        </p:nvSpPr>
        <p:spPr>
          <a:xfrm>
            <a:off x="1170432" y="3346704"/>
            <a:ext cx="4742536" cy="758952"/>
          </a:xfrm>
          <a:prstGeom prst="rect">
            <a:avLst/>
          </a:prstGeom>
          <a:noFill/>
          <a:ln/>
        </p:spPr>
        <p:txBody>
          <a:bodyPr wrap="square" lIns="0" tIns="0" rIns="0" bIns="0" rtlCol="0" anchor="t"/>
          <a:lstStyle/>
          <a:p>
            <a:pPr marL="0" indent="0">
              <a:lnSpc>
                <a:spcPct val="104000"/>
              </a:lnSpc>
              <a:buNone/>
            </a:pPr>
            <a:r>
              <a:rPr lang="en-US" sz="1150" dirty="0">
                <a:solidFill>
                  <a:srgbClr val="24354F"/>
                </a:solidFill>
                <a:latin typeface="Calibri" pitchFamily="34" charset="0"/>
                <a:ea typeface="Calibri" pitchFamily="34" charset="-122"/>
                <a:cs typeface="Calibri" pitchFamily="34" charset="-120"/>
              </a:rPr>
              <a:t>On real GitHub workflows, do guarded programs keep held-out contracts while cutting requests, tokens, latency, and cost, against the unchanged agent and a hand-written program?</a:t>
            </a:r>
            <a:endParaRPr lang="en-US" sz="1150" dirty="0"/>
          </a:p>
        </p:txBody>
      </p:sp>
      <p:sp>
        <p:nvSpPr>
          <p:cNvPr id="15" name="Shape 13"/>
          <p:cNvSpPr/>
          <p:nvPr/>
        </p:nvSpPr>
        <p:spPr>
          <a:xfrm>
            <a:off x="640080" y="4270248"/>
            <a:ext cx="384048" cy="384048"/>
          </a:xfrm>
          <a:prstGeom prst="ellipse">
            <a:avLst/>
          </a:prstGeom>
          <a:solidFill>
            <a:srgbClr val="1F8A99"/>
          </a:solidFill>
          <a:ln w="6350">
            <a:solidFill>
              <a:srgbClr val="1F8A99"/>
            </a:solidFill>
            <a:prstDash val="solid"/>
          </a:ln>
        </p:spPr>
        <p:txBody>
          <a:bodyPr/>
          <a:lstStyle/>
          <a:p>
            <a:endParaRPr lang="en-US"/>
          </a:p>
        </p:txBody>
      </p:sp>
      <p:sp>
        <p:nvSpPr>
          <p:cNvPr id="16" name="Text 14"/>
          <p:cNvSpPr/>
          <p:nvPr/>
        </p:nvSpPr>
        <p:spPr>
          <a:xfrm>
            <a:off x="640080" y="4270248"/>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Q3</a:t>
            </a:r>
            <a:endParaRPr lang="en-US" sz="900" dirty="0"/>
          </a:p>
        </p:txBody>
      </p:sp>
      <p:sp>
        <p:nvSpPr>
          <p:cNvPr id="17" name="Text 15"/>
          <p:cNvSpPr/>
          <p:nvPr/>
        </p:nvSpPr>
        <p:spPr>
          <a:xfrm>
            <a:off x="1170432" y="4251960"/>
            <a:ext cx="4742536" cy="566928"/>
          </a:xfrm>
          <a:prstGeom prst="rect">
            <a:avLst/>
          </a:prstGeom>
          <a:noFill/>
          <a:ln/>
        </p:spPr>
        <p:txBody>
          <a:bodyPr wrap="square" lIns="0" tIns="0" rIns="0" bIns="0" rtlCol="0" anchor="t"/>
          <a:lstStyle/>
          <a:p>
            <a:pPr marL="0" indent="0">
              <a:lnSpc>
                <a:spcPct val="104000"/>
              </a:lnSpc>
              <a:buNone/>
            </a:pPr>
            <a:r>
              <a:rPr lang="en-US" sz="1150" dirty="0">
                <a:solidFill>
                  <a:srgbClr val="24354F"/>
                </a:solidFill>
                <a:latin typeface="Calibri" pitchFamily="34" charset="0"/>
                <a:ea typeface="Calibri" pitchFamily="34" charset="-122"/>
                <a:cs typeface="Calibri" pitchFamily="34" charset="-120"/>
              </a:rPr>
              <a:t>Does the result reach a public benchmark, newer records, a second model family, and a second provider?</a:t>
            </a:r>
            <a:endParaRPr lang="en-US" sz="1150" dirty="0"/>
          </a:p>
        </p:txBody>
      </p:sp>
      <p:sp>
        <p:nvSpPr>
          <p:cNvPr id="18" name="Shape 16"/>
          <p:cNvSpPr/>
          <p:nvPr/>
        </p:nvSpPr>
        <p:spPr>
          <a:xfrm>
            <a:off x="640080" y="4983480"/>
            <a:ext cx="384048" cy="384048"/>
          </a:xfrm>
          <a:prstGeom prst="ellipse">
            <a:avLst/>
          </a:prstGeom>
          <a:solidFill>
            <a:srgbClr val="1F8A99"/>
          </a:solidFill>
          <a:ln w="6350">
            <a:solidFill>
              <a:srgbClr val="1F8A99"/>
            </a:solidFill>
            <a:prstDash val="solid"/>
          </a:ln>
        </p:spPr>
        <p:txBody>
          <a:bodyPr/>
          <a:lstStyle/>
          <a:p>
            <a:endParaRPr lang="en-US"/>
          </a:p>
        </p:txBody>
      </p:sp>
      <p:sp>
        <p:nvSpPr>
          <p:cNvPr id="19" name="Text 17"/>
          <p:cNvSpPr/>
          <p:nvPr/>
        </p:nvSpPr>
        <p:spPr>
          <a:xfrm>
            <a:off x="640080" y="4983480"/>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Q4</a:t>
            </a:r>
            <a:endParaRPr lang="en-US" sz="900" dirty="0"/>
          </a:p>
        </p:txBody>
      </p:sp>
      <p:sp>
        <p:nvSpPr>
          <p:cNvPr id="20" name="Text 18"/>
          <p:cNvSpPr/>
          <p:nvPr/>
        </p:nvSpPr>
        <p:spPr>
          <a:xfrm>
            <a:off x="1170432" y="4965192"/>
            <a:ext cx="4742536" cy="566928"/>
          </a:xfrm>
          <a:prstGeom prst="rect">
            <a:avLst/>
          </a:prstGeom>
          <a:noFill/>
          <a:ln/>
        </p:spPr>
        <p:txBody>
          <a:bodyPr wrap="square" lIns="0" tIns="0" rIns="0" bIns="0" rtlCol="0" anchor="t"/>
          <a:lstStyle/>
          <a:p>
            <a:pPr marL="0" indent="0">
              <a:lnSpc>
                <a:spcPct val="104000"/>
              </a:lnSpc>
              <a:buNone/>
            </a:pPr>
            <a:r>
              <a:rPr lang="en-US" sz="1150" dirty="0">
                <a:solidFill>
                  <a:srgbClr val="24354F"/>
                </a:solidFill>
                <a:latin typeface="Calibri" pitchFamily="34" charset="0"/>
                <a:ea typeface="Calibri" pitchFamily="34" charset="-122"/>
                <a:cs typeface="Calibri" pitchFamily="34" charset="-120"/>
              </a:rPr>
              <a:t>Where does admission refuse, and why: thin evidence, per-question choices, or rarely dispatchable programs?</a:t>
            </a:r>
            <a:endParaRPr lang="en-US" sz="1150" dirty="0"/>
          </a:p>
        </p:txBody>
      </p:sp>
      <p:sp>
        <p:nvSpPr>
          <p:cNvPr id="21" name="Shape 19"/>
          <p:cNvSpPr/>
          <p:nvPr/>
        </p:nvSpPr>
        <p:spPr>
          <a:xfrm>
            <a:off x="640080" y="5696712"/>
            <a:ext cx="384048" cy="384048"/>
          </a:xfrm>
          <a:prstGeom prst="ellipse">
            <a:avLst/>
          </a:prstGeom>
          <a:solidFill>
            <a:srgbClr val="56B3BE"/>
          </a:solidFill>
          <a:ln w="6350">
            <a:solidFill>
              <a:srgbClr val="56B3BE"/>
            </a:solidFill>
            <a:prstDash val="solid"/>
          </a:ln>
        </p:spPr>
        <p:txBody>
          <a:bodyPr/>
          <a:lstStyle/>
          <a:p>
            <a:endParaRPr lang="en-US"/>
          </a:p>
        </p:txBody>
      </p:sp>
      <p:sp>
        <p:nvSpPr>
          <p:cNvPr id="22" name="Text 20"/>
          <p:cNvSpPr/>
          <p:nvPr/>
        </p:nvSpPr>
        <p:spPr>
          <a:xfrm>
            <a:off x="640080" y="5696712"/>
            <a:ext cx="384048"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Q5</a:t>
            </a:r>
            <a:endParaRPr lang="en-US" sz="900" dirty="0"/>
          </a:p>
        </p:txBody>
      </p:sp>
      <p:sp>
        <p:nvSpPr>
          <p:cNvPr id="23" name="Text 21"/>
          <p:cNvSpPr/>
          <p:nvPr/>
        </p:nvSpPr>
        <p:spPr>
          <a:xfrm>
            <a:off x="1170432" y="5678424"/>
            <a:ext cx="4742536" cy="566928"/>
          </a:xfrm>
          <a:prstGeom prst="rect">
            <a:avLst/>
          </a:prstGeom>
          <a:noFill/>
          <a:ln/>
        </p:spPr>
        <p:txBody>
          <a:bodyPr wrap="square" lIns="0" tIns="0" rIns="0" bIns="0" rtlCol="0" anchor="t"/>
          <a:lstStyle/>
          <a:p>
            <a:pPr marL="0" indent="0">
              <a:lnSpc>
                <a:spcPct val="104000"/>
              </a:lnSpc>
              <a:buNone/>
            </a:pPr>
            <a:r>
              <a:rPr lang="en-US" sz="1150" dirty="0">
                <a:solidFill>
                  <a:srgbClr val="24354F"/>
                </a:solidFill>
                <a:latin typeface="Calibri" pitchFamily="34" charset="0"/>
                <a:ea typeface="Calibri" pitchFamily="34" charset="-122"/>
                <a:cs typeface="Calibri" pitchFamily="34" charset="-120"/>
              </a:rPr>
              <a:t>What do the certificates certify, and do the run-time guards protect under drift?</a:t>
            </a:r>
            <a:endParaRPr lang="en-US" sz="1150" dirty="0"/>
          </a:p>
        </p:txBody>
      </p:sp>
      <p:sp>
        <p:nvSpPr>
          <p:cNvPr id="24" name="Text 22"/>
          <p:cNvSpPr/>
          <p:nvPr/>
        </p:nvSpPr>
        <p:spPr>
          <a:xfrm>
            <a:off x="6278728" y="2377440"/>
            <a:ext cx="5272888"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CONTRIBUTIONS</a:t>
            </a:r>
            <a:endParaRPr lang="en-US" sz="1050" dirty="0"/>
          </a:p>
        </p:txBody>
      </p:sp>
      <p:sp>
        <p:nvSpPr>
          <p:cNvPr id="25" name="Shape 23"/>
          <p:cNvSpPr/>
          <p:nvPr/>
        </p:nvSpPr>
        <p:spPr>
          <a:xfrm>
            <a:off x="6278728" y="2615184"/>
            <a:ext cx="5272888" cy="2286000"/>
          </a:xfrm>
          <a:prstGeom prst="roundRect">
            <a:avLst>
              <a:gd name="adj" fmla="val 200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6" name="Text 24"/>
          <p:cNvSpPr/>
          <p:nvPr/>
        </p:nvSpPr>
        <p:spPr>
          <a:xfrm>
            <a:off x="6516472" y="2761488"/>
            <a:ext cx="4797400" cy="20116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A guarded specialization pipeline: typed provenance, effect and position barriers, bounded synthesis, run-time verification, and finite-sample compile-or-retire admission, where every stage can refuse</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A live evaluation on three GitHub workflow families, newer records across five repositories, a post-cutoff cohort with an end-to-end certificate, BIRD, drift ablations, and replications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Calibrated refusal on public trace benchmarks: NESTFUL retires below the sample floor, and AppWorld separates admissible from dispatchable</a:t>
            </a:r>
            <a:endParaRPr lang="en-US" sz="1050" dirty="0"/>
          </a:p>
        </p:txBody>
      </p:sp>
      <p:sp>
        <p:nvSpPr>
          <p:cNvPr id="27" name="Shape 25"/>
          <p:cNvSpPr/>
          <p:nvPr/>
        </p:nvSpPr>
        <p:spPr>
          <a:xfrm>
            <a:off x="6278728" y="5029200"/>
            <a:ext cx="5272888" cy="1170432"/>
          </a:xfrm>
          <a:prstGeom prst="roundRect">
            <a:avLst>
              <a:gd name="adj" fmla="val 3906"/>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8" name="Text 26"/>
          <p:cNvSpPr/>
          <p:nvPr/>
        </p:nvSpPr>
        <p:spPr>
          <a:xfrm>
            <a:off x="6516472" y="5157216"/>
            <a:ext cx="4797400" cy="256032"/>
          </a:xfrm>
          <a:prstGeom prst="rect">
            <a:avLst/>
          </a:prstGeom>
          <a:noFill/>
          <a:ln/>
        </p:spPr>
        <p:txBody>
          <a:bodyPr wrap="square" lIns="0" tIns="0" rIns="0" bIns="0" rtlCol="0" anchor="t"/>
          <a:lstStyle/>
          <a:p>
            <a:pPr marL="0" indent="0">
              <a:buNone/>
            </a:pPr>
            <a:r>
              <a:rPr lang="en-US" sz="1200" b="1" dirty="0">
                <a:solidFill>
                  <a:srgbClr val="A93B2B"/>
                </a:solidFill>
                <a:latin typeface="Cambria" pitchFamily="34" charset="0"/>
                <a:ea typeface="Cambria" pitchFamily="34" charset="-122"/>
                <a:cs typeface="Cambria" pitchFamily="34" charset="-120"/>
              </a:rPr>
              <a:t>Explicitly not claimed</a:t>
            </a:r>
            <a:endParaRPr lang="en-US" sz="1200" dirty="0"/>
          </a:p>
        </p:txBody>
      </p:sp>
      <p:sp>
        <p:nvSpPr>
          <p:cNvPr id="29" name="Text 27"/>
          <p:cNvSpPr/>
          <p:nvPr/>
        </p:nvSpPr>
        <p:spPr>
          <a:xfrm>
            <a:off x="6516472" y="5449824"/>
            <a:ext cx="4797400" cy="658368"/>
          </a:xfrm>
          <a:prstGeom prst="rect">
            <a:avLst/>
          </a:prstGeom>
          <a:noFill/>
          <a:ln/>
        </p:spPr>
        <p:txBody>
          <a:bodyPr wrap="square" lIns="0" tIns="0" rIns="0" bIns="0" rtlCol="0" anchor="t"/>
          <a:lstStyle/>
          <a:p>
            <a:pPr marL="0" indent="0">
              <a:lnSpc>
                <a:spcPct val="108000"/>
              </a:lnSpc>
              <a:buNone/>
            </a:pPr>
            <a:r>
              <a:rPr lang="en-US" sz="1050" dirty="0">
                <a:solidFill>
                  <a:srgbClr val="5C4034"/>
                </a:solidFill>
                <a:latin typeface="Calibri" pitchFamily="34" charset="0"/>
                <a:ea typeface="Calibri" pitchFamily="34" charset="-122"/>
                <a:cs typeface="Calibri" pitchFamily="34" charset="-120"/>
              </a:rPr>
              <a:t>universal semantic equivalence  ·  production certification  ·  savings across snapshots  ·  graded risk ranking  ·  protection under drift  ·  runtime superiority over hand-written code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5</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Problem formulation</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Episodes, candidate regions, groundability, effect admissibility, the position invariant, and the selective objective.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FORMULATION  ·  §2</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Episodes, candidate regions, and two admissibility conditions</a:t>
            </a:r>
            <a:endParaRPr lang="en-US" sz="2600" dirty="0"/>
          </a:p>
        </p:txBody>
      </p:sp>
      <p:sp>
        <p:nvSpPr>
          <p:cNvPr id="6" name="Shape 4"/>
          <p:cNvSpPr/>
          <p:nvPr/>
        </p:nvSpPr>
        <p:spPr>
          <a:xfrm>
            <a:off x="640080" y="1152144"/>
            <a:ext cx="10911535" cy="603504"/>
          </a:xfrm>
          <a:prstGeom prst="roundRect">
            <a:avLst>
              <a:gd name="adj" fmla="val 7576"/>
            </a:avLst>
          </a:prstGeom>
          <a:solidFill>
            <a:srgbClr val="EAF1F7"/>
          </a:solidFill>
          <a:ln w="9525">
            <a:solidFill>
              <a:srgbClr val="D5E0EB"/>
            </a:solidFill>
            <a:prstDash val="solid"/>
          </a:ln>
        </p:spPr>
        <p:txBody>
          <a:bodyPr/>
          <a:lstStyle/>
          <a:p>
            <a:endParaRPr lang="en-US"/>
          </a:p>
        </p:txBody>
      </p:sp>
      <p:pic>
        <p:nvPicPr>
          <p:cNvPr id="7" name="Image 0" descr="/home/claude/deck/eq/tuple.png"/>
          <p:cNvPicPr>
            <a:picLocks noChangeAspect="1"/>
          </p:cNvPicPr>
          <p:nvPr/>
        </p:nvPicPr>
        <p:blipFill>
          <a:blip r:embed="rId3"/>
          <a:stretch>
            <a:fillRect/>
          </a:stretch>
        </p:blipFill>
        <p:spPr>
          <a:xfrm>
            <a:off x="896112" y="1289304"/>
            <a:ext cx="2124222" cy="329184"/>
          </a:xfrm>
          <a:prstGeom prst="rect">
            <a:avLst/>
          </a:prstGeom>
        </p:spPr>
      </p:pic>
      <p:sp>
        <p:nvSpPr>
          <p:cNvPr id="8" name="Text 5"/>
          <p:cNvSpPr/>
          <p:nvPr/>
        </p:nvSpPr>
        <p:spPr>
          <a:xfrm>
            <a:off x="3349518" y="1289304"/>
            <a:ext cx="7964354" cy="329184"/>
          </a:xfrm>
          <a:prstGeom prst="rect">
            <a:avLst/>
          </a:prstGeom>
          <a:noFill/>
          <a:ln/>
        </p:spPr>
        <p:txBody>
          <a:bodyPr wrap="square" lIns="0" tIns="0" rIns="0" bIns="0" rtlCol="0" anchor="ctr"/>
          <a:lstStyle/>
          <a:p>
            <a:pPr marL="0" indent="0">
              <a:buNone/>
            </a:pPr>
            <a:r>
              <a:rPr lang="en-US" sz="1200" dirty="0">
                <a:solidFill>
                  <a:srgbClr val="24354F"/>
                </a:solidFill>
                <a:latin typeface="Calibri" pitchFamily="34" charset="0"/>
                <a:ea typeface="Calibri" pitchFamily="34" charset="-122"/>
                <a:cs typeface="Calibri" pitchFamily="34" charset="-120"/>
              </a:rPr>
              <a:t>entry-state snapshot z  ·  content-addressed execution manifest M  ·  ordered events e t  ·  observable outcome y</a:t>
            </a:r>
            <a:endParaRPr lang="en-US" sz="1200" dirty="0"/>
          </a:p>
        </p:txBody>
      </p:sp>
      <p:sp>
        <p:nvSpPr>
          <p:cNvPr id="9" name="Shape 6"/>
          <p:cNvSpPr/>
          <p:nvPr/>
        </p:nvSpPr>
        <p:spPr>
          <a:xfrm>
            <a:off x="640080" y="1828800"/>
            <a:ext cx="10911535" cy="1042416"/>
          </a:xfrm>
          <a:prstGeom prst="roundRect">
            <a:avLst>
              <a:gd name="adj" fmla="val 4386"/>
            </a:avLst>
          </a:prstGeom>
          <a:solidFill>
            <a:srgbClr val="F5F9FC"/>
          </a:solidFill>
          <a:ln w="9525">
            <a:solidFill>
              <a:srgbClr val="D5E0EB"/>
            </a:solidFill>
            <a:prstDash val="solid"/>
          </a:ln>
        </p:spPr>
        <p:txBody>
          <a:bodyPr/>
          <a:lstStyle/>
          <a:p>
            <a:endParaRPr lang="en-US"/>
          </a:p>
        </p:txBody>
      </p:sp>
      <p:pic>
        <p:nvPicPr>
          <p:cNvPr id="10" name="Image 1"/>
          <p:cNvPicPr>
            <a:picLocks noChangeAspect="1"/>
          </p:cNvPicPr>
          <p:nvPr/>
        </p:nvPicPr>
        <p:blipFill>
          <a:blip r:embed="rId4"/>
          <a:stretch>
            <a:fillRect/>
          </a:stretch>
        </p:blipFill>
        <p:spPr>
          <a:xfrm>
            <a:off x="877824" y="1986423"/>
            <a:ext cx="9875520" cy="361410"/>
          </a:xfrm>
          <a:prstGeom prst="rect">
            <a:avLst/>
          </a:prstGeom>
        </p:spPr>
      </p:pic>
      <p:sp>
        <p:nvSpPr>
          <p:cNvPr id="11" name="Text 7"/>
          <p:cNvSpPr/>
          <p:nvPr/>
        </p:nvSpPr>
        <p:spPr>
          <a:xfrm>
            <a:off x="877824" y="2432304"/>
            <a:ext cx="10436047" cy="329184"/>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GROUNDABLE — every call argument in the region is a literal invariant across the supporting traces or an expression over entry state or prior results, drawn from a closed, bounded transform library ℒ. Any other slot is a genuine model decision.</a:t>
            </a:r>
            <a:endParaRPr lang="en-US" sz="1000" dirty="0"/>
          </a:p>
        </p:txBody>
      </p:sp>
      <p:sp>
        <p:nvSpPr>
          <p:cNvPr id="12" name="Text 8"/>
          <p:cNvSpPr/>
          <p:nvPr/>
        </p:nvSpPr>
        <p:spPr>
          <a:xfrm>
            <a:off x="10856671" y="1975104"/>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(1)</a:t>
            </a:r>
            <a:endParaRPr lang="en-US" sz="1000" dirty="0"/>
          </a:p>
        </p:txBody>
      </p:sp>
      <p:sp>
        <p:nvSpPr>
          <p:cNvPr id="13" name="Shape 9"/>
          <p:cNvSpPr/>
          <p:nvPr/>
        </p:nvSpPr>
        <p:spPr>
          <a:xfrm>
            <a:off x="640080" y="2944368"/>
            <a:ext cx="10911535" cy="749808"/>
          </a:xfrm>
          <a:prstGeom prst="roundRect">
            <a:avLst>
              <a:gd name="adj" fmla="val 6098"/>
            </a:avLst>
          </a:prstGeom>
          <a:solidFill>
            <a:srgbClr val="E8F4F5"/>
          </a:solidFill>
          <a:ln w="9525">
            <a:solidFill>
              <a:srgbClr val="CFE4E7"/>
            </a:solidFill>
            <a:prstDash val="solid"/>
          </a:ln>
        </p:spPr>
        <p:txBody>
          <a:bodyPr/>
          <a:lstStyle/>
          <a:p>
            <a:endParaRPr lang="en-US"/>
          </a:p>
        </p:txBody>
      </p:sp>
      <p:sp>
        <p:nvSpPr>
          <p:cNvPr id="14" name="Text 10"/>
          <p:cNvSpPr/>
          <p:nvPr/>
        </p:nvSpPr>
        <p:spPr>
          <a:xfrm>
            <a:off x="896112" y="3054096"/>
            <a:ext cx="1828800" cy="219456"/>
          </a:xfrm>
          <a:prstGeom prst="rect">
            <a:avLst/>
          </a:prstGeom>
          <a:noFill/>
          <a:ln/>
        </p:spPr>
        <p:txBody>
          <a:bodyPr wrap="square" lIns="0" tIns="0" rIns="0" bIns="0" rtlCol="0" anchor="t"/>
          <a:lstStyle/>
          <a:p>
            <a:pPr marL="0" indent="0">
              <a:buNone/>
            </a:pPr>
            <a:r>
              <a:rPr lang="en-US" sz="1000" b="1" kern="0" spc="120" dirty="0">
                <a:solidFill>
                  <a:srgbClr val="1F8A99"/>
                </a:solidFill>
                <a:latin typeface="Calibri" pitchFamily="34" charset="0"/>
                <a:ea typeface="Calibri" pitchFamily="34" charset="-122"/>
                <a:cs typeface="Calibri" pitchFamily="34" charset="-120"/>
              </a:rPr>
              <a:t>EFFECT-ADMISSIBLE</a:t>
            </a:r>
            <a:endParaRPr lang="en-US" sz="1000" dirty="0"/>
          </a:p>
        </p:txBody>
      </p:sp>
      <p:sp>
        <p:nvSpPr>
          <p:cNvPr id="15" name="Text 11"/>
          <p:cNvSpPr/>
          <p:nvPr/>
        </p:nvSpPr>
        <p:spPr>
          <a:xfrm>
            <a:off x="2834640" y="3035808"/>
            <a:ext cx="8442655" cy="548640"/>
          </a:xfrm>
          <a:prstGeom prst="rect">
            <a:avLst/>
          </a:prstGeom>
          <a:noFill/>
          <a:ln/>
        </p:spPr>
        <p:txBody>
          <a:bodyPr wrap="square" lIns="0" tIns="0" rIns="0" bIns="0" rtlCol="0" anchor="t"/>
          <a:lstStyle/>
          <a:p>
            <a:pPr marL="0" indent="0">
              <a:lnSpc>
                <a:spcPct val="108000"/>
              </a:lnSpc>
              <a:buNone/>
            </a:pPr>
            <a:r>
              <a:rPr lang="en-US" sz="1100" dirty="0">
                <a:solidFill>
                  <a:srgbClr val="24354F"/>
                </a:solidFill>
                <a:latin typeface="Calibri" pitchFamily="34" charset="0"/>
                <a:ea typeface="Calibri" pitchFamily="34" charset="-122"/>
                <a:cs typeface="Calibri" pitchFamily="34" charset="-120"/>
              </a:rPr>
              <a:t>All tools in the region are declared read-only, speculatable, replayable, and inside the same principal / isolation partition. Handoffs, approvals, writes, errors, and unknown effects are barriers — and an unknown effect is not a read.</a:t>
            </a:r>
            <a:endParaRPr lang="en-US" sz="1100" dirty="0"/>
          </a:p>
        </p:txBody>
      </p:sp>
      <p:sp>
        <p:nvSpPr>
          <p:cNvPr id="16" name="Shape 12"/>
          <p:cNvSpPr/>
          <p:nvPr/>
        </p:nvSpPr>
        <p:spPr>
          <a:xfrm>
            <a:off x="640080" y="3767328"/>
            <a:ext cx="10911535" cy="969264"/>
          </a:xfrm>
          <a:prstGeom prst="roundRect">
            <a:avLst>
              <a:gd name="adj" fmla="val 4717"/>
            </a:avLst>
          </a:prstGeom>
          <a:solidFill>
            <a:srgbClr val="F5F9FC"/>
          </a:solidFill>
          <a:ln w="9525">
            <a:solidFill>
              <a:srgbClr val="D5E0EB"/>
            </a:solidFill>
            <a:prstDash val="solid"/>
          </a:ln>
        </p:spPr>
        <p:txBody>
          <a:bodyPr/>
          <a:lstStyle/>
          <a:p>
            <a:endParaRPr lang="en-US"/>
          </a:p>
        </p:txBody>
      </p:sp>
      <p:pic>
        <p:nvPicPr>
          <p:cNvPr id="17" name="Image 2" descr="/home/claude/deck/eq/eq2.png"/>
          <p:cNvPicPr>
            <a:picLocks noChangeAspect="1"/>
          </p:cNvPicPr>
          <p:nvPr/>
        </p:nvPicPr>
        <p:blipFill>
          <a:blip r:embed="rId5"/>
          <a:stretch>
            <a:fillRect/>
          </a:stretch>
        </p:blipFill>
        <p:spPr>
          <a:xfrm>
            <a:off x="877824" y="3913632"/>
            <a:ext cx="960120" cy="256032"/>
          </a:xfrm>
          <a:prstGeom prst="rect">
            <a:avLst/>
          </a:prstGeom>
        </p:spPr>
      </p:pic>
      <p:sp>
        <p:nvSpPr>
          <p:cNvPr id="18" name="Text 13"/>
          <p:cNvSpPr/>
          <p:nvPr/>
        </p:nvSpPr>
        <p:spPr>
          <a:xfrm>
            <a:off x="2148840" y="3913632"/>
            <a:ext cx="8598103" cy="256032"/>
          </a:xfrm>
          <a:prstGeom prst="rect">
            <a:avLst/>
          </a:prstGeom>
          <a:noFill/>
          <a:ln/>
        </p:spPr>
        <p:txBody>
          <a:bodyPr wrap="square" lIns="0" tIns="0" rIns="0" bIns="0" rtlCol="0" anchor="ctr"/>
          <a:lstStyle/>
          <a:p>
            <a:pPr marL="0" indent="0">
              <a:buNone/>
            </a:pPr>
            <a:r>
              <a:rPr lang="en-US" sz="1300" dirty="0">
                <a:solidFill>
                  <a:srgbClr val="24354F"/>
                </a:solidFill>
                <a:latin typeface="Calibri" pitchFamily="34" charset="0"/>
                <a:ea typeface="Calibri" pitchFamily="34" charset="-122"/>
                <a:cs typeface="Calibri" pitchFamily="34" charset="-120"/>
              </a:rPr>
              <a:t>in the normalized model-boundary index</a:t>
            </a:r>
            <a:endParaRPr lang="en-US" sz="1300" dirty="0"/>
          </a:p>
        </p:txBody>
      </p:sp>
      <p:sp>
        <p:nvSpPr>
          <p:cNvPr id="19" name="Text 14"/>
          <p:cNvSpPr/>
          <p:nvPr/>
        </p:nvSpPr>
        <p:spPr>
          <a:xfrm>
            <a:off x="877824" y="4242816"/>
            <a:ext cx="10436047" cy="384048"/>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POSITION INVARIANT — the deployed runtime resolves artifacts at the initial model boundary, so a region must be a prefix. A suffix program dispatched at entry can reorder or duplicate calls the agent has already made; an archived pilot produced exactly that fault.</a:t>
            </a:r>
            <a:endParaRPr lang="en-US" sz="1000" dirty="0"/>
          </a:p>
        </p:txBody>
      </p:sp>
      <p:sp>
        <p:nvSpPr>
          <p:cNvPr id="20" name="Text 15"/>
          <p:cNvSpPr/>
          <p:nvPr/>
        </p:nvSpPr>
        <p:spPr>
          <a:xfrm>
            <a:off x="10856671" y="3913632"/>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(2)</a:t>
            </a:r>
            <a:endParaRPr lang="en-US" sz="1000" dirty="0"/>
          </a:p>
        </p:txBody>
      </p:sp>
      <p:sp>
        <p:nvSpPr>
          <p:cNvPr id="21" name="Shape 16"/>
          <p:cNvSpPr/>
          <p:nvPr/>
        </p:nvSpPr>
        <p:spPr>
          <a:xfrm>
            <a:off x="640080" y="4846320"/>
            <a:ext cx="10911535" cy="1316736"/>
          </a:xfrm>
          <a:prstGeom prst="roundRect">
            <a:avLst>
              <a:gd name="adj" fmla="val 3472"/>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2" name="Text 17"/>
          <p:cNvSpPr/>
          <p:nvPr/>
        </p:nvSpPr>
        <p:spPr>
          <a:xfrm>
            <a:off x="896112" y="4974336"/>
            <a:ext cx="10399471" cy="219456"/>
          </a:xfrm>
          <a:prstGeom prst="rect">
            <a:avLst/>
          </a:prstGeom>
          <a:noFill/>
          <a:ln/>
        </p:spPr>
        <p:txBody>
          <a:bodyPr wrap="square" lIns="0" tIns="0" rIns="0" bIns="0" rtlCol="0" anchor="t"/>
          <a:lstStyle/>
          <a:p>
            <a:pPr marL="0" indent="0">
              <a:buNone/>
            </a:pPr>
            <a:r>
              <a:rPr lang="en-US" sz="950" b="1" kern="0" spc="110" dirty="0">
                <a:solidFill>
                  <a:srgbClr val="A93B2B"/>
                </a:solidFill>
                <a:latin typeface="Calibri" pitchFamily="34" charset="0"/>
                <a:ea typeface="Calibri" pitchFamily="34" charset="-122"/>
                <a:cs typeface="Calibri" pitchFamily="34" charset="-120"/>
              </a:rPr>
              <a:t>EVIDENCE FROM THE ARCHIVED PILOT — REQUEST SAVINGS AT THE WRONG EXECUTION POSITION</a:t>
            </a:r>
            <a:endParaRPr lang="en-US" sz="950" dirty="0"/>
          </a:p>
        </p:txBody>
      </p:sp>
      <p:sp>
        <p:nvSpPr>
          <p:cNvPr id="23" name="Text 18"/>
          <p:cNvSpPr/>
          <p:nvPr/>
        </p:nvSpPr>
        <p:spPr>
          <a:xfrm>
            <a:off x="3931920" y="5230368"/>
            <a:ext cx="1554480" cy="219456"/>
          </a:xfrm>
          <a:prstGeom prst="rect">
            <a:avLst/>
          </a:prstGeom>
          <a:noFill/>
          <a:ln/>
        </p:spPr>
        <p:txBody>
          <a:bodyPr wrap="square" lIns="0" tIns="0" rIns="0" bIns="0" rtlCol="0" anchor="t"/>
          <a:lstStyle/>
          <a:p>
            <a:pPr marL="0" indent="0" algn="r">
              <a:buNone/>
            </a:pPr>
            <a:r>
              <a:rPr lang="en-US" sz="900" b="1" dirty="0">
                <a:solidFill>
                  <a:srgbClr val="5A6B84"/>
                </a:solidFill>
                <a:latin typeface="Calibri" pitchFamily="34" charset="0"/>
                <a:ea typeface="Calibri" pitchFamily="34" charset="-122"/>
                <a:cs typeface="Calibri" pitchFamily="34" charset="-120"/>
              </a:rPr>
              <a:t>archived suffix pilot</a:t>
            </a:r>
            <a:endParaRPr lang="en-US" sz="900" dirty="0"/>
          </a:p>
        </p:txBody>
      </p:sp>
      <p:sp>
        <p:nvSpPr>
          <p:cNvPr id="24" name="Text 19"/>
          <p:cNvSpPr/>
          <p:nvPr/>
        </p:nvSpPr>
        <p:spPr>
          <a:xfrm>
            <a:off x="5669280" y="5230368"/>
            <a:ext cx="1920240" cy="219456"/>
          </a:xfrm>
          <a:prstGeom prst="rect">
            <a:avLst/>
          </a:prstGeom>
          <a:noFill/>
          <a:ln/>
        </p:spPr>
        <p:txBody>
          <a:bodyPr wrap="square" lIns="0" tIns="0" rIns="0" bIns="0" rtlCol="0" anchor="t"/>
          <a:lstStyle/>
          <a:p>
            <a:pPr marL="0" indent="0" algn="r">
              <a:buNone/>
            </a:pPr>
            <a:r>
              <a:rPr lang="en-US" sz="900" b="1" dirty="0">
                <a:solidFill>
                  <a:srgbClr val="1F8A99"/>
                </a:solidFill>
                <a:latin typeface="Calibri" pitchFamily="34" charset="0"/>
                <a:ea typeface="Calibri" pitchFamily="34" charset="-122"/>
                <a:cs typeface="Calibri" pitchFamily="34" charset="-120"/>
              </a:rPr>
              <a:t>corrected prefix compiler</a:t>
            </a:r>
            <a:endParaRPr lang="en-US" sz="900" dirty="0"/>
          </a:p>
        </p:txBody>
      </p:sp>
      <p:sp>
        <p:nvSpPr>
          <p:cNvPr id="25" name="Text 20"/>
          <p:cNvSpPr/>
          <p:nvPr/>
        </p:nvSpPr>
        <p:spPr>
          <a:xfrm>
            <a:off x="896112" y="5449824"/>
            <a:ext cx="3017520" cy="219456"/>
          </a:xfrm>
          <a:prstGeom prst="rect">
            <a:avLst/>
          </a:prstGeom>
          <a:noFill/>
          <a:ln/>
        </p:spPr>
        <p:txBody>
          <a:bodyPr wrap="square" lIns="0" tIns="0" rIns="0" bIns="0" rtlCol="0" anchor="ctr"/>
          <a:lstStyle/>
          <a:p>
            <a:pPr marL="0" indent="0">
              <a:buNone/>
            </a:pPr>
            <a:r>
              <a:rPr lang="en-US" sz="1000" dirty="0">
                <a:solidFill>
                  <a:srgbClr val="5C4034"/>
                </a:solidFill>
                <a:latin typeface="Calibri" pitchFamily="34" charset="0"/>
                <a:ea typeface="Calibri" pitchFamily="34" charset="-122"/>
                <a:cs typeface="Calibri" pitchFamily="34" charset="-120"/>
              </a:rPr>
              <a:t>task quality</a:t>
            </a:r>
            <a:endParaRPr lang="en-US" sz="1000" dirty="0"/>
          </a:p>
        </p:txBody>
      </p:sp>
      <p:sp>
        <p:nvSpPr>
          <p:cNvPr id="26" name="Text 21"/>
          <p:cNvSpPr/>
          <p:nvPr/>
        </p:nvSpPr>
        <p:spPr>
          <a:xfrm>
            <a:off x="3931920" y="5449824"/>
            <a:ext cx="1554480" cy="219456"/>
          </a:xfrm>
          <a:prstGeom prst="rect">
            <a:avLst/>
          </a:prstGeom>
          <a:noFill/>
          <a:ln/>
        </p:spPr>
        <p:txBody>
          <a:bodyPr wrap="square" lIns="0" tIns="0" rIns="0" bIns="0" rtlCol="0" anchor="ctr"/>
          <a:lstStyle/>
          <a:p>
            <a:pPr marL="0" indent="0" algn="r">
              <a:buNone/>
            </a:pPr>
            <a:r>
              <a:rPr lang="en-US" sz="1150" b="1" dirty="0">
                <a:solidFill>
                  <a:srgbClr val="A93B2B"/>
                </a:solidFill>
                <a:latin typeface="Cambria" pitchFamily="34" charset="0"/>
                <a:ea typeface="Cambria" pitchFamily="34" charset="-122"/>
                <a:cs typeface="Cambria" pitchFamily="34" charset="-120"/>
              </a:rPr>
              <a:t>16.7%</a:t>
            </a:r>
            <a:endParaRPr lang="en-US" sz="1150" dirty="0"/>
          </a:p>
        </p:txBody>
      </p:sp>
      <p:sp>
        <p:nvSpPr>
          <p:cNvPr id="27" name="Text 22"/>
          <p:cNvSpPr/>
          <p:nvPr/>
        </p:nvSpPr>
        <p:spPr>
          <a:xfrm>
            <a:off x="5669280" y="5449824"/>
            <a:ext cx="1920240" cy="219456"/>
          </a:xfrm>
          <a:prstGeom prst="rect">
            <a:avLst/>
          </a:prstGeom>
          <a:noFill/>
          <a:ln/>
        </p:spPr>
        <p:txBody>
          <a:bodyPr wrap="square" lIns="0" tIns="0" rIns="0" bIns="0" rtlCol="0" anchor="ctr"/>
          <a:lstStyle/>
          <a:p>
            <a:pPr marL="0" indent="0" algn="r">
              <a:buNone/>
            </a:pPr>
            <a:r>
              <a:rPr lang="en-US" sz="1150" b="1" dirty="0">
                <a:solidFill>
                  <a:srgbClr val="1F8A99"/>
                </a:solidFill>
                <a:latin typeface="Cambria" pitchFamily="34" charset="0"/>
                <a:ea typeface="Cambria" pitchFamily="34" charset="-122"/>
                <a:cs typeface="Cambria" pitchFamily="34" charset="-120"/>
              </a:rPr>
              <a:t>100%</a:t>
            </a:r>
            <a:endParaRPr lang="en-US" sz="1150" dirty="0"/>
          </a:p>
        </p:txBody>
      </p:sp>
      <p:sp>
        <p:nvSpPr>
          <p:cNvPr id="28" name="Text 23"/>
          <p:cNvSpPr/>
          <p:nvPr/>
        </p:nvSpPr>
        <p:spPr>
          <a:xfrm>
            <a:off x="896112" y="5669280"/>
            <a:ext cx="3017520" cy="219456"/>
          </a:xfrm>
          <a:prstGeom prst="rect">
            <a:avLst/>
          </a:prstGeom>
          <a:noFill/>
          <a:ln/>
        </p:spPr>
        <p:txBody>
          <a:bodyPr wrap="square" lIns="0" tIns="0" rIns="0" bIns="0" rtlCol="0" anchor="ctr"/>
          <a:lstStyle/>
          <a:p>
            <a:pPr marL="0" indent="0">
              <a:buNone/>
            </a:pPr>
            <a:r>
              <a:rPr lang="en-US" sz="1000" dirty="0">
                <a:solidFill>
                  <a:srgbClr val="5C4034"/>
                </a:solidFill>
                <a:latin typeface="Calibri" pitchFamily="34" charset="0"/>
                <a:ea typeface="Calibri" pitchFamily="34" charset="-122"/>
                <a:cs typeface="Calibri" pitchFamily="34" charset="-120"/>
              </a:rPr>
              <a:t>tool-contract validity</a:t>
            </a:r>
            <a:endParaRPr lang="en-US" sz="1000" dirty="0"/>
          </a:p>
        </p:txBody>
      </p:sp>
      <p:sp>
        <p:nvSpPr>
          <p:cNvPr id="29" name="Text 24"/>
          <p:cNvSpPr/>
          <p:nvPr/>
        </p:nvSpPr>
        <p:spPr>
          <a:xfrm>
            <a:off x="3931920" y="5669280"/>
            <a:ext cx="1554480" cy="219456"/>
          </a:xfrm>
          <a:prstGeom prst="rect">
            <a:avLst/>
          </a:prstGeom>
          <a:noFill/>
          <a:ln/>
        </p:spPr>
        <p:txBody>
          <a:bodyPr wrap="square" lIns="0" tIns="0" rIns="0" bIns="0" rtlCol="0" anchor="ctr"/>
          <a:lstStyle/>
          <a:p>
            <a:pPr marL="0" indent="0" algn="r">
              <a:buNone/>
            </a:pPr>
            <a:r>
              <a:rPr lang="en-US" sz="1150" b="1" dirty="0">
                <a:solidFill>
                  <a:srgbClr val="A93B2B"/>
                </a:solidFill>
                <a:latin typeface="Cambria" pitchFamily="34" charset="0"/>
                <a:ea typeface="Cambria" pitchFamily="34" charset="-122"/>
                <a:cs typeface="Cambria" pitchFamily="34" charset="-120"/>
              </a:rPr>
              <a:t>16.7%</a:t>
            </a:r>
            <a:endParaRPr lang="en-US" sz="1150" dirty="0"/>
          </a:p>
        </p:txBody>
      </p:sp>
      <p:sp>
        <p:nvSpPr>
          <p:cNvPr id="30" name="Text 25"/>
          <p:cNvSpPr/>
          <p:nvPr/>
        </p:nvSpPr>
        <p:spPr>
          <a:xfrm>
            <a:off x="5669280" y="5669280"/>
            <a:ext cx="1920240" cy="219456"/>
          </a:xfrm>
          <a:prstGeom prst="rect">
            <a:avLst/>
          </a:prstGeom>
          <a:noFill/>
          <a:ln/>
        </p:spPr>
        <p:txBody>
          <a:bodyPr wrap="square" lIns="0" tIns="0" rIns="0" bIns="0" rtlCol="0" anchor="ctr"/>
          <a:lstStyle/>
          <a:p>
            <a:pPr marL="0" indent="0" algn="r">
              <a:buNone/>
            </a:pPr>
            <a:r>
              <a:rPr lang="en-US" sz="1150" b="1" dirty="0">
                <a:solidFill>
                  <a:srgbClr val="1F8A99"/>
                </a:solidFill>
                <a:latin typeface="Cambria" pitchFamily="34" charset="0"/>
                <a:ea typeface="Cambria" pitchFamily="34" charset="-122"/>
                <a:cs typeface="Cambria" pitchFamily="34" charset="-120"/>
              </a:rPr>
              <a:t>100%</a:t>
            </a:r>
            <a:endParaRPr lang="en-US" sz="1150" dirty="0"/>
          </a:p>
        </p:txBody>
      </p:sp>
      <p:sp>
        <p:nvSpPr>
          <p:cNvPr id="31" name="Text 26"/>
          <p:cNvSpPr/>
          <p:nvPr/>
        </p:nvSpPr>
        <p:spPr>
          <a:xfrm>
            <a:off x="896112" y="5888736"/>
            <a:ext cx="3017520" cy="219456"/>
          </a:xfrm>
          <a:prstGeom prst="rect">
            <a:avLst/>
          </a:prstGeom>
          <a:noFill/>
          <a:ln/>
        </p:spPr>
        <p:txBody>
          <a:bodyPr wrap="square" lIns="0" tIns="0" rIns="0" bIns="0" rtlCol="0" anchor="ctr"/>
          <a:lstStyle/>
          <a:p>
            <a:pPr marL="0" indent="0">
              <a:buNone/>
            </a:pPr>
            <a:r>
              <a:rPr lang="en-US" sz="1000" dirty="0">
                <a:solidFill>
                  <a:srgbClr val="5C4034"/>
                </a:solidFill>
                <a:latin typeface="Calibri" pitchFamily="34" charset="0"/>
                <a:ea typeface="Calibri" pitchFamily="34" charset="-122"/>
                <a:cs typeface="Calibri" pitchFamily="34" charset="-120"/>
              </a:rPr>
              <a:t>provider-request reduction</a:t>
            </a:r>
            <a:endParaRPr lang="en-US" sz="1000" dirty="0"/>
          </a:p>
        </p:txBody>
      </p:sp>
      <p:sp>
        <p:nvSpPr>
          <p:cNvPr id="32" name="Text 27"/>
          <p:cNvSpPr/>
          <p:nvPr/>
        </p:nvSpPr>
        <p:spPr>
          <a:xfrm>
            <a:off x="3931920" y="5888736"/>
            <a:ext cx="1554480" cy="219456"/>
          </a:xfrm>
          <a:prstGeom prst="rect">
            <a:avLst/>
          </a:prstGeom>
          <a:noFill/>
          <a:ln/>
        </p:spPr>
        <p:txBody>
          <a:bodyPr wrap="square" lIns="0" tIns="0" rIns="0" bIns="0" rtlCol="0" anchor="ctr"/>
          <a:lstStyle/>
          <a:p>
            <a:pPr marL="0" indent="0" algn="r">
              <a:buNone/>
            </a:pPr>
            <a:r>
              <a:rPr lang="en-US" sz="1150" b="1" dirty="0">
                <a:solidFill>
                  <a:srgbClr val="A93B2B"/>
                </a:solidFill>
                <a:latin typeface="Cambria" pitchFamily="34" charset="0"/>
                <a:ea typeface="Cambria" pitchFamily="34" charset="-122"/>
                <a:cs typeface="Cambria" pitchFamily="34" charset="-120"/>
              </a:rPr>
              <a:t>36.7%</a:t>
            </a:r>
            <a:endParaRPr lang="en-US" sz="1150" dirty="0"/>
          </a:p>
        </p:txBody>
      </p:sp>
      <p:sp>
        <p:nvSpPr>
          <p:cNvPr id="33" name="Text 28"/>
          <p:cNvSpPr/>
          <p:nvPr/>
        </p:nvSpPr>
        <p:spPr>
          <a:xfrm>
            <a:off x="5669280" y="5888736"/>
            <a:ext cx="1920240" cy="219456"/>
          </a:xfrm>
          <a:prstGeom prst="rect">
            <a:avLst/>
          </a:prstGeom>
          <a:noFill/>
          <a:ln/>
        </p:spPr>
        <p:txBody>
          <a:bodyPr wrap="square" lIns="0" tIns="0" rIns="0" bIns="0" rtlCol="0" anchor="ctr"/>
          <a:lstStyle/>
          <a:p>
            <a:pPr marL="0" indent="0" algn="r">
              <a:buNone/>
            </a:pPr>
            <a:r>
              <a:rPr lang="en-US" sz="1150" b="1" dirty="0">
                <a:solidFill>
                  <a:srgbClr val="1F8A99"/>
                </a:solidFill>
                <a:latin typeface="Cambria" pitchFamily="34" charset="0"/>
                <a:ea typeface="Cambria" pitchFamily="34" charset="-122"/>
                <a:cs typeface="Cambria" pitchFamily="34" charset="-120"/>
              </a:rPr>
              <a:t>75.0%</a:t>
            </a:r>
            <a:endParaRPr lang="en-US" sz="1150" dirty="0"/>
          </a:p>
        </p:txBody>
      </p:sp>
      <p:sp>
        <p:nvSpPr>
          <p:cNvPr id="34" name="Text 29"/>
          <p:cNvSpPr/>
          <p:nvPr/>
        </p:nvSpPr>
        <p:spPr>
          <a:xfrm>
            <a:off x="7863840" y="5248656"/>
            <a:ext cx="3413455" cy="822960"/>
          </a:xfrm>
          <a:prstGeom prst="rect">
            <a:avLst/>
          </a:prstGeom>
          <a:noFill/>
          <a:ln/>
        </p:spPr>
        <p:txBody>
          <a:bodyPr wrap="square" lIns="0" tIns="0" rIns="0" bIns="0" rtlCol="0" anchor="t"/>
          <a:lstStyle/>
          <a:p>
            <a:pPr marL="0" indent="0">
              <a:lnSpc>
                <a:spcPct val="105000"/>
              </a:lnSpc>
              <a:buNone/>
            </a:pPr>
            <a:r>
              <a:rPr lang="en-US" sz="950" dirty="0">
                <a:solidFill>
                  <a:srgbClr val="5C4034"/>
                </a:solidFill>
                <a:latin typeface="Calibri" pitchFamily="34" charset="0"/>
                <a:ea typeface="Calibri" pitchFamily="34" charset="-122"/>
                <a:cs typeface="Calibri" pitchFamily="34" charset="-120"/>
              </a:rPr>
              <a:t>The pilot dispatched label and comment reads before their intended position and duplicated or reordered tools. It is archived rather than deleted, and a golden-trace regression test now rejects an otherwise eligible suffix.</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7</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FORMULATION  ·  §2</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The compiler emits an artifact that decides whether to run</a:t>
            </a:r>
            <a:endParaRPr lang="en-US" sz="2600" dirty="0"/>
          </a:p>
        </p:txBody>
      </p:sp>
      <p:sp>
        <p:nvSpPr>
          <p:cNvPr id="6" name="Text 4"/>
          <p:cNvSpPr/>
          <p:nvPr/>
        </p:nvSpPr>
        <p:spPr>
          <a:xfrm>
            <a:off x="640080" y="1207008"/>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THE ARTIFACT</a:t>
            </a:r>
            <a:endParaRPr lang="en-US" sz="1050" dirty="0"/>
          </a:p>
        </p:txBody>
      </p:sp>
      <p:sp>
        <p:nvSpPr>
          <p:cNvPr id="7" name="Shape 5"/>
          <p:cNvSpPr/>
          <p:nvPr/>
        </p:nvSpPr>
        <p:spPr>
          <a:xfrm>
            <a:off x="640080"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8" name="Image 0" descr="/home/claude/deck/eq/sym_P.png"/>
          <p:cNvPicPr>
            <a:picLocks noChangeAspect="1"/>
          </p:cNvPicPr>
          <p:nvPr/>
        </p:nvPicPr>
        <p:blipFill>
          <a:blip r:embed="rId3"/>
          <a:stretch>
            <a:fillRect/>
          </a:stretch>
        </p:blipFill>
        <p:spPr>
          <a:xfrm>
            <a:off x="1344587" y="1591056"/>
            <a:ext cx="257175" cy="274320"/>
          </a:xfrm>
          <a:prstGeom prst="rect">
            <a:avLst/>
          </a:prstGeom>
        </p:spPr>
      </p:pic>
      <p:sp>
        <p:nvSpPr>
          <p:cNvPr id="9" name="Text 6"/>
          <p:cNvSpPr/>
          <p:nvPr/>
        </p:nvSpPr>
        <p:spPr>
          <a:xfrm>
            <a:off x="694944"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deterministic</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program</a:t>
            </a:r>
            <a:endParaRPr lang="en-US" sz="950" dirty="0"/>
          </a:p>
        </p:txBody>
      </p:sp>
      <p:sp>
        <p:nvSpPr>
          <p:cNvPr id="10" name="Shape 7"/>
          <p:cNvSpPr/>
          <p:nvPr/>
        </p:nvSpPr>
        <p:spPr>
          <a:xfrm>
            <a:off x="2489149"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11" name="Image 1" descr="/home/claude/deck/eq/sym_H.png"/>
          <p:cNvPicPr>
            <a:picLocks noChangeAspect="1"/>
          </p:cNvPicPr>
          <p:nvPr/>
        </p:nvPicPr>
        <p:blipFill>
          <a:blip r:embed="rId4"/>
          <a:stretch>
            <a:fillRect/>
          </a:stretch>
        </p:blipFill>
        <p:spPr>
          <a:xfrm>
            <a:off x="3159366" y="1591056"/>
            <a:ext cx="325755" cy="274320"/>
          </a:xfrm>
          <a:prstGeom prst="rect">
            <a:avLst/>
          </a:prstGeom>
        </p:spPr>
      </p:pic>
      <p:sp>
        <p:nvSpPr>
          <p:cNvPr id="12" name="Text 8"/>
          <p:cNvSpPr/>
          <p:nvPr/>
        </p:nvSpPr>
        <p:spPr>
          <a:xfrm>
            <a:off x="2544013"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hard</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guard</a:t>
            </a:r>
            <a:endParaRPr lang="en-US" sz="950" dirty="0"/>
          </a:p>
        </p:txBody>
      </p:sp>
      <p:sp>
        <p:nvSpPr>
          <p:cNvPr id="13" name="Shape 9"/>
          <p:cNvSpPr/>
          <p:nvPr/>
        </p:nvSpPr>
        <p:spPr>
          <a:xfrm>
            <a:off x="4338218"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14" name="Image 2" descr="/home/claude/deck/eq/sym_V.png"/>
          <p:cNvPicPr>
            <a:picLocks noChangeAspect="1"/>
          </p:cNvPicPr>
          <p:nvPr/>
        </p:nvPicPr>
        <p:blipFill>
          <a:blip r:embed="rId5"/>
          <a:stretch>
            <a:fillRect/>
          </a:stretch>
        </p:blipFill>
        <p:spPr>
          <a:xfrm>
            <a:off x="5046622" y="1591056"/>
            <a:ext cx="249382" cy="274320"/>
          </a:xfrm>
          <a:prstGeom prst="rect">
            <a:avLst/>
          </a:prstGeom>
        </p:spPr>
      </p:pic>
      <p:sp>
        <p:nvSpPr>
          <p:cNvPr id="15" name="Text 10"/>
          <p:cNvSpPr/>
          <p:nvPr/>
        </p:nvSpPr>
        <p:spPr>
          <a:xfrm>
            <a:off x="4393082"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post-execution</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verifier</a:t>
            </a:r>
            <a:endParaRPr lang="en-US" sz="950" dirty="0"/>
          </a:p>
        </p:txBody>
      </p:sp>
      <p:sp>
        <p:nvSpPr>
          <p:cNvPr id="16" name="Shape 11"/>
          <p:cNvSpPr/>
          <p:nvPr/>
        </p:nvSpPr>
        <p:spPr>
          <a:xfrm>
            <a:off x="6187288"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17" name="Image 3" descr="/home/claude/deck/eq/sym_q.png"/>
          <p:cNvPicPr>
            <a:picLocks noChangeAspect="1"/>
          </p:cNvPicPr>
          <p:nvPr/>
        </p:nvPicPr>
        <p:blipFill>
          <a:blip r:embed="rId6"/>
          <a:stretch>
            <a:fillRect/>
          </a:stretch>
        </p:blipFill>
        <p:spPr>
          <a:xfrm>
            <a:off x="6921798" y="1591056"/>
            <a:ext cx="197167" cy="274320"/>
          </a:xfrm>
          <a:prstGeom prst="rect">
            <a:avLst/>
          </a:prstGeom>
        </p:spPr>
      </p:pic>
      <p:sp>
        <p:nvSpPr>
          <p:cNvPr id="18" name="Text 12"/>
          <p:cNvSpPr/>
          <p:nvPr/>
        </p:nvSpPr>
        <p:spPr>
          <a:xfrm>
            <a:off x="6242152"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nonconformity</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score</a:t>
            </a:r>
            <a:endParaRPr lang="en-US" sz="950" dirty="0"/>
          </a:p>
        </p:txBody>
      </p:sp>
      <p:sp>
        <p:nvSpPr>
          <p:cNvPr id="19" name="Shape 13"/>
          <p:cNvSpPr/>
          <p:nvPr/>
        </p:nvSpPr>
        <p:spPr>
          <a:xfrm>
            <a:off x="8036357"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20" name="Image 4" descr="/home/claude/deck/eq/sym_eta.png"/>
          <p:cNvPicPr>
            <a:picLocks noChangeAspect="1"/>
          </p:cNvPicPr>
          <p:nvPr/>
        </p:nvPicPr>
        <p:blipFill>
          <a:blip r:embed="rId7"/>
          <a:stretch>
            <a:fillRect/>
          </a:stretch>
        </p:blipFill>
        <p:spPr>
          <a:xfrm>
            <a:off x="8774201" y="1591056"/>
            <a:ext cx="190500" cy="274320"/>
          </a:xfrm>
          <a:prstGeom prst="rect">
            <a:avLst/>
          </a:prstGeom>
        </p:spPr>
      </p:pic>
      <p:sp>
        <p:nvSpPr>
          <p:cNvPr id="21" name="Text 14"/>
          <p:cNvSpPr/>
          <p:nvPr/>
        </p:nvSpPr>
        <p:spPr>
          <a:xfrm>
            <a:off x="8091221"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calibrated</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threshold</a:t>
            </a:r>
            <a:endParaRPr lang="en-US" sz="950" dirty="0"/>
          </a:p>
        </p:txBody>
      </p:sp>
      <p:sp>
        <p:nvSpPr>
          <p:cNvPr id="22" name="Shape 15"/>
          <p:cNvSpPr/>
          <p:nvPr/>
        </p:nvSpPr>
        <p:spPr>
          <a:xfrm>
            <a:off x="9885426" y="1481328"/>
            <a:ext cx="1666189" cy="841248"/>
          </a:xfrm>
          <a:prstGeom prst="roundRect">
            <a:avLst>
              <a:gd name="adj" fmla="val 5435"/>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pic>
        <p:nvPicPr>
          <p:cNvPr id="23" name="Image 5" descr="/home/claude/deck/eq/sym_M.png"/>
          <p:cNvPicPr>
            <a:picLocks noChangeAspect="1"/>
          </p:cNvPicPr>
          <p:nvPr/>
        </p:nvPicPr>
        <p:blipFill>
          <a:blip r:embed="rId8"/>
          <a:stretch>
            <a:fillRect/>
          </a:stretch>
        </p:blipFill>
        <p:spPr>
          <a:xfrm>
            <a:off x="10529926" y="1591056"/>
            <a:ext cx="377190" cy="274320"/>
          </a:xfrm>
          <a:prstGeom prst="rect">
            <a:avLst/>
          </a:prstGeom>
        </p:spPr>
      </p:pic>
      <p:sp>
        <p:nvSpPr>
          <p:cNvPr id="24" name="Text 16"/>
          <p:cNvSpPr/>
          <p:nvPr/>
        </p:nvSpPr>
        <p:spPr>
          <a:xfrm>
            <a:off x="9940290" y="1901952"/>
            <a:ext cx="1556461" cy="402336"/>
          </a:xfrm>
          <a:prstGeom prst="rect">
            <a:avLst/>
          </a:prstGeom>
          <a:noFill/>
          <a:ln/>
        </p:spPr>
        <p:txBody>
          <a:bodyPr wrap="square" lIns="0" tIns="0" rIns="0" bIns="0" rtlCol="0" anchor="t"/>
          <a:lstStyle/>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manifest</a:t>
            </a:r>
            <a:endParaRPr lang="en-US" sz="950" dirty="0"/>
          </a:p>
          <a:p>
            <a:pPr marL="0" indent="0" algn="ctr">
              <a:lnSpc>
                <a:spcPct val="100000"/>
              </a:lnSpc>
              <a:buNone/>
            </a:pPr>
            <a:r>
              <a:rPr lang="en-US" sz="950" dirty="0">
                <a:solidFill>
                  <a:srgbClr val="5A6B84"/>
                </a:solidFill>
                <a:latin typeface="Calibri" pitchFamily="34" charset="0"/>
                <a:ea typeface="Calibri" pitchFamily="34" charset="-122"/>
                <a:cs typeface="Calibri" pitchFamily="34" charset="-120"/>
              </a:rPr>
              <a:t>pins</a:t>
            </a:r>
            <a:endParaRPr lang="en-US" sz="950" dirty="0"/>
          </a:p>
        </p:txBody>
      </p:sp>
      <p:sp>
        <p:nvSpPr>
          <p:cNvPr id="25" name="Shape 17"/>
          <p:cNvSpPr/>
          <p:nvPr/>
        </p:nvSpPr>
        <p:spPr>
          <a:xfrm>
            <a:off x="640080" y="2487168"/>
            <a:ext cx="5291176" cy="1316736"/>
          </a:xfrm>
          <a:prstGeom prst="roundRect">
            <a:avLst>
              <a:gd name="adj" fmla="val 3472"/>
            </a:avLst>
          </a:prstGeom>
          <a:solidFill>
            <a:srgbClr val="F5F9FC"/>
          </a:solidFill>
          <a:ln w="9525">
            <a:solidFill>
              <a:srgbClr val="D5E0EB"/>
            </a:solidFill>
            <a:prstDash val="solid"/>
          </a:ln>
        </p:spPr>
        <p:txBody>
          <a:bodyPr/>
          <a:lstStyle/>
          <a:p>
            <a:endParaRPr lang="en-US"/>
          </a:p>
        </p:txBody>
      </p:sp>
      <p:pic>
        <p:nvPicPr>
          <p:cNvPr id="26" name="Image 6"/>
          <p:cNvPicPr>
            <a:picLocks noChangeAspect="1"/>
          </p:cNvPicPr>
          <p:nvPr/>
        </p:nvPicPr>
        <p:blipFill>
          <a:blip r:embed="rId9"/>
          <a:stretch>
            <a:fillRect/>
          </a:stretch>
        </p:blipFill>
        <p:spPr>
          <a:xfrm>
            <a:off x="877824" y="2688464"/>
            <a:ext cx="4297680" cy="237487"/>
          </a:xfrm>
          <a:prstGeom prst="rect">
            <a:avLst/>
          </a:prstGeom>
        </p:spPr>
      </p:pic>
      <p:sp>
        <p:nvSpPr>
          <p:cNvPr id="27" name="Text 18"/>
          <p:cNvSpPr/>
          <p:nvPr/>
        </p:nvSpPr>
        <p:spPr>
          <a:xfrm>
            <a:off x="877824" y="3054096"/>
            <a:ext cx="4815688" cy="640080"/>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SELECTIVE DISPATCH — if any precondition fails, the baseline agent runs. A pre-commit failure with a clean staging proof also returns the baseline; a dirty failure is an incident, not a fallback.</a:t>
            </a:r>
            <a:endParaRPr lang="en-US" sz="1000" dirty="0"/>
          </a:p>
        </p:txBody>
      </p:sp>
      <p:sp>
        <p:nvSpPr>
          <p:cNvPr id="28" name="Text 19"/>
          <p:cNvSpPr/>
          <p:nvPr/>
        </p:nvSpPr>
        <p:spPr>
          <a:xfrm>
            <a:off x="5236312" y="2633472"/>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(3)</a:t>
            </a:r>
            <a:endParaRPr lang="en-US" sz="1000" dirty="0"/>
          </a:p>
        </p:txBody>
      </p:sp>
      <p:sp>
        <p:nvSpPr>
          <p:cNvPr id="29" name="Shape 20"/>
          <p:cNvSpPr/>
          <p:nvPr/>
        </p:nvSpPr>
        <p:spPr>
          <a:xfrm>
            <a:off x="6260440" y="2487168"/>
            <a:ext cx="5291176" cy="1316736"/>
          </a:xfrm>
          <a:prstGeom prst="roundRect">
            <a:avLst>
              <a:gd name="adj" fmla="val 3472"/>
            </a:avLst>
          </a:prstGeom>
          <a:solidFill>
            <a:srgbClr val="F5F9FC"/>
          </a:solidFill>
          <a:ln w="9525">
            <a:solidFill>
              <a:srgbClr val="D5E0EB"/>
            </a:solidFill>
            <a:prstDash val="solid"/>
          </a:ln>
        </p:spPr>
        <p:txBody>
          <a:bodyPr/>
          <a:lstStyle/>
          <a:p>
            <a:endParaRPr lang="en-US"/>
          </a:p>
        </p:txBody>
      </p:sp>
      <p:pic>
        <p:nvPicPr>
          <p:cNvPr id="30" name="Image 7"/>
          <p:cNvPicPr>
            <a:picLocks noChangeAspect="1"/>
          </p:cNvPicPr>
          <p:nvPr/>
        </p:nvPicPr>
        <p:blipFill>
          <a:blip r:embed="rId10"/>
          <a:stretch>
            <a:fillRect/>
          </a:stretch>
        </p:blipFill>
        <p:spPr>
          <a:xfrm>
            <a:off x="6498184" y="2633472"/>
            <a:ext cx="3265350" cy="621792"/>
          </a:xfrm>
          <a:prstGeom prst="rect">
            <a:avLst/>
          </a:prstGeom>
        </p:spPr>
      </p:pic>
      <p:sp>
        <p:nvSpPr>
          <p:cNvPr id="31" name="Text 21"/>
          <p:cNvSpPr/>
          <p:nvPr/>
        </p:nvSpPr>
        <p:spPr>
          <a:xfrm>
            <a:off x="6498184" y="3328416"/>
            <a:ext cx="4815688" cy="365760"/>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CONSTRAINED OBJECTIVE — maximize the dispatched saving over the unchanged agent B, subject to group-level selective risk ≤ α. Retire is a valid solution.</a:t>
            </a:r>
            <a:endParaRPr lang="en-US" sz="1000" dirty="0"/>
          </a:p>
        </p:txBody>
      </p:sp>
      <p:sp>
        <p:nvSpPr>
          <p:cNvPr id="32" name="Text 22"/>
          <p:cNvSpPr/>
          <p:nvPr/>
        </p:nvSpPr>
        <p:spPr>
          <a:xfrm>
            <a:off x="10856671" y="2633472"/>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(4)</a:t>
            </a:r>
            <a:endParaRPr lang="en-US" sz="1000" dirty="0"/>
          </a:p>
        </p:txBody>
      </p:sp>
      <p:sp>
        <p:nvSpPr>
          <p:cNvPr id="33" name="Shape 23"/>
          <p:cNvSpPr/>
          <p:nvPr/>
        </p:nvSpPr>
        <p:spPr>
          <a:xfrm>
            <a:off x="640080" y="3913632"/>
            <a:ext cx="10911535" cy="914400"/>
          </a:xfrm>
          <a:prstGeom prst="roundRect">
            <a:avLst>
              <a:gd name="adj" fmla="val 5000"/>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34" name="Text 24"/>
          <p:cNvSpPr/>
          <p:nvPr/>
        </p:nvSpPr>
        <p:spPr>
          <a:xfrm>
            <a:off x="896112" y="4005072"/>
            <a:ext cx="10399471" cy="731520"/>
          </a:xfrm>
          <a:prstGeom prst="rect">
            <a:avLst/>
          </a:prstGeom>
          <a:noFill/>
          <a:ln/>
        </p:spPr>
        <p:txBody>
          <a:bodyPr wrap="square" lIns="0" tIns="0" rIns="0" bIns="0" rtlCol="0" anchor="ctr"/>
          <a:lstStyle/>
          <a:p>
            <a:pPr marL="0" indent="0">
              <a:lnSpc>
                <a:spcPct val="108000"/>
              </a:lnSpc>
              <a:buNone/>
            </a:pPr>
            <a:r>
              <a:rPr lang="en-US" sz="1150" b="1" dirty="0">
                <a:solidFill>
                  <a:srgbClr val="0E1E3A"/>
                </a:solidFill>
                <a:latin typeface="Calibri" pitchFamily="34" charset="0"/>
                <a:ea typeface="Calibri" pitchFamily="34" charset="-122"/>
                <a:cs typeface="Calibri" pitchFamily="34" charset="-120"/>
              </a:rPr>
              <a:t>Honest reading of the objective.</a:t>
            </a:r>
            <a:r>
              <a:rPr lang="en-US" sz="1150" dirty="0">
                <a:solidFill>
                  <a:srgbClr val="24354F"/>
                </a:solidFill>
                <a:latin typeface="Calibri" pitchFamily="34" charset="0"/>
                <a:ea typeface="Calibri" pitchFamily="34" charset="-122"/>
                <a:cs typeface="Calibri" pitchFamily="34" charset="-120"/>
              </a:rPr>
              <a:t> Equation (4) is a design target, not a solved program: the implementation calibrates a bounded ranked set and keeps nondominated survivors, without an optimality guarantee. Every certificate but one counts a replay-contract violation of the compiled region, so the model's continuation is measured, not certified.</a:t>
            </a:r>
            <a:endParaRPr lang="en-US" sz="1150" dirty="0"/>
          </a:p>
        </p:txBody>
      </p:sp>
      <p:sp>
        <p:nvSpPr>
          <p:cNvPr id="35" name="Text 25"/>
          <p:cNvSpPr/>
          <p:nvPr/>
        </p:nvSpPr>
        <p:spPr>
          <a:xfrm>
            <a:off x="640080" y="4956048"/>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TWO EVENTS A CERTIFICATE CAN BOUND</a:t>
            </a:r>
            <a:endParaRPr lang="en-US" sz="1050" dirty="0"/>
          </a:p>
        </p:txBody>
      </p:sp>
      <p:sp>
        <p:nvSpPr>
          <p:cNvPr id="36" name="Shape 26"/>
          <p:cNvSpPr/>
          <p:nvPr/>
        </p:nvSpPr>
        <p:spPr>
          <a:xfrm>
            <a:off x="640080" y="5212080"/>
            <a:ext cx="5291176" cy="950976"/>
          </a:xfrm>
          <a:prstGeom prst="roundRect">
            <a:avLst>
              <a:gd name="adj" fmla="val 4808"/>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7" name="Text 27"/>
          <p:cNvSpPr/>
          <p:nvPr/>
        </p:nvSpPr>
        <p:spPr>
          <a:xfrm>
            <a:off x="877824" y="5303520"/>
            <a:ext cx="4815688" cy="256032"/>
          </a:xfrm>
          <a:prstGeom prst="rect">
            <a:avLst/>
          </a:prstGeom>
          <a:noFill/>
          <a:ln/>
        </p:spPr>
        <p:txBody>
          <a:bodyPr wrap="square" lIns="0" tIns="0" rIns="0" bIns="0" rtlCol="0" anchor="t"/>
          <a:lstStyle/>
          <a:p>
            <a:pPr marL="0" indent="0">
              <a:buNone/>
            </a:pPr>
            <a:r>
              <a:rPr lang="en-US" sz="1250" b="1" dirty="0">
                <a:solidFill>
                  <a:srgbClr val="1F8A99"/>
                </a:solidFill>
                <a:latin typeface="Cambria" pitchFamily="34" charset="0"/>
                <a:ea typeface="Cambria" pitchFamily="34" charset="-122"/>
                <a:cs typeface="Cambria" pitchFamily="34" charset="-120"/>
              </a:rPr>
              <a:t>Replay contract</a:t>
            </a:r>
            <a:endParaRPr lang="en-US" sz="1250" dirty="0"/>
          </a:p>
        </p:txBody>
      </p:sp>
      <p:sp>
        <p:nvSpPr>
          <p:cNvPr id="38" name="Text 28"/>
          <p:cNvSpPr/>
          <p:nvPr/>
        </p:nvSpPr>
        <p:spPr>
          <a:xfrm>
            <a:off x="877824" y="5577840"/>
            <a:ext cx="4815688" cy="51206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The compiled region breaks its own registered contract. Every primary certificate uses this event, which has no support on the GitHub cohorts.</a:t>
            </a:r>
            <a:endParaRPr lang="en-US" sz="1050" dirty="0"/>
          </a:p>
        </p:txBody>
      </p:sp>
      <p:sp>
        <p:nvSpPr>
          <p:cNvPr id="39" name="Shape 29"/>
          <p:cNvSpPr/>
          <p:nvPr/>
        </p:nvSpPr>
        <p:spPr>
          <a:xfrm>
            <a:off x="6260440" y="5212080"/>
            <a:ext cx="5291176" cy="950976"/>
          </a:xfrm>
          <a:prstGeom prst="roundRect">
            <a:avLst>
              <a:gd name="adj" fmla="val 4808"/>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0" name="Text 30"/>
          <p:cNvSpPr/>
          <p:nvPr/>
        </p:nvSpPr>
        <p:spPr>
          <a:xfrm>
            <a:off x="6498184" y="5303520"/>
            <a:ext cx="4815688" cy="256032"/>
          </a:xfrm>
          <a:prstGeom prst="rect">
            <a:avLst/>
          </a:prstGeom>
          <a:noFill/>
          <a:ln/>
        </p:spPr>
        <p:txBody>
          <a:bodyPr wrap="square" lIns="0" tIns="0" rIns="0" bIns="0" rtlCol="0" anchor="t"/>
          <a:lstStyle/>
          <a:p>
            <a:pPr marL="0" indent="0">
              <a:buNone/>
            </a:pPr>
            <a:r>
              <a:rPr lang="en-US" sz="1250" b="1" dirty="0">
                <a:solidFill>
                  <a:srgbClr val="1A3563"/>
                </a:solidFill>
                <a:latin typeface="Cambria" pitchFamily="34" charset="0"/>
                <a:ea typeface="Cambria" pitchFamily="34" charset="-122"/>
                <a:cs typeface="Cambria" pitchFamily="34" charset="-120"/>
              </a:rPr>
              <a:t>End-to-end contract</a:t>
            </a:r>
            <a:endParaRPr lang="en-US" sz="1250" dirty="0"/>
          </a:p>
        </p:txBody>
      </p:sp>
      <p:sp>
        <p:nvSpPr>
          <p:cNvPr id="41" name="Text 31"/>
          <p:cNvSpPr/>
          <p:nvPr/>
        </p:nvSpPr>
        <p:spPr>
          <a:xfrm>
            <a:off x="6498184" y="5577840"/>
            <a:ext cx="4815688" cy="51206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The graded task contract, including the model's answer. Certified once: 0 misses on 132 post-cutoff pull requests, bound 0.0173.</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Guarded agentic compaction</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A cascade of independent rejection points: provenance, mining, feasibility, synthesis, contracts, exact calibration — then boundary-time dispatch.</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FIGURE 1  ·  ALGORITHM 2</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Six independent rejection points; refusal is the default output</a:t>
            </a:r>
            <a:endParaRPr lang="en-US" sz="2600" dirty="0"/>
          </a:p>
        </p:txBody>
      </p:sp>
      <p:sp>
        <p:nvSpPr>
          <p:cNvPr id="6" name="Shape 4"/>
          <p:cNvSpPr/>
          <p:nvPr/>
        </p:nvSpPr>
        <p:spPr>
          <a:xfrm>
            <a:off x="640080" y="1207008"/>
            <a:ext cx="10911535" cy="749808"/>
          </a:xfrm>
          <a:prstGeom prst="roundRect">
            <a:avLst>
              <a:gd name="adj" fmla="val 6098"/>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7" name="Shape 5"/>
          <p:cNvSpPr/>
          <p:nvPr/>
        </p:nvSpPr>
        <p:spPr>
          <a:xfrm>
            <a:off x="859536" y="1380744"/>
            <a:ext cx="402336" cy="402336"/>
          </a:xfrm>
          <a:prstGeom prst="ellipse">
            <a:avLst/>
          </a:prstGeom>
          <a:solidFill>
            <a:srgbClr val="56B3BE"/>
          </a:solidFill>
          <a:ln w="6350">
            <a:solidFill>
              <a:srgbClr val="56B3BE"/>
            </a:solidFill>
            <a:prstDash val="solid"/>
          </a:ln>
        </p:spPr>
        <p:txBody>
          <a:bodyPr/>
          <a:lstStyle/>
          <a:p>
            <a:endParaRPr lang="en-US"/>
          </a:p>
        </p:txBody>
      </p:sp>
      <p:sp>
        <p:nvSpPr>
          <p:cNvPr id="8" name="Text 6"/>
          <p:cNvSpPr/>
          <p:nvPr/>
        </p:nvSpPr>
        <p:spPr>
          <a:xfrm>
            <a:off x="859536" y="138074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371600" y="1335024"/>
            <a:ext cx="1920240" cy="292608"/>
          </a:xfrm>
          <a:prstGeom prst="rect">
            <a:avLst/>
          </a:prstGeom>
          <a:noFill/>
          <a:ln/>
        </p:spPr>
        <p:txBody>
          <a:bodyPr wrap="square" lIns="0" tIns="0" rIns="0" bIns="0" rtlCol="0" anchor="ctr"/>
          <a:lstStyle/>
          <a:p>
            <a:pPr marL="0" indent="0">
              <a:buNone/>
            </a:pPr>
            <a:r>
              <a:rPr lang="en-US" sz="1400" b="1" dirty="0">
                <a:solidFill>
                  <a:srgbClr val="0E1E3A"/>
                </a:solidFill>
                <a:latin typeface="Cambria" pitchFamily="34" charset="0"/>
                <a:ea typeface="Cambria" pitchFamily="34" charset="-122"/>
                <a:cs typeface="Cambria" pitchFamily="34" charset="-120"/>
              </a:rPr>
              <a:t>Capture</a:t>
            </a:r>
            <a:endParaRPr lang="en-US" sz="1400" dirty="0"/>
          </a:p>
        </p:txBody>
      </p:sp>
      <p:sp>
        <p:nvSpPr>
          <p:cNvPr id="10" name="Text 8"/>
          <p:cNvSpPr/>
          <p:nvPr/>
        </p:nvSpPr>
        <p:spPr>
          <a:xfrm>
            <a:off x="1371600" y="1609344"/>
            <a:ext cx="9905695" cy="310896"/>
          </a:xfrm>
          <a:prstGeom prst="rect">
            <a:avLst/>
          </a:prstGeom>
          <a:noFill/>
          <a:ln/>
        </p:spPr>
        <p:txBody>
          <a:bodyPr wrap="square" lIns="0" tIns="0" rIns="0" bIns="0" rtlCol="0" anchor="t"/>
          <a:lstStyle/>
          <a:p>
            <a:pPr marL="0" indent="0">
              <a:buNone/>
            </a:pPr>
            <a:r>
              <a:rPr lang="en-US" sz="1050" dirty="0">
                <a:solidFill>
                  <a:srgbClr val="24354F"/>
                </a:solidFill>
                <a:latin typeface="Calibri" pitchFamily="34" charset="0"/>
                <a:ea typeface="Calibri" pitchFamily="34" charset="-122"/>
                <a:cs typeface="Calibri" pitchFamily="34" charset="-120"/>
              </a:rPr>
              <a:t>SDK tracing processor → typed Episode IR → strict, atomic JSONL store. Manifests pin prompt, policy, tools, guardrail, model, SDK, tracer, entry contract, effect catalog.</a:t>
            </a:r>
            <a:endParaRPr lang="en-US" sz="1050" dirty="0"/>
          </a:p>
        </p:txBody>
      </p:sp>
      <p:sp>
        <p:nvSpPr>
          <p:cNvPr id="11" name="Shape 9"/>
          <p:cNvSpPr/>
          <p:nvPr/>
        </p:nvSpPr>
        <p:spPr>
          <a:xfrm>
            <a:off x="640080" y="2066544"/>
            <a:ext cx="10911535" cy="749808"/>
          </a:xfrm>
          <a:prstGeom prst="roundRect">
            <a:avLst>
              <a:gd name="adj" fmla="val 6098"/>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2" name="Shape 10"/>
          <p:cNvSpPr/>
          <p:nvPr/>
        </p:nvSpPr>
        <p:spPr>
          <a:xfrm>
            <a:off x="859536" y="2240280"/>
            <a:ext cx="402336" cy="402336"/>
          </a:xfrm>
          <a:prstGeom prst="ellipse">
            <a:avLst/>
          </a:prstGeom>
          <a:solidFill>
            <a:srgbClr val="1F8A99"/>
          </a:solidFill>
          <a:ln w="6350">
            <a:solidFill>
              <a:srgbClr val="1F8A99"/>
            </a:solidFill>
            <a:prstDash val="solid"/>
          </a:ln>
        </p:spPr>
        <p:txBody>
          <a:bodyPr/>
          <a:lstStyle/>
          <a:p>
            <a:endParaRPr lang="en-US"/>
          </a:p>
        </p:txBody>
      </p:sp>
      <p:sp>
        <p:nvSpPr>
          <p:cNvPr id="13" name="Text 11"/>
          <p:cNvSpPr/>
          <p:nvPr/>
        </p:nvSpPr>
        <p:spPr>
          <a:xfrm>
            <a:off x="859536" y="22402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371600" y="2194560"/>
            <a:ext cx="1920240" cy="292608"/>
          </a:xfrm>
          <a:prstGeom prst="rect">
            <a:avLst/>
          </a:prstGeom>
          <a:noFill/>
          <a:ln/>
        </p:spPr>
        <p:txBody>
          <a:bodyPr wrap="square" lIns="0" tIns="0" rIns="0" bIns="0" rtlCol="0" anchor="ctr"/>
          <a:lstStyle/>
          <a:p>
            <a:pPr marL="0" indent="0">
              <a:buNone/>
            </a:pPr>
            <a:r>
              <a:rPr lang="en-US" sz="1400" b="1" dirty="0">
                <a:solidFill>
                  <a:srgbClr val="0E1E3A"/>
                </a:solidFill>
                <a:latin typeface="Cambria" pitchFamily="34" charset="0"/>
                <a:ea typeface="Cambria" pitchFamily="34" charset="-122"/>
                <a:cs typeface="Cambria" pitchFamily="34" charset="-120"/>
              </a:rPr>
              <a:t>Offline compilation</a:t>
            </a:r>
            <a:endParaRPr lang="en-US" sz="1400" dirty="0"/>
          </a:p>
        </p:txBody>
      </p:sp>
      <p:sp>
        <p:nvSpPr>
          <p:cNvPr id="15" name="Text 13"/>
          <p:cNvSpPr/>
          <p:nvPr/>
        </p:nvSpPr>
        <p:spPr>
          <a:xfrm>
            <a:off x="1371600" y="2468880"/>
            <a:ext cx="9905695" cy="310896"/>
          </a:xfrm>
          <a:prstGeom prst="rect">
            <a:avLst/>
          </a:prstGeom>
          <a:noFill/>
          <a:ln/>
        </p:spPr>
        <p:txBody>
          <a:bodyPr wrap="square" lIns="0" tIns="0" rIns="0" bIns="0" rtlCol="0" anchor="t"/>
          <a:lstStyle/>
          <a:p>
            <a:pPr marL="0" indent="0">
              <a:buNone/>
            </a:pPr>
            <a:r>
              <a:rPr lang="en-US" sz="1050" dirty="0">
                <a:solidFill>
                  <a:srgbClr val="24354F"/>
                </a:solidFill>
                <a:latin typeface="Calibri" pitchFamily="34" charset="0"/>
                <a:ea typeface="Calibri" pitchFamily="34" charset="-122"/>
                <a:cs typeface="Calibri" pitchFamily="34" charset="-120"/>
              </a:rPr>
              <a:t>No production traffic. Qualify → partition → provenance → mine → canonicalize → feasibility → synthesize → contracts → calibrate → package.</a:t>
            </a:r>
            <a:endParaRPr lang="en-US" sz="1050" dirty="0"/>
          </a:p>
        </p:txBody>
      </p:sp>
      <p:sp>
        <p:nvSpPr>
          <p:cNvPr id="16" name="Shape 14"/>
          <p:cNvSpPr/>
          <p:nvPr/>
        </p:nvSpPr>
        <p:spPr>
          <a:xfrm>
            <a:off x="640080" y="2926080"/>
            <a:ext cx="10911535" cy="749808"/>
          </a:xfrm>
          <a:prstGeom prst="roundRect">
            <a:avLst>
              <a:gd name="adj" fmla="val 6098"/>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7" name="Shape 15"/>
          <p:cNvSpPr/>
          <p:nvPr/>
        </p:nvSpPr>
        <p:spPr>
          <a:xfrm>
            <a:off x="859536" y="3099816"/>
            <a:ext cx="402336" cy="402336"/>
          </a:xfrm>
          <a:prstGeom prst="ellipse">
            <a:avLst/>
          </a:prstGeom>
          <a:solidFill>
            <a:srgbClr val="1A3563"/>
          </a:solidFill>
          <a:ln w="6350">
            <a:solidFill>
              <a:srgbClr val="1A3563"/>
            </a:solidFill>
            <a:prstDash val="solid"/>
          </a:ln>
        </p:spPr>
        <p:txBody>
          <a:bodyPr/>
          <a:lstStyle/>
          <a:p>
            <a:endParaRPr lang="en-US"/>
          </a:p>
        </p:txBody>
      </p:sp>
      <p:sp>
        <p:nvSpPr>
          <p:cNvPr id="18" name="Text 16"/>
          <p:cNvSpPr/>
          <p:nvPr/>
        </p:nvSpPr>
        <p:spPr>
          <a:xfrm>
            <a:off x="859536" y="30998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9" name="Text 17"/>
          <p:cNvSpPr/>
          <p:nvPr/>
        </p:nvSpPr>
        <p:spPr>
          <a:xfrm>
            <a:off x="1371600" y="3054096"/>
            <a:ext cx="1920240" cy="292608"/>
          </a:xfrm>
          <a:prstGeom prst="rect">
            <a:avLst/>
          </a:prstGeom>
          <a:noFill/>
          <a:ln/>
        </p:spPr>
        <p:txBody>
          <a:bodyPr wrap="square" lIns="0" tIns="0" rIns="0" bIns="0" rtlCol="0" anchor="ctr"/>
          <a:lstStyle/>
          <a:p>
            <a:pPr marL="0" indent="0">
              <a:buNone/>
            </a:pPr>
            <a:r>
              <a:rPr lang="en-US" sz="1400" b="1" dirty="0">
                <a:solidFill>
                  <a:srgbClr val="0E1E3A"/>
                </a:solidFill>
                <a:latin typeface="Cambria" pitchFamily="34" charset="0"/>
                <a:ea typeface="Cambria" pitchFamily="34" charset="-122"/>
                <a:cs typeface="Cambria" pitchFamily="34" charset="-120"/>
              </a:rPr>
              <a:t>Runtime</a:t>
            </a:r>
            <a:endParaRPr lang="en-US" sz="1400" dirty="0"/>
          </a:p>
        </p:txBody>
      </p:sp>
      <p:sp>
        <p:nvSpPr>
          <p:cNvPr id="20" name="Text 18"/>
          <p:cNvSpPr/>
          <p:nvPr/>
        </p:nvSpPr>
        <p:spPr>
          <a:xfrm>
            <a:off x="1371600" y="3328416"/>
            <a:ext cx="9905695" cy="310896"/>
          </a:xfrm>
          <a:prstGeom prst="rect">
            <a:avLst/>
          </a:prstGeom>
          <a:noFill/>
          <a:ln/>
        </p:spPr>
        <p:txBody>
          <a:bodyPr wrap="square" lIns="0" tIns="0" rIns="0" bIns="0" rtlCol="0" anchor="t"/>
          <a:lstStyle/>
          <a:p>
            <a:pPr marL="0" indent="0">
              <a:buNone/>
            </a:pPr>
            <a:r>
              <a:rPr lang="en-US" sz="1050" dirty="0">
                <a:solidFill>
                  <a:srgbClr val="24354F"/>
                </a:solidFill>
                <a:latin typeface="Calibri" pitchFamily="34" charset="0"/>
                <a:ea typeface="Calibri" pitchFamily="34" charset="-122"/>
                <a:cs typeface="Calibri" pitchFamily="34" charset="-120"/>
              </a:rPr>
              <a:t>Bounded registry lookup at the entry boundary. Guard → gate → stage → interpret → verify → commit, with a permission facade re-checking effects at execution time.</a:t>
            </a:r>
            <a:endParaRPr lang="en-US" sz="1050" dirty="0"/>
          </a:p>
        </p:txBody>
      </p:sp>
      <p:sp>
        <p:nvSpPr>
          <p:cNvPr id="21" name="Text 19"/>
          <p:cNvSpPr/>
          <p:nvPr/>
        </p:nvSpPr>
        <p:spPr>
          <a:xfrm>
            <a:off x="640080" y="3840480"/>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THE CASCADE INSIDE B — ANY HIT RETURNS RETIRE WITH AN ATTRIBUTED REASON</a:t>
            </a:r>
            <a:endParaRPr lang="en-US" sz="1050" dirty="0"/>
          </a:p>
        </p:txBody>
      </p:sp>
      <p:sp>
        <p:nvSpPr>
          <p:cNvPr id="22" name="Shape 20"/>
          <p:cNvSpPr/>
          <p:nvPr/>
        </p:nvSpPr>
        <p:spPr>
          <a:xfrm>
            <a:off x="640080" y="4114800"/>
            <a:ext cx="1696669" cy="1060704"/>
          </a:xfrm>
          <a:prstGeom prst="roundRect">
            <a:avLst>
              <a:gd name="adj" fmla="val 431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3" name="Shape 21"/>
          <p:cNvSpPr/>
          <p:nvPr/>
        </p:nvSpPr>
        <p:spPr>
          <a:xfrm>
            <a:off x="786384" y="4242816"/>
            <a:ext cx="292608" cy="292608"/>
          </a:xfrm>
          <a:prstGeom prst="ellipse">
            <a:avLst/>
          </a:prstGeom>
          <a:solidFill>
            <a:srgbClr val="1F8A99"/>
          </a:solidFill>
          <a:ln w="6350">
            <a:solidFill>
              <a:srgbClr val="1F8A99"/>
            </a:solidFill>
            <a:prstDash val="solid"/>
          </a:ln>
        </p:spPr>
        <p:txBody>
          <a:bodyPr/>
          <a:lstStyle/>
          <a:p>
            <a:endParaRPr lang="en-US"/>
          </a:p>
        </p:txBody>
      </p:sp>
      <p:sp>
        <p:nvSpPr>
          <p:cNvPr id="24" name="Text 22"/>
          <p:cNvSpPr/>
          <p:nvPr/>
        </p:nvSpPr>
        <p:spPr>
          <a:xfrm>
            <a:off x="786384"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5" name="Text 23"/>
          <p:cNvSpPr/>
          <p:nvPr/>
        </p:nvSpPr>
        <p:spPr>
          <a:xfrm>
            <a:off x="1133856"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Qualify</a:t>
            </a:r>
            <a:endParaRPr lang="en-US" sz="1150" dirty="0"/>
          </a:p>
        </p:txBody>
      </p:sp>
      <p:sp>
        <p:nvSpPr>
          <p:cNvPr id="26" name="Text 24"/>
          <p:cNvSpPr/>
          <p:nvPr/>
        </p:nvSpPr>
        <p:spPr>
          <a:xfrm>
            <a:off x="786384"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partial runs, unpinned manifests, missing payloads</a:t>
            </a:r>
            <a:endParaRPr lang="en-US" sz="900" dirty="0"/>
          </a:p>
        </p:txBody>
      </p:sp>
      <p:sp>
        <p:nvSpPr>
          <p:cNvPr id="27" name="Shape 25"/>
          <p:cNvSpPr/>
          <p:nvPr/>
        </p:nvSpPr>
        <p:spPr>
          <a:xfrm>
            <a:off x="2355037" y="4526280"/>
            <a:ext cx="109728" cy="237744"/>
          </a:xfrm>
          <a:prstGeom prst="chevron">
            <a:avLst/>
          </a:prstGeom>
          <a:solidFill>
            <a:srgbClr val="9BD0D6"/>
          </a:solidFill>
          <a:ln w="6350">
            <a:solidFill>
              <a:srgbClr val="9BD0D6"/>
            </a:solidFill>
            <a:prstDash val="solid"/>
          </a:ln>
        </p:spPr>
        <p:txBody>
          <a:bodyPr/>
          <a:lstStyle/>
          <a:p>
            <a:endParaRPr lang="en-US"/>
          </a:p>
        </p:txBody>
      </p:sp>
      <p:sp>
        <p:nvSpPr>
          <p:cNvPr id="28" name="Shape 26"/>
          <p:cNvSpPr/>
          <p:nvPr/>
        </p:nvSpPr>
        <p:spPr>
          <a:xfrm>
            <a:off x="2483053" y="4114800"/>
            <a:ext cx="1696669" cy="1060704"/>
          </a:xfrm>
          <a:prstGeom prst="roundRect">
            <a:avLst>
              <a:gd name="adj" fmla="val 431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9" name="Shape 27"/>
          <p:cNvSpPr/>
          <p:nvPr/>
        </p:nvSpPr>
        <p:spPr>
          <a:xfrm>
            <a:off x="2629357" y="4242816"/>
            <a:ext cx="292608" cy="292608"/>
          </a:xfrm>
          <a:prstGeom prst="ellipse">
            <a:avLst/>
          </a:prstGeom>
          <a:solidFill>
            <a:srgbClr val="1F8A99"/>
          </a:solidFill>
          <a:ln w="6350">
            <a:solidFill>
              <a:srgbClr val="1F8A99"/>
            </a:solidFill>
            <a:prstDash val="solid"/>
          </a:ln>
        </p:spPr>
        <p:txBody>
          <a:bodyPr/>
          <a:lstStyle/>
          <a:p>
            <a:endParaRPr lang="en-US"/>
          </a:p>
        </p:txBody>
      </p:sp>
      <p:sp>
        <p:nvSpPr>
          <p:cNvPr id="30" name="Text 28"/>
          <p:cNvSpPr/>
          <p:nvPr/>
        </p:nvSpPr>
        <p:spPr>
          <a:xfrm>
            <a:off x="2629357"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1" name="Text 29"/>
          <p:cNvSpPr/>
          <p:nvPr/>
        </p:nvSpPr>
        <p:spPr>
          <a:xfrm>
            <a:off x="2976829"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Provenance</a:t>
            </a:r>
            <a:endParaRPr lang="en-US" sz="1150" dirty="0"/>
          </a:p>
        </p:txBody>
      </p:sp>
      <p:sp>
        <p:nvSpPr>
          <p:cNvPr id="32" name="Text 30"/>
          <p:cNvSpPr/>
          <p:nvPr/>
        </p:nvSpPr>
        <p:spPr>
          <a:xfrm>
            <a:off x="2629357"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ungrounded or ambiguous argument slot</a:t>
            </a:r>
            <a:endParaRPr lang="en-US" sz="900" dirty="0"/>
          </a:p>
        </p:txBody>
      </p:sp>
      <p:sp>
        <p:nvSpPr>
          <p:cNvPr id="33" name="Shape 31"/>
          <p:cNvSpPr/>
          <p:nvPr/>
        </p:nvSpPr>
        <p:spPr>
          <a:xfrm>
            <a:off x="4198010" y="4526280"/>
            <a:ext cx="109728" cy="237744"/>
          </a:xfrm>
          <a:prstGeom prst="chevron">
            <a:avLst/>
          </a:prstGeom>
          <a:solidFill>
            <a:srgbClr val="9BD0D6"/>
          </a:solidFill>
          <a:ln w="6350">
            <a:solidFill>
              <a:srgbClr val="9BD0D6"/>
            </a:solidFill>
            <a:prstDash val="solid"/>
          </a:ln>
        </p:spPr>
        <p:txBody>
          <a:bodyPr/>
          <a:lstStyle/>
          <a:p>
            <a:endParaRPr lang="en-US"/>
          </a:p>
        </p:txBody>
      </p:sp>
      <p:sp>
        <p:nvSpPr>
          <p:cNvPr id="34" name="Shape 32"/>
          <p:cNvSpPr/>
          <p:nvPr/>
        </p:nvSpPr>
        <p:spPr>
          <a:xfrm>
            <a:off x="4326026" y="4114800"/>
            <a:ext cx="1696669" cy="1060704"/>
          </a:xfrm>
          <a:prstGeom prst="roundRect">
            <a:avLst>
              <a:gd name="adj" fmla="val 431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5" name="Shape 33"/>
          <p:cNvSpPr/>
          <p:nvPr/>
        </p:nvSpPr>
        <p:spPr>
          <a:xfrm>
            <a:off x="4472330" y="4242816"/>
            <a:ext cx="292608" cy="292608"/>
          </a:xfrm>
          <a:prstGeom prst="ellipse">
            <a:avLst/>
          </a:prstGeom>
          <a:solidFill>
            <a:srgbClr val="1F8A99"/>
          </a:solidFill>
          <a:ln w="6350">
            <a:solidFill>
              <a:srgbClr val="1F8A99"/>
            </a:solidFill>
            <a:prstDash val="solid"/>
          </a:ln>
        </p:spPr>
        <p:txBody>
          <a:bodyPr/>
          <a:lstStyle/>
          <a:p>
            <a:endParaRPr lang="en-US"/>
          </a:p>
        </p:txBody>
      </p:sp>
      <p:sp>
        <p:nvSpPr>
          <p:cNvPr id="36" name="Text 34"/>
          <p:cNvSpPr/>
          <p:nvPr/>
        </p:nvSpPr>
        <p:spPr>
          <a:xfrm>
            <a:off x="4472330"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7" name="Text 35"/>
          <p:cNvSpPr/>
          <p:nvPr/>
        </p:nvSpPr>
        <p:spPr>
          <a:xfrm>
            <a:off x="4819802"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Feasibility</a:t>
            </a:r>
            <a:endParaRPr lang="en-US" sz="1150" dirty="0"/>
          </a:p>
        </p:txBody>
      </p:sp>
      <p:sp>
        <p:nvSpPr>
          <p:cNvPr id="38" name="Text 36"/>
          <p:cNvSpPr/>
          <p:nvPr/>
        </p:nvSpPr>
        <p:spPr>
          <a:xfrm>
            <a:off x="4472330"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ceiling below target, before paying for synthesis</a:t>
            </a:r>
            <a:endParaRPr lang="en-US" sz="900" dirty="0"/>
          </a:p>
        </p:txBody>
      </p:sp>
      <p:sp>
        <p:nvSpPr>
          <p:cNvPr id="39" name="Shape 37"/>
          <p:cNvSpPr/>
          <p:nvPr/>
        </p:nvSpPr>
        <p:spPr>
          <a:xfrm>
            <a:off x="6040984" y="4526280"/>
            <a:ext cx="109728" cy="237744"/>
          </a:xfrm>
          <a:prstGeom prst="chevron">
            <a:avLst/>
          </a:prstGeom>
          <a:solidFill>
            <a:srgbClr val="9BD0D6"/>
          </a:solidFill>
          <a:ln w="6350">
            <a:solidFill>
              <a:srgbClr val="9BD0D6"/>
            </a:solidFill>
            <a:prstDash val="solid"/>
          </a:ln>
        </p:spPr>
        <p:txBody>
          <a:bodyPr/>
          <a:lstStyle/>
          <a:p>
            <a:endParaRPr lang="en-US"/>
          </a:p>
        </p:txBody>
      </p:sp>
      <p:sp>
        <p:nvSpPr>
          <p:cNvPr id="40" name="Shape 38"/>
          <p:cNvSpPr/>
          <p:nvPr/>
        </p:nvSpPr>
        <p:spPr>
          <a:xfrm>
            <a:off x="6169000" y="4114800"/>
            <a:ext cx="1696669" cy="1060704"/>
          </a:xfrm>
          <a:prstGeom prst="roundRect">
            <a:avLst>
              <a:gd name="adj" fmla="val 431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1" name="Shape 39"/>
          <p:cNvSpPr/>
          <p:nvPr/>
        </p:nvSpPr>
        <p:spPr>
          <a:xfrm>
            <a:off x="6315304" y="4242816"/>
            <a:ext cx="292608" cy="292608"/>
          </a:xfrm>
          <a:prstGeom prst="ellipse">
            <a:avLst/>
          </a:prstGeom>
          <a:solidFill>
            <a:srgbClr val="1F8A99"/>
          </a:solidFill>
          <a:ln w="6350">
            <a:solidFill>
              <a:srgbClr val="1F8A99"/>
            </a:solidFill>
            <a:prstDash val="solid"/>
          </a:ln>
        </p:spPr>
        <p:txBody>
          <a:bodyPr/>
          <a:lstStyle/>
          <a:p>
            <a:endParaRPr lang="en-US"/>
          </a:p>
        </p:txBody>
      </p:sp>
      <p:sp>
        <p:nvSpPr>
          <p:cNvPr id="42" name="Text 40"/>
          <p:cNvSpPr/>
          <p:nvPr/>
        </p:nvSpPr>
        <p:spPr>
          <a:xfrm>
            <a:off x="6315304"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3" name="Text 41"/>
          <p:cNvSpPr/>
          <p:nvPr/>
        </p:nvSpPr>
        <p:spPr>
          <a:xfrm>
            <a:off x="6662776"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Synthesis</a:t>
            </a:r>
            <a:endParaRPr lang="en-US" sz="1150" dirty="0"/>
          </a:p>
        </p:txBody>
      </p:sp>
      <p:sp>
        <p:nvSpPr>
          <p:cNvPr id="44" name="Text 42"/>
          <p:cNvSpPr/>
          <p:nvPr/>
        </p:nvSpPr>
        <p:spPr>
          <a:xfrm>
            <a:off x="6315304"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no program in ℒ at depth ≤ 2 fits the family</a:t>
            </a:r>
            <a:endParaRPr lang="en-US" sz="900" dirty="0"/>
          </a:p>
        </p:txBody>
      </p:sp>
      <p:sp>
        <p:nvSpPr>
          <p:cNvPr id="45" name="Shape 43"/>
          <p:cNvSpPr/>
          <p:nvPr/>
        </p:nvSpPr>
        <p:spPr>
          <a:xfrm>
            <a:off x="7883957" y="4526280"/>
            <a:ext cx="109728" cy="237744"/>
          </a:xfrm>
          <a:prstGeom prst="chevron">
            <a:avLst/>
          </a:prstGeom>
          <a:solidFill>
            <a:srgbClr val="9BD0D6"/>
          </a:solidFill>
          <a:ln w="6350">
            <a:solidFill>
              <a:srgbClr val="9BD0D6"/>
            </a:solidFill>
            <a:prstDash val="solid"/>
          </a:ln>
        </p:spPr>
        <p:txBody>
          <a:bodyPr/>
          <a:lstStyle/>
          <a:p>
            <a:endParaRPr lang="en-US"/>
          </a:p>
        </p:txBody>
      </p:sp>
      <p:sp>
        <p:nvSpPr>
          <p:cNvPr id="46" name="Shape 44"/>
          <p:cNvSpPr/>
          <p:nvPr/>
        </p:nvSpPr>
        <p:spPr>
          <a:xfrm>
            <a:off x="8011973" y="4114800"/>
            <a:ext cx="1696669" cy="1060704"/>
          </a:xfrm>
          <a:prstGeom prst="roundRect">
            <a:avLst>
              <a:gd name="adj" fmla="val 4310"/>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7" name="Shape 45"/>
          <p:cNvSpPr/>
          <p:nvPr/>
        </p:nvSpPr>
        <p:spPr>
          <a:xfrm>
            <a:off x="8158277" y="4242816"/>
            <a:ext cx="292608" cy="292608"/>
          </a:xfrm>
          <a:prstGeom prst="ellipse">
            <a:avLst/>
          </a:prstGeom>
          <a:solidFill>
            <a:srgbClr val="1F8A99"/>
          </a:solidFill>
          <a:ln w="6350">
            <a:solidFill>
              <a:srgbClr val="1F8A99"/>
            </a:solidFill>
            <a:prstDash val="solid"/>
          </a:ln>
        </p:spPr>
        <p:txBody>
          <a:bodyPr/>
          <a:lstStyle/>
          <a:p>
            <a:endParaRPr lang="en-US"/>
          </a:p>
        </p:txBody>
      </p:sp>
      <p:sp>
        <p:nvSpPr>
          <p:cNvPr id="48" name="Text 46"/>
          <p:cNvSpPr/>
          <p:nvPr/>
        </p:nvSpPr>
        <p:spPr>
          <a:xfrm>
            <a:off x="8158277"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9" name="Text 47"/>
          <p:cNvSpPr/>
          <p:nvPr/>
        </p:nvSpPr>
        <p:spPr>
          <a:xfrm>
            <a:off x="8505749"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Contracts</a:t>
            </a:r>
            <a:endParaRPr lang="en-US" sz="1150" dirty="0"/>
          </a:p>
        </p:txBody>
      </p:sp>
      <p:sp>
        <p:nvSpPr>
          <p:cNvPr id="50" name="Text 48"/>
          <p:cNvSpPr/>
          <p:nvPr/>
        </p:nvSpPr>
        <p:spPr>
          <a:xfrm>
            <a:off x="8158277"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replay or perturbation counterexample</a:t>
            </a:r>
            <a:endParaRPr lang="en-US" sz="900" dirty="0"/>
          </a:p>
        </p:txBody>
      </p:sp>
      <p:sp>
        <p:nvSpPr>
          <p:cNvPr id="51" name="Shape 49"/>
          <p:cNvSpPr/>
          <p:nvPr/>
        </p:nvSpPr>
        <p:spPr>
          <a:xfrm>
            <a:off x="9726930" y="4526280"/>
            <a:ext cx="109728" cy="237744"/>
          </a:xfrm>
          <a:prstGeom prst="chevron">
            <a:avLst/>
          </a:prstGeom>
          <a:solidFill>
            <a:srgbClr val="9BD0D6"/>
          </a:solidFill>
          <a:ln w="6350">
            <a:solidFill>
              <a:srgbClr val="9BD0D6"/>
            </a:solidFill>
            <a:prstDash val="solid"/>
          </a:ln>
        </p:spPr>
        <p:txBody>
          <a:bodyPr/>
          <a:lstStyle/>
          <a:p>
            <a:endParaRPr lang="en-US"/>
          </a:p>
        </p:txBody>
      </p:sp>
      <p:sp>
        <p:nvSpPr>
          <p:cNvPr id="52" name="Shape 50"/>
          <p:cNvSpPr/>
          <p:nvPr/>
        </p:nvSpPr>
        <p:spPr>
          <a:xfrm>
            <a:off x="9854946" y="4114800"/>
            <a:ext cx="1696669" cy="1060704"/>
          </a:xfrm>
          <a:prstGeom prst="roundRect">
            <a:avLst>
              <a:gd name="adj" fmla="val 4310"/>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53" name="Shape 51"/>
          <p:cNvSpPr/>
          <p:nvPr/>
        </p:nvSpPr>
        <p:spPr>
          <a:xfrm>
            <a:off x="10001250" y="4242816"/>
            <a:ext cx="292608" cy="292608"/>
          </a:xfrm>
          <a:prstGeom prst="ellipse">
            <a:avLst/>
          </a:prstGeom>
          <a:solidFill>
            <a:srgbClr val="0E1E3A"/>
          </a:solidFill>
          <a:ln w="6350">
            <a:solidFill>
              <a:srgbClr val="0E1E3A"/>
            </a:solidFill>
            <a:prstDash val="solid"/>
          </a:ln>
        </p:spPr>
        <p:txBody>
          <a:bodyPr/>
          <a:lstStyle/>
          <a:p>
            <a:endParaRPr lang="en-US"/>
          </a:p>
        </p:txBody>
      </p:sp>
      <p:sp>
        <p:nvSpPr>
          <p:cNvPr id="54" name="Text 52"/>
          <p:cNvSpPr/>
          <p:nvPr/>
        </p:nvSpPr>
        <p:spPr>
          <a:xfrm>
            <a:off x="10001250" y="42428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5" name="Text 53"/>
          <p:cNvSpPr/>
          <p:nvPr/>
        </p:nvSpPr>
        <p:spPr>
          <a:xfrm>
            <a:off x="10348722" y="4242816"/>
            <a:ext cx="1074877" cy="292608"/>
          </a:xfrm>
          <a:prstGeom prst="rect">
            <a:avLst/>
          </a:prstGeom>
          <a:noFill/>
          <a:ln/>
        </p:spPr>
        <p:txBody>
          <a:bodyPr wrap="square" lIns="0" tIns="0" rIns="0" bIns="0" rtlCol="0" anchor="ctr"/>
          <a:lstStyle/>
          <a:p>
            <a:pPr marL="0" indent="0">
              <a:buNone/>
            </a:pPr>
            <a:r>
              <a:rPr lang="en-US" sz="1150" b="1" dirty="0">
                <a:solidFill>
                  <a:srgbClr val="0E1E3A"/>
                </a:solidFill>
                <a:latin typeface="Cambria" pitchFamily="34" charset="0"/>
                <a:ea typeface="Cambria" pitchFamily="34" charset="-122"/>
                <a:cs typeface="Cambria" pitchFamily="34" charset="-120"/>
              </a:rPr>
              <a:t>Calibration</a:t>
            </a:r>
            <a:endParaRPr lang="en-US" sz="1150" dirty="0"/>
          </a:p>
        </p:txBody>
      </p:sp>
      <p:sp>
        <p:nvSpPr>
          <p:cNvPr id="56" name="Text 54"/>
          <p:cNvSpPr/>
          <p:nvPr/>
        </p:nvSpPr>
        <p:spPr>
          <a:xfrm>
            <a:off x="10001250" y="4590288"/>
            <a:ext cx="1404061" cy="548640"/>
          </a:xfrm>
          <a:prstGeom prst="rect">
            <a:avLst/>
          </a:prstGeom>
          <a:noFill/>
          <a:ln/>
        </p:spPr>
        <p:txBody>
          <a:bodyPr wrap="square" lIns="0" tIns="0" rIns="0" bIns="0" rtlCol="0" anchor="t"/>
          <a:lstStyle/>
          <a:p>
            <a:pPr marL="0" indent="0">
              <a:lnSpc>
                <a:spcPct val="104000"/>
              </a:lnSpc>
              <a:buNone/>
            </a:pPr>
            <a:r>
              <a:rPr lang="en-US" sz="900" dirty="0">
                <a:solidFill>
                  <a:srgbClr val="5A6B84"/>
                </a:solidFill>
                <a:latin typeface="Calibri" pitchFamily="34" charset="0"/>
                <a:ea typeface="Calibri" pitchFamily="34" charset="-122"/>
                <a:cs typeface="Calibri" pitchFamily="34" charset="-120"/>
              </a:rPr>
              <a:t>no admissible threshold in the frozen grid</a:t>
            </a:r>
            <a:endParaRPr lang="en-US" sz="900" dirty="0"/>
          </a:p>
        </p:txBody>
      </p:sp>
      <p:sp>
        <p:nvSpPr>
          <p:cNvPr id="57" name="Shape 55"/>
          <p:cNvSpPr/>
          <p:nvPr/>
        </p:nvSpPr>
        <p:spPr>
          <a:xfrm>
            <a:off x="640080" y="5321808"/>
            <a:ext cx="10911535" cy="841248"/>
          </a:xfrm>
          <a:prstGeom prst="roundRect">
            <a:avLst>
              <a:gd name="adj" fmla="val 5435"/>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58" name="Text 56"/>
          <p:cNvSpPr/>
          <p:nvPr/>
        </p:nvSpPr>
        <p:spPr>
          <a:xfrm>
            <a:off x="896112" y="5431536"/>
            <a:ext cx="10399471" cy="201168"/>
          </a:xfrm>
          <a:prstGeom prst="rect">
            <a:avLst/>
          </a:prstGeom>
          <a:noFill/>
          <a:ln/>
        </p:spPr>
        <p:txBody>
          <a:bodyPr wrap="square" lIns="0" tIns="0" rIns="0" bIns="0" rtlCol="0" anchor="t"/>
          <a:lstStyle/>
          <a:p>
            <a:pPr marL="0" indent="0">
              <a:buNone/>
            </a:pPr>
            <a:r>
              <a:rPr lang="en-US" sz="950" b="1" kern="0" spc="110" dirty="0">
                <a:solidFill>
                  <a:srgbClr val="A93B2B"/>
                </a:solidFill>
                <a:latin typeface="Calibri" pitchFamily="34" charset="0"/>
                <a:ea typeface="Calibri" pitchFamily="34" charset="-122"/>
                <a:cs typeface="Calibri" pitchFamily="34" charset="-120"/>
              </a:rPr>
              <a:t>HARD BARRIERS — NO STATISTICAL EVIDENCE CAN LICENSE AN ARTIFACT</a:t>
            </a:r>
            <a:endParaRPr lang="en-US" sz="950" dirty="0"/>
          </a:p>
        </p:txBody>
      </p:sp>
      <p:sp>
        <p:nvSpPr>
          <p:cNvPr id="59" name="Text 57"/>
          <p:cNvSpPr/>
          <p:nvPr/>
        </p:nvSpPr>
        <p:spPr>
          <a:xfrm>
            <a:off x="896112" y="5669280"/>
            <a:ext cx="10399471" cy="402336"/>
          </a:xfrm>
          <a:prstGeom prst="rect">
            <a:avLst/>
          </a:prstGeom>
          <a:noFill/>
          <a:ln/>
        </p:spPr>
        <p:txBody>
          <a:bodyPr wrap="square" lIns="0" tIns="0" rIns="0" bIns="0" rtlCol="0" anchor="t"/>
          <a:lstStyle/>
          <a:p>
            <a:pPr marL="0" indent="0">
              <a:lnSpc>
                <a:spcPct val="105000"/>
              </a:lnSpc>
              <a:buNone/>
            </a:pPr>
            <a:r>
              <a:rPr lang="en-US" sz="1150" dirty="0">
                <a:solidFill>
                  <a:srgbClr val="5C4034"/>
                </a:solidFill>
                <a:latin typeface="Calibri" pitchFamily="34" charset="0"/>
                <a:ea typeface="Calibri" pitchFamily="34" charset="-122"/>
                <a:cs typeface="Calibri" pitchFamily="34" charset="-120"/>
              </a:rPr>
              <a:t>unknown or irreversible effect  ·  approval  ·  handoff  ·  ungrounded or ambiguous argument  ·  manifest or isolation mismatch  ·  non-prefix position, eq. (2)</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STAGE 1  ·  ALGORITHM 3 (BUILDPATG)</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Typed argument provenance: no witness, or too many, both block</a:t>
            </a:r>
            <a:endParaRPr lang="en-US" sz="2600" dirty="0"/>
          </a:p>
        </p:txBody>
      </p:sp>
      <p:sp>
        <p:nvSpPr>
          <p:cNvPr id="6" name="Text 4"/>
          <p:cNvSpPr/>
          <p:nvPr/>
        </p:nvSpPr>
        <p:spPr>
          <a:xfrm>
            <a:off x="640080" y="1188720"/>
            <a:ext cx="10911535" cy="548640"/>
          </a:xfrm>
          <a:prstGeom prst="rect">
            <a:avLst/>
          </a:prstGeom>
          <a:noFill/>
          <a:ln/>
        </p:spPr>
        <p:txBody>
          <a:bodyPr wrap="square" lIns="0" tIns="0" rIns="0" bIns="0" rtlCol="0" anchor="t"/>
          <a:lstStyle/>
          <a:p>
            <a:pPr marL="0" indent="0">
              <a:lnSpc>
                <a:spcPct val="110000"/>
              </a:lnSpc>
              <a:buNone/>
            </a:pPr>
            <a:r>
              <a:rPr lang="en-US" sz="1250" dirty="0">
                <a:solidFill>
                  <a:srgbClr val="24354F"/>
                </a:solidFill>
                <a:latin typeface="Calibri" pitchFamily="34" charset="0"/>
                <a:ea typeface="Calibri" pitchFamily="34" charset="-122"/>
                <a:cs typeface="Calibri" pitchFamily="34" charset="-120"/>
              </a:rPr>
              <a:t>For each call-argument slot the program-argument trace graph searches entry-state and prior-result paths for typed values reachable by a bounded transform in ℒ. A literal invariant across every supporting trace is also a witness; a repeated tool name or a successful replay is not.</a:t>
            </a:r>
            <a:endParaRPr lang="en-US" sz="1250" dirty="0"/>
          </a:p>
        </p:txBody>
      </p:sp>
      <p:sp>
        <p:nvSpPr>
          <p:cNvPr id="7" name="Shape 5"/>
          <p:cNvSpPr/>
          <p:nvPr/>
        </p:nvSpPr>
        <p:spPr>
          <a:xfrm>
            <a:off x="640080" y="1847088"/>
            <a:ext cx="3466490" cy="1481328"/>
          </a:xfrm>
          <a:prstGeom prst="roundRect">
            <a:avLst>
              <a:gd name="adj" fmla="val 3086"/>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8" name="Shape 6"/>
          <p:cNvSpPr/>
          <p:nvPr/>
        </p:nvSpPr>
        <p:spPr>
          <a:xfrm>
            <a:off x="859536" y="2011680"/>
            <a:ext cx="310896" cy="310896"/>
          </a:xfrm>
          <a:prstGeom prst="ellipse">
            <a:avLst/>
          </a:prstGeom>
          <a:solidFill>
            <a:srgbClr val="1F8A99"/>
          </a:solidFill>
          <a:ln w="6350">
            <a:solidFill>
              <a:srgbClr val="1F8A99"/>
            </a:solidFill>
            <a:prstDash val="solid"/>
          </a:ln>
        </p:spPr>
        <p:txBody>
          <a:bodyPr/>
          <a:lstStyle/>
          <a:p>
            <a:endParaRPr lang="en-US"/>
          </a:p>
        </p:txBody>
      </p:sp>
      <p:sp>
        <p:nvSpPr>
          <p:cNvPr id="9" name="Text 7"/>
          <p:cNvSpPr/>
          <p:nvPr/>
        </p:nvSpPr>
        <p:spPr>
          <a:xfrm>
            <a:off x="859536" y="201168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1243584" y="2011680"/>
            <a:ext cx="1005840" cy="310896"/>
          </a:xfrm>
          <a:prstGeom prst="rect">
            <a:avLst/>
          </a:prstGeom>
          <a:noFill/>
          <a:ln/>
        </p:spPr>
        <p:txBody>
          <a:bodyPr wrap="square" lIns="0" tIns="0" rIns="0" bIns="0" rtlCol="0" anchor="ctr"/>
          <a:lstStyle/>
          <a:p>
            <a:pPr marL="0" indent="0">
              <a:buNone/>
            </a:pPr>
            <a:r>
              <a:rPr lang="en-US" sz="1300" b="1" i="1" dirty="0">
                <a:solidFill>
                  <a:srgbClr val="1F8A99"/>
                </a:solidFill>
                <a:latin typeface="Cambria" pitchFamily="34" charset="0"/>
                <a:ea typeface="Cambria" pitchFamily="34" charset="-122"/>
                <a:cs typeface="Cambria" pitchFamily="34" charset="-120"/>
              </a:rPr>
              <a:t>|H| = 1</a:t>
            </a:r>
            <a:endParaRPr lang="en-US" sz="1300" dirty="0"/>
          </a:p>
        </p:txBody>
      </p:sp>
      <p:sp>
        <p:nvSpPr>
          <p:cNvPr id="11" name="Text 9"/>
          <p:cNvSpPr/>
          <p:nvPr/>
        </p:nvSpPr>
        <p:spPr>
          <a:xfrm>
            <a:off x="2194560" y="2011680"/>
            <a:ext cx="1692554" cy="310896"/>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Edge admitted</a:t>
            </a:r>
            <a:endParaRPr lang="en-US" sz="1250" dirty="0"/>
          </a:p>
        </p:txBody>
      </p:sp>
      <p:sp>
        <p:nvSpPr>
          <p:cNvPr id="12" name="Text 10"/>
          <p:cNvSpPr/>
          <p:nvPr/>
        </p:nvSpPr>
        <p:spPr>
          <a:xfrm>
            <a:off x="877824" y="2395728"/>
            <a:ext cx="2991002" cy="822960"/>
          </a:xfrm>
          <a:prstGeom prst="rect">
            <a:avLst/>
          </a:prstGeom>
          <a:noFill/>
          <a:ln/>
        </p:spPr>
        <p:txBody>
          <a:bodyPr wrap="square" lIns="0" tIns="0" rIns="0" bIns="0" rtlCol="0" anchor="t"/>
          <a:lstStyle/>
          <a:p>
            <a:pPr marL="0" indent="0">
              <a:lnSpc>
                <a:spcPct val="108000"/>
              </a:lnSpc>
              <a:buNone/>
            </a:pPr>
            <a:r>
              <a:rPr lang="en-US" sz="1100" dirty="0">
                <a:solidFill>
                  <a:srgbClr val="24354F"/>
                </a:solidFill>
                <a:latin typeface="Calibri" pitchFamily="34" charset="0"/>
                <a:ea typeface="Calibri" pitchFamily="34" charset="-122"/>
                <a:cs typeface="Calibri" pitchFamily="34" charset="-120"/>
              </a:rPr>
              <a:t>The minimum-description-length witness is recorded as the slot's producer.</a:t>
            </a:r>
            <a:endParaRPr lang="en-US" sz="1100" dirty="0"/>
          </a:p>
        </p:txBody>
      </p:sp>
      <p:sp>
        <p:nvSpPr>
          <p:cNvPr id="13" name="Shape 11"/>
          <p:cNvSpPr/>
          <p:nvPr/>
        </p:nvSpPr>
        <p:spPr>
          <a:xfrm>
            <a:off x="4362602" y="1847088"/>
            <a:ext cx="3466490" cy="1481328"/>
          </a:xfrm>
          <a:prstGeom prst="roundRect">
            <a:avLst>
              <a:gd name="adj" fmla="val 3086"/>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4" name="Shape 12"/>
          <p:cNvSpPr/>
          <p:nvPr/>
        </p:nvSpPr>
        <p:spPr>
          <a:xfrm>
            <a:off x="4582058" y="2011680"/>
            <a:ext cx="310896" cy="310896"/>
          </a:xfrm>
          <a:prstGeom prst="ellipse">
            <a:avLst/>
          </a:prstGeom>
          <a:solidFill>
            <a:srgbClr val="A93B2B"/>
          </a:solidFill>
          <a:ln w="6350">
            <a:solidFill>
              <a:srgbClr val="A93B2B"/>
            </a:solidFill>
            <a:prstDash val="solid"/>
          </a:ln>
        </p:spPr>
        <p:txBody>
          <a:bodyPr/>
          <a:lstStyle/>
          <a:p>
            <a:endParaRPr lang="en-US"/>
          </a:p>
        </p:txBody>
      </p:sp>
      <p:sp>
        <p:nvSpPr>
          <p:cNvPr id="15" name="Text 13"/>
          <p:cNvSpPr/>
          <p:nvPr/>
        </p:nvSpPr>
        <p:spPr>
          <a:xfrm>
            <a:off x="4582058" y="201168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4966106" y="2011680"/>
            <a:ext cx="1005840" cy="310896"/>
          </a:xfrm>
          <a:prstGeom prst="rect">
            <a:avLst/>
          </a:prstGeom>
          <a:noFill/>
          <a:ln/>
        </p:spPr>
        <p:txBody>
          <a:bodyPr wrap="square" lIns="0" tIns="0" rIns="0" bIns="0" rtlCol="0" anchor="ctr"/>
          <a:lstStyle/>
          <a:p>
            <a:pPr marL="0" indent="0">
              <a:buNone/>
            </a:pPr>
            <a:r>
              <a:rPr lang="en-US" sz="1300" b="1" i="1" dirty="0">
                <a:solidFill>
                  <a:srgbClr val="A93B2B"/>
                </a:solidFill>
                <a:latin typeface="Cambria" pitchFamily="34" charset="0"/>
                <a:ea typeface="Cambria" pitchFamily="34" charset="-122"/>
                <a:cs typeface="Cambria" pitchFamily="34" charset="-120"/>
              </a:rPr>
              <a:t>|H| = 0</a:t>
            </a:r>
            <a:endParaRPr lang="en-US" sz="1300" dirty="0"/>
          </a:p>
        </p:txBody>
      </p:sp>
      <p:sp>
        <p:nvSpPr>
          <p:cNvPr id="17" name="Text 15"/>
          <p:cNvSpPr/>
          <p:nvPr/>
        </p:nvSpPr>
        <p:spPr>
          <a:xfrm>
            <a:off x="5917082" y="2011680"/>
            <a:ext cx="1692554" cy="310896"/>
          </a:xfrm>
          <a:prstGeom prst="rect">
            <a:avLst/>
          </a:prstGeom>
          <a:noFill/>
          <a:ln/>
        </p:spPr>
        <p:txBody>
          <a:bodyPr wrap="square" lIns="0" tIns="0" rIns="0" bIns="0" rtlCol="0" anchor="ctr"/>
          <a:lstStyle/>
          <a:p>
            <a:pPr marL="0" indent="0">
              <a:buNone/>
            </a:pPr>
            <a:r>
              <a:rPr lang="en-US" sz="1250" b="1" dirty="0">
                <a:solidFill>
                  <a:srgbClr val="A93B2B"/>
                </a:solidFill>
                <a:latin typeface="Cambria" pitchFamily="34" charset="0"/>
                <a:ea typeface="Cambria" pitchFamily="34" charset="-122"/>
                <a:cs typeface="Cambria" pitchFamily="34" charset="-120"/>
              </a:rPr>
              <a:t>Model-originated</a:t>
            </a:r>
            <a:endParaRPr lang="en-US" sz="1250" dirty="0"/>
          </a:p>
        </p:txBody>
      </p:sp>
      <p:sp>
        <p:nvSpPr>
          <p:cNvPr id="18" name="Text 16"/>
          <p:cNvSpPr/>
          <p:nvPr/>
        </p:nvSpPr>
        <p:spPr>
          <a:xfrm>
            <a:off x="4600346" y="2395728"/>
            <a:ext cx="2991002" cy="822960"/>
          </a:xfrm>
          <a:prstGeom prst="rect">
            <a:avLst/>
          </a:prstGeom>
          <a:noFill/>
          <a:ln/>
        </p:spPr>
        <p:txBody>
          <a:bodyPr wrap="square" lIns="0" tIns="0" rIns="0" bIns="0" rtlCol="0" anchor="t"/>
          <a:lstStyle/>
          <a:p>
            <a:pPr marL="0" indent="0">
              <a:lnSpc>
                <a:spcPct val="108000"/>
              </a:lnSpc>
              <a:buNone/>
            </a:pPr>
            <a:r>
              <a:rPr lang="en-US" sz="1100" dirty="0">
                <a:solidFill>
                  <a:srgbClr val="5C4034"/>
                </a:solidFill>
                <a:latin typeface="Calibri" pitchFamily="34" charset="0"/>
                <a:ea typeface="Calibri" pitchFamily="34" charset="-122"/>
                <a:cs typeface="Calibri" pitchFamily="34" charset="-120"/>
              </a:rPr>
              <a:t>A genuine model decision. There is nothing in observable state to reconstruct it from.</a:t>
            </a:r>
            <a:endParaRPr lang="en-US" sz="1100" dirty="0"/>
          </a:p>
        </p:txBody>
      </p:sp>
      <p:sp>
        <p:nvSpPr>
          <p:cNvPr id="19" name="Shape 17"/>
          <p:cNvSpPr/>
          <p:nvPr/>
        </p:nvSpPr>
        <p:spPr>
          <a:xfrm>
            <a:off x="8085125" y="1847088"/>
            <a:ext cx="3466490" cy="1481328"/>
          </a:xfrm>
          <a:prstGeom prst="roundRect">
            <a:avLst>
              <a:gd name="adj" fmla="val 3086"/>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0" name="Shape 18"/>
          <p:cNvSpPr/>
          <p:nvPr/>
        </p:nvSpPr>
        <p:spPr>
          <a:xfrm>
            <a:off x="8304581" y="2011680"/>
            <a:ext cx="310896" cy="310896"/>
          </a:xfrm>
          <a:prstGeom prst="ellipse">
            <a:avLst/>
          </a:prstGeom>
          <a:solidFill>
            <a:srgbClr val="A93B2B"/>
          </a:solidFill>
          <a:ln w="6350">
            <a:solidFill>
              <a:srgbClr val="A93B2B"/>
            </a:solidFill>
            <a:prstDash val="solid"/>
          </a:ln>
        </p:spPr>
        <p:txBody>
          <a:bodyPr/>
          <a:lstStyle/>
          <a:p>
            <a:endParaRPr lang="en-US"/>
          </a:p>
        </p:txBody>
      </p:sp>
      <p:sp>
        <p:nvSpPr>
          <p:cNvPr id="21" name="Text 19"/>
          <p:cNvSpPr/>
          <p:nvPr/>
        </p:nvSpPr>
        <p:spPr>
          <a:xfrm>
            <a:off x="8304581" y="201168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8688629" y="2011680"/>
            <a:ext cx="1005840" cy="310896"/>
          </a:xfrm>
          <a:prstGeom prst="rect">
            <a:avLst/>
          </a:prstGeom>
          <a:noFill/>
          <a:ln/>
        </p:spPr>
        <p:txBody>
          <a:bodyPr wrap="square" lIns="0" tIns="0" rIns="0" bIns="0" rtlCol="0" anchor="ctr"/>
          <a:lstStyle/>
          <a:p>
            <a:pPr marL="0" indent="0">
              <a:buNone/>
            </a:pPr>
            <a:r>
              <a:rPr lang="en-US" sz="1300" b="1" i="1" dirty="0">
                <a:solidFill>
                  <a:srgbClr val="A93B2B"/>
                </a:solidFill>
                <a:latin typeface="Cambria" pitchFamily="34" charset="0"/>
                <a:ea typeface="Cambria" pitchFamily="34" charset="-122"/>
                <a:cs typeface="Cambria" pitchFamily="34" charset="-120"/>
              </a:rPr>
              <a:t>|H| &gt; κ</a:t>
            </a:r>
            <a:endParaRPr lang="en-US" sz="1300" dirty="0"/>
          </a:p>
        </p:txBody>
      </p:sp>
      <p:sp>
        <p:nvSpPr>
          <p:cNvPr id="23" name="Text 21"/>
          <p:cNvSpPr/>
          <p:nvPr/>
        </p:nvSpPr>
        <p:spPr>
          <a:xfrm>
            <a:off x="9639605" y="2011680"/>
            <a:ext cx="1692554" cy="310896"/>
          </a:xfrm>
          <a:prstGeom prst="rect">
            <a:avLst/>
          </a:prstGeom>
          <a:noFill/>
          <a:ln/>
        </p:spPr>
        <p:txBody>
          <a:bodyPr wrap="square" lIns="0" tIns="0" rIns="0" bIns="0" rtlCol="0" anchor="ctr"/>
          <a:lstStyle/>
          <a:p>
            <a:pPr marL="0" indent="0">
              <a:buNone/>
            </a:pPr>
            <a:r>
              <a:rPr lang="en-US" sz="1250" b="1" dirty="0">
                <a:solidFill>
                  <a:srgbClr val="A93B2B"/>
                </a:solidFill>
                <a:latin typeface="Cambria" pitchFamily="34" charset="0"/>
                <a:ea typeface="Cambria" pitchFamily="34" charset="-122"/>
                <a:cs typeface="Cambria" pitchFamily="34" charset="-120"/>
              </a:rPr>
              <a:t>Ambiguous</a:t>
            </a:r>
            <a:endParaRPr lang="en-US" sz="1250" dirty="0"/>
          </a:p>
        </p:txBody>
      </p:sp>
      <p:sp>
        <p:nvSpPr>
          <p:cNvPr id="24" name="Text 22"/>
          <p:cNvSpPr/>
          <p:nvPr/>
        </p:nvSpPr>
        <p:spPr>
          <a:xfrm>
            <a:off x="8322869" y="2395728"/>
            <a:ext cx="2991002" cy="822960"/>
          </a:xfrm>
          <a:prstGeom prst="rect">
            <a:avLst/>
          </a:prstGeom>
          <a:noFill/>
          <a:ln/>
        </p:spPr>
        <p:txBody>
          <a:bodyPr wrap="square" lIns="0" tIns="0" rIns="0" bIns="0" rtlCol="0" anchor="t"/>
          <a:lstStyle/>
          <a:p>
            <a:pPr marL="0" indent="0">
              <a:lnSpc>
                <a:spcPct val="108000"/>
              </a:lnSpc>
              <a:buNone/>
            </a:pPr>
            <a:r>
              <a:rPr lang="en-US" sz="1100" dirty="0">
                <a:solidFill>
                  <a:srgbClr val="5C4034"/>
                </a:solidFill>
                <a:latin typeface="Calibri" pitchFamily="34" charset="0"/>
                <a:ea typeface="Calibri" pitchFamily="34" charset="-122"/>
                <a:cs typeface="Calibri" pitchFamily="34" charset="-120"/>
              </a:rPr>
              <a:t>More than κ = 3 witnesses. Blocked rather than defaulting to the cheapest explanation.</a:t>
            </a:r>
            <a:endParaRPr lang="en-US" sz="1100" dirty="0"/>
          </a:p>
        </p:txBody>
      </p:sp>
      <p:sp>
        <p:nvSpPr>
          <p:cNvPr id="25" name="Shape 23"/>
          <p:cNvSpPr/>
          <p:nvPr/>
        </p:nvSpPr>
        <p:spPr>
          <a:xfrm>
            <a:off x="640080" y="3493008"/>
            <a:ext cx="10911535" cy="566928"/>
          </a:xfrm>
          <a:prstGeom prst="roundRect">
            <a:avLst>
              <a:gd name="adj" fmla="val 8065"/>
            </a:avLst>
          </a:prstGeom>
          <a:solidFill>
            <a:srgbClr val="EAF1F7"/>
          </a:solidFill>
          <a:ln w="9525">
            <a:solidFill>
              <a:srgbClr val="D5E0EB"/>
            </a:solidFill>
            <a:prstDash val="solid"/>
          </a:ln>
        </p:spPr>
        <p:txBody>
          <a:bodyPr/>
          <a:lstStyle/>
          <a:p>
            <a:endParaRPr lang="en-US"/>
          </a:p>
        </p:txBody>
      </p:sp>
      <p:sp>
        <p:nvSpPr>
          <p:cNvPr id="26" name="Text 24"/>
          <p:cNvSpPr/>
          <p:nvPr/>
        </p:nvSpPr>
        <p:spPr>
          <a:xfrm>
            <a:off x="877824" y="3584448"/>
            <a:ext cx="10436047" cy="402336"/>
          </a:xfrm>
          <a:prstGeom prst="rect">
            <a:avLst/>
          </a:prstGeom>
          <a:noFill/>
          <a:ln/>
        </p:spPr>
        <p:txBody>
          <a:bodyPr wrap="square" lIns="0" tIns="0" rIns="0" bIns="0" rtlCol="0" anchor="ctr"/>
          <a:lstStyle/>
          <a:p>
            <a:pPr marL="0" indent="0">
              <a:lnSpc>
                <a:spcPct val="105000"/>
              </a:lnSpc>
              <a:buNone/>
            </a:pPr>
            <a:r>
              <a:rPr lang="en-US" sz="1150" b="1" dirty="0">
                <a:solidFill>
                  <a:srgbClr val="0E1E3A"/>
                </a:solidFill>
                <a:latin typeface="Calibri" pitchFamily="34" charset="0"/>
                <a:ea typeface="Calibri" pitchFamily="34" charset="-122"/>
                <a:cs typeface="Calibri" pitchFamily="34" charset="-120"/>
              </a:rPr>
              <a:t>Order edges. </a:t>
            </a:r>
            <a:r>
              <a:rPr lang="en-US" sz="1150" dirty="0">
                <a:solidFill>
                  <a:srgbClr val="24354F"/>
                </a:solidFill>
                <a:latin typeface="Calibri" pitchFamily="34" charset="0"/>
                <a:ea typeface="Calibri" pitchFamily="34" charset="-122"/>
                <a:cs typeface="Calibri" pitchFamily="34" charset="-120"/>
              </a:rPr>
              <a:t>For every pair of events sharing a resource where either writes it, the graph adds eₛ &lt; eₜ — so a reordering can never be proposed across a conflict. This is execution provenance in the database sense, specialized to tool arguments rather than tuple derivations.</a:t>
            </a:r>
            <a:endParaRPr lang="en-US" sz="1150" dirty="0"/>
          </a:p>
        </p:txBody>
      </p:sp>
      <p:sp>
        <p:nvSpPr>
          <p:cNvPr id="27" name="Text 25"/>
          <p:cNvSpPr/>
          <p:nvPr/>
        </p:nvSpPr>
        <p:spPr>
          <a:xfrm>
            <a:off x="640080" y="4224528"/>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WORKED EXAMPLE — HELD-OUT ISSUE #4420 (FIGURE 2)</a:t>
            </a:r>
            <a:endParaRPr lang="en-US" sz="1050" dirty="0"/>
          </a:p>
        </p:txBody>
      </p:sp>
      <p:sp>
        <p:nvSpPr>
          <p:cNvPr id="28" name="Shape 26"/>
          <p:cNvSpPr/>
          <p:nvPr/>
        </p:nvSpPr>
        <p:spPr>
          <a:xfrm>
            <a:off x="640080"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9" name="Text 27"/>
          <p:cNvSpPr/>
          <p:nvPr/>
        </p:nvSpPr>
        <p:spPr>
          <a:xfrm>
            <a:off x="768096" y="4608576"/>
            <a:ext cx="1410157" cy="365760"/>
          </a:xfrm>
          <a:prstGeom prst="rect">
            <a:avLst/>
          </a:prstGeom>
          <a:noFill/>
          <a:ln/>
        </p:spPr>
        <p:txBody>
          <a:bodyPr wrap="square" lIns="0" tIns="0" rIns="0" bIns="0" rtlCol="0" anchor="t"/>
          <a:lstStyle/>
          <a:p>
            <a:pPr marL="0" indent="0">
              <a:buNone/>
            </a:pPr>
            <a:r>
              <a:rPr lang="en-US" sz="1900" b="1" dirty="0">
                <a:solidFill>
                  <a:srgbClr val="0E1E3A"/>
                </a:solidFill>
                <a:latin typeface="Cambria" pitchFamily="34" charset="0"/>
                <a:ea typeface="Cambria" pitchFamily="34" charset="-122"/>
                <a:cs typeface="Cambria" pitchFamily="34" charset="-120"/>
              </a:rPr>
              <a:t>2 / 2</a:t>
            </a:r>
            <a:endParaRPr lang="en-US" sz="1900" dirty="0"/>
          </a:p>
        </p:txBody>
      </p:sp>
      <p:sp>
        <p:nvSpPr>
          <p:cNvPr id="30" name="Text 28"/>
          <p:cNvSpPr/>
          <p:nvPr/>
        </p:nvSpPr>
        <p:spPr>
          <a:xfrm>
            <a:off x="768096"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issue_number slots</a:t>
            </a:r>
            <a:endParaRPr lang="en-US" sz="1000" dirty="0"/>
          </a:p>
        </p:txBody>
      </p:sp>
      <p:sp>
        <p:nvSpPr>
          <p:cNvPr id="31" name="Text 29"/>
          <p:cNvSpPr/>
          <p:nvPr/>
        </p:nvSpPr>
        <p:spPr>
          <a:xfrm>
            <a:off x="768096"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witnessed by entry or record</a:t>
            </a:r>
            <a:endParaRPr lang="en-US" sz="950" dirty="0"/>
          </a:p>
        </p:txBody>
      </p:sp>
      <p:sp>
        <p:nvSpPr>
          <p:cNvPr id="32" name="Shape 30"/>
          <p:cNvSpPr/>
          <p:nvPr/>
        </p:nvSpPr>
        <p:spPr>
          <a:xfrm>
            <a:off x="2489149"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3" name="Text 31"/>
          <p:cNvSpPr/>
          <p:nvPr/>
        </p:nvSpPr>
        <p:spPr>
          <a:xfrm>
            <a:off x="2617165" y="4608576"/>
            <a:ext cx="1410157" cy="365760"/>
          </a:xfrm>
          <a:prstGeom prst="rect">
            <a:avLst/>
          </a:prstGeom>
          <a:noFill/>
          <a:ln/>
        </p:spPr>
        <p:txBody>
          <a:bodyPr wrap="square" lIns="0" tIns="0" rIns="0" bIns="0" rtlCol="0" anchor="t"/>
          <a:lstStyle/>
          <a:p>
            <a:pPr marL="0" indent="0">
              <a:buNone/>
            </a:pPr>
            <a:r>
              <a:rPr lang="en-US" sz="1900" b="1" dirty="0">
                <a:solidFill>
                  <a:srgbClr val="1F8A99"/>
                </a:solidFill>
                <a:latin typeface="Cambria" pitchFamily="34" charset="0"/>
                <a:ea typeface="Cambria" pitchFamily="34" charset="-122"/>
                <a:cs typeface="Cambria" pitchFamily="34" charset="-120"/>
              </a:rPr>
              <a:t>none</a:t>
            </a:r>
            <a:endParaRPr lang="en-US" sz="1900" dirty="0"/>
          </a:p>
        </p:txBody>
      </p:sp>
      <p:sp>
        <p:nvSpPr>
          <p:cNvPr id="34" name="Text 32"/>
          <p:cNvSpPr/>
          <p:nvPr/>
        </p:nvSpPr>
        <p:spPr>
          <a:xfrm>
            <a:off x="2617165"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comments.limit</a:t>
            </a:r>
            <a:endParaRPr lang="en-US" sz="1000" dirty="0"/>
          </a:p>
        </p:txBody>
      </p:sp>
      <p:sp>
        <p:nvSpPr>
          <p:cNvPr id="35" name="Text 33"/>
          <p:cNvSpPr/>
          <p:nvPr/>
        </p:nvSpPr>
        <p:spPr>
          <a:xfrm>
            <a:off x="2617165"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100 in 130 traces, 1 in two</a:t>
            </a:r>
            <a:endParaRPr lang="en-US" sz="950" dirty="0"/>
          </a:p>
        </p:txBody>
      </p:sp>
      <p:sp>
        <p:nvSpPr>
          <p:cNvPr id="36" name="Shape 34"/>
          <p:cNvSpPr/>
          <p:nvPr/>
        </p:nvSpPr>
        <p:spPr>
          <a:xfrm>
            <a:off x="4338218"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7" name="Text 35"/>
          <p:cNvSpPr/>
          <p:nvPr/>
        </p:nvSpPr>
        <p:spPr>
          <a:xfrm>
            <a:off x="4466234" y="4608576"/>
            <a:ext cx="1410157" cy="365760"/>
          </a:xfrm>
          <a:prstGeom prst="rect">
            <a:avLst/>
          </a:prstGeom>
          <a:noFill/>
          <a:ln/>
        </p:spPr>
        <p:txBody>
          <a:bodyPr wrap="square" lIns="0" tIns="0" rIns="0" bIns="0" rtlCol="0" anchor="t"/>
          <a:lstStyle/>
          <a:p>
            <a:pPr marL="0" indent="0">
              <a:buNone/>
            </a:pPr>
            <a:r>
              <a:rPr lang="en-US" sz="1900" b="1" dirty="0">
                <a:solidFill>
                  <a:srgbClr val="A93B2B"/>
                </a:solidFill>
                <a:latin typeface="Cambria" pitchFamily="34" charset="0"/>
                <a:ea typeface="Cambria" pitchFamily="34" charset="-122"/>
                <a:cs typeface="Cambria" pitchFamily="34" charset="-120"/>
              </a:rPr>
              <a:t>3 → 2</a:t>
            </a:r>
            <a:endParaRPr lang="en-US" sz="1900" dirty="0"/>
          </a:p>
        </p:txBody>
      </p:sp>
      <p:sp>
        <p:nvSpPr>
          <p:cNvPr id="38" name="Text 36"/>
          <p:cNvSpPr/>
          <p:nvPr/>
        </p:nvSpPr>
        <p:spPr>
          <a:xfrm>
            <a:off x="4466234"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reads emitted</a:t>
            </a:r>
            <a:endParaRPr lang="en-US" sz="1000" dirty="0"/>
          </a:p>
        </p:txBody>
      </p:sp>
      <p:sp>
        <p:nvSpPr>
          <p:cNvPr id="39" name="Text 37"/>
          <p:cNvSpPr/>
          <p:nvPr/>
        </p:nvSpPr>
        <p:spPr>
          <a:xfrm>
            <a:off x="4466234"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three-read region retires</a:t>
            </a:r>
            <a:endParaRPr lang="en-US" sz="950" dirty="0"/>
          </a:p>
        </p:txBody>
      </p:sp>
      <p:sp>
        <p:nvSpPr>
          <p:cNvPr id="40" name="Shape 38"/>
          <p:cNvSpPr/>
          <p:nvPr/>
        </p:nvSpPr>
        <p:spPr>
          <a:xfrm>
            <a:off x="6187288"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1" name="Text 39"/>
          <p:cNvSpPr/>
          <p:nvPr/>
        </p:nvSpPr>
        <p:spPr>
          <a:xfrm>
            <a:off x="6315304" y="4608576"/>
            <a:ext cx="1410157" cy="365760"/>
          </a:xfrm>
          <a:prstGeom prst="rect">
            <a:avLst/>
          </a:prstGeom>
          <a:noFill/>
          <a:ln/>
        </p:spPr>
        <p:txBody>
          <a:bodyPr wrap="square" lIns="0" tIns="0" rIns="0" bIns="0" rtlCol="0" anchor="t"/>
          <a:lstStyle/>
          <a:p>
            <a:pPr marL="0" indent="0">
              <a:buNone/>
            </a:pPr>
            <a:r>
              <a:rPr lang="en-US" sz="1900" b="1" dirty="0">
                <a:solidFill>
                  <a:srgbClr val="A93B2B"/>
                </a:solidFill>
                <a:latin typeface="Cambria" pitchFamily="34" charset="0"/>
                <a:ea typeface="Cambria" pitchFamily="34" charset="-122"/>
                <a:cs typeface="Cambria" pitchFamily="34" charset="-120"/>
              </a:rPr>
              <a:t>132</a:t>
            </a:r>
            <a:endParaRPr lang="en-US" sz="1900" dirty="0"/>
          </a:p>
        </p:txBody>
      </p:sp>
      <p:sp>
        <p:nvSpPr>
          <p:cNvPr id="42" name="Text 40"/>
          <p:cNvSpPr/>
          <p:nvPr/>
        </p:nvSpPr>
        <p:spPr>
          <a:xfrm>
            <a:off x="6315304"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discovery traces</a:t>
            </a:r>
            <a:endParaRPr lang="en-US" sz="1000" dirty="0"/>
          </a:p>
        </p:txBody>
      </p:sp>
      <p:sp>
        <p:nvSpPr>
          <p:cNvPr id="43" name="Text 41"/>
          <p:cNvSpPr/>
          <p:nvPr/>
        </p:nvSpPr>
        <p:spPr>
          <a:xfrm>
            <a:off x="6315304"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all take the three-read route</a:t>
            </a:r>
            <a:endParaRPr lang="en-US" sz="950" dirty="0"/>
          </a:p>
        </p:txBody>
      </p:sp>
      <p:sp>
        <p:nvSpPr>
          <p:cNvPr id="44" name="Shape 42"/>
          <p:cNvSpPr/>
          <p:nvPr/>
        </p:nvSpPr>
        <p:spPr>
          <a:xfrm>
            <a:off x="8036357"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5" name="Text 43"/>
          <p:cNvSpPr/>
          <p:nvPr/>
        </p:nvSpPr>
        <p:spPr>
          <a:xfrm>
            <a:off x="8164373" y="4608576"/>
            <a:ext cx="1410157" cy="365760"/>
          </a:xfrm>
          <a:prstGeom prst="rect">
            <a:avLst/>
          </a:prstGeom>
          <a:noFill/>
          <a:ln/>
        </p:spPr>
        <p:txBody>
          <a:bodyPr wrap="square" lIns="0" tIns="0" rIns="0" bIns="0" rtlCol="0" anchor="t"/>
          <a:lstStyle/>
          <a:p>
            <a:pPr marL="0" indent="0">
              <a:buNone/>
            </a:pPr>
            <a:r>
              <a:rPr lang="en-US" sz="1900" b="1" dirty="0">
                <a:solidFill>
                  <a:srgbClr val="0E1E3A"/>
                </a:solidFill>
                <a:latin typeface="Cambria" pitchFamily="34" charset="0"/>
                <a:ea typeface="Cambria" pitchFamily="34" charset="-122"/>
                <a:cs typeface="Cambria" pitchFamily="34" charset="-120"/>
              </a:rPr>
              <a:t>92 / 92</a:t>
            </a:r>
            <a:endParaRPr lang="en-US" sz="1900" dirty="0"/>
          </a:p>
        </p:txBody>
      </p:sp>
      <p:sp>
        <p:nvSpPr>
          <p:cNvPr id="46" name="Text 44"/>
          <p:cNvSpPr/>
          <p:nvPr/>
        </p:nvSpPr>
        <p:spPr>
          <a:xfrm>
            <a:off x="8164373"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calibration groups</a:t>
            </a:r>
            <a:endParaRPr lang="en-US" sz="1000" dirty="0"/>
          </a:p>
        </p:txBody>
      </p:sp>
      <p:sp>
        <p:nvSpPr>
          <p:cNvPr id="47" name="Text 45"/>
          <p:cNvSpPr/>
          <p:nvPr/>
        </p:nvSpPr>
        <p:spPr>
          <a:xfrm>
            <a:off x="8164373"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two-read prefix admitted</a:t>
            </a:r>
            <a:endParaRPr lang="en-US" sz="950" dirty="0"/>
          </a:p>
        </p:txBody>
      </p:sp>
      <p:sp>
        <p:nvSpPr>
          <p:cNvPr id="48" name="Shape 46"/>
          <p:cNvSpPr/>
          <p:nvPr/>
        </p:nvSpPr>
        <p:spPr>
          <a:xfrm>
            <a:off x="9885426" y="4498848"/>
            <a:ext cx="1666189" cy="1133856"/>
          </a:xfrm>
          <a:prstGeom prst="roundRect">
            <a:avLst>
              <a:gd name="adj" fmla="val 403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49" name="Text 47"/>
          <p:cNvSpPr/>
          <p:nvPr/>
        </p:nvSpPr>
        <p:spPr>
          <a:xfrm>
            <a:off x="10013442" y="4608576"/>
            <a:ext cx="1410157" cy="365760"/>
          </a:xfrm>
          <a:prstGeom prst="rect">
            <a:avLst/>
          </a:prstGeom>
          <a:noFill/>
          <a:ln/>
        </p:spPr>
        <p:txBody>
          <a:bodyPr wrap="square" lIns="0" tIns="0" rIns="0" bIns="0" rtlCol="0" anchor="t"/>
          <a:lstStyle/>
          <a:p>
            <a:pPr marL="0" indent="0">
              <a:buNone/>
            </a:pPr>
            <a:r>
              <a:rPr lang="en-US" sz="1900" b="1" dirty="0">
                <a:solidFill>
                  <a:srgbClr val="0E1E3A"/>
                </a:solidFill>
                <a:latin typeface="Cambria" pitchFamily="34" charset="0"/>
                <a:ea typeface="Cambria" pitchFamily="34" charset="-122"/>
                <a:cs typeface="Cambria" pitchFamily="34" charset="-120"/>
              </a:rPr>
              <a:t>0.0498</a:t>
            </a:r>
            <a:endParaRPr lang="en-US" sz="1900" dirty="0"/>
          </a:p>
        </p:txBody>
      </p:sp>
      <p:sp>
        <p:nvSpPr>
          <p:cNvPr id="50" name="Text 48"/>
          <p:cNvSpPr/>
          <p:nvPr/>
        </p:nvSpPr>
        <p:spPr>
          <a:xfrm>
            <a:off x="10013442" y="4974336"/>
            <a:ext cx="1410157" cy="256032"/>
          </a:xfrm>
          <a:prstGeom prst="rect">
            <a:avLst/>
          </a:prstGeom>
          <a:noFill/>
          <a:ln/>
        </p:spPr>
        <p:txBody>
          <a:bodyPr wrap="square" lIns="0" tIns="0" rIns="0" bIns="0" rtlCol="0" anchor="t"/>
          <a:lstStyle/>
          <a:p>
            <a:pPr marL="0" indent="0">
              <a:buNone/>
            </a:pPr>
            <a:r>
              <a:rPr lang="en-US" sz="1000" b="1" dirty="0">
                <a:solidFill>
                  <a:srgbClr val="24354F"/>
                </a:solidFill>
                <a:latin typeface="Calibri" pitchFamily="34" charset="0"/>
                <a:ea typeface="Calibri" pitchFamily="34" charset="-122"/>
                <a:cs typeface="Calibri" pitchFamily="34" charset="-120"/>
              </a:rPr>
              <a:t>upper bound</a:t>
            </a:r>
            <a:endParaRPr lang="en-US" sz="1000" dirty="0"/>
          </a:p>
        </p:txBody>
      </p:sp>
      <p:sp>
        <p:nvSpPr>
          <p:cNvPr id="51" name="Text 49"/>
          <p:cNvSpPr/>
          <p:nvPr/>
        </p:nvSpPr>
        <p:spPr>
          <a:xfrm>
            <a:off x="10013442" y="5212080"/>
            <a:ext cx="1410157" cy="347472"/>
          </a:xfrm>
          <a:prstGeom prst="rect">
            <a:avLst/>
          </a:prstGeom>
          <a:noFill/>
          <a:ln/>
        </p:spPr>
        <p:txBody>
          <a:bodyPr wrap="square" lIns="0" tIns="0" rIns="0" bIns="0" rtlCol="0" anchor="t"/>
          <a:lstStyle/>
          <a:p>
            <a:pPr marL="0" indent="0">
              <a:lnSpc>
                <a:spcPct val="100000"/>
              </a:lnSpc>
              <a:buNone/>
            </a:pPr>
            <a:r>
              <a:rPr lang="en-US" sz="950" dirty="0">
                <a:solidFill>
                  <a:srgbClr val="5A6B84"/>
                </a:solidFill>
                <a:latin typeface="Calibri" pitchFamily="34" charset="0"/>
                <a:ea typeface="Calibri" pitchFamily="34" charset="-122"/>
                <a:cs typeface="Calibri" pitchFamily="34" charset="-120"/>
              </a:rPr>
              <a:t>against α = 0.05</a:t>
            </a:r>
            <a:endParaRPr lang="en-US" sz="950" dirty="0"/>
          </a:p>
        </p:txBody>
      </p:sp>
      <p:sp>
        <p:nvSpPr>
          <p:cNvPr id="52" name="Text 50"/>
          <p:cNvSpPr/>
          <p:nvPr/>
        </p:nvSpPr>
        <p:spPr>
          <a:xfrm>
            <a:off x="640080" y="5760720"/>
            <a:ext cx="10911535" cy="457200"/>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A recurrence-only optimizer would emit all three reads, since every discovery trace takes that route. GAC blocks the region on one unwitnessed slot (ungroundable_slot); the agent still chooses the limit and writes the answer. The PR-outcome and backlog artifacts bind their limit=3 slots as invariant literals.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11</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STAGES 2–3</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Family mining, an MDL ranking, and a cheap decisive no</a:t>
            </a:r>
            <a:endParaRPr lang="en-US" sz="2600" dirty="0"/>
          </a:p>
        </p:txBody>
      </p:sp>
      <p:sp>
        <p:nvSpPr>
          <p:cNvPr id="6" name="Text 4"/>
          <p:cNvSpPr/>
          <p:nvPr/>
        </p:nvSpPr>
        <p:spPr>
          <a:xfrm>
            <a:off x="640080" y="1188720"/>
            <a:ext cx="10911535" cy="512064"/>
          </a:xfrm>
          <a:prstGeom prst="rect">
            <a:avLst/>
          </a:prstGeom>
          <a:noFill/>
          <a:ln/>
        </p:spPr>
        <p:txBody>
          <a:bodyPr wrap="square" lIns="0" tIns="0" rIns="0" bIns="0" rtlCol="0" anchor="t"/>
          <a:lstStyle/>
          <a:p>
            <a:pPr marL="0" indent="0">
              <a:lnSpc>
                <a:spcPct val="110000"/>
              </a:lnSpc>
              <a:buNone/>
            </a:pPr>
            <a:r>
              <a:rPr lang="en-US" sz="1250" dirty="0">
                <a:solidFill>
                  <a:srgbClr val="24354F"/>
                </a:solidFill>
                <a:latin typeface="Calibri" pitchFamily="34" charset="0"/>
                <a:ea typeface="Calibri" pitchFamily="34" charset="-122"/>
                <a:cs typeface="Calibri" pitchFamily="34" charset="-120"/>
              </a:rPr>
              <a:t>The miner enumerates model-boundary-to-result windows with at most wₘₐₓ tool calls, qualifies effects and live-ins, and hashes tool signatures, dependency topology, run shape, and live-in/out shape while abstracting literal values. Families require support across independent scenario groups rather than raw event frequency.</a:t>
            </a:r>
            <a:endParaRPr lang="en-US" sz="1250" dirty="0"/>
          </a:p>
        </p:txBody>
      </p:sp>
      <p:sp>
        <p:nvSpPr>
          <p:cNvPr id="7" name="Shape 5"/>
          <p:cNvSpPr/>
          <p:nvPr/>
        </p:nvSpPr>
        <p:spPr>
          <a:xfrm>
            <a:off x="640080" y="1792224"/>
            <a:ext cx="10911535" cy="1243584"/>
          </a:xfrm>
          <a:prstGeom prst="roundRect">
            <a:avLst>
              <a:gd name="adj" fmla="val 3676"/>
            </a:avLst>
          </a:prstGeom>
          <a:solidFill>
            <a:srgbClr val="F5F9FC"/>
          </a:solidFill>
          <a:ln w="9525">
            <a:solidFill>
              <a:srgbClr val="D5E0EB"/>
            </a:solidFill>
            <a:prstDash val="solid"/>
          </a:ln>
        </p:spPr>
        <p:txBody>
          <a:bodyPr/>
          <a:lstStyle/>
          <a:p>
            <a:endParaRPr lang="en-US"/>
          </a:p>
        </p:txBody>
      </p:sp>
      <p:pic>
        <p:nvPicPr>
          <p:cNvPr id="8" name="Image 0"/>
          <p:cNvPicPr>
            <a:picLocks noChangeAspect="1"/>
          </p:cNvPicPr>
          <p:nvPr/>
        </p:nvPicPr>
        <p:blipFill>
          <a:blip r:embed="rId3"/>
          <a:stretch>
            <a:fillRect/>
          </a:stretch>
        </p:blipFill>
        <p:spPr>
          <a:xfrm>
            <a:off x="877824" y="1938528"/>
            <a:ext cx="7954543" cy="420624"/>
          </a:xfrm>
          <a:prstGeom prst="rect">
            <a:avLst/>
          </a:prstGeom>
        </p:spPr>
      </p:pic>
      <p:sp>
        <p:nvSpPr>
          <p:cNvPr id="9" name="Text 6"/>
          <p:cNvSpPr/>
          <p:nvPr/>
        </p:nvSpPr>
        <p:spPr>
          <a:xfrm>
            <a:off x="877824" y="2432304"/>
            <a:ext cx="10436047" cy="493776"/>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Expected saving from scenario-group support, mean removable model requests, and unit cost — charged for variant entropy, declared-effect exposure, and program size. Equation (5) affects only which family is tried first; no admission decision depends on it.</a:t>
            </a:r>
            <a:endParaRPr lang="en-US" sz="1000" dirty="0"/>
          </a:p>
        </p:txBody>
      </p:sp>
      <p:sp>
        <p:nvSpPr>
          <p:cNvPr id="10" name="Text 7"/>
          <p:cNvSpPr/>
          <p:nvPr/>
        </p:nvSpPr>
        <p:spPr>
          <a:xfrm>
            <a:off x="10856671" y="1938528"/>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(5)</a:t>
            </a:r>
            <a:endParaRPr lang="en-US" sz="1000" dirty="0"/>
          </a:p>
        </p:txBody>
      </p:sp>
      <p:sp>
        <p:nvSpPr>
          <p:cNvPr id="11" name="Shape 8"/>
          <p:cNvSpPr/>
          <p:nvPr/>
        </p:nvSpPr>
        <p:spPr>
          <a:xfrm>
            <a:off x="640080" y="3145536"/>
            <a:ext cx="10911535" cy="859536"/>
          </a:xfrm>
          <a:prstGeom prst="roundRect">
            <a:avLst>
              <a:gd name="adj" fmla="val 531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2" name="Text 9"/>
          <p:cNvSpPr/>
          <p:nvPr/>
        </p:nvSpPr>
        <p:spPr>
          <a:xfrm>
            <a:off x="896112" y="3255264"/>
            <a:ext cx="10399471" cy="658368"/>
          </a:xfrm>
          <a:prstGeom prst="rect">
            <a:avLst/>
          </a:prstGeom>
          <a:noFill/>
          <a:ln/>
        </p:spPr>
        <p:txBody>
          <a:bodyPr wrap="square" lIns="0" tIns="0" rIns="0" bIns="0" rtlCol="0" anchor="ctr"/>
          <a:lstStyle/>
          <a:p>
            <a:pPr marL="0" indent="0">
              <a:lnSpc>
                <a:spcPct val="106000"/>
              </a:lnSpc>
              <a:buNone/>
            </a:pPr>
            <a:r>
              <a:rPr lang="en-US" sz="1100" b="1" dirty="0">
                <a:solidFill>
                  <a:srgbClr val="A93B2B"/>
                </a:solidFill>
                <a:latin typeface="Calibri" pitchFamily="34" charset="0"/>
                <a:ea typeface="Calibri" pitchFamily="34" charset="-122"/>
                <a:cs typeface="Calibri" pitchFamily="34" charset="-120"/>
              </a:rPr>
              <a:t>Two terms are coarser in the implementation than the notation suggests. </a:t>
            </a:r>
            <a:r>
              <a:rPr lang="en-US" sz="1100" dirty="0">
                <a:solidFill>
                  <a:srgbClr val="5C4034"/>
                </a:solidFill>
                <a:latin typeface="Calibri" pitchFamily="34" charset="0"/>
                <a:ea typeface="Calibri" pitchFamily="34" charset="-122"/>
                <a:cs typeface="Calibri" pitchFamily="34" charset="-120"/>
              </a:rPr>
              <a:t>The declared-effect exposure term is approximated by the fraction of tool names containing a namespace separator — a naming convention, not a reading of the effect catalog — and |F| is substituted by the argument-slot count of the first observed window. Both appear only in a ranking heuristic: no admission decision depends on either.</a:t>
            </a:r>
            <a:endParaRPr lang="en-US" sz="1100" dirty="0"/>
          </a:p>
        </p:txBody>
      </p:sp>
      <p:sp>
        <p:nvSpPr>
          <p:cNvPr id="13" name="Shape 10"/>
          <p:cNvSpPr/>
          <p:nvPr/>
        </p:nvSpPr>
        <p:spPr>
          <a:xfrm>
            <a:off x="640080" y="4151376"/>
            <a:ext cx="5291176" cy="1517904"/>
          </a:xfrm>
          <a:prstGeom prst="roundRect">
            <a:avLst>
              <a:gd name="adj" fmla="val 3333"/>
            </a:avLst>
          </a:prstGeom>
          <a:solidFill>
            <a:srgbClr val="F5F9FC"/>
          </a:solidFill>
          <a:ln w="9525">
            <a:solidFill>
              <a:srgbClr val="D5E0EB"/>
            </a:solidFill>
            <a:prstDash val="solid"/>
          </a:ln>
        </p:spPr>
        <p:txBody>
          <a:bodyPr/>
          <a:lstStyle/>
          <a:p>
            <a:endParaRPr lang="en-US"/>
          </a:p>
        </p:txBody>
      </p:sp>
      <p:pic>
        <p:nvPicPr>
          <p:cNvPr id="14" name="Image 1"/>
          <p:cNvPicPr>
            <a:picLocks noChangeAspect="1"/>
          </p:cNvPicPr>
          <p:nvPr/>
        </p:nvPicPr>
        <p:blipFill>
          <a:blip r:embed="rId4"/>
          <a:stretch>
            <a:fillRect/>
          </a:stretch>
        </p:blipFill>
        <p:spPr>
          <a:xfrm>
            <a:off x="877824" y="4297680"/>
            <a:ext cx="4120993" cy="512064"/>
          </a:xfrm>
          <a:prstGeom prst="rect">
            <a:avLst/>
          </a:prstGeom>
        </p:spPr>
      </p:pic>
      <p:sp>
        <p:nvSpPr>
          <p:cNvPr id="15" name="Text 11"/>
          <p:cNvSpPr/>
          <p:nvPr/>
        </p:nvSpPr>
        <p:spPr>
          <a:xfrm>
            <a:off x="877824" y="4882896"/>
            <a:ext cx="4815688" cy="530352"/>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FEASIBILITY CEILING — what the compiler could achieve with a perfect verifier and a gate that never abstains. Stage 3 checks only the left form (ρ = 1), so no measured reduction can exceed it, and a workload whose ceiling is under target is declined before any synthesis runs.</a:t>
            </a:r>
            <a:endParaRPr lang="en-US" sz="1000" dirty="0"/>
          </a:p>
        </p:txBody>
      </p:sp>
      <p:sp>
        <p:nvSpPr>
          <p:cNvPr id="16" name="Text 12"/>
          <p:cNvSpPr/>
          <p:nvPr/>
        </p:nvSpPr>
        <p:spPr>
          <a:xfrm>
            <a:off x="5236312" y="4297680"/>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(6)</a:t>
            </a:r>
            <a:endParaRPr lang="en-US" sz="1000" dirty="0"/>
          </a:p>
        </p:txBody>
      </p:sp>
      <p:sp>
        <p:nvSpPr>
          <p:cNvPr id="17" name="Shape 13"/>
          <p:cNvSpPr/>
          <p:nvPr/>
        </p:nvSpPr>
        <p:spPr>
          <a:xfrm>
            <a:off x="6260440" y="4151375"/>
            <a:ext cx="5291176" cy="1517903"/>
          </a:xfrm>
          <a:prstGeom prst="roundRect">
            <a:avLst>
              <a:gd name="adj" fmla="val 333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18" name="Text 14"/>
          <p:cNvSpPr/>
          <p:nvPr/>
        </p:nvSpPr>
        <p:spPr>
          <a:xfrm>
            <a:off x="6498184" y="4279392"/>
            <a:ext cx="4815688" cy="201168"/>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WORKED EXAMPLE — PR-OUTCOME AUDIT (TABLE 1)</a:t>
            </a:r>
            <a:endParaRPr lang="en-US" sz="950" dirty="0"/>
          </a:p>
        </p:txBody>
      </p:sp>
      <p:sp>
        <p:nvSpPr>
          <p:cNvPr id="19" name="Text 15"/>
          <p:cNvSpPr/>
          <p:nvPr/>
        </p:nvSpPr>
        <p:spPr>
          <a:xfrm>
            <a:off x="6498184" y="4553712"/>
            <a:ext cx="1280160" cy="274320"/>
          </a:xfrm>
          <a:prstGeom prst="rect">
            <a:avLst/>
          </a:prstGeom>
          <a:noFill/>
          <a:ln/>
        </p:spPr>
        <p:txBody>
          <a:bodyPr wrap="square" lIns="0" tIns="0" rIns="0" bIns="0" rtlCol="0" anchor="t"/>
          <a:lstStyle/>
          <a:p>
            <a:pPr marL="0" indent="0">
              <a:buNone/>
            </a:pPr>
            <a:r>
              <a:rPr lang="en-US" sz="1300" b="1" dirty="0">
                <a:solidFill>
                  <a:srgbClr val="0E1E3A"/>
                </a:solidFill>
                <a:latin typeface="Cambria" pitchFamily="34" charset="0"/>
                <a:ea typeface="Cambria" pitchFamily="34" charset="-122"/>
                <a:cs typeface="Cambria" pitchFamily="34" charset="-120"/>
              </a:rPr>
              <a:t>φ = 1</a:t>
            </a:r>
            <a:endParaRPr lang="en-US" sz="1300" dirty="0"/>
          </a:p>
        </p:txBody>
      </p:sp>
      <p:sp>
        <p:nvSpPr>
          <p:cNvPr id="20" name="Text 16"/>
          <p:cNvSpPr/>
          <p:nvPr/>
        </p:nvSpPr>
        <p:spPr>
          <a:xfrm>
            <a:off x="6498184" y="4809744"/>
            <a:ext cx="1371600" cy="237744"/>
          </a:xfrm>
          <a:prstGeom prst="rect">
            <a:avLst/>
          </a:prstGeom>
          <a:noFill/>
          <a:ln/>
        </p:spPr>
        <p:txBody>
          <a:bodyPr wrap="square" lIns="0" tIns="0" rIns="0" bIns="0" rtlCol="0" anchor="t"/>
          <a:lstStyle/>
          <a:p>
            <a:pPr marL="0" indent="0">
              <a:buNone/>
            </a:pPr>
            <a:r>
              <a:rPr lang="en-US" sz="950" dirty="0">
                <a:solidFill>
                  <a:srgbClr val="5A6B84"/>
                </a:solidFill>
                <a:latin typeface="Calibri" pitchFamily="34" charset="0"/>
                <a:ea typeface="Calibri" pitchFamily="34" charset="-122"/>
                <a:cs typeface="Calibri" pitchFamily="34" charset="-120"/>
              </a:rPr>
              <a:t>eligible share</a:t>
            </a:r>
            <a:endParaRPr lang="en-US" sz="950" dirty="0"/>
          </a:p>
        </p:txBody>
      </p:sp>
      <p:sp>
        <p:nvSpPr>
          <p:cNvPr id="21" name="Text 17"/>
          <p:cNvSpPr/>
          <p:nvPr/>
        </p:nvSpPr>
        <p:spPr>
          <a:xfrm>
            <a:off x="7987589" y="4553712"/>
            <a:ext cx="1280160" cy="274320"/>
          </a:xfrm>
          <a:prstGeom prst="rect">
            <a:avLst/>
          </a:prstGeom>
          <a:noFill/>
          <a:ln/>
        </p:spPr>
        <p:txBody>
          <a:bodyPr wrap="square" lIns="0" tIns="0" rIns="0" bIns="0" rtlCol="0" anchor="t"/>
          <a:lstStyle/>
          <a:p>
            <a:pPr marL="0" indent="0">
              <a:buNone/>
            </a:pPr>
            <a:r>
              <a:rPr lang="en-US" sz="1300" b="1" dirty="0">
                <a:solidFill>
                  <a:srgbClr val="0E1E3A"/>
                </a:solidFill>
                <a:latin typeface="Cambria" pitchFamily="34" charset="0"/>
                <a:ea typeface="Cambria" pitchFamily="34" charset="-122"/>
                <a:cs typeface="Cambria" pitchFamily="34" charset="-120"/>
              </a:rPr>
              <a:t>k = 3</a:t>
            </a:r>
            <a:endParaRPr lang="en-US" sz="1300" dirty="0"/>
          </a:p>
        </p:txBody>
      </p:sp>
      <p:sp>
        <p:nvSpPr>
          <p:cNvPr id="22" name="Text 18"/>
          <p:cNvSpPr/>
          <p:nvPr/>
        </p:nvSpPr>
        <p:spPr>
          <a:xfrm>
            <a:off x="7987589" y="4809744"/>
            <a:ext cx="1371600" cy="237744"/>
          </a:xfrm>
          <a:prstGeom prst="rect">
            <a:avLst/>
          </a:prstGeom>
          <a:noFill/>
          <a:ln/>
        </p:spPr>
        <p:txBody>
          <a:bodyPr wrap="square" lIns="0" tIns="0" rIns="0" bIns="0" rtlCol="0" anchor="t"/>
          <a:lstStyle/>
          <a:p>
            <a:pPr marL="0" indent="0">
              <a:buNone/>
            </a:pPr>
            <a:r>
              <a:rPr lang="en-US" sz="950" dirty="0">
                <a:solidFill>
                  <a:srgbClr val="5A6B84"/>
                </a:solidFill>
                <a:latin typeface="Calibri" pitchFamily="34" charset="0"/>
                <a:ea typeface="Calibri" pitchFamily="34" charset="-122"/>
                <a:cs typeface="Calibri" pitchFamily="34" charset="-120"/>
              </a:rPr>
              <a:t>requests removed</a:t>
            </a:r>
            <a:endParaRPr lang="en-US" sz="950" dirty="0"/>
          </a:p>
        </p:txBody>
      </p:sp>
      <p:sp>
        <p:nvSpPr>
          <p:cNvPr id="23" name="Text 19"/>
          <p:cNvSpPr/>
          <p:nvPr/>
        </p:nvSpPr>
        <p:spPr>
          <a:xfrm>
            <a:off x="9476994" y="4553712"/>
            <a:ext cx="1280160" cy="274320"/>
          </a:xfrm>
          <a:prstGeom prst="rect">
            <a:avLst/>
          </a:prstGeom>
          <a:noFill/>
          <a:ln/>
        </p:spPr>
        <p:txBody>
          <a:bodyPr wrap="square" lIns="0" tIns="0" rIns="0" bIns="0" rtlCol="0" anchor="t"/>
          <a:lstStyle/>
          <a:p>
            <a:pPr marL="0" indent="0">
              <a:buNone/>
            </a:pPr>
            <a:r>
              <a:rPr lang="en-US" sz="1300" b="1" dirty="0">
                <a:solidFill>
                  <a:srgbClr val="0E1E3A"/>
                </a:solidFill>
                <a:latin typeface="Cambria" pitchFamily="34" charset="0"/>
                <a:ea typeface="Cambria" pitchFamily="34" charset="-122"/>
                <a:cs typeface="Cambria" pitchFamily="34" charset="-120"/>
              </a:rPr>
              <a:t>nᴮ = 4</a:t>
            </a:r>
            <a:endParaRPr lang="en-US" sz="1300" dirty="0"/>
          </a:p>
        </p:txBody>
      </p:sp>
      <p:sp>
        <p:nvSpPr>
          <p:cNvPr id="24" name="Text 20"/>
          <p:cNvSpPr/>
          <p:nvPr/>
        </p:nvSpPr>
        <p:spPr>
          <a:xfrm>
            <a:off x="9476994" y="4809744"/>
            <a:ext cx="1371600" cy="237744"/>
          </a:xfrm>
          <a:prstGeom prst="rect">
            <a:avLst/>
          </a:prstGeom>
          <a:noFill/>
          <a:ln/>
        </p:spPr>
        <p:txBody>
          <a:bodyPr wrap="square" lIns="0" tIns="0" rIns="0" bIns="0" rtlCol="0" anchor="t"/>
          <a:lstStyle/>
          <a:p>
            <a:pPr marL="0" indent="0">
              <a:buNone/>
            </a:pPr>
            <a:r>
              <a:rPr lang="en-US" sz="950" dirty="0">
                <a:solidFill>
                  <a:srgbClr val="5A6B84"/>
                </a:solidFill>
                <a:latin typeface="Calibri" pitchFamily="34" charset="0"/>
                <a:ea typeface="Calibri" pitchFamily="34" charset="-122"/>
                <a:cs typeface="Calibri" pitchFamily="34" charset="-120"/>
              </a:rPr>
              <a:t>baseline requests</a:t>
            </a:r>
            <a:endParaRPr lang="en-US" sz="950" dirty="0"/>
          </a:p>
        </p:txBody>
      </p:sp>
      <p:sp>
        <p:nvSpPr>
          <p:cNvPr id="25" name="Shape 21"/>
          <p:cNvSpPr/>
          <p:nvPr/>
        </p:nvSpPr>
        <p:spPr>
          <a:xfrm>
            <a:off x="6498184" y="5084064"/>
            <a:ext cx="4815688" cy="0"/>
          </a:xfrm>
          <a:prstGeom prst="line">
            <a:avLst/>
          </a:prstGeom>
          <a:noFill/>
          <a:ln w="12700">
            <a:solidFill>
              <a:srgbClr val="CFE4E7"/>
            </a:solidFill>
            <a:prstDash val="solid"/>
          </a:ln>
        </p:spPr>
        <p:txBody>
          <a:bodyPr/>
          <a:lstStyle/>
          <a:p>
            <a:endParaRPr lang="en-US"/>
          </a:p>
        </p:txBody>
      </p:sp>
      <p:sp>
        <p:nvSpPr>
          <p:cNvPr id="26" name="Text 22"/>
          <p:cNvSpPr/>
          <p:nvPr/>
        </p:nvSpPr>
        <p:spPr>
          <a:xfrm>
            <a:off x="6498184" y="5193792"/>
            <a:ext cx="4577944" cy="274320"/>
          </a:xfrm>
          <a:prstGeom prst="rect">
            <a:avLst/>
          </a:prstGeom>
          <a:noFill/>
          <a:ln/>
        </p:spPr>
        <p:txBody>
          <a:bodyPr wrap="square" lIns="0" tIns="0" rIns="0" bIns="0" rtlCol="0" anchor="ctr"/>
          <a:lstStyle/>
          <a:p>
            <a:pPr marL="0" indent="0">
              <a:buNone/>
            </a:pPr>
            <a:r>
              <a:rPr lang="en-US" sz="1700" b="1" dirty="0">
                <a:solidFill>
                  <a:srgbClr val="0E1E3A"/>
                </a:solidFill>
                <a:latin typeface="Cambria" pitchFamily="34" charset="0"/>
                <a:ea typeface="Cambria" pitchFamily="34" charset="-122"/>
                <a:cs typeface="Cambria" pitchFamily="34" charset="-120"/>
              </a:rPr>
              <a:t>0.750</a:t>
            </a:r>
            <a:r>
              <a:rPr lang="en-US" sz="1100" dirty="0">
                <a:solidFill>
                  <a:srgbClr val="5A6B84"/>
                </a:solidFill>
                <a:latin typeface="Calibri" pitchFamily="34" charset="0"/>
                <a:ea typeface="Calibri" pitchFamily="34" charset="-122"/>
                <a:cs typeface="Calibri" pitchFamily="34" charset="-120"/>
              </a:rPr>
              <a:t>  ceiling  →  </a:t>
            </a:r>
            <a:r>
              <a:rPr lang="en-US" sz="1700" b="1" dirty="0">
                <a:solidFill>
                  <a:srgbClr val="0E1E3A"/>
                </a:solidFill>
                <a:latin typeface="Cambria" pitchFamily="34" charset="0"/>
                <a:ea typeface="Cambria" pitchFamily="34" charset="-122"/>
                <a:cs typeface="Cambria" pitchFamily="34" charset="-120"/>
              </a:rPr>
              <a:t>75.0%</a:t>
            </a:r>
            <a:r>
              <a:rPr lang="en-US" sz="1100" dirty="0">
                <a:solidFill>
                  <a:srgbClr val="5A6B84"/>
                </a:solidFill>
                <a:latin typeface="Calibri" pitchFamily="34" charset="0"/>
                <a:ea typeface="Calibri" pitchFamily="34" charset="-122"/>
                <a:cs typeface="Calibri" pitchFamily="34" charset="-120"/>
              </a:rPr>
              <a:t>  measured. A saturated ceiling says only that the task fully determined the region.</a:t>
            </a:r>
            <a:endParaRPr lang="en-US" sz="1700" dirty="0"/>
          </a:p>
        </p:txBody>
      </p:sp>
      <p:sp>
        <p:nvSpPr>
          <p:cNvPr id="27" name="Text 23"/>
          <p:cNvSpPr/>
          <p:nvPr/>
        </p:nvSpPr>
        <p:spPr>
          <a:xfrm>
            <a:off x="640080" y="5840096"/>
            <a:ext cx="10911535" cy="457200"/>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The ceiling counts requests removed by the prefix at a fixed continuation workload. Changes in downstream reasoning or fallback can change total requests, which is why the realized form also carries the verifier pass rate ρ.</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STAGES 4–5  ·  TABLE 6</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Bounded synthesis and induced contracts: candidates, not proofs</a:t>
            </a:r>
            <a:endParaRPr lang="en-US" sz="2600" dirty="0"/>
          </a:p>
        </p:txBody>
      </p:sp>
      <p:sp>
        <p:nvSpPr>
          <p:cNvPr id="6" name="Shape 4"/>
          <p:cNvSpPr/>
          <p:nvPr/>
        </p:nvSpPr>
        <p:spPr>
          <a:xfrm>
            <a:off x="640080" y="1188720"/>
            <a:ext cx="3454298" cy="3108960"/>
          </a:xfrm>
          <a:prstGeom prst="roundRect">
            <a:avLst>
              <a:gd name="adj" fmla="val 1471"/>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7" name="Text 5"/>
          <p:cNvSpPr/>
          <p:nvPr/>
        </p:nvSpPr>
        <p:spPr>
          <a:xfrm>
            <a:off x="877824" y="1316736"/>
            <a:ext cx="2978810" cy="310896"/>
          </a:xfrm>
          <a:prstGeom prst="rect">
            <a:avLst/>
          </a:prstGeom>
          <a:noFill/>
          <a:ln/>
        </p:spPr>
        <p:txBody>
          <a:bodyPr wrap="square" lIns="0" tIns="0" rIns="0" bIns="0" rtlCol="0" anchor="t"/>
          <a:lstStyle/>
          <a:p>
            <a:pPr marL="0" indent="0">
              <a:buNone/>
            </a:pPr>
            <a:r>
              <a:rPr lang="en-US" sz="1500" b="1" dirty="0">
                <a:solidFill>
                  <a:srgbClr val="1F8A99"/>
                </a:solidFill>
                <a:latin typeface="Cambria" pitchFamily="34" charset="0"/>
                <a:ea typeface="Cambria" pitchFamily="34" charset="-122"/>
                <a:cs typeface="Cambria" pitchFamily="34" charset="-120"/>
              </a:rPr>
              <a:t>Synthesis</a:t>
            </a:r>
            <a:endParaRPr lang="en-US" sz="1500" dirty="0"/>
          </a:p>
        </p:txBody>
      </p:sp>
      <p:sp>
        <p:nvSpPr>
          <p:cNvPr id="8" name="Text 6"/>
          <p:cNvSpPr/>
          <p:nvPr/>
        </p:nvSpPr>
        <p:spPr>
          <a:xfrm>
            <a:off x="896112" y="1700784"/>
            <a:ext cx="2942234" cy="2468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23-operator closed library, depth at most two</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Path selection, indexing, string normalization, arithmetic, comparison, bounded collection ops, narrow loops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Bindings ranked by stability across groups; a group-wise refit rejects bindings that exploit row-level coincidence</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Related to programming-by-example and bounded sketching — but the hypothesis space is deliberately small enough to inspect. It does not generate arbitrary Python</a:t>
            </a:r>
            <a:endParaRPr lang="en-US" sz="1050" dirty="0"/>
          </a:p>
        </p:txBody>
      </p:sp>
      <p:sp>
        <p:nvSpPr>
          <p:cNvPr id="9" name="Shape 7"/>
          <p:cNvSpPr/>
          <p:nvPr/>
        </p:nvSpPr>
        <p:spPr>
          <a:xfrm>
            <a:off x="4368698" y="1188720"/>
            <a:ext cx="3454298" cy="3108960"/>
          </a:xfrm>
          <a:prstGeom prst="roundRect">
            <a:avLst>
              <a:gd name="adj" fmla="val 1471"/>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0" name="Text 8"/>
          <p:cNvSpPr/>
          <p:nvPr/>
        </p:nvSpPr>
        <p:spPr>
          <a:xfrm>
            <a:off x="4606442" y="1316736"/>
            <a:ext cx="2978810" cy="310896"/>
          </a:xfrm>
          <a:prstGeom prst="rect">
            <a:avLst/>
          </a:prstGeom>
          <a:noFill/>
          <a:ln/>
        </p:spPr>
        <p:txBody>
          <a:bodyPr wrap="square" lIns="0" tIns="0" rIns="0" bIns="0" rtlCol="0" anchor="t"/>
          <a:lstStyle/>
          <a:p>
            <a:pPr marL="0" indent="0">
              <a:buNone/>
            </a:pPr>
            <a:r>
              <a:rPr lang="en-US" sz="1500" b="1" dirty="0">
                <a:solidFill>
                  <a:srgbClr val="1A3563"/>
                </a:solidFill>
                <a:latin typeface="Cambria" pitchFamily="34" charset="0"/>
                <a:ea typeface="Cambria" pitchFamily="34" charset="-122"/>
                <a:cs typeface="Cambria" pitchFamily="34" charset="-120"/>
              </a:rPr>
              <a:t>Hard guard H</a:t>
            </a:r>
            <a:endParaRPr lang="en-US" sz="1500" dirty="0"/>
          </a:p>
        </p:txBody>
      </p:sp>
      <p:sp>
        <p:nvSpPr>
          <p:cNvPr id="11" name="Text 9"/>
          <p:cNvSpPr/>
          <p:nvPr/>
        </p:nvSpPr>
        <p:spPr>
          <a:xfrm>
            <a:off x="4624730" y="1700784"/>
            <a:ext cx="2942234" cy="2468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Entry types and required fields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Categorical sets, numeric intervals, patterns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Isolation keys and allowed effects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Manifest pins — prompt, policy, tools, guardrail, model, SDK, tracer, entry contract, effect catalog</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Evaluated before emission, so this check is exact on both integration paths</a:t>
            </a:r>
            <a:endParaRPr lang="en-US" sz="1050" dirty="0"/>
          </a:p>
        </p:txBody>
      </p:sp>
      <p:sp>
        <p:nvSpPr>
          <p:cNvPr id="12" name="Shape 10"/>
          <p:cNvSpPr/>
          <p:nvPr/>
        </p:nvSpPr>
        <p:spPr>
          <a:xfrm>
            <a:off x="8097317" y="1188720"/>
            <a:ext cx="3454298" cy="3108960"/>
          </a:xfrm>
          <a:prstGeom prst="roundRect">
            <a:avLst>
              <a:gd name="adj" fmla="val 1471"/>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3" name="Text 11"/>
          <p:cNvSpPr/>
          <p:nvPr/>
        </p:nvSpPr>
        <p:spPr>
          <a:xfrm>
            <a:off x="8335061" y="1316736"/>
            <a:ext cx="2978810" cy="310896"/>
          </a:xfrm>
          <a:prstGeom prst="rect">
            <a:avLst/>
          </a:prstGeom>
          <a:noFill/>
          <a:ln/>
        </p:spPr>
        <p:txBody>
          <a:bodyPr wrap="square" lIns="0" tIns="0" rIns="0" bIns="0" rtlCol="0" anchor="t"/>
          <a:lstStyle/>
          <a:p>
            <a:pPr marL="0" indent="0">
              <a:buNone/>
            </a:pPr>
            <a:r>
              <a:rPr lang="en-US" sz="1500" b="1" dirty="0">
                <a:solidFill>
                  <a:srgbClr val="56B3BE"/>
                </a:solidFill>
                <a:latin typeface="Cambria" pitchFamily="34" charset="0"/>
                <a:ea typeface="Cambria" pitchFamily="34" charset="-122"/>
                <a:cs typeface="Cambria" pitchFamily="34" charset="-120"/>
              </a:rPr>
              <a:t>Verifier V</a:t>
            </a:r>
            <a:endParaRPr lang="en-US" sz="1500" dirty="0"/>
          </a:p>
        </p:txBody>
      </p:sp>
      <p:sp>
        <p:nvSpPr>
          <p:cNvPr id="14" name="Text 12"/>
          <p:cNvSpPr/>
          <p:nvPr/>
        </p:nvSpPr>
        <p:spPr>
          <a:xfrm>
            <a:off x="8353349" y="1700784"/>
            <a:ext cx="2942234" cy="2468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Live-out presence, type, cardinality</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Empirical hulls over observed values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Provenance and effect multisets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Call counts</a:t>
            </a:r>
            <a:endParaRPr lang="en-US" sz="1050" dirty="0"/>
          </a:p>
          <a:p>
            <a:pPr marL="342900" indent="-342900">
              <a:lnSpc>
                <a:spcPct val="105000"/>
              </a:lnSpc>
              <a:spcAft>
                <a:spcPts val="500"/>
              </a:spcAft>
              <a:buSzPct val="100000"/>
              <a:buChar char="•"/>
            </a:pPr>
            <a:r>
              <a:rPr lang="en-US" sz="1050" dirty="0">
                <a:solidFill>
                  <a:srgbClr val="24354F"/>
                </a:solidFill>
                <a:latin typeface="Calibri" pitchFamily="34" charset="0"/>
                <a:ea typeface="Calibri" pitchFamily="34" charset="-122"/>
                <a:cs typeface="Calibri" pitchFamily="34" charset="-120"/>
              </a:rPr>
              <a:t>These are likely invariants, not proofs for all future inputs — which is why a separate calibrated gate is still required</a:t>
            </a:r>
            <a:endParaRPr lang="en-US" sz="1050" dirty="0"/>
          </a:p>
        </p:txBody>
      </p:sp>
      <p:sp>
        <p:nvSpPr>
          <p:cNvPr id="15" name="Shape 13"/>
          <p:cNvSpPr/>
          <p:nvPr/>
        </p:nvSpPr>
        <p:spPr>
          <a:xfrm>
            <a:off x="640080" y="4443984"/>
            <a:ext cx="10911535" cy="1133856"/>
          </a:xfrm>
          <a:prstGeom prst="roundRect">
            <a:avLst>
              <a:gd name="adj" fmla="val 4032"/>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6" name="Shape 14"/>
          <p:cNvSpPr/>
          <p:nvPr/>
        </p:nvSpPr>
        <p:spPr>
          <a:xfrm>
            <a:off x="896112" y="4626864"/>
            <a:ext cx="329184" cy="329184"/>
          </a:xfrm>
          <a:prstGeom prst="ellipse">
            <a:avLst/>
          </a:prstGeom>
          <a:solidFill>
            <a:srgbClr val="A93B2B"/>
          </a:solidFill>
          <a:ln w="6350">
            <a:solidFill>
              <a:srgbClr val="A93B2B"/>
            </a:solidFill>
            <a:prstDash val="solid"/>
          </a:ln>
        </p:spPr>
        <p:txBody>
          <a:bodyPr/>
          <a:lstStyle/>
          <a:p>
            <a:endParaRPr lang="en-US"/>
          </a:p>
        </p:txBody>
      </p:sp>
      <p:sp>
        <p:nvSpPr>
          <p:cNvPr id="17" name="Text 15"/>
          <p:cNvSpPr/>
          <p:nvPr/>
        </p:nvSpPr>
        <p:spPr>
          <a:xfrm>
            <a:off x="896112" y="462686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335024" y="4590288"/>
            <a:ext cx="9905695" cy="274320"/>
          </a:xfrm>
          <a:prstGeom prst="rect">
            <a:avLst/>
          </a:prstGeom>
          <a:noFill/>
          <a:ln/>
        </p:spPr>
        <p:txBody>
          <a:bodyPr wrap="square" lIns="0" tIns="0" rIns="0" bIns="0" rtlCol="0" anchor="ctr"/>
          <a:lstStyle/>
          <a:p>
            <a:pPr marL="0" indent="0">
              <a:buNone/>
            </a:pPr>
            <a:r>
              <a:rPr lang="en-US" sz="1300" b="1" dirty="0">
                <a:solidFill>
                  <a:srgbClr val="A93B2B"/>
                </a:solidFill>
                <a:latin typeface="Cambria" pitchFamily="34" charset="0"/>
                <a:ea typeface="Cambria" pitchFamily="34" charset="-122"/>
                <a:cs typeface="Cambria" pitchFamily="34" charset="-120"/>
              </a:rPr>
              <a:t>Under drift, the guards showed no measured protection</a:t>
            </a:r>
            <a:endParaRPr lang="en-US" sz="1300" dirty="0"/>
          </a:p>
        </p:txBody>
      </p:sp>
      <p:sp>
        <p:nvSpPr>
          <p:cNvPr id="19" name="Text 17"/>
          <p:cNvSpPr/>
          <p:nvPr/>
        </p:nvSpPr>
        <p:spPr>
          <a:xfrm>
            <a:off x="1335024" y="4901184"/>
            <a:ext cx="9905695" cy="603504"/>
          </a:xfrm>
          <a:prstGeom prst="rect">
            <a:avLst/>
          </a:prstGeom>
          <a:noFill/>
          <a:ln/>
        </p:spPr>
        <p:txBody>
          <a:bodyPr wrap="square" lIns="0" tIns="0" rIns="0" bIns="0" rtlCol="0" anchor="t"/>
          <a:lstStyle/>
          <a:p>
            <a:pPr marL="0" indent="0">
              <a:lnSpc>
                <a:spcPct val="106000"/>
              </a:lnSpc>
              <a:buNone/>
            </a:pPr>
            <a:r>
              <a:rPr lang="en-US" sz="1100" dirty="0">
                <a:solidFill>
                  <a:srgbClr val="5C4034"/>
                </a:solidFill>
                <a:latin typeface="Calibri" pitchFamily="34" charset="0"/>
                <a:ea typeface="Calibri" pitchFamily="34" charset="-122"/>
                <a:cs typeface="Calibri" pitchFamily="34" charset="-120"/>
              </a:rPr>
              <a:t>Two provider-free perturbation studies are null by construction: the simulated tools stay total, and on the GitHub records the oracle is the derived call argument. In the live continuation-graded study an emptied list lies inside the learned hull, both arms answered wrongly on 39 of 60 records, and no held-out record shows a guard preventing a wrong compiled answer.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STAGE 6  ·  ALGORITHM 1</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Exact selective admission over a pre-frozen threshold grid</a:t>
            </a:r>
            <a:endParaRPr lang="en-US" sz="2600" dirty="0"/>
          </a:p>
        </p:txBody>
      </p:sp>
      <p:pic>
        <p:nvPicPr>
          <p:cNvPr id="6" name="Image 0" descr="/home/claude/deck/eq/lam.png"/>
          <p:cNvPicPr>
            <a:picLocks noChangeAspect="1"/>
          </p:cNvPicPr>
          <p:nvPr/>
        </p:nvPicPr>
        <p:blipFill>
          <a:blip r:embed="rId3"/>
          <a:stretch>
            <a:fillRect/>
          </a:stretch>
        </p:blipFill>
        <p:spPr>
          <a:xfrm>
            <a:off x="640080" y="1152144"/>
            <a:ext cx="5399649" cy="274320"/>
          </a:xfrm>
          <a:prstGeom prst="rect">
            <a:avLst/>
          </a:prstGeom>
        </p:spPr>
      </p:pic>
      <p:sp>
        <p:nvSpPr>
          <p:cNvPr id="7" name="Text 4"/>
          <p:cNvSpPr/>
          <p:nvPr/>
        </p:nvSpPr>
        <p:spPr>
          <a:xfrm>
            <a:off x="6350625" y="1152144"/>
            <a:ext cx="2011680" cy="274320"/>
          </a:xfrm>
          <a:prstGeom prst="rect">
            <a:avLst/>
          </a:prstGeom>
          <a:noFill/>
          <a:ln/>
        </p:spPr>
        <p:txBody>
          <a:bodyPr wrap="square" lIns="0" tIns="0" rIns="0" bIns="0" rtlCol="0" anchor="ctr"/>
          <a:lstStyle/>
          <a:p>
            <a:pPr marL="0" indent="0">
              <a:buNone/>
            </a:pPr>
            <a:r>
              <a:rPr lang="en-US" sz="1050" dirty="0">
                <a:solidFill>
                  <a:srgbClr val="5A6B84"/>
                </a:solidFill>
                <a:latin typeface="Calibri" pitchFamily="34" charset="0"/>
                <a:ea typeface="Calibri" pitchFamily="34" charset="-122"/>
                <a:cs typeface="Calibri" pitchFamily="34" charset="-120"/>
              </a:rPr>
              <a:t>fixed before calibration</a:t>
            </a:r>
            <a:endParaRPr lang="en-US" sz="1050" dirty="0"/>
          </a:p>
        </p:txBody>
      </p:sp>
      <p:sp>
        <p:nvSpPr>
          <p:cNvPr id="8" name="Shape 5"/>
          <p:cNvSpPr/>
          <p:nvPr/>
        </p:nvSpPr>
        <p:spPr>
          <a:xfrm>
            <a:off x="640080" y="1554480"/>
            <a:ext cx="6720840" cy="1700784"/>
          </a:xfrm>
          <a:prstGeom prst="roundRect">
            <a:avLst>
              <a:gd name="adj" fmla="val 2688"/>
            </a:avLst>
          </a:prstGeom>
          <a:solidFill>
            <a:srgbClr val="F5F9FC"/>
          </a:solidFill>
          <a:ln w="9525">
            <a:solidFill>
              <a:srgbClr val="D5E0EB"/>
            </a:solidFill>
            <a:prstDash val="solid"/>
          </a:ln>
        </p:spPr>
        <p:txBody>
          <a:bodyPr/>
          <a:lstStyle/>
          <a:p>
            <a:endParaRPr lang="en-US"/>
          </a:p>
        </p:txBody>
      </p:sp>
      <p:pic>
        <p:nvPicPr>
          <p:cNvPr id="9" name="Image 1" descr="/home/claude/deck/eq/eq8.png"/>
          <p:cNvPicPr>
            <a:picLocks noChangeAspect="1"/>
          </p:cNvPicPr>
          <p:nvPr/>
        </p:nvPicPr>
        <p:blipFill>
          <a:blip r:embed="rId4"/>
          <a:stretch>
            <a:fillRect/>
          </a:stretch>
        </p:blipFill>
        <p:spPr>
          <a:xfrm>
            <a:off x="877824" y="1700784"/>
            <a:ext cx="5445364" cy="384048"/>
          </a:xfrm>
          <a:prstGeom prst="rect">
            <a:avLst/>
          </a:prstGeom>
        </p:spPr>
      </p:pic>
      <p:sp>
        <p:nvSpPr>
          <p:cNvPr id="10" name="Text 6"/>
          <p:cNvSpPr/>
          <p:nvPr/>
        </p:nvSpPr>
        <p:spPr>
          <a:xfrm>
            <a:off x="6665976" y="1700784"/>
            <a:ext cx="493776" cy="274320"/>
          </a:xfrm>
          <a:prstGeom prst="rect">
            <a:avLst/>
          </a:prstGeom>
          <a:noFill/>
          <a:ln/>
        </p:spPr>
        <p:txBody>
          <a:bodyPr wrap="square" lIns="0" tIns="0" rIns="0" bIns="0" rtlCol="0" anchor="t"/>
          <a:lstStyle/>
          <a:p>
            <a:pPr marL="0" indent="0" algn="r">
              <a:buNone/>
            </a:pPr>
            <a:r>
              <a:rPr lang="en-US" sz="1000" dirty="0">
                <a:solidFill>
                  <a:srgbClr val="56B3BE"/>
                </a:solidFill>
                <a:latin typeface="Calibri" pitchFamily="34" charset="0"/>
                <a:ea typeface="Calibri" pitchFamily="34" charset="-122"/>
                <a:cs typeface="Calibri" pitchFamily="34" charset="-120"/>
              </a:rPr>
              <a:t>(7)</a:t>
            </a:r>
            <a:endParaRPr lang="en-US" sz="1000" dirty="0"/>
          </a:p>
        </p:txBody>
      </p:sp>
      <p:pic>
        <p:nvPicPr>
          <p:cNvPr id="11" name="Image 2" descr="/home/claude/deck/eq/eq8c.png"/>
          <p:cNvPicPr>
            <a:picLocks noChangeAspect="1"/>
          </p:cNvPicPr>
          <p:nvPr/>
        </p:nvPicPr>
        <p:blipFill>
          <a:blip r:embed="rId5"/>
          <a:stretch>
            <a:fillRect/>
          </a:stretch>
        </p:blipFill>
        <p:spPr>
          <a:xfrm>
            <a:off x="877824" y="2176272"/>
            <a:ext cx="2569272" cy="256032"/>
          </a:xfrm>
          <a:prstGeom prst="rect">
            <a:avLst/>
          </a:prstGeom>
        </p:spPr>
      </p:pic>
      <p:sp>
        <p:nvSpPr>
          <p:cNvPr id="12" name="Text 7"/>
          <p:cNvSpPr/>
          <p:nvPr/>
        </p:nvSpPr>
        <p:spPr>
          <a:xfrm>
            <a:off x="3684840" y="2176272"/>
            <a:ext cx="3420048" cy="256032"/>
          </a:xfrm>
          <a:prstGeom prst="rect">
            <a:avLst/>
          </a:prstGeom>
          <a:noFill/>
          <a:ln/>
        </p:spPr>
        <p:txBody>
          <a:bodyPr wrap="square" lIns="0" tIns="0" rIns="0" bIns="0" rtlCol="0" anchor="ctr"/>
          <a:lstStyle/>
          <a:p>
            <a:pPr marL="0" indent="0">
              <a:buNone/>
            </a:pPr>
            <a:r>
              <a:rPr lang="en-US" sz="1000" dirty="0">
                <a:solidFill>
                  <a:srgbClr val="5A6B84"/>
                </a:solidFill>
                <a:latin typeface="Calibri" pitchFamily="34" charset="0"/>
                <a:ea typeface="Calibri" pitchFamily="34" charset="-122"/>
                <a:cs typeface="Calibri" pitchFamily="34" charset="-120"/>
              </a:rPr>
              <a:t>— the closed form when no violation is observed</a:t>
            </a:r>
            <a:endParaRPr lang="en-US" sz="1000" dirty="0"/>
          </a:p>
        </p:txBody>
      </p:sp>
      <p:sp>
        <p:nvSpPr>
          <p:cNvPr id="13" name="Text 8"/>
          <p:cNvSpPr/>
          <p:nvPr/>
        </p:nvSpPr>
        <p:spPr>
          <a:xfrm>
            <a:off x="877824" y="2560320"/>
            <a:ext cx="6245352" cy="603504"/>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One-sided Clopper–Pearson bound per threshold, Bonferroni-corrected over the grid. The score q is a logistic model over entry-observable features — missing fields, hull margin, temporal drift, provenance ambiguity — fitted on development groups only to predict an unproductive group, then frozen. The bound counts only dispatched groups that turned out wrong.</a:t>
            </a:r>
            <a:endParaRPr lang="en-US" sz="1000" dirty="0"/>
          </a:p>
        </p:txBody>
      </p:sp>
      <p:sp>
        <p:nvSpPr>
          <p:cNvPr id="14" name="Shape 9"/>
          <p:cNvSpPr/>
          <p:nvPr/>
        </p:nvSpPr>
        <p:spPr>
          <a:xfrm>
            <a:off x="640080" y="3346704"/>
            <a:ext cx="6720840" cy="1371600"/>
          </a:xfrm>
          <a:prstGeom prst="roundRect">
            <a:avLst>
              <a:gd name="adj" fmla="val 3333"/>
            </a:avLst>
          </a:prstGeom>
          <a:solidFill>
            <a:srgbClr val="EAF1F7"/>
          </a:solidFill>
          <a:ln w="9525">
            <a:solidFill>
              <a:srgbClr val="D5E0EB"/>
            </a:solidFill>
            <a:prstDash val="solid"/>
          </a:ln>
        </p:spPr>
        <p:txBody>
          <a:bodyPr/>
          <a:lstStyle/>
          <a:p>
            <a:endParaRPr lang="en-US"/>
          </a:p>
        </p:txBody>
      </p:sp>
      <p:sp>
        <p:nvSpPr>
          <p:cNvPr id="15" name="Text 10"/>
          <p:cNvSpPr/>
          <p:nvPr/>
        </p:nvSpPr>
        <p:spPr>
          <a:xfrm>
            <a:off x="877824" y="3456432"/>
            <a:ext cx="6245352" cy="201168"/>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PROPOSITION 1 — PER-CANDIDATE SELECTIVE-RISK ADMISSION</a:t>
            </a:r>
            <a:endParaRPr lang="en-US" sz="950" dirty="0"/>
          </a:p>
        </p:txBody>
      </p:sp>
      <p:sp>
        <p:nvSpPr>
          <p:cNvPr id="16" name="Text 11"/>
          <p:cNvSpPr/>
          <p:nvPr/>
        </p:nvSpPr>
        <p:spPr>
          <a:xfrm>
            <a:off x="877824" y="3694176"/>
            <a:ext cx="6245352" cy="932688"/>
          </a:xfrm>
          <a:prstGeom prst="rect">
            <a:avLst/>
          </a:prstGeom>
          <a:noFill/>
          <a:ln/>
        </p:spPr>
        <p:txBody>
          <a:bodyPr wrap="square" lIns="0" tIns="0" rIns="0" bIns="0" rtlCol="0" anchor="t"/>
          <a:lstStyle/>
          <a:p>
            <a:pPr marL="0" indent="0">
              <a:lnSpc>
                <a:spcPct val="107000"/>
              </a:lnSpc>
              <a:buNone/>
            </a:pPr>
            <a:r>
              <a:rPr lang="en-US" sz="1050" i="1" dirty="0">
                <a:solidFill>
                  <a:srgbClr val="24354F"/>
                </a:solidFill>
                <a:latin typeface="Calibri" pitchFamily="34" charset="0"/>
                <a:ea typeface="Calibri" pitchFamily="34" charset="-122"/>
                <a:cs typeface="Calibri" pitchFamily="34" charset="-120"/>
              </a:rPr>
              <a:t>Fix one candidate (P, H, V, q), the group-level violation rule, and the finite grid Λ before calibration. If calibration groups are i.i.d. from the future-group distribution, then with probability at least 1 − δ every threshold satisfies r(η) ≤ U(η), so a selected threshold with U(η) ≤ α has selective risk at most α. A run is compiler-wide when one candidate reaches calibration.</a:t>
            </a:r>
            <a:endParaRPr lang="en-US" sz="1050" dirty="0"/>
          </a:p>
        </p:txBody>
      </p:sp>
      <p:sp>
        <p:nvSpPr>
          <p:cNvPr id="17" name="Shape 12"/>
          <p:cNvSpPr/>
          <p:nvPr/>
        </p:nvSpPr>
        <p:spPr>
          <a:xfrm>
            <a:off x="7726680" y="1152144"/>
            <a:ext cx="3824935" cy="2103120"/>
          </a:xfrm>
          <a:prstGeom prst="roundRect">
            <a:avLst>
              <a:gd name="adj" fmla="val 2174"/>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18" name="Text 13"/>
          <p:cNvSpPr/>
          <p:nvPr/>
        </p:nvSpPr>
        <p:spPr>
          <a:xfrm>
            <a:off x="7964424" y="1280160"/>
            <a:ext cx="3349447" cy="201168"/>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SAMPLE REQUIREMENT</a:t>
            </a:r>
            <a:endParaRPr lang="en-US" sz="950" dirty="0"/>
          </a:p>
        </p:txBody>
      </p:sp>
      <p:pic>
        <p:nvPicPr>
          <p:cNvPr id="19" name="Image 3" descr="/home/claude/deck/eq/nreq.png"/>
          <p:cNvPicPr>
            <a:picLocks noChangeAspect="1"/>
          </p:cNvPicPr>
          <p:nvPr/>
        </p:nvPicPr>
        <p:blipFill>
          <a:blip r:embed="rId6"/>
          <a:stretch>
            <a:fillRect/>
          </a:stretch>
        </p:blipFill>
        <p:spPr>
          <a:xfrm>
            <a:off x="7964424" y="1555668"/>
            <a:ext cx="1371600" cy="509688"/>
          </a:xfrm>
          <a:prstGeom prst="rect">
            <a:avLst/>
          </a:prstGeom>
        </p:spPr>
      </p:pic>
      <p:sp>
        <p:nvSpPr>
          <p:cNvPr id="20" name="Text 14"/>
          <p:cNvSpPr/>
          <p:nvPr/>
        </p:nvSpPr>
        <p:spPr>
          <a:xfrm>
            <a:off x="9646920" y="1554480"/>
            <a:ext cx="868680" cy="512064"/>
          </a:xfrm>
          <a:prstGeom prst="rect">
            <a:avLst/>
          </a:prstGeom>
          <a:noFill/>
          <a:ln/>
        </p:spPr>
        <p:txBody>
          <a:bodyPr wrap="square" lIns="0" tIns="0" rIns="0" bIns="0" rtlCol="0" anchor="ctr"/>
          <a:lstStyle/>
          <a:p>
            <a:pPr marL="0" indent="0">
              <a:buNone/>
            </a:pPr>
            <a:r>
              <a:rPr lang="en-US" sz="3000" b="1" dirty="0">
                <a:solidFill>
                  <a:srgbClr val="1F8A99"/>
                </a:solidFill>
                <a:latin typeface="Cambria" pitchFamily="34" charset="0"/>
                <a:ea typeface="Cambria" pitchFamily="34" charset="-122"/>
                <a:cs typeface="Cambria" pitchFamily="34" charset="-120"/>
              </a:rPr>
              <a:t>92</a:t>
            </a:r>
            <a:endParaRPr lang="en-US" sz="3000" dirty="0"/>
          </a:p>
        </p:txBody>
      </p:sp>
      <p:sp>
        <p:nvSpPr>
          <p:cNvPr id="21" name="Text 15"/>
          <p:cNvSpPr/>
          <p:nvPr/>
        </p:nvSpPr>
        <p:spPr>
          <a:xfrm>
            <a:off x="10305288" y="1554480"/>
            <a:ext cx="990295" cy="512064"/>
          </a:xfrm>
          <a:prstGeom prst="rect">
            <a:avLst/>
          </a:prstGeom>
          <a:noFill/>
          <a:ln/>
        </p:spPr>
        <p:txBody>
          <a:bodyPr wrap="square" lIns="0" tIns="0" rIns="0" bIns="0" rtlCol="0" anchor="ctr"/>
          <a:lstStyle/>
          <a:p>
            <a:pPr marL="0" indent="0">
              <a:lnSpc>
                <a:spcPct val="100000"/>
              </a:lnSpc>
              <a:buNone/>
            </a:pPr>
            <a:r>
              <a:rPr lang="en-US" sz="950" dirty="0">
                <a:solidFill>
                  <a:srgbClr val="24354F"/>
                </a:solidFill>
                <a:latin typeface="Calibri" pitchFamily="34" charset="0"/>
                <a:ea typeface="Calibri" pitchFamily="34" charset="-122"/>
                <a:cs typeface="Calibri" pitchFamily="34" charset="-120"/>
              </a:rPr>
              <a:t>independent</a:t>
            </a:r>
            <a:endParaRPr lang="en-US" sz="950" dirty="0"/>
          </a:p>
          <a:p>
            <a:pPr marL="0" indent="0">
              <a:lnSpc>
                <a:spcPct val="100000"/>
              </a:lnSpc>
              <a:buNone/>
            </a:pPr>
            <a:r>
              <a:rPr lang="en-US" sz="950" dirty="0">
                <a:solidFill>
                  <a:srgbClr val="24354F"/>
                </a:solidFill>
                <a:latin typeface="Calibri" pitchFamily="34" charset="0"/>
                <a:ea typeface="Calibri" pitchFamily="34" charset="-122"/>
                <a:cs typeface="Calibri" pitchFamily="34" charset="-120"/>
              </a:rPr>
              <a:t>zero-violation</a:t>
            </a:r>
            <a:endParaRPr lang="en-US" sz="950" dirty="0"/>
          </a:p>
          <a:p>
            <a:pPr marL="0" indent="0">
              <a:lnSpc>
                <a:spcPct val="100000"/>
              </a:lnSpc>
              <a:buNone/>
            </a:pPr>
            <a:r>
              <a:rPr lang="en-US" sz="950" dirty="0">
                <a:solidFill>
                  <a:srgbClr val="24354F"/>
                </a:solidFill>
                <a:latin typeface="Calibri" pitchFamily="34" charset="0"/>
                <a:ea typeface="Calibri" pitchFamily="34" charset="-122"/>
                <a:cs typeface="Calibri" pitchFamily="34" charset="-120"/>
              </a:rPr>
              <a:t>group records</a:t>
            </a:r>
            <a:endParaRPr lang="en-US" sz="950" dirty="0"/>
          </a:p>
        </p:txBody>
      </p:sp>
      <p:sp>
        <p:nvSpPr>
          <p:cNvPr id="22" name="Text 16"/>
          <p:cNvSpPr/>
          <p:nvPr/>
        </p:nvSpPr>
        <p:spPr>
          <a:xfrm>
            <a:off x="7964424" y="2212848"/>
            <a:ext cx="3349447" cy="914400"/>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at α = .05,  δ = .10,  |Λ| = 11. On a 92-group pool only full coverage is certifiable: abstaining on one group leaves U = 0.0503 &gt; α. At δ = .05 the floor rises to 106.</a:t>
            </a:r>
            <a:endParaRPr lang="en-US" sz="1000" dirty="0"/>
          </a:p>
        </p:txBody>
      </p:sp>
      <p:sp>
        <p:nvSpPr>
          <p:cNvPr id="23" name="Shape 17"/>
          <p:cNvSpPr/>
          <p:nvPr/>
        </p:nvSpPr>
        <p:spPr>
          <a:xfrm>
            <a:off x="7726680" y="3346704"/>
            <a:ext cx="3824935" cy="1371600"/>
          </a:xfrm>
          <a:prstGeom prst="roundRect">
            <a:avLst>
              <a:gd name="adj" fmla="val 3333"/>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4" name="Text 18"/>
          <p:cNvSpPr/>
          <p:nvPr/>
        </p:nvSpPr>
        <p:spPr>
          <a:xfrm>
            <a:off x="7964424" y="3456432"/>
            <a:ext cx="3349447" cy="201168"/>
          </a:xfrm>
          <a:prstGeom prst="rect">
            <a:avLst/>
          </a:prstGeom>
          <a:noFill/>
          <a:ln/>
        </p:spPr>
        <p:txBody>
          <a:bodyPr wrap="square" lIns="0" tIns="0" rIns="0" bIns="0" rtlCol="0" anchor="t"/>
          <a:lstStyle/>
          <a:p>
            <a:pPr marL="0" indent="0">
              <a:buNone/>
            </a:pPr>
            <a:r>
              <a:rPr lang="en-US" sz="950" b="1" kern="0" spc="110" dirty="0">
                <a:solidFill>
                  <a:srgbClr val="A93B2B"/>
                </a:solidFill>
                <a:latin typeface="Calibri" pitchFamily="34" charset="0"/>
                <a:ea typeface="Calibri" pitchFamily="34" charset="-122"/>
                <a:cs typeface="Calibri" pitchFamily="34" charset="-120"/>
              </a:rPr>
              <a:t>WHAT α BOUNDS — AND WHAT IT DOES NOT</a:t>
            </a:r>
            <a:endParaRPr lang="en-US" sz="950" dirty="0"/>
          </a:p>
        </p:txBody>
      </p:sp>
      <p:sp>
        <p:nvSpPr>
          <p:cNvPr id="25" name="Text 19"/>
          <p:cNvSpPr/>
          <p:nvPr/>
        </p:nvSpPr>
        <p:spPr>
          <a:xfrm>
            <a:off x="7964424" y="3694176"/>
            <a:ext cx="3349447" cy="932688"/>
          </a:xfrm>
          <a:prstGeom prst="rect">
            <a:avLst/>
          </a:prstGeom>
          <a:noFill/>
          <a:ln/>
        </p:spPr>
        <p:txBody>
          <a:bodyPr wrap="square" lIns="0" tIns="0" rIns="0" bIns="0" rtlCol="0" anchor="t"/>
          <a:lstStyle/>
          <a:p>
            <a:pPr marL="0" indent="0">
              <a:lnSpc>
                <a:spcPct val="104000"/>
              </a:lnSpc>
              <a:buNone/>
            </a:pPr>
            <a:r>
              <a:rPr lang="en-US" sz="1000" dirty="0">
                <a:solidFill>
                  <a:srgbClr val="5C4034"/>
                </a:solidFill>
                <a:latin typeface="Calibri" pitchFamily="34" charset="0"/>
                <a:ea typeface="Calibri" pitchFamily="34" charset="-122"/>
                <a:cs typeface="Calibri" pitchFamily="34" charset="-120"/>
              </a:rPr>
              <a:t>A violation is a break of the compiled region's registered replay contract. On the GitHub cohorts that event has no support, because arguments are invariant and reads replay a pinned snapshot, so the bound confirms that enough groups were seen, not that risk was ranked.</a:t>
            </a:r>
            <a:endParaRPr lang="en-US" sz="1000" dirty="0"/>
          </a:p>
        </p:txBody>
      </p:sp>
      <p:sp>
        <p:nvSpPr>
          <p:cNvPr id="26" name="Text 20"/>
          <p:cNvSpPr/>
          <p:nvPr/>
        </p:nvSpPr>
        <p:spPr>
          <a:xfrm>
            <a:off x="640080" y="4846320"/>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WHAT THE CERTIFICATES COVER — AND WHAT THEY DO NOT</a:t>
            </a:r>
            <a:endParaRPr lang="en-US" sz="1050" dirty="0"/>
          </a:p>
        </p:txBody>
      </p:sp>
      <p:sp>
        <p:nvSpPr>
          <p:cNvPr id="27" name="Shape 21"/>
          <p:cNvSpPr/>
          <p:nvPr/>
        </p:nvSpPr>
        <p:spPr>
          <a:xfrm>
            <a:off x="640080" y="5120640"/>
            <a:ext cx="3466490" cy="768096"/>
          </a:xfrm>
          <a:prstGeom prst="roundRect">
            <a:avLst>
              <a:gd name="adj" fmla="val 595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8" name="Text 22"/>
          <p:cNvSpPr/>
          <p:nvPr/>
        </p:nvSpPr>
        <p:spPr>
          <a:xfrm>
            <a:off x="859536" y="5212080"/>
            <a:ext cx="3027578" cy="256032"/>
          </a:xfrm>
          <a:prstGeom prst="rect">
            <a:avLst/>
          </a:prstGeom>
          <a:noFill/>
          <a:ln/>
        </p:spPr>
        <p:txBody>
          <a:bodyPr wrap="square" lIns="0" tIns="0" rIns="0" bIns="0" rtlCol="0" anchor="t"/>
          <a:lstStyle/>
          <a:p>
            <a:pPr marL="0" indent="0">
              <a:buNone/>
            </a:pPr>
            <a:r>
              <a:rPr lang="en-US" sz="1150" b="1" dirty="0">
                <a:solidFill>
                  <a:srgbClr val="0E1E3A"/>
                </a:solidFill>
                <a:latin typeface="Cambria" pitchFamily="34" charset="0"/>
                <a:ea typeface="Cambria" pitchFamily="34" charset="-122"/>
                <a:cs typeface="Cambria" pitchFamily="34" charset="-120"/>
              </a:rPr>
              <a:t>Support sufficiency</a:t>
            </a:r>
            <a:endParaRPr lang="en-US" sz="1150" dirty="0"/>
          </a:p>
        </p:txBody>
      </p:sp>
      <p:sp>
        <p:nvSpPr>
          <p:cNvPr id="29" name="Text 23"/>
          <p:cNvSpPr/>
          <p:nvPr/>
        </p:nvSpPr>
        <p:spPr>
          <a:xfrm>
            <a:off x="859536" y="5468112"/>
            <a:ext cx="3027578" cy="347472"/>
          </a:xfrm>
          <a:prstGeom prst="rect">
            <a:avLst/>
          </a:prstGeom>
          <a:noFill/>
          <a:ln/>
        </p:spPr>
        <p:txBody>
          <a:bodyPr wrap="square" lIns="0" tIns="0" rIns="0" bIns="0" rtlCol="0" anchor="t"/>
          <a:lstStyle/>
          <a:p>
            <a:pPr marL="0" indent="0">
              <a:lnSpc>
                <a:spcPct val="102000"/>
              </a:lnSpc>
              <a:buNone/>
            </a:pPr>
            <a:r>
              <a:rPr lang="en-US" sz="1000" dirty="0">
                <a:solidFill>
                  <a:srgbClr val="5A6B84"/>
                </a:solidFill>
                <a:latin typeface="Calibri" pitchFamily="34" charset="0"/>
                <a:ea typeface="Calibri" pitchFamily="34" charset="-122"/>
                <a:cs typeface="Calibri" pitchFamily="34" charset="-120"/>
              </a:rPr>
              <a:t>92/92 zero-violation groups at full coverage</a:t>
            </a:r>
            <a:endParaRPr lang="en-US" sz="1000" dirty="0"/>
          </a:p>
        </p:txBody>
      </p:sp>
      <p:sp>
        <p:nvSpPr>
          <p:cNvPr id="30" name="Shape 24"/>
          <p:cNvSpPr/>
          <p:nvPr/>
        </p:nvSpPr>
        <p:spPr>
          <a:xfrm>
            <a:off x="4362602" y="5120640"/>
            <a:ext cx="3466490" cy="768096"/>
          </a:xfrm>
          <a:prstGeom prst="roundRect">
            <a:avLst>
              <a:gd name="adj" fmla="val 595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1" name="Text 25"/>
          <p:cNvSpPr/>
          <p:nvPr/>
        </p:nvSpPr>
        <p:spPr>
          <a:xfrm>
            <a:off x="4582058" y="5212080"/>
            <a:ext cx="3027578" cy="256032"/>
          </a:xfrm>
          <a:prstGeom prst="rect">
            <a:avLst/>
          </a:prstGeom>
          <a:noFill/>
          <a:ln/>
        </p:spPr>
        <p:txBody>
          <a:bodyPr wrap="square" lIns="0" tIns="0" rIns="0" bIns="0" rtlCol="0" anchor="t"/>
          <a:lstStyle/>
          <a:p>
            <a:pPr marL="0" indent="0">
              <a:buNone/>
            </a:pPr>
            <a:r>
              <a:rPr lang="en-US" sz="1150" b="1" dirty="0">
                <a:solidFill>
                  <a:srgbClr val="0E1E3A"/>
                </a:solidFill>
                <a:latin typeface="Cambria" pitchFamily="34" charset="0"/>
                <a:ea typeface="Cambria" pitchFamily="34" charset="-122"/>
                <a:cs typeface="Cambria" pitchFamily="34" charset="-120"/>
              </a:rPr>
              <a:t>End-to-end event</a:t>
            </a:r>
            <a:endParaRPr lang="en-US" sz="1150" dirty="0"/>
          </a:p>
        </p:txBody>
      </p:sp>
      <p:sp>
        <p:nvSpPr>
          <p:cNvPr id="32" name="Text 26"/>
          <p:cNvSpPr/>
          <p:nvPr/>
        </p:nvSpPr>
        <p:spPr>
          <a:xfrm>
            <a:off x="4582058" y="5468112"/>
            <a:ext cx="3027578" cy="347472"/>
          </a:xfrm>
          <a:prstGeom prst="rect">
            <a:avLst/>
          </a:prstGeom>
          <a:noFill/>
          <a:ln/>
        </p:spPr>
        <p:txBody>
          <a:bodyPr wrap="square" lIns="0" tIns="0" rIns="0" bIns="0" rtlCol="0" anchor="t"/>
          <a:lstStyle/>
          <a:p>
            <a:pPr marL="0" indent="0">
              <a:lnSpc>
                <a:spcPct val="102000"/>
              </a:lnSpc>
              <a:buNone/>
            </a:pPr>
            <a:r>
              <a:rPr lang="en-US" sz="1000" dirty="0">
                <a:solidFill>
                  <a:srgbClr val="5A6B84"/>
                </a:solidFill>
                <a:latin typeface="Calibri" pitchFamily="34" charset="0"/>
                <a:ea typeface="Calibri" pitchFamily="34" charset="-122"/>
                <a:cs typeface="Calibri" pitchFamily="34" charset="-120"/>
              </a:rPr>
              <a:t>one post-cutoff cohort: 0/132, bound 0.0173</a:t>
            </a:r>
            <a:endParaRPr lang="en-US" sz="1000" dirty="0"/>
          </a:p>
        </p:txBody>
      </p:sp>
      <p:sp>
        <p:nvSpPr>
          <p:cNvPr id="33" name="Shape 27"/>
          <p:cNvSpPr/>
          <p:nvPr/>
        </p:nvSpPr>
        <p:spPr>
          <a:xfrm>
            <a:off x="8085125" y="5120640"/>
            <a:ext cx="3466490" cy="768096"/>
          </a:xfrm>
          <a:prstGeom prst="roundRect">
            <a:avLst>
              <a:gd name="adj" fmla="val 595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4" name="Text 28"/>
          <p:cNvSpPr/>
          <p:nvPr/>
        </p:nvSpPr>
        <p:spPr>
          <a:xfrm>
            <a:off x="8304581" y="5212080"/>
            <a:ext cx="3027578" cy="256032"/>
          </a:xfrm>
          <a:prstGeom prst="rect">
            <a:avLst/>
          </a:prstGeom>
          <a:noFill/>
          <a:ln/>
        </p:spPr>
        <p:txBody>
          <a:bodyPr wrap="square" lIns="0" tIns="0" rIns="0" bIns="0" rtlCol="0" anchor="t"/>
          <a:lstStyle/>
          <a:p>
            <a:pPr marL="0" indent="0">
              <a:buNone/>
            </a:pPr>
            <a:r>
              <a:rPr lang="en-US" sz="1150" b="1" dirty="0">
                <a:solidFill>
                  <a:srgbClr val="0E1E3A"/>
                </a:solidFill>
                <a:latin typeface="Cambria" pitchFamily="34" charset="0"/>
                <a:ea typeface="Cambria" pitchFamily="34" charset="-122"/>
                <a:cs typeface="Cambria" pitchFamily="34" charset="-120"/>
              </a:rPr>
              <a:t>Graded risk ranking</a:t>
            </a:r>
            <a:endParaRPr lang="en-US" sz="1150" dirty="0"/>
          </a:p>
        </p:txBody>
      </p:sp>
      <p:sp>
        <p:nvSpPr>
          <p:cNvPr id="35" name="Text 29"/>
          <p:cNvSpPr/>
          <p:nvPr/>
        </p:nvSpPr>
        <p:spPr>
          <a:xfrm>
            <a:off x="8304581" y="5468112"/>
            <a:ext cx="3027578" cy="347472"/>
          </a:xfrm>
          <a:prstGeom prst="rect">
            <a:avLst/>
          </a:prstGeom>
          <a:noFill/>
          <a:ln/>
        </p:spPr>
        <p:txBody>
          <a:bodyPr wrap="square" lIns="0" tIns="0" rIns="0" bIns="0" rtlCol="0" anchor="t"/>
          <a:lstStyle/>
          <a:p>
            <a:pPr marL="0" indent="0">
              <a:lnSpc>
                <a:spcPct val="102000"/>
              </a:lnSpc>
              <a:buNone/>
            </a:pPr>
            <a:r>
              <a:rPr lang="en-US" sz="1000" dirty="0">
                <a:solidFill>
                  <a:srgbClr val="5A6B84"/>
                </a:solidFill>
                <a:latin typeface="Calibri" pitchFamily="34" charset="0"/>
                <a:ea typeface="Calibri" pitchFamily="34" charset="-122"/>
                <a:cs typeface="Calibri" pitchFamily="34" charset="-120"/>
              </a:rPr>
              <a:t>not certified: an amended 184-group gate retired</a:t>
            </a:r>
            <a:endParaRPr lang="en-US" sz="1000" dirty="0"/>
          </a:p>
        </p:txBody>
      </p:sp>
      <p:sp>
        <p:nvSpPr>
          <p:cNvPr id="36" name="Text 30"/>
          <p:cNvSpPr/>
          <p:nvPr/>
        </p:nvSpPr>
        <p:spPr>
          <a:xfrm>
            <a:off x="640080" y="5980176"/>
            <a:ext cx="10911535" cy="365760"/>
          </a:xfrm>
          <a:prstGeom prst="rect">
            <a:avLst/>
          </a:prstGeom>
          <a:noFill/>
          <a:ln/>
        </p:spPr>
        <p:txBody>
          <a:bodyPr wrap="square" lIns="0" tIns="0" rIns="0" bIns="0" rtlCol="0" anchor="t"/>
          <a:lstStyle/>
          <a:p>
            <a:pPr marL="0" indent="0">
              <a:lnSpc>
                <a:spcPct val="105000"/>
              </a:lnSpc>
              <a:buNone/>
            </a:pPr>
            <a:r>
              <a:rPr lang="en-US" sz="900" i="1" dirty="0">
                <a:solidFill>
                  <a:srgbClr val="5A6B84"/>
                </a:solidFill>
                <a:latin typeface="Calibri" pitchFamily="34" charset="0"/>
                <a:ea typeface="Calibri" pitchFamily="34" charset="-122"/>
                <a:cs typeface="Calibri" pitchFamily="34" charset="-120"/>
              </a:rPr>
              <a:t>Every bound assumes i.i.d. groups. Counting a creation day or an author as one unit retires every primary family under the registered grid.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METHOD  ·  ALGORITHM 4</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Boundary-time dispatch: cheap checks reject first, one edge compacts</a:t>
            </a:r>
            <a:endParaRPr lang="en-US" sz="2600" dirty="0"/>
          </a:p>
        </p:txBody>
      </p:sp>
      <p:sp>
        <p:nvSpPr>
          <p:cNvPr id="6" name="Text 4"/>
          <p:cNvSpPr/>
          <p:nvPr/>
        </p:nvSpPr>
        <p:spPr>
          <a:xfrm>
            <a:off x="640080" y="1188720"/>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SIX CHECKS IN ORDER — THE CALIBRATED GATE RUNS ONLY ON WHAT SURVIVES THEM</a:t>
            </a:r>
            <a:endParaRPr lang="en-US" sz="1050" dirty="0"/>
          </a:p>
        </p:txBody>
      </p:sp>
      <p:sp>
        <p:nvSpPr>
          <p:cNvPr id="7" name="Shape 5"/>
          <p:cNvSpPr/>
          <p:nvPr/>
        </p:nvSpPr>
        <p:spPr>
          <a:xfrm>
            <a:off x="640080" y="1463040"/>
            <a:ext cx="1711909" cy="402336"/>
          </a:xfrm>
          <a:prstGeom prst="roundRect">
            <a:avLst>
              <a:gd name="adj" fmla="val 113636"/>
            </a:avLst>
          </a:prstGeom>
          <a:solidFill>
            <a:srgbClr val="1A3563"/>
          </a:solidFill>
          <a:ln w="9525">
            <a:solidFill>
              <a:srgbClr val="1A3563"/>
            </a:solidFill>
            <a:prstDash val="solid"/>
          </a:ln>
        </p:spPr>
        <p:txBody>
          <a:bodyPr/>
          <a:lstStyle/>
          <a:p>
            <a:endParaRPr lang="en-US"/>
          </a:p>
        </p:txBody>
      </p:sp>
      <p:sp>
        <p:nvSpPr>
          <p:cNvPr id="8" name="Text 6"/>
          <p:cNvSpPr/>
          <p:nvPr/>
        </p:nvSpPr>
        <p:spPr>
          <a:xfrm>
            <a:off x="640080"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mode ≠ off</a:t>
            </a:r>
            <a:endParaRPr lang="en-US" sz="950" dirty="0"/>
          </a:p>
        </p:txBody>
      </p:sp>
      <p:sp>
        <p:nvSpPr>
          <p:cNvPr id="9" name="Shape 7"/>
          <p:cNvSpPr/>
          <p:nvPr/>
        </p:nvSpPr>
        <p:spPr>
          <a:xfrm>
            <a:off x="2480005" y="1463040"/>
            <a:ext cx="1711909" cy="402336"/>
          </a:xfrm>
          <a:prstGeom prst="roundRect">
            <a:avLst>
              <a:gd name="adj" fmla="val 113636"/>
            </a:avLst>
          </a:prstGeom>
          <a:solidFill>
            <a:srgbClr val="1A3563"/>
          </a:solidFill>
          <a:ln w="9525">
            <a:solidFill>
              <a:srgbClr val="1A3563"/>
            </a:solidFill>
            <a:prstDash val="solid"/>
          </a:ln>
        </p:spPr>
        <p:txBody>
          <a:bodyPr/>
          <a:lstStyle/>
          <a:p>
            <a:endParaRPr lang="en-US"/>
          </a:p>
        </p:txBody>
      </p:sp>
      <p:sp>
        <p:nvSpPr>
          <p:cNvPr id="10" name="Text 8"/>
          <p:cNvSpPr/>
          <p:nvPr/>
        </p:nvSpPr>
        <p:spPr>
          <a:xfrm>
            <a:off x="2480005"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resolve + signature</a:t>
            </a:r>
            <a:endParaRPr lang="en-US" sz="950" dirty="0"/>
          </a:p>
        </p:txBody>
      </p:sp>
      <p:sp>
        <p:nvSpPr>
          <p:cNvPr id="11" name="Shape 9"/>
          <p:cNvSpPr/>
          <p:nvPr/>
        </p:nvSpPr>
        <p:spPr>
          <a:xfrm>
            <a:off x="4319930" y="1463040"/>
            <a:ext cx="1711909" cy="402336"/>
          </a:xfrm>
          <a:prstGeom prst="roundRect">
            <a:avLst>
              <a:gd name="adj" fmla="val 113636"/>
            </a:avLst>
          </a:prstGeom>
          <a:solidFill>
            <a:srgbClr val="1A3563"/>
          </a:solidFill>
          <a:ln w="9525">
            <a:solidFill>
              <a:srgbClr val="1A3563"/>
            </a:solidFill>
            <a:prstDash val="solid"/>
          </a:ln>
        </p:spPr>
        <p:txBody>
          <a:bodyPr/>
          <a:lstStyle/>
          <a:p>
            <a:endParaRPr lang="en-US"/>
          </a:p>
        </p:txBody>
      </p:sp>
      <p:sp>
        <p:nvSpPr>
          <p:cNvPr id="12" name="Text 10"/>
          <p:cNvSpPr/>
          <p:nvPr/>
        </p:nvSpPr>
        <p:spPr>
          <a:xfrm>
            <a:off x="4319930"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hard guard H</a:t>
            </a:r>
            <a:endParaRPr lang="en-US" sz="950" dirty="0"/>
          </a:p>
        </p:txBody>
      </p:sp>
      <p:sp>
        <p:nvSpPr>
          <p:cNvPr id="13" name="Shape 11"/>
          <p:cNvSpPr/>
          <p:nvPr/>
        </p:nvSpPr>
        <p:spPr>
          <a:xfrm>
            <a:off x="6159856" y="1463040"/>
            <a:ext cx="1711909" cy="402336"/>
          </a:xfrm>
          <a:prstGeom prst="roundRect">
            <a:avLst>
              <a:gd name="adj" fmla="val 113636"/>
            </a:avLst>
          </a:prstGeom>
          <a:solidFill>
            <a:srgbClr val="1A3563"/>
          </a:solidFill>
          <a:ln w="9525">
            <a:solidFill>
              <a:srgbClr val="1A3563"/>
            </a:solidFill>
            <a:prstDash val="solid"/>
          </a:ln>
        </p:spPr>
        <p:txBody>
          <a:bodyPr/>
          <a:lstStyle/>
          <a:p>
            <a:endParaRPr lang="en-US"/>
          </a:p>
        </p:txBody>
      </p:sp>
      <p:sp>
        <p:nvSpPr>
          <p:cNvPr id="14" name="Text 12"/>
          <p:cNvSpPr/>
          <p:nvPr/>
        </p:nvSpPr>
        <p:spPr>
          <a:xfrm>
            <a:off x="6159856"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already-observed tools</a:t>
            </a:r>
            <a:endParaRPr lang="en-US" sz="950" dirty="0"/>
          </a:p>
        </p:txBody>
      </p:sp>
      <p:sp>
        <p:nvSpPr>
          <p:cNvPr id="15" name="Shape 13"/>
          <p:cNvSpPr/>
          <p:nvPr/>
        </p:nvSpPr>
        <p:spPr>
          <a:xfrm>
            <a:off x="7999781" y="1463040"/>
            <a:ext cx="1711909" cy="402336"/>
          </a:xfrm>
          <a:prstGeom prst="roundRect">
            <a:avLst>
              <a:gd name="adj" fmla="val 113636"/>
            </a:avLst>
          </a:prstGeom>
          <a:solidFill>
            <a:srgbClr val="1A3563"/>
          </a:solidFill>
          <a:ln w="9525">
            <a:solidFill>
              <a:srgbClr val="1A3563"/>
            </a:solidFill>
            <a:prstDash val="solid"/>
          </a:ln>
        </p:spPr>
        <p:txBody>
          <a:bodyPr/>
          <a:lstStyle/>
          <a:p>
            <a:endParaRPr lang="en-US"/>
          </a:p>
        </p:txBody>
      </p:sp>
      <p:sp>
        <p:nvSpPr>
          <p:cNvPr id="16" name="Text 14"/>
          <p:cNvSpPr/>
          <p:nvPr/>
        </p:nvSpPr>
        <p:spPr>
          <a:xfrm>
            <a:off x="7999781"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quota / staging owner</a:t>
            </a:r>
            <a:endParaRPr lang="en-US" sz="950" dirty="0"/>
          </a:p>
        </p:txBody>
      </p:sp>
      <p:sp>
        <p:nvSpPr>
          <p:cNvPr id="17" name="Shape 15"/>
          <p:cNvSpPr/>
          <p:nvPr/>
        </p:nvSpPr>
        <p:spPr>
          <a:xfrm>
            <a:off x="9839706" y="1463040"/>
            <a:ext cx="1711909" cy="402336"/>
          </a:xfrm>
          <a:prstGeom prst="roundRect">
            <a:avLst>
              <a:gd name="adj" fmla="val 113636"/>
            </a:avLst>
          </a:prstGeom>
          <a:solidFill>
            <a:srgbClr val="1F8A99"/>
          </a:solidFill>
          <a:ln w="9525">
            <a:solidFill>
              <a:srgbClr val="1F8A99"/>
            </a:solidFill>
            <a:prstDash val="solid"/>
          </a:ln>
        </p:spPr>
        <p:txBody>
          <a:bodyPr/>
          <a:lstStyle/>
          <a:p>
            <a:endParaRPr lang="en-US"/>
          </a:p>
        </p:txBody>
      </p:sp>
      <p:sp>
        <p:nvSpPr>
          <p:cNvPr id="18" name="Text 16"/>
          <p:cNvSpPr/>
          <p:nvPr/>
        </p:nvSpPr>
        <p:spPr>
          <a:xfrm>
            <a:off x="9839706" y="1463040"/>
            <a:ext cx="1711909" cy="40233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calibrated gate q(z) ≤ η</a:t>
            </a:r>
            <a:endParaRPr lang="en-US" sz="950" dirty="0"/>
          </a:p>
        </p:txBody>
      </p:sp>
      <p:sp>
        <p:nvSpPr>
          <p:cNvPr id="19" name="Text 17"/>
          <p:cNvSpPr/>
          <p:nvPr/>
        </p:nvSpPr>
        <p:spPr>
          <a:xfrm>
            <a:off x="640080" y="2048256"/>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SEVEN TERMINAL EDGES</a:t>
            </a:r>
            <a:endParaRPr lang="en-US" sz="1050" dirty="0"/>
          </a:p>
        </p:txBody>
      </p:sp>
      <p:sp>
        <p:nvSpPr>
          <p:cNvPr id="20" name="Shape 18"/>
          <p:cNvSpPr/>
          <p:nvPr/>
        </p:nvSpPr>
        <p:spPr>
          <a:xfrm>
            <a:off x="640080" y="2322576"/>
            <a:ext cx="3454298" cy="1517904"/>
          </a:xfrm>
          <a:prstGeom prst="roundRect">
            <a:avLst>
              <a:gd name="adj" fmla="val 301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1" name="Text 19"/>
          <p:cNvSpPr/>
          <p:nvPr/>
        </p:nvSpPr>
        <p:spPr>
          <a:xfrm>
            <a:off x="877824" y="2450592"/>
            <a:ext cx="548640" cy="438912"/>
          </a:xfrm>
          <a:prstGeom prst="rect">
            <a:avLst/>
          </a:prstGeom>
          <a:noFill/>
          <a:ln/>
        </p:spPr>
        <p:txBody>
          <a:bodyPr wrap="square" lIns="0" tIns="0" rIns="0" bIns="0" rtlCol="0" anchor="ctr"/>
          <a:lstStyle/>
          <a:p>
            <a:pPr marL="0" indent="0">
              <a:buNone/>
            </a:pPr>
            <a:r>
              <a:rPr lang="en-US" sz="2600" b="1" dirty="0">
                <a:solidFill>
                  <a:srgbClr val="1F8A99"/>
                </a:solidFill>
                <a:latin typeface="Cambria" pitchFamily="34" charset="0"/>
                <a:ea typeface="Cambria" pitchFamily="34" charset="-122"/>
                <a:cs typeface="Cambria" pitchFamily="34" charset="-120"/>
              </a:rPr>
              <a:t>1</a:t>
            </a:r>
            <a:endParaRPr lang="en-US" sz="2600" dirty="0"/>
          </a:p>
        </p:txBody>
      </p:sp>
      <p:sp>
        <p:nvSpPr>
          <p:cNvPr id="22" name="Text 20"/>
          <p:cNvSpPr/>
          <p:nvPr/>
        </p:nvSpPr>
        <p:spPr>
          <a:xfrm>
            <a:off x="1463040" y="2487168"/>
            <a:ext cx="2393594" cy="365760"/>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Compacted execution</a:t>
            </a:r>
            <a:endParaRPr lang="en-US" sz="1250" dirty="0"/>
          </a:p>
        </p:txBody>
      </p:sp>
      <p:sp>
        <p:nvSpPr>
          <p:cNvPr id="23" name="Text 21"/>
          <p:cNvSpPr/>
          <p:nvPr/>
        </p:nvSpPr>
        <p:spPr>
          <a:xfrm>
            <a:off x="896112" y="2907792"/>
            <a:ext cx="2942234" cy="87782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Stage, interpret through a permission facade, verify live-outs, effect multiset and call counts, then commit.</a:t>
            </a:r>
            <a:endParaRPr lang="en-US" sz="1050" dirty="0"/>
          </a:p>
        </p:txBody>
      </p:sp>
      <p:sp>
        <p:nvSpPr>
          <p:cNvPr id="24" name="Shape 22"/>
          <p:cNvSpPr/>
          <p:nvPr/>
        </p:nvSpPr>
        <p:spPr>
          <a:xfrm>
            <a:off x="4368698" y="2322576"/>
            <a:ext cx="3454298" cy="1517904"/>
          </a:xfrm>
          <a:prstGeom prst="roundRect">
            <a:avLst>
              <a:gd name="adj" fmla="val 301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5" name="Text 23"/>
          <p:cNvSpPr/>
          <p:nvPr/>
        </p:nvSpPr>
        <p:spPr>
          <a:xfrm>
            <a:off x="4606442" y="2450592"/>
            <a:ext cx="548640" cy="438912"/>
          </a:xfrm>
          <a:prstGeom prst="rect">
            <a:avLst/>
          </a:prstGeom>
          <a:noFill/>
          <a:ln/>
        </p:spPr>
        <p:txBody>
          <a:bodyPr wrap="square" lIns="0" tIns="0" rIns="0" bIns="0" rtlCol="0" anchor="ctr"/>
          <a:lstStyle/>
          <a:p>
            <a:pPr marL="0" indent="0">
              <a:buNone/>
            </a:pPr>
            <a:r>
              <a:rPr lang="en-US" sz="2600" b="1" dirty="0">
                <a:solidFill>
                  <a:srgbClr val="1A3563"/>
                </a:solidFill>
                <a:latin typeface="Cambria" pitchFamily="34" charset="0"/>
                <a:ea typeface="Cambria" pitchFamily="34" charset="-122"/>
                <a:cs typeface="Cambria" pitchFamily="34" charset="-120"/>
              </a:rPr>
              <a:t>5</a:t>
            </a:r>
            <a:endParaRPr lang="en-US" sz="2600" dirty="0"/>
          </a:p>
        </p:txBody>
      </p:sp>
      <p:sp>
        <p:nvSpPr>
          <p:cNvPr id="26" name="Text 24"/>
          <p:cNvSpPr/>
          <p:nvPr/>
        </p:nvSpPr>
        <p:spPr>
          <a:xfrm>
            <a:off x="5191658" y="2487168"/>
            <a:ext cx="2393594" cy="365760"/>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Baseline agent runs</a:t>
            </a:r>
            <a:endParaRPr lang="en-US" sz="1250" dirty="0"/>
          </a:p>
        </p:txBody>
      </p:sp>
      <p:sp>
        <p:nvSpPr>
          <p:cNvPr id="27" name="Text 25"/>
          <p:cNvSpPr/>
          <p:nvPr/>
        </p:nvSpPr>
        <p:spPr>
          <a:xfrm>
            <a:off x="4624730" y="2907792"/>
            <a:ext cx="2942234" cy="877824"/>
          </a:xfrm>
          <a:prstGeom prst="rect">
            <a:avLst/>
          </a:prstGeom>
          <a:noFill/>
          <a:ln/>
        </p:spPr>
        <p:txBody>
          <a:bodyPr wrap="square" lIns="0" tIns="0" rIns="0" bIns="0" rtlCol="0" anchor="t"/>
          <a:lstStyle/>
          <a:p>
            <a:pPr marL="0" indent="0">
              <a:lnSpc>
                <a:spcPct val="106000"/>
              </a:lnSpc>
              <a:buNone/>
            </a:pPr>
            <a:r>
              <a:rPr lang="en-US" sz="950" dirty="0">
                <a:solidFill>
                  <a:srgbClr val="24354F"/>
                </a:solidFill>
                <a:latin typeface="Calibri" pitchFamily="34" charset="0"/>
                <a:ea typeface="Calibri" pitchFamily="34" charset="-122"/>
                <a:cs typeface="Calibri" pitchFamily="34" charset="-120"/>
              </a:rPr>
              <a:t>Mode and lifecycle checks, guard or manifest miss, already-observed tools, shadow mode, calibrated abstention, a clean pre-commit failure with a staging proof, or a verifier rejection before use. Figure 1 groups Algorithm 4's individual fallback returns into these edges.</a:t>
            </a:r>
            <a:endParaRPr lang="en-US" sz="950" dirty="0"/>
          </a:p>
        </p:txBody>
      </p:sp>
      <p:sp>
        <p:nvSpPr>
          <p:cNvPr id="28" name="Shape 26"/>
          <p:cNvSpPr/>
          <p:nvPr/>
        </p:nvSpPr>
        <p:spPr>
          <a:xfrm>
            <a:off x="8097317" y="2322576"/>
            <a:ext cx="3454298" cy="1517904"/>
          </a:xfrm>
          <a:prstGeom prst="roundRect">
            <a:avLst>
              <a:gd name="adj" fmla="val 3012"/>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9" name="Text 27"/>
          <p:cNvSpPr/>
          <p:nvPr/>
        </p:nvSpPr>
        <p:spPr>
          <a:xfrm>
            <a:off x="8335061" y="2450592"/>
            <a:ext cx="548640" cy="438912"/>
          </a:xfrm>
          <a:prstGeom prst="rect">
            <a:avLst/>
          </a:prstGeom>
          <a:noFill/>
          <a:ln/>
        </p:spPr>
        <p:txBody>
          <a:bodyPr wrap="square" lIns="0" tIns="0" rIns="0" bIns="0" rtlCol="0" anchor="ctr"/>
          <a:lstStyle/>
          <a:p>
            <a:pPr marL="0" indent="0">
              <a:buNone/>
            </a:pPr>
            <a:r>
              <a:rPr lang="en-US" sz="2600" b="1" dirty="0">
                <a:solidFill>
                  <a:srgbClr val="A93B2B"/>
                </a:solidFill>
                <a:latin typeface="Cambria" pitchFamily="34" charset="0"/>
                <a:ea typeface="Cambria" pitchFamily="34" charset="-122"/>
                <a:cs typeface="Cambria" pitchFamily="34" charset="-120"/>
              </a:rPr>
              <a:t>1</a:t>
            </a:r>
            <a:endParaRPr lang="en-US" sz="2600" dirty="0"/>
          </a:p>
        </p:txBody>
      </p:sp>
      <p:sp>
        <p:nvSpPr>
          <p:cNvPr id="30" name="Text 28"/>
          <p:cNvSpPr/>
          <p:nvPr/>
        </p:nvSpPr>
        <p:spPr>
          <a:xfrm>
            <a:off x="8920277" y="2487168"/>
            <a:ext cx="2393594" cy="365760"/>
          </a:xfrm>
          <a:prstGeom prst="rect">
            <a:avLst/>
          </a:prstGeom>
          <a:noFill/>
          <a:ln/>
        </p:spPr>
        <p:txBody>
          <a:bodyPr wrap="square" lIns="0" tIns="0" rIns="0" bIns="0" rtlCol="0" anchor="ctr"/>
          <a:lstStyle/>
          <a:p>
            <a:pPr marL="0" indent="0">
              <a:buNone/>
            </a:pPr>
            <a:r>
              <a:rPr lang="en-US" sz="1250" b="1" dirty="0">
                <a:solidFill>
                  <a:srgbClr val="A93B2B"/>
                </a:solidFill>
                <a:latin typeface="Cambria" pitchFamily="34" charset="0"/>
                <a:ea typeface="Cambria" pitchFamily="34" charset="-122"/>
                <a:cs typeface="Cambria" pitchFamily="34" charset="-120"/>
              </a:rPr>
              <a:t>Incident raised</a:t>
            </a:r>
            <a:endParaRPr lang="en-US" sz="1250" dirty="0"/>
          </a:p>
        </p:txBody>
      </p:sp>
      <p:sp>
        <p:nvSpPr>
          <p:cNvPr id="31" name="Text 29"/>
          <p:cNvSpPr/>
          <p:nvPr/>
        </p:nvSpPr>
        <p:spPr>
          <a:xfrm>
            <a:off x="8353349" y="2907792"/>
            <a:ext cx="2942234" cy="877824"/>
          </a:xfrm>
          <a:prstGeom prst="rect">
            <a:avLst/>
          </a:prstGeom>
          <a:noFill/>
          <a:ln/>
        </p:spPr>
        <p:txBody>
          <a:bodyPr wrap="square" lIns="0" tIns="0" rIns="0" bIns="0" rtlCol="0" anchor="t"/>
          <a:lstStyle/>
          <a:p>
            <a:pPr marL="0" indent="0">
              <a:lnSpc>
                <a:spcPct val="106000"/>
              </a:lnSpc>
              <a:buNone/>
            </a:pPr>
            <a:r>
              <a:rPr lang="en-US" sz="1050" dirty="0">
                <a:solidFill>
                  <a:srgbClr val="5C4034"/>
                </a:solidFill>
                <a:latin typeface="Calibri" pitchFamily="34" charset="0"/>
                <a:ea typeface="Calibri" pitchFamily="34" charset="-122"/>
                <a:cs typeface="Calibri" pitchFamily="34" charset="-120"/>
              </a:rPr>
              <a:t>A post-commit failure. An external commitment already happened, so the runtime does not feign a rollback.</a:t>
            </a:r>
            <a:endParaRPr lang="en-US" sz="1050" dirty="0"/>
          </a:p>
        </p:txBody>
      </p:sp>
      <p:sp>
        <p:nvSpPr>
          <p:cNvPr id="32" name="Shape 30"/>
          <p:cNvSpPr/>
          <p:nvPr/>
        </p:nvSpPr>
        <p:spPr>
          <a:xfrm>
            <a:off x="640080" y="4005072"/>
            <a:ext cx="10911535" cy="1700784"/>
          </a:xfrm>
          <a:prstGeom prst="roundRect">
            <a:avLst>
              <a:gd name="adj" fmla="val 2688"/>
            </a:avLst>
          </a:prstGeom>
          <a:solidFill>
            <a:srgbClr val="EAF1F7"/>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3" name="Text 31"/>
          <p:cNvSpPr/>
          <p:nvPr/>
        </p:nvSpPr>
        <p:spPr>
          <a:xfrm>
            <a:off x="896112" y="4133088"/>
            <a:ext cx="10399471" cy="219456"/>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WHERE “UNMODIFIED BASELINE” IS EXACT, AND WHERE IT IS NOT</a:t>
            </a:r>
            <a:endParaRPr lang="en-US" sz="950" dirty="0"/>
          </a:p>
        </p:txBody>
      </p:sp>
      <p:sp>
        <p:nvSpPr>
          <p:cNvPr id="34" name="Text 32"/>
          <p:cNvSpPr/>
          <p:nvPr/>
        </p:nvSpPr>
        <p:spPr>
          <a:xfrm>
            <a:off x="896112" y="4407408"/>
            <a:ext cx="5044288" cy="256032"/>
          </a:xfrm>
          <a:prstGeom prst="rect">
            <a:avLst/>
          </a:prstGeom>
          <a:noFill/>
          <a:ln/>
        </p:spPr>
        <p:txBody>
          <a:bodyPr wrap="square" lIns="0" tIns="0" rIns="0" bIns="0" rtlCol="0" anchor="t"/>
          <a:lstStyle/>
          <a:p>
            <a:pPr marL="0" indent="0">
              <a:buNone/>
            </a:pPr>
            <a:r>
              <a:rPr lang="en-US" sz="1200" b="1" dirty="0">
                <a:solidFill>
                  <a:srgbClr val="1F8A99"/>
                </a:solidFill>
                <a:latin typeface="Cambria" pitchFamily="34" charset="0"/>
                <a:ea typeface="Cambria" pitchFamily="34" charset="-122"/>
                <a:cs typeface="Cambria" pitchFamily="34" charset="-120"/>
              </a:rPr>
              <a:t>Outer runner — exact</a:t>
            </a:r>
            <a:endParaRPr lang="en-US" sz="1200" dirty="0"/>
          </a:p>
        </p:txBody>
      </p:sp>
      <p:sp>
        <p:nvSpPr>
          <p:cNvPr id="35" name="Text 33"/>
          <p:cNvSpPr/>
          <p:nvPr/>
        </p:nvSpPr>
        <p:spPr>
          <a:xfrm>
            <a:off x="896112" y="4681728"/>
            <a:ext cx="5044288" cy="914400"/>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It owns the entry snapshot and the commit boundary, so a rejected attempt restores byte-identical model-visible input. “The baseline runs unchanged” holds at every failure point.</a:t>
            </a:r>
            <a:endParaRPr lang="en-US" sz="1050" dirty="0"/>
          </a:p>
        </p:txBody>
      </p:sp>
      <p:sp>
        <p:nvSpPr>
          <p:cNvPr id="36" name="Text 34"/>
          <p:cNvSpPr/>
          <p:nvPr/>
        </p:nvSpPr>
        <p:spPr>
          <a:xfrm>
            <a:off x="6251296" y="4407408"/>
            <a:ext cx="5044288" cy="256032"/>
          </a:xfrm>
          <a:prstGeom prst="rect">
            <a:avLst/>
          </a:prstGeom>
          <a:noFill/>
          <a:ln/>
        </p:spPr>
        <p:txBody>
          <a:bodyPr wrap="square" lIns="0" tIns="0" rIns="0" bIns="0" rtlCol="0" anchor="t"/>
          <a:lstStyle/>
          <a:p>
            <a:pPr marL="0" indent="0">
              <a:buNone/>
            </a:pPr>
            <a:r>
              <a:rPr lang="en-US" sz="1200" b="1" dirty="0">
                <a:solidFill>
                  <a:srgbClr val="A93B2B"/>
                </a:solidFill>
                <a:latin typeface="Cambria" pitchFamily="34" charset="0"/>
                <a:ea typeface="Cambria" pitchFamily="34" charset="-122"/>
                <a:cs typeface="Cambria" pitchFamily="34" charset="-120"/>
              </a:rPr>
              <a:t>Model-boundary adapter — weaker</a:t>
            </a:r>
            <a:endParaRPr lang="en-US" sz="1200" dirty="0"/>
          </a:p>
        </p:txBody>
      </p:sp>
      <p:sp>
        <p:nvSpPr>
          <p:cNvPr id="37" name="Text 35"/>
          <p:cNvSpPr/>
          <p:nvPr/>
        </p:nvSpPr>
        <p:spPr>
          <a:xfrm>
            <a:off x="6251296" y="4681728"/>
            <a:ext cx="5044288" cy="914400"/>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Once it has returned a synthesized ModelResponse, the host runner may already have committed that item to session history, and the Model interface provides no way to withdraw it. A verifier failure after that point delegates to the wrapped model with a history the baseline would never have contained.</a:t>
            </a:r>
            <a:endParaRPr lang="en-US" sz="1050" dirty="0"/>
          </a:p>
        </p:txBody>
      </p:sp>
      <p:sp>
        <p:nvSpPr>
          <p:cNvPr id="38" name="Text 36"/>
          <p:cNvSpPr/>
          <p:nvPr/>
        </p:nvSpPr>
        <p:spPr>
          <a:xfrm>
            <a:off x="640080" y="5815584"/>
            <a:ext cx="10911535" cy="457200"/>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Every check that can reject before emission — lifecycle, signature, manifest pins, hard guard, already-observed tools, quota attestation, and the calibrated gate — is therefore exact for both paths. Only post-emission verifier or binding failures are weaker for the adapter. A general solution requires artifacts to target explicit control points with continuation tokens rather than implicit model boundaries.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9326880" y="914400"/>
            <a:ext cx="5120640" cy="5120640"/>
          </a:xfrm>
          <a:prstGeom prst="ellipse">
            <a:avLst/>
          </a:prstGeom>
          <a:solidFill>
            <a:srgbClr val="1A3563">
              <a:alpha val="60000"/>
            </a:srgbClr>
          </a:solidFill>
          <a:ln w="12700">
            <a:solidFill>
              <a:srgbClr val="1A3563"/>
            </a:solidFill>
            <a:prstDash val="solid"/>
          </a:ln>
        </p:spPr>
        <p:txBody>
          <a:bodyPr/>
          <a:lstStyle/>
          <a:p>
            <a:endParaRPr lang="en-US"/>
          </a:p>
        </p:txBody>
      </p:sp>
      <p:sp>
        <p:nvSpPr>
          <p:cNvPr id="5" name="Shape 3"/>
          <p:cNvSpPr/>
          <p:nvPr/>
        </p:nvSpPr>
        <p:spPr>
          <a:xfrm>
            <a:off x="10607040" y="2194560"/>
            <a:ext cx="2560320" cy="2560320"/>
          </a:xfrm>
          <a:prstGeom prst="ellipse">
            <a:avLst/>
          </a:prstGeom>
          <a:solidFill>
            <a:srgbClr val="1F8A99">
              <a:alpha val="45000"/>
            </a:srgbClr>
          </a:solidFill>
          <a:ln w="12700">
            <a:solidFill>
              <a:srgbClr val="1F8A99"/>
            </a:solidFill>
            <a:prstDash val="solid"/>
          </a:ln>
        </p:spPr>
        <p:txBody>
          <a:bodyPr/>
          <a:lstStyle/>
          <a:p>
            <a:endParaRPr lang="en-US"/>
          </a:p>
        </p:txBody>
      </p:sp>
      <p:sp>
        <p:nvSpPr>
          <p:cNvPr id="6" name="Text 4"/>
          <p:cNvSpPr/>
          <p:nvPr/>
        </p:nvSpPr>
        <p:spPr>
          <a:xfrm>
            <a:off x="640080" y="2148840"/>
            <a:ext cx="1463040" cy="1371600"/>
          </a:xfrm>
          <a:prstGeom prst="rect">
            <a:avLst/>
          </a:prstGeom>
          <a:noFill/>
          <a:ln/>
        </p:spPr>
        <p:txBody>
          <a:bodyPr wrap="square" lIns="0" tIns="0" rIns="0" bIns="0" rtlCol="0" anchor="ctr"/>
          <a:lstStyle/>
          <a:p>
            <a:pPr marL="0" indent="0">
              <a:buNone/>
            </a:pPr>
            <a:r>
              <a:rPr lang="en-US" sz="7600" b="1" dirty="0">
                <a:solidFill>
                  <a:srgbClr val="56B3BE"/>
                </a:solidFill>
                <a:latin typeface="Cambria" pitchFamily="34" charset="0"/>
                <a:ea typeface="Cambria" pitchFamily="34" charset="-122"/>
                <a:cs typeface="Cambria" pitchFamily="34" charset="-120"/>
              </a:rPr>
              <a:t>III</a:t>
            </a:r>
            <a:endParaRPr lang="en-US" sz="7600" dirty="0"/>
          </a:p>
        </p:txBody>
      </p:sp>
      <p:sp>
        <p:nvSpPr>
          <p:cNvPr id="7" name="Text 5"/>
          <p:cNvSpPr/>
          <p:nvPr/>
        </p:nvSpPr>
        <p:spPr>
          <a:xfrm>
            <a:off x="2240280" y="2286000"/>
            <a:ext cx="676656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Evidence and results</a:t>
            </a:r>
            <a:endParaRPr lang="en-US" sz="3400" dirty="0"/>
          </a:p>
        </p:txBody>
      </p:sp>
      <p:sp>
        <p:nvSpPr>
          <p:cNvPr id="8" name="Text 6"/>
          <p:cNvSpPr/>
          <p:nvPr/>
        </p:nvSpPr>
        <p:spPr>
          <a:xfrm>
            <a:off x="2267712" y="3017520"/>
            <a:ext cx="6675120" cy="731520"/>
          </a:xfrm>
          <a:prstGeom prst="rect">
            <a:avLst/>
          </a:prstGeom>
          <a:noFill/>
          <a:ln/>
        </p:spPr>
        <p:txBody>
          <a:bodyPr wrap="square" lIns="0" tIns="0" rIns="0" bIns="0" rtlCol="0" anchor="t"/>
          <a:lstStyle/>
          <a:p>
            <a:pPr marL="0" indent="0">
              <a:lnSpc>
                <a:spcPct val="110000"/>
              </a:lnSpc>
              <a:buNone/>
            </a:pPr>
            <a:r>
              <a:rPr lang="en-US" sz="1350" dirty="0">
                <a:solidFill>
                  <a:srgbClr val="9BD0D6"/>
                </a:solidFill>
                <a:latin typeface="Calibri" pitchFamily="34" charset="0"/>
                <a:ea typeface="Calibri" pitchFamily="34" charset="-122"/>
                <a:cs typeface="Calibri" pitchFamily="34" charset="-120"/>
              </a:rPr>
              <a:t>Three GitHub workflows, newer records, a public benchmark where GAC helps, and two where it does not — with every refusal reported.</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EXPERIMENTAL SETUP  ·  §4</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Three evidence sources, every comparison paired</a:t>
            </a:r>
            <a:endParaRPr lang="en-US" sz="2600" dirty="0"/>
          </a:p>
        </p:txBody>
      </p:sp>
      <p:sp>
        <p:nvSpPr>
          <p:cNvPr id="6" name="Shape 4"/>
          <p:cNvSpPr/>
          <p:nvPr/>
        </p:nvSpPr>
        <p:spPr>
          <a:xfrm>
            <a:off x="640080" y="1188720"/>
            <a:ext cx="3454298" cy="3200400"/>
          </a:xfrm>
          <a:prstGeom prst="roundRect">
            <a:avLst>
              <a:gd name="adj" fmla="val 1429"/>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7" name="Shape 5"/>
          <p:cNvSpPr/>
          <p:nvPr/>
        </p:nvSpPr>
        <p:spPr>
          <a:xfrm>
            <a:off x="877824" y="1353312"/>
            <a:ext cx="384048" cy="384048"/>
          </a:xfrm>
          <a:prstGeom prst="ellipse">
            <a:avLst/>
          </a:prstGeom>
          <a:solidFill>
            <a:srgbClr val="1F8A99"/>
          </a:solidFill>
          <a:ln w="6350">
            <a:solidFill>
              <a:srgbClr val="1F8A99"/>
            </a:solidFill>
            <a:prstDash val="solid"/>
          </a:ln>
        </p:spPr>
        <p:txBody>
          <a:bodyPr/>
          <a:lstStyle/>
          <a:p>
            <a:endParaRPr lang="en-US"/>
          </a:p>
        </p:txBody>
      </p:sp>
      <p:sp>
        <p:nvSpPr>
          <p:cNvPr id="8" name="Text 6"/>
          <p:cNvSpPr/>
          <p:nvPr/>
        </p:nvSpPr>
        <p:spPr>
          <a:xfrm>
            <a:off x="877824" y="13533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77824" y="1828800"/>
            <a:ext cx="2978810" cy="548640"/>
          </a:xfrm>
          <a:prstGeom prst="rect">
            <a:avLst/>
          </a:prstGeom>
          <a:noFill/>
          <a:ln/>
        </p:spPr>
        <p:txBody>
          <a:bodyPr wrap="square" lIns="0" tIns="0" rIns="0" bIns="0" rtlCol="0" anchor="t"/>
          <a:lstStyle/>
          <a:p>
            <a:pPr marL="0" indent="0">
              <a:lnSpc>
                <a:spcPct val="100000"/>
              </a:lnSpc>
              <a:buNone/>
            </a:pPr>
            <a:r>
              <a:rPr lang="en-US" sz="1350" b="1" dirty="0">
                <a:solidFill>
                  <a:srgbClr val="0E1E3A"/>
                </a:solidFill>
                <a:latin typeface="Cambria" pitchFamily="34" charset="0"/>
                <a:ea typeface="Cambria" pitchFamily="34" charset="-122"/>
                <a:cs typeface="Cambria" pitchFamily="34" charset="-120"/>
              </a:rPr>
              <a:t>Real records, live provider</a:t>
            </a:r>
            <a:endParaRPr lang="en-US" sz="1350" dirty="0"/>
          </a:p>
        </p:txBody>
      </p:sp>
      <p:sp>
        <p:nvSpPr>
          <p:cNvPr id="10" name="Text 8"/>
          <p:cNvSpPr/>
          <p:nvPr/>
        </p:nvSpPr>
        <p:spPr>
          <a:xfrm>
            <a:off x="877824" y="2377440"/>
            <a:ext cx="2978810" cy="457200"/>
          </a:xfrm>
          <a:prstGeom prst="rect">
            <a:avLst/>
          </a:prstGeom>
          <a:noFill/>
          <a:ln/>
        </p:spPr>
        <p:txBody>
          <a:bodyPr wrap="square" lIns="0" tIns="0" rIns="0" bIns="0" rtlCol="0" anchor="t"/>
          <a:lstStyle/>
          <a:p>
            <a:pPr marL="0" indent="0">
              <a:lnSpc>
                <a:spcPct val="102000"/>
              </a:lnSpc>
              <a:buNone/>
            </a:pPr>
            <a:r>
              <a:rPr lang="en-US" sz="1000" i="1" dirty="0">
                <a:solidFill>
                  <a:srgbClr val="1F8A99"/>
                </a:solidFill>
                <a:latin typeface="Calibri" pitchFamily="34" charset="0"/>
                <a:ea typeface="Calibri" pitchFamily="34" charset="-122"/>
                <a:cs typeface="Calibri" pitchFamily="34" charset="-120"/>
              </a:rPr>
              <a:t>Three GitHub workflow families on one pinned public snapshot</a:t>
            </a:r>
            <a:endParaRPr lang="en-US" sz="1000" dirty="0"/>
          </a:p>
        </p:txBody>
      </p:sp>
      <p:sp>
        <p:nvSpPr>
          <p:cNvPr id="11" name="Text 9"/>
          <p:cNvSpPr/>
          <p:nvPr/>
        </p:nvSpPr>
        <p:spPr>
          <a:xfrm>
            <a:off x="896112" y="2889504"/>
            <a:ext cx="2942234" cy="13716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132 discovery records each; 16 train, 8 dev, and 92 calibration groups</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30 balanced held-out records per family with exact, source-grounded answer contracts</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Baseline, compiled artifact, and a hand-written program on the same records</a:t>
            </a:r>
            <a:endParaRPr lang="en-US" sz="1000" dirty="0"/>
          </a:p>
        </p:txBody>
      </p:sp>
      <p:sp>
        <p:nvSpPr>
          <p:cNvPr id="12" name="Shape 10"/>
          <p:cNvSpPr/>
          <p:nvPr/>
        </p:nvSpPr>
        <p:spPr>
          <a:xfrm>
            <a:off x="4368698" y="1188720"/>
            <a:ext cx="3454298" cy="3200400"/>
          </a:xfrm>
          <a:prstGeom prst="roundRect">
            <a:avLst>
              <a:gd name="adj" fmla="val 1429"/>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3" name="Shape 11"/>
          <p:cNvSpPr/>
          <p:nvPr/>
        </p:nvSpPr>
        <p:spPr>
          <a:xfrm>
            <a:off x="4606442" y="1353312"/>
            <a:ext cx="384048" cy="384048"/>
          </a:xfrm>
          <a:prstGeom prst="ellipse">
            <a:avLst/>
          </a:prstGeom>
          <a:solidFill>
            <a:srgbClr val="1A3563"/>
          </a:solidFill>
          <a:ln w="6350">
            <a:solidFill>
              <a:srgbClr val="1A3563"/>
            </a:solidFill>
            <a:prstDash val="solid"/>
          </a:ln>
        </p:spPr>
        <p:txBody>
          <a:bodyPr/>
          <a:lstStyle/>
          <a:p>
            <a:endParaRPr lang="en-US"/>
          </a:p>
        </p:txBody>
      </p:sp>
      <p:sp>
        <p:nvSpPr>
          <p:cNvPr id="14" name="Text 12"/>
          <p:cNvSpPr/>
          <p:nvPr/>
        </p:nvSpPr>
        <p:spPr>
          <a:xfrm>
            <a:off x="4606442" y="13533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4606442" y="1828800"/>
            <a:ext cx="2978810" cy="548640"/>
          </a:xfrm>
          <a:prstGeom prst="rect">
            <a:avLst/>
          </a:prstGeom>
          <a:noFill/>
          <a:ln/>
        </p:spPr>
        <p:txBody>
          <a:bodyPr wrap="square" lIns="0" tIns="0" rIns="0" bIns="0" rtlCol="0" anchor="t"/>
          <a:lstStyle/>
          <a:p>
            <a:pPr marL="0" indent="0">
              <a:lnSpc>
                <a:spcPct val="100000"/>
              </a:lnSpc>
              <a:buNone/>
            </a:pPr>
            <a:r>
              <a:rPr lang="en-US" sz="1350" b="1" dirty="0">
                <a:solidFill>
                  <a:srgbClr val="0E1E3A"/>
                </a:solidFill>
                <a:latin typeface="Cambria" pitchFamily="34" charset="0"/>
                <a:ea typeface="Cambria" pitchFamily="34" charset="-122"/>
                <a:cs typeface="Cambria" pitchFamily="34" charset="-120"/>
              </a:rPr>
              <a:t>Newer records, fresh cohort</a:t>
            </a:r>
            <a:endParaRPr lang="en-US" sz="1350" dirty="0"/>
          </a:p>
        </p:txBody>
      </p:sp>
      <p:sp>
        <p:nvSpPr>
          <p:cNvPr id="16" name="Text 14"/>
          <p:cNvSpPr/>
          <p:nvPr/>
        </p:nvSpPr>
        <p:spPr>
          <a:xfrm>
            <a:off x="4606442" y="2377440"/>
            <a:ext cx="2978810" cy="457200"/>
          </a:xfrm>
          <a:prstGeom prst="rect">
            <a:avLst/>
          </a:prstGeom>
          <a:noFill/>
          <a:ln/>
        </p:spPr>
        <p:txBody>
          <a:bodyPr wrap="square" lIns="0" tIns="0" rIns="0" bIns="0" rtlCol="0" anchor="t"/>
          <a:lstStyle/>
          <a:p>
            <a:pPr marL="0" indent="0">
              <a:lnSpc>
                <a:spcPct val="102000"/>
              </a:lnSpc>
              <a:buNone/>
            </a:pPr>
            <a:r>
              <a:rPr lang="en-US" sz="1000" i="1" dirty="0">
                <a:solidFill>
                  <a:srgbClr val="1F8A99"/>
                </a:solidFill>
                <a:latin typeface="Calibri" pitchFamily="34" charset="0"/>
                <a:ea typeface="Calibri" pitchFamily="34" charset="-122"/>
                <a:cs typeface="Calibri" pitchFamily="34" charset="-120"/>
              </a:rPr>
              <a:t>Five-repository PR-outcome extension and 132 post-cutoff pull requests</a:t>
            </a:r>
            <a:endParaRPr lang="en-US" sz="1000" dirty="0"/>
          </a:p>
        </p:txBody>
      </p:sp>
      <p:sp>
        <p:nvSpPr>
          <p:cNvPr id="17" name="Text 15"/>
          <p:cNvSpPr/>
          <p:nvPr/>
        </p:nvSpPr>
        <p:spPr>
          <a:xfrm>
            <a:off x="4624730" y="2889504"/>
            <a:ext cx="2942234" cy="13716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Held-out records newer than discovery, inside each frozen snapshot</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Selection sealed before provider calls; retired repositories stay in the result</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Pull requests created after the snapshot carry the end-to-end certificate</a:t>
            </a:r>
            <a:endParaRPr lang="en-US" sz="1000" dirty="0"/>
          </a:p>
        </p:txBody>
      </p:sp>
      <p:sp>
        <p:nvSpPr>
          <p:cNvPr id="18" name="Shape 16"/>
          <p:cNvSpPr/>
          <p:nvPr/>
        </p:nvSpPr>
        <p:spPr>
          <a:xfrm>
            <a:off x="8097317" y="1188720"/>
            <a:ext cx="3454298" cy="3200400"/>
          </a:xfrm>
          <a:prstGeom prst="roundRect">
            <a:avLst>
              <a:gd name="adj" fmla="val 1429"/>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9" name="Shape 17"/>
          <p:cNvSpPr/>
          <p:nvPr/>
        </p:nvSpPr>
        <p:spPr>
          <a:xfrm>
            <a:off x="8335061" y="1353312"/>
            <a:ext cx="384048" cy="384048"/>
          </a:xfrm>
          <a:prstGeom prst="ellipse">
            <a:avLst/>
          </a:prstGeom>
          <a:solidFill>
            <a:srgbClr val="56B3BE"/>
          </a:solidFill>
          <a:ln w="6350">
            <a:solidFill>
              <a:srgbClr val="56B3BE"/>
            </a:solidFill>
            <a:prstDash val="solid"/>
          </a:ln>
        </p:spPr>
        <p:txBody>
          <a:bodyPr/>
          <a:lstStyle/>
          <a:p>
            <a:endParaRPr lang="en-US"/>
          </a:p>
        </p:txBody>
      </p:sp>
      <p:sp>
        <p:nvSpPr>
          <p:cNvPr id="20" name="Text 18"/>
          <p:cNvSpPr/>
          <p:nvPr/>
        </p:nvSpPr>
        <p:spPr>
          <a:xfrm>
            <a:off x="8335061" y="13533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35061" y="1828800"/>
            <a:ext cx="2978810" cy="548640"/>
          </a:xfrm>
          <a:prstGeom prst="rect">
            <a:avLst/>
          </a:prstGeom>
          <a:noFill/>
          <a:ln/>
        </p:spPr>
        <p:txBody>
          <a:bodyPr wrap="square" lIns="0" tIns="0" rIns="0" bIns="0" rtlCol="0" anchor="t"/>
          <a:lstStyle/>
          <a:p>
            <a:pPr marL="0" indent="0">
              <a:lnSpc>
                <a:spcPct val="100000"/>
              </a:lnSpc>
              <a:buNone/>
            </a:pPr>
            <a:r>
              <a:rPr lang="en-US" sz="1350" b="1" dirty="0">
                <a:solidFill>
                  <a:srgbClr val="0E1E3A"/>
                </a:solidFill>
                <a:latin typeface="Cambria" pitchFamily="34" charset="0"/>
                <a:ea typeface="Cambria" pitchFamily="34" charset="-122"/>
                <a:cs typeface="Cambria" pitchFamily="34" charset="-120"/>
              </a:rPr>
              <a:t>Public benchmarks</a:t>
            </a:r>
            <a:endParaRPr lang="en-US" sz="1350" dirty="0"/>
          </a:p>
        </p:txBody>
      </p:sp>
      <p:sp>
        <p:nvSpPr>
          <p:cNvPr id="22" name="Text 20"/>
          <p:cNvSpPr/>
          <p:nvPr/>
        </p:nvSpPr>
        <p:spPr>
          <a:xfrm>
            <a:off x="8335061" y="2377440"/>
            <a:ext cx="2978810" cy="457200"/>
          </a:xfrm>
          <a:prstGeom prst="rect">
            <a:avLst/>
          </a:prstGeom>
          <a:noFill/>
          <a:ln/>
        </p:spPr>
        <p:txBody>
          <a:bodyPr wrap="square" lIns="0" tIns="0" rIns="0" bIns="0" rtlCol="0" anchor="t"/>
          <a:lstStyle/>
          <a:p>
            <a:pPr marL="0" indent="0">
              <a:lnSpc>
                <a:spcPct val="102000"/>
              </a:lnSpc>
              <a:buNone/>
            </a:pPr>
            <a:r>
              <a:rPr lang="en-US" sz="1000" i="1" dirty="0">
                <a:solidFill>
                  <a:srgbClr val="1F8A99"/>
                </a:solidFill>
                <a:latin typeface="Calibri" pitchFamily="34" charset="0"/>
                <a:ea typeface="Calibri" pitchFamily="34" charset="-122"/>
                <a:cs typeface="Calibri" pitchFamily="34" charset="-120"/>
              </a:rPr>
              <a:t>BIRD with a live SQL agent; NESTFUL and AppWorld traces</a:t>
            </a:r>
            <a:endParaRPr lang="en-US" sz="1000" dirty="0"/>
          </a:p>
        </p:txBody>
      </p:sp>
      <p:sp>
        <p:nvSpPr>
          <p:cNvPr id="23" name="Text 21"/>
          <p:cNvSpPr/>
          <p:nvPr/>
        </p:nvSpPr>
        <p:spPr>
          <a:xfrm>
            <a:off x="8353349" y="2889504"/>
            <a:ext cx="2942234" cy="13716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BIRD: pinned read-only databases, a standard and a schema-first agent</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NESTFUL and AppWorld: executable traces and no model runs, so no efficiency claim</a:t>
            </a:r>
            <a:endParaRPr lang="en-US" sz="1000" dirty="0"/>
          </a:p>
          <a:p>
            <a:pPr marL="342900" indent="-342900">
              <a:lnSpc>
                <a:spcPct val="105000"/>
              </a:lnSpc>
              <a:spcAft>
                <a:spcPts val="500"/>
              </a:spcAft>
              <a:buSzPct val="100000"/>
              <a:buChar char="•"/>
            </a:pPr>
            <a:r>
              <a:rPr lang="en-US" sz="1000" dirty="0">
                <a:solidFill>
                  <a:srgbClr val="24354F"/>
                </a:solidFill>
                <a:latin typeface="Calibri" pitchFamily="34" charset="0"/>
                <a:ea typeface="Calibri" pitchFamily="34" charset="-122"/>
                <a:cs typeface="Calibri" pitchFamily="34" charset="-120"/>
              </a:rPr>
              <a:t>API-Bank and BFCL v4 behave like NESTFUL</a:t>
            </a:r>
            <a:endParaRPr lang="en-US" sz="1000" dirty="0"/>
          </a:p>
        </p:txBody>
      </p:sp>
      <p:sp>
        <p:nvSpPr>
          <p:cNvPr id="24" name="Text 22"/>
          <p:cNvSpPr/>
          <p:nvPr/>
        </p:nvSpPr>
        <p:spPr>
          <a:xfrm>
            <a:off x="640080" y="4553712"/>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CONDITIONS, MODELS, AND STATISTICS — CONDITIONS WITHIN A FAMILY DIFFER IN STRUCTURE ALONE</a:t>
            </a:r>
            <a:endParaRPr lang="en-US" sz="1050" dirty="0"/>
          </a:p>
        </p:txBody>
      </p:sp>
      <p:sp>
        <p:nvSpPr>
          <p:cNvPr id="25" name="Shape 23"/>
          <p:cNvSpPr/>
          <p:nvPr/>
        </p:nvSpPr>
        <p:spPr>
          <a:xfrm>
            <a:off x="640080" y="4846320"/>
            <a:ext cx="329184" cy="329184"/>
          </a:xfrm>
          <a:prstGeom prst="ellipse">
            <a:avLst/>
          </a:prstGeom>
          <a:solidFill>
            <a:srgbClr val="1F8A99"/>
          </a:solidFill>
          <a:ln w="6350">
            <a:solidFill>
              <a:srgbClr val="1F8A99"/>
            </a:solidFill>
            <a:prstDash val="solid"/>
          </a:ln>
        </p:spPr>
        <p:txBody>
          <a:bodyPr/>
          <a:lstStyle/>
          <a:p>
            <a:endParaRPr lang="en-US"/>
          </a:p>
        </p:txBody>
      </p:sp>
      <p:sp>
        <p:nvSpPr>
          <p:cNvPr id="26" name="Text 24"/>
          <p:cNvSpPr/>
          <p:nvPr/>
        </p:nvSpPr>
        <p:spPr>
          <a:xfrm>
            <a:off x="640080" y="484632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5"/>
          <p:cNvSpPr/>
          <p:nvPr/>
        </p:nvSpPr>
        <p:spPr>
          <a:xfrm>
            <a:off x="1097280" y="4809744"/>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the unchanged agent, the baseline every reduction is measured against</a:t>
            </a:r>
            <a:endParaRPr lang="en-US" sz="1000" dirty="0"/>
          </a:p>
        </p:txBody>
      </p:sp>
      <p:sp>
        <p:nvSpPr>
          <p:cNvPr id="28" name="Shape 26"/>
          <p:cNvSpPr/>
          <p:nvPr/>
        </p:nvSpPr>
        <p:spPr>
          <a:xfrm>
            <a:off x="4350410" y="4846320"/>
            <a:ext cx="329184" cy="329184"/>
          </a:xfrm>
          <a:prstGeom prst="ellipse">
            <a:avLst/>
          </a:prstGeom>
          <a:solidFill>
            <a:srgbClr val="1F8A99"/>
          </a:solidFill>
          <a:ln w="6350">
            <a:solidFill>
              <a:srgbClr val="1F8A99"/>
            </a:solidFill>
            <a:prstDash val="solid"/>
          </a:ln>
        </p:spPr>
        <p:txBody>
          <a:bodyPr/>
          <a:lstStyle/>
          <a:p>
            <a:endParaRPr lang="en-US"/>
          </a:p>
        </p:txBody>
      </p:sp>
      <p:sp>
        <p:nvSpPr>
          <p:cNvPr id="29" name="Text 27"/>
          <p:cNvSpPr/>
          <p:nvPr/>
        </p:nvSpPr>
        <p:spPr>
          <a:xfrm>
            <a:off x="4350410" y="484632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0" name="Text 28"/>
          <p:cNvSpPr/>
          <p:nvPr/>
        </p:nvSpPr>
        <p:spPr>
          <a:xfrm>
            <a:off x="4807610" y="4809744"/>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the compiled artifact, dispatched only when guard, score, and pins pass</a:t>
            </a:r>
            <a:endParaRPr lang="en-US" sz="1000" dirty="0"/>
          </a:p>
        </p:txBody>
      </p:sp>
      <p:sp>
        <p:nvSpPr>
          <p:cNvPr id="31" name="Shape 29"/>
          <p:cNvSpPr/>
          <p:nvPr/>
        </p:nvSpPr>
        <p:spPr>
          <a:xfrm>
            <a:off x="8060741" y="4846320"/>
            <a:ext cx="329184" cy="329184"/>
          </a:xfrm>
          <a:prstGeom prst="ellipse">
            <a:avLst/>
          </a:prstGeom>
          <a:solidFill>
            <a:srgbClr val="1F8A99"/>
          </a:solidFill>
          <a:ln w="6350">
            <a:solidFill>
              <a:srgbClr val="1F8A99"/>
            </a:solidFill>
            <a:prstDash val="solid"/>
          </a:ln>
        </p:spPr>
        <p:txBody>
          <a:bodyPr/>
          <a:lstStyle/>
          <a:p>
            <a:endParaRPr lang="en-US"/>
          </a:p>
        </p:txBody>
      </p:sp>
      <p:sp>
        <p:nvSpPr>
          <p:cNvPr id="32" name="Text 30"/>
          <p:cNvSpPr/>
          <p:nvPr/>
        </p:nvSpPr>
        <p:spPr>
          <a:xfrm>
            <a:off x="8060741" y="4846320"/>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t>
            </a:r>
            <a:endParaRPr lang="en-US" sz="900" dirty="0"/>
          </a:p>
        </p:txBody>
      </p:sp>
      <p:sp>
        <p:nvSpPr>
          <p:cNvPr id="33" name="Text 31"/>
          <p:cNvSpPr/>
          <p:nvPr/>
        </p:nvSpPr>
        <p:spPr>
          <a:xfrm>
            <a:off x="8517941" y="4809744"/>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a hand-written pre-model program written with full workflow knowledge</a:t>
            </a:r>
            <a:endParaRPr lang="en-US" sz="1000" dirty="0"/>
          </a:p>
        </p:txBody>
      </p:sp>
      <p:sp>
        <p:nvSpPr>
          <p:cNvPr id="34" name="Shape 32"/>
          <p:cNvSpPr/>
          <p:nvPr/>
        </p:nvSpPr>
        <p:spPr>
          <a:xfrm>
            <a:off x="640080" y="5449824"/>
            <a:ext cx="329184" cy="329184"/>
          </a:xfrm>
          <a:prstGeom prst="ellipse">
            <a:avLst/>
          </a:prstGeom>
          <a:solidFill>
            <a:srgbClr val="1F8A99"/>
          </a:solidFill>
          <a:ln w="6350">
            <a:solidFill>
              <a:srgbClr val="1F8A99"/>
            </a:solidFill>
            <a:prstDash val="solid"/>
          </a:ln>
        </p:spPr>
        <p:txBody>
          <a:bodyPr/>
          <a:lstStyle/>
          <a:p>
            <a:endParaRPr lang="en-US"/>
          </a:p>
        </p:txBody>
      </p:sp>
      <p:sp>
        <p:nvSpPr>
          <p:cNvPr id="35" name="Text 33"/>
          <p:cNvSpPr/>
          <p:nvPr/>
        </p:nvSpPr>
        <p:spPr>
          <a:xfrm>
            <a:off x="640080" y="544982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a:t>
            </a:r>
            <a:endParaRPr lang="en-US" sz="900" dirty="0"/>
          </a:p>
        </p:txBody>
      </p:sp>
      <p:sp>
        <p:nvSpPr>
          <p:cNvPr id="36" name="Text 34"/>
          <p:cNvSpPr/>
          <p:nvPr/>
        </p:nvSpPr>
        <p:spPr>
          <a:xfrm>
            <a:off x="1097280" y="5413248"/>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paired exact McNemar, bootstrap intervals, Wilcoxon signed-rank tests</a:t>
            </a:r>
            <a:endParaRPr lang="en-US" sz="1000" dirty="0"/>
          </a:p>
        </p:txBody>
      </p:sp>
      <p:sp>
        <p:nvSpPr>
          <p:cNvPr id="37" name="Shape 35"/>
          <p:cNvSpPr/>
          <p:nvPr/>
        </p:nvSpPr>
        <p:spPr>
          <a:xfrm>
            <a:off x="4350410" y="5449824"/>
            <a:ext cx="329184" cy="329184"/>
          </a:xfrm>
          <a:prstGeom prst="ellipse">
            <a:avLst/>
          </a:prstGeom>
          <a:solidFill>
            <a:srgbClr val="1F8A99"/>
          </a:solidFill>
          <a:ln w="6350">
            <a:solidFill>
              <a:srgbClr val="1F8A99"/>
            </a:solidFill>
            <a:prstDash val="solid"/>
          </a:ln>
        </p:spPr>
        <p:txBody>
          <a:bodyPr/>
          <a:lstStyle/>
          <a:p>
            <a:endParaRPr lang="en-US"/>
          </a:p>
        </p:txBody>
      </p:sp>
      <p:sp>
        <p:nvSpPr>
          <p:cNvPr id="38" name="Text 36"/>
          <p:cNvSpPr/>
          <p:nvPr/>
        </p:nvSpPr>
        <p:spPr>
          <a:xfrm>
            <a:off x="4350410" y="544982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a:t>
            </a:r>
            <a:endParaRPr lang="en-US" sz="900" dirty="0"/>
          </a:p>
        </p:txBody>
      </p:sp>
      <p:sp>
        <p:nvSpPr>
          <p:cNvPr id="39" name="Text 37"/>
          <p:cNvSpPr/>
          <p:nvPr/>
        </p:nvSpPr>
        <p:spPr>
          <a:xfrm>
            <a:off x="4807610" y="5413248"/>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gpt-5.6-luna primary; gpt-6-luna and claude-sonnet-5 replications</a:t>
            </a:r>
            <a:endParaRPr lang="en-US" sz="1000" dirty="0"/>
          </a:p>
        </p:txBody>
      </p:sp>
      <p:sp>
        <p:nvSpPr>
          <p:cNvPr id="40" name="Shape 38"/>
          <p:cNvSpPr/>
          <p:nvPr/>
        </p:nvSpPr>
        <p:spPr>
          <a:xfrm>
            <a:off x="8060741" y="5449824"/>
            <a:ext cx="329184" cy="329184"/>
          </a:xfrm>
          <a:prstGeom prst="ellipse">
            <a:avLst/>
          </a:prstGeom>
          <a:solidFill>
            <a:srgbClr val="1F8A99"/>
          </a:solidFill>
          <a:ln w="6350">
            <a:solidFill>
              <a:srgbClr val="1F8A99"/>
            </a:solidFill>
            <a:prstDash val="solid"/>
          </a:ln>
        </p:spPr>
        <p:txBody>
          <a:bodyPr/>
          <a:lstStyle/>
          <a:p>
            <a:endParaRPr lang="en-US"/>
          </a:p>
        </p:txBody>
      </p:sp>
      <p:sp>
        <p:nvSpPr>
          <p:cNvPr id="41" name="Text 39"/>
          <p:cNvSpPr/>
          <p:nvPr/>
        </p:nvSpPr>
        <p:spPr>
          <a:xfrm>
            <a:off x="8060741" y="5449824"/>
            <a:ext cx="329184" cy="32918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42" name="Text 40"/>
          <p:cNvSpPr/>
          <p:nvPr/>
        </p:nvSpPr>
        <p:spPr>
          <a:xfrm>
            <a:off x="8517941" y="5413248"/>
            <a:ext cx="3033674" cy="512064"/>
          </a:xfrm>
          <a:prstGeom prst="rect">
            <a:avLst/>
          </a:prstGeom>
          <a:noFill/>
          <a:ln/>
        </p:spPr>
        <p:txBody>
          <a:bodyPr wrap="square" lIns="0" tIns="0" rIns="0" bIns="0" rtlCol="0" anchor="t"/>
          <a:lstStyle/>
          <a:p>
            <a:pPr marL="0" indent="0">
              <a:lnSpc>
                <a:spcPct val="104000"/>
              </a:lnSpc>
              <a:buNone/>
            </a:pPr>
            <a:r>
              <a:rPr lang="en-US" sz="1000" dirty="0">
                <a:solidFill>
                  <a:srgbClr val="24354F"/>
                </a:solidFill>
                <a:latin typeface="Calibri" pitchFamily="34" charset="0"/>
                <a:ea typeface="Calibri" pitchFamily="34" charset="-122"/>
                <a:cs typeface="Calibri" pitchFamily="34" charset="-120"/>
              </a:rPr>
              <a:t>requests, interfaces, tokens, latency, and cost at list prices</a:t>
            </a:r>
            <a:endParaRPr lang="en-US" sz="1000" dirty="0"/>
          </a:p>
        </p:txBody>
      </p:sp>
      <p:sp>
        <p:nvSpPr>
          <p:cNvPr id="43" name="Text 41"/>
          <p:cNvSpPr/>
          <p:nvPr/>
        </p:nvSpPr>
        <p:spPr>
          <a:xfrm>
            <a:off x="640080" y="5998464"/>
            <a:ext cx="10911535" cy="274320"/>
          </a:xfrm>
          <a:prstGeom prst="rect">
            <a:avLst/>
          </a:prstGeom>
          <a:noFill/>
          <a:ln/>
        </p:spPr>
        <p:txBody>
          <a:bodyPr wrap="square" lIns="0" tIns="0" rIns="0" bIns="0" rtlCol="0" anchor="t"/>
          <a:lstStyle/>
          <a:p>
            <a:pPr marL="0" indent="0">
              <a:buNone/>
            </a:pPr>
            <a:r>
              <a:rPr lang="en-US" sz="900" i="1" dirty="0">
                <a:solidFill>
                  <a:srgbClr val="5A6B84"/>
                </a:solidFill>
                <a:latin typeface="Calibri" pitchFamily="34" charset="0"/>
                <a:ea typeface="Calibri" pitchFamily="34" charset="-122"/>
                <a:cs typeface="Calibri" pitchFamily="34" charset="-120"/>
              </a:rPr>
              <a:t>The exact-trace filter keeps 130–132 of 132 discovery records per family, so each certificate is conditional on that selection. Gate multiplicity is controlled by the Bonferroni term of Equation (7).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§5.4  ·  TABLE 2</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Where GAC yields no measured benefit: NESTFUL and AppWorld</a:t>
            </a:r>
            <a:endParaRPr lang="en-US" sz="2600" dirty="0"/>
          </a:p>
        </p:txBody>
      </p:sp>
      <p:sp>
        <p:nvSpPr>
          <p:cNvPr id="6" name="Text 4"/>
          <p:cNvSpPr/>
          <p:nvPr/>
        </p:nvSpPr>
        <p:spPr>
          <a:xfrm>
            <a:off x="640080" y="1188720"/>
            <a:ext cx="5669280" cy="2103120"/>
          </a:xfrm>
          <a:prstGeom prst="rect">
            <a:avLst/>
          </a:prstGeom>
          <a:noFill/>
          <a:ln/>
        </p:spPr>
        <p:txBody>
          <a:bodyPr wrap="square" lIns="0" tIns="0" rIns="0" bIns="0" rtlCol="0" anchor="t"/>
          <a:lstStyle/>
          <a:p>
            <a:pPr marL="342900" indent="-342900">
              <a:lnSpc>
                <a:spcPct val="105000"/>
              </a:lnSpc>
              <a:spcAft>
                <a:spcPts val="700"/>
              </a:spcAft>
              <a:buSzPct val="100000"/>
              <a:buChar char="•"/>
            </a:pPr>
            <a:r>
              <a:rPr lang="en-US" sz="1150" dirty="0">
                <a:solidFill>
                  <a:srgbClr val="24354F"/>
                </a:solidFill>
                <a:latin typeface="Calibri" pitchFamily="34" charset="0"/>
                <a:ea typeface="Calibri" pitchFamily="34" charset="-122"/>
                <a:cs typeface="Calibri" pitchFamily="34" charset="-120"/>
              </a:rPr>
              <a:t>Thin evidence: NESTFUL, the largest trace corpus the compiler ingests (1,415 traces), passes provenance, synthesis, and replay with no wrong execution.</a:t>
            </a:r>
            <a:endParaRPr lang="en-US" sz="1150" dirty="0"/>
          </a:p>
          <a:p>
            <a:pPr marL="342900" indent="-342900">
              <a:lnSpc>
                <a:spcPct val="105000"/>
              </a:lnSpc>
              <a:spcAft>
                <a:spcPts val="700"/>
              </a:spcAft>
              <a:buSzPct val="100000"/>
              <a:buChar char="•"/>
            </a:pPr>
            <a:r>
              <a:rPr lang="en-US" sz="1150" dirty="0">
                <a:solidFill>
                  <a:srgbClr val="24354F"/>
                </a:solidFill>
                <a:latin typeface="Calibri" pitchFamily="34" charset="0"/>
                <a:ea typeface="Calibri" pitchFamily="34" charset="-122"/>
                <a:cs typeface="Calibri" pitchFamily="34" charset="-120"/>
              </a:rPr>
              <a:t>Yet its best family reaches 26 independent groups against the 92 the gate requires, so all 32 families retire at stage 6. API-Bank and BFCL v4 retire the same way, at 8 and 15.</a:t>
            </a:r>
            <a:endParaRPr lang="en-US" sz="1150" dirty="0"/>
          </a:p>
          <a:p>
            <a:pPr marL="342900" indent="-342900">
              <a:lnSpc>
                <a:spcPct val="105000"/>
              </a:lnSpc>
              <a:spcAft>
                <a:spcPts val="700"/>
              </a:spcAft>
              <a:buSzPct val="100000"/>
              <a:buChar char="•"/>
            </a:pPr>
            <a:r>
              <a:rPr lang="en-US" sz="1150" dirty="0">
                <a:solidFill>
                  <a:srgbClr val="24354F"/>
                </a:solidFill>
                <a:latin typeface="Calibri" pitchFamily="34" charset="0"/>
                <a:ea typeface="Calibri" pitchFamily="34" charset="-122"/>
                <a:cs typeface="Calibri" pitchFamily="34" charset="-120"/>
              </a:rPr>
              <a:t>Admissible, rarely dispatchable: on AppWorld's gold solutions one argument-free two-call artifact is admitted at 92/92 groups, yet ReAct and plan-and-execute agents open by reading API documentation and almost never reach it.</a:t>
            </a:r>
            <a:endParaRPr lang="en-US" sz="1150" dirty="0"/>
          </a:p>
        </p:txBody>
      </p:sp>
      <p:sp>
        <p:nvSpPr>
          <p:cNvPr id="7" name="Shape 5"/>
          <p:cNvSpPr/>
          <p:nvPr/>
        </p:nvSpPr>
        <p:spPr>
          <a:xfrm>
            <a:off x="640080" y="3419856"/>
            <a:ext cx="5669280" cy="1188720"/>
          </a:xfrm>
          <a:prstGeom prst="roundRect">
            <a:avLst>
              <a:gd name="adj" fmla="val 3846"/>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8" name="Text 6"/>
          <p:cNvSpPr/>
          <p:nvPr/>
        </p:nvSpPr>
        <p:spPr>
          <a:xfrm>
            <a:off x="896112" y="3547872"/>
            <a:ext cx="5157216" cy="932688"/>
          </a:xfrm>
          <a:prstGeom prst="rect">
            <a:avLst/>
          </a:prstGeom>
          <a:noFill/>
          <a:ln/>
        </p:spPr>
        <p:txBody>
          <a:bodyPr wrap="square" lIns="0" tIns="0" rIns="0" bIns="0" rtlCol="0" anchor="ctr"/>
          <a:lstStyle/>
          <a:p>
            <a:pPr marL="0" indent="0">
              <a:lnSpc>
                <a:spcPct val="107000"/>
              </a:lnSpc>
              <a:buNone/>
            </a:pPr>
            <a:r>
              <a:rPr lang="en-US" sz="1100" b="1" dirty="0">
                <a:solidFill>
                  <a:srgbClr val="A93B2B"/>
                </a:solidFill>
                <a:latin typeface="Calibri" pitchFamily="34" charset="0"/>
                <a:ea typeface="Calibri" pitchFamily="34" charset="-122"/>
                <a:cs typeface="Calibri" pitchFamily="34" charset="-120"/>
              </a:rPr>
              <a:t>No model runs on either benchmark, so neither licenses an efficiency claim.</a:t>
            </a:r>
            <a:r>
              <a:rPr lang="en-US" sz="1100" dirty="0">
                <a:solidFill>
                  <a:srgbClr val="5C4034"/>
                </a:solidFill>
                <a:latin typeface="Calibri" pitchFamily="34" charset="0"/>
                <a:ea typeface="Calibri" pitchFamily="34" charset="-122"/>
                <a:cs typeface="Calibri" pitchFamily="34" charset="-120"/>
              </a:rPr>
              <a:t> The floor is a corpus-size fact: it bounds what public trace benchmarks can certify, not what the compiler can do. Admitting the documentation read as a prologue recovers only 2 more of 4,680 runs.</a:t>
            </a:r>
            <a:endParaRPr lang="en-US" sz="1100" dirty="0"/>
          </a:p>
        </p:txBody>
      </p:sp>
      <p:graphicFrame>
        <p:nvGraphicFramePr>
          <p:cNvPr id="9" name="Chart 0"/>
          <p:cNvGraphicFramePr/>
          <p:nvPr/>
        </p:nvGraphicFramePr>
        <p:xfrm>
          <a:off x="6675120" y="1152144"/>
          <a:ext cx="4873752" cy="3456432"/>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640080" y="4754880"/>
            <a:ext cx="10911535" cy="237744"/>
          </a:xfrm>
          <a:prstGeom prst="rect">
            <a:avLst/>
          </a:prstGeom>
          <a:noFill/>
          <a:ln/>
        </p:spPr>
        <p:txBody>
          <a:bodyPr wrap="square" lIns="0" tIns="0" rIns="0" bIns="0" rtlCol="0" anchor="t"/>
          <a:lstStyle/>
          <a:p>
            <a:pPr marL="0" indent="0">
              <a:buNone/>
            </a:pPr>
            <a:r>
              <a:rPr lang="en-US" sz="1050" b="1" kern="0" spc="180" dirty="0">
                <a:solidFill>
                  <a:srgbClr val="5A6B84"/>
                </a:solidFill>
                <a:latin typeface="Calibri" pitchFamily="34" charset="0"/>
                <a:ea typeface="Calibri" pitchFamily="34" charset="-122"/>
                <a:cs typeface="Calibri" pitchFamily="34" charset="-120"/>
              </a:rPr>
              <a:t>TABLE 2 — THE TWO TRACE BENCHMARKS WITH NO MEASURED GAC BENEFIT</a:t>
            </a:r>
            <a:endParaRPr lang="en-US" sz="1050" dirty="0"/>
          </a:p>
        </p:txBody>
      </p:sp>
      <p:sp>
        <p:nvSpPr>
          <p:cNvPr id="11" name="Shape 8"/>
          <p:cNvSpPr/>
          <p:nvPr/>
        </p:nvSpPr>
        <p:spPr>
          <a:xfrm>
            <a:off x="640080"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2" name="Text 9"/>
          <p:cNvSpPr/>
          <p:nvPr/>
        </p:nvSpPr>
        <p:spPr>
          <a:xfrm>
            <a:off x="749808"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1,415</a:t>
            </a:r>
            <a:endParaRPr lang="en-US" sz="1250" dirty="0"/>
          </a:p>
        </p:txBody>
      </p:sp>
      <p:sp>
        <p:nvSpPr>
          <p:cNvPr id="13" name="Text 10"/>
          <p:cNvSpPr/>
          <p:nvPr/>
        </p:nvSpPr>
        <p:spPr>
          <a:xfrm>
            <a:off x="749808"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NESTFUL executable traces</a:t>
            </a:r>
            <a:endParaRPr lang="en-US" sz="900" dirty="0"/>
          </a:p>
        </p:txBody>
      </p:sp>
      <p:sp>
        <p:nvSpPr>
          <p:cNvPr id="14" name="Shape 11"/>
          <p:cNvSpPr/>
          <p:nvPr/>
        </p:nvSpPr>
        <p:spPr>
          <a:xfrm>
            <a:off x="2219771"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5" name="Text 12"/>
          <p:cNvSpPr/>
          <p:nvPr/>
        </p:nvSpPr>
        <p:spPr>
          <a:xfrm>
            <a:off x="2329499"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26 / 92</a:t>
            </a:r>
            <a:endParaRPr lang="en-US" sz="1250" dirty="0"/>
          </a:p>
        </p:txBody>
      </p:sp>
      <p:sp>
        <p:nvSpPr>
          <p:cNvPr id="16" name="Text 13"/>
          <p:cNvSpPr/>
          <p:nvPr/>
        </p:nvSpPr>
        <p:spPr>
          <a:xfrm>
            <a:off x="2329499"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best family support vs. gate floor</a:t>
            </a:r>
            <a:endParaRPr lang="en-US" sz="900" dirty="0"/>
          </a:p>
        </p:txBody>
      </p:sp>
      <p:sp>
        <p:nvSpPr>
          <p:cNvPr id="17" name="Shape 14"/>
          <p:cNvSpPr/>
          <p:nvPr/>
        </p:nvSpPr>
        <p:spPr>
          <a:xfrm>
            <a:off x="3799463"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8" name="Text 15"/>
          <p:cNvSpPr/>
          <p:nvPr/>
        </p:nvSpPr>
        <p:spPr>
          <a:xfrm>
            <a:off x="3909191"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0 / 32</a:t>
            </a:r>
            <a:endParaRPr lang="en-US" sz="1250" dirty="0"/>
          </a:p>
        </p:txBody>
      </p:sp>
      <p:sp>
        <p:nvSpPr>
          <p:cNvPr id="19" name="Text 16"/>
          <p:cNvSpPr/>
          <p:nvPr/>
        </p:nvSpPr>
        <p:spPr>
          <a:xfrm>
            <a:off x="3909191"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NESTFUL families admitted</a:t>
            </a:r>
            <a:endParaRPr lang="en-US" sz="900" dirty="0"/>
          </a:p>
        </p:txBody>
      </p:sp>
      <p:sp>
        <p:nvSpPr>
          <p:cNvPr id="20" name="Shape 17"/>
          <p:cNvSpPr/>
          <p:nvPr/>
        </p:nvSpPr>
        <p:spPr>
          <a:xfrm>
            <a:off x="5379154"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1" name="Text 18"/>
          <p:cNvSpPr/>
          <p:nvPr/>
        </p:nvSpPr>
        <p:spPr>
          <a:xfrm>
            <a:off x="5488882"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24 / 12 / 0</a:t>
            </a:r>
            <a:endParaRPr lang="en-US" sz="1250" dirty="0"/>
          </a:p>
        </p:txBody>
      </p:sp>
      <p:sp>
        <p:nvSpPr>
          <p:cNvPr id="22" name="Text 19"/>
          <p:cNvSpPr/>
          <p:nvPr/>
        </p:nvSpPr>
        <p:spPr>
          <a:xfrm>
            <a:off x="5488882"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replay pass / abstain / wrong</a:t>
            </a:r>
            <a:endParaRPr lang="en-US" sz="900" dirty="0"/>
          </a:p>
        </p:txBody>
      </p:sp>
      <p:sp>
        <p:nvSpPr>
          <p:cNvPr id="23" name="Shape 20"/>
          <p:cNvSpPr/>
          <p:nvPr/>
        </p:nvSpPr>
        <p:spPr>
          <a:xfrm>
            <a:off x="6958845"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4" name="Text 21"/>
          <p:cNvSpPr/>
          <p:nvPr/>
        </p:nvSpPr>
        <p:spPr>
          <a:xfrm>
            <a:off x="7068573"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136</a:t>
            </a:r>
            <a:endParaRPr lang="en-US" sz="1250" dirty="0"/>
          </a:p>
        </p:txBody>
      </p:sp>
      <p:sp>
        <p:nvSpPr>
          <p:cNvPr id="25" name="Text 22"/>
          <p:cNvSpPr/>
          <p:nvPr/>
        </p:nvSpPr>
        <p:spPr>
          <a:xfrm>
            <a:off x="7068573"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largest AppWorld family support</a:t>
            </a:r>
            <a:endParaRPr lang="en-US" sz="900" dirty="0"/>
          </a:p>
        </p:txBody>
      </p:sp>
      <p:sp>
        <p:nvSpPr>
          <p:cNvPr id="26" name="Shape 23"/>
          <p:cNvSpPr/>
          <p:nvPr/>
        </p:nvSpPr>
        <p:spPr>
          <a:xfrm>
            <a:off x="8538537" y="5029200"/>
            <a:ext cx="1433387" cy="969264"/>
          </a:xfrm>
          <a:prstGeom prst="roundRect">
            <a:avLst>
              <a:gd name="adj" fmla="val 4717"/>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7" name="Text 24"/>
          <p:cNvSpPr/>
          <p:nvPr/>
        </p:nvSpPr>
        <p:spPr>
          <a:xfrm>
            <a:off x="8648265" y="5120640"/>
            <a:ext cx="1213931" cy="329184"/>
          </a:xfrm>
          <a:prstGeom prst="rect">
            <a:avLst/>
          </a:prstGeom>
          <a:noFill/>
          <a:ln/>
        </p:spPr>
        <p:txBody>
          <a:bodyPr wrap="square" lIns="0" tIns="0" rIns="0" bIns="0" rtlCol="0" anchor="ctr"/>
          <a:lstStyle/>
          <a:p>
            <a:pPr marL="0" indent="0">
              <a:buNone/>
            </a:pPr>
            <a:r>
              <a:rPr lang="en-US" sz="1250" b="1" dirty="0">
                <a:solidFill>
                  <a:srgbClr val="A93B2B"/>
                </a:solidFill>
                <a:latin typeface="Cambria" pitchFamily="34" charset="0"/>
                <a:ea typeface="Cambria" pitchFamily="34" charset="-122"/>
                <a:cs typeface="Cambria" pitchFamily="34" charset="-120"/>
              </a:rPr>
              <a:t>2,339/2,340</a:t>
            </a:r>
            <a:endParaRPr lang="en-US" sz="1250" dirty="0"/>
          </a:p>
        </p:txBody>
      </p:sp>
      <p:sp>
        <p:nvSpPr>
          <p:cNvPr id="28" name="Text 25"/>
          <p:cNvSpPr/>
          <p:nvPr/>
        </p:nvSpPr>
        <p:spPr>
          <a:xfrm>
            <a:off x="8648265"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full-code runs that can dispatch</a:t>
            </a:r>
            <a:endParaRPr lang="en-US" sz="900" dirty="0"/>
          </a:p>
        </p:txBody>
      </p:sp>
      <p:sp>
        <p:nvSpPr>
          <p:cNvPr id="29" name="Shape 26"/>
          <p:cNvSpPr/>
          <p:nvPr/>
        </p:nvSpPr>
        <p:spPr>
          <a:xfrm>
            <a:off x="10118228" y="5029200"/>
            <a:ext cx="1433387"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0" name="Text 27"/>
          <p:cNvSpPr/>
          <p:nvPr/>
        </p:nvSpPr>
        <p:spPr>
          <a:xfrm>
            <a:off x="10227956" y="5120640"/>
            <a:ext cx="1213931" cy="329184"/>
          </a:xfrm>
          <a:prstGeom prst="rect">
            <a:avLst/>
          </a:prstGeom>
          <a:noFill/>
          <a:ln/>
        </p:spPr>
        <p:txBody>
          <a:bodyPr wrap="square" lIns="0" tIns="0" rIns="0" bIns="0" rtlCol="0" anchor="ctr"/>
          <a:lstStyle/>
          <a:p>
            <a:pPr marL="0" indent="0">
              <a:buNone/>
            </a:pPr>
            <a:r>
              <a:rPr lang="en-US" sz="1250" b="1" dirty="0">
                <a:solidFill>
                  <a:srgbClr val="0E1E3A"/>
                </a:solidFill>
                <a:latin typeface="Cambria" pitchFamily="34" charset="0"/>
                <a:ea typeface="Cambria" pitchFamily="34" charset="-122"/>
                <a:cs typeface="Cambria" pitchFamily="34" charset="-120"/>
              </a:rPr>
              <a:t>1 / 4,680</a:t>
            </a:r>
            <a:endParaRPr lang="en-US" sz="1250" dirty="0"/>
          </a:p>
        </p:txBody>
      </p:sp>
      <p:sp>
        <p:nvSpPr>
          <p:cNvPr id="31" name="Text 28"/>
          <p:cNvSpPr/>
          <p:nvPr/>
        </p:nvSpPr>
        <p:spPr>
          <a:xfrm>
            <a:off x="10227956" y="5449824"/>
            <a:ext cx="1213931"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ReAct or plan-and-execute runs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§5.1  ·  ISSUE-TYPE ROUTING  ·  TABLES 1 AND 11</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Issue-type routing: the compiler keeps only what it can ground</a:t>
            </a:r>
            <a:endParaRPr lang="en-US" sz="2600" dirty="0"/>
          </a:p>
        </p:txBody>
      </p:sp>
      <p:graphicFrame>
        <p:nvGraphicFramePr>
          <p:cNvPr id="6" name="Chart 0"/>
          <p:cNvGraphicFramePr/>
          <p:nvPr/>
        </p:nvGraphicFramePr>
        <p:xfrm>
          <a:off x="640080" y="1152144"/>
          <a:ext cx="7223760" cy="3602736"/>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92440" y="1152144"/>
            <a:ext cx="3459175" cy="3602736"/>
          </a:xfrm>
          <a:prstGeom prst="roundRect">
            <a:avLst>
              <a:gd name="adj" fmla="val 1322"/>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8" name="Text 5"/>
          <p:cNvSpPr/>
          <p:nvPr/>
        </p:nvSpPr>
        <p:spPr>
          <a:xfrm>
            <a:off x="8330184" y="1298448"/>
            <a:ext cx="2983687" cy="201168"/>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WHAT THE COMPILER DID, AND DECLINED</a:t>
            </a:r>
            <a:endParaRPr lang="en-US" sz="950" dirty="0"/>
          </a:p>
        </p:txBody>
      </p:sp>
      <p:sp>
        <p:nvSpPr>
          <p:cNvPr id="9" name="Text 6"/>
          <p:cNvSpPr/>
          <p:nvPr/>
        </p:nvSpPr>
        <p:spPr>
          <a:xfrm>
            <a:off x="8348472" y="1627632"/>
            <a:ext cx="2947111" cy="30175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000" dirty="0">
                <a:solidFill>
                  <a:srgbClr val="24354F"/>
                </a:solidFill>
                <a:latin typeface="Calibri" pitchFamily="34" charset="0"/>
                <a:ea typeface="Calibri" pitchFamily="34" charset="-122"/>
                <a:cs typeface="Calibri" pitchFamily="34" charset="-120"/>
              </a:rPr>
              <a:t>All 132 discovery traces read record → labels → comments under a prompt naming neither tools nor order</a:t>
            </a:r>
            <a:endParaRPr lang="en-US" sz="1000" dirty="0"/>
          </a:p>
          <a:p>
            <a:pPr marL="342900" indent="-342900">
              <a:lnSpc>
                <a:spcPct val="105000"/>
              </a:lnSpc>
              <a:spcAft>
                <a:spcPts val="600"/>
              </a:spcAft>
              <a:buSzPct val="100000"/>
              <a:buChar char="•"/>
            </a:pPr>
            <a:r>
              <a:rPr lang="en-US" sz="1000" dirty="0">
                <a:solidFill>
                  <a:srgbClr val="24354F"/>
                </a:solidFill>
                <a:latin typeface="Calibri" pitchFamily="34" charset="0"/>
                <a:ea typeface="Calibri" pitchFamily="34" charset="-122"/>
                <a:cs typeface="Calibri" pitchFamily="34" charset="-120"/>
              </a:rPr>
              <a:t>The comments limit is 100 in 130 traces and 1 in two: not an invariant literal, and no trace-grounded expression reproduces it</a:t>
            </a:r>
            <a:endParaRPr lang="en-US" sz="1000" dirty="0"/>
          </a:p>
          <a:p>
            <a:pPr marL="342900" indent="-342900">
              <a:lnSpc>
                <a:spcPct val="105000"/>
              </a:lnSpc>
              <a:spcAft>
                <a:spcPts val="600"/>
              </a:spcAft>
              <a:buSzPct val="100000"/>
              <a:buChar char="•"/>
            </a:pPr>
            <a:r>
              <a:rPr lang="en-US" sz="1000" dirty="0">
                <a:solidFill>
                  <a:srgbClr val="24354F"/>
                </a:solidFill>
                <a:latin typeface="Calibri" pitchFamily="34" charset="0"/>
                <a:ea typeface="Calibri" pitchFamily="34" charset="-122"/>
                <a:cs typeface="Calibri" pitchFamily="34" charset="-120"/>
              </a:rPr>
              <a:t>The full three-read candidate is rejected with ungroundable_slot; the compiler emits the two-read prefix, and the agent performs the comments read and the final answer</a:t>
            </a:r>
            <a:endParaRPr lang="en-US" sz="1000" dirty="0"/>
          </a:p>
          <a:p>
            <a:pPr marL="342900" indent="-342900">
              <a:lnSpc>
                <a:spcPct val="105000"/>
              </a:lnSpc>
              <a:spcAft>
                <a:spcPts val="600"/>
              </a:spcAft>
              <a:buSzPct val="100000"/>
              <a:buChar char="•"/>
            </a:pPr>
            <a:r>
              <a:rPr lang="en-US" sz="1000" dirty="0">
                <a:solidFill>
                  <a:srgbClr val="24354F"/>
                </a:solidFill>
                <a:latin typeface="Calibri" pitchFamily="34" charset="0"/>
                <a:ea typeface="Calibri" pitchFamily="34" charset="-122"/>
                <a:cs typeface="Calibri" pitchFamily="34" charset="-120"/>
              </a:rPr>
              <a:t>16 training, 8 development, 92 calibration records from the 130 eligible traces; 14 unused</a:t>
            </a:r>
            <a:endParaRPr lang="en-US" sz="1000" dirty="0"/>
          </a:p>
          <a:p>
            <a:pPr marL="342900" indent="-342900">
              <a:lnSpc>
                <a:spcPct val="105000"/>
              </a:lnSpc>
              <a:spcAft>
                <a:spcPts val="600"/>
              </a:spcAft>
              <a:buSzPct val="100000"/>
              <a:buChar char="•"/>
            </a:pPr>
            <a:r>
              <a:rPr lang="en-US" sz="1000" dirty="0">
                <a:solidFill>
                  <a:srgbClr val="24354F"/>
                </a:solidFill>
                <a:latin typeface="Calibri" pitchFamily="34" charset="0"/>
                <a:ea typeface="Calibri" pitchFamily="34" charset="-122"/>
                <a:cs typeface="Calibri" pitchFamily="34" charset="-120"/>
              </a:rPr>
              <a:t>The gate admits 92/92 calibration groups with zero registered violations at α = .05, δ = .10, |Λ| = 11 — simultaneous upper bound 0.0498</a:t>
            </a:r>
            <a:endParaRPr lang="en-US" sz="1000" dirty="0"/>
          </a:p>
        </p:txBody>
      </p:sp>
      <p:sp>
        <p:nvSpPr>
          <p:cNvPr id="10" name="Shape 7"/>
          <p:cNvSpPr/>
          <p:nvPr/>
        </p:nvSpPr>
        <p:spPr>
          <a:xfrm>
            <a:off x="640080" y="5029200"/>
            <a:ext cx="1666189"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1" name="Text 8"/>
          <p:cNvSpPr/>
          <p:nvPr/>
        </p:nvSpPr>
        <p:spPr>
          <a:xfrm>
            <a:off x="768096" y="5120640"/>
            <a:ext cx="1410157" cy="329184"/>
          </a:xfrm>
          <a:prstGeom prst="rect">
            <a:avLst/>
          </a:prstGeom>
          <a:noFill/>
          <a:ln/>
        </p:spPr>
        <p:txBody>
          <a:bodyPr wrap="square" lIns="0" tIns="0" rIns="0" bIns="0" rtlCol="0" anchor="ctr"/>
          <a:lstStyle/>
          <a:p>
            <a:pPr marL="0" indent="0">
              <a:buNone/>
            </a:pPr>
            <a:r>
              <a:rPr lang="en-US" sz="1600" b="1" dirty="0">
                <a:solidFill>
                  <a:srgbClr val="1F8A99"/>
                </a:solidFill>
                <a:latin typeface="Cambria" pitchFamily="34" charset="0"/>
                <a:ea typeface="Cambria" pitchFamily="34" charset="-122"/>
                <a:cs typeface="Cambria" pitchFamily="34" charset="-120"/>
              </a:rPr>
              <a:t>−50.0%</a:t>
            </a:r>
            <a:endParaRPr lang="en-US" sz="1600" dirty="0"/>
          </a:p>
        </p:txBody>
      </p:sp>
      <p:sp>
        <p:nvSpPr>
          <p:cNvPr id="12" name="Text 9"/>
          <p:cNvSpPr/>
          <p:nvPr/>
        </p:nvSpPr>
        <p:spPr>
          <a:xfrm>
            <a:off x="768096"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provider requests</a:t>
            </a:r>
            <a:endParaRPr lang="en-US" sz="900" dirty="0"/>
          </a:p>
        </p:txBody>
      </p:sp>
      <p:sp>
        <p:nvSpPr>
          <p:cNvPr id="13" name="Shape 10"/>
          <p:cNvSpPr/>
          <p:nvPr/>
        </p:nvSpPr>
        <p:spPr>
          <a:xfrm>
            <a:off x="2489149" y="5029200"/>
            <a:ext cx="1666189"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4" name="Text 11"/>
          <p:cNvSpPr/>
          <p:nvPr/>
        </p:nvSpPr>
        <p:spPr>
          <a:xfrm>
            <a:off x="2617165" y="5120640"/>
            <a:ext cx="1410157" cy="329184"/>
          </a:xfrm>
          <a:prstGeom prst="rect">
            <a:avLst/>
          </a:prstGeom>
          <a:noFill/>
          <a:ln/>
        </p:spPr>
        <p:txBody>
          <a:bodyPr wrap="square" lIns="0" tIns="0" rIns="0" bIns="0" rtlCol="0" anchor="ctr"/>
          <a:lstStyle/>
          <a:p>
            <a:pPr marL="0" indent="0">
              <a:buNone/>
            </a:pPr>
            <a:r>
              <a:rPr lang="en-US" sz="1600" b="1" dirty="0">
                <a:solidFill>
                  <a:srgbClr val="0E1E3A"/>
                </a:solidFill>
                <a:latin typeface="Cambria" pitchFamily="34" charset="0"/>
                <a:ea typeface="Cambria" pitchFamily="34" charset="-122"/>
                <a:cs typeface="Cambria" pitchFamily="34" charset="-120"/>
              </a:rPr>
              <a:t>−39.5%</a:t>
            </a:r>
            <a:endParaRPr lang="en-US" sz="1600" dirty="0"/>
          </a:p>
        </p:txBody>
      </p:sp>
      <p:sp>
        <p:nvSpPr>
          <p:cNvPr id="15" name="Text 12"/>
          <p:cNvSpPr/>
          <p:nvPr/>
        </p:nvSpPr>
        <p:spPr>
          <a:xfrm>
            <a:off x="2617165"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total tokens</a:t>
            </a:r>
            <a:endParaRPr lang="en-US" sz="900" dirty="0"/>
          </a:p>
        </p:txBody>
      </p:sp>
      <p:sp>
        <p:nvSpPr>
          <p:cNvPr id="16" name="Shape 13"/>
          <p:cNvSpPr/>
          <p:nvPr/>
        </p:nvSpPr>
        <p:spPr>
          <a:xfrm>
            <a:off x="4338218" y="5029200"/>
            <a:ext cx="1666189"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17" name="Text 14"/>
          <p:cNvSpPr/>
          <p:nvPr/>
        </p:nvSpPr>
        <p:spPr>
          <a:xfrm>
            <a:off x="4466234" y="5120640"/>
            <a:ext cx="1410157" cy="329184"/>
          </a:xfrm>
          <a:prstGeom prst="rect">
            <a:avLst/>
          </a:prstGeom>
          <a:noFill/>
          <a:ln/>
        </p:spPr>
        <p:txBody>
          <a:bodyPr wrap="square" lIns="0" tIns="0" rIns="0" bIns="0" rtlCol="0" anchor="ctr"/>
          <a:lstStyle/>
          <a:p>
            <a:pPr marL="0" indent="0">
              <a:buNone/>
            </a:pPr>
            <a:r>
              <a:rPr lang="en-US" sz="1600" b="1" dirty="0">
                <a:solidFill>
                  <a:srgbClr val="0E1E3A"/>
                </a:solidFill>
                <a:latin typeface="Cambria" pitchFamily="34" charset="0"/>
                <a:ea typeface="Cambria" pitchFamily="34" charset="-122"/>
                <a:cs typeface="Cambria" pitchFamily="34" charset="-120"/>
              </a:rPr>
              <a:t>−51.7%</a:t>
            </a:r>
            <a:endParaRPr lang="en-US" sz="1600" dirty="0"/>
          </a:p>
        </p:txBody>
      </p:sp>
      <p:sp>
        <p:nvSpPr>
          <p:cNvPr id="18" name="Text 15"/>
          <p:cNvSpPr/>
          <p:nvPr/>
        </p:nvSpPr>
        <p:spPr>
          <a:xfrm>
            <a:off x="4466234"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observed wall latency</a:t>
            </a:r>
            <a:endParaRPr lang="en-US" sz="900" dirty="0"/>
          </a:p>
        </p:txBody>
      </p:sp>
      <p:sp>
        <p:nvSpPr>
          <p:cNvPr id="19" name="Shape 16"/>
          <p:cNvSpPr/>
          <p:nvPr/>
        </p:nvSpPr>
        <p:spPr>
          <a:xfrm>
            <a:off x="6187288" y="5029200"/>
            <a:ext cx="1666189"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0" name="Text 17"/>
          <p:cNvSpPr/>
          <p:nvPr/>
        </p:nvSpPr>
        <p:spPr>
          <a:xfrm>
            <a:off x="6315304" y="5120640"/>
            <a:ext cx="1410157" cy="329184"/>
          </a:xfrm>
          <a:prstGeom prst="rect">
            <a:avLst/>
          </a:prstGeom>
          <a:noFill/>
          <a:ln/>
        </p:spPr>
        <p:txBody>
          <a:bodyPr wrap="square" lIns="0" tIns="0" rIns="0" bIns="0" rtlCol="0" anchor="ctr"/>
          <a:lstStyle/>
          <a:p>
            <a:pPr marL="0" indent="0">
              <a:buNone/>
            </a:pPr>
            <a:r>
              <a:rPr lang="en-US" sz="1600" b="1" dirty="0">
                <a:solidFill>
                  <a:srgbClr val="0E1E3A"/>
                </a:solidFill>
                <a:latin typeface="Cambria" pitchFamily="34" charset="0"/>
                <a:ea typeface="Cambria" pitchFamily="34" charset="-122"/>
                <a:cs typeface="Cambria" pitchFamily="34" charset="-120"/>
              </a:rPr>
              <a:t>−32.0%</a:t>
            </a:r>
            <a:endParaRPr lang="en-US" sz="1600" dirty="0"/>
          </a:p>
        </p:txBody>
      </p:sp>
      <p:sp>
        <p:nvSpPr>
          <p:cNvPr id="21" name="Text 18"/>
          <p:cNvSpPr/>
          <p:nvPr/>
        </p:nvSpPr>
        <p:spPr>
          <a:xfrm>
            <a:off x="6315304"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estimated cost</a:t>
            </a:r>
            <a:endParaRPr lang="en-US" sz="900" dirty="0"/>
          </a:p>
        </p:txBody>
      </p:sp>
      <p:sp>
        <p:nvSpPr>
          <p:cNvPr id="22" name="Shape 19"/>
          <p:cNvSpPr/>
          <p:nvPr/>
        </p:nvSpPr>
        <p:spPr>
          <a:xfrm>
            <a:off x="8036357" y="5029200"/>
            <a:ext cx="1666189" cy="969264"/>
          </a:xfrm>
          <a:prstGeom prst="roundRect">
            <a:avLst>
              <a:gd name="adj" fmla="val 4717"/>
            </a:avLst>
          </a:prstGeom>
          <a:solidFill>
            <a:srgbClr val="F5F9FC"/>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23" name="Text 20"/>
          <p:cNvSpPr/>
          <p:nvPr/>
        </p:nvSpPr>
        <p:spPr>
          <a:xfrm>
            <a:off x="8164373" y="5120640"/>
            <a:ext cx="1410157" cy="329184"/>
          </a:xfrm>
          <a:prstGeom prst="rect">
            <a:avLst/>
          </a:prstGeom>
          <a:noFill/>
          <a:ln/>
        </p:spPr>
        <p:txBody>
          <a:bodyPr wrap="square" lIns="0" tIns="0" rIns="0" bIns="0" rtlCol="0" anchor="ctr"/>
          <a:lstStyle/>
          <a:p>
            <a:pPr marL="0" indent="0">
              <a:buNone/>
            </a:pPr>
            <a:r>
              <a:rPr lang="en-US" sz="1600" b="1" dirty="0">
                <a:solidFill>
                  <a:srgbClr val="1F8A99"/>
                </a:solidFill>
                <a:latin typeface="Cambria" pitchFamily="34" charset="0"/>
                <a:ea typeface="Cambria" pitchFamily="34" charset="-122"/>
                <a:cs typeface="Cambria" pitchFamily="34" charset="-120"/>
              </a:rPr>
              <a:t>30 / 30</a:t>
            </a:r>
            <a:endParaRPr lang="en-US" sz="1600" dirty="0"/>
          </a:p>
        </p:txBody>
      </p:sp>
      <p:sp>
        <p:nvSpPr>
          <p:cNvPr id="24" name="Text 21"/>
          <p:cNvSpPr/>
          <p:nvPr/>
        </p:nvSpPr>
        <p:spPr>
          <a:xfrm>
            <a:off x="8164373"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exact contracts, every arm</a:t>
            </a:r>
            <a:endParaRPr lang="en-US" sz="900" dirty="0"/>
          </a:p>
        </p:txBody>
      </p:sp>
      <p:sp>
        <p:nvSpPr>
          <p:cNvPr id="25" name="Shape 22"/>
          <p:cNvSpPr/>
          <p:nvPr/>
        </p:nvSpPr>
        <p:spPr>
          <a:xfrm>
            <a:off x="9885426" y="5029200"/>
            <a:ext cx="1666189" cy="969264"/>
          </a:xfrm>
          <a:prstGeom prst="roundRect">
            <a:avLst>
              <a:gd name="adj" fmla="val 4717"/>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6" name="Text 23"/>
          <p:cNvSpPr/>
          <p:nvPr/>
        </p:nvSpPr>
        <p:spPr>
          <a:xfrm>
            <a:off x="10013442" y="5120640"/>
            <a:ext cx="1410157" cy="329184"/>
          </a:xfrm>
          <a:prstGeom prst="rect">
            <a:avLst/>
          </a:prstGeom>
          <a:noFill/>
          <a:ln/>
        </p:spPr>
        <p:txBody>
          <a:bodyPr wrap="square" lIns="0" tIns="0" rIns="0" bIns="0" rtlCol="0" anchor="ctr"/>
          <a:lstStyle/>
          <a:p>
            <a:pPr marL="0" indent="0">
              <a:buNone/>
            </a:pPr>
            <a:r>
              <a:rPr lang="en-US" sz="1600" b="1" dirty="0">
                <a:solidFill>
                  <a:srgbClr val="A93B2B"/>
                </a:solidFill>
                <a:latin typeface="Cambria" pitchFamily="34" charset="0"/>
                <a:ea typeface="Cambria" pitchFamily="34" charset="-122"/>
                <a:cs typeface="Cambria" pitchFamily="34" charset="-120"/>
              </a:rPr>
              <a:t>9.5%</a:t>
            </a:r>
            <a:endParaRPr lang="en-US" sz="1600" dirty="0"/>
          </a:p>
        </p:txBody>
      </p:sp>
      <p:sp>
        <p:nvSpPr>
          <p:cNvPr id="27" name="Text 24"/>
          <p:cNvSpPr/>
          <p:nvPr/>
        </p:nvSpPr>
        <p:spPr>
          <a:xfrm>
            <a:off x="10013442" y="5449824"/>
            <a:ext cx="1410157" cy="457200"/>
          </a:xfrm>
          <a:prstGeom prst="rect">
            <a:avLst/>
          </a:prstGeom>
          <a:noFill/>
          <a:ln/>
        </p:spPr>
        <p:txBody>
          <a:bodyPr wrap="square" lIns="0" tIns="0" rIns="0" bIns="0" rtlCol="0" anchor="t"/>
          <a:lstStyle/>
          <a:p>
            <a:pPr marL="0" indent="0">
              <a:lnSpc>
                <a:spcPct val="100000"/>
              </a:lnSpc>
              <a:buNone/>
            </a:pPr>
            <a:r>
              <a:rPr lang="en-US" sz="900" dirty="0">
                <a:solidFill>
                  <a:srgbClr val="5A6B84"/>
                </a:solidFill>
                <a:latin typeface="Calibri" pitchFamily="34" charset="0"/>
                <a:ea typeface="Calibri" pitchFamily="34" charset="-122"/>
                <a:cs typeface="Calibri" pitchFamily="34" charset="-120"/>
              </a:rPr>
              <a:t>one-sided bound on compiled-only misses</a:t>
            </a:r>
            <a:endParaRPr lang="en-US" sz="900" dirty="0"/>
          </a:p>
        </p:txBody>
      </p:sp>
      <p:sp>
        <p:nvSpPr>
          <p:cNvPr id="28" name="Text 25"/>
          <p:cNvSpPr/>
          <p:nvPr/>
        </p:nvSpPr>
        <p:spPr>
          <a:xfrm>
            <a:off x="640080" y="5998464"/>
            <a:ext cx="10911535" cy="274320"/>
          </a:xfrm>
          <a:prstGeom prst="rect">
            <a:avLst/>
          </a:prstGeom>
          <a:noFill/>
          <a:ln/>
        </p:spPr>
        <p:txBody>
          <a:bodyPr wrap="square" lIns="0" tIns="0" rIns="0" bIns="0" rtlCol="0" anchor="t"/>
          <a:lstStyle/>
          <a:p>
            <a:pPr marL="0" indent="0">
              <a:buNone/>
            </a:pPr>
            <a:r>
              <a:rPr lang="en-US" sz="900" i="1" dirty="0">
                <a:solidFill>
                  <a:srgbClr val="5A6B84"/>
                </a:solidFill>
                <a:latin typeface="Calibri" pitchFamily="34" charset="0"/>
                <a:ea typeface="Calibri" pitchFamily="34" charset="-122"/>
                <a:cs typeface="Calibri" pitchFamily="34" charset="-120"/>
              </a:rPr>
              <a:t>The hand-written program uses one tool interface instead of three and fewer tokens; only latency favors the compiler. On a 92-group pool only full coverage is certifiable, and discovery breaks even after 411 episodes for this family.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§1  ·  APPENDIX F.2  ·  CONTINUATION AUDIT</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Recurrence proposes a program; it does not license one</a:t>
            </a:r>
            <a:endParaRPr lang="en-US" sz="2600" dirty="0"/>
          </a:p>
        </p:txBody>
      </p:sp>
      <p:sp>
        <p:nvSpPr>
          <p:cNvPr id="6" name="Shape 4"/>
          <p:cNvSpPr/>
          <p:nvPr/>
        </p:nvSpPr>
        <p:spPr>
          <a:xfrm>
            <a:off x="640080" y="1170432"/>
            <a:ext cx="5272888" cy="2944368"/>
          </a:xfrm>
          <a:prstGeom prst="roundRect">
            <a:avLst>
              <a:gd name="adj" fmla="val 155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7" name="Text 5"/>
          <p:cNvSpPr/>
          <p:nvPr/>
        </p:nvSpPr>
        <p:spPr>
          <a:xfrm>
            <a:off x="914400" y="1316736"/>
            <a:ext cx="4724248" cy="329184"/>
          </a:xfrm>
          <a:prstGeom prst="rect">
            <a:avLst/>
          </a:prstGeom>
          <a:noFill/>
          <a:ln/>
        </p:spPr>
        <p:txBody>
          <a:bodyPr wrap="square" lIns="0" tIns="0" rIns="0" bIns="0" rtlCol="0" anchor="t"/>
          <a:lstStyle/>
          <a:p>
            <a:pPr marL="0" indent="0">
              <a:buNone/>
            </a:pPr>
            <a:r>
              <a:rPr lang="en-US" sz="1700" b="1" dirty="0">
                <a:solidFill>
                  <a:srgbClr val="0E1E3A"/>
                </a:solidFill>
                <a:latin typeface="Cambria" pitchFamily="34" charset="0"/>
                <a:ea typeface="Cambria" pitchFamily="34" charset="-122"/>
                <a:cs typeface="Cambria" pitchFamily="34" charset="-120"/>
              </a:rPr>
              <a:t>Two-read prefix</a:t>
            </a:r>
            <a:endParaRPr lang="en-US" sz="1700" dirty="0"/>
          </a:p>
        </p:txBody>
      </p:sp>
      <p:sp>
        <p:nvSpPr>
          <p:cNvPr id="8" name="Text 6"/>
          <p:cNvSpPr/>
          <p:nvPr/>
        </p:nvSpPr>
        <p:spPr>
          <a:xfrm>
            <a:off x="914400"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registered study, α = .05, 30 issues</a:t>
            </a:r>
            <a:endParaRPr lang="en-US" sz="1050" dirty="0"/>
          </a:p>
        </p:txBody>
      </p:sp>
      <p:sp>
        <p:nvSpPr>
          <p:cNvPr id="9" name="Text 7"/>
          <p:cNvSpPr/>
          <p:nvPr/>
        </p:nvSpPr>
        <p:spPr>
          <a:xfrm>
            <a:off x="914400" y="1975104"/>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−50.0%</a:t>
            </a:r>
            <a:endParaRPr lang="en-US" sz="1500" dirty="0"/>
          </a:p>
        </p:txBody>
      </p:sp>
      <p:sp>
        <p:nvSpPr>
          <p:cNvPr id="10" name="Text 8"/>
          <p:cNvSpPr/>
          <p:nvPr/>
        </p:nvSpPr>
        <p:spPr>
          <a:xfrm>
            <a:off x="2377440"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provider requests</a:t>
            </a:r>
            <a:endParaRPr lang="en-US" sz="1100" dirty="0"/>
          </a:p>
        </p:txBody>
      </p:sp>
      <p:sp>
        <p:nvSpPr>
          <p:cNvPr id="11" name="Text 9"/>
          <p:cNvSpPr/>
          <p:nvPr/>
        </p:nvSpPr>
        <p:spPr>
          <a:xfrm>
            <a:off x="914400" y="2377440"/>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−39.5%</a:t>
            </a:r>
            <a:endParaRPr lang="en-US" sz="1500" dirty="0"/>
          </a:p>
        </p:txBody>
      </p:sp>
      <p:sp>
        <p:nvSpPr>
          <p:cNvPr id="12" name="Text 10"/>
          <p:cNvSpPr/>
          <p:nvPr/>
        </p:nvSpPr>
        <p:spPr>
          <a:xfrm>
            <a:off x="2377440"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total tokens</a:t>
            </a:r>
            <a:endParaRPr lang="en-US" sz="1100" dirty="0"/>
          </a:p>
        </p:txBody>
      </p:sp>
      <p:sp>
        <p:nvSpPr>
          <p:cNvPr id="13" name="Text 11"/>
          <p:cNvSpPr/>
          <p:nvPr/>
        </p:nvSpPr>
        <p:spPr>
          <a:xfrm>
            <a:off x="914400" y="2779776"/>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30 / 30</a:t>
            </a:r>
            <a:endParaRPr lang="en-US" sz="1500" dirty="0"/>
          </a:p>
        </p:txBody>
      </p:sp>
      <p:sp>
        <p:nvSpPr>
          <p:cNvPr id="14" name="Text 12"/>
          <p:cNvSpPr/>
          <p:nvPr/>
        </p:nvSpPr>
        <p:spPr>
          <a:xfrm>
            <a:off x="2377440"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exact contracts</a:t>
            </a:r>
            <a:endParaRPr lang="en-US" sz="1100" dirty="0"/>
          </a:p>
        </p:txBody>
      </p:sp>
      <p:sp>
        <p:nvSpPr>
          <p:cNvPr id="15" name="Text 13"/>
          <p:cNvSpPr/>
          <p:nvPr/>
        </p:nvSpPr>
        <p:spPr>
          <a:xfrm>
            <a:off x="914400" y="3182112"/>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92 / 92</a:t>
            </a:r>
            <a:endParaRPr lang="en-US" sz="1500" dirty="0"/>
          </a:p>
        </p:txBody>
      </p:sp>
      <p:sp>
        <p:nvSpPr>
          <p:cNvPr id="16" name="Text 14"/>
          <p:cNvSpPr/>
          <p:nvPr/>
        </p:nvSpPr>
        <p:spPr>
          <a:xfrm>
            <a:off x="2377440"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calibration groups, bound 0.0498</a:t>
            </a:r>
            <a:endParaRPr lang="en-US" sz="1100" dirty="0"/>
          </a:p>
        </p:txBody>
      </p:sp>
      <p:sp>
        <p:nvSpPr>
          <p:cNvPr id="17" name="Text 15"/>
          <p:cNvSpPr/>
          <p:nvPr/>
        </p:nvSpPr>
        <p:spPr>
          <a:xfrm>
            <a:off x="914400"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Groundability permits only two of three reads. No accuracy difference is detected; equivalence is not established.</a:t>
            </a:r>
            <a:endParaRPr lang="en-US" sz="1000" dirty="0"/>
          </a:p>
        </p:txBody>
      </p:sp>
      <p:sp>
        <p:nvSpPr>
          <p:cNvPr id="18" name="Shape 16"/>
          <p:cNvSpPr/>
          <p:nvPr/>
        </p:nvSpPr>
        <p:spPr>
          <a:xfrm>
            <a:off x="6278728" y="1170432"/>
            <a:ext cx="5272888" cy="2944368"/>
          </a:xfrm>
          <a:prstGeom prst="roundRect">
            <a:avLst>
              <a:gd name="adj" fmla="val 1553"/>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9" name="Text 17"/>
          <p:cNvSpPr/>
          <p:nvPr/>
        </p:nvSpPr>
        <p:spPr>
          <a:xfrm>
            <a:off x="6553048" y="1316736"/>
            <a:ext cx="4724248" cy="329184"/>
          </a:xfrm>
          <a:prstGeom prst="rect">
            <a:avLst/>
          </a:prstGeom>
          <a:noFill/>
          <a:ln/>
        </p:spPr>
        <p:txBody>
          <a:bodyPr wrap="square" lIns="0" tIns="0" rIns="0" bIns="0" rtlCol="0" anchor="t"/>
          <a:lstStyle/>
          <a:p>
            <a:pPr marL="0" indent="0">
              <a:buNone/>
            </a:pPr>
            <a:r>
              <a:rPr lang="en-US" sz="1700" b="1" dirty="0">
                <a:solidFill>
                  <a:srgbClr val="A93B2B"/>
                </a:solidFill>
                <a:latin typeface="Cambria" pitchFamily="34" charset="0"/>
                <a:ea typeface="Cambria" pitchFamily="34" charset="-122"/>
                <a:cs typeface="Cambria" pitchFamily="34" charset="-120"/>
              </a:rPr>
              <a:t>Three-read artifact</a:t>
            </a:r>
            <a:endParaRPr lang="en-US" sz="1700" dirty="0"/>
          </a:p>
        </p:txBody>
      </p:sp>
      <p:sp>
        <p:nvSpPr>
          <p:cNvPr id="20" name="Text 18"/>
          <p:cNvSpPr/>
          <p:nvPr/>
        </p:nvSpPr>
        <p:spPr>
          <a:xfrm>
            <a:off x="6553048"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earlier study, α = .10, 18 issues</a:t>
            </a:r>
            <a:endParaRPr lang="en-US" sz="1050" dirty="0"/>
          </a:p>
        </p:txBody>
      </p:sp>
      <p:sp>
        <p:nvSpPr>
          <p:cNvPr id="21" name="Text 19"/>
          <p:cNvSpPr/>
          <p:nvPr/>
        </p:nvSpPr>
        <p:spPr>
          <a:xfrm>
            <a:off x="6553048" y="1975104"/>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45 / 45</a:t>
            </a:r>
            <a:endParaRPr lang="en-US" sz="1500" dirty="0"/>
          </a:p>
        </p:txBody>
      </p:sp>
      <p:sp>
        <p:nvSpPr>
          <p:cNvPr id="22" name="Text 20"/>
          <p:cNvSpPr/>
          <p:nvPr/>
        </p:nvSpPr>
        <p:spPr>
          <a:xfrm>
            <a:off x="8016088"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calibration replays passed</a:t>
            </a:r>
            <a:endParaRPr lang="en-US" sz="1100" dirty="0"/>
          </a:p>
        </p:txBody>
      </p:sp>
      <p:sp>
        <p:nvSpPr>
          <p:cNvPr id="23" name="Text 21"/>
          <p:cNvSpPr/>
          <p:nvPr/>
        </p:nvSpPr>
        <p:spPr>
          <a:xfrm>
            <a:off x="6553048" y="2377440"/>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18 / 18</a:t>
            </a:r>
            <a:endParaRPr lang="en-US" sz="1500" dirty="0"/>
          </a:p>
        </p:txBody>
      </p:sp>
      <p:sp>
        <p:nvSpPr>
          <p:cNvPr id="24" name="Text 22"/>
          <p:cNvSpPr/>
          <p:nvPr/>
        </p:nvSpPr>
        <p:spPr>
          <a:xfrm>
            <a:off x="8016088"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held-out tool contracts</a:t>
            </a:r>
            <a:endParaRPr lang="en-US" sz="1100" dirty="0"/>
          </a:p>
        </p:txBody>
      </p:sp>
      <p:sp>
        <p:nvSpPr>
          <p:cNvPr id="25" name="Text 23"/>
          <p:cNvSpPr/>
          <p:nvPr/>
        </p:nvSpPr>
        <p:spPr>
          <a:xfrm>
            <a:off x="6553048" y="2779776"/>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17 / 18</a:t>
            </a:r>
            <a:endParaRPr lang="en-US" sz="1500" dirty="0"/>
          </a:p>
        </p:txBody>
      </p:sp>
      <p:sp>
        <p:nvSpPr>
          <p:cNvPr id="26" name="Text 24"/>
          <p:cNvSpPr/>
          <p:nvPr/>
        </p:nvSpPr>
        <p:spPr>
          <a:xfrm>
            <a:off x="8016088"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exact downstream answers</a:t>
            </a:r>
            <a:endParaRPr lang="en-US" sz="1100" dirty="0"/>
          </a:p>
        </p:txBody>
      </p:sp>
      <p:sp>
        <p:nvSpPr>
          <p:cNvPr id="27" name="Text 25"/>
          <p:cNvSpPr/>
          <p:nvPr/>
        </p:nvSpPr>
        <p:spPr>
          <a:xfrm>
            <a:off x="6553048" y="3182112"/>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18 / 18</a:t>
            </a:r>
            <a:endParaRPr lang="en-US" sz="1500" dirty="0"/>
          </a:p>
        </p:txBody>
      </p:sp>
      <p:sp>
        <p:nvSpPr>
          <p:cNvPr id="28" name="Text 26"/>
          <p:cNvSpPr/>
          <p:nvPr/>
        </p:nvSpPr>
        <p:spPr>
          <a:xfrm>
            <a:off x="8016088"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after checked rendering</a:t>
            </a:r>
            <a:endParaRPr lang="en-US" sz="1100" dirty="0"/>
          </a:p>
        </p:txBody>
      </p:sp>
      <p:sp>
        <p:nvSpPr>
          <p:cNvPr id="29" name="Text 27"/>
          <p:cNvSpPr/>
          <p:nvPr/>
        </p:nvSpPr>
        <p:spPr>
          <a:xfrm>
            <a:off x="6553048"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C4034"/>
                </a:solidFill>
                <a:latin typeface="Calibri" pitchFamily="34" charset="0"/>
                <a:ea typeface="Calibri" pitchFamily="34" charset="-122"/>
                <a:cs typeface="Calibri" pitchFamily="34" charset="-120"/>
              </a:rPr>
              <a:t>On issue #6602 the source held a Markdown link; the compiled continuation dropped the URL and returned only its anchor text.</a:t>
            </a:r>
            <a:endParaRPr lang="en-US" sz="1000" dirty="0"/>
          </a:p>
        </p:txBody>
      </p:sp>
      <p:sp>
        <p:nvSpPr>
          <p:cNvPr id="30" name="Shape 28"/>
          <p:cNvSpPr/>
          <p:nvPr/>
        </p:nvSpPr>
        <p:spPr>
          <a:xfrm>
            <a:off x="640080" y="4261104"/>
            <a:ext cx="10911535" cy="1207008"/>
          </a:xfrm>
          <a:prstGeom prst="roundRect">
            <a:avLst>
              <a:gd name="adj" fmla="val 3788"/>
            </a:avLst>
          </a:prstGeom>
          <a:solidFill>
            <a:srgbClr val="EAF1F7"/>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1" name="Shape 29"/>
          <p:cNvSpPr/>
          <p:nvPr/>
        </p:nvSpPr>
        <p:spPr>
          <a:xfrm>
            <a:off x="896112" y="4443984"/>
            <a:ext cx="329184" cy="329184"/>
          </a:xfrm>
          <a:prstGeom prst="ellipse">
            <a:avLst/>
          </a:prstGeom>
          <a:solidFill>
            <a:srgbClr val="1F8A99"/>
          </a:solidFill>
          <a:ln w="6350">
            <a:solidFill>
              <a:srgbClr val="1F8A99"/>
            </a:solidFill>
            <a:prstDash val="solid"/>
          </a:ln>
        </p:spPr>
        <p:txBody>
          <a:bodyPr/>
          <a:lstStyle/>
          <a:p>
            <a:endParaRPr lang="en-US"/>
          </a:p>
        </p:txBody>
      </p:sp>
      <p:sp>
        <p:nvSpPr>
          <p:cNvPr id="32" name="Text 30"/>
          <p:cNvSpPr/>
          <p:nvPr/>
        </p:nvSpPr>
        <p:spPr>
          <a:xfrm>
            <a:off x="896112" y="44439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1335024" y="4407408"/>
            <a:ext cx="9905695" cy="274320"/>
          </a:xfrm>
          <a:prstGeom prst="rect">
            <a:avLst/>
          </a:prstGeom>
          <a:noFill/>
          <a:ln/>
        </p:spPr>
        <p:txBody>
          <a:bodyPr wrap="square" lIns="0" tIns="0" rIns="0" bIns="0" rtlCol="0" anchor="ctr"/>
          <a:lstStyle/>
          <a:p>
            <a:pPr marL="0" indent="0">
              <a:buNone/>
            </a:pPr>
            <a:r>
              <a:rPr lang="en-US" sz="1300" b="1" dirty="0">
                <a:solidFill>
                  <a:srgbClr val="0E1E3A"/>
                </a:solidFill>
                <a:latin typeface="Cambria" pitchFamily="34" charset="0"/>
                <a:ea typeface="Cambria" pitchFamily="34" charset="-122"/>
                <a:cs typeface="Cambria" pitchFamily="34" charset="-120"/>
              </a:rPr>
              <a:t>The miss fixes the gate's scope — and motivates a continuation check</a:t>
            </a:r>
            <a:endParaRPr lang="en-US" sz="1300" dirty="0"/>
          </a:p>
        </p:txBody>
      </p:sp>
      <p:sp>
        <p:nvSpPr>
          <p:cNvPr id="34" name="Text 32"/>
          <p:cNvSpPr/>
          <p:nvPr/>
        </p:nvSpPr>
        <p:spPr>
          <a:xfrm>
            <a:off x="1335024" y="4700016"/>
            <a:ext cx="9905695" cy="69494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Zero replay violations concern the compiled tool program, not the model's answer, so 45/45 clean calibration replays and a held-out factual miss are compatible. A provider-free continuation check, run after the model's answer, passes 17 retained answers unchanged, detects #6602, and checked-renders it to 18/18. That shows detection on retained records, not live quality or safety.</a:t>
            </a:r>
            <a:endParaRPr lang="en-US" sz="1050" dirty="0"/>
          </a:p>
        </p:txBody>
      </p:sp>
      <p:sp>
        <p:nvSpPr>
          <p:cNvPr id="35" name="Text 33"/>
          <p:cNvSpPr/>
          <p:nvPr/>
        </p:nvSpPr>
        <p:spPr>
          <a:xfrm>
            <a:off x="640080" y="5596128"/>
            <a:ext cx="10911535" cy="603504"/>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The three-read study is excluded from the registered α = .05 headline because it used α = .10 and exposed a continuation error. A recurrence-only optimizer would have shipped the three-read program and accepted the answer.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§5.2  ·  TABLES 14 AND 15</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Newer records: compile or retire, and one end-to-end certificate</a:t>
            </a:r>
            <a:endParaRPr lang="en-US" sz="2600" dirty="0"/>
          </a:p>
        </p:txBody>
      </p:sp>
      <p:graphicFrame>
        <p:nvGraphicFramePr>
          <p:cNvPr id="6" name="Chart 0"/>
          <p:cNvGraphicFramePr/>
          <p:nvPr/>
        </p:nvGraphicFramePr>
        <p:xfrm>
          <a:off x="640080" y="1152144"/>
          <a:ext cx="676656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635240" y="1152144"/>
            <a:ext cx="3916375" cy="1700784"/>
          </a:xfrm>
          <a:prstGeom prst="roundRect">
            <a:avLst>
              <a:gd name="adj" fmla="val 2688"/>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8" name="Text 5"/>
          <p:cNvSpPr/>
          <p:nvPr/>
        </p:nvSpPr>
        <p:spPr>
          <a:xfrm>
            <a:off x="7854696" y="1280160"/>
            <a:ext cx="3477463" cy="420624"/>
          </a:xfrm>
          <a:prstGeom prst="rect">
            <a:avLst/>
          </a:prstGeom>
          <a:noFill/>
          <a:ln/>
        </p:spPr>
        <p:txBody>
          <a:bodyPr wrap="square" lIns="0" tIns="0" rIns="0" bIns="0" rtlCol="0" anchor="t"/>
          <a:lstStyle/>
          <a:p>
            <a:pPr marL="0" indent="0">
              <a:lnSpc>
                <a:spcPct val="100000"/>
              </a:lnSpc>
              <a:buNone/>
            </a:pPr>
            <a:r>
              <a:rPr lang="en-US" sz="1150" b="1" dirty="0">
                <a:solidFill>
                  <a:srgbClr val="0E1E3A"/>
                </a:solidFill>
                <a:latin typeface="Cambria" pitchFamily="34" charset="0"/>
                <a:ea typeface="Cambria" pitchFamily="34" charset="-122"/>
                <a:cs typeface="Cambria" pitchFamily="34" charset="-120"/>
              </a:rPr>
              <a:t>Four of five repositories compile; one retires</a:t>
            </a:r>
            <a:endParaRPr lang="en-US" sz="1150" dirty="0"/>
          </a:p>
        </p:txBody>
      </p:sp>
      <p:sp>
        <p:nvSpPr>
          <p:cNvPr id="9" name="Text 6"/>
          <p:cNvSpPr/>
          <p:nvPr/>
        </p:nvSpPr>
        <p:spPr>
          <a:xfrm>
            <a:off x="7854696" y="1719072"/>
            <a:ext cx="3477463" cy="1005840"/>
          </a:xfrm>
          <a:prstGeom prst="rect">
            <a:avLst/>
          </a:prstGeom>
          <a:noFill/>
          <a:ln/>
        </p:spPr>
        <p:txBody>
          <a:bodyPr wrap="square" lIns="0" tIns="0" rIns="0" bIns="0" rtlCol="0" anchor="t"/>
          <a:lstStyle/>
          <a:p>
            <a:pPr marL="0" indent="0">
              <a:lnSpc>
                <a:spcPct val="105000"/>
              </a:lnSpc>
              <a:buNone/>
            </a:pPr>
            <a:r>
              <a:rPr lang="en-US" sz="950" dirty="0">
                <a:solidFill>
                  <a:srgbClr val="24354F"/>
                </a:solidFill>
                <a:latin typeface="Calibri" pitchFamily="34" charset="0"/>
                <a:ea typeface="Calibri" pitchFamily="34" charset="-122"/>
                <a:cs typeface="Calibri" pitchFamily="34" charset="-120"/>
              </a:rPr>
              <a:t>On the two-read PR-outcome task the compiled agent completes 120/120 exact contracts across four repositories. pytorch/pytorch retires at admission: no calibration group is accepted at any threshold.</a:t>
            </a:r>
            <a:endParaRPr lang="en-US" sz="950" dirty="0"/>
          </a:p>
        </p:txBody>
      </p:sp>
      <p:sp>
        <p:nvSpPr>
          <p:cNvPr id="10" name="Shape 7"/>
          <p:cNvSpPr/>
          <p:nvPr/>
        </p:nvSpPr>
        <p:spPr>
          <a:xfrm>
            <a:off x="7635240" y="2980944"/>
            <a:ext cx="3916375" cy="1572768"/>
          </a:xfrm>
          <a:prstGeom prst="roundRect">
            <a:avLst>
              <a:gd name="adj" fmla="val 2907"/>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1" name="Text 8"/>
          <p:cNvSpPr/>
          <p:nvPr/>
        </p:nvSpPr>
        <p:spPr>
          <a:xfrm>
            <a:off x="7854696" y="3108960"/>
            <a:ext cx="3477463" cy="420624"/>
          </a:xfrm>
          <a:prstGeom prst="rect">
            <a:avLst/>
          </a:prstGeom>
          <a:noFill/>
          <a:ln/>
        </p:spPr>
        <p:txBody>
          <a:bodyPr wrap="square" lIns="0" tIns="0" rIns="0" bIns="0" rtlCol="0" anchor="t"/>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Abstention by composition, not failure</a:t>
            </a:r>
            <a:endParaRPr lang="en-US" sz="1150" dirty="0"/>
          </a:p>
        </p:txBody>
      </p:sp>
      <p:sp>
        <p:nvSpPr>
          <p:cNvPr id="12" name="Text 9"/>
          <p:cNvSpPr/>
          <p:nvPr/>
        </p:nvSpPr>
        <p:spPr>
          <a:xfrm>
            <a:off x="7854696" y="3547872"/>
            <a:ext cx="3477463" cy="877824"/>
          </a:xfrm>
          <a:prstGeom prst="rect">
            <a:avLst/>
          </a:prstGeom>
          <a:noFill/>
          <a:ln/>
        </p:spPr>
        <p:txBody>
          <a:bodyPr wrap="square" lIns="0" tIns="0" rIns="0" bIns="0" rtlCol="0" anchor="t"/>
          <a:lstStyle/>
          <a:p>
            <a:pPr marL="0" indent="0">
              <a:lnSpc>
                <a:spcPct val="105000"/>
              </a:lnSpc>
              <a:buNone/>
            </a:pPr>
            <a:r>
              <a:rPr lang="en-US" sz="950" dirty="0">
                <a:solidFill>
                  <a:srgbClr val="5C4034"/>
                </a:solidFill>
                <a:latin typeface="Calibri" pitchFamily="34" charset="0"/>
                <a:ea typeface="Calibri" pitchFamily="34" charset="-122"/>
                <a:cs typeface="Calibri" pitchFamily="34" charset="-120"/>
              </a:rPr>
              <a:t>Every open-class record abstained on the induced pr.state hull, because discovery held 0–3 open records. A balanced rerun with all classes in discovery dispatches on 180/180 and reaches 180/180.</a:t>
            </a:r>
            <a:endParaRPr lang="en-US" sz="950" dirty="0"/>
          </a:p>
        </p:txBody>
      </p:sp>
      <p:sp>
        <p:nvSpPr>
          <p:cNvPr id="13" name="Shape 10"/>
          <p:cNvSpPr/>
          <p:nvPr/>
        </p:nvSpPr>
        <p:spPr>
          <a:xfrm>
            <a:off x="7635240" y="4681728"/>
            <a:ext cx="3916375" cy="1481328"/>
          </a:xfrm>
          <a:prstGeom prst="roundRect">
            <a:avLst>
              <a:gd name="adj" fmla="val 3086"/>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4" name="Text 11"/>
          <p:cNvSpPr/>
          <p:nvPr/>
        </p:nvSpPr>
        <p:spPr>
          <a:xfrm>
            <a:off x="7854696" y="4809744"/>
            <a:ext cx="3477463" cy="420624"/>
          </a:xfrm>
          <a:prstGeom prst="rect">
            <a:avLst/>
          </a:prstGeom>
          <a:noFill/>
          <a:ln/>
        </p:spPr>
        <p:txBody>
          <a:bodyPr wrap="square" lIns="0" tIns="0" rIns="0" bIns="0" rtlCol="0" anchor="t"/>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One end-to-end certificate, on fresh pull requests</a:t>
            </a:r>
            <a:endParaRPr lang="en-US" sz="1150" dirty="0"/>
          </a:p>
        </p:txBody>
      </p:sp>
      <p:sp>
        <p:nvSpPr>
          <p:cNvPr id="15" name="Text 12"/>
          <p:cNvSpPr/>
          <p:nvPr/>
        </p:nvSpPr>
        <p:spPr>
          <a:xfrm>
            <a:off x="7854696" y="5248656"/>
            <a:ext cx="3477463" cy="786384"/>
          </a:xfrm>
          <a:prstGeom prst="rect">
            <a:avLst/>
          </a:prstGeom>
          <a:noFill/>
          <a:ln/>
        </p:spPr>
        <p:txBody>
          <a:bodyPr wrap="square" lIns="0" tIns="0" rIns="0" bIns="0" rtlCol="0" anchor="t"/>
          <a:lstStyle/>
          <a:p>
            <a:pPr marL="0" indent="0">
              <a:lnSpc>
                <a:spcPct val="105000"/>
              </a:lnSpc>
              <a:buNone/>
            </a:pPr>
            <a:r>
              <a:rPr lang="en-US" sz="950" dirty="0">
                <a:solidFill>
                  <a:srgbClr val="5C4034"/>
                </a:solidFill>
                <a:latin typeface="Calibri" pitchFamily="34" charset="0"/>
                <a:ea typeface="Calibri" pitchFamily="34" charset="-122"/>
                <a:cs typeface="Calibri" pitchFamily="34" charset="-120"/>
              </a:rPr>
              <a:t>On 132 pull requests created after the snapshot's last day, the re-derived artifact missed 0 graded task contracts: bound 0.0173 (0.035 on the grid). The draw held open and merged, but no closed-unmerged, pull requests.</a:t>
            </a:r>
            <a:endParaRPr lang="en-US" sz="950" dirty="0"/>
          </a:p>
        </p:txBody>
      </p:sp>
      <p:sp>
        <p:nvSpPr>
          <p:cNvPr id="16" name="Shape 13"/>
          <p:cNvSpPr/>
          <p:nvPr/>
        </p:nvSpPr>
        <p:spPr>
          <a:xfrm>
            <a:off x="640080" y="5047488"/>
            <a:ext cx="6766560" cy="1060704"/>
          </a:xfrm>
          <a:prstGeom prst="roundRect">
            <a:avLst>
              <a:gd name="adj" fmla="val 4310"/>
            </a:avLst>
          </a:prstGeom>
          <a:solidFill>
            <a:srgbClr val="EAF1F7"/>
          </a:solidFill>
          <a:ln w="9525">
            <a:solidFill>
              <a:srgbClr val="D5E0EB"/>
            </a:solidFill>
            <a:prstDash val="solid"/>
          </a:ln>
        </p:spPr>
        <p:txBody>
          <a:bodyPr/>
          <a:lstStyle/>
          <a:p>
            <a:endParaRPr lang="en-US"/>
          </a:p>
        </p:txBody>
      </p:sp>
      <p:sp>
        <p:nvSpPr>
          <p:cNvPr id="17" name="Text 14"/>
          <p:cNvSpPr/>
          <p:nvPr/>
        </p:nvSpPr>
        <p:spPr>
          <a:xfrm>
            <a:off x="877824" y="5138928"/>
            <a:ext cx="6291072" cy="877824"/>
          </a:xfrm>
          <a:prstGeom prst="rect">
            <a:avLst/>
          </a:prstGeom>
          <a:noFill/>
          <a:ln/>
        </p:spPr>
        <p:txBody>
          <a:bodyPr wrap="square" lIns="0" tIns="0" rIns="0" bIns="0" rtlCol="0" anchor="ctr"/>
          <a:lstStyle/>
          <a:p>
            <a:pPr marL="0" indent="0">
              <a:lnSpc>
                <a:spcPct val="106000"/>
              </a:lnSpc>
              <a:buNone/>
            </a:pPr>
            <a:r>
              <a:rPr lang="en-US" sz="1050" b="1" dirty="0">
                <a:solidFill>
                  <a:srgbClr val="0E1E3A"/>
                </a:solidFill>
                <a:latin typeface="Calibri" pitchFamily="34" charset="0"/>
                <a:ea typeface="Calibri" pitchFamily="34" charset="-122"/>
                <a:cs typeface="Calibri" pitchFamily="34" charset="-120"/>
              </a:rPr>
              <a:t>Held-out records are newer than discovery but inside the same frozen snapshot.</a:t>
            </a:r>
            <a:r>
              <a:rPr lang="en-US" sz="1050" dirty="0">
                <a:solidFill>
                  <a:srgbClr val="24354F"/>
                </a:solidFill>
                <a:latin typeface="Calibri" pitchFamily="34" charset="0"/>
                <a:ea typeface="Calibri" pitchFamily="34" charset="-122"/>
                <a:cs typeface="Calibri" pitchFamily="34" charset="-120"/>
              </a:rPr>
              <a:t> The program ran on 80/120 core records, so requests fell 44.4% overall and 66.7% where it dispatched. The hand-written program is more efficient in the core protocol and tied in the balanced rerun.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§5.1  ·  TABLES 1 AND 11</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Three GitHub workflows: 90/90 kept, two-thirds fewer calls</a:t>
            </a:r>
            <a:endParaRPr lang="en-US" sz="2600" dirty="0"/>
          </a:p>
        </p:txBody>
      </p:sp>
      <p:sp>
        <p:nvSpPr>
          <p:cNvPr id="6" name="Text 4"/>
          <p:cNvSpPr/>
          <p:nvPr/>
        </p:nvSpPr>
        <p:spPr>
          <a:xfrm>
            <a:off x="640080" y="1170432"/>
            <a:ext cx="10911535" cy="457200"/>
          </a:xfrm>
          <a:prstGeom prst="rect">
            <a:avLst/>
          </a:prstGeom>
          <a:noFill/>
          <a:ln/>
        </p:spPr>
        <p:txBody>
          <a:bodyPr wrap="square" lIns="0" tIns="0" rIns="0" bIns="0" rtlCol="0" anchor="t"/>
          <a:lstStyle/>
          <a:p>
            <a:pPr marL="0" indent="0">
              <a:lnSpc>
                <a:spcPct val="110000"/>
              </a:lnSpc>
              <a:buNone/>
            </a:pPr>
            <a:r>
              <a:rPr lang="en-US" sz="1250" dirty="0">
                <a:solidFill>
                  <a:srgbClr val="24354F"/>
                </a:solidFill>
                <a:latin typeface="Calibri" pitchFamily="34" charset="0"/>
                <a:ea typeface="Calibri" pitchFamily="34" charset="-122"/>
                <a:cs typeface="Calibri" pitchFamily="34" charset="-120"/>
              </a:rPr>
              <a:t>Across 90 held-out records the compiled agent satisfies 90/90 exact contracts and the unchanged agent 89/90, with </a:t>
            </a:r>
            <a:r>
              <a:rPr lang="en-US" sz="1250" b="1" dirty="0">
                <a:solidFill>
                  <a:srgbClr val="24354F"/>
                </a:solidFill>
                <a:latin typeface="Calibri" pitchFamily="34" charset="0"/>
                <a:ea typeface="Calibri" pitchFamily="34" charset="-122"/>
                <a:cs typeface="Calibri" pitchFamily="34" charset="-120"/>
              </a:rPr>
              <a:t>zero compiled-only misses.</a:t>
            </a:r>
            <a:r>
              <a:rPr lang="en-US" sz="1250" dirty="0">
                <a:solidFill>
                  <a:srgbClr val="24354F"/>
                </a:solidFill>
                <a:latin typeface="Calibri" pitchFamily="34" charset="0"/>
                <a:ea typeface="Calibri" pitchFamily="34" charset="-122"/>
                <a:cs typeface="Calibri" pitchFamily="34" charset="-120"/>
              </a:rPr>
              <a:t> Requests fall 66.6%, tokens 63.1%, latency 64.2%, and cost 58.7%.</a:t>
            </a:r>
            <a:endParaRPr lang="en-US" sz="1250" dirty="0"/>
          </a:p>
        </p:txBody>
      </p:sp>
      <p:sp>
        <p:nvSpPr>
          <p:cNvPr id="7" name="Text 5"/>
          <p:cNvSpPr/>
          <p:nvPr/>
        </p:nvSpPr>
        <p:spPr>
          <a:xfrm>
            <a:off x="640080" y="1719072"/>
            <a:ext cx="5852160" cy="201168"/>
          </a:xfrm>
          <a:prstGeom prst="rect">
            <a:avLst/>
          </a:prstGeom>
          <a:noFill/>
          <a:ln/>
        </p:spPr>
        <p:txBody>
          <a:bodyPr wrap="square" lIns="0" tIns="0" rIns="0" bIns="0" rtlCol="0" anchor="t"/>
          <a:lstStyle/>
          <a:p>
            <a:pPr marL="0" indent="0">
              <a:buNone/>
            </a:pPr>
            <a:r>
              <a:rPr lang="en-US" sz="900" b="1" kern="0" spc="80" dirty="0">
                <a:solidFill>
                  <a:srgbClr val="1F8A99"/>
                </a:solidFill>
                <a:latin typeface="Calibri" pitchFamily="34" charset="0"/>
                <a:ea typeface="Calibri" pitchFamily="34" charset="-122"/>
                <a:cs typeface="Calibri" pitchFamily="34" charset="-120"/>
              </a:rPr>
              <a:t>TABLE 11 — REDUCTION VS THE UNCHANGED AGENT, SAME 90 RECORDS (%), HIGHER IS BETTER</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0080" y="1956816"/>
          <a:ext cx="5852160" cy="1645920"/>
        </p:xfrm>
        <a:graphic>
          <a:graphicData uri="http://schemas.openxmlformats.org/drawingml/2006/table">
            <a:tbl>
              <a:tblPr/>
              <a:tblGrid>
                <a:gridCol w="3108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743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Resource</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Manual</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GAC</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Better</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extLst>
                  <a:ext uri="{0D108BD9-81ED-4DB2-BD59-A6C34878D82A}">
                    <a16:rowId xmlns:a16="http://schemas.microsoft.com/office/drawing/2014/main" val="10000"/>
                  </a:ext>
                </a:extLst>
              </a:tr>
              <a:tr h="274320">
                <a:tc>
                  <a:txBody>
                    <a:bodyPr/>
                    <a:lstStyle/>
                    <a:p>
                      <a:pPr marL="0" indent="0">
                        <a:buNone/>
                      </a:pPr>
                      <a:r>
                        <a:rPr lang="en-US" sz="1000" dirty="0" b="0">
                          <a:solidFill>
                            <a:srgbClr val="24354F"/>
                          </a:solidFill>
                          <a:latin typeface="Calibri" pitchFamily="34" charset="0"/>
                          <a:ea typeface="Calibri" pitchFamily="34" charset="-122"/>
                          <a:cs typeface="Calibri" pitchFamily="34" charset="-120"/>
                        </a:rPr>
                        <a:t>Provider requests</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66.6</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66.6</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tie</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1"/>
                  </a:ext>
                </a:extLst>
              </a:tr>
              <a:tr h="274320">
                <a:tc>
                  <a:txBody>
                    <a:bodyPr/>
                    <a:lstStyle/>
                    <a:p>
                      <a:pPr marL="0" indent="0">
                        <a:buNone/>
                      </a:pPr>
                      <a:r>
                        <a:rPr lang="en-US" sz="1000" dirty="0" b="0">
                          <a:solidFill>
                            <a:srgbClr val="24354F"/>
                          </a:solidFill>
                          <a:latin typeface="Calibri" pitchFamily="34" charset="0"/>
                          <a:ea typeface="Calibri" pitchFamily="34" charset="-122"/>
                          <a:cs typeface="Calibri" pitchFamily="34" charset="-120"/>
                        </a:rPr>
                        <a:t>Provider-visible tool interfaces</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66.5</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44.2</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manual</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000" dirty="0" b="0">
                          <a:solidFill>
                            <a:srgbClr val="24354F"/>
                          </a:solidFill>
                          <a:latin typeface="Calibri" pitchFamily="34" charset="0"/>
                          <a:ea typeface="Calibri" pitchFamily="34" charset="-122"/>
                          <a:cs typeface="Calibri" pitchFamily="34" charset="-120"/>
                        </a:rPr>
                        <a:t>Total tokens</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71.1</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63.1</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manual</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3"/>
                  </a:ext>
                </a:extLst>
              </a:tr>
              <a:tr h="274320">
                <a:tc>
                  <a:txBody>
                    <a:bodyPr/>
                    <a:lstStyle/>
                    <a:p>
                      <a:pPr marL="0" indent="0">
                        <a:buNone/>
                      </a:pPr>
                      <a:r>
                        <a:rPr lang="en-US" sz="1000" dirty="0" b="0">
                          <a:solidFill>
                            <a:srgbClr val="24354F"/>
                          </a:solidFill>
                          <a:latin typeface="Calibri" pitchFamily="34" charset="0"/>
                          <a:ea typeface="Calibri" pitchFamily="34" charset="-122"/>
                          <a:cs typeface="Calibri" pitchFamily="34" charset="-120"/>
                        </a:rPr>
                        <a:t>Observed wall latency</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62.2</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1">
                          <a:solidFill>
                            <a:srgbClr val="1F8A99"/>
                          </a:solidFill>
                          <a:latin typeface="Calibri" pitchFamily="34" charset="0"/>
                          <a:ea typeface="Calibri" pitchFamily="34" charset="-122"/>
                          <a:cs typeface="Calibri" pitchFamily="34" charset="-120"/>
                        </a:rPr>
                        <a:t>64.2</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lgn="ctr">
                        <a:buNone/>
                      </a:pPr>
                      <a:r>
                        <a:rPr lang="en-US" sz="1000" dirty="0" b="1">
                          <a:solidFill>
                            <a:srgbClr val="1F8A99"/>
                          </a:solidFill>
                          <a:latin typeface="Calibri" pitchFamily="34" charset="0"/>
                          <a:ea typeface="Calibri" pitchFamily="34" charset="-122"/>
                          <a:cs typeface="Calibri" pitchFamily="34" charset="-120"/>
                        </a:rPr>
                        <a:t>GAC</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000" dirty="0" b="0">
                          <a:solidFill>
                            <a:srgbClr val="24354F"/>
                          </a:solidFill>
                          <a:latin typeface="Calibri" pitchFamily="34" charset="0"/>
                          <a:ea typeface="Calibri" pitchFamily="34" charset="-122"/>
                          <a:cs typeface="Calibri" pitchFamily="34" charset="-120"/>
                        </a:rPr>
                        <a:t>Estimated cost</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60.4</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0">
                          <a:solidFill>
                            <a:srgbClr val="24354F"/>
                          </a:solidFill>
                          <a:latin typeface="Calibri" pitchFamily="34" charset="0"/>
                          <a:ea typeface="Calibri" pitchFamily="34" charset="-122"/>
                          <a:cs typeface="Calibri" pitchFamily="34" charset="-120"/>
                        </a:rPr>
                        <a:t>58.7</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tc>
                  <a:txBody>
                    <a:bodyPr/>
                    <a:lstStyle/>
                    <a:p>
                      <a:pPr marL="0" indent="0" algn="ctr">
                        <a:buNone/>
                      </a:pPr>
                      <a:r>
                        <a:rPr lang="en-US" sz="1000" dirty="0" b="1">
                          <a:solidFill>
                            <a:srgbClr val="A93B2B"/>
                          </a:solidFill>
                          <a:latin typeface="Calibri" pitchFamily="34" charset="0"/>
                          <a:ea typeface="Calibri" pitchFamily="34" charset="-122"/>
                          <a:cs typeface="Calibri" pitchFamily="34" charset="-120"/>
                        </a:rPr>
                        <a:t>manual</a:t>
                      </a:r>
                      <a:endParaRPr lang="en-US" sz="1000" dirty="0">
                        <a:latin typeface="Calibri" charset="0"/>
                        <a:ea typeface="Calibri" charset="0"/>
                        <a:cs typeface="Calibri" charset="0"/>
                      </a:endParaRPr>
                    </a:p>
                  </a:txBody>
                  <a:tcPr marL="82296" marR="82296" marT="27432" marB="27432"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5F9FC"/>
                    </a:solidFill>
                  </a:tcPr>
                </a:tc>
                <a:extLst>
                  <a:ext uri="{0D108BD9-81ED-4DB2-BD59-A6C34878D82A}">
                    <a16:rowId xmlns:a16="http://schemas.microsoft.com/office/drawing/2014/main" val="10005"/>
                  </a:ext>
                </a:extLst>
              </a:tr>
            </a:tbl>
          </a:graphicData>
        </a:graphic>
      </p:graphicFrame>
      <p:sp>
        <p:nvSpPr>
          <p:cNvPr id="9" name="Shape 6"/>
          <p:cNvSpPr/>
          <p:nvPr/>
        </p:nvSpPr>
        <p:spPr>
          <a:xfrm>
            <a:off x="640080" y="3675888"/>
            <a:ext cx="5852160" cy="1060704"/>
          </a:xfrm>
          <a:prstGeom prst="roundRect">
            <a:avLst>
              <a:gd name="adj" fmla="val 4310"/>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0" name="Text 7"/>
          <p:cNvSpPr/>
          <p:nvPr/>
        </p:nvSpPr>
        <p:spPr>
          <a:xfrm>
            <a:off x="877824" y="3785616"/>
            <a:ext cx="5376672" cy="859536"/>
          </a:xfrm>
          <a:prstGeom prst="rect">
            <a:avLst/>
          </a:prstGeom>
          <a:noFill/>
          <a:ln/>
        </p:spPr>
        <p:txBody>
          <a:bodyPr wrap="square" lIns="0" tIns="0" rIns="0" bIns="0" rtlCol="0" anchor="t"/>
          <a:lstStyle/>
          <a:p>
            <a:pPr marL="0" indent="0">
              <a:lnSpc>
                <a:spcPct val="105000"/>
              </a:lnSpc>
              <a:buNone/>
            </a:pPr>
            <a:r>
              <a:rPr lang="en-US" sz="1000" dirty="0">
                <a:solidFill>
                  <a:srgbClr val="5C4034"/>
                </a:solidFill>
                <a:latin typeface="Calibri" pitchFamily="34" charset="0"/>
                <a:ea typeface="Calibri" pitchFamily="34" charset="-122"/>
                <a:cs typeface="Calibri" pitchFamily="34" charset="-120"/>
              </a:rPr>
              <a:t>Hand-written programs written with full workflow knowledge also reach 90/90. They tie on requests, use fewer interfaces and tokens, cost marginally less, and lose only on latency. The claim is automated discovery and guarded admission, not runtime dominance over code written by someone who already knows the workflow.</a:t>
            </a:r>
            <a:endParaRPr lang="en-US" sz="1000" dirty="0"/>
          </a:p>
        </p:txBody>
      </p:sp>
      <p:sp>
        <p:nvSpPr>
          <p:cNvPr id="11" name="Shape 8"/>
          <p:cNvSpPr/>
          <p:nvPr/>
        </p:nvSpPr>
        <p:spPr>
          <a:xfrm>
            <a:off x="6821424" y="1719072"/>
            <a:ext cx="4730191" cy="1371600"/>
          </a:xfrm>
          <a:prstGeom prst="roundRect">
            <a:avLst>
              <a:gd name="adj" fmla="val 3333"/>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2" name="Shape 9"/>
          <p:cNvSpPr/>
          <p:nvPr/>
        </p:nvSpPr>
        <p:spPr>
          <a:xfrm>
            <a:off x="7059168" y="1865376"/>
            <a:ext cx="310896" cy="310896"/>
          </a:xfrm>
          <a:prstGeom prst="ellipse">
            <a:avLst/>
          </a:prstGeom>
          <a:solidFill>
            <a:srgbClr val="A93B2B"/>
          </a:solidFill>
          <a:ln w="6350">
            <a:solidFill>
              <a:srgbClr val="A93B2B"/>
            </a:solidFill>
            <a:prstDash val="solid"/>
          </a:ln>
        </p:spPr>
        <p:txBody>
          <a:bodyPr/>
          <a:lstStyle/>
          <a:p>
            <a:endParaRPr lang="en-US"/>
          </a:p>
        </p:txBody>
      </p:sp>
      <p:sp>
        <p:nvSpPr>
          <p:cNvPr id="13" name="Text 10"/>
          <p:cNvSpPr/>
          <p:nvPr/>
        </p:nvSpPr>
        <p:spPr>
          <a:xfrm>
            <a:off x="7059168" y="18653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7443216" y="1865376"/>
            <a:ext cx="3870655" cy="310896"/>
          </a:xfrm>
          <a:prstGeom prst="rect">
            <a:avLst/>
          </a:prstGeom>
          <a:noFill/>
          <a:ln/>
        </p:spPr>
        <p:txBody>
          <a:bodyPr wrap="square" lIns="0" tIns="0" rIns="0" bIns="0" rtlCol="0" anchor="ctr"/>
          <a:lstStyle/>
          <a:p>
            <a:pPr marL="0" indent="0">
              <a:buNone/>
            </a:pPr>
            <a:r>
              <a:rPr lang="en-US" sz="1300" b="1" dirty="0">
                <a:solidFill>
                  <a:srgbClr val="A93B2B"/>
                </a:solidFill>
                <a:latin typeface="Cambria" pitchFamily="34" charset="0"/>
                <a:ea typeface="Cambria" pitchFamily="34" charset="-122"/>
                <a:cs typeface="Cambria" pitchFamily="34" charset="-120"/>
              </a:rPr>
              <a:t>Write the program by hand when…</a:t>
            </a:r>
            <a:endParaRPr lang="en-US" sz="1300" dirty="0"/>
          </a:p>
        </p:txBody>
      </p:sp>
      <p:sp>
        <p:nvSpPr>
          <p:cNvPr id="15" name="Text 12"/>
          <p:cNvSpPr/>
          <p:nvPr/>
        </p:nvSpPr>
        <p:spPr>
          <a:xfrm>
            <a:off x="7077456" y="2267712"/>
            <a:ext cx="4218127" cy="713232"/>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1000" dirty="0">
                <a:solidFill>
                  <a:srgbClr val="5C4034"/>
                </a:solidFill>
                <a:latin typeface="Calibri" pitchFamily="34" charset="0"/>
                <a:ea typeface="Calibri" pitchFamily="34" charset="-122"/>
                <a:cs typeface="Calibri" pitchFamily="34" charset="-120"/>
              </a:rPr>
              <a:t>the read set is stable and low-entropy</a:t>
            </a:r>
            <a:endParaRPr lang="en-US" sz="1000" dirty="0"/>
          </a:p>
          <a:p>
            <a:pPr marL="342900" indent="-342900">
              <a:lnSpc>
                <a:spcPct val="105000"/>
              </a:lnSpc>
              <a:spcAft>
                <a:spcPts val="300"/>
              </a:spcAft>
              <a:buSzPct val="100000"/>
              <a:buChar char="•"/>
            </a:pPr>
            <a:r>
              <a:rPr lang="en-US" sz="1000" dirty="0">
                <a:solidFill>
                  <a:srgbClr val="5C4034"/>
                </a:solidFill>
                <a:latin typeface="Calibri" pitchFamily="34" charset="0"/>
                <a:ea typeface="Calibri" pitchFamily="34" charset="-122"/>
                <a:cs typeface="Calibri" pitchFamily="34" charset="-120"/>
              </a:rPr>
              <a:t>the effects are already understood by a human</a:t>
            </a:r>
            <a:endParaRPr lang="en-US" sz="1000" dirty="0"/>
          </a:p>
          <a:p>
            <a:pPr marL="342900" indent="-342900">
              <a:lnSpc>
                <a:spcPct val="105000"/>
              </a:lnSpc>
              <a:spcAft>
                <a:spcPts val="300"/>
              </a:spcAft>
              <a:buSzPct val="100000"/>
              <a:buChar char="•"/>
            </a:pPr>
            <a:r>
              <a:rPr lang="en-US" sz="1000" dirty="0">
                <a:solidFill>
                  <a:srgbClr val="5C4034"/>
                </a:solidFill>
                <a:latin typeface="Calibri" pitchFamily="34" charset="0"/>
                <a:ea typeface="Calibri" pitchFamily="34" charset="-122"/>
                <a:cs typeface="Calibri" pitchFamily="34" charset="-120"/>
              </a:rPr>
              <a:t>one interface redesign can fuse the reads</a:t>
            </a:r>
            <a:endParaRPr lang="en-US" sz="1000" dirty="0"/>
          </a:p>
        </p:txBody>
      </p:sp>
      <p:sp>
        <p:nvSpPr>
          <p:cNvPr id="16" name="Shape 13"/>
          <p:cNvSpPr/>
          <p:nvPr/>
        </p:nvSpPr>
        <p:spPr>
          <a:xfrm>
            <a:off x="6821424" y="3218688"/>
            <a:ext cx="4730191" cy="1371600"/>
          </a:xfrm>
          <a:prstGeom prst="roundRect">
            <a:avLst>
              <a:gd name="adj" fmla="val 333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17" name="Shape 14"/>
          <p:cNvSpPr/>
          <p:nvPr/>
        </p:nvSpPr>
        <p:spPr>
          <a:xfrm>
            <a:off x="7059168" y="3364992"/>
            <a:ext cx="310896" cy="310896"/>
          </a:xfrm>
          <a:prstGeom prst="ellipse">
            <a:avLst/>
          </a:prstGeom>
          <a:solidFill>
            <a:srgbClr val="1F8A99"/>
          </a:solidFill>
          <a:ln w="6350">
            <a:solidFill>
              <a:srgbClr val="1F8A99"/>
            </a:solidFill>
            <a:prstDash val="solid"/>
          </a:ln>
        </p:spPr>
        <p:txBody>
          <a:bodyPr/>
          <a:lstStyle/>
          <a:p>
            <a:endParaRPr lang="en-US"/>
          </a:p>
        </p:txBody>
      </p:sp>
      <p:sp>
        <p:nvSpPr>
          <p:cNvPr id="18" name="Text 15"/>
          <p:cNvSpPr/>
          <p:nvPr/>
        </p:nvSpPr>
        <p:spPr>
          <a:xfrm>
            <a:off x="7059168" y="33649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7443216" y="3364992"/>
            <a:ext cx="3870655" cy="310896"/>
          </a:xfrm>
          <a:prstGeom prst="rect">
            <a:avLst/>
          </a:prstGeom>
          <a:noFill/>
          <a:ln/>
        </p:spPr>
        <p:txBody>
          <a:bodyPr wrap="square" lIns="0" tIns="0" rIns="0" bIns="0" rtlCol="0" anchor="ctr"/>
          <a:lstStyle/>
          <a:p>
            <a:pPr marL="0" indent="0">
              <a:buNone/>
            </a:pPr>
            <a:r>
              <a:rPr lang="en-US" sz="1300" b="1" dirty="0">
                <a:solidFill>
                  <a:srgbClr val="0E1E3A"/>
                </a:solidFill>
                <a:latin typeface="Cambria" pitchFamily="34" charset="0"/>
                <a:ea typeface="Cambria" pitchFamily="34" charset="-122"/>
                <a:cs typeface="Cambria" pitchFamily="34" charset="-120"/>
              </a:rPr>
              <a:t>Guarded compilation earns its cost when…</a:t>
            </a:r>
            <a:endParaRPr lang="en-US" sz="1300" dirty="0"/>
          </a:p>
        </p:txBody>
      </p:sp>
      <p:sp>
        <p:nvSpPr>
          <p:cNvPr id="20" name="Text 17"/>
          <p:cNvSpPr/>
          <p:nvPr/>
        </p:nvSpPr>
        <p:spPr>
          <a:xfrm>
            <a:off x="7077456" y="3767328"/>
            <a:ext cx="4218127" cy="713232"/>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1000" dirty="0">
                <a:solidFill>
                  <a:srgbClr val="24354F"/>
                </a:solidFill>
                <a:latin typeface="Calibri" pitchFamily="34" charset="0"/>
                <a:ea typeface="Calibri" pitchFamily="34" charset="-122"/>
                <a:cs typeface="Calibri" pitchFamily="34" charset="-120"/>
              </a:rPr>
              <a:t>which reads to make is itself the recurrent structure</a:t>
            </a:r>
            <a:endParaRPr lang="en-US" sz="1000" dirty="0"/>
          </a:p>
          <a:p>
            <a:pPr marL="342900" indent="-342900">
              <a:lnSpc>
                <a:spcPct val="105000"/>
              </a:lnSpc>
              <a:spcAft>
                <a:spcPts val="300"/>
              </a:spcAft>
              <a:buSzPct val="100000"/>
              <a:buChar char="•"/>
            </a:pPr>
            <a:r>
              <a:rPr lang="en-US" sz="1000" dirty="0">
                <a:solidFill>
                  <a:srgbClr val="24354F"/>
                </a:solidFill>
                <a:latin typeface="Calibri" pitchFamily="34" charset="0"/>
                <a:ea typeface="Calibri" pitchFamily="34" charset="-122"/>
                <a:cs typeface="Calibri" pitchFamily="34" charset="-120"/>
              </a:rPr>
              <a:t>the region is branch-dependent</a:t>
            </a:r>
            <a:endParaRPr lang="en-US" sz="1000" dirty="0"/>
          </a:p>
          <a:p>
            <a:pPr marL="342900" indent="-342900">
              <a:lnSpc>
                <a:spcPct val="105000"/>
              </a:lnSpc>
              <a:spcAft>
                <a:spcPts val="300"/>
              </a:spcAft>
              <a:buSzPct val="100000"/>
              <a:buChar char="•"/>
            </a:pPr>
            <a:r>
              <a:rPr lang="en-US" sz="1000" dirty="0">
                <a:solidFill>
                  <a:srgbClr val="24354F"/>
                </a:solidFill>
                <a:latin typeface="Calibri" pitchFamily="34" charset="0"/>
                <a:ea typeface="Calibri" pitchFamily="34" charset="-122"/>
                <a:cs typeface="Calibri" pitchFamily="34" charset="-120"/>
              </a:rPr>
              <a:t>manual discovery and maintenance would not amortize</a:t>
            </a:r>
            <a:endParaRPr lang="en-US" sz="1000" dirty="0"/>
          </a:p>
        </p:txBody>
      </p:sp>
      <p:sp>
        <p:nvSpPr>
          <p:cNvPr id="21" name="Shape 18"/>
          <p:cNvSpPr/>
          <p:nvPr/>
        </p:nvSpPr>
        <p:spPr>
          <a:xfrm>
            <a:off x="640080" y="4882896"/>
            <a:ext cx="10911535" cy="1225296"/>
          </a:xfrm>
          <a:prstGeom prst="roundRect">
            <a:avLst>
              <a:gd name="adj" fmla="val 3731"/>
            </a:avLst>
          </a:prstGeom>
          <a:solidFill>
            <a:srgbClr val="EAF1F7"/>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8" name="Text 19"/>
          <p:cNvSpPr/>
          <p:nvPr/>
        </p:nvSpPr>
        <p:spPr>
          <a:xfrm>
            <a:off x="896112" y="4992624"/>
            <a:ext cx="10399471" cy="201168"/>
          </a:xfrm>
          <a:prstGeom prst="rect">
            <a:avLst/>
          </a:prstGeom>
          <a:noFill/>
          <a:ln/>
        </p:spPr>
        <p:txBody>
          <a:bodyPr wrap="square" lIns="0" tIns="0" rIns="0" bIns="0" rtlCol="0" anchor="t"/>
          <a:lstStyle/>
          <a:p>
            <a:pPr marL="0" indent="0">
              <a:buNone/>
            </a:pPr>
            <a:r>
              <a:rPr lang="en-US" sz="950" b="1" kern="0" spc="110" dirty="0">
                <a:solidFill>
                  <a:srgbClr val="1F8A99"/>
                </a:solidFill>
                <a:latin typeface="Calibri" pitchFamily="34" charset="0"/>
                <a:ea typeface="Calibri" pitchFamily="34" charset="-122"/>
                <a:cs typeface="Calibri" pitchFamily="34" charset="-120"/>
              </a:rPr>
              <a:t>WHAT THE PRIMARY RESULT DOES AND DOES NOT ESTABLISH</a:t>
            </a:r>
            <a:endParaRPr lang="en-US" sz="950" dirty="0"/>
          </a:p>
        </p:txBody>
      </p:sp>
      <p:sp>
        <p:nvSpPr>
          <p:cNvPr id="23" name="Text 20"/>
          <p:cNvSpPr/>
          <p:nvPr/>
        </p:nvSpPr>
        <p:spPr>
          <a:xfrm>
            <a:off x="896112" y="5230368"/>
            <a:ext cx="10399471" cy="822960"/>
          </a:xfrm>
          <a:prstGeom prst="rect">
            <a:avLst/>
          </a:prstGeom>
          <a:noFill/>
          <a:ln/>
        </p:spPr>
        <p:txBody>
          <a:bodyPr wrap="square" lIns="0" tIns="0" rIns="0" bIns="0" rtlCol="0" anchor="t"/>
          <a:lstStyle/>
          <a:p>
            <a:pPr marL="0" indent="0">
              <a:lnSpc>
                <a:spcPct val="105000"/>
              </a:lnSpc>
              <a:buNone/>
            </a:pPr>
            <a:r>
              <a:rPr lang="en-US" sz="1000" dirty="0">
                <a:solidFill>
                  <a:srgbClr val="24354F"/>
                </a:solidFill>
                <a:latin typeface="Calibri" pitchFamily="34" charset="0"/>
                <a:ea typeface="Calibri" pitchFamily="34" charset="-122"/>
                <a:cs typeface="Calibri" pitchFamily="34" charset="-120"/>
              </a:rPr>
              <a:t>Each artifact was admitted at 92/92 zero-violation calibration groups (U = 0.0498). The one discordant pair is a baseline-only miss (McNemar p = 1; one-sided bound on compiled-only misses 3.3%), and a rerun scored 30/30 in every arm, so no accuracy difference is detected and equivalence is not established. Savings are marginal per episode within one snapshot: every artifact pins its snapshot digest, and discovery breaks even after 411, 183, and 181 episodes per family. A recurrence-only replay on issue-type routing also passed 30/30 at one request per record.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24</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A93B2B"/>
                </a:solidFill>
                <a:latin typeface="Calibri" pitchFamily="34" charset="0"/>
                <a:ea typeface="Calibri" pitchFamily="34" charset="-122"/>
                <a:cs typeface="Calibri" pitchFamily="34" charset="-120"/>
              </a:rPr>
              <a:t>DISCUSSION AND LIMITATIONS  ·  §7</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Six results the evidence deliberately does not deliver</a:t>
            </a:r>
            <a:endParaRPr lang="en-US" sz="2600" dirty="0"/>
          </a:p>
        </p:txBody>
      </p:sp>
      <p:sp>
        <p:nvSpPr>
          <p:cNvPr id="6" name="Shape 4"/>
          <p:cNvSpPr/>
          <p:nvPr/>
        </p:nvSpPr>
        <p:spPr>
          <a:xfrm>
            <a:off x="640080" y="1170432"/>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7" name="Shape 5"/>
          <p:cNvSpPr/>
          <p:nvPr/>
        </p:nvSpPr>
        <p:spPr>
          <a:xfrm>
            <a:off x="859536" y="1353312"/>
            <a:ext cx="292608" cy="292608"/>
          </a:xfrm>
          <a:prstGeom prst="ellipse">
            <a:avLst/>
          </a:prstGeom>
          <a:solidFill>
            <a:srgbClr val="A93B2B"/>
          </a:solidFill>
          <a:ln w="6350">
            <a:solidFill>
              <a:srgbClr val="A93B2B"/>
            </a:solidFill>
            <a:prstDash val="solid"/>
          </a:ln>
        </p:spPr>
        <p:txBody>
          <a:bodyPr/>
          <a:lstStyle/>
          <a:p>
            <a:endParaRPr lang="en-US"/>
          </a:p>
        </p:txBody>
      </p:sp>
      <p:sp>
        <p:nvSpPr>
          <p:cNvPr id="8" name="Text 6"/>
          <p:cNvSpPr/>
          <p:nvPr/>
        </p:nvSpPr>
        <p:spPr>
          <a:xfrm>
            <a:off x="859536" y="13533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1225296" y="1316736"/>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The gate did not rank risk</a:t>
            </a:r>
            <a:endParaRPr lang="en-US" sz="1150" dirty="0"/>
          </a:p>
        </p:txBody>
      </p:sp>
      <p:sp>
        <p:nvSpPr>
          <p:cNvPr id="10" name="Text 8"/>
          <p:cNvSpPr/>
          <p:nvPr/>
        </p:nvSpPr>
        <p:spPr>
          <a:xfrm>
            <a:off x="877824" y="1792224"/>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Every threshold below 0.14 admits no calibration group and every one at or above it admits all 92, with zero violations throughout. A support-only comparator on 240 held-out pairs found the same step, and an amended 184-group end-to-end issue gate retired with two errors. No risk–coverage frontier is certified.</a:t>
            </a:r>
            <a:endParaRPr lang="en-US" sz="900" dirty="0"/>
          </a:p>
        </p:txBody>
      </p:sp>
      <p:sp>
        <p:nvSpPr>
          <p:cNvPr id="11" name="Shape 9"/>
          <p:cNvSpPr/>
          <p:nvPr/>
        </p:nvSpPr>
        <p:spPr>
          <a:xfrm>
            <a:off x="4356506" y="1170432"/>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2" name="Shape 10"/>
          <p:cNvSpPr/>
          <p:nvPr/>
        </p:nvSpPr>
        <p:spPr>
          <a:xfrm>
            <a:off x="4575962" y="1353312"/>
            <a:ext cx="292608" cy="292608"/>
          </a:xfrm>
          <a:prstGeom prst="ellipse">
            <a:avLst/>
          </a:prstGeom>
          <a:solidFill>
            <a:srgbClr val="A93B2B"/>
          </a:solidFill>
          <a:ln w="6350">
            <a:solidFill>
              <a:srgbClr val="A93B2B"/>
            </a:solidFill>
            <a:prstDash val="solid"/>
          </a:ln>
        </p:spPr>
        <p:txBody>
          <a:bodyPr/>
          <a:lstStyle/>
          <a:p>
            <a:endParaRPr lang="en-US"/>
          </a:p>
        </p:txBody>
      </p:sp>
      <p:sp>
        <p:nvSpPr>
          <p:cNvPr id="13" name="Text 11"/>
          <p:cNvSpPr/>
          <p:nvPr/>
        </p:nvSpPr>
        <p:spPr>
          <a:xfrm>
            <a:off x="4575962" y="13533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4941722" y="1316736"/>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Certificates assume independence</a:t>
            </a:r>
            <a:endParaRPr lang="en-US" sz="1150" dirty="0"/>
          </a:p>
        </p:txBody>
      </p:sp>
      <p:sp>
        <p:nvSpPr>
          <p:cNvPr id="15" name="Text 13"/>
          <p:cNvSpPr/>
          <p:nvPr/>
        </p:nvSpPr>
        <p:spPr>
          <a:xfrm>
            <a:off x="4594250" y="1792224"/>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Every bound assumes i.i.d. groups. Counting a creation day or an author as one unit retires every primary family under the registered grid, and AppWorld's bound retires at scenario or supervisor level. The end-to-end certificate covers one family and excludes closed-unmerged pull requests.</a:t>
            </a:r>
            <a:endParaRPr lang="en-US" sz="900" dirty="0"/>
          </a:p>
        </p:txBody>
      </p:sp>
      <p:sp>
        <p:nvSpPr>
          <p:cNvPr id="16" name="Shape 14"/>
          <p:cNvSpPr/>
          <p:nvPr/>
        </p:nvSpPr>
        <p:spPr>
          <a:xfrm>
            <a:off x="8072933" y="1170432"/>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7" name="Shape 15"/>
          <p:cNvSpPr/>
          <p:nvPr/>
        </p:nvSpPr>
        <p:spPr>
          <a:xfrm>
            <a:off x="8292389" y="1353312"/>
            <a:ext cx="292608" cy="292608"/>
          </a:xfrm>
          <a:prstGeom prst="ellipse">
            <a:avLst/>
          </a:prstGeom>
          <a:solidFill>
            <a:srgbClr val="A93B2B"/>
          </a:solidFill>
          <a:ln w="6350">
            <a:solidFill>
              <a:srgbClr val="A93B2B"/>
            </a:solidFill>
            <a:prstDash val="solid"/>
          </a:ln>
        </p:spPr>
        <p:txBody>
          <a:bodyPr/>
          <a:lstStyle/>
          <a:p>
            <a:endParaRPr lang="en-US"/>
          </a:p>
        </p:txBody>
      </p:sp>
      <p:sp>
        <p:nvSpPr>
          <p:cNvPr id="18" name="Text 16"/>
          <p:cNvSpPr/>
          <p:nvPr/>
        </p:nvSpPr>
        <p:spPr>
          <a:xfrm>
            <a:off x="8292389" y="135331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8658149" y="1316736"/>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Savings stay inside one snapshot</a:t>
            </a:r>
            <a:endParaRPr lang="en-US" sz="1150" dirty="0"/>
          </a:p>
        </p:txBody>
      </p:sp>
      <p:sp>
        <p:nvSpPr>
          <p:cNvPr id="20" name="Text 18"/>
          <p:cNvSpPr/>
          <p:nvPr/>
        </p:nvSpPr>
        <p:spPr>
          <a:xfrm>
            <a:off x="8310677" y="1792224"/>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Every artifact pins its snapshot digest and abstains on any other, so a new snapshot is recompiled. Savings are marginal per episode, and discovery breaks even after 181–411 episodes per family. Manual authoring effort is not priced.</a:t>
            </a:r>
            <a:endParaRPr lang="en-US" sz="900" dirty="0"/>
          </a:p>
        </p:txBody>
      </p:sp>
      <p:sp>
        <p:nvSpPr>
          <p:cNvPr id="21" name="Shape 19"/>
          <p:cNvSpPr/>
          <p:nvPr/>
        </p:nvSpPr>
        <p:spPr>
          <a:xfrm>
            <a:off x="640080" y="3602736"/>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2" name="Shape 20"/>
          <p:cNvSpPr/>
          <p:nvPr/>
        </p:nvSpPr>
        <p:spPr>
          <a:xfrm>
            <a:off x="859536" y="3785616"/>
            <a:ext cx="292608" cy="292608"/>
          </a:xfrm>
          <a:prstGeom prst="ellipse">
            <a:avLst/>
          </a:prstGeom>
          <a:solidFill>
            <a:srgbClr val="A93B2B"/>
          </a:solidFill>
          <a:ln w="6350">
            <a:solidFill>
              <a:srgbClr val="A93B2B"/>
            </a:solidFill>
            <a:prstDash val="solid"/>
          </a:ln>
        </p:spPr>
        <p:txBody>
          <a:bodyPr/>
          <a:lstStyle/>
          <a:p>
            <a:endParaRPr lang="en-US"/>
          </a:p>
        </p:txBody>
      </p:sp>
      <p:sp>
        <p:nvSpPr>
          <p:cNvPr id="23" name="Text 21"/>
          <p:cNvSpPr/>
          <p:nvPr/>
        </p:nvSpPr>
        <p:spPr>
          <a:xfrm>
            <a:off x="859536"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1225296" y="3749040"/>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Removing turns can remove guardrails</a:t>
            </a:r>
            <a:endParaRPr lang="en-US" sz="1150" dirty="0"/>
          </a:p>
        </p:txBody>
      </p:sp>
      <p:sp>
        <p:nvSpPr>
          <p:cNvPr id="25" name="Text 23"/>
          <p:cNvSpPr/>
          <p:nvPr/>
        </p:nvSpPr>
        <p:spPr>
          <a:xfrm>
            <a:off x="877824" y="4224528"/>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Moderation, policy, and guardrail checks commonly run at model boundaries. A region that deletes three of four boundaries risks deleting three of four evaluations. Writes, handoffs, hosted tools, undeclared effects, and removed-turn guardrails lie outside Proposition 1.</a:t>
            </a:r>
            <a:endParaRPr lang="en-US" sz="900" dirty="0"/>
          </a:p>
        </p:txBody>
      </p:sp>
      <p:sp>
        <p:nvSpPr>
          <p:cNvPr id="26" name="Shape 24"/>
          <p:cNvSpPr/>
          <p:nvPr/>
        </p:nvSpPr>
        <p:spPr>
          <a:xfrm>
            <a:off x="4356506" y="3602736"/>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27" name="Shape 25"/>
          <p:cNvSpPr/>
          <p:nvPr/>
        </p:nvSpPr>
        <p:spPr>
          <a:xfrm>
            <a:off x="4575962" y="3785616"/>
            <a:ext cx="292608" cy="292608"/>
          </a:xfrm>
          <a:prstGeom prst="ellipse">
            <a:avLst/>
          </a:prstGeom>
          <a:solidFill>
            <a:srgbClr val="A93B2B"/>
          </a:solidFill>
          <a:ln w="6350">
            <a:solidFill>
              <a:srgbClr val="A93B2B"/>
            </a:solidFill>
            <a:prstDash val="solid"/>
          </a:ln>
        </p:spPr>
        <p:txBody>
          <a:bodyPr/>
          <a:lstStyle/>
          <a:p>
            <a:endParaRPr lang="en-US"/>
          </a:p>
        </p:txBody>
      </p:sp>
      <p:sp>
        <p:nvSpPr>
          <p:cNvPr id="28" name="Text 26"/>
          <p:cNvSpPr/>
          <p:nvPr/>
        </p:nvSpPr>
        <p:spPr>
          <a:xfrm>
            <a:off x="4575962"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9" name="Text 27"/>
          <p:cNvSpPr/>
          <p:nvPr/>
        </p:nvSpPr>
        <p:spPr>
          <a:xfrm>
            <a:off x="4941722" y="3749040"/>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Guards gave no measured protection</a:t>
            </a:r>
            <a:endParaRPr lang="en-US" sz="1150" dirty="0"/>
          </a:p>
        </p:txBody>
      </p:sp>
      <p:sp>
        <p:nvSpPr>
          <p:cNvPr id="30" name="Text 28"/>
          <p:cNvSpPr/>
          <p:nvPr/>
        </p:nvSpPr>
        <p:spPr>
          <a:xfrm>
            <a:off x="4594250" y="4224528"/>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Two provider-free drift studies are null by construction. In the live continuation-graded study an emptied list lies inside the learned hull, and both arms answered wrongly on 39 of 60 records under the original grader, 40 under its correction.</a:t>
            </a:r>
            <a:endParaRPr lang="en-US" sz="900" dirty="0"/>
          </a:p>
        </p:txBody>
      </p:sp>
      <p:sp>
        <p:nvSpPr>
          <p:cNvPr id="31" name="Shape 29"/>
          <p:cNvSpPr/>
          <p:nvPr/>
        </p:nvSpPr>
        <p:spPr>
          <a:xfrm>
            <a:off x="8072933" y="3602736"/>
            <a:ext cx="3478682" cy="2231136"/>
          </a:xfrm>
          <a:prstGeom prst="roundRect">
            <a:avLst>
              <a:gd name="adj" fmla="val 2049"/>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32" name="Shape 30"/>
          <p:cNvSpPr/>
          <p:nvPr/>
        </p:nvSpPr>
        <p:spPr>
          <a:xfrm>
            <a:off x="8292389" y="3785616"/>
            <a:ext cx="292608" cy="292608"/>
          </a:xfrm>
          <a:prstGeom prst="ellipse">
            <a:avLst/>
          </a:prstGeom>
          <a:solidFill>
            <a:srgbClr val="A93B2B"/>
          </a:solidFill>
          <a:ln w="6350">
            <a:solidFill>
              <a:srgbClr val="A93B2B"/>
            </a:solidFill>
            <a:prstDash val="solid"/>
          </a:ln>
        </p:spPr>
        <p:txBody>
          <a:bodyPr/>
          <a:lstStyle/>
          <a:p>
            <a:endParaRPr lang="en-US"/>
          </a:p>
        </p:txBody>
      </p:sp>
      <p:sp>
        <p:nvSpPr>
          <p:cNvPr id="33" name="Text 31"/>
          <p:cNvSpPr/>
          <p:nvPr/>
        </p:nvSpPr>
        <p:spPr>
          <a:xfrm>
            <a:off x="8292389"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4" name="Text 32"/>
          <p:cNvSpPr/>
          <p:nvPr/>
        </p:nvSpPr>
        <p:spPr>
          <a:xfrm>
            <a:off x="8658149" y="3749040"/>
            <a:ext cx="2674010" cy="402336"/>
          </a:xfrm>
          <a:prstGeom prst="rect">
            <a:avLst/>
          </a:prstGeom>
          <a:noFill/>
          <a:ln/>
        </p:spPr>
        <p:txBody>
          <a:bodyPr wrap="square" lIns="0" tIns="0" rIns="0" bIns="0" rtlCol="0" anchor="ctr"/>
          <a:lstStyle/>
          <a:p>
            <a:pPr marL="0" indent="0">
              <a:lnSpc>
                <a:spcPct val="100000"/>
              </a:lnSpc>
              <a:buNone/>
            </a:pPr>
            <a:r>
              <a:rPr lang="en-US" sz="1150" b="1" dirty="0">
                <a:solidFill>
                  <a:srgbClr val="A93B2B"/>
                </a:solidFill>
                <a:latin typeface="Cambria" pitchFamily="34" charset="0"/>
                <a:ea typeface="Cambria" pitchFamily="34" charset="-122"/>
                <a:cs typeface="Cambria" pitchFamily="34" charset="-120"/>
              </a:rPr>
              <a:t>The evidence base is narrow</a:t>
            </a:r>
            <a:endParaRPr lang="en-US" sz="1150" dirty="0"/>
          </a:p>
        </p:txBody>
      </p:sp>
      <p:sp>
        <p:nvSpPr>
          <p:cNvPr id="35" name="Text 33"/>
          <p:cNvSpPr/>
          <p:nvPr/>
        </p:nvSpPr>
        <p:spPr>
          <a:xfrm>
            <a:off x="8310677" y="4224528"/>
            <a:ext cx="3003194" cy="1481328"/>
          </a:xfrm>
          <a:prstGeom prst="rect">
            <a:avLst/>
          </a:prstGeom>
          <a:noFill/>
          <a:ln/>
        </p:spPr>
        <p:txBody>
          <a:bodyPr wrap="square" lIns="0" tIns="0" rIns="0" bIns="0" rtlCol="0" anchor="t"/>
          <a:lstStyle/>
          <a:p>
            <a:pPr marL="0" indent="0">
              <a:lnSpc>
                <a:spcPct val="105000"/>
              </a:lnSpc>
              <a:buNone/>
            </a:pPr>
            <a:r>
              <a:rPr lang="en-US" sz="900" dirty="0">
                <a:solidFill>
                  <a:srgbClr val="4E3529"/>
                </a:solidFill>
                <a:latin typeface="Calibri" pitchFamily="34" charset="0"/>
                <a:ea typeface="Calibri" pitchFamily="34" charset="-122"/>
                <a:cs typeface="Calibri" pitchFamily="34" charset="-120"/>
              </a:rPr>
              <a:t>One pinned snapshot, five frozen cross-repository snapshots, one post-cutoff cohort, one public benchmark with a live agent, and one calibrated model family. Every GitHub compiled-only miss is an excerpt departing from identical evidence, with no counterfactual attributing it to the model.</a:t>
            </a:r>
            <a:endParaRPr lang="en-US" sz="900" dirty="0"/>
          </a:p>
        </p:txBody>
      </p:sp>
      <p:sp>
        <p:nvSpPr>
          <p:cNvPr id="36" name="Text 34"/>
          <p:cNvSpPr/>
          <p:nvPr/>
        </p:nvSpPr>
        <p:spPr>
          <a:xfrm>
            <a:off x="640080" y="5943600"/>
            <a:ext cx="10911535" cy="347472"/>
          </a:xfrm>
          <a:prstGeom prst="rect">
            <a:avLst/>
          </a:prstGeom>
          <a:noFill/>
          <a:ln/>
        </p:spPr>
        <p:txBody>
          <a:bodyPr wrap="square" lIns="0" tIns="0" rIns="0" bIns="0" rtlCol="0" anchor="t"/>
          <a:lstStyle/>
          <a:p>
            <a:pPr marL="0" indent="0">
              <a:lnSpc>
                <a:spcPct val="105000"/>
              </a:lnSpc>
              <a:buNone/>
            </a:pPr>
            <a:r>
              <a:rPr lang="en-US" sz="950" i="1" dirty="0">
                <a:solidFill>
                  <a:srgbClr val="5A6B84"/>
                </a:solidFill>
                <a:latin typeface="Calibri" pitchFamily="34" charset="0"/>
                <a:ea typeface="Calibri" pitchFamily="34" charset="-122"/>
                <a:cs typeface="Calibri" pitchFamily="34" charset="-120"/>
              </a:rPr>
              <a:t>Also: 810 held-out GitHub episodes in six studies produced one compiled-only contract failure; AWO, Agent JIT, and EvoC2F were not run head-to-head; the closed DSL intentionally misses legitimate transformations and loops; and a recurrence-only replay on issue-type routing also passed 30/30.</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25</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CLAIMS AND EVIDENCE  ·  APPENDIX I</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The claims register — retained to prevent narrative drift</a:t>
            </a:r>
            <a:endParaRPr lang="en-US" sz="2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170432"/>
          <a:ext cx="10908792" cy="3712464"/>
        </p:xfrm>
        <a:graphic>
          <a:graphicData uri="http://schemas.openxmlformats.org/drawingml/2006/table">
            <a:tbl>
              <a:tblPr/>
              <a:tblGrid>
                <a:gridCol w="457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6517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ID</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Claim</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Direct evidence</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Verdict</a:t>
                      </a:r>
                      <a:endParaRPr lang="en-US" sz="90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0E1E3A"/>
                    </a:solidFill>
                  </a:tcPr>
                </a:tc>
                <a:extLst>
                  <a:ext uri="{0D108BD9-81ED-4DB2-BD59-A6C34878D82A}">
                    <a16:rowId xmlns:a16="http://schemas.microsoft.com/office/drawing/2014/main" val="10000"/>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C1</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Guarded programs keep held-out contracts on the GitHub families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90/90 compiled vs. 89/90 unchanged; zero compiled-only misses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Yes; no difference detected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1"/>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C2</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Compiled programs remove model calls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−66.6% requests, −63.1% tokens, −58.7% cost on 90 records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Yes; within one snapshot</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2"/>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C3</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Compile-or-retire holds on newer records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120/120 on four repositories; pytorch/pytorch retires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Yes; inside frozen snapshots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3"/>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C4</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The end-to-end contract can be certified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0/132 post-cutoff misses; bound 0.0173</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One family; open and merged PRs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4"/>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C5</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GAC helps on a public benchmark</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BIRD: 26/31 compiled; −45.8% requests; 402 vs. 403 of 630</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No loss detected; not equivalence</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5"/>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C6</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Admission refuses per-question choices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BIRD standard agent 0/36; Claude Sonnet 0/10</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Yes; two designs refused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6"/>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C7</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Programs re-derive on other models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gpt-6-luna and claude-sonnet-5: 2 of 3 families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B5821F"/>
                          </a:solidFill>
                          <a:latin typeface="Calibri" pitchFamily="34" charset="0"/>
                          <a:ea typeface="Calibri" pitchFamily="34" charset="-122"/>
                          <a:cs typeface="Calibri" pitchFamily="34" charset="-120"/>
                        </a:rPr>
                        <a:t>Yes; backlog refused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4E6"/>
                    </a:solidFill>
                  </a:tcPr>
                </a:tc>
                <a:extLst>
                  <a:ext uri="{0D108BD9-81ED-4DB2-BD59-A6C34878D82A}">
                    <a16:rowId xmlns:a16="http://schemas.microsoft.com/office/drawing/2014/main" val="10007"/>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C8</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Compiled programs beat hand-written code</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Manual 90/90; ties requests, wins tokens and cost</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A93B2B"/>
                          </a:solidFill>
                          <a:latin typeface="Calibri" pitchFamily="34" charset="0"/>
                          <a:ea typeface="Calibri" pitchFamily="34" charset="-122"/>
                          <a:cs typeface="Calibri" pitchFamily="34" charset="-120"/>
                        </a:rPr>
                        <a:t>Not supported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0EC"/>
                    </a:solidFill>
                  </a:tcPr>
                </a:tc>
                <a:extLst>
                  <a:ext uri="{0D108BD9-81ED-4DB2-BD59-A6C34878D82A}">
                    <a16:rowId xmlns:a16="http://schemas.microsoft.com/office/drawing/2014/main" val="10008"/>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C9</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Public trace benchmarks can be certified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NESTFUL best family 26 &lt; 92; API-Bank 8; BFCL v4 15</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A93B2B"/>
                          </a:solidFill>
                          <a:latin typeface="Calibri" pitchFamily="34" charset="0"/>
                          <a:ea typeface="Calibri" pitchFamily="34" charset="-122"/>
                          <a:cs typeface="Calibri" pitchFamily="34" charset="-120"/>
                        </a:rPr>
                        <a:t>Not supported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0EC"/>
                    </a:solidFill>
                  </a:tcPr>
                </a:tc>
                <a:extLst>
                  <a:ext uri="{0D108BD9-81ED-4DB2-BD59-A6C34878D82A}">
                    <a16:rowId xmlns:a16="http://schemas.microsoft.com/office/drawing/2014/main" val="10009"/>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C10</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An admitted artifact is dispatchable</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AppWorld: 2,339/2,340 full-code vs. 1/4,680 ReAct runs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5A6B84"/>
                          </a:solidFill>
                          <a:latin typeface="Calibri" pitchFamily="34" charset="0"/>
                          <a:ea typeface="Calibri" pitchFamily="34" charset="-122"/>
                          <a:cs typeface="Calibri" pitchFamily="34" charset="-120"/>
                        </a:rPr>
                        <a:t>Rarely, by agent design</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EFF1F4"/>
                    </a:solidFill>
                  </a:tcPr>
                </a:tc>
                <a:extLst>
                  <a:ext uri="{0D108BD9-81ED-4DB2-BD59-A6C34878D82A}">
                    <a16:rowId xmlns:a16="http://schemas.microsoft.com/office/drawing/2014/main" val="10010"/>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C11</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The learned gate ranks dispatch risk</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Step at 0.14; amended 184-group gate retired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A93B2B"/>
                          </a:solidFill>
                          <a:latin typeface="Calibri" pitchFamily="34" charset="0"/>
                          <a:ea typeface="Calibri" pitchFamily="34" charset="-122"/>
                          <a:cs typeface="Calibri" pitchFamily="34" charset="-120"/>
                        </a:rPr>
                        <a:t>Not supported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0EC"/>
                    </a:solidFill>
                  </a:tcPr>
                </a:tc>
                <a:extLst>
                  <a:ext uri="{0D108BD9-81ED-4DB2-BD59-A6C34878D82A}">
                    <a16:rowId xmlns:a16="http://schemas.microsoft.com/office/drawing/2014/main" val="10011"/>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C12</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Run-time guards protect under drift</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Both arms wrong on 39 of 60; two studies null</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A93B2B"/>
                          </a:solidFill>
                          <a:latin typeface="Calibri" pitchFamily="34" charset="0"/>
                          <a:ea typeface="Calibri" pitchFamily="34" charset="-122"/>
                          <a:cs typeface="Calibri" pitchFamily="34" charset="-120"/>
                        </a:rPr>
                        <a:t>Not supported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0EC"/>
                    </a:solidFill>
                  </a:tcPr>
                </a:tc>
                <a:extLst>
                  <a:ext uri="{0D108BD9-81ED-4DB2-BD59-A6C34878D82A}">
                    <a16:rowId xmlns:a16="http://schemas.microsoft.com/office/drawing/2014/main" val="10012"/>
                  </a:ext>
                </a:extLst>
              </a:tr>
              <a:tr h="265176">
                <a:tc>
                  <a:txBody>
                    <a:bodyPr/>
                    <a:lstStyle/>
                    <a:p>
                      <a:pPr marL="0" indent="0">
                        <a:buNone/>
                      </a:pPr>
                      <a:r>
                        <a:rPr lang="en-US" sz="850" b="1" dirty="0">
                          <a:solidFill>
                            <a:srgbClr val="0E1E3A"/>
                          </a:solidFill>
                          <a:latin typeface="Calibri" pitchFamily="34" charset="0"/>
                          <a:ea typeface="Calibri" pitchFamily="34" charset="-122"/>
                          <a:cs typeface="Calibri" pitchFamily="34" charset="-120"/>
                        </a:rPr>
                        <a:t>C13</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24354F"/>
                          </a:solidFill>
                          <a:latin typeface="Calibri" pitchFamily="34" charset="0"/>
                          <a:ea typeface="Calibri" pitchFamily="34" charset="-122"/>
                          <a:cs typeface="Calibri" pitchFamily="34" charset="-120"/>
                        </a:rPr>
                        <a:t>Certificates survive clustered units</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a:solidFill>
                            <a:srgbClr val="5A6B84"/>
                          </a:solidFill>
                          <a:latin typeface="Calibri" pitchFamily="34" charset="0"/>
                          <a:ea typeface="Calibri" pitchFamily="34" charset="-122"/>
                          <a:cs typeface="Calibri" pitchFamily="34" charset="-120"/>
                        </a:rPr>
                        <a:t>A day or author as one unit retires every family</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FFFFF"/>
                    </a:solidFill>
                  </a:tcPr>
                </a:tc>
                <a:tc>
                  <a:txBody>
                    <a:bodyPr/>
                    <a:lstStyle/>
                    <a:p>
                      <a:pPr marL="0" indent="0">
                        <a:buNone/>
                      </a:pPr>
                      <a:r>
                        <a:rPr lang="en-US" sz="850" dirty="0" b="1">
                          <a:solidFill>
                            <a:srgbClr val="A93B2B"/>
                          </a:solidFill>
                          <a:latin typeface="Calibri" pitchFamily="34" charset="0"/>
                          <a:ea typeface="Calibri" pitchFamily="34" charset="-122"/>
                          <a:cs typeface="Calibri" pitchFamily="34" charset="-120"/>
                        </a:rPr>
                        <a:t>Not supported</a:t>
                      </a:r>
                      <a:endParaRPr lang="en-US" sz="850" dirty="0">
                        <a:latin typeface="Calibri" charset="0"/>
                        <a:ea typeface="Calibri" charset="0"/>
                        <a:cs typeface="Calibri" charset="0"/>
                      </a:endParaRPr>
                    </a:p>
                  </a:txBody>
                  <a:tcPr marL="82296" marR="82296" marT="18288" marB="18288" anchor="ctr">
                    <a:lnL w="6350" cap="flat" cmpd="sng" algn="ctr">
                      <a:solidFill>
                        <a:srgbClr val="D5E0EB"/>
                      </a:solidFill>
                      <a:prstDash val="solid"/>
                      <a:round/>
                      <a:headEnd type="none" w="med" len="med"/>
                      <a:tailEnd type="none" w="med" len="med"/>
                    </a:lnL>
                    <a:lnR w="6350" cap="flat" cmpd="sng" algn="ctr">
                      <a:solidFill>
                        <a:srgbClr val="D5E0EB"/>
                      </a:solidFill>
                      <a:prstDash val="solid"/>
                      <a:round/>
                      <a:headEnd type="none" w="med" len="med"/>
                      <a:tailEnd type="none" w="med" len="med"/>
                    </a:lnR>
                    <a:lnT w="6350" cap="flat" cmpd="sng" algn="ctr">
                      <a:solidFill>
                        <a:srgbClr val="D5E0EB"/>
                      </a:solidFill>
                      <a:prstDash val="solid"/>
                      <a:round/>
                      <a:headEnd type="none" w="med" len="med"/>
                      <a:tailEnd type="none" w="med" len="med"/>
                    </a:lnT>
                    <a:lnB w="6350" cap="flat" cmpd="sng" algn="ctr">
                      <a:solidFill>
                        <a:srgbClr val="D5E0EB"/>
                      </a:solidFill>
                      <a:prstDash val="solid"/>
                      <a:round/>
                      <a:headEnd type="none" w="med" len="med"/>
                      <a:tailEnd type="none" w="med" len="med"/>
                    </a:lnB>
                    <a:solidFill>
                      <a:srgbClr val="FBF0EC"/>
                    </a:solidFill>
                  </a:tcPr>
                </a:tc>
                <a:extLst>
                  <a:ext uri="{0D108BD9-81ED-4DB2-BD59-A6C34878D82A}">
                    <a16:rowId xmlns:a16="http://schemas.microsoft.com/office/drawing/2014/main" val="10013"/>
                  </a:ext>
                </a:extLst>
              </a:tr>
            </a:tbl>
          </a:graphicData>
        </a:graphic>
      </p:graphicFrame>
      <p:sp>
        <p:nvSpPr>
          <p:cNvPr id="7" name="Text 4"/>
          <p:cNvSpPr/>
          <p:nvPr/>
        </p:nvSpPr>
        <p:spPr>
          <a:xfrm>
            <a:off x="640080" y="5029200"/>
            <a:ext cx="10911535" cy="310896"/>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Five claims are not supported, and every claim that stands carries its scope inside the verdict cell. Unsupported claims are retained so a later reading cannot quietly promote them.</a:t>
            </a:r>
            <a:endParaRPr lang="en-US" sz="1050" dirty="0"/>
          </a:p>
        </p:txBody>
      </p:sp>
      <p:sp>
        <p:nvSpPr>
          <p:cNvPr id="8" name="Shape 5"/>
          <p:cNvSpPr/>
          <p:nvPr/>
        </p:nvSpPr>
        <p:spPr>
          <a:xfrm>
            <a:off x="640080" y="5431536"/>
            <a:ext cx="10911535" cy="731520"/>
          </a:xfrm>
          <a:prstGeom prst="roundRect">
            <a:avLst>
              <a:gd name="adj" fmla="val 6250"/>
            </a:avLst>
          </a:prstGeom>
          <a:solidFill>
            <a:srgbClr val="FBF0EC"/>
          </a:solidFill>
          <a:ln w="9525">
            <a:solidFill>
              <a:srgbClr val="EFDCD4"/>
            </a:solidFill>
            <a:prstDash val="solid"/>
          </a:ln>
        </p:spPr>
        <p:txBody>
          <a:bodyPr/>
          <a:lstStyle/>
          <a:p>
            <a:endParaRPr lang="en-US"/>
          </a:p>
        </p:txBody>
      </p:sp>
      <p:sp>
        <p:nvSpPr>
          <p:cNvPr id="9" name="Text 6"/>
          <p:cNvSpPr/>
          <p:nvPr/>
        </p:nvSpPr>
        <p:spPr>
          <a:xfrm>
            <a:off x="877824" y="5541264"/>
            <a:ext cx="2103120" cy="219456"/>
          </a:xfrm>
          <a:prstGeom prst="rect">
            <a:avLst/>
          </a:prstGeom>
          <a:noFill/>
          <a:ln/>
        </p:spPr>
        <p:txBody>
          <a:bodyPr wrap="square" lIns="0" tIns="0" rIns="0" bIns="0" rtlCol="0" anchor="t"/>
          <a:lstStyle/>
          <a:p>
            <a:pPr marL="0" indent="0">
              <a:buNone/>
            </a:pPr>
            <a:r>
              <a:rPr lang="en-US" sz="900" b="1" kern="0" spc="100" dirty="0">
                <a:solidFill>
                  <a:srgbClr val="A93B2B"/>
                </a:solidFill>
                <a:latin typeface="Calibri" pitchFamily="34" charset="0"/>
                <a:ea typeface="Calibri" pitchFamily="34" charset="-122"/>
                <a:cs typeface="Calibri" pitchFamily="34" charset="-120"/>
              </a:rPr>
              <a:t>WHAT IS NOT SHOWN</a:t>
            </a:r>
            <a:endParaRPr lang="en-US" sz="900" dirty="0"/>
          </a:p>
        </p:txBody>
      </p:sp>
      <p:sp>
        <p:nvSpPr>
          <p:cNvPr id="10" name="Text 7"/>
          <p:cNvSpPr/>
          <p:nvPr/>
        </p:nvSpPr>
        <p:spPr>
          <a:xfrm>
            <a:off x="3017520" y="5541264"/>
            <a:ext cx="8259775" cy="512064"/>
          </a:xfrm>
          <a:prstGeom prst="rect">
            <a:avLst/>
          </a:prstGeom>
          <a:noFill/>
          <a:ln/>
        </p:spPr>
        <p:txBody>
          <a:bodyPr wrap="square" lIns="0" tIns="0" rIns="0" bIns="0" rtlCol="0" anchor="ctr"/>
          <a:lstStyle/>
          <a:p>
            <a:pPr marL="0" indent="0">
              <a:lnSpc>
                <a:spcPct val="105000"/>
              </a:lnSpc>
              <a:buNone/>
            </a:pPr>
            <a:r>
              <a:rPr lang="en-US" sz="1050" dirty="0">
                <a:solidFill>
                  <a:srgbClr val="5C4034"/>
                </a:solidFill>
                <a:latin typeface="Calibri" pitchFamily="34" charset="0"/>
                <a:ea typeface="Calibri" pitchFamily="34" charset="-122"/>
                <a:cs typeface="Calibri" pitchFamily="34" charset="-120"/>
              </a:rPr>
              <a:t>no runtime superiority over hand-written code  ·  no graded risk ranking  ·  no protection under drift  ·  no savings across snapshots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E3A"/>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43597C"/>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43597C"/>
                </a:solidFill>
                <a:latin typeface="Calibri" pitchFamily="34" charset="0"/>
                <a:ea typeface="Calibri" pitchFamily="34" charset="-122"/>
                <a:cs typeface="Calibri" pitchFamily="34" charset="-120"/>
              </a:rPr>
              <a:t>26</a:t>
            </a:r>
            <a:endParaRPr lang="en-US" sz="900" dirty="0"/>
          </a:p>
        </p:txBody>
      </p:sp>
      <p:sp>
        <p:nvSpPr>
          <p:cNvPr id="4" name="Shape 2"/>
          <p:cNvSpPr/>
          <p:nvPr/>
        </p:nvSpPr>
        <p:spPr>
          <a:xfrm>
            <a:off x="11247120" y="4846320"/>
            <a:ext cx="4023360" cy="4023360"/>
          </a:xfrm>
          <a:prstGeom prst="ellipse">
            <a:avLst/>
          </a:prstGeom>
          <a:solidFill>
            <a:srgbClr val="1A3563">
              <a:alpha val="58000"/>
            </a:srgbClr>
          </a:solidFill>
          <a:ln w="12700">
            <a:solidFill>
              <a:srgbClr val="1A3563"/>
            </a:solidFill>
            <a:prstDash val="solid"/>
          </a:ln>
        </p:spPr>
        <p:txBody>
          <a:bodyPr/>
          <a:lstStyle/>
          <a:p>
            <a:endParaRPr lang="en-US"/>
          </a:p>
        </p:txBody>
      </p:sp>
      <p:sp>
        <p:nvSpPr>
          <p:cNvPr id="5" name="Shape 3"/>
          <p:cNvSpPr/>
          <p:nvPr/>
        </p:nvSpPr>
        <p:spPr>
          <a:xfrm>
            <a:off x="11978640" y="5577840"/>
            <a:ext cx="2011680" cy="2011680"/>
          </a:xfrm>
          <a:prstGeom prst="ellipse">
            <a:avLst/>
          </a:prstGeom>
          <a:solidFill>
            <a:srgbClr val="1F8A99">
              <a:alpha val="52000"/>
            </a:srgbClr>
          </a:solidFill>
          <a:ln w="12700">
            <a:solidFill>
              <a:srgbClr val="1F8A99"/>
            </a:solidFill>
            <a:prstDash val="solid"/>
          </a:ln>
        </p:spPr>
        <p:txBody>
          <a:bodyPr/>
          <a:lstStyle/>
          <a:p>
            <a:endParaRPr lang="en-US"/>
          </a:p>
        </p:txBody>
      </p:sp>
      <p:sp>
        <p:nvSpPr>
          <p:cNvPr id="6" name="Text 4"/>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56B3BE"/>
                </a:solidFill>
                <a:latin typeface="Calibri" pitchFamily="34" charset="0"/>
                <a:ea typeface="Calibri" pitchFamily="34" charset="-122"/>
                <a:cs typeface="Calibri" pitchFamily="34" charset="-120"/>
              </a:rPr>
              <a:t>CONCLUSION</a:t>
            </a:r>
            <a:endParaRPr lang="en-US" sz="1050" dirty="0"/>
          </a:p>
        </p:txBody>
      </p:sp>
      <p:sp>
        <p:nvSpPr>
          <p:cNvPr id="7" name="Text 5"/>
          <p:cNvSpPr/>
          <p:nvPr/>
        </p:nvSpPr>
        <p:spPr>
          <a:xfrm>
            <a:off x="640080" y="658368"/>
            <a:ext cx="10241280" cy="914400"/>
          </a:xfrm>
          <a:prstGeom prst="rect">
            <a:avLst/>
          </a:prstGeom>
          <a:noFill/>
          <a:ln/>
        </p:spPr>
        <p:txBody>
          <a:bodyPr wrap="square" lIns="0" tIns="0" rIns="0" bIns="0" rtlCol="0" anchor="t"/>
          <a:lstStyle/>
          <a:p>
            <a:pPr marL="0" indent="0">
              <a:buNone/>
            </a:pPr>
            <a:r>
              <a:rPr lang="en-US" sz="2500" b="1" dirty="0">
                <a:solidFill>
                  <a:srgbClr val="FFFFFF"/>
                </a:solidFill>
                <a:latin typeface="Cambria" pitchFamily="34" charset="0"/>
                <a:ea typeface="Cambria" pitchFamily="34" charset="-122"/>
                <a:cs typeface="Cambria" pitchFamily="34" charset="-120"/>
              </a:rPr>
              <a:t>Judge an optimizer by its evidence, refusals, and fallback — not by turns removed</a:t>
            </a:r>
            <a:endParaRPr lang="en-US" sz="2500" dirty="0"/>
          </a:p>
        </p:txBody>
      </p:sp>
      <p:sp>
        <p:nvSpPr>
          <p:cNvPr id="8" name="Shape 6"/>
          <p:cNvSpPr/>
          <p:nvPr/>
        </p:nvSpPr>
        <p:spPr>
          <a:xfrm>
            <a:off x="640080" y="2084832"/>
            <a:ext cx="384048" cy="384048"/>
          </a:xfrm>
          <a:prstGeom prst="ellipse">
            <a:avLst/>
          </a:prstGeom>
          <a:solidFill>
            <a:srgbClr val="1F8A99"/>
          </a:solidFill>
          <a:ln w="6350">
            <a:solidFill>
              <a:srgbClr val="1F8A99"/>
            </a:solidFill>
            <a:prstDash val="solid"/>
          </a:ln>
        </p:spPr>
        <p:txBody>
          <a:bodyPr/>
          <a:lstStyle/>
          <a:p>
            <a:endParaRPr lang="en-US"/>
          </a:p>
        </p:txBody>
      </p:sp>
      <p:sp>
        <p:nvSpPr>
          <p:cNvPr id="9" name="Text 7"/>
          <p:cNvSpPr/>
          <p:nvPr/>
        </p:nvSpPr>
        <p:spPr>
          <a:xfrm>
            <a:off x="640080" y="20848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188720" y="2048256"/>
            <a:ext cx="4407408" cy="457200"/>
          </a:xfrm>
          <a:prstGeom prst="rect">
            <a:avLst/>
          </a:prstGeom>
          <a:noFill/>
          <a:ln/>
        </p:spPr>
        <p:txBody>
          <a:bodyPr wrap="square" lIns="0" tIns="0" rIns="0" bIns="0" rtlCol="0" anchor="t"/>
          <a:lstStyle/>
          <a:p>
            <a:pPr marL="0" indent="0">
              <a:lnSpc>
                <a:spcPct val="100000"/>
              </a:lnSpc>
              <a:buNone/>
            </a:pPr>
            <a:r>
              <a:rPr lang="en-US" sz="1400" b="1" dirty="0">
                <a:solidFill>
                  <a:srgbClr val="FFFFFF"/>
                </a:solidFill>
                <a:latin typeface="Cambria" pitchFamily="34" charset="0"/>
                <a:ea typeface="Cambria" pitchFamily="34" charset="-122"/>
                <a:cs typeface="Cambria" pitchFamily="34" charset="-120"/>
              </a:rPr>
              <a:t>The admission argument is the contribution</a:t>
            </a:r>
            <a:endParaRPr lang="en-US" sz="1400" dirty="0"/>
          </a:p>
        </p:txBody>
      </p:sp>
      <p:sp>
        <p:nvSpPr>
          <p:cNvPr id="11" name="Text 9"/>
          <p:cNvSpPr/>
          <p:nvPr/>
        </p:nvSpPr>
        <p:spPr>
          <a:xfrm>
            <a:off x="1188720" y="2542032"/>
            <a:ext cx="4315968" cy="1280160"/>
          </a:xfrm>
          <a:prstGeom prst="rect">
            <a:avLst/>
          </a:prstGeom>
          <a:noFill/>
          <a:ln/>
        </p:spPr>
        <p:txBody>
          <a:bodyPr wrap="square" lIns="0" tIns="0" rIns="0" bIns="0" rtlCol="0" anchor="t"/>
          <a:lstStyle/>
          <a:p>
            <a:pPr marL="0" indent="0">
              <a:lnSpc>
                <a:spcPct val="110000"/>
              </a:lnSpc>
              <a:buNone/>
            </a:pPr>
            <a:r>
              <a:rPr lang="en-US" sz="1050" dirty="0">
                <a:solidFill>
                  <a:srgbClr val="9BD0D6"/>
                </a:solidFill>
                <a:latin typeface="Calibri" pitchFamily="34" charset="0"/>
                <a:ea typeface="Calibri" pitchFamily="34" charset="-122"/>
                <a:cs typeface="Calibri" pitchFamily="34" charset="-120"/>
              </a:rPr>
              <a:t>Each element — typed provenance, effect and position barriers, bounded readable synthesis, run-time verification, finite-sample admission — has predecessors. The contribution is that an agent guard needs all of them at once, and that every stage can refuse.</a:t>
            </a:r>
            <a:endParaRPr lang="en-US" sz="1050" dirty="0"/>
          </a:p>
        </p:txBody>
      </p:sp>
      <p:sp>
        <p:nvSpPr>
          <p:cNvPr id="12" name="Shape 10"/>
          <p:cNvSpPr/>
          <p:nvPr/>
        </p:nvSpPr>
        <p:spPr>
          <a:xfrm>
            <a:off x="5925312" y="2084832"/>
            <a:ext cx="384048" cy="384048"/>
          </a:xfrm>
          <a:prstGeom prst="ellipse">
            <a:avLst/>
          </a:prstGeom>
          <a:solidFill>
            <a:srgbClr val="1F8A99"/>
          </a:solidFill>
          <a:ln w="6350">
            <a:solidFill>
              <a:srgbClr val="1F8A99"/>
            </a:solidFill>
            <a:prstDash val="solid"/>
          </a:ln>
        </p:spPr>
        <p:txBody>
          <a:bodyPr/>
          <a:lstStyle/>
          <a:p>
            <a:endParaRPr lang="en-US"/>
          </a:p>
        </p:txBody>
      </p:sp>
      <p:sp>
        <p:nvSpPr>
          <p:cNvPr id="13" name="Text 11"/>
          <p:cNvSpPr/>
          <p:nvPr/>
        </p:nvSpPr>
        <p:spPr>
          <a:xfrm>
            <a:off x="5925312" y="20848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473952" y="2048256"/>
            <a:ext cx="4407408" cy="457200"/>
          </a:xfrm>
          <a:prstGeom prst="rect">
            <a:avLst/>
          </a:prstGeom>
          <a:noFill/>
          <a:ln/>
        </p:spPr>
        <p:txBody>
          <a:bodyPr wrap="square" lIns="0" tIns="0" rIns="0" bIns="0" rtlCol="0" anchor="t"/>
          <a:lstStyle/>
          <a:p>
            <a:pPr marL="0" indent="0">
              <a:lnSpc>
                <a:spcPct val="100000"/>
              </a:lnSpc>
              <a:buNone/>
            </a:pPr>
            <a:r>
              <a:rPr lang="en-US" sz="1400" b="1" dirty="0">
                <a:solidFill>
                  <a:srgbClr val="FFFFFF"/>
                </a:solidFill>
                <a:latin typeface="Cambria" pitchFamily="34" charset="0"/>
                <a:ea typeface="Cambria" pitchFamily="34" charset="-122"/>
                <a:cs typeface="Cambria" pitchFamily="34" charset="-120"/>
              </a:rPr>
              <a:t>Compile what the agent does, not what it is asked</a:t>
            </a:r>
            <a:endParaRPr lang="en-US" sz="1400" dirty="0"/>
          </a:p>
        </p:txBody>
      </p:sp>
      <p:sp>
        <p:nvSpPr>
          <p:cNvPr id="15" name="Text 13"/>
          <p:cNvSpPr/>
          <p:nvPr/>
        </p:nvSpPr>
        <p:spPr>
          <a:xfrm>
            <a:off x="6473952" y="2542032"/>
            <a:ext cx="4315968" cy="1280160"/>
          </a:xfrm>
          <a:prstGeom prst="rect">
            <a:avLst/>
          </a:prstGeom>
          <a:noFill/>
          <a:ln/>
        </p:spPr>
        <p:txBody>
          <a:bodyPr wrap="square" lIns="0" tIns="0" rIns="0" bIns="0" rtlCol="0" anchor="t"/>
          <a:lstStyle/>
          <a:p>
            <a:pPr marL="0" indent="0">
              <a:lnSpc>
                <a:spcPct val="110000"/>
              </a:lnSpc>
              <a:buNone/>
            </a:pPr>
            <a:r>
              <a:rPr lang="en-US" sz="1050" dirty="0">
                <a:solidFill>
                  <a:srgbClr val="9BD0D6"/>
                </a:solidFill>
                <a:latin typeface="Calibri" pitchFamily="34" charset="0"/>
                <a:ea typeface="Calibri" pitchFamily="34" charset="-122"/>
                <a:cs typeface="Calibri" pitchFamily="34" charset="-120"/>
              </a:rPr>
              <a:t>On BIRD a schema-first agent compiles on 26 of 31 databases with 45–50% fewer model calls. An agent that chooses its tables per question, and Claude Sonnet told to read every table, are refused.</a:t>
            </a:r>
            <a:endParaRPr lang="en-US" sz="1050" dirty="0"/>
          </a:p>
        </p:txBody>
      </p:sp>
      <p:sp>
        <p:nvSpPr>
          <p:cNvPr id="16" name="Shape 14"/>
          <p:cNvSpPr/>
          <p:nvPr/>
        </p:nvSpPr>
        <p:spPr>
          <a:xfrm>
            <a:off x="640080" y="3968496"/>
            <a:ext cx="384048" cy="384048"/>
          </a:xfrm>
          <a:prstGeom prst="ellipse">
            <a:avLst/>
          </a:prstGeom>
          <a:solidFill>
            <a:srgbClr val="1F8A99"/>
          </a:solidFill>
          <a:ln w="6350">
            <a:solidFill>
              <a:srgbClr val="1F8A99"/>
            </a:solidFill>
            <a:prstDash val="solid"/>
          </a:ln>
        </p:spPr>
        <p:txBody>
          <a:bodyPr/>
          <a:lstStyle/>
          <a:p>
            <a:endParaRPr lang="en-US"/>
          </a:p>
        </p:txBody>
      </p:sp>
      <p:sp>
        <p:nvSpPr>
          <p:cNvPr id="17" name="Text 15"/>
          <p:cNvSpPr/>
          <p:nvPr/>
        </p:nvSpPr>
        <p:spPr>
          <a:xfrm>
            <a:off x="640080" y="3968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188720" y="3931920"/>
            <a:ext cx="4407408" cy="457200"/>
          </a:xfrm>
          <a:prstGeom prst="rect">
            <a:avLst/>
          </a:prstGeom>
          <a:noFill/>
          <a:ln/>
        </p:spPr>
        <p:txBody>
          <a:bodyPr wrap="square" lIns="0" tIns="0" rIns="0" bIns="0" rtlCol="0" anchor="t"/>
          <a:lstStyle/>
          <a:p>
            <a:pPr marL="0" indent="0">
              <a:lnSpc>
                <a:spcPct val="100000"/>
              </a:lnSpc>
              <a:buNone/>
            </a:pPr>
            <a:r>
              <a:rPr lang="en-US" sz="1400" b="1" dirty="0">
                <a:solidFill>
                  <a:srgbClr val="FFFFFF"/>
                </a:solidFill>
                <a:latin typeface="Cambria" pitchFamily="34" charset="0"/>
                <a:ea typeface="Cambria" pitchFamily="34" charset="-122"/>
                <a:cs typeface="Cambria" pitchFamily="34" charset="-120"/>
              </a:rPr>
              <a:t>Certification, not recurrence, is the scarce resource</a:t>
            </a:r>
            <a:endParaRPr lang="en-US" sz="1400" dirty="0"/>
          </a:p>
        </p:txBody>
      </p:sp>
      <p:sp>
        <p:nvSpPr>
          <p:cNvPr id="19" name="Text 17"/>
          <p:cNvSpPr/>
          <p:nvPr/>
        </p:nvSpPr>
        <p:spPr>
          <a:xfrm>
            <a:off x="1188720" y="4425696"/>
            <a:ext cx="4315968" cy="1280160"/>
          </a:xfrm>
          <a:prstGeom prst="rect">
            <a:avLst/>
          </a:prstGeom>
          <a:noFill/>
          <a:ln/>
        </p:spPr>
        <p:txBody>
          <a:bodyPr wrap="square" lIns="0" tIns="0" rIns="0" bIns="0" rtlCol="0" anchor="t"/>
          <a:lstStyle/>
          <a:p>
            <a:pPr marL="0" indent="0">
              <a:lnSpc>
                <a:spcPct val="110000"/>
              </a:lnSpc>
              <a:buNone/>
            </a:pPr>
            <a:r>
              <a:rPr lang="en-US" sz="1050" dirty="0">
                <a:solidFill>
                  <a:srgbClr val="9BD0D6"/>
                </a:solidFill>
                <a:latin typeface="Calibri" pitchFamily="34" charset="0"/>
                <a:ea typeface="Calibri" pitchFamily="34" charset="-122"/>
                <a:cs typeface="Calibri" pitchFamily="34" charset="-120"/>
              </a:rPr>
              <a:t>NESTFUL's best family reaches 26 of the 92 groups the gate needs, AppWorld's admitted program fits almost no ReAct run, and the GitHub certificates mostly confirm sample size. Refusal exposes the data requirement.</a:t>
            </a:r>
            <a:endParaRPr lang="en-US" sz="1050" dirty="0"/>
          </a:p>
        </p:txBody>
      </p:sp>
      <p:sp>
        <p:nvSpPr>
          <p:cNvPr id="20" name="Shape 18"/>
          <p:cNvSpPr/>
          <p:nvPr/>
        </p:nvSpPr>
        <p:spPr>
          <a:xfrm>
            <a:off x="5925312" y="3968496"/>
            <a:ext cx="384048" cy="384048"/>
          </a:xfrm>
          <a:prstGeom prst="ellipse">
            <a:avLst/>
          </a:prstGeom>
          <a:solidFill>
            <a:srgbClr val="1F8A99"/>
          </a:solidFill>
          <a:ln w="6350">
            <a:solidFill>
              <a:srgbClr val="1F8A99"/>
            </a:solidFill>
            <a:prstDash val="solid"/>
          </a:ln>
        </p:spPr>
        <p:txBody>
          <a:bodyPr/>
          <a:lstStyle/>
          <a:p>
            <a:endParaRPr lang="en-US"/>
          </a:p>
        </p:txBody>
      </p:sp>
      <p:sp>
        <p:nvSpPr>
          <p:cNvPr id="21" name="Text 19"/>
          <p:cNvSpPr/>
          <p:nvPr/>
        </p:nvSpPr>
        <p:spPr>
          <a:xfrm>
            <a:off x="5925312" y="396849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473952" y="3931920"/>
            <a:ext cx="4407408" cy="457200"/>
          </a:xfrm>
          <a:prstGeom prst="rect">
            <a:avLst/>
          </a:prstGeom>
          <a:noFill/>
          <a:ln/>
        </p:spPr>
        <p:txBody>
          <a:bodyPr wrap="square" lIns="0" tIns="0" rIns="0" bIns="0" rtlCol="0" anchor="t"/>
          <a:lstStyle/>
          <a:p>
            <a:pPr marL="0" indent="0">
              <a:lnSpc>
                <a:spcPct val="100000"/>
              </a:lnSpc>
              <a:buNone/>
            </a:pPr>
            <a:r>
              <a:rPr lang="en-US" sz="1400" b="1" dirty="0">
                <a:solidFill>
                  <a:srgbClr val="FFFFFF"/>
                </a:solidFill>
                <a:latin typeface="Cambria" pitchFamily="34" charset="0"/>
                <a:ea typeface="Cambria" pitchFamily="34" charset="-122"/>
                <a:cs typeface="Cambria" pitchFamily="34" charset="-120"/>
              </a:rPr>
              <a:t>Efficiency is not superiority or protection</a:t>
            </a:r>
            <a:endParaRPr lang="en-US" sz="1400" dirty="0"/>
          </a:p>
        </p:txBody>
      </p:sp>
      <p:sp>
        <p:nvSpPr>
          <p:cNvPr id="23" name="Text 21"/>
          <p:cNvSpPr/>
          <p:nvPr/>
        </p:nvSpPr>
        <p:spPr>
          <a:xfrm>
            <a:off x="6473952" y="4425696"/>
            <a:ext cx="4315968" cy="1280160"/>
          </a:xfrm>
          <a:prstGeom prst="rect">
            <a:avLst/>
          </a:prstGeom>
          <a:noFill/>
          <a:ln/>
        </p:spPr>
        <p:txBody>
          <a:bodyPr wrap="square" lIns="0" tIns="0" rIns="0" bIns="0" rtlCol="0" anchor="t"/>
          <a:lstStyle/>
          <a:p>
            <a:pPr marL="0" indent="0">
              <a:lnSpc>
                <a:spcPct val="110000"/>
              </a:lnSpc>
              <a:buNone/>
            </a:pPr>
            <a:r>
              <a:rPr lang="en-US" sz="1050" dirty="0">
                <a:solidFill>
                  <a:srgbClr val="9BD0D6"/>
                </a:solidFill>
                <a:latin typeface="Calibri" pitchFamily="34" charset="0"/>
                <a:ea typeface="Calibri" pitchFamily="34" charset="-122"/>
                <a:cs typeface="Calibri" pitchFamily="34" charset="-120"/>
              </a:rPr>
              <a:t>Hand-written programs also reach 90/90 and use fewer tokens, savings hold within one snapshot, and under drift the run-time checks prevented no wrong answer. The claim is discovery and admission.</a:t>
            </a:r>
            <a:endParaRPr lang="en-US" sz="1050" dirty="0"/>
          </a:p>
        </p:txBody>
      </p:sp>
      <p:sp>
        <p:nvSpPr>
          <p:cNvPr id="24" name="Shape 22"/>
          <p:cNvSpPr/>
          <p:nvPr/>
        </p:nvSpPr>
        <p:spPr>
          <a:xfrm>
            <a:off x="640080" y="5797296"/>
            <a:ext cx="10241280" cy="0"/>
          </a:xfrm>
          <a:prstGeom prst="line">
            <a:avLst/>
          </a:prstGeom>
          <a:noFill/>
          <a:ln w="12700">
            <a:solidFill>
              <a:srgbClr val="2C4467"/>
            </a:solidFill>
            <a:prstDash val="solid"/>
          </a:ln>
        </p:spPr>
        <p:txBody>
          <a:bodyPr/>
          <a:lstStyle/>
          <a:p>
            <a:endParaRPr lang="en-US"/>
          </a:p>
        </p:txBody>
      </p:sp>
      <p:sp>
        <p:nvSpPr>
          <p:cNvPr id="25" name="Text 23"/>
          <p:cNvSpPr/>
          <p:nvPr/>
        </p:nvSpPr>
        <p:spPr>
          <a:xfrm>
            <a:off x="640080" y="5907024"/>
            <a:ext cx="10241280" cy="292608"/>
          </a:xfrm>
          <a:prstGeom prst="rect">
            <a:avLst/>
          </a:prstGeom>
          <a:noFill/>
          <a:ln/>
        </p:spPr>
        <p:txBody>
          <a:bodyPr wrap="square" lIns="0" tIns="0" rIns="0" bIns="0" rtlCol="0" anchor="t"/>
          <a:lstStyle/>
          <a:p>
            <a:pPr marL="0" indent="0">
              <a:buNone/>
            </a:pPr>
            <a:r>
              <a:rPr lang="en-US" sz="1100" i="1" dirty="0">
                <a:solidFill>
                  <a:srgbClr val="8FA6C0"/>
                </a:solidFill>
                <a:latin typeface="Calibri" pitchFamily="34" charset="0"/>
                <a:ea typeface="Calibri" pitchFamily="34" charset="-122"/>
                <a:cs typeface="Calibri" pitchFamily="34" charset="-120"/>
              </a:rPr>
              <a:t>Next threshold: certify graded risk ranking, transfer across snapshots, and protection under drift — none is shown here.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RESULTS  ·  §5.3  ·  PUBLIC BENCHMARK  ·  TABLES 19–22</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BIRD: a public benchmark where GAC helps</a:t>
            </a:r>
            <a:endParaRPr lang="en-US" sz="2600" dirty="0"/>
          </a:p>
        </p:txBody>
      </p:sp>
      <p:sp>
        <p:nvSpPr>
          <p:cNvPr id="6" name="Shape 4"/>
          <p:cNvSpPr/>
          <p:nvPr/>
        </p:nvSpPr>
        <p:spPr>
          <a:xfrm>
            <a:off x="640080" y="1170432"/>
            <a:ext cx="5272888" cy="2944368"/>
          </a:xfrm>
          <a:prstGeom prst="roundRect">
            <a:avLst>
              <a:gd name="adj" fmla="val 155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7" name="Text 5"/>
          <p:cNvSpPr/>
          <p:nvPr/>
        </p:nvSpPr>
        <p:spPr>
          <a:xfrm>
            <a:off x="914400" y="1316736"/>
            <a:ext cx="4724248" cy="329184"/>
          </a:xfrm>
          <a:prstGeom prst="rect">
            <a:avLst/>
          </a:prstGeom>
          <a:noFill/>
          <a:ln/>
        </p:spPr>
        <p:txBody>
          <a:bodyPr wrap="square" lIns="0" tIns="0" rIns="0" bIns="0" rtlCol="0" anchor="t"/>
          <a:lstStyle/>
          <a:p>
            <a:pPr marL="0" indent="0">
              <a:buNone/>
            </a:pPr>
            <a:r>
              <a:rPr lang="en-US" sz="1700" b="1" dirty="0">
                <a:solidFill>
                  <a:srgbClr val="0E1E3A"/>
                </a:solidFill>
                <a:latin typeface="Cambria" pitchFamily="34" charset="0"/>
                <a:ea typeface="Cambria" pitchFamily="34" charset="-122"/>
                <a:cs typeface="Cambria" pitchFamily="34" charset="-120"/>
              </a:rPr>
              <a:t>Schema-first agent</a:t>
            </a:r>
            <a:endParaRPr lang="en-US" sz="1700" dirty="0"/>
          </a:p>
        </p:txBody>
      </p:sp>
      <p:sp>
        <p:nvSpPr>
          <p:cNvPr id="8" name="Text 6"/>
          <p:cNvSpPr/>
          <p:nvPr/>
        </p:nvSpPr>
        <p:spPr>
          <a:xfrm>
            <a:off x="914400"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reads every table first  ·  26 of 31 databases</a:t>
            </a:r>
            <a:endParaRPr lang="en-US" sz="1050" dirty="0"/>
          </a:p>
        </p:txBody>
      </p:sp>
      <p:sp>
        <p:nvSpPr>
          <p:cNvPr id="9" name="Text 7"/>
          <p:cNvSpPr/>
          <p:nvPr/>
        </p:nvSpPr>
        <p:spPr>
          <a:xfrm>
            <a:off x="914400" y="1975104"/>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−45.8%</a:t>
            </a:r>
            <a:endParaRPr lang="en-US" sz="1500" dirty="0"/>
          </a:p>
        </p:txBody>
      </p:sp>
      <p:sp>
        <p:nvSpPr>
          <p:cNvPr id="10" name="Text 8"/>
          <p:cNvSpPr/>
          <p:nvPr/>
        </p:nvSpPr>
        <p:spPr>
          <a:xfrm>
            <a:off x="2377440"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requests, 629 completed training pairs</a:t>
            </a:r>
            <a:endParaRPr lang="en-US" sz="1100" dirty="0"/>
          </a:p>
        </p:txBody>
      </p:sp>
      <p:sp>
        <p:nvSpPr>
          <p:cNvPr id="11" name="Text 9"/>
          <p:cNvSpPr/>
          <p:nvPr/>
        </p:nvSpPr>
        <p:spPr>
          <a:xfrm>
            <a:off x="914400" y="2377440"/>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402 / 403</a:t>
            </a:r>
            <a:endParaRPr lang="en-US" sz="1500" dirty="0"/>
          </a:p>
        </p:txBody>
      </p:sp>
      <p:sp>
        <p:nvSpPr>
          <p:cNvPr id="12" name="Text 10"/>
          <p:cNvSpPr/>
          <p:nvPr/>
        </p:nvSpPr>
        <p:spPr>
          <a:xfrm>
            <a:off x="2377440"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correct of 630, compiled vs. unchanged</a:t>
            </a:r>
            <a:endParaRPr lang="en-US" sz="1100" dirty="0"/>
          </a:p>
        </p:txBody>
      </p:sp>
      <p:sp>
        <p:nvSpPr>
          <p:cNvPr id="13" name="Text 11"/>
          <p:cNvSpPr/>
          <p:nvPr/>
        </p:nvSpPr>
        <p:spPr>
          <a:xfrm>
            <a:off x="914400" y="2779776"/>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[−3.3, +3.0]</a:t>
            </a:r>
            <a:endParaRPr lang="en-US" sz="1500" dirty="0"/>
          </a:p>
        </p:txBody>
      </p:sp>
      <p:sp>
        <p:nvSpPr>
          <p:cNvPr id="14" name="Text 12"/>
          <p:cNvSpPr/>
          <p:nvPr/>
        </p:nvSpPr>
        <p:spPr>
          <a:xfrm>
            <a:off x="2377440"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accuracy difference, 95% interval (points)</a:t>
            </a:r>
            <a:endParaRPr lang="en-US" sz="1100" dirty="0"/>
          </a:p>
        </p:txBody>
      </p:sp>
      <p:sp>
        <p:nvSpPr>
          <p:cNvPr id="15" name="Text 13"/>
          <p:cNvSpPr/>
          <p:nvPr/>
        </p:nvSpPr>
        <p:spPr>
          <a:xfrm>
            <a:off x="914400" y="3182112"/>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−49.6%</a:t>
            </a:r>
            <a:endParaRPr lang="en-US" sz="1500" dirty="0"/>
          </a:p>
        </p:txBody>
      </p:sp>
      <p:sp>
        <p:nvSpPr>
          <p:cNvPr id="16" name="Text 14"/>
          <p:cNvSpPr/>
          <p:nvPr/>
        </p:nvSpPr>
        <p:spPr>
          <a:xfrm>
            <a:off x="2377440"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requests on gpt-6-luna; 93 vs. 91 of 150</a:t>
            </a:r>
            <a:endParaRPr lang="en-US" sz="1100" dirty="0"/>
          </a:p>
        </p:txBody>
      </p:sp>
      <p:sp>
        <p:nvSpPr>
          <p:cNvPr id="17" name="Text 15"/>
          <p:cNvSpPr/>
          <p:nvPr/>
        </p:nvSpPr>
        <p:spPr>
          <a:xfrm>
            <a:off x="914400"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On the five dev databases the compiled agent dispatched on every question and answered 97 against 94 of 150 (McNemar p = 0.45).</a:t>
            </a:r>
            <a:endParaRPr lang="en-US" sz="1000" dirty="0"/>
          </a:p>
        </p:txBody>
      </p:sp>
      <p:sp>
        <p:nvSpPr>
          <p:cNvPr id="18" name="Shape 16"/>
          <p:cNvSpPr/>
          <p:nvPr/>
        </p:nvSpPr>
        <p:spPr>
          <a:xfrm>
            <a:off x="6278728" y="1170432"/>
            <a:ext cx="5272888" cy="2944368"/>
          </a:xfrm>
          <a:prstGeom prst="roundRect">
            <a:avLst>
              <a:gd name="adj" fmla="val 1553"/>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9" name="Text 17"/>
          <p:cNvSpPr/>
          <p:nvPr/>
        </p:nvSpPr>
        <p:spPr>
          <a:xfrm>
            <a:off x="6553048" y="1316736"/>
            <a:ext cx="4724248" cy="329184"/>
          </a:xfrm>
          <a:prstGeom prst="rect">
            <a:avLst/>
          </a:prstGeom>
          <a:noFill/>
          <a:ln/>
        </p:spPr>
        <p:txBody>
          <a:bodyPr wrap="square" lIns="0" tIns="0" rIns="0" bIns="0" rtlCol="0" anchor="t"/>
          <a:lstStyle/>
          <a:p>
            <a:pPr marL="0" indent="0">
              <a:buNone/>
            </a:pPr>
            <a:r>
              <a:rPr lang="en-US" sz="1700" b="1" dirty="0">
                <a:solidFill>
                  <a:srgbClr val="A93B2B"/>
                </a:solidFill>
                <a:latin typeface="Cambria" pitchFamily="34" charset="0"/>
                <a:ea typeface="Cambria" pitchFamily="34" charset="-122"/>
                <a:cs typeface="Cambria" pitchFamily="34" charset="-120"/>
              </a:rPr>
              <a:t>Standard agent</a:t>
            </a:r>
            <a:endParaRPr lang="en-US" sz="1700" dirty="0"/>
          </a:p>
        </p:txBody>
      </p:sp>
      <p:sp>
        <p:nvSpPr>
          <p:cNvPr id="20" name="Text 18"/>
          <p:cNvSpPr/>
          <p:nvPr/>
        </p:nvSpPr>
        <p:spPr>
          <a:xfrm>
            <a:off x="6553048"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picks its tables for each question</a:t>
            </a:r>
            <a:endParaRPr lang="en-US" sz="1050" dirty="0"/>
          </a:p>
        </p:txBody>
      </p:sp>
      <p:sp>
        <p:nvSpPr>
          <p:cNvPr id="21" name="Text 19"/>
          <p:cNvSpPr/>
          <p:nvPr/>
        </p:nvSpPr>
        <p:spPr>
          <a:xfrm>
            <a:off x="6553048" y="1975104"/>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0 / 36</a:t>
            </a:r>
            <a:endParaRPr lang="en-US" sz="1500" dirty="0"/>
          </a:p>
        </p:txBody>
      </p:sp>
      <p:sp>
        <p:nvSpPr>
          <p:cNvPr id="22" name="Text 20"/>
          <p:cNvSpPr/>
          <p:nvPr/>
        </p:nvSpPr>
        <p:spPr>
          <a:xfrm>
            <a:off x="8016088"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database runs compiled, two OpenAI models</a:t>
            </a:r>
            <a:endParaRPr lang="en-US" sz="1100" dirty="0"/>
          </a:p>
        </p:txBody>
      </p:sp>
      <p:sp>
        <p:nvSpPr>
          <p:cNvPr id="23" name="Text 21"/>
          <p:cNvSpPr/>
          <p:nvPr/>
        </p:nvSpPr>
        <p:spPr>
          <a:xfrm>
            <a:off x="6553048" y="2377440"/>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7–39</a:t>
            </a:r>
            <a:endParaRPr lang="en-US" sz="1500" dirty="0"/>
          </a:p>
        </p:txBody>
      </p:sp>
      <p:sp>
        <p:nvSpPr>
          <p:cNvPr id="24" name="Text 22"/>
          <p:cNvSpPr/>
          <p:nvPr/>
        </p:nvSpPr>
        <p:spPr>
          <a:xfrm>
            <a:off x="8016088"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distinct table lists per dev database</a:t>
            </a:r>
            <a:endParaRPr lang="en-US" sz="1100" dirty="0"/>
          </a:p>
        </p:txBody>
      </p:sp>
      <p:sp>
        <p:nvSpPr>
          <p:cNvPr id="25" name="Text 23"/>
          <p:cNvSpPr/>
          <p:nvPr/>
        </p:nvSpPr>
        <p:spPr>
          <a:xfrm>
            <a:off x="6553048" y="2779776"/>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0 / 10</a:t>
            </a:r>
            <a:endParaRPr lang="en-US" sz="1500" dirty="0"/>
          </a:p>
        </p:txBody>
      </p:sp>
      <p:sp>
        <p:nvSpPr>
          <p:cNvPr id="26" name="Text 24"/>
          <p:cNvSpPr/>
          <p:nvPr/>
        </p:nvSpPr>
        <p:spPr>
          <a:xfrm>
            <a:off x="8016088"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database-design pairs on Claude Sonnet</a:t>
            </a:r>
            <a:endParaRPr lang="en-US" sz="1100" dirty="0"/>
          </a:p>
        </p:txBody>
      </p:sp>
      <p:sp>
        <p:nvSpPr>
          <p:cNvPr id="27" name="Text 25"/>
          <p:cNvSpPr/>
          <p:nvPr/>
        </p:nvSpPr>
        <p:spPr>
          <a:xfrm>
            <a:off x="6553048" y="3182112"/>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26 / 655</a:t>
            </a:r>
            <a:endParaRPr lang="en-US" sz="1500" dirty="0"/>
          </a:p>
        </p:txBody>
      </p:sp>
      <p:sp>
        <p:nvSpPr>
          <p:cNvPr id="28" name="Text 26"/>
          <p:cNvSpPr/>
          <p:nvPr/>
        </p:nvSpPr>
        <p:spPr>
          <a:xfrm>
            <a:off x="8016088"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Sonnet runs that passed every table</a:t>
            </a:r>
            <a:endParaRPr lang="en-US" sz="1100" dirty="0"/>
          </a:p>
        </p:txBody>
      </p:sp>
      <p:sp>
        <p:nvSpPr>
          <p:cNvPr id="29" name="Text 27"/>
          <p:cNvSpPr/>
          <p:nvPr/>
        </p:nvSpPr>
        <p:spPr>
          <a:xfrm>
            <a:off x="6553048"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C4034"/>
                </a:solidFill>
                <a:latin typeface="Calibri" pitchFamily="34" charset="0"/>
                <a:ea typeface="Calibri" pitchFamily="34" charset="-122"/>
                <a:cs typeface="Calibri" pitchFamily="34" charset="-120"/>
              </a:rPr>
              <a:t>The table list is a per-question model decision, so there is nothing fixed to compile.</a:t>
            </a:r>
            <a:endParaRPr lang="en-US" sz="1000" dirty="0"/>
          </a:p>
        </p:txBody>
      </p:sp>
      <p:sp>
        <p:nvSpPr>
          <p:cNvPr id="30" name="Shape 28"/>
          <p:cNvSpPr/>
          <p:nvPr/>
        </p:nvSpPr>
        <p:spPr>
          <a:xfrm>
            <a:off x="640080" y="4261104"/>
            <a:ext cx="10911535" cy="1207008"/>
          </a:xfrm>
          <a:prstGeom prst="roundRect">
            <a:avLst>
              <a:gd name="adj" fmla="val 3788"/>
            </a:avLst>
          </a:prstGeom>
          <a:solidFill>
            <a:srgbClr val="EAF1F7"/>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1" name="Shape 29"/>
          <p:cNvSpPr/>
          <p:nvPr/>
        </p:nvSpPr>
        <p:spPr>
          <a:xfrm>
            <a:off x="896112" y="4443984"/>
            <a:ext cx="329184" cy="329184"/>
          </a:xfrm>
          <a:prstGeom prst="ellipse">
            <a:avLst/>
          </a:prstGeom>
          <a:solidFill>
            <a:srgbClr val="1F8A99"/>
          </a:solidFill>
          <a:ln w="6350">
            <a:solidFill>
              <a:srgbClr val="1F8A99"/>
            </a:solidFill>
            <a:prstDash val="solid"/>
          </a:ln>
        </p:spPr>
        <p:txBody>
          <a:bodyPr/>
          <a:lstStyle/>
          <a:p>
            <a:endParaRPr lang="en-US"/>
          </a:p>
        </p:txBody>
      </p:sp>
      <p:sp>
        <p:nvSpPr>
          <p:cNvPr id="32" name="Text 30"/>
          <p:cNvSpPr/>
          <p:nvPr/>
        </p:nvSpPr>
        <p:spPr>
          <a:xfrm>
            <a:off x="896112" y="44439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1335024" y="4407408"/>
            <a:ext cx="9905695" cy="274320"/>
          </a:xfrm>
          <a:prstGeom prst="rect">
            <a:avLst/>
          </a:prstGeom>
          <a:noFill/>
          <a:ln/>
        </p:spPr>
        <p:txBody>
          <a:bodyPr wrap="square" lIns="0" tIns="0" rIns="0" bIns="0" rtlCol="0" anchor="ctr"/>
          <a:lstStyle/>
          <a:p>
            <a:pPr marL="0" indent="0">
              <a:buNone/>
            </a:pPr>
            <a:r>
              <a:rPr lang="en-US" sz="1300" b="1" dirty="0">
                <a:solidFill>
                  <a:srgbClr val="0E1E3A"/>
                </a:solidFill>
                <a:latin typeface="Cambria" pitchFamily="34" charset="0"/>
                <a:ea typeface="Cambria" pitchFamily="34" charset="-122"/>
                <a:cs typeface="Cambria" pitchFamily="34" charset="-120"/>
              </a:rPr>
              <a:t>GAC compiles what an agent does, not what its prompt asks for</a:t>
            </a:r>
            <a:endParaRPr lang="en-US" sz="1300" dirty="0"/>
          </a:p>
        </p:txBody>
      </p:sp>
      <p:sp>
        <p:nvSpPr>
          <p:cNvPr id="34" name="Text 32"/>
          <p:cNvSpPr/>
          <p:nvPr/>
        </p:nvSpPr>
        <p:spPr>
          <a:xfrm>
            <a:off x="1335024" y="4700016"/>
            <a:ext cx="9905695" cy="69494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On 930 scheduled held-out questions with a compiled agent (26 databases, two model families), no run showed a detected accuracy loss, though equivalence is not established. Requests fell 45–50%, latency 29–38%, and cost 11–18% at uncached prices. A hand-written schema prefetch matches the compiled program.</a:t>
            </a:r>
            <a:endParaRPr lang="en-US" sz="1050" dirty="0"/>
          </a:p>
        </p:txBody>
      </p:sp>
      <p:sp>
        <p:nvSpPr>
          <p:cNvPr id="35" name="Text 33"/>
          <p:cNvSpPr/>
          <p:nvPr/>
        </p:nvSpPr>
        <p:spPr>
          <a:xfrm>
            <a:off x="640080" y="5596128"/>
            <a:ext cx="10911535" cy="603504"/>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All-scheduled counts treat a missing run as incorrect in its own arm. The training comparison covers 21 of 26 compiled databases, and Table 22 reports database sensitivity. A second provider's agent never ran a fixed opening and was refused.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345936"/>
            <a:ext cx="5486400" cy="256032"/>
          </a:xfrm>
          <a:prstGeom prst="rect">
            <a:avLst/>
          </a:prstGeom>
          <a:noFill/>
          <a:ln/>
        </p:spPr>
        <p:txBody>
          <a:bodyPr wrap="square" lIns="0" tIns="0" rIns="0" bIns="0" rtlCol="0" anchor="t"/>
          <a:lstStyle/>
          <a:p>
            <a:pPr marL="0" indent="0">
              <a:buNone/>
            </a:pPr>
            <a:r>
              <a:rPr lang="en-US" sz="900" kern="0" spc="100" dirty="0">
                <a:solidFill>
                  <a:srgbClr val="A3B2C4"/>
                </a:solidFill>
                <a:latin typeface="Calibri" pitchFamily="34" charset="0"/>
                <a:ea typeface="Calibri" pitchFamily="34" charset="-122"/>
                <a:cs typeface="Calibri" pitchFamily="34" charset="-120"/>
              </a:rPr>
              <a:t>Guarded Agentic Compaction</a:t>
            </a:r>
            <a:endParaRPr lang="en-US" sz="900" dirty="0"/>
          </a:p>
        </p:txBody>
      </p:sp>
      <p:sp>
        <p:nvSpPr>
          <p:cNvPr id="3" name="Text 1"/>
          <p:cNvSpPr/>
          <p:nvPr/>
        </p:nvSpPr>
        <p:spPr>
          <a:xfrm>
            <a:off x="10637215" y="6345936"/>
            <a:ext cx="914400" cy="256032"/>
          </a:xfrm>
          <a:prstGeom prst="rect">
            <a:avLst/>
          </a:prstGeom>
          <a:noFill/>
          <a:ln/>
        </p:spPr>
        <p:txBody>
          <a:bodyPr wrap="square" lIns="0" tIns="0" rIns="0" bIns="0" rtlCol="0" anchor="t"/>
          <a:lstStyle/>
          <a:p>
            <a:pPr marL="0" indent="0" algn="r">
              <a:buNone/>
            </a:pPr>
            <a:r>
              <a:rPr lang="en-US" sz="900" dirty="0">
                <a:solidFill>
                  <a:srgbClr val="A3B2C4"/>
                </a:solidFill>
                <a:latin typeface="Calibri" pitchFamily="34" charset="0"/>
                <a:ea typeface="Calibri" pitchFamily="34" charset="-122"/>
                <a:cs typeface="Calibri" pitchFamily="34" charset="-120"/>
              </a:rPr>
              <a:t>23</a:t>
            </a:r>
            <a:endParaRPr lang="en-US" sz="900" dirty="0"/>
          </a:p>
        </p:txBody>
      </p:sp>
      <p:sp>
        <p:nvSpPr>
          <p:cNvPr id="4" name="Text 2"/>
          <p:cNvSpPr/>
          <p:nvPr/>
        </p:nvSpPr>
        <p:spPr>
          <a:xfrm>
            <a:off x="640080" y="384048"/>
            <a:ext cx="10911535" cy="237744"/>
          </a:xfrm>
          <a:prstGeom prst="rect">
            <a:avLst/>
          </a:prstGeom>
          <a:noFill/>
          <a:ln/>
        </p:spPr>
        <p:txBody>
          <a:bodyPr wrap="square" lIns="0" tIns="0" rIns="0" bIns="0" rtlCol="0" anchor="t"/>
          <a:lstStyle/>
          <a:p>
            <a:pPr marL="0" indent="0">
              <a:buNone/>
            </a:pPr>
            <a:r>
              <a:rPr lang="en-US" sz="1050" b="1" kern="0" spc="180" dirty="0">
                <a:solidFill>
                  <a:srgbClr val="1F8A99"/>
                </a:solidFill>
                <a:latin typeface="Calibri" pitchFamily="34" charset="0"/>
                <a:ea typeface="Calibri" pitchFamily="34" charset="-122"/>
                <a:cs typeface="Calibri" pitchFamily="34" charset="-120"/>
              </a:rPr>
              <a:t>DISCUSSION  ·  §5.1 AND §7  ·  WHAT THE CERTIFICATES CERTIFY</a:t>
            </a:r>
            <a:endParaRPr lang="en-US" sz="1050" dirty="0"/>
          </a:p>
        </p:txBody>
      </p:sp>
      <p:sp>
        <p:nvSpPr>
          <p:cNvPr id="5" name="Text 3"/>
          <p:cNvSpPr/>
          <p:nvPr/>
        </p:nvSpPr>
        <p:spPr>
          <a:xfrm>
            <a:off x="640080" y="658368"/>
            <a:ext cx="10911535" cy="502920"/>
          </a:xfrm>
          <a:prstGeom prst="rect">
            <a:avLst/>
          </a:prstGeom>
          <a:noFill/>
          <a:ln/>
        </p:spPr>
        <p:txBody>
          <a:bodyPr wrap="square" lIns="0" tIns="0" rIns="0" bIns="0" rtlCol="0" anchor="t"/>
          <a:lstStyle/>
          <a:p>
            <a:pPr marL="0" indent="0">
              <a:buNone/>
            </a:pPr>
            <a:r>
              <a:rPr lang="en-US" sz="2600" b="1" dirty="0">
                <a:solidFill>
                  <a:srgbClr val="0E1E3A"/>
                </a:solidFill>
                <a:latin typeface="Cambria" pitchFamily="34" charset="0"/>
                <a:ea typeface="Cambria" pitchFamily="34" charset="-122"/>
                <a:cs typeface="Cambria" pitchFamily="34" charset="-120"/>
              </a:rPr>
              <a:t>What the certificates certify</a:t>
            </a:r>
            <a:endParaRPr lang="en-US" sz="2600" dirty="0"/>
          </a:p>
        </p:txBody>
      </p:sp>
      <p:sp>
        <p:nvSpPr>
          <p:cNvPr id="6" name="Shape 4"/>
          <p:cNvSpPr/>
          <p:nvPr/>
        </p:nvSpPr>
        <p:spPr>
          <a:xfrm>
            <a:off x="640080" y="1170432"/>
            <a:ext cx="5272888" cy="2944368"/>
          </a:xfrm>
          <a:prstGeom prst="roundRect">
            <a:avLst>
              <a:gd name="adj" fmla="val 1553"/>
            </a:avLst>
          </a:prstGeom>
          <a:solidFill>
            <a:srgbClr val="E8F4F5"/>
          </a:solidFill>
          <a:ln w="9525">
            <a:solidFill>
              <a:srgbClr val="CFE4E7"/>
            </a:solidFill>
            <a:prstDash val="solid"/>
          </a:ln>
          <a:effectLst>
            <a:outerShdw blurRad="114300" dist="17780" dir="5400000" algn="bl" rotWithShape="0">
              <a:srgbClr val="94A6BC">
                <a:alpha val="15000"/>
              </a:srgbClr>
            </a:outerShdw>
          </a:effectLst>
        </p:spPr>
        <p:txBody>
          <a:bodyPr/>
          <a:lstStyle/>
          <a:p>
            <a:endParaRPr lang="en-US"/>
          </a:p>
        </p:txBody>
      </p:sp>
      <p:sp>
        <p:nvSpPr>
          <p:cNvPr id="7" name="Text 5"/>
          <p:cNvSpPr/>
          <p:nvPr/>
        </p:nvSpPr>
        <p:spPr>
          <a:xfrm>
            <a:off x="914400" y="1316736"/>
            <a:ext cx="4724248" cy="329184"/>
          </a:xfrm>
          <a:prstGeom prst="rect">
            <a:avLst/>
          </a:prstGeom>
          <a:noFill/>
          <a:ln/>
        </p:spPr>
        <p:txBody>
          <a:bodyPr wrap="square" lIns="0" tIns="0" rIns="0" bIns="0" rtlCol="0" anchor="t"/>
          <a:lstStyle/>
          <a:p>
            <a:pPr marL="0" indent="0">
              <a:buNone/>
            </a:pPr>
            <a:r>
              <a:rPr lang="en-US" sz="1700" b="1" dirty="0">
                <a:solidFill>
                  <a:srgbClr val="0E1E3A"/>
                </a:solidFill>
                <a:latin typeface="Cambria" pitchFamily="34" charset="0"/>
                <a:ea typeface="Cambria" pitchFamily="34" charset="-122"/>
                <a:cs typeface="Cambria" pitchFamily="34" charset="-120"/>
              </a:rPr>
              <a:t>End-to-end certificate</a:t>
            </a:r>
            <a:endParaRPr lang="en-US" sz="1700" dirty="0"/>
          </a:p>
        </p:txBody>
      </p:sp>
      <p:sp>
        <p:nvSpPr>
          <p:cNvPr id="8" name="Text 6"/>
          <p:cNvSpPr/>
          <p:nvPr/>
        </p:nvSpPr>
        <p:spPr>
          <a:xfrm>
            <a:off x="914400"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132 fresh post-cutoff pull requests  ·  one family</a:t>
            </a:r>
            <a:endParaRPr lang="en-US" sz="1050" dirty="0"/>
          </a:p>
        </p:txBody>
      </p:sp>
      <p:sp>
        <p:nvSpPr>
          <p:cNvPr id="9" name="Text 7"/>
          <p:cNvSpPr/>
          <p:nvPr/>
        </p:nvSpPr>
        <p:spPr>
          <a:xfrm>
            <a:off x="914400" y="1975104"/>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0 / 132</a:t>
            </a:r>
            <a:endParaRPr lang="en-US" sz="1500" dirty="0"/>
          </a:p>
        </p:txBody>
      </p:sp>
      <p:sp>
        <p:nvSpPr>
          <p:cNvPr id="10" name="Text 8"/>
          <p:cNvSpPr/>
          <p:nvPr/>
        </p:nvSpPr>
        <p:spPr>
          <a:xfrm>
            <a:off x="2377440"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end-to-end contract misses</a:t>
            </a:r>
            <a:endParaRPr lang="en-US" sz="1100" dirty="0"/>
          </a:p>
        </p:txBody>
      </p:sp>
      <p:sp>
        <p:nvSpPr>
          <p:cNvPr id="11" name="Text 9"/>
          <p:cNvSpPr/>
          <p:nvPr/>
        </p:nvSpPr>
        <p:spPr>
          <a:xfrm>
            <a:off x="914400" y="2377440"/>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0.0173</a:t>
            </a:r>
            <a:endParaRPr lang="en-US" sz="1500" dirty="0"/>
          </a:p>
        </p:txBody>
      </p:sp>
      <p:sp>
        <p:nvSpPr>
          <p:cNvPr id="12" name="Text 10"/>
          <p:cNvSpPr/>
          <p:nvPr/>
        </p:nvSpPr>
        <p:spPr>
          <a:xfrm>
            <a:off x="2377440"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upper bound, 90% confidence (0.035, grid)</a:t>
            </a:r>
            <a:endParaRPr lang="en-US" sz="1100" dirty="0"/>
          </a:p>
        </p:txBody>
      </p:sp>
      <p:sp>
        <p:nvSpPr>
          <p:cNvPr id="13" name="Text 11"/>
          <p:cNvSpPr/>
          <p:nvPr/>
        </p:nvSpPr>
        <p:spPr>
          <a:xfrm>
            <a:off x="914400" y="2779776"/>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60 / 60</a:t>
            </a:r>
            <a:endParaRPr lang="en-US" sz="1500" dirty="0"/>
          </a:p>
        </p:txBody>
      </p:sp>
      <p:sp>
        <p:nvSpPr>
          <p:cNvPr id="14" name="Text 12"/>
          <p:cNvSpPr/>
          <p:nvPr/>
        </p:nvSpPr>
        <p:spPr>
          <a:xfrm>
            <a:off x="2377440"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fresh test records, every condition</a:t>
            </a:r>
            <a:endParaRPr lang="en-US" sz="1100" dirty="0"/>
          </a:p>
        </p:txBody>
      </p:sp>
      <p:sp>
        <p:nvSpPr>
          <p:cNvPr id="15" name="Text 13"/>
          <p:cNvSpPr/>
          <p:nvPr/>
        </p:nvSpPr>
        <p:spPr>
          <a:xfrm>
            <a:off x="914400" y="3182112"/>
            <a:ext cx="1371600" cy="310896"/>
          </a:xfrm>
          <a:prstGeom prst="rect">
            <a:avLst/>
          </a:prstGeom>
          <a:noFill/>
          <a:ln/>
        </p:spPr>
        <p:txBody>
          <a:bodyPr wrap="square" lIns="0" tIns="0" rIns="0" bIns="0" rtlCol="0" anchor="ctr"/>
          <a:lstStyle/>
          <a:p>
            <a:pPr marL="0" indent="0">
              <a:buNone/>
            </a:pPr>
            <a:r>
              <a:rPr lang="en-US" sz="1500" b="1" dirty="0">
                <a:solidFill>
                  <a:srgbClr val="0E1E3A"/>
                </a:solidFill>
                <a:latin typeface="Cambria" pitchFamily="34" charset="0"/>
                <a:ea typeface="Cambria" pitchFamily="34" charset="-122"/>
                <a:cs typeface="Cambria" pitchFamily="34" charset="-120"/>
              </a:rPr>
              <a:t>84 / 48</a:t>
            </a:r>
            <a:endParaRPr lang="en-US" sz="1500" dirty="0"/>
          </a:p>
        </p:txBody>
      </p:sp>
      <p:sp>
        <p:nvSpPr>
          <p:cNvPr id="16" name="Text 14"/>
          <p:cNvSpPr/>
          <p:nvPr/>
        </p:nvSpPr>
        <p:spPr>
          <a:xfrm>
            <a:off x="2377440"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open / merged; none closed-unmerged</a:t>
            </a:r>
            <a:endParaRPr lang="en-US" sz="1100" dirty="0"/>
          </a:p>
        </p:txBody>
      </p:sp>
      <p:sp>
        <p:nvSpPr>
          <p:cNvPr id="17" name="Text 15"/>
          <p:cNvSpPr/>
          <p:nvPr/>
        </p:nvSpPr>
        <p:spPr>
          <a:xfrm>
            <a:off x="914400"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A6B84"/>
                </a:solidFill>
                <a:latin typeface="Calibri" pitchFamily="34" charset="0"/>
                <a:ea typeface="Calibri" pitchFamily="34" charset="-122"/>
                <a:cs typeface="Calibri" pitchFamily="34" charset="-120"/>
              </a:rPr>
              <a:t>The first certificate whose event includes the model's answer. Counting days or authors as units gives 0.0228 and 0.0267; independence of those clusters is unverified.</a:t>
            </a:r>
            <a:endParaRPr lang="en-US" sz="1000" dirty="0"/>
          </a:p>
        </p:txBody>
      </p:sp>
      <p:sp>
        <p:nvSpPr>
          <p:cNvPr id="18" name="Shape 16"/>
          <p:cNvSpPr/>
          <p:nvPr/>
        </p:nvSpPr>
        <p:spPr>
          <a:xfrm>
            <a:off x="6278728" y="1170432"/>
            <a:ext cx="5272888" cy="2944368"/>
          </a:xfrm>
          <a:prstGeom prst="roundRect">
            <a:avLst>
              <a:gd name="adj" fmla="val 1553"/>
            </a:avLst>
          </a:prstGeom>
          <a:solidFill>
            <a:srgbClr val="FBF0EC"/>
          </a:solidFill>
          <a:ln w="9525">
            <a:solidFill>
              <a:srgbClr val="EFDCD4"/>
            </a:solidFill>
            <a:prstDash val="solid"/>
          </a:ln>
          <a:effectLst>
            <a:outerShdw blurRad="114300" dist="17780" dir="5400000" algn="bl" rotWithShape="0">
              <a:srgbClr val="94A6BC">
                <a:alpha val="15000"/>
              </a:srgbClr>
            </a:outerShdw>
          </a:effectLst>
        </p:spPr>
        <p:txBody>
          <a:bodyPr/>
          <a:lstStyle/>
          <a:p>
            <a:endParaRPr lang="en-US"/>
          </a:p>
        </p:txBody>
      </p:sp>
      <p:sp>
        <p:nvSpPr>
          <p:cNvPr id="19" name="Text 17"/>
          <p:cNvSpPr/>
          <p:nvPr/>
        </p:nvSpPr>
        <p:spPr>
          <a:xfrm>
            <a:off x="6553048" y="1316736"/>
            <a:ext cx="4724248" cy="329184"/>
          </a:xfrm>
          <a:prstGeom prst="rect">
            <a:avLst/>
          </a:prstGeom>
          <a:noFill/>
          <a:ln/>
        </p:spPr>
        <p:txBody>
          <a:bodyPr wrap="square" lIns="0" tIns="0" rIns="0" bIns="0" rtlCol="0" anchor="t"/>
          <a:lstStyle/>
          <a:p>
            <a:pPr marL="0" indent="0">
              <a:buNone/>
            </a:pPr>
            <a:r>
              <a:rPr lang="en-US" sz="1700" b="1" dirty="0">
                <a:solidFill>
                  <a:srgbClr val="A93B2B"/>
                </a:solidFill>
                <a:latin typeface="Cambria" pitchFamily="34" charset="0"/>
                <a:ea typeface="Cambria" pitchFamily="34" charset="-122"/>
                <a:cs typeface="Cambria" pitchFamily="34" charset="-120"/>
              </a:rPr>
              <a:t>Primary certificates</a:t>
            </a:r>
            <a:endParaRPr lang="en-US" sz="1700" dirty="0"/>
          </a:p>
        </p:txBody>
      </p:sp>
      <p:sp>
        <p:nvSpPr>
          <p:cNvPr id="20" name="Text 18"/>
          <p:cNvSpPr/>
          <p:nvPr/>
        </p:nvSpPr>
        <p:spPr>
          <a:xfrm>
            <a:off x="6553048" y="1645920"/>
            <a:ext cx="4724248" cy="237744"/>
          </a:xfrm>
          <a:prstGeom prst="rect">
            <a:avLst/>
          </a:prstGeom>
          <a:noFill/>
          <a:ln/>
        </p:spPr>
        <p:txBody>
          <a:bodyPr wrap="square" lIns="0" tIns="0" rIns="0" bIns="0" rtlCol="0" anchor="t"/>
          <a:lstStyle/>
          <a:p>
            <a:pPr marL="0" indent="0">
              <a:buNone/>
            </a:pPr>
            <a:r>
              <a:rPr lang="en-US" sz="1050" i="1" dirty="0">
                <a:solidFill>
                  <a:srgbClr val="5A6B84"/>
                </a:solidFill>
                <a:latin typeface="Calibri" pitchFamily="34" charset="0"/>
                <a:ea typeface="Calibri" pitchFamily="34" charset="-122"/>
                <a:cs typeface="Calibri" pitchFamily="34" charset="-120"/>
              </a:rPr>
              <a:t>three GitHub families  ·  92 calibration groups each</a:t>
            </a:r>
            <a:endParaRPr lang="en-US" sz="1050" dirty="0"/>
          </a:p>
        </p:txBody>
      </p:sp>
      <p:sp>
        <p:nvSpPr>
          <p:cNvPr id="21" name="Text 19"/>
          <p:cNvSpPr/>
          <p:nvPr/>
        </p:nvSpPr>
        <p:spPr>
          <a:xfrm>
            <a:off x="6553048" y="1975104"/>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92 / 92</a:t>
            </a:r>
            <a:endParaRPr lang="en-US" sz="1500" dirty="0"/>
          </a:p>
        </p:txBody>
      </p:sp>
      <p:sp>
        <p:nvSpPr>
          <p:cNvPr id="22" name="Text 20"/>
          <p:cNvSpPr/>
          <p:nvPr/>
        </p:nvSpPr>
        <p:spPr>
          <a:xfrm>
            <a:off x="8016088" y="1975104"/>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zero-violation calibration groups</a:t>
            </a:r>
            <a:endParaRPr lang="en-US" sz="1100" dirty="0"/>
          </a:p>
        </p:txBody>
      </p:sp>
      <p:sp>
        <p:nvSpPr>
          <p:cNvPr id="23" name="Text 21"/>
          <p:cNvSpPr/>
          <p:nvPr/>
        </p:nvSpPr>
        <p:spPr>
          <a:xfrm>
            <a:off x="6553048" y="2377440"/>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0.0498</a:t>
            </a:r>
            <a:endParaRPr lang="en-US" sz="1500" dirty="0"/>
          </a:p>
        </p:txBody>
      </p:sp>
      <p:sp>
        <p:nvSpPr>
          <p:cNvPr id="24" name="Text 22"/>
          <p:cNvSpPr/>
          <p:nvPr/>
        </p:nvSpPr>
        <p:spPr>
          <a:xfrm>
            <a:off x="8016088" y="2377440"/>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upper bound against α = 0.05</a:t>
            </a:r>
            <a:endParaRPr lang="en-US" sz="1100" dirty="0"/>
          </a:p>
        </p:txBody>
      </p:sp>
      <p:sp>
        <p:nvSpPr>
          <p:cNvPr id="25" name="Text 23"/>
          <p:cNvSpPr/>
          <p:nvPr/>
        </p:nvSpPr>
        <p:spPr>
          <a:xfrm>
            <a:off x="6553048" y="2779776"/>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0 or 1</a:t>
            </a:r>
            <a:endParaRPr lang="en-US" sz="1500" dirty="0"/>
          </a:p>
        </p:txBody>
      </p:sp>
      <p:sp>
        <p:nvSpPr>
          <p:cNvPr id="26" name="Text 24"/>
          <p:cNvSpPr/>
          <p:nvPr/>
        </p:nvSpPr>
        <p:spPr>
          <a:xfrm>
            <a:off x="8016088" y="2779776"/>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the only certifiable coverages</a:t>
            </a:r>
            <a:endParaRPr lang="en-US" sz="1100" dirty="0"/>
          </a:p>
        </p:txBody>
      </p:sp>
      <p:sp>
        <p:nvSpPr>
          <p:cNvPr id="27" name="Text 25"/>
          <p:cNvSpPr/>
          <p:nvPr/>
        </p:nvSpPr>
        <p:spPr>
          <a:xfrm>
            <a:off x="6553048" y="3182112"/>
            <a:ext cx="1371600" cy="310896"/>
          </a:xfrm>
          <a:prstGeom prst="rect">
            <a:avLst/>
          </a:prstGeom>
          <a:noFill/>
          <a:ln/>
        </p:spPr>
        <p:txBody>
          <a:bodyPr wrap="square" lIns="0" tIns="0" rIns="0" bIns="0" rtlCol="0" anchor="ctr"/>
          <a:lstStyle/>
          <a:p>
            <a:pPr marL="0" indent="0">
              <a:buNone/>
            </a:pPr>
            <a:r>
              <a:rPr lang="en-US" sz="1500" b="1" dirty="0">
                <a:solidFill>
                  <a:srgbClr val="A93B2B"/>
                </a:solidFill>
                <a:latin typeface="Cambria" pitchFamily="34" charset="0"/>
                <a:ea typeface="Cambria" pitchFamily="34" charset="-122"/>
                <a:cs typeface="Cambria" pitchFamily="34" charset="-120"/>
              </a:rPr>
              <a:t>2 errors</a:t>
            </a:r>
            <a:endParaRPr lang="en-US" sz="1500" dirty="0"/>
          </a:p>
        </p:txBody>
      </p:sp>
      <p:sp>
        <p:nvSpPr>
          <p:cNvPr id="28" name="Text 26"/>
          <p:cNvSpPr/>
          <p:nvPr/>
        </p:nvSpPr>
        <p:spPr>
          <a:xfrm>
            <a:off x="8016088" y="3182112"/>
            <a:ext cx="3261208" cy="310896"/>
          </a:xfrm>
          <a:prstGeom prst="rect">
            <a:avLst/>
          </a:prstGeom>
          <a:noFill/>
          <a:ln/>
        </p:spPr>
        <p:txBody>
          <a:bodyPr wrap="square" lIns="0" tIns="0" rIns="0" bIns="0" rtlCol="0" anchor="ctr"/>
          <a:lstStyle/>
          <a:p>
            <a:pPr marL="0" indent="0">
              <a:buNone/>
            </a:pPr>
            <a:r>
              <a:rPr lang="en-US" sz="1100" dirty="0">
                <a:solidFill>
                  <a:srgbClr val="24354F"/>
                </a:solidFill>
                <a:latin typeface="Calibri" pitchFamily="34" charset="0"/>
                <a:ea typeface="Calibri" pitchFamily="34" charset="-122"/>
                <a:cs typeface="Calibri" pitchFamily="34" charset="-120"/>
              </a:rPr>
              <a:t>amended 184-group issue gate: retired</a:t>
            </a:r>
            <a:endParaRPr lang="en-US" sz="1100" dirty="0"/>
          </a:p>
        </p:txBody>
      </p:sp>
      <p:sp>
        <p:nvSpPr>
          <p:cNvPr id="29" name="Text 27"/>
          <p:cNvSpPr/>
          <p:nvPr/>
        </p:nvSpPr>
        <p:spPr>
          <a:xfrm>
            <a:off x="6553048" y="3621024"/>
            <a:ext cx="4724248" cy="402336"/>
          </a:xfrm>
          <a:prstGeom prst="rect">
            <a:avLst/>
          </a:prstGeom>
          <a:noFill/>
          <a:ln/>
        </p:spPr>
        <p:txBody>
          <a:bodyPr wrap="square" lIns="0" tIns="0" rIns="0" bIns="0" rtlCol="0" anchor="t"/>
          <a:lstStyle/>
          <a:p>
            <a:pPr marL="0" indent="0">
              <a:lnSpc>
                <a:spcPct val="105000"/>
              </a:lnSpc>
              <a:buNone/>
            </a:pPr>
            <a:r>
              <a:rPr lang="en-US" sz="1000" dirty="0">
                <a:solidFill>
                  <a:srgbClr val="5C4034"/>
                </a:solidFill>
                <a:latin typeface="Calibri" pitchFamily="34" charset="0"/>
                <a:ea typeface="Calibri" pitchFamily="34" charset="-122"/>
                <a:cs typeface="Calibri" pitchFamily="34" charset="-120"/>
              </a:rPr>
              <a:t>The replay-contract event has no support on these cohorts, so the bound confirms enough examples, not an observed risk.</a:t>
            </a:r>
            <a:endParaRPr lang="en-US" sz="1000" dirty="0"/>
          </a:p>
        </p:txBody>
      </p:sp>
      <p:sp>
        <p:nvSpPr>
          <p:cNvPr id="30" name="Shape 28"/>
          <p:cNvSpPr/>
          <p:nvPr/>
        </p:nvSpPr>
        <p:spPr>
          <a:xfrm>
            <a:off x="640080" y="4261104"/>
            <a:ext cx="10911535" cy="1207008"/>
          </a:xfrm>
          <a:prstGeom prst="roundRect">
            <a:avLst>
              <a:gd name="adj" fmla="val 3788"/>
            </a:avLst>
          </a:prstGeom>
          <a:solidFill>
            <a:srgbClr val="EAF1F7"/>
          </a:solidFill>
          <a:ln w="9525">
            <a:solidFill>
              <a:srgbClr val="D5E0EB"/>
            </a:solidFill>
            <a:prstDash val="solid"/>
          </a:ln>
          <a:effectLst>
            <a:outerShdw blurRad="114300" dist="17780" dir="5400000" algn="bl" rotWithShape="0">
              <a:srgbClr val="94A6BC">
                <a:alpha val="15000"/>
              </a:srgbClr>
            </a:outerShdw>
          </a:effectLst>
        </p:spPr>
        <p:txBody>
          <a:bodyPr/>
          <a:lstStyle/>
          <a:p>
            <a:endParaRPr lang="en-US"/>
          </a:p>
        </p:txBody>
      </p:sp>
      <p:sp>
        <p:nvSpPr>
          <p:cNvPr id="31" name="Shape 29"/>
          <p:cNvSpPr/>
          <p:nvPr/>
        </p:nvSpPr>
        <p:spPr>
          <a:xfrm>
            <a:off x="896112" y="4443984"/>
            <a:ext cx="329184" cy="329184"/>
          </a:xfrm>
          <a:prstGeom prst="ellipse">
            <a:avLst/>
          </a:prstGeom>
          <a:solidFill>
            <a:srgbClr val="1F8A99"/>
          </a:solidFill>
          <a:ln w="6350">
            <a:solidFill>
              <a:srgbClr val="1F8A99"/>
            </a:solidFill>
            <a:prstDash val="solid"/>
          </a:ln>
        </p:spPr>
        <p:txBody>
          <a:bodyPr/>
          <a:lstStyle/>
          <a:p>
            <a:endParaRPr lang="en-US"/>
          </a:p>
        </p:txBody>
      </p:sp>
      <p:sp>
        <p:nvSpPr>
          <p:cNvPr id="32" name="Text 30"/>
          <p:cNvSpPr/>
          <p:nvPr/>
        </p:nvSpPr>
        <p:spPr>
          <a:xfrm>
            <a:off x="896112" y="444398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1335024" y="4407408"/>
            <a:ext cx="9905695" cy="274320"/>
          </a:xfrm>
          <a:prstGeom prst="rect">
            <a:avLst/>
          </a:prstGeom>
          <a:noFill/>
          <a:ln/>
        </p:spPr>
        <p:txBody>
          <a:bodyPr wrap="square" lIns="0" tIns="0" rIns="0" bIns="0" rtlCol="0" anchor="ctr"/>
          <a:lstStyle/>
          <a:p>
            <a:pPr marL="0" indent="0">
              <a:buNone/>
            </a:pPr>
            <a:r>
              <a:rPr lang="en-US" sz="1300" b="1" dirty="0">
                <a:solidFill>
                  <a:srgbClr val="0E1E3A"/>
                </a:solidFill>
                <a:latin typeface="Cambria" pitchFamily="34" charset="0"/>
                <a:ea typeface="Cambria" pitchFamily="34" charset="-122"/>
                <a:cs typeface="Cambria" pitchFamily="34" charset="-120"/>
              </a:rPr>
              <a:t>Same programs on a second model and provider; no protection under drift</a:t>
            </a:r>
            <a:endParaRPr lang="en-US" sz="1300" dirty="0"/>
          </a:p>
        </p:txBody>
      </p:sp>
      <p:sp>
        <p:nvSpPr>
          <p:cNvPr id="34" name="Text 32"/>
          <p:cNvSpPr/>
          <p:nvPr/>
        </p:nvSpPr>
        <p:spPr>
          <a:xfrm>
            <a:off x="1335024" y="4700016"/>
            <a:ext cx="9905695" cy="694944"/>
          </a:xfrm>
          <a:prstGeom prst="rect">
            <a:avLst/>
          </a:prstGeom>
          <a:noFill/>
          <a:ln/>
        </p:spPr>
        <p:txBody>
          <a:bodyPr wrap="square" lIns="0" tIns="0" rIns="0" bIns="0" rtlCol="0" anchor="t"/>
          <a:lstStyle/>
          <a:p>
            <a:pPr marL="0" indent="0">
              <a:lnSpc>
                <a:spcPct val="106000"/>
              </a:lnSpc>
              <a:buNone/>
            </a:pPr>
            <a:r>
              <a:rPr lang="en-US" sz="1050" dirty="0">
                <a:solidFill>
                  <a:srgbClr val="24354F"/>
                </a:solidFill>
                <a:latin typeface="Calibri" pitchFamily="34" charset="0"/>
                <a:ea typeface="Calibri" pitchFamily="34" charset="-122"/>
                <a:cs typeface="Calibri" pitchFamily="34" charset="-120"/>
              </a:rPr>
              <a:t>Re-discovery on gpt-6-luna and claude-sonnet-5 re-derives the identical programs on two of three GitHub families and refuses backlog routing (on Sonnet at 91 and 90 of 92 groups). Under tool-layer drift the run-time checks prevented no wrong answer: both arms answered wrongly on 39 of 60 records.</a:t>
            </a:r>
            <a:endParaRPr lang="en-US" sz="1050" dirty="0"/>
          </a:p>
        </p:txBody>
      </p:sp>
      <p:sp>
        <p:nvSpPr>
          <p:cNvPr id="35" name="Text 33"/>
          <p:cNvSpPr/>
          <p:nvPr/>
        </p:nvSpPr>
        <p:spPr>
          <a:xfrm>
            <a:off x="640080" y="5596128"/>
            <a:ext cx="10911535" cy="603504"/>
          </a:xfrm>
          <a:prstGeom prst="rect">
            <a:avLst/>
          </a:prstGeom>
          <a:noFill/>
          <a:ln/>
        </p:spPr>
        <p:txBody>
          <a:bodyPr wrap="square" lIns="0" tIns="0" rIns="0" bIns="0" rtlCol="0" anchor="t"/>
          <a:lstStyle/>
          <a:p>
            <a:pPr marL="0" indent="0">
              <a:lnSpc>
                <a:spcPct val="105000"/>
              </a:lnSpc>
              <a:buNone/>
            </a:pPr>
            <a:r>
              <a:rPr lang="en-US" sz="1000" i="1" dirty="0">
                <a:solidFill>
                  <a:srgbClr val="5A6B84"/>
                </a:solidFill>
                <a:latin typeface="Calibri" pitchFamily="34" charset="0"/>
                <a:ea typeface="Calibri" pitchFamily="34" charset="-122"/>
                <a:cs typeface="Calibri" pitchFamily="34" charset="-120"/>
              </a:rPr>
              <a:t>Across 810 held-out GitHub episodes in six studies, one compiled-only contract failure occurred: 1 of 270 on excerpt-bearing contracts (one-sided bound 1.7%) and 0 of 540 on the outcome-only cross-repository contract.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7991</Words>
  <Application>Microsoft Macintosh PowerPoint</Application>
  <PresentationFormat>Widescreen</PresentationFormat>
  <Paragraphs>705</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Compiling Recurrent Agent Workflows into Guarded Programs</dc:title>
  <dc:subject>PptxGenJS Presentation</dc:subject>
  <dc:creator>JazzX AI</dc:creator>
  <cp:lastModifiedBy>Reza Rahimi</cp:lastModifiedBy>
  <cp:revision>2</cp:revision>
  <dcterms:created xsi:type="dcterms:W3CDTF">2026-08-04T23:18:06Z</dcterms:created>
  <dcterms:modified xsi:type="dcterms:W3CDTF">2026-08-10T05:29:02Z</dcterms:modified>
</cp:coreProperties>
</file>