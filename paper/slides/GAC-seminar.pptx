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rts/chart1.xml" ContentType="application/vnd.openxmlformats-officedocument.drawingml.chart+xml"/>
  <Override PartName="/ppt/notesSlides/notesSlide18.xml" ContentType="application/vnd.openxmlformats-officedocument.presentationml.notesSlide+xml"/>
  <Override PartName="/ppt/charts/chart2.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rts/chart3.xml" ContentType="application/vnd.openxmlformats-officedocument.drawingml.chart+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rts/chart4.xml" ContentType="application/vnd.openxmlformats-officedocument.drawingml.chart+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7" d="100"/>
          <a:sy n="127" d="100"/>
        </p:scale>
        <p:origin x="53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lgn="l">
              <a:defRPr sz="1100" b="0" i="0" u="none" strike="noStrike">
                <a:solidFill>
                  <a:srgbClr val="5A6B84"/>
                </a:solidFill>
                <a:latin typeface="Calibri"/>
              </a:defRPr>
            </a:pPr>
            <a:r>
              <a:rPr lang="en-US" sz="1100" b="0" i="0" u="none" strike="noStrike">
                <a:solidFill>
                  <a:srgbClr val="5A6B84"/>
                </a:solidFill>
                <a:latin typeface="Calibri"/>
              </a:rPr>
              <a:t>All 32 NESTFUL families fall below the gate requirement</a:t>
            </a:r>
          </a:p>
        </c:rich>
      </c:tx>
      <c:overlay val="0"/>
    </c:title>
    <c:autoTitleDeleted val="0"/>
    <c:plotArea>
      <c:layout/>
      <c:barChart>
        <c:barDir val="col"/>
        <c:grouping val="clustered"/>
        <c:varyColors val="0"/>
        <c:ser>
          <c:idx val="0"/>
          <c:order val="0"/>
          <c:tx>
            <c:strRef>
              <c:f>Sheet1!$B$1</c:f>
              <c:strCache>
                <c:ptCount val="1"/>
                <c:pt idx="0">
                  <c:v>Independent group records</c:v>
                </c:pt>
              </c:strCache>
            </c:strRef>
          </c:tx>
          <c:spPr>
            <a:solidFill>
              <a:srgbClr val="1F8A99"/>
            </a:solidFill>
            <a:effectLst/>
          </c:spPr>
          <c:invertIfNegative val="0"/>
          <c:dPt>
            <c:idx val="0"/>
            <c:invertIfNegative val="0"/>
            <c:bubble3D val="0"/>
            <c:extLst>
              <c:ext xmlns:c16="http://schemas.microsoft.com/office/drawing/2014/chart" uri="{C3380CC4-5D6E-409C-BE32-E72D297353CC}">
                <c16:uniqueId val="{00000001-6D89-7246-A7DB-84C6D51528B5}"/>
              </c:ext>
            </c:extLst>
          </c:dPt>
          <c:dPt>
            <c:idx val="1"/>
            <c:invertIfNegative val="0"/>
            <c:bubble3D val="0"/>
            <c:spPr>
              <a:solidFill>
                <a:srgbClr val="A93B2B"/>
              </a:solidFill>
              <a:effectLst/>
            </c:spPr>
            <c:extLst>
              <c:ext xmlns:c16="http://schemas.microsoft.com/office/drawing/2014/chart" uri="{C3380CC4-5D6E-409C-BE32-E72D297353CC}">
                <c16:uniqueId val="{00000003-6D89-7246-A7DB-84C6D51528B5}"/>
              </c:ext>
            </c:extLst>
          </c:dPt>
          <c:dLbls>
            <c:numFmt formatCode="#,##0" sourceLinked="0"/>
            <c:spPr>
              <a:noFill/>
              <a:ln>
                <a:noFill/>
              </a:ln>
              <a:effectLst/>
            </c:spPr>
            <c:txPr>
              <a:bodyPr/>
              <a:lstStyle/>
              <a:p>
                <a:pPr>
                  <a:defRPr sz="1500" b="1" i="0" u="none" strike="noStrike">
                    <a:solidFill>
                      <a:srgbClr val="24354F"/>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Best family support</c:v>
                </c:pt>
                <c:pt idx="1">
                  <c:v>Exact-gate requirement</c:v>
                </c:pt>
              </c:strCache>
            </c:strRef>
          </c:cat>
          <c:val>
            <c:numRef>
              <c:f>Sheet1!$B$2:$B$3</c:f>
              <c:numCache>
                <c:formatCode>General</c:formatCode>
                <c:ptCount val="2"/>
                <c:pt idx="0">
                  <c:v>26</c:v>
                </c:pt>
                <c:pt idx="1">
                  <c:v>92</c:v>
                </c:pt>
              </c:numCache>
            </c:numRef>
          </c:val>
          <c:extLst>
            <c:ext xmlns:c16="http://schemas.microsoft.com/office/drawing/2014/chart" uri="{C3380CC4-5D6E-409C-BE32-E72D297353CC}">
              <c16:uniqueId val="{00000004-6D89-7246-A7DB-84C6D51528B5}"/>
            </c:ext>
          </c:extLst>
        </c:ser>
        <c:dLbls>
          <c:showLegendKey val="0"/>
          <c:showVal val="1"/>
          <c:showCatName val="0"/>
          <c:showSerName val="0"/>
          <c:showPercent val="0"/>
          <c:showBubbleSize val="0"/>
        </c:dLbls>
        <c:gapWidth val="95"/>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50" b="0" i="0" u="none" strike="noStrike">
                <a:solidFill>
                  <a:srgbClr val="5A6B84"/>
                </a:solidFill>
                <a:latin typeface="Calibri"/>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9525" cap="flat">
              <a:solidFill>
                <a:srgbClr val="E7EDF3"/>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5A6B84"/>
                </a:solidFill>
                <a:latin typeface="Calibri"/>
              </a:defRPr>
            </a:pPr>
            <a:endParaRPr lang="en-US"/>
          </a:p>
        </c:txPr>
        <c:crossAx val="2094734554"/>
        <c:crosses val="autoZero"/>
        <c:crossBetween val="between"/>
        <c:majorUnit val="25"/>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lgn="l">
              <a:defRPr sz="1100" b="0" i="0" u="none" strike="noStrike">
                <a:solidFill>
                  <a:srgbClr val="5A6B84"/>
                </a:solidFill>
                <a:latin typeface="Calibri"/>
              </a:defRPr>
            </a:pPr>
            <a:r>
              <a:rPr lang="en-US" sz="1100" b="0" i="0" u="none" strike="noStrike">
                <a:solidFill>
                  <a:srgbClr val="5A6B84"/>
                </a:solidFill>
                <a:latin typeface="Calibri"/>
              </a:rPr>
              <a:t>Per-episode resource use, normalized to the unchanged agent (%)</a:t>
            </a:r>
          </a:p>
        </c:rich>
      </c:tx>
      <c:overlay val="0"/>
    </c:title>
    <c:autoTitleDeleted val="0"/>
    <c:plotArea>
      <c:layout/>
      <c:barChart>
        <c:barDir val="col"/>
        <c:grouping val="clustered"/>
        <c:varyColors val="0"/>
        <c:ser>
          <c:idx val="0"/>
          <c:order val="0"/>
          <c:tx>
            <c:strRef>
              <c:f>Sheet1!$B$1</c:f>
              <c:strCache>
                <c:ptCount val="1"/>
                <c:pt idx="0">
                  <c:v>Unchanged agent</c:v>
                </c:pt>
              </c:strCache>
            </c:strRef>
          </c:tx>
          <c:spPr>
            <a:solidFill>
              <a:srgbClr val="9BD0D6"/>
            </a:solidFill>
            <a:effectLst/>
          </c:spPr>
          <c:invertIfNegative val="0"/>
          <c:dLbls>
            <c:numFmt formatCode="0.0" sourceLinked="0"/>
            <c:spPr>
              <a:noFill/>
              <a:ln>
                <a:noFill/>
              </a:ln>
              <a:effectLst/>
            </c:spPr>
            <c:txPr>
              <a:bodyPr/>
              <a:lstStyle/>
              <a:p>
                <a:pPr>
                  <a:defRPr sz="850" b="0" i="0" u="none" strike="noStrike">
                    <a:solidFill>
                      <a:srgbClr val="24354F"/>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Provider
requests</c:v>
                </c:pt>
                <c:pt idx="1">
                  <c:v>Tool calls</c:v>
                </c:pt>
                <c:pt idx="2">
                  <c:v>Total tokens</c:v>
                </c:pt>
                <c:pt idx="3">
                  <c:v>Wall time</c:v>
                </c:pt>
                <c:pt idx="4">
                  <c:v>Estimated cost</c:v>
                </c:pt>
              </c:strCache>
            </c:strRef>
          </c:cat>
          <c:val>
            <c:numRef>
              <c:f>Sheet1!$B$2:$B$6</c:f>
              <c:numCache>
                <c:formatCode>General</c:formatCode>
                <c:ptCount val="5"/>
                <c:pt idx="0">
                  <c:v>100</c:v>
                </c:pt>
                <c:pt idx="1">
                  <c:v>100</c:v>
                </c:pt>
                <c:pt idx="2">
                  <c:v>100</c:v>
                </c:pt>
                <c:pt idx="3">
                  <c:v>100</c:v>
                </c:pt>
                <c:pt idx="4">
                  <c:v>100</c:v>
                </c:pt>
              </c:numCache>
            </c:numRef>
          </c:val>
          <c:extLst>
            <c:ext xmlns:c16="http://schemas.microsoft.com/office/drawing/2014/chart" uri="{C3380CC4-5D6E-409C-BE32-E72D297353CC}">
              <c16:uniqueId val="{00000000-69BD-2043-98B0-0D73D90F32E2}"/>
            </c:ext>
          </c:extLst>
        </c:ser>
        <c:ser>
          <c:idx val="1"/>
          <c:order val="1"/>
          <c:tx>
            <c:strRef>
              <c:f>Sheet1!$C$1</c:f>
              <c:strCache>
                <c:ptCount val="1"/>
                <c:pt idx="0">
                  <c:v>GAC two-read prefix</c:v>
                </c:pt>
              </c:strCache>
            </c:strRef>
          </c:tx>
          <c:spPr>
            <a:solidFill>
              <a:srgbClr val="1F8A99"/>
            </a:solidFill>
            <a:effectLst/>
          </c:spPr>
          <c:invertIfNegative val="0"/>
          <c:dLbls>
            <c:numFmt formatCode="0.0" sourceLinked="0"/>
            <c:spPr>
              <a:noFill/>
              <a:ln>
                <a:noFill/>
              </a:ln>
              <a:effectLst/>
            </c:spPr>
            <c:txPr>
              <a:bodyPr/>
              <a:lstStyle/>
              <a:p>
                <a:pPr>
                  <a:defRPr sz="850" b="0" i="0" u="none" strike="noStrike">
                    <a:solidFill>
                      <a:srgbClr val="24354F"/>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Provider
requests</c:v>
                </c:pt>
                <c:pt idx="1">
                  <c:v>Tool calls</c:v>
                </c:pt>
                <c:pt idx="2">
                  <c:v>Total tokens</c:v>
                </c:pt>
                <c:pt idx="3">
                  <c:v>Wall time</c:v>
                </c:pt>
                <c:pt idx="4">
                  <c:v>Estimated cost</c:v>
                </c:pt>
              </c:strCache>
            </c:strRef>
          </c:cat>
          <c:val>
            <c:numRef>
              <c:f>Sheet1!$C$2:$C$6</c:f>
              <c:numCache>
                <c:formatCode>General</c:formatCode>
                <c:ptCount val="5"/>
                <c:pt idx="0">
                  <c:v>50</c:v>
                </c:pt>
                <c:pt idx="1">
                  <c:v>100</c:v>
                </c:pt>
                <c:pt idx="2">
                  <c:v>60.5</c:v>
                </c:pt>
                <c:pt idx="3">
                  <c:v>48.2</c:v>
                </c:pt>
                <c:pt idx="4">
                  <c:v>68</c:v>
                </c:pt>
              </c:numCache>
            </c:numRef>
          </c:val>
          <c:extLst>
            <c:ext xmlns:c16="http://schemas.microsoft.com/office/drawing/2014/chart" uri="{C3380CC4-5D6E-409C-BE32-E72D297353CC}">
              <c16:uniqueId val="{00000001-69BD-2043-98B0-0D73D90F32E2}"/>
            </c:ext>
          </c:extLst>
        </c:ser>
        <c:ser>
          <c:idx val="2"/>
          <c:order val="2"/>
          <c:tx>
            <c:strRef>
              <c:f>Sheet1!$D$1</c:f>
              <c:strCache>
                <c:ptCount val="1"/>
                <c:pt idx="0">
                  <c:v>Hand-written macro</c:v>
                </c:pt>
              </c:strCache>
            </c:strRef>
          </c:tx>
          <c:spPr>
            <a:solidFill>
              <a:srgbClr val="A93B2B"/>
            </a:solidFill>
            <a:effectLst/>
          </c:spPr>
          <c:invertIfNegative val="0"/>
          <c:dLbls>
            <c:numFmt formatCode="0.0" sourceLinked="0"/>
            <c:spPr>
              <a:noFill/>
              <a:ln>
                <a:noFill/>
              </a:ln>
              <a:effectLst/>
            </c:spPr>
            <c:txPr>
              <a:bodyPr/>
              <a:lstStyle/>
              <a:p>
                <a:pPr>
                  <a:defRPr sz="850" b="0" i="0" u="none" strike="noStrike">
                    <a:solidFill>
                      <a:srgbClr val="24354F"/>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Provider
requests</c:v>
                </c:pt>
                <c:pt idx="1">
                  <c:v>Tool calls</c:v>
                </c:pt>
                <c:pt idx="2">
                  <c:v>Total tokens</c:v>
                </c:pt>
                <c:pt idx="3">
                  <c:v>Wall time</c:v>
                </c:pt>
                <c:pt idx="4">
                  <c:v>Estimated cost</c:v>
                </c:pt>
              </c:strCache>
            </c:strRef>
          </c:cat>
          <c:val>
            <c:numRef>
              <c:f>Sheet1!$D$2:$D$6</c:f>
              <c:numCache>
                <c:formatCode>General</c:formatCode>
                <c:ptCount val="5"/>
                <c:pt idx="0">
                  <c:v>50</c:v>
                </c:pt>
                <c:pt idx="1">
                  <c:v>33.299999999999997</c:v>
                </c:pt>
                <c:pt idx="2">
                  <c:v>41.8</c:v>
                </c:pt>
                <c:pt idx="3">
                  <c:v>52.8</c:v>
                </c:pt>
                <c:pt idx="4">
                  <c:v>62.5</c:v>
                </c:pt>
              </c:numCache>
            </c:numRef>
          </c:val>
          <c:extLst>
            <c:ext xmlns:c16="http://schemas.microsoft.com/office/drawing/2014/chart" uri="{C3380CC4-5D6E-409C-BE32-E72D297353CC}">
              <c16:uniqueId val="{00000002-69BD-2043-98B0-0D73D90F32E2}"/>
            </c:ext>
          </c:extLst>
        </c:ser>
        <c:dLbls>
          <c:showLegendKey val="0"/>
          <c:showVal val="1"/>
          <c:showCatName val="0"/>
          <c:showSerName val="0"/>
          <c:showPercent val="0"/>
          <c:showBubbleSize val="0"/>
        </c:dLbls>
        <c:gapWidth val="45"/>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5A6B84"/>
                </a:solidFill>
                <a:latin typeface="Calibri"/>
              </a:defRPr>
            </a:pPr>
            <a:endParaRPr lang="en-US"/>
          </a:p>
        </c:txPr>
        <c:crossAx val="2094734552"/>
        <c:crosses val="autoZero"/>
        <c:auto val="1"/>
        <c:lblAlgn val="ctr"/>
        <c:lblOffset val="100"/>
        <c:noMultiLvlLbl val="1"/>
      </c:catAx>
      <c:valAx>
        <c:axId val="2094734552"/>
        <c:scaling>
          <c:orientation val="minMax"/>
          <c:max val="110"/>
          <c:min val="0"/>
        </c:scaling>
        <c:delete val="0"/>
        <c:axPos val="l"/>
        <c:majorGridlines>
          <c:spPr>
            <a:ln w="9525" cap="flat">
              <a:solidFill>
                <a:srgbClr val="E7EDF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000" b="0" i="0" u="none" strike="noStrike">
                <a:solidFill>
                  <a:srgbClr val="5A6B84"/>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050">
              <a:solidFill>
                <a:srgbClr val="24354F"/>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lgn="l">
              <a:defRPr sz="1100" b="0" i="0" u="none" strike="noStrike">
                <a:solidFill>
                  <a:srgbClr val="5A6B84"/>
                </a:solidFill>
                <a:latin typeface="Calibri"/>
              </a:defRPr>
            </a:pPr>
            <a:r>
              <a:rPr lang="en-US" sz="1100" b="0" i="0" u="none" strike="noStrike">
                <a:solidFill>
                  <a:srgbClr val="5A6B84"/>
                </a:solidFill>
                <a:latin typeface="Calibri"/>
              </a:rPr>
              <a:t>Saving versus baseline per demonstration condition (%)</a:t>
            </a:r>
          </a:p>
        </c:rich>
      </c:tx>
      <c:overlay val="0"/>
    </c:title>
    <c:autoTitleDeleted val="0"/>
    <c:plotArea>
      <c:layout/>
      <c:barChart>
        <c:barDir val="col"/>
        <c:grouping val="clustered"/>
        <c:varyColors val="0"/>
        <c:ser>
          <c:idx val="0"/>
          <c:order val="0"/>
          <c:tx>
            <c:strRef>
              <c:f>Sheet1!$B$1</c:f>
              <c:strCache>
                <c:ptCount val="1"/>
                <c:pt idx="0">
                  <c:v>Tokens saved</c:v>
                </c:pt>
              </c:strCache>
            </c:strRef>
          </c:tx>
          <c:spPr>
            <a:solidFill>
              <a:srgbClr val="1F8A99"/>
            </a:solidFill>
            <a:effectLst/>
          </c:spPr>
          <c:invertIfNegative val="0"/>
          <c:dLbls>
            <c:numFmt formatCode="0.0" sourceLinked="0"/>
            <c:spPr>
              <a:noFill/>
              <a:ln>
                <a:noFill/>
              </a:ln>
              <a:effectLst/>
            </c:spPr>
            <c:txPr>
              <a:bodyPr/>
              <a:lstStyle/>
              <a:p>
                <a:pPr>
                  <a:defRPr sz="850" b="0" i="0" u="none" strike="noStrike">
                    <a:solidFill>
                      <a:srgbClr val="24354F"/>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A  linear read prefix</c:v>
                </c:pt>
                <c:pt idx="1">
                  <c:v>B  ACL + index guard</c:v>
                </c:pt>
                <c:pt idx="2">
                  <c:v>C  handoff barrier</c:v>
                </c:pt>
                <c:pt idx="3">
                  <c:v>E  branch + write</c:v>
                </c:pt>
                <c:pt idx="4">
                  <c:v>F  route specialization</c:v>
                </c:pt>
                <c:pt idx="5">
                  <c:v>E′  refused (control)</c:v>
                </c:pt>
              </c:strCache>
            </c:strRef>
          </c:cat>
          <c:val>
            <c:numRef>
              <c:f>Sheet1!$B$2:$B$7</c:f>
              <c:numCache>
                <c:formatCode>General</c:formatCode>
                <c:ptCount val="6"/>
                <c:pt idx="0">
                  <c:v>79.599999999999994</c:v>
                </c:pt>
                <c:pt idx="1">
                  <c:v>76.3</c:v>
                </c:pt>
                <c:pt idx="2">
                  <c:v>73.8</c:v>
                </c:pt>
                <c:pt idx="3">
                  <c:v>66.400000000000006</c:v>
                </c:pt>
                <c:pt idx="4">
                  <c:v>16.8</c:v>
                </c:pt>
                <c:pt idx="5">
                  <c:v>-0.2</c:v>
                </c:pt>
              </c:numCache>
            </c:numRef>
          </c:val>
          <c:extLst>
            <c:ext xmlns:c16="http://schemas.microsoft.com/office/drawing/2014/chart" uri="{C3380CC4-5D6E-409C-BE32-E72D297353CC}">
              <c16:uniqueId val="{00000000-23FC-7F41-8B65-EC2983AB5D0F}"/>
            </c:ext>
          </c:extLst>
        </c:ser>
        <c:ser>
          <c:idx val="1"/>
          <c:order val="1"/>
          <c:tx>
            <c:strRef>
              <c:f>Sheet1!$C$1</c:f>
              <c:strCache>
                <c:ptCount val="1"/>
                <c:pt idx="0">
                  <c:v>Cost saved</c:v>
                </c:pt>
              </c:strCache>
            </c:strRef>
          </c:tx>
          <c:spPr>
            <a:solidFill>
              <a:srgbClr val="A93B2B"/>
            </a:solidFill>
            <a:effectLst/>
          </c:spPr>
          <c:invertIfNegative val="0"/>
          <c:dLbls>
            <c:numFmt formatCode="0.0" sourceLinked="0"/>
            <c:spPr>
              <a:noFill/>
              <a:ln>
                <a:noFill/>
              </a:ln>
              <a:effectLst/>
            </c:spPr>
            <c:txPr>
              <a:bodyPr/>
              <a:lstStyle/>
              <a:p>
                <a:pPr>
                  <a:defRPr sz="850" b="0" i="0" u="none" strike="noStrike">
                    <a:solidFill>
                      <a:srgbClr val="24354F"/>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A  linear read prefix</c:v>
                </c:pt>
                <c:pt idx="1">
                  <c:v>B  ACL + index guard</c:v>
                </c:pt>
                <c:pt idx="2">
                  <c:v>C  handoff barrier</c:v>
                </c:pt>
                <c:pt idx="3">
                  <c:v>E  branch + write</c:v>
                </c:pt>
                <c:pt idx="4">
                  <c:v>F  route specialization</c:v>
                </c:pt>
                <c:pt idx="5">
                  <c:v>E′  refused (control)</c:v>
                </c:pt>
              </c:strCache>
            </c:strRef>
          </c:cat>
          <c:val>
            <c:numRef>
              <c:f>Sheet1!$C$2:$C$7</c:f>
              <c:numCache>
                <c:formatCode>General</c:formatCode>
                <c:ptCount val="6"/>
                <c:pt idx="0">
                  <c:v>73.599999999999994</c:v>
                </c:pt>
                <c:pt idx="1">
                  <c:v>68.7</c:v>
                </c:pt>
                <c:pt idx="2">
                  <c:v>75.5</c:v>
                </c:pt>
                <c:pt idx="3">
                  <c:v>-8.3000000000000007</c:v>
                </c:pt>
                <c:pt idx="4">
                  <c:v>-123</c:v>
                </c:pt>
                <c:pt idx="5">
                  <c:v>-55.4</c:v>
                </c:pt>
              </c:numCache>
            </c:numRef>
          </c:val>
          <c:extLst>
            <c:ext xmlns:c16="http://schemas.microsoft.com/office/drawing/2014/chart" uri="{C3380CC4-5D6E-409C-BE32-E72D297353CC}">
              <c16:uniqueId val="{00000001-23FC-7F41-8B65-EC2983AB5D0F}"/>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A6B84"/>
                </a:solidFill>
                <a:latin typeface="Calibri"/>
              </a:defRPr>
            </a:pPr>
            <a:endParaRPr lang="en-US"/>
          </a:p>
        </c:txPr>
        <c:crossAx val="2094734552"/>
        <c:crosses val="autoZero"/>
        <c:auto val="1"/>
        <c:lblAlgn val="ctr"/>
        <c:lblOffset val="100"/>
        <c:noMultiLvlLbl val="1"/>
      </c:catAx>
      <c:valAx>
        <c:axId val="2094734552"/>
        <c:scaling>
          <c:orientation val="minMax"/>
          <c:max val="100"/>
          <c:min val="-150"/>
        </c:scaling>
        <c:delete val="0"/>
        <c:axPos val="l"/>
        <c:majorGridlines>
          <c:spPr>
            <a:ln w="9525" cap="flat">
              <a:solidFill>
                <a:srgbClr val="E7EDF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000" b="0" i="0" u="none" strike="noStrike">
                <a:solidFill>
                  <a:srgbClr val="5A6B84"/>
                </a:solidFill>
                <a:latin typeface="Calibri"/>
              </a:defRPr>
            </a:pPr>
            <a:endParaRPr lang="en-US"/>
          </a:p>
        </c:txPr>
        <c:crossAx val="2094734554"/>
        <c:crosses val="autoZero"/>
        <c:crossBetween val="between"/>
        <c:majorUnit val="50"/>
      </c:valAx>
      <c:spPr>
        <a:noFill/>
        <a:ln>
          <a:noFill/>
        </a:ln>
        <a:effectLst/>
      </c:spPr>
    </c:plotArea>
    <c:legend>
      <c:legendPos val="b"/>
      <c:overlay val="0"/>
      <c:txPr>
        <a:bodyPr/>
        <a:lstStyle/>
        <a:p>
          <a:pPr>
            <a:defRPr sz="1050">
              <a:solidFill>
                <a:srgbClr val="24354F"/>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lgn="l">
              <a:defRPr sz="1050" b="0" i="0" u="none" strike="noStrike">
                <a:solidFill>
                  <a:srgbClr val="5A6B84"/>
                </a:solidFill>
                <a:latin typeface="Calibri"/>
              </a:defRPr>
            </a:pPr>
            <a:r>
              <a:rPr lang="en-US" sz="1050" b="0" i="0" u="none" strike="noStrike">
                <a:solidFill>
                  <a:srgbClr val="5A6B84"/>
                </a:solidFill>
                <a:latin typeface="Calibri"/>
              </a:rPr>
              <a:t>Mean paired utility on 30 frozen calibration groups (pp)</a:t>
            </a:r>
          </a:p>
        </c:rich>
      </c:tx>
      <c:overlay val="0"/>
    </c:title>
    <c:autoTitleDeleted val="0"/>
    <c:plotArea>
      <c:layout/>
      <c:barChart>
        <c:barDir val="bar"/>
        <c:grouping val="clustered"/>
        <c:varyColors val="0"/>
        <c:ser>
          <c:idx val="0"/>
          <c:order val="0"/>
          <c:tx>
            <c:strRef>
              <c:f>Sheet1!$B$1</c:f>
              <c:strCache>
                <c:ptCount val="1"/>
                <c:pt idx="0">
                  <c:v>Mean paired utility</c:v>
                </c:pt>
              </c:strCache>
            </c:strRef>
          </c:tx>
          <c:spPr>
            <a:solidFill>
              <a:srgbClr val="A93B2B"/>
            </a:solidFill>
            <a:effectLst/>
          </c:spPr>
          <c:invertIfNegative val="0"/>
          <c:dPt>
            <c:idx val="0"/>
            <c:invertIfNegative val="0"/>
            <c:bubble3D val="0"/>
            <c:extLst>
              <c:ext xmlns:c16="http://schemas.microsoft.com/office/drawing/2014/chart" uri="{C3380CC4-5D6E-409C-BE32-E72D297353CC}">
                <c16:uniqueId val="{00000001-F5D2-7443-8535-59206EE55043}"/>
              </c:ext>
            </c:extLst>
          </c:dPt>
          <c:dPt>
            <c:idx val="1"/>
            <c:invertIfNegative val="0"/>
            <c:bubble3D val="0"/>
            <c:spPr>
              <a:solidFill>
                <a:srgbClr val="1F8A99"/>
              </a:solidFill>
              <a:effectLst/>
            </c:spPr>
            <c:extLst>
              <c:ext xmlns:c16="http://schemas.microsoft.com/office/drawing/2014/chart" uri="{C3380CC4-5D6E-409C-BE32-E72D297353CC}">
                <c16:uniqueId val="{00000003-F5D2-7443-8535-59206EE55043}"/>
              </c:ext>
            </c:extLst>
          </c:dPt>
          <c:dLbls>
            <c:numFmt formatCode="0.0" sourceLinked="0"/>
            <c:spPr>
              <a:noFill/>
              <a:ln>
                <a:noFill/>
              </a:ln>
              <a:effectLst/>
            </c:spPr>
            <c:txPr>
              <a:bodyPr/>
              <a:lstStyle/>
              <a:p>
                <a:pPr>
                  <a:defRPr sz="1200" b="1" i="0" u="none" strike="noStrike">
                    <a:solidFill>
                      <a:srgbClr val="24354F"/>
                    </a:solidFill>
                    <a:latin typeface="Calibr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Hand-written macro</c:v>
                </c:pt>
                <c:pt idx="1">
                  <c:v>Learned compiler</c:v>
                </c:pt>
              </c:strCache>
            </c:strRef>
          </c:cat>
          <c:val>
            <c:numRef>
              <c:f>Sheet1!$B$2:$B$3</c:f>
              <c:numCache>
                <c:formatCode>General</c:formatCode>
                <c:ptCount val="2"/>
                <c:pt idx="0">
                  <c:v>48.9</c:v>
                </c:pt>
                <c:pt idx="1">
                  <c:v>32.700000000000003</c:v>
                </c:pt>
              </c:numCache>
            </c:numRef>
          </c:val>
          <c:extLst>
            <c:ext xmlns:c16="http://schemas.microsoft.com/office/drawing/2014/chart" uri="{C3380CC4-5D6E-409C-BE32-E72D297353CC}">
              <c16:uniqueId val="{00000004-F5D2-7443-8535-59206EE55043}"/>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50" b="0" i="0" u="none" strike="noStrike">
                <a:solidFill>
                  <a:srgbClr val="5A6B84"/>
                </a:solidFill>
                <a:latin typeface="Calibri"/>
              </a:defRPr>
            </a:pPr>
            <a:endParaRPr lang="en-US"/>
          </a:p>
        </c:txPr>
        <c:crossAx val="2094734552"/>
        <c:crosses val="autoZero"/>
        <c:auto val="1"/>
        <c:lblAlgn val="ctr"/>
        <c:lblOffset val="100"/>
        <c:noMultiLvlLbl val="1"/>
      </c:catAx>
      <c:valAx>
        <c:axId val="2094734552"/>
        <c:scaling>
          <c:orientation val="minMax"/>
          <c:max val="60"/>
          <c:min val="0"/>
        </c:scaling>
        <c:delete val="0"/>
        <c:axPos val="b"/>
        <c:majorGridlines>
          <c:spPr>
            <a:ln w="9525" cap="flat">
              <a:solidFill>
                <a:srgbClr val="E7EDF3"/>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000" b="0" i="0" u="none" strike="noStrike">
                <a:solidFill>
                  <a:srgbClr val="5A6B84"/>
                </a:solidFill>
                <a:latin typeface="Calibri"/>
              </a:defRPr>
            </a:pPr>
            <a:endParaRPr lang="en-US"/>
          </a:p>
        </c:txPr>
        <c:crossAx val="2094734554"/>
        <c:crosses val="autoZero"/>
        <c:crossBetween val="between"/>
        <c:majorUnit val="20"/>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380617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framing sentences: the engineering result is that a naturally recurring read prefix can be compiled away with quality preserved on a sealed sample. The scientific result is that almost no recurrent family in a public benchmark can be certified at all under the configured gate. The paper is organized so that the second is as visible as the first.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hazards map one-to-one onto rejection points in the compiler. The asymmetry to state early: statistics can only narrow what a structurally admissible artifact may do, never widen 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Hard safety and Admission columns together. Agent JIT, EvoC2F and COVENANT do carry safety arguments; the distinction is what kind. GAC's is provenance plus declared effects, gated by an exact selective bound over a frozen grid. That combination, not any single element, is the claim.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RQ3 and RQ4 are the unusual questions. Most workflow-optimization papers report what their system compresses; this one also asks what it must decline and what remains broken afterwards.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of the paper. The important move is that admissibility is defined structurally, before any statistics enter.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live pilot compiled suffix-only regions even though the runtime resolves only at entry. It dispatched label and comment reads before their intended position, duplicated or reordered tools, and achieved 16.7% task and tool-contract validity while still reducing requests. The pilot is archived rather than deleted, and a golden-trace regression test now rejects an otherwise eligible suffix.</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stating plainly in a seminar: the paper marks its own optimality gap. Reading the effect exposure from the catalog rather than from a naming convention, and evaluating all admissible families before selecting, are both listed as future work rather than described as implemented semantics.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Every stage can only reject; none can rescue a candidate that an earlier stage blocked.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Structurally this is a tracing JIT for agent executions: hot-trace detection becomes family mining, guard synthesis becomes the hard guard, region compilation becomes bounded synthesis, and deoptimization becomes fallback to the baseline agent. What is not inherited is what an agent guard must additionally certify — grounding, declared effects, and a finite-sample residual bound.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recall cannot fall below the groundability rate: it is insensitive to ranking quality by construction. The load-bearing number for synthesis is the 80.7% unique-resolution rate. Also note the counters are not mutually exclusive — the miner enumerates multiple candidate spans, so the per-episode window failures and the per-slot counts have different denominators, and both are reported.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Making the two coarse terms faithful would reorder candidates and therefore require re-running the offline study, so the paper lists it as future work instead of describing semantics the code does not enforce. That is the kind of disclosure worth pointing at in a seminar.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the two places a reviewer will push hardest. The strongest live result was never adversarially challenged; it passed replay, not perturbation.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sharp version out loud: zero violations in 92 groups should be read as self-consistency, not as correctness. Algorithm 3's alpha bounds contract violation, never bounding error.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paper's cleanest example of a difference that is structural rather than an implementation gap. The problem of restoring a consistent state after a specialized region is abandoned is exactly dynamic deoptimization, and the literature's answer — explicit deoptimization points — is the mechanism deferred to future work here.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4 and 5. The hypotheses were fixed internally before the sealed test was scored, but the study was not externally preregistered — state that plainly.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 separation is the methodological point: no tier is asked to license a claim it cannot support. Tier 1 cannot speak to live efficiency; Tier 3 cannot speak to real-world data; only Tier 2 does both, on one domain.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properties bound how far this path generalizes: the split tests held-out windows rather than robustness to a shifted distribution, and the development partition it allocates is reported but not consumed. It is an executable structural benchmark, not end-to-end validation of the deployed gate.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tool-call bar is the honest one: the compiler keeps all three reads. It removes model-mediated decisions, not evidence acquisition. The macro removes reads because a human redesigned the application interface.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audited oracle corrections are retained in the artifact. In the earlier run the corrected eligibility rule would swap one discovery trace, but the evaluated artifact remains the one actually executed — they do not retrain post hoc and do not assume the two artifacts are equivalent.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Consistent with the prompt-caching literature rather than a new discovery. What is new here is the same effect arising from turn removal and route fragmentation rather than from compression — and the consequence that a workflow optimizer's objective must price prefix reuse.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does not claim GAC dominates ordinary engineering. It establishes the structural facts behind the hypothesis but does not measure engineering effort, drift response, or the cross-workflow break-even. AWO, AWM, LLMCompiler, FlowCompile and plan caching were not re-implemented.</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design's value is its ordering: store the decision, hash the calibration file, then draw the twelve previously unused issues. Paired Wilcoxon p = 0.000488 for tokens, latency and cost. But one family cannot distinguish the selection rule from always choosing its macro.</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honest routes out of the gate problem, both named in the paper: build a development set containing genuine unproductive outcomes and publish a risk–coverage curve at several alpha, or replace the learned score with an explicitly one-class construction — distance-to-hull, or a conformal nonconformity measure over entry features — and describe it as such.</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 reviewer wants one slide to judge the paper's honesty, this is it. Two distinctions the paper is careful about and this table preserves: C8 is not evaluated rather than refuted — the extractive oracle simply cannot see fabrication — and C12 is a capability the shipped API does not have rather than a claim that failed. C10 and C11 are verified but scoped: one is a provider-free counterfactual, the other holds on a single workflow family.</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line from the paper: together with the failed suffix pilot, the evidence argues for a specific design principle — an agent optimizer should be judged not only by what it compresses, but by whether it can explain and enforce when it must not compile.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1.xml"/><Relationship Id="rId5" Type="http://schemas.openxmlformats.org/officeDocument/2006/relationships/chart" Target="../charts/chart4.xml"/><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E3A"/>
        </a:solidFill>
        <a:effectLst/>
      </p:bgPr>
    </p:bg>
    <p:spTree>
      <p:nvGrpSpPr>
        <p:cNvPr id="1" name=""/>
        <p:cNvGrpSpPr/>
        <p:nvPr/>
      </p:nvGrpSpPr>
      <p:grpSpPr>
        <a:xfrm>
          <a:off x="0" y="0"/>
          <a:ext cx="0" cy="0"/>
          <a:chOff x="0" y="0"/>
          <a:chExt cx="0" cy="0"/>
        </a:xfrm>
      </p:grpSpPr>
      <p:sp>
        <p:nvSpPr>
          <p:cNvPr id="2" name="Shape 0"/>
          <p:cNvSpPr/>
          <p:nvPr/>
        </p:nvSpPr>
        <p:spPr>
          <a:xfrm>
            <a:off x="9052560" y="-1554480"/>
            <a:ext cx="6217920" cy="6217920"/>
          </a:xfrm>
          <a:prstGeom prst="ellipse">
            <a:avLst/>
          </a:prstGeom>
          <a:solidFill>
            <a:srgbClr val="1A3563">
              <a:alpha val="62000"/>
            </a:srgbClr>
          </a:solidFill>
          <a:ln w="12700">
            <a:solidFill>
              <a:srgbClr val="1A3563"/>
            </a:solidFill>
            <a:prstDash val="solid"/>
          </a:ln>
        </p:spPr>
        <p:txBody>
          <a:bodyPr/>
          <a:lstStyle/>
          <a:p>
            <a:endParaRPr lang="en-US"/>
          </a:p>
        </p:txBody>
      </p:sp>
      <p:sp>
        <p:nvSpPr>
          <p:cNvPr id="3" name="Shape 1"/>
          <p:cNvSpPr/>
          <p:nvPr/>
        </p:nvSpPr>
        <p:spPr>
          <a:xfrm>
            <a:off x="10424160" y="-91440"/>
            <a:ext cx="3291840" cy="3291840"/>
          </a:xfrm>
          <a:prstGeom prst="ellipse">
            <a:avLst/>
          </a:prstGeom>
          <a:solidFill>
            <a:srgbClr val="1F8A99">
              <a:alpha val="48000"/>
            </a:srgbClr>
          </a:solidFill>
          <a:ln w="12700">
            <a:solidFill>
              <a:srgbClr val="1F8A99"/>
            </a:solidFill>
            <a:prstDash val="solid"/>
          </a:ln>
        </p:spPr>
        <p:txBody>
          <a:bodyPr/>
          <a:lstStyle/>
          <a:p>
            <a:endParaRPr lang="en-US"/>
          </a:p>
        </p:txBody>
      </p:sp>
      <p:sp>
        <p:nvSpPr>
          <p:cNvPr id="4" name="Shape 2"/>
          <p:cNvSpPr/>
          <p:nvPr/>
        </p:nvSpPr>
        <p:spPr>
          <a:xfrm>
            <a:off x="11338560" y="822960"/>
            <a:ext cx="1463040" cy="1463040"/>
          </a:xfrm>
          <a:prstGeom prst="ellipse">
            <a:avLst/>
          </a:prstGeom>
          <a:solidFill>
            <a:srgbClr val="56B3BE">
              <a:alpha val="72000"/>
            </a:srgbClr>
          </a:solidFill>
          <a:ln w="12700">
            <a:solidFill>
              <a:srgbClr val="56B3BE"/>
            </a:solidFill>
            <a:prstDash val="solid"/>
          </a:ln>
        </p:spPr>
        <p:txBody>
          <a:bodyPr/>
          <a:lstStyle/>
          <a:p>
            <a:endParaRPr lang="en-US"/>
          </a:p>
        </p:txBody>
      </p:sp>
      <p:sp>
        <p:nvSpPr>
          <p:cNvPr id="5" name="Text 3"/>
          <p:cNvSpPr/>
          <p:nvPr/>
        </p:nvSpPr>
        <p:spPr>
          <a:xfrm>
            <a:off x="640080" y="1371600"/>
            <a:ext cx="7680960" cy="274320"/>
          </a:xfrm>
          <a:prstGeom prst="rect">
            <a:avLst/>
          </a:prstGeom>
          <a:noFill/>
          <a:ln/>
        </p:spPr>
        <p:txBody>
          <a:bodyPr wrap="square" lIns="0" tIns="0" rIns="0" bIns="0" rtlCol="0" anchor="t"/>
          <a:lstStyle/>
          <a:p>
            <a:pPr marL="0" indent="0">
              <a:buNone/>
            </a:pPr>
            <a:r>
              <a:rPr lang="en-US" sz="1050" b="1" kern="0" spc="220" dirty="0">
                <a:solidFill>
                  <a:srgbClr val="56B3BE"/>
                </a:solidFill>
                <a:latin typeface="Calibri" pitchFamily="34" charset="0"/>
                <a:ea typeface="Calibri" pitchFamily="34" charset="-122"/>
                <a:cs typeface="Calibri" pitchFamily="34" charset="-120"/>
              </a:rPr>
              <a:t>LLM AGENTS  ·  PROGRAM SYNTHESIS  ·  SELECTIVE RISK CONTROL</a:t>
            </a:r>
            <a:endParaRPr lang="en-US" sz="1050" dirty="0"/>
          </a:p>
        </p:txBody>
      </p:sp>
      <p:sp>
        <p:nvSpPr>
          <p:cNvPr id="6" name="Text 4"/>
          <p:cNvSpPr/>
          <p:nvPr/>
        </p:nvSpPr>
        <p:spPr>
          <a:xfrm>
            <a:off x="640080" y="1810512"/>
            <a:ext cx="8046720" cy="1554480"/>
          </a:xfrm>
          <a:prstGeom prst="rect">
            <a:avLst/>
          </a:prstGeom>
          <a:noFill/>
          <a:ln/>
        </p:spPr>
        <p:txBody>
          <a:bodyPr wrap="square" lIns="0" tIns="0" rIns="0" bIns="0" rtlCol="0" anchor="t"/>
          <a:lstStyle/>
          <a:p>
            <a:pPr marL="0" indent="0">
              <a:lnSpc>
                <a:spcPct val="100000"/>
              </a:lnSpc>
              <a:buNone/>
            </a:pPr>
            <a:r>
              <a:rPr lang="en-US" sz="3600" b="1" dirty="0">
                <a:solidFill>
                  <a:srgbClr val="FFFFFF"/>
                </a:solidFill>
                <a:latin typeface="Cambria" pitchFamily="34" charset="0"/>
                <a:ea typeface="Cambria" pitchFamily="34" charset="-122"/>
                <a:cs typeface="Cambria" pitchFamily="34" charset="-120"/>
              </a:rPr>
              <a:t>Compiling Recurrent Agent Workflows into Guarded Programs</a:t>
            </a:r>
            <a:endParaRPr lang="en-US" sz="3600" dirty="0"/>
          </a:p>
        </p:txBody>
      </p:sp>
      <p:sp>
        <p:nvSpPr>
          <p:cNvPr id="7" name="Text 5"/>
          <p:cNvSpPr/>
          <p:nvPr/>
        </p:nvSpPr>
        <p:spPr>
          <a:xfrm>
            <a:off x="640080" y="3584448"/>
            <a:ext cx="7589520" cy="822960"/>
          </a:xfrm>
          <a:prstGeom prst="rect">
            <a:avLst/>
          </a:prstGeom>
          <a:noFill/>
          <a:ln/>
        </p:spPr>
        <p:txBody>
          <a:bodyPr wrap="square" lIns="0" tIns="0" rIns="0" bIns="0" rtlCol="0" anchor="t"/>
          <a:lstStyle/>
          <a:p>
            <a:pPr marL="0" indent="0">
              <a:lnSpc>
                <a:spcPct val="115000"/>
              </a:lnSpc>
              <a:buNone/>
            </a:pPr>
            <a:r>
              <a:rPr lang="en-US" sz="1450" b="1" dirty="0">
                <a:solidFill>
                  <a:srgbClr val="FFFFFF"/>
                </a:solidFill>
                <a:latin typeface="Calibri" pitchFamily="34" charset="0"/>
                <a:ea typeface="Calibri" pitchFamily="34" charset="-122"/>
                <a:cs typeface="Calibri" pitchFamily="34" charset="-120"/>
              </a:rPr>
              <a:t>Guarded agentic compaction. </a:t>
            </a:r>
            <a:r>
              <a:rPr lang="en-US" sz="1450" dirty="0">
                <a:solidFill>
                  <a:srgbClr val="9BD0D6"/>
                </a:solidFill>
                <a:latin typeface="Calibri" pitchFamily="34" charset="0"/>
                <a:ea typeface="Calibri" pitchFamily="34" charset="-122"/>
                <a:cs typeface="Calibri" pitchFamily="34" charset="-120"/>
              </a:rPr>
              <a:t>Traces establish recurrence, not admissibility. We specify the evidence a compiler needs, the barriers it must respect, and four negative results.</a:t>
            </a:r>
            <a:endParaRPr lang="en-US" sz="1450" dirty="0"/>
          </a:p>
        </p:txBody>
      </p:sp>
      <p:sp>
        <p:nvSpPr>
          <p:cNvPr id="8" name="Shape 6"/>
          <p:cNvSpPr/>
          <p:nvPr/>
        </p:nvSpPr>
        <p:spPr>
          <a:xfrm>
            <a:off x="640080" y="4590288"/>
            <a:ext cx="7589520" cy="0"/>
          </a:xfrm>
          <a:prstGeom prst="line">
            <a:avLst/>
          </a:prstGeom>
          <a:noFill/>
          <a:ln w="12700">
            <a:solidFill>
              <a:srgbClr val="2C4467"/>
            </a:solidFill>
            <a:prstDash val="solid"/>
          </a:ln>
        </p:spPr>
        <p:txBody>
          <a:bodyPr/>
          <a:lstStyle/>
          <a:p>
            <a:endParaRPr lang="en-US"/>
          </a:p>
        </p:txBody>
      </p:sp>
      <p:sp>
        <p:nvSpPr>
          <p:cNvPr id="9" name="Text 7"/>
          <p:cNvSpPr/>
          <p:nvPr/>
        </p:nvSpPr>
        <p:spPr>
          <a:xfrm>
            <a:off x="640080" y="4754880"/>
            <a:ext cx="2377440" cy="274320"/>
          </a:xfrm>
          <a:prstGeom prst="rect">
            <a:avLst/>
          </a:prstGeom>
          <a:noFill/>
          <a:ln/>
        </p:spPr>
        <p:txBody>
          <a:bodyPr wrap="square" lIns="0" tIns="0" rIns="0" bIns="0" rtlCol="0" anchor="t"/>
          <a:lstStyle/>
          <a:p>
            <a:pPr marL="0" indent="0">
              <a:buNone/>
            </a:pPr>
            <a:r>
              <a:rPr lang="en-US" sz="1300" b="1" dirty="0">
                <a:solidFill>
                  <a:srgbClr val="56B3BE"/>
                </a:solidFill>
                <a:latin typeface="Cambria" pitchFamily="34" charset="0"/>
                <a:ea typeface="Cambria" pitchFamily="34" charset="-122"/>
                <a:cs typeface="Cambria" pitchFamily="34" charset="-120"/>
              </a:rPr>
              <a:t>NESTFUL</a:t>
            </a:r>
            <a:endParaRPr lang="en-US" sz="1300" dirty="0"/>
          </a:p>
        </p:txBody>
      </p:sp>
      <p:sp>
        <p:nvSpPr>
          <p:cNvPr id="10" name="Text 8"/>
          <p:cNvSpPr/>
          <p:nvPr/>
        </p:nvSpPr>
        <p:spPr>
          <a:xfrm>
            <a:off x="640080" y="5047488"/>
            <a:ext cx="2377440" cy="640080"/>
          </a:xfrm>
          <a:prstGeom prst="rect">
            <a:avLst/>
          </a:prstGeom>
          <a:noFill/>
          <a:ln/>
        </p:spPr>
        <p:txBody>
          <a:bodyPr wrap="square" lIns="0" tIns="0" rIns="0" bIns="0" rtlCol="0" anchor="t"/>
          <a:lstStyle/>
          <a:p>
            <a:pPr marL="0" indent="0">
              <a:lnSpc>
                <a:spcPct val="105000"/>
              </a:lnSpc>
              <a:buNone/>
            </a:pPr>
            <a:r>
              <a:rPr lang="en-US" sz="1050" dirty="0">
                <a:solidFill>
                  <a:srgbClr val="8FA6C0"/>
                </a:solidFill>
                <a:latin typeface="Calibri" pitchFamily="34" charset="0"/>
                <a:ea typeface="Calibri" pitchFamily="34" charset="-122"/>
                <a:cs typeface="Calibri" pitchFamily="34" charset="-120"/>
              </a:rPr>
              <a:t>1,415 executable episodes</a:t>
            </a:r>
            <a:endParaRPr lang="en-US" sz="1050" dirty="0"/>
          </a:p>
          <a:p>
            <a:pPr marL="0" indent="0">
              <a:lnSpc>
                <a:spcPct val="105000"/>
              </a:lnSpc>
              <a:buNone/>
            </a:pPr>
            <a:r>
              <a:rPr lang="en-US" sz="1050" dirty="0">
                <a:solidFill>
                  <a:srgbClr val="8FA6C0"/>
                </a:solidFill>
                <a:latin typeface="Calibri" pitchFamily="34" charset="0"/>
                <a:ea typeface="Calibri" pitchFamily="34" charset="-122"/>
                <a:cs typeface="Calibri" pitchFamily="34" charset="-120"/>
              </a:rPr>
              <a:t>provider-free</a:t>
            </a:r>
            <a:endParaRPr lang="en-US" sz="1050" dirty="0"/>
          </a:p>
        </p:txBody>
      </p:sp>
      <p:sp>
        <p:nvSpPr>
          <p:cNvPr id="11" name="Text 9"/>
          <p:cNvSpPr/>
          <p:nvPr/>
        </p:nvSpPr>
        <p:spPr>
          <a:xfrm>
            <a:off x="3246120" y="4754880"/>
            <a:ext cx="2377440" cy="274320"/>
          </a:xfrm>
          <a:prstGeom prst="rect">
            <a:avLst/>
          </a:prstGeom>
          <a:noFill/>
          <a:ln/>
        </p:spPr>
        <p:txBody>
          <a:bodyPr wrap="square" lIns="0" tIns="0" rIns="0" bIns="0" rtlCol="0" anchor="t"/>
          <a:lstStyle/>
          <a:p>
            <a:pPr marL="0" indent="0">
              <a:buNone/>
            </a:pPr>
            <a:r>
              <a:rPr lang="en-US" sz="1300" b="1" dirty="0">
                <a:solidFill>
                  <a:srgbClr val="56B3BE"/>
                </a:solidFill>
                <a:latin typeface="Cambria" pitchFamily="34" charset="0"/>
                <a:ea typeface="Cambria" pitchFamily="34" charset="-122"/>
                <a:cs typeface="Cambria" pitchFamily="34" charset="-120"/>
              </a:rPr>
              <a:t>GitHub</a:t>
            </a:r>
            <a:endParaRPr lang="en-US" sz="1300" dirty="0"/>
          </a:p>
        </p:txBody>
      </p:sp>
      <p:sp>
        <p:nvSpPr>
          <p:cNvPr id="12" name="Text 10"/>
          <p:cNvSpPr/>
          <p:nvPr/>
        </p:nvSpPr>
        <p:spPr>
          <a:xfrm>
            <a:off x="3246120" y="5047488"/>
            <a:ext cx="2377440" cy="640080"/>
          </a:xfrm>
          <a:prstGeom prst="rect">
            <a:avLst/>
          </a:prstGeom>
          <a:noFill/>
          <a:ln/>
        </p:spPr>
        <p:txBody>
          <a:bodyPr wrap="square" lIns="0" tIns="0" rIns="0" bIns="0" rtlCol="0" anchor="t"/>
          <a:lstStyle/>
          <a:p>
            <a:pPr marL="0" indent="0">
              <a:lnSpc>
                <a:spcPct val="105000"/>
              </a:lnSpc>
              <a:buNone/>
            </a:pPr>
            <a:r>
              <a:rPr lang="en-US" sz="1050" dirty="0">
                <a:solidFill>
                  <a:srgbClr val="8FA6C0"/>
                </a:solidFill>
                <a:latin typeface="Calibri" pitchFamily="34" charset="0"/>
                <a:ea typeface="Calibri" pitchFamily="34" charset="-122"/>
                <a:cs typeface="Calibri" pitchFamily="34" charset="-120"/>
              </a:rPr>
              <a:t>4 live protocols on a</a:t>
            </a:r>
            <a:endParaRPr lang="en-US" sz="1050" dirty="0"/>
          </a:p>
          <a:p>
            <a:pPr marL="0" indent="0">
              <a:lnSpc>
                <a:spcPct val="105000"/>
              </a:lnSpc>
              <a:buNone/>
            </a:pPr>
            <a:r>
              <a:rPr lang="en-US" sz="1050" dirty="0">
                <a:solidFill>
                  <a:srgbClr val="8FA6C0"/>
                </a:solidFill>
                <a:latin typeface="Calibri" pitchFamily="34" charset="0"/>
                <a:ea typeface="Calibri" pitchFamily="34" charset="-122"/>
                <a:cs typeface="Calibri" pitchFamily="34" charset="-120"/>
              </a:rPr>
              <a:t>pinned public snapshot</a:t>
            </a:r>
            <a:endParaRPr lang="en-US" sz="1050" dirty="0"/>
          </a:p>
        </p:txBody>
      </p:sp>
      <p:sp>
        <p:nvSpPr>
          <p:cNvPr id="13" name="Text 11"/>
          <p:cNvSpPr/>
          <p:nvPr/>
        </p:nvSpPr>
        <p:spPr>
          <a:xfrm>
            <a:off x="5852160" y="4754880"/>
            <a:ext cx="2377440" cy="274320"/>
          </a:xfrm>
          <a:prstGeom prst="rect">
            <a:avLst/>
          </a:prstGeom>
          <a:noFill/>
          <a:ln/>
        </p:spPr>
        <p:txBody>
          <a:bodyPr wrap="square" lIns="0" tIns="0" rIns="0" bIns="0" rtlCol="0" anchor="t"/>
          <a:lstStyle/>
          <a:p>
            <a:pPr marL="0" indent="0">
              <a:buNone/>
            </a:pPr>
            <a:r>
              <a:rPr lang="en-US" sz="1300" b="1" dirty="0">
                <a:solidFill>
                  <a:srgbClr val="56B3BE"/>
                </a:solidFill>
                <a:latin typeface="Cambria" pitchFamily="34" charset="0"/>
                <a:ea typeface="Cambria" pitchFamily="34" charset="-122"/>
                <a:cs typeface="Cambria" pitchFamily="34" charset="-120"/>
              </a:rPr>
              <a:t>Demo suite</a:t>
            </a:r>
            <a:endParaRPr lang="en-US" sz="1300" dirty="0"/>
          </a:p>
        </p:txBody>
      </p:sp>
      <p:sp>
        <p:nvSpPr>
          <p:cNvPr id="14" name="Text 12"/>
          <p:cNvSpPr/>
          <p:nvPr/>
        </p:nvSpPr>
        <p:spPr>
          <a:xfrm>
            <a:off x="5852160" y="5047488"/>
            <a:ext cx="2377440" cy="640080"/>
          </a:xfrm>
          <a:prstGeom prst="rect">
            <a:avLst/>
          </a:prstGeom>
          <a:noFill/>
          <a:ln/>
        </p:spPr>
        <p:txBody>
          <a:bodyPr wrap="square" lIns="0" tIns="0" rIns="0" bIns="0" rtlCol="0" anchor="t"/>
          <a:lstStyle/>
          <a:p>
            <a:pPr marL="0" indent="0">
              <a:lnSpc>
                <a:spcPct val="105000"/>
              </a:lnSpc>
              <a:buNone/>
            </a:pPr>
            <a:r>
              <a:rPr lang="en-US" sz="1050" dirty="0">
                <a:solidFill>
                  <a:srgbClr val="8FA6C0"/>
                </a:solidFill>
                <a:latin typeface="Calibri" pitchFamily="34" charset="0"/>
                <a:ea typeface="Calibri" pitchFamily="34" charset="-122"/>
                <a:cs typeface="Calibri" pitchFamily="34" charset="-120"/>
              </a:rPr>
              <a:t>6 workflow shapes,</a:t>
            </a:r>
            <a:endParaRPr lang="en-US" sz="1050" dirty="0"/>
          </a:p>
          <a:p>
            <a:pPr marL="0" indent="0">
              <a:lnSpc>
                <a:spcPct val="105000"/>
              </a:lnSpc>
              <a:buNone/>
            </a:pPr>
            <a:r>
              <a:rPr lang="en-US" sz="1050" dirty="0">
                <a:solidFill>
                  <a:srgbClr val="8FA6C0"/>
                </a:solidFill>
                <a:latin typeface="Calibri" pitchFamily="34" charset="0"/>
                <a:ea typeface="Calibri" pitchFamily="34" charset="-122"/>
                <a:cs typeface="Calibri" pitchFamily="34" charset="-120"/>
              </a:rPr>
              <a:t>3 negative controls</a:t>
            </a:r>
            <a:endParaRPr lang="en-US" sz="1050" dirty="0"/>
          </a:p>
        </p:txBody>
      </p:sp>
      <p:sp>
        <p:nvSpPr>
          <p:cNvPr id="15" name="Text 13"/>
          <p:cNvSpPr/>
          <p:nvPr/>
        </p:nvSpPr>
        <p:spPr>
          <a:xfrm>
            <a:off x="640080" y="5943600"/>
            <a:ext cx="8229600" cy="274320"/>
          </a:xfrm>
          <a:prstGeom prst="rect">
            <a:avLst/>
          </a:prstGeom>
          <a:noFill/>
          <a:ln/>
        </p:spPr>
        <p:txBody>
          <a:bodyPr wrap="square" lIns="0" tIns="0" rIns="0" bIns="0" rtlCol="0" anchor="t"/>
          <a:lstStyle/>
          <a:p>
            <a:pPr marL="0" indent="0">
              <a:buNone/>
            </a:pPr>
            <a:r>
              <a:rPr lang="en-US" sz="1050" dirty="0">
                <a:solidFill>
                  <a:srgbClr val="43597C"/>
                </a:solidFill>
                <a:latin typeface="Calibri" pitchFamily="34" charset="0"/>
                <a:ea typeface="Calibri" pitchFamily="34" charset="-122"/>
                <a:cs typeface="Calibri" pitchFamily="34" charset="-120"/>
              </a:rPr>
              <a:t>Seminar presentation  ·  prepared by JazzX AI  ·  August 2026</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2</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MOTIVATION</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Recurrence is observable; admissibility is not</a:t>
            </a:r>
            <a:endParaRPr lang="en-US" sz="2600" dirty="0"/>
          </a:p>
        </p:txBody>
      </p:sp>
      <p:sp>
        <p:nvSpPr>
          <p:cNvPr id="6" name="Text 4"/>
          <p:cNvSpPr/>
          <p:nvPr/>
        </p:nvSpPr>
        <p:spPr>
          <a:xfrm>
            <a:off x="640080" y="1280160"/>
            <a:ext cx="10911535" cy="566928"/>
          </a:xfrm>
          <a:prstGeom prst="rect">
            <a:avLst/>
          </a:prstGeom>
          <a:noFill/>
          <a:ln/>
        </p:spPr>
        <p:txBody>
          <a:bodyPr wrap="square" lIns="0" tIns="0" rIns="0" bIns="0" rtlCol="0" anchor="t"/>
          <a:lstStyle/>
          <a:p>
            <a:pPr marL="0" indent="0">
              <a:lnSpc>
                <a:spcPct val="110000"/>
              </a:lnSpc>
              <a:buNone/>
            </a:pPr>
            <a:r>
              <a:rPr lang="en-US" sz="1250" dirty="0">
                <a:solidFill>
                  <a:srgbClr val="24354F"/>
                </a:solidFill>
                <a:latin typeface="Calibri" pitchFamily="34" charset="0"/>
                <a:ea typeface="Calibri" pitchFamily="34" charset="-122"/>
                <a:cs typeface="Calibri" pitchFamily="34" charset="-120"/>
              </a:rPr>
              <a:t>A mature tool-using agent spends model calls reselecting the same read-only evidence path. Recurrence alone does not license removing them: </a:t>
            </a:r>
            <a:r>
              <a:rPr lang="en-US" sz="1250" b="1" dirty="0">
                <a:solidFill>
                  <a:srgbClr val="24354F"/>
                </a:solidFill>
                <a:latin typeface="Calibri" pitchFamily="34" charset="0"/>
                <a:ea typeface="Calibri" pitchFamily="34" charset="-122"/>
                <a:cs typeface="Calibri" pitchFamily="34" charset="-120"/>
              </a:rPr>
              <a:t>an argument may not be grounded in observable state, an effect may not permit speculation, and a replacement may not hold on the next input.</a:t>
            </a:r>
            <a:endParaRPr lang="en-US" sz="1250" dirty="0"/>
          </a:p>
        </p:txBody>
      </p:sp>
      <p:sp>
        <p:nvSpPr>
          <p:cNvPr id="7" name="Text 5"/>
          <p:cNvSpPr/>
          <p:nvPr/>
        </p:nvSpPr>
        <p:spPr>
          <a:xfrm>
            <a:off x="640080" y="2011680"/>
            <a:ext cx="10911535" cy="237744"/>
          </a:xfrm>
          <a:prstGeom prst="rect">
            <a:avLst/>
          </a:prstGeom>
          <a:noFill/>
          <a:ln/>
        </p:spPr>
        <p:txBody>
          <a:bodyPr wrap="square" lIns="0" tIns="0" rIns="0" bIns="0" rtlCol="0" anchor="t"/>
          <a:lstStyle/>
          <a:p>
            <a:pPr marL="0" indent="0">
              <a:buNone/>
            </a:pPr>
            <a:r>
              <a:rPr lang="en-US" sz="1050" b="1" kern="0" spc="180" dirty="0">
                <a:solidFill>
                  <a:srgbClr val="5A6B84"/>
                </a:solidFill>
                <a:latin typeface="Calibri" pitchFamily="34" charset="0"/>
                <a:ea typeface="Calibri" pitchFamily="34" charset="-122"/>
                <a:cs typeface="Calibri" pitchFamily="34" charset="-120"/>
              </a:rPr>
              <a:t>FOUR STRUCTURAL HAZARDS A CACHE DOES NOT SEE</a:t>
            </a:r>
            <a:endParaRPr lang="en-US" sz="1050" dirty="0"/>
          </a:p>
        </p:txBody>
      </p:sp>
      <p:sp>
        <p:nvSpPr>
          <p:cNvPr id="8" name="Shape 6"/>
          <p:cNvSpPr/>
          <p:nvPr/>
        </p:nvSpPr>
        <p:spPr>
          <a:xfrm>
            <a:off x="640080" y="2322576"/>
            <a:ext cx="2563292" cy="1700784"/>
          </a:xfrm>
          <a:prstGeom prst="roundRect">
            <a:avLst>
              <a:gd name="adj" fmla="val 2688"/>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9" name="Shape 7"/>
          <p:cNvSpPr/>
          <p:nvPr/>
        </p:nvSpPr>
        <p:spPr>
          <a:xfrm>
            <a:off x="859536" y="2505456"/>
            <a:ext cx="310896" cy="310896"/>
          </a:xfrm>
          <a:prstGeom prst="ellipse">
            <a:avLst/>
          </a:prstGeom>
          <a:solidFill>
            <a:srgbClr val="A93B2B"/>
          </a:solidFill>
          <a:ln w="6350">
            <a:solidFill>
              <a:srgbClr val="A93B2B"/>
            </a:solidFill>
            <a:prstDash val="solid"/>
          </a:ln>
        </p:spPr>
        <p:txBody>
          <a:bodyPr/>
          <a:lstStyle/>
          <a:p>
            <a:endParaRPr lang="en-US"/>
          </a:p>
        </p:txBody>
      </p:sp>
      <p:sp>
        <p:nvSpPr>
          <p:cNvPr id="10" name="Text 8"/>
          <p:cNvSpPr/>
          <p:nvPr/>
        </p:nvSpPr>
        <p:spPr>
          <a:xfrm>
            <a:off x="859536" y="2505456"/>
            <a:ext cx="310896"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11" name="Text 9"/>
          <p:cNvSpPr/>
          <p:nvPr/>
        </p:nvSpPr>
        <p:spPr>
          <a:xfrm>
            <a:off x="1243584" y="2487168"/>
            <a:ext cx="1740332" cy="347472"/>
          </a:xfrm>
          <a:prstGeom prst="rect">
            <a:avLst/>
          </a:prstGeom>
          <a:noFill/>
          <a:ln/>
        </p:spPr>
        <p:txBody>
          <a:bodyPr wrap="square" lIns="0" tIns="0" rIns="0" bIns="0" rtlCol="0" anchor="ctr"/>
          <a:lstStyle/>
          <a:p>
            <a:pPr marL="0" indent="0">
              <a:lnSpc>
                <a:spcPct val="100000"/>
              </a:lnSpc>
              <a:buNone/>
            </a:pPr>
            <a:r>
              <a:rPr lang="en-US" sz="1200" b="1" dirty="0">
                <a:solidFill>
                  <a:srgbClr val="A93B2B"/>
                </a:solidFill>
                <a:latin typeface="Cambria" pitchFamily="34" charset="0"/>
                <a:ea typeface="Cambria" pitchFamily="34" charset="-122"/>
                <a:cs typeface="Cambria" pitchFamily="34" charset="-120"/>
              </a:rPr>
              <a:t>Ungrounded argument</a:t>
            </a:r>
            <a:endParaRPr lang="en-US" sz="1200" dirty="0"/>
          </a:p>
        </p:txBody>
      </p:sp>
      <p:sp>
        <p:nvSpPr>
          <p:cNvPr id="12" name="Text 10"/>
          <p:cNvSpPr/>
          <p:nvPr/>
        </p:nvSpPr>
        <p:spPr>
          <a:xfrm>
            <a:off x="877824" y="2907792"/>
            <a:ext cx="2087804" cy="1005840"/>
          </a:xfrm>
          <a:prstGeom prst="rect">
            <a:avLst/>
          </a:prstGeom>
          <a:noFill/>
          <a:ln/>
        </p:spPr>
        <p:txBody>
          <a:bodyPr wrap="square" lIns="0" tIns="0" rIns="0" bIns="0" rtlCol="0" anchor="t"/>
          <a:lstStyle/>
          <a:p>
            <a:pPr marL="0" indent="0">
              <a:lnSpc>
                <a:spcPct val="106000"/>
              </a:lnSpc>
              <a:buNone/>
            </a:pPr>
            <a:r>
              <a:rPr lang="en-US" sz="1000" dirty="0">
                <a:solidFill>
                  <a:srgbClr val="5C4034"/>
                </a:solidFill>
                <a:latin typeface="Calibri" pitchFamily="34" charset="0"/>
                <a:ea typeface="Calibri" pitchFamily="34" charset="-122"/>
                <a:cs typeface="Calibri" pitchFamily="34" charset="-120"/>
              </a:rPr>
              <a:t>No expression over entry state or prior results reproduces the value. The slot is a genuine model decision, and there is nothing to reconstruct it from.</a:t>
            </a:r>
            <a:endParaRPr lang="en-US" sz="1000" dirty="0"/>
          </a:p>
        </p:txBody>
      </p:sp>
      <p:sp>
        <p:nvSpPr>
          <p:cNvPr id="13" name="Shape 11"/>
          <p:cNvSpPr/>
          <p:nvPr/>
        </p:nvSpPr>
        <p:spPr>
          <a:xfrm>
            <a:off x="3422828" y="2322576"/>
            <a:ext cx="2563292" cy="1700784"/>
          </a:xfrm>
          <a:prstGeom prst="roundRect">
            <a:avLst>
              <a:gd name="adj" fmla="val 2688"/>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14" name="Shape 12"/>
          <p:cNvSpPr/>
          <p:nvPr/>
        </p:nvSpPr>
        <p:spPr>
          <a:xfrm>
            <a:off x="3642284" y="2505456"/>
            <a:ext cx="310896" cy="310896"/>
          </a:xfrm>
          <a:prstGeom prst="ellipse">
            <a:avLst/>
          </a:prstGeom>
          <a:solidFill>
            <a:srgbClr val="A93B2B"/>
          </a:solidFill>
          <a:ln w="6350">
            <a:solidFill>
              <a:srgbClr val="A93B2B"/>
            </a:solidFill>
            <a:prstDash val="solid"/>
          </a:ln>
        </p:spPr>
        <p:txBody>
          <a:bodyPr/>
          <a:lstStyle/>
          <a:p>
            <a:endParaRPr lang="en-US"/>
          </a:p>
        </p:txBody>
      </p:sp>
      <p:sp>
        <p:nvSpPr>
          <p:cNvPr id="15" name="Text 13"/>
          <p:cNvSpPr/>
          <p:nvPr/>
        </p:nvSpPr>
        <p:spPr>
          <a:xfrm>
            <a:off x="3642284" y="2505456"/>
            <a:ext cx="310896"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16" name="Text 14"/>
          <p:cNvSpPr/>
          <p:nvPr/>
        </p:nvSpPr>
        <p:spPr>
          <a:xfrm>
            <a:off x="4026332" y="2487168"/>
            <a:ext cx="1740332" cy="347472"/>
          </a:xfrm>
          <a:prstGeom prst="rect">
            <a:avLst/>
          </a:prstGeom>
          <a:noFill/>
          <a:ln/>
        </p:spPr>
        <p:txBody>
          <a:bodyPr wrap="square" lIns="0" tIns="0" rIns="0" bIns="0" rtlCol="0" anchor="ctr"/>
          <a:lstStyle/>
          <a:p>
            <a:pPr marL="0" indent="0">
              <a:lnSpc>
                <a:spcPct val="100000"/>
              </a:lnSpc>
              <a:buNone/>
            </a:pPr>
            <a:r>
              <a:rPr lang="en-US" sz="1200" b="1" dirty="0">
                <a:solidFill>
                  <a:srgbClr val="A93B2B"/>
                </a:solidFill>
                <a:latin typeface="Cambria" pitchFamily="34" charset="0"/>
                <a:ea typeface="Cambria" pitchFamily="34" charset="-122"/>
                <a:cs typeface="Cambria" pitchFamily="34" charset="-120"/>
              </a:rPr>
              <a:t>Undeclared effect</a:t>
            </a:r>
            <a:endParaRPr lang="en-US" sz="1200" dirty="0"/>
          </a:p>
        </p:txBody>
      </p:sp>
      <p:sp>
        <p:nvSpPr>
          <p:cNvPr id="17" name="Text 15"/>
          <p:cNvSpPr/>
          <p:nvPr/>
        </p:nvSpPr>
        <p:spPr>
          <a:xfrm>
            <a:off x="3660572" y="2907792"/>
            <a:ext cx="2087804" cy="1005840"/>
          </a:xfrm>
          <a:prstGeom prst="rect">
            <a:avLst/>
          </a:prstGeom>
          <a:noFill/>
          <a:ln/>
        </p:spPr>
        <p:txBody>
          <a:bodyPr wrap="square" lIns="0" tIns="0" rIns="0" bIns="0" rtlCol="0" anchor="t"/>
          <a:lstStyle/>
          <a:p>
            <a:pPr marL="0" indent="0">
              <a:lnSpc>
                <a:spcPct val="106000"/>
              </a:lnSpc>
              <a:buNone/>
            </a:pPr>
            <a:r>
              <a:rPr lang="en-US" sz="1000" dirty="0">
                <a:solidFill>
                  <a:srgbClr val="5C4034"/>
                </a:solidFill>
                <a:latin typeface="Calibri" pitchFamily="34" charset="0"/>
                <a:ea typeface="Calibri" pitchFamily="34" charset="-122"/>
                <a:cs typeface="Calibri" pitchFamily="34" charset="-120"/>
              </a:rPr>
              <a:t>A nominal read may carry an external effect. An effect the catalog does not declare cannot be shown safe to speculate on, and an unknown effect is not a read.</a:t>
            </a:r>
            <a:endParaRPr lang="en-US" sz="1000" dirty="0"/>
          </a:p>
        </p:txBody>
      </p:sp>
      <p:sp>
        <p:nvSpPr>
          <p:cNvPr id="18" name="Shape 16"/>
          <p:cNvSpPr/>
          <p:nvPr/>
        </p:nvSpPr>
        <p:spPr>
          <a:xfrm>
            <a:off x="6205576" y="2322576"/>
            <a:ext cx="2563292" cy="1700784"/>
          </a:xfrm>
          <a:prstGeom prst="roundRect">
            <a:avLst>
              <a:gd name="adj" fmla="val 2688"/>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19" name="Shape 17"/>
          <p:cNvSpPr/>
          <p:nvPr/>
        </p:nvSpPr>
        <p:spPr>
          <a:xfrm>
            <a:off x="6425032" y="2505456"/>
            <a:ext cx="310896" cy="310896"/>
          </a:xfrm>
          <a:prstGeom prst="ellipse">
            <a:avLst/>
          </a:prstGeom>
          <a:solidFill>
            <a:srgbClr val="A93B2B"/>
          </a:solidFill>
          <a:ln w="6350">
            <a:solidFill>
              <a:srgbClr val="A93B2B"/>
            </a:solidFill>
            <a:prstDash val="solid"/>
          </a:ln>
        </p:spPr>
        <p:txBody>
          <a:bodyPr/>
          <a:lstStyle/>
          <a:p>
            <a:endParaRPr lang="en-US"/>
          </a:p>
        </p:txBody>
      </p:sp>
      <p:sp>
        <p:nvSpPr>
          <p:cNvPr id="20" name="Text 18"/>
          <p:cNvSpPr/>
          <p:nvPr/>
        </p:nvSpPr>
        <p:spPr>
          <a:xfrm>
            <a:off x="6425032" y="2505456"/>
            <a:ext cx="310896"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21" name="Text 19"/>
          <p:cNvSpPr/>
          <p:nvPr/>
        </p:nvSpPr>
        <p:spPr>
          <a:xfrm>
            <a:off x="6809080" y="2487168"/>
            <a:ext cx="1740332" cy="347472"/>
          </a:xfrm>
          <a:prstGeom prst="rect">
            <a:avLst/>
          </a:prstGeom>
          <a:noFill/>
          <a:ln/>
        </p:spPr>
        <p:txBody>
          <a:bodyPr wrap="square" lIns="0" tIns="0" rIns="0" bIns="0" rtlCol="0" anchor="ctr"/>
          <a:lstStyle/>
          <a:p>
            <a:pPr marL="0" indent="0">
              <a:lnSpc>
                <a:spcPct val="100000"/>
              </a:lnSpc>
              <a:buNone/>
            </a:pPr>
            <a:r>
              <a:rPr lang="en-US" sz="1200" b="1" dirty="0">
                <a:solidFill>
                  <a:srgbClr val="A93B2B"/>
                </a:solidFill>
                <a:latin typeface="Cambria" pitchFamily="34" charset="0"/>
                <a:ea typeface="Cambria" pitchFamily="34" charset="-122"/>
                <a:cs typeface="Cambria" pitchFamily="34" charset="-120"/>
              </a:rPr>
              <a:t>Barrier crossed</a:t>
            </a:r>
            <a:endParaRPr lang="en-US" sz="1200" dirty="0"/>
          </a:p>
        </p:txBody>
      </p:sp>
      <p:sp>
        <p:nvSpPr>
          <p:cNvPr id="22" name="Text 20"/>
          <p:cNvSpPr/>
          <p:nvPr/>
        </p:nvSpPr>
        <p:spPr>
          <a:xfrm>
            <a:off x="6443320" y="2907792"/>
            <a:ext cx="2087804" cy="1005840"/>
          </a:xfrm>
          <a:prstGeom prst="rect">
            <a:avLst/>
          </a:prstGeom>
          <a:noFill/>
          <a:ln/>
        </p:spPr>
        <p:txBody>
          <a:bodyPr wrap="square" lIns="0" tIns="0" rIns="0" bIns="0" rtlCol="0" anchor="t"/>
          <a:lstStyle/>
          <a:p>
            <a:pPr marL="0" indent="0">
              <a:lnSpc>
                <a:spcPct val="106000"/>
              </a:lnSpc>
              <a:buNone/>
            </a:pPr>
            <a:r>
              <a:rPr lang="en-US" sz="1000" dirty="0">
                <a:solidFill>
                  <a:srgbClr val="5C4034"/>
                </a:solidFill>
                <a:latin typeface="Calibri" pitchFamily="34" charset="0"/>
                <a:ea typeface="Calibri" pitchFamily="34" charset="-122"/>
                <a:cs typeface="Calibri" pitchFamily="34" charset="-120"/>
              </a:rPr>
              <a:t>The repeated sequence may cross an approval, a write, a handoff, or a commit boundary. These are hard barriers, not costs to trade off against a saving.</a:t>
            </a:r>
            <a:endParaRPr lang="en-US" sz="1000" dirty="0"/>
          </a:p>
        </p:txBody>
      </p:sp>
      <p:sp>
        <p:nvSpPr>
          <p:cNvPr id="23" name="Shape 21"/>
          <p:cNvSpPr/>
          <p:nvPr/>
        </p:nvSpPr>
        <p:spPr>
          <a:xfrm>
            <a:off x="8988323" y="2322576"/>
            <a:ext cx="2563292" cy="1700784"/>
          </a:xfrm>
          <a:prstGeom prst="roundRect">
            <a:avLst>
              <a:gd name="adj" fmla="val 2688"/>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24" name="Shape 22"/>
          <p:cNvSpPr/>
          <p:nvPr/>
        </p:nvSpPr>
        <p:spPr>
          <a:xfrm>
            <a:off x="9207779" y="2505456"/>
            <a:ext cx="310896" cy="310896"/>
          </a:xfrm>
          <a:prstGeom prst="ellipse">
            <a:avLst/>
          </a:prstGeom>
          <a:solidFill>
            <a:srgbClr val="A93B2B"/>
          </a:solidFill>
          <a:ln w="6350">
            <a:solidFill>
              <a:srgbClr val="A93B2B"/>
            </a:solidFill>
            <a:prstDash val="solid"/>
          </a:ln>
        </p:spPr>
        <p:txBody>
          <a:bodyPr/>
          <a:lstStyle/>
          <a:p>
            <a:endParaRPr lang="en-US"/>
          </a:p>
        </p:txBody>
      </p:sp>
      <p:sp>
        <p:nvSpPr>
          <p:cNvPr id="25" name="Text 23"/>
          <p:cNvSpPr/>
          <p:nvPr/>
        </p:nvSpPr>
        <p:spPr>
          <a:xfrm>
            <a:off x="9207779" y="2505456"/>
            <a:ext cx="310896"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26" name="Text 24"/>
          <p:cNvSpPr/>
          <p:nvPr/>
        </p:nvSpPr>
        <p:spPr>
          <a:xfrm>
            <a:off x="9591827" y="2487168"/>
            <a:ext cx="1740332" cy="347472"/>
          </a:xfrm>
          <a:prstGeom prst="rect">
            <a:avLst/>
          </a:prstGeom>
          <a:noFill/>
          <a:ln/>
        </p:spPr>
        <p:txBody>
          <a:bodyPr wrap="square" lIns="0" tIns="0" rIns="0" bIns="0" rtlCol="0" anchor="ctr"/>
          <a:lstStyle/>
          <a:p>
            <a:pPr marL="0" indent="0">
              <a:lnSpc>
                <a:spcPct val="100000"/>
              </a:lnSpc>
              <a:buNone/>
            </a:pPr>
            <a:r>
              <a:rPr lang="en-US" sz="1200" b="1" dirty="0">
                <a:solidFill>
                  <a:srgbClr val="A93B2B"/>
                </a:solidFill>
                <a:latin typeface="Cambria" pitchFamily="34" charset="0"/>
                <a:ea typeface="Cambria" pitchFamily="34" charset="-122"/>
                <a:cs typeface="Cambria" pitchFamily="34" charset="-120"/>
              </a:rPr>
              <a:t>Drift on the next input</a:t>
            </a:r>
            <a:endParaRPr lang="en-US" sz="1200" dirty="0"/>
          </a:p>
        </p:txBody>
      </p:sp>
      <p:sp>
        <p:nvSpPr>
          <p:cNvPr id="27" name="Text 25"/>
          <p:cNvSpPr/>
          <p:nvPr/>
        </p:nvSpPr>
        <p:spPr>
          <a:xfrm>
            <a:off x="9226067" y="2907792"/>
            <a:ext cx="2087804" cy="1005840"/>
          </a:xfrm>
          <a:prstGeom prst="rect">
            <a:avLst/>
          </a:prstGeom>
          <a:noFill/>
          <a:ln/>
        </p:spPr>
        <p:txBody>
          <a:bodyPr wrap="square" lIns="0" tIns="0" rIns="0" bIns="0" rtlCol="0" anchor="t"/>
          <a:lstStyle/>
          <a:p>
            <a:pPr marL="0" indent="0">
              <a:lnSpc>
                <a:spcPct val="106000"/>
              </a:lnSpc>
              <a:buNone/>
            </a:pPr>
            <a:r>
              <a:rPr lang="en-US" sz="1000" dirty="0">
                <a:solidFill>
                  <a:srgbClr val="5C4034"/>
                </a:solidFill>
                <a:latin typeface="Calibri" pitchFamily="34" charset="0"/>
                <a:ea typeface="Calibri" pitchFamily="34" charset="-122"/>
                <a:cs typeface="Calibri" pitchFamily="34" charset="-120"/>
              </a:rPr>
              <a:t>An input resembling the training trace may violate a permission, freshness, or schema constraint that held when that trace was recorded.</a:t>
            </a:r>
            <a:endParaRPr lang="en-US" sz="1000" dirty="0"/>
          </a:p>
        </p:txBody>
      </p:sp>
      <p:sp>
        <p:nvSpPr>
          <p:cNvPr id="28" name="Shape 26"/>
          <p:cNvSpPr/>
          <p:nvPr/>
        </p:nvSpPr>
        <p:spPr>
          <a:xfrm>
            <a:off x="640080" y="4261104"/>
            <a:ext cx="5291176" cy="1371600"/>
          </a:xfrm>
          <a:prstGeom prst="roundRect">
            <a:avLst>
              <a:gd name="adj" fmla="val 3333"/>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29" name="Text 27"/>
          <p:cNvSpPr/>
          <p:nvPr/>
        </p:nvSpPr>
        <p:spPr>
          <a:xfrm>
            <a:off x="896112" y="4389120"/>
            <a:ext cx="4779112" cy="274320"/>
          </a:xfrm>
          <a:prstGeom prst="rect">
            <a:avLst/>
          </a:prstGeom>
          <a:noFill/>
          <a:ln/>
        </p:spPr>
        <p:txBody>
          <a:bodyPr wrap="square" lIns="0" tIns="0" rIns="0" bIns="0" rtlCol="0" anchor="t"/>
          <a:lstStyle/>
          <a:p>
            <a:pPr marL="0" indent="0">
              <a:buNone/>
            </a:pPr>
            <a:r>
              <a:rPr lang="en-US" sz="1250" b="1" dirty="0">
                <a:solidFill>
                  <a:srgbClr val="0E1E3A"/>
                </a:solidFill>
                <a:latin typeface="Cambria" pitchFamily="34" charset="0"/>
                <a:ea typeface="Cambria" pitchFamily="34" charset="-122"/>
                <a:cs typeface="Cambria" pitchFamily="34" charset="-120"/>
              </a:rPr>
              <a:t>What a trace does establish</a:t>
            </a:r>
            <a:endParaRPr lang="en-US" sz="1250" dirty="0"/>
          </a:p>
        </p:txBody>
      </p:sp>
      <p:sp>
        <p:nvSpPr>
          <p:cNvPr id="30" name="Text 28"/>
          <p:cNvSpPr/>
          <p:nvPr/>
        </p:nvSpPr>
        <p:spPr>
          <a:xfrm>
            <a:off x="896112" y="4681728"/>
            <a:ext cx="4779112" cy="859536"/>
          </a:xfrm>
          <a:prstGeom prst="rect">
            <a:avLst/>
          </a:prstGeom>
          <a:noFill/>
          <a:ln/>
        </p:spPr>
        <p:txBody>
          <a:bodyPr wrap="square" lIns="0" tIns="0" rIns="0" bIns="0" rtlCol="0" anchor="t"/>
          <a:lstStyle/>
          <a:p>
            <a:pPr marL="0" indent="0">
              <a:lnSpc>
                <a:spcPct val="107000"/>
              </a:lnSpc>
              <a:buNone/>
            </a:pPr>
            <a:r>
              <a:rPr lang="en-US" sz="1100" dirty="0">
                <a:solidFill>
                  <a:srgbClr val="24354F"/>
                </a:solidFill>
                <a:latin typeface="Calibri" pitchFamily="34" charset="0"/>
                <a:ea typeface="Calibri" pitchFamily="34" charset="-122"/>
                <a:cs typeface="Calibri" pitchFamily="34" charset="-120"/>
              </a:rPr>
              <a:t>That a region recurs, with the same tool signatures, dependency topology, run shape, and live-in/out shape across independent scenario groups. That is a mining result, and it is what prior trace-based systems consume.</a:t>
            </a:r>
            <a:endParaRPr lang="en-US" sz="1100" dirty="0"/>
          </a:p>
        </p:txBody>
      </p:sp>
      <p:sp>
        <p:nvSpPr>
          <p:cNvPr id="31" name="Shape 29"/>
          <p:cNvSpPr/>
          <p:nvPr/>
        </p:nvSpPr>
        <p:spPr>
          <a:xfrm>
            <a:off x="6260440" y="4261104"/>
            <a:ext cx="5291176" cy="1371600"/>
          </a:xfrm>
          <a:prstGeom prst="roundRect">
            <a:avLst>
              <a:gd name="adj" fmla="val 3333"/>
            </a:avLst>
          </a:prstGeom>
          <a:solidFill>
            <a:srgbClr val="E8F4F5"/>
          </a:solidFill>
          <a:ln w="9525">
            <a:solidFill>
              <a:srgbClr val="CFE4E7"/>
            </a:solidFill>
            <a:prstDash val="solid"/>
          </a:ln>
          <a:effectLst>
            <a:outerShdw blurRad="114300" dist="17780" dir="5400000" algn="bl" rotWithShape="0">
              <a:srgbClr val="94A6BC">
                <a:alpha val="15000"/>
              </a:srgbClr>
            </a:outerShdw>
          </a:effectLst>
        </p:spPr>
        <p:txBody>
          <a:bodyPr/>
          <a:lstStyle/>
          <a:p>
            <a:endParaRPr lang="en-US"/>
          </a:p>
        </p:txBody>
      </p:sp>
      <p:sp>
        <p:nvSpPr>
          <p:cNvPr id="32" name="Text 30"/>
          <p:cNvSpPr/>
          <p:nvPr/>
        </p:nvSpPr>
        <p:spPr>
          <a:xfrm>
            <a:off x="6516472" y="4389120"/>
            <a:ext cx="4779112" cy="274320"/>
          </a:xfrm>
          <a:prstGeom prst="rect">
            <a:avLst/>
          </a:prstGeom>
          <a:noFill/>
          <a:ln/>
        </p:spPr>
        <p:txBody>
          <a:bodyPr wrap="square" lIns="0" tIns="0" rIns="0" bIns="0" rtlCol="0" anchor="t"/>
          <a:lstStyle/>
          <a:p>
            <a:pPr marL="0" indent="0">
              <a:buNone/>
            </a:pPr>
            <a:r>
              <a:rPr lang="en-US" sz="1250" b="1" dirty="0">
                <a:solidFill>
                  <a:srgbClr val="1F8A99"/>
                </a:solidFill>
                <a:latin typeface="Cambria" pitchFamily="34" charset="0"/>
                <a:ea typeface="Cambria" pitchFamily="34" charset="-122"/>
                <a:cs typeface="Cambria" pitchFamily="34" charset="-120"/>
              </a:rPr>
              <a:t>What a compiler must additionally establish</a:t>
            </a:r>
            <a:endParaRPr lang="en-US" sz="1250" dirty="0"/>
          </a:p>
        </p:txBody>
      </p:sp>
      <p:sp>
        <p:nvSpPr>
          <p:cNvPr id="33" name="Text 31"/>
          <p:cNvSpPr/>
          <p:nvPr/>
        </p:nvSpPr>
        <p:spPr>
          <a:xfrm>
            <a:off x="6516472" y="4681728"/>
            <a:ext cx="4779112" cy="859536"/>
          </a:xfrm>
          <a:prstGeom prst="rect">
            <a:avLst/>
          </a:prstGeom>
          <a:noFill/>
          <a:ln/>
        </p:spPr>
        <p:txBody>
          <a:bodyPr wrap="square" lIns="0" tIns="0" rIns="0" bIns="0" rtlCol="0" anchor="t"/>
          <a:lstStyle/>
          <a:p>
            <a:pPr marL="0" indent="0">
              <a:lnSpc>
                <a:spcPct val="107000"/>
              </a:lnSpc>
              <a:buNone/>
            </a:pPr>
            <a:r>
              <a:rPr lang="en-US" sz="1100" dirty="0">
                <a:solidFill>
                  <a:srgbClr val="24354F"/>
                </a:solidFill>
                <a:latin typeface="Calibri" pitchFamily="34" charset="0"/>
                <a:ea typeface="Calibri" pitchFamily="34" charset="-122"/>
                <a:cs typeface="Calibri" pitchFamily="34" charset="-120"/>
              </a:rPr>
              <a:t>That every argument is grounded in observable state, that each tool's declared effects permit speculative execution, and that the residual error rate of the specialized region carries a finite-sample bound. The missing argument, not the missing optimizer.</a:t>
            </a:r>
            <a:endParaRPr lang="en-US" sz="1100" dirty="0"/>
          </a:p>
        </p:txBody>
      </p:sp>
      <p:sp>
        <p:nvSpPr>
          <p:cNvPr id="34" name="Text 32"/>
          <p:cNvSpPr/>
          <p:nvPr/>
        </p:nvSpPr>
        <p:spPr>
          <a:xfrm>
            <a:off x="640080" y="5797296"/>
            <a:ext cx="10911535" cy="310896"/>
          </a:xfrm>
          <a:prstGeom prst="rect">
            <a:avLst/>
          </a:prstGeom>
          <a:noFill/>
          <a:ln/>
        </p:spPr>
        <p:txBody>
          <a:bodyPr wrap="square" lIns="0" tIns="0" rIns="0" bIns="0" rtlCol="0" anchor="t"/>
          <a:lstStyle/>
          <a:p>
            <a:pPr marL="0" indent="0">
              <a:buNone/>
            </a:pPr>
            <a:r>
              <a:rPr lang="en-US" sz="1050" i="1" dirty="0">
                <a:solidFill>
                  <a:srgbClr val="5A6B84"/>
                </a:solidFill>
                <a:latin typeface="Calibri" pitchFamily="34" charset="0"/>
                <a:ea typeface="Calibri" pitchFamily="34" charset="-122"/>
                <a:cs typeface="Calibri" pitchFamily="34" charset="-120"/>
              </a:rPr>
              <a:t>Deleting a model decision is a semantic change, not a memoization — which is why each hazard is checked structurally, and why no amount of statistical evidence can override a barrier hit.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3</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RELATED WORK  ·  §6 AND §7.1  ·  TABLE 8</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Positioning: “admission” is how a candidate rewrite is permitted</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170432"/>
          <a:ext cx="10908792" cy="2816352"/>
        </p:xfrm>
        <a:graphic>
          <a:graphicData uri="http://schemas.openxmlformats.org/drawingml/2006/table">
            <a:tbl>
              <a:tblPr/>
              <a:tblGrid>
                <a:gridCol w="160020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423160">
                  <a:extLst>
                    <a:ext uri="{9D8B030D-6E8A-4147-A177-3AD203B41FA5}">
                      <a16:colId xmlns:a16="http://schemas.microsoft.com/office/drawing/2014/main" val="20002"/>
                    </a:ext>
                  </a:extLst>
                </a:gridCol>
                <a:gridCol w="2148840">
                  <a:extLst>
                    <a:ext uri="{9D8B030D-6E8A-4147-A177-3AD203B41FA5}">
                      <a16:colId xmlns:a16="http://schemas.microsoft.com/office/drawing/2014/main" val="20003"/>
                    </a:ext>
                  </a:extLst>
                </a:gridCol>
                <a:gridCol w="2404872">
                  <a:extLst>
                    <a:ext uri="{9D8B030D-6E8A-4147-A177-3AD203B41FA5}">
                      <a16:colId xmlns:a16="http://schemas.microsoft.com/office/drawing/2014/main" val="20004"/>
                    </a:ext>
                  </a:extLst>
                </a:gridCol>
              </a:tblGrid>
              <a:tr h="256032">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System</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0E1E3A"/>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Source</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0E1E3A"/>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Rewrite target</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0E1E3A"/>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Hard safety</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0E1E3A"/>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Admission</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0E1E3A"/>
                    </a:solidFill>
                  </a:tcPr>
                </a:tc>
                <a:extLst>
                  <a:ext uri="{0D108BD9-81ED-4DB2-BD59-A6C34878D82A}">
                    <a16:rowId xmlns:a16="http://schemas.microsoft.com/office/drawing/2014/main" val="10000"/>
                  </a:ext>
                </a:extLst>
              </a:tr>
              <a:tr h="256032">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LLMCompiler</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Current-query scheduling</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Parallel tool calls</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extLst>
                  <a:ext uri="{0D108BD9-81ED-4DB2-BD59-A6C34878D82A}">
                    <a16:rowId xmlns:a16="http://schemas.microsoft.com/office/drawing/2014/main" val="10001"/>
                  </a:ext>
                </a:extLst>
              </a:tr>
              <a:tr h="256032">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DSPy / MIPRO</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Prompt / program parameters</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Metric optimization</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56032">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GEPA</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Execution + evaluation traces</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Reflective prompt evolution</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Held-out metric + Pareto</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extLst>
                  <a:ext uri="{0D108BD9-81ED-4DB2-BD59-A6C34878D82A}">
                    <a16:rowId xmlns:a16="http://schemas.microsoft.com/office/drawing/2014/main" val="10003"/>
                  </a:ext>
                </a:extLst>
              </a:tr>
              <a:tr h="256032">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AgentSlimming</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Multi-agent graph</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Node pruning / quantization</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Baseline rule</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56032">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AWO</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Trace tool sequences</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Deterministic meta-tools</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Empirical</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extLst>
                  <a:ext uri="{0D108BD9-81ED-4DB2-BD59-A6C34878D82A}">
                    <a16:rowId xmlns:a16="http://schemas.microsoft.com/office/drawing/2014/main" val="10005"/>
                  </a:ext>
                </a:extLst>
              </a:tr>
              <a:tr h="256032">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Agent JIT</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Task description</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Validated code + schedule</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Tool pre/post invariants</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Candidate validation</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56032">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EvoC2F</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Plan IR + trajectories</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DAG compiler + macro-skills</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Effects + resources</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Tests + contracts</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extLst>
                  <a:ext uri="{0D108BD9-81ED-4DB2-BD59-A6C34878D82A}">
                    <a16:rowId xmlns:a16="http://schemas.microsoft.com/office/drawing/2014/main" val="10007"/>
                  </a:ext>
                </a:extLst>
              </a:tr>
              <a:tr h="256032">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FlowCompile</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Declared workflow</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Configuration Pareto set</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No</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Profiled</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56032">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COVENANT</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Declared policy</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Workflow CFG</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Effects</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buNone/>
                      </a:pPr>
                      <a:r>
                        <a:rPr lang="en-US" sz="900" dirty="0">
                          <a:solidFill>
                            <a:srgbClr val="24354F"/>
                          </a:solidFill>
                          <a:latin typeface="Calibri" pitchFamily="34" charset="0"/>
                          <a:ea typeface="Calibri" pitchFamily="34" charset="-122"/>
                          <a:cs typeface="Calibri" pitchFamily="34" charset="-120"/>
                        </a:rPr>
                        <a:t>Runtime checks</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extLst>
                  <a:ext uri="{0D108BD9-81ED-4DB2-BD59-A6C34878D82A}">
                    <a16:rowId xmlns:a16="http://schemas.microsoft.com/office/drawing/2014/main" val="10009"/>
                  </a:ext>
                </a:extLst>
              </a:tr>
              <a:tr h="256032">
                <a:tc>
                  <a:txBody>
                    <a:bodyPr/>
                    <a:lstStyle/>
                    <a:p>
                      <a:pPr marL="0" indent="0">
                        <a:buNone/>
                      </a:pPr>
                      <a:r>
                        <a:rPr lang="en-US" sz="900" b="1" dirty="0">
                          <a:solidFill>
                            <a:srgbClr val="0E1E3A"/>
                          </a:solidFill>
                          <a:latin typeface="Calibri" pitchFamily="34" charset="0"/>
                          <a:ea typeface="Calibri" pitchFamily="34" charset="-122"/>
                          <a:cs typeface="Calibri" pitchFamily="34" charset="-120"/>
                        </a:rPr>
                        <a:t>GAC (ours)</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E8F4F5"/>
                    </a:solidFill>
                  </a:tcPr>
                </a:tc>
                <a:tc>
                  <a:txBody>
                    <a:bodyPr/>
                    <a:lstStyle/>
                    <a:p>
                      <a:pPr marL="0" indent="0">
                        <a:buNone/>
                      </a:pPr>
                      <a:r>
                        <a:rPr lang="en-US" sz="900" b="1" dirty="0">
                          <a:solidFill>
                            <a:srgbClr val="0E1E3A"/>
                          </a:solidFill>
                          <a:latin typeface="Calibri" pitchFamily="34" charset="0"/>
                          <a:ea typeface="Calibri" pitchFamily="34" charset="-122"/>
                          <a:cs typeface="Calibri" pitchFamily="34" charset="-120"/>
                        </a:rPr>
                        <a:t>Observed value flow</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E8F4F5"/>
                    </a:solidFill>
                  </a:tcPr>
                </a:tc>
                <a:tc>
                  <a:txBody>
                    <a:bodyPr/>
                    <a:lstStyle/>
                    <a:p>
                      <a:pPr marL="0" indent="0">
                        <a:buNone/>
                      </a:pPr>
                      <a:r>
                        <a:rPr lang="en-US" sz="900" b="1" dirty="0">
                          <a:solidFill>
                            <a:srgbClr val="0E1E3A"/>
                          </a:solidFill>
                          <a:latin typeface="Calibri" pitchFamily="34" charset="0"/>
                          <a:ea typeface="Calibri" pitchFamily="34" charset="-122"/>
                          <a:cs typeface="Calibri" pitchFamily="34" charset="-120"/>
                        </a:rPr>
                        <a:t>Decision-eliding program</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E8F4F5"/>
                    </a:solidFill>
                  </a:tcPr>
                </a:tc>
                <a:tc>
                  <a:txBody>
                    <a:bodyPr/>
                    <a:lstStyle/>
                    <a:p>
                      <a:pPr marL="0" indent="0">
                        <a:buNone/>
                      </a:pPr>
                      <a:r>
                        <a:rPr lang="en-US" sz="900" b="1" dirty="0">
                          <a:solidFill>
                            <a:srgbClr val="0E1E3A"/>
                          </a:solidFill>
                          <a:latin typeface="Calibri" pitchFamily="34" charset="0"/>
                          <a:ea typeface="Calibri" pitchFamily="34" charset="-122"/>
                          <a:cs typeface="Calibri" pitchFamily="34" charset="-120"/>
                        </a:rPr>
                        <a:t>Provenance + effects</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E8F4F5"/>
                    </a:solidFill>
                  </a:tcPr>
                </a:tc>
                <a:tc>
                  <a:txBody>
                    <a:bodyPr/>
                    <a:lstStyle/>
                    <a:p>
                      <a:pPr marL="0" indent="0">
                        <a:buNone/>
                      </a:pPr>
                      <a:r>
                        <a:rPr lang="en-US" sz="900" b="1" dirty="0">
                          <a:solidFill>
                            <a:srgbClr val="0E1E3A"/>
                          </a:solidFill>
                          <a:latin typeface="Calibri" pitchFamily="34" charset="0"/>
                          <a:ea typeface="Calibri" pitchFamily="34" charset="-122"/>
                          <a:cs typeface="Calibri" pitchFamily="34" charset="-120"/>
                        </a:rPr>
                        <a:t>Exact selective bound</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E8F4F5"/>
                    </a:solidFill>
                  </a:tcPr>
                </a:tc>
                <a:extLst>
                  <a:ext uri="{0D108BD9-81ED-4DB2-BD59-A6C34878D82A}">
                    <a16:rowId xmlns:a16="http://schemas.microsoft.com/office/drawing/2014/main" val="10010"/>
                  </a:ext>
                </a:extLst>
              </a:tr>
            </a:tbl>
          </a:graphicData>
        </a:graphic>
      </p:graphicFrame>
      <p:sp>
        <p:nvSpPr>
          <p:cNvPr id="7" name="Shape 4"/>
          <p:cNvSpPr/>
          <p:nvPr/>
        </p:nvSpPr>
        <p:spPr>
          <a:xfrm>
            <a:off x="640080" y="4279392"/>
            <a:ext cx="5291176" cy="1609344"/>
          </a:xfrm>
          <a:prstGeom prst="roundRect">
            <a:avLst>
              <a:gd name="adj" fmla="val 2841"/>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8" name="Text 5"/>
          <p:cNvSpPr/>
          <p:nvPr/>
        </p:nvSpPr>
        <p:spPr>
          <a:xfrm>
            <a:off x="896112" y="4407408"/>
            <a:ext cx="4779112" cy="274320"/>
          </a:xfrm>
          <a:prstGeom prst="rect">
            <a:avLst/>
          </a:prstGeom>
          <a:noFill/>
          <a:ln/>
        </p:spPr>
        <p:txBody>
          <a:bodyPr wrap="square" lIns="0" tIns="0" rIns="0" bIns="0" rtlCol="0" anchor="t"/>
          <a:lstStyle/>
          <a:p>
            <a:pPr marL="0" indent="0">
              <a:buNone/>
            </a:pPr>
            <a:r>
              <a:rPr lang="en-US" sz="1250" b="1" dirty="0">
                <a:solidFill>
                  <a:srgbClr val="A93B2B"/>
                </a:solidFill>
                <a:latin typeface="Cambria" pitchFamily="34" charset="0"/>
                <a:ea typeface="Cambria" pitchFamily="34" charset="-122"/>
                <a:cs typeface="Cambria" pitchFamily="34" charset="-120"/>
              </a:rPr>
              <a:t>What is not claimed as novel</a:t>
            </a:r>
            <a:endParaRPr lang="en-US" sz="1250" dirty="0"/>
          </a:p>
        </p:txBody>
      </p:sp>
      <p:sp>
        <p:nvSpPr>
          <p:cNvPr id="9" name="Text 6"/>
          <p:cNvSpPr/>
          <p:nvPr/>
        </p:nvSpPr>
        <p:spPr>
          <a:xfrm>
            <a:off x="896112" y="4700016"/>
            <a:ext cx="4779112" cy="1097280"/>
          </a:xfrm>
          <a:prstGeom prst="rect">
            <a:avLst/>
          </a:prstGeom>
          <a:noFill/>
          <a:ln/>
        </p:spPr>
        <p:txBody>
          <a:bodyPr wrap="square" lIns="0" tIns="0" rIns="0" bIns="0" rtlCol="0" anchor="t"/>
          <a:lstStyle/>
          <a:p>
            <a:pPr marL="0" indent="0">
              <a:lnSpc>
                <a:spcPct val="105000"/>
              </a:lnSpc>
              <a:buNone/>
            </a:pPr>
            <a:r>
              <a:rPr lang="en-US" sz="950" dirty="0">
                <a:solidFill>
                  <a:srgbClr val="5C4034"/>
                </a:solidFill>
                <a:latin typeface="Calibri" pitchFamily="34" charset="0"/>
                <a:ea typeface="Calibri" pitchFamily="34" charset="-122"/>
                <a:cs typeface="Calibri" pitchFamily="34" charset="-120"/>
              </a:rPr>
              <a:t>Generic agent compilation is occupied territory. We claim none of: the first agent compiler, the first trace-derived workflow, the first deterministic macro, the first effect-aware agent IR, or the first observation that token and cost reduction diverge. Agent JIT and EvoC2F are closer compiler comparators than prompt-only optimizers, and these experiments establish superiority to neither — AWO, AWM, LLMCompiler, FlowCompile and plan caching were not re-implemented.</a:t>
            </a:r>
            <a:endParaRPr lang="en-US" sz="950" dirty="0"/>
          </a:p>
        </p:txBody>
      </p:sp>
      <p:sp>
        <p:nvSpPr>
          <p:cNvPr id="10" name="Shape 7"/>
          <p:cNvSpPr/>
          <p:nvPr/>
        </p:nvSpPr>
        <p:spPr>
          <a:xfrm>
            <a:off x="6260440" y="4279392"/>
            <a:ext cx="5291176" cy="1609344"/>
          </a:xfrm>
          <a:prstGeom prst="roundRect">
            <a:avLst>
              <a:gd name="adj" fmla="val 2841"/>
            </a:avLst>
          </a:prstGeom>
          <a:solidFill>
            <a:srgbClr val="E8F4F5"/>
          </a:solidFill>
          <a:ln w="9525">
            <a:solidFill>
              <a:srgbClr val="CFE4E7"/>
            </a:solidFill>
            <a:prstDash val="solid"/>
          </a:ln>
          <a:effectLst>
            <a:outerShdw blurRad="114300" dist="17780" dir="5400000" algn="bl" rotWithShape="0">
              <a:srgbClr val="94A6BC">
                <a:alpha val="15000"/>
              </a:srgbClr>
            </a:outerShdw>
          </a:effectLst>
        </p:spPr>
        <p:txBody>
          <a:bodyPr/>
          <a:lstStyle/>
          <a:p>
            <a:endParaRPr lang="en-US"/>
          </a:p>
        </p:txBody>
      </p:sp>
      <p:sp>
        <p:nvSpPr>
          <p:cNvPr id="11" name="Text 8"/>
          <p:cNvSpPr/>
          <p:nvPr/>
        </p:nvSpPr>
        <p:spPr>
          <a:xfrm>
            <a:off x="6516472" y="4407408"/>
            <a:ext cx="4779112" cy="274320"/>
          </a:xfrm>
          <a:prstGeom prst="rect">
            <a:avLst/>
          </a:prstGeom>
          <a:noFill/>
          <a:ln/>
        </p:spPr>
        <p:txBody>
          <a:bodyPr wrap="square" lIns="0" tIns="0" rIns="0" bIns="0" rtlCol="0" anchor="t"/>
          <a:lstStyle/>
          <a:p>
            <a:pPr marL="0" indent="0">
              <a:buNone/>
            </a:pPr>
            <a:r>
              <a:rPr lang="en-US" sz="1250" b="1" dirty="0">
                <a:solidFill>
                  <a:srgbClr val="1F8A99"/>
                </a:solidFill>
                <a:latin typeface="Cambria" pitchFamily="34" charset="0"/>
                <a:ea typeface="Cambria" pitchFamily="34" charset="-122"/>
                <a:cs typeface="Cambria" pitchFamily="34" charset="-120"/>
              </a:rPr>
              <a:t>The comparative statement</a:t>
            </a:r>
            <a:endParaRPr lang="en-US" sz="1250" dirty="0"/>
          </a:p>
        </p:txBody>
      </p:sp>
      <p:sp>
        <p:nvSpPr>
          <p:cNvPr id="12" name="Text 9"/>
          <p:cNvSpPr/>
          <p:nvPr/>
        </p:nvSpPr>
        <p:spPr>
          <a:xfrm>
            <a:off x="6516472" y="4700016"/>
            <a:ext cx="4779112" cy="1097280"/>
          </a:xfrm>
          <a:prstGeom prst="rect">
            <a:avLst/>
          </a:prstGeom>
          <a:noFill/>
          <a:ln/>
        </p:spPr>
        <p:txBody>
          <a:bodyPr wrap="square" lIns="0" tIns="0" rIns="0" bIns="0" rtlCol="0" anchor="t"/>
          <a:lstStyle/>
          <a:p>
            <a:pPr marL="0" indent="0">
              <a:lnSpc>
                <a:spcPct val="105000"/>
              </a:lnSpc>
              <a:buNone/>
            </a:pPr>
            <a:r>
              <a:rPr lang="en-US" sz="950" dirty="0">
                <a:solidFill>
                  <a:srgbClr val="24354F"/>
                </a:solidFill>
                <a:latin typeface="Calibri" pitchFamily="34" charset="0"/>
                <a:ea typeface="Calibri" pitchFamily="34" charset="-122"/>
                <a:cs typeface="Calibri" pitchFamily="34" charset="-120"/>
              </a:rPr>
              <a:t>GAC is a tracing JIT whose guard must certify things a compiler's guard never had to. A classical guard checks types and shapes; this one must additionally establish that every argument is grounded in observable state, that each tool's declared effects permit speculation, and that the residual error rate of the specialized region carries a finite-sample bound. Each of the five elements has predecessors — the contribution is that an agent guard needs all five at once, and the finite-sample element is currently the weakest.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4</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SCOPE</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The research problem, and what the paper claims</a:t>
            </a:r>
            <a:endParaRPr lang="en-US" sz="2600" dirty="0"/>
          </a:p>
        </p:txBody>
      </p:sp>
      <p:sp>
        <p:nvSpPr>
          <p:cNvPr id="6" name="Shape 4"/>
          <p:cNvSpPr/>
          <p:nvPr/>
        </p:nvSpPr>
        <p:spPr>
          <a:xfrm>
            <a:off x="640080" y="1243584"/>
            <a:ext cx="10911535" cy="932688"/>
          </a:xfrm>
          <a:prstGeom prst="roundRect">
            <a:avLst>
              <a:gd name="adj" fmla="val 4902"/>
            </a:avLst>
          </a:prstGeom>
          <a:solidFill>
            <a:srgbClr val="0E1E3A"/>
          </a:solidFill>
          <a:ln w="9525">
            <a:solidFill>
              <a:srgbClr val="0E1E3A"/>
            </a:solidFill>
            <a:prstDash val="solid"/>
          </a:ln>
          <a:effectLst>
            <a:outerShdw blurRad="114300" dist="17780" dir="5400000" algn="bl" rotWithShape="0">
              <a:srgbClr val="94A6BC">
                <a:alpha val="20000"/>
              </a:srgbClr>
            </a:outerShdw>
          </a:effectLst>
        </p:spPr>
        <p:txBody>
          <a:bodyPr/>
          <a:lstStyle/>
          <a:p>
            <a:endParaRPr lang="en-US"/>
          </a:p>
        </p:txBody>
      </p:sp>
      <p:sp>
        <p:nvSpPr>
          <p:cNvPr id="7" name="Text 5"/>
          <p:cNvSpPr/>
          <p:nvPr/>
        </p:nvSpPr>
        <p:spPr>
          <a:xfrm>
            <a:off x="1024128" y="1371600"/>
            <a:ext cx="10143439" cy="694944"/>
          </a:xfrm>
          <a:prstGeom prst="rect">
            <a:avLst/>
          </a:prstGeom>
          <a:noFill/>
          <a:ln/>
        </p:spPr>
        <p:txBody>
          <a:bodyPr wrap="square" lIns="0" tIns="0" rIns="0" bIns="0" rtlCol="0" anchor="ctr"/>
          <a:lstStyle/>
          <a:p>
            <a:pPr marL="0" indent="0">
              <a:lnSpc>
                <a:spcPct val="112000"/>
              </a:lnSpc>
              <a:buNone/>
            </a:pPr>
            <a:r>
              <a:rPr lang="en-US" sz="1400" i="1" dirty="0">
                <a:solidFill>
                  <a:srgbClr val="FFFFFF"/>
                </a:solidFill>
                <a:latin typeface="Cambria" pitchFamily="34" charset="0"/>
                <a:ea typeface="Cambria" pitchFamily="34" charset="-122"/>
                <a:cs typeface="Cambria" pitchFamily="34" charset="-120"/>
              </a:rPr>
              <a:t>Given historical executions of a tool-using agent, identify a deterministic region that can replace model-mediated control flow, and dispatch it only where observable evidence supports that replacement.</a:t>
            </a:r>
            <a:endParaRPr lang="en-US" sz="1400" dirty="0"/>
          </a:p>
        </p:txBody>
      </p:sp>
      <p:sp>
        <p:nvSpPr>
          <p:cNvPr id="8" name="Text 6"/>
          <p:cNvSpPr/>
          <p:nvPr/>
        </p:nvSpPr>
        <p:spPr>
          <a:xfrm>
            <a:off x="640080" y="2377440"/>
            <a:ext cx="5272888" cy="237744"/>
          </a:xfrm>
          <a:prstGeom prst="rect">
            <a:avLst/>
          </a:prstGeom>
          <a:noFill/>
          <a:ln/>
        </p:spPr>
        <p:txBody>
          <a:bodyPr wrap="square" lIns="0" tIns="0" rIns="0" bIns="0" rtlCol="0" anchor="t"/>
          <a:lstStyle/>
          <a:p>
            <a:pPr marL="0" indent="0">
              <a:buNone/>
            </a:pPr>
            <a:r>
              <a:rPr lang="en-US" sz="1050" b="1" kern="0" spc="180" dirty="0">
                <a:solidFill>
                  <a:srgbClr val="5A6B84"/>
                </a:solidFill>
                <a:latin typeface="Calibri" pitchFamily="34" charset="0"/>
                <a:ea typeface="Calibri" pitchFamily="34" charset="-122"/>
                <a:cs typeface="Calibri" pitchFamily="34" charset="-120"/>
              </a:rPr>
              <a:t>RESEARCH QUESTIONS</a:t>
            </a:r>
            <a:endParaRPr lang="en-US" sz="1050" dirty="0"/>
          </a:p>
        </p:txBody>
      </p:sp>
      <p:sp>
        <p:nvSpPr>
          <p:cNvPr id="9" name="Shape 7"/>
          <p:cNvSpPr/>
          <p:nvPr/>
        </p:nvSpPr>
        <p:spPr>
          <a:xfrm>
            <a:off x="640080" y="2651760"/>
            <a:ext cx="384048" cy="384048"/>
          </a:xfrm>
          <a:prstGeom prst="ellipse">
            <a:avLst/>
          </a:prstGeom>
          <a:solidFill>
            <a:srgbClr val="1F8A99"/>
          </a:solidFill>
          <a:ln w="6350">
            <a:solidFill>
              <a:srgbClr val="1F8A99"/>
            </a:solidFill>
            <a:prstDash val="solid"/>
          </a:ln>
        </p:spPr>
        <p:txBody>
          <a:bodyPr/>
          <a:lstStyle/>
          <a:p>
            <a:endParaRPr lang="en-US"/>
          </a:p>
        </p:txBody>
      </p:sp>
      <p:sp>
        <p:nvSpPr>
          <p:cNvPr id="10" name="Text 8"/>
          <p:cNvSpPr/>
          <p:nvPr/>
        </p:nvSpPr>
        <p:spPr>
          <a:xfrm>
            <a:off x="640080" y="2651760"/>
            <a:ext cx="384048" cy="38404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RQ1</a:t>
            </a:r>
            <a:endParaRPr lang="en-US" sz="900" dirty="0"/>
          </a:p>
        </p:txBody>
      </p:sp>
      <p:sp>
        <p:nvSpPr>
          <p:cNvPr id="11" name="Text 9"/>
          <p:cNvSpPr/>
          <p:nvPr/>
        </p:nvSpPr>
        <p:spPr>
          <a:xfrm>
            <a:off x="1170432" y="2633472"/>
            <a:ext cx="4742536" cy="566928"/>
          </a:xfrm>
          <a:prstGeom prst="rect">
            <a:avLst/>
          </a:prstGeom>
          <a:noFill/>
          <a:ln/>
        </p:spPr>
        <p:txBody>
          <a:bodyPr wrap="square" lIns="0" tIns="0" rIns="0" bIns="0" rtlCol="0" anchor="t"/>
          <a:lstStyle/>
          <a:p>
            <a:pPr marL="0" indent="0">
              <a:lnSpc>
                <a:spcPct val="104000"/>
              </a:lnSpc>
              <a:buNone/>
            </a:pPr>
            <a:r>
              <a:rPr lang="en-US" sz="1150" dirty="0">
                <a:solidFill>
                  <a:srgbClr val="24354F"/>
                </a:solidFill>
                <a:latin typeface="Calibri" pitchFamily="34" charset="0"/>
                <a:ea typeface="Calibri" pitchFamily="34" charset="-122"/>
                <a:cs typeface="Calibri" pitchFamily="34" charset="-120"/>
              </a:rPr>
              <a:t>Can typed trace provenance reconstruct the dependencies needed to synthesize recurrent tool programs?</a:t>
            </a:r>
            <a:endParaRPr lang="en-US" sz="1150" dirty="0"/>
          </a:p>
        </p:txBody>
      </p:sp>
      <p:sp>
        <p:nvSpPr>
          <p:cNvPr id="12" name="Shape 10"/>
          <p:cNvSpPr/>
          <p:nvPr/>
        </p:nvSpPr>
        <p:spPr>
          <a:xfrm>
            <a:off x="640080" y="3364992"/>
            <a:ext cx="384048" cy="384048"/>
          </a:xfrm>
          <a:prstGeom prst="ellipse">
            <a:avLst/>
          </a:prstGeom>
          <a:solidFill>
            <a:srgbClr val="1F8A99"/>
          </a:solidFill>
          <a:ln w="6350">
            <a:solidFill>
              <a:srgbClr val="1F8A99"/>
            </a:solidFill>
            <a:prstDash val="solid"/>
          </a:ln>
        </p:spPr>
        <p:txBody>
          <a:bodyPr/>
          <a:lstStyle/>
          <a:p>
            <a:endParaRPr lang="en-US"/>
          </a:p>
        </p:txBody>
      </p:sp>
      <p:sp>
        <p:nvSpPr>
          <p:cNvPr id="13" name="Text 11"/>
          <p:cNvSpPr/>
          <p:nvPr/>
        </p:nvSpPr>
        <p:spPr>
          <a:xfrm>
            <a:off x="640080" y="3364992"/>
            <a:ext cx="384048" cy="38404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RQ2</a:t>
            </a:r>
            <a:endParaRPr lang="en-US" sz="900" dirty="0"/>
          </a:p>
        </p:txBody>
      </p:sp>
      <p:sp>
        <p:nvSpPr>
          <p:cNvPr id="14" name="Text 12"/>
          <p:cNvSpPr/>
          <p:nvPr/>
        </p:nvSpPr>
        <p:spPr>
          <a:xfrm>
            <a:off x="1170432" y="3346704"/>
            <a:ext cx="4742536" cy="758952"/>
          </a:xfrm>
          <a:prstGeom prst="rect">
            <a:avLst/>
          </a:prstGeom>
          <a:noFill/>
          <a:ln/>
        </p:spPr>
        <p:txBody>
          <a:bodyPr wrap="square" lIns="0" tIns="0" rIns="0" bIns="0" rtlCol="0" anchor="t"/>
          <a:lstStyle/>
          <a:p>
            <a:pPr marL="0" indent="0">
              <a:lnSpc>
                <a:spcPct val="104000"/>
              </a:lnSpc>
              <a:buNone/>
            </a:pPr>
            <a:r>
              <a:rPr lang="en-US" sz="1150" dirty="0">
                <a:solidFill>
                  <a:srgbClr val="24354F"/>
                </a:solidFill>
                <a:latin typeface="Calibri" pitchFamily="34" charset="0"/>
                <a:ea typeface="Calibri" pitchFamily="34" charset="-122"/>
                <a:cs typeface="Calibri" pitchFamily="34" charset="-120"/>
              </a:rPr>
              <a:t>On an unseen real-record workload, how does a learned compiled prefix trade factual quality against requests, tokens, latency, and cost — relative to an unchanged agent and a hand-written composite tool?</a:t>
            </a:r>
            <a:endParaRPr lang="en-US" sz="1150" dirty="0"/>
          </a:p>
        </p:txBody>
      </p:sp>
      <p:sp>
        <p:nvSpPr>
          <p:cNvPr id="15" name="Shape 13"/>
          <p:cNvSpPr/>
          <p:nvPr/>
        </p:nvSpPr>
        <p:spPr>
          <a:xfrm>
            <a:off x="640080" y="4270248"/>
            <a:ext cx="384048" cy="384048"/>
          </a:xfrm>
          <a:prstGeom prst="ellipse">
            <a:avLst/>
          </a:prstGeom>
          <a:solidFill>
            <a:srgbClr val="1F8A99"/>
          </a:solidFill>
          <a:ln w="6350">
            <a:solidFill>
              <a:srgbClr val="1F8A99"/>
            </a:solidFill>
            <a:prstDash val="solid"/>
          </a:ln>
        </p:spPr>
        <p:txBody>
          <a:bodyPr/>
          <a:lstStyle/>
          <a:p>
            <a:endParaRPr lang="en-US"/>
          </a:p>
        </p:txBody>
      </p:sp>
      <p:sp>
        <p:nvSpPr>
          <p:cNvPr id="16" name="Text 14"/>
          <p:cNvSpPr/>
          <p:nvPr/>
        </p:nvSpPr>
        <p:spPr>
          <a:xfrm>
            <a:off x="640080" y="4270248"/>
            <a:ext cx="384048" cy="38404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RQ3</a:t>
            </a:r>
            <a:endParaRPr lang="en-US" sz="900" dirty="0"/>
          </a:p>
        </p:txBody>
      </p:sp>
      <p:sp>
        <p:nvSpPr>
          <p:cNvPr id="17" name="Text 15"/>
          <p:cNvSpPr/>
          <p:nvPr/>
        </p:nvSpPr>
        <p:spPr>
          <a:xfrm>
            <a:off x="1170432" y="4251960"/>
            <a:ext cx="4742536" cy="566928"/>
          </a:xfrm>
          <a:prstGeom prst="rect">
            <a:avLst/>
          </a:prstGeom>
          <a:noFill/>
          <a:ln/>
        </p:spPr>
        <p:txBody>
          <a:bodyPr wrap="square" lIns="0" tIns="0" rIns="0" bIns="0" rtlCol="0" anchor="t"/>
          <a:lstStyle/>
          <a:p>
            <a:pPr marL="0" indent="0">
              <a:lnSpc>
                <a:spcPct val="104000"/>
              </a:lnSpc>
              <a:buNone/>
            </a:pPr>
            <a:r>
              <a:rPr lang="en-US" sz="1150" dirty="0">
                <a:solidFill>
                  <a:srgbClr val="24354F"/>
                </a:solidFill>
                <a:latin typeface="Calibri" pitchFamily="34" charset="0"/>
                <a:ea typeface="Calibri" pitchFamily="34" charset="-122"/>
                <a:cs typeface="Calibri" pitchFamily="34" charset="-120"/>
              </a:rPr>
              <a:t>Does exact selective admission reject recurrent families when calibration support is inadequate?</a:t>
            </a:r>
            <a:endParaRPr lang="en-US" sz="1150" dirty="0"/>
          </a:p>
        </p:txBody>
      </p:sp>
      <p:sp>
        <p:nvSpPr>
          <p:cNvPr id="18" name="Shape 16"/>
          <p:cNvSpPr/>
          <p:nvPr/>
        </p:nvSpPr>
        <p:spPr>
          <a:xfrm>
            <a:off x="640080" y="4983480"/>
            <a:ext cx="384048" cy="384048"/>
          </a:xfrm>
          <a:prstGeom prst="ellipse">
            <a:avLst/>
          </a:prstGeom>
          <a:solidFill>
            <a:srgbClr val="1F8A99"/>
          </a:solidFill>
          <a:ln w="6350">
            <a:solidFill>
              <a:srgbClr val="1F8A99"/>
            </a:solidFill>
            <a:prstDash val="solid"/>
          </a:ln>
        </p:spPr>
        <p:txBody>
          <a:bodyPr/>
          <a:lstStyle/>
          <a:p>
            <a:endParaRPr lang="en-US"/>
          </a:p>
        </p:txBody>
      </p:sp>
      <p:sp>
        <p:nvSpPr>
          <p:cNvPr id="19" name="Text 17"/>
          <p:cNvSpPr/>
          <p:nvPr/>
        </p:nvSpPr>
        <p:spPr>
          <a:xfrm>
            <a:off x="640080" y="4983480"/>
            <a:ext cx="384048" cy="38404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RQ4</a:t>
            </a:r>
            <a:endParaRPr lang="en-US" sz="900" dirty="0"/>
          </a:p>
        </p:txBody>
      </p:sp>
      <p:sp>
        <p:nvSpPr>
          <p:cNvPr id="20" name="Text 18"/>
          <p:cNvSpPr/>
          <p:nvPr/>
        </p:nvSpPr>
        <p:spPr>
          <a:xfrm>
            <a:off x="1170432" y="4965192"/>
            <a:ext cx="4742536" cy="566928"/>
          </a:xfrm>
          <a:prstGeom prst="rect">
            <a:avLst/>
          </a:prstGeom>
          <a:noFill/>
          <a:ln/>
        </p:spPr>
        <p:txBody>
          <a:bodyPr wrap="square" lIns="0" tIns="0" rIns="0" bIns="0" rtlCol="0" anchor="t"/>
          <a:lstStyle/>
          <a:p>
            <a:pPr marL="0" indent="0">
              <a:lnSpc>
                <a:spcPct val="104000"/>
              </a:lnSpc>
              <a:buNone/>
            </a:pPr>
            <a:r>
              <a:rPr lang="en-US" sz="1150" dirty="0">
                <a:solidFill>
                  <a:srgbClr val="24354F"/>
                </a:solidFill>
                <a:latin typeface="Calibri" pitchFamily="34" charset="0"/>
                <a:ea typeface="Calibri" pitchFamily="34" charset="-122"/>
                <a:cs typeface="Calibri" pitchFamily="34" charset="-120"/>
              </a:rPr>
              <a:t>Which failure modes remain after structural compilation, and what does compaction not improve?</a:t>
            </a:r>
            <a:endParaRPr lang="en-US" sz="1150" dirty="0"/>
          </a:p>
        </p:txBody>
      </p:sp>
      <p:sp>
        <p:nvSpPr>
          <p:cNvPr id="21" name="Shape 19"/>
          <p:cNvSpPr/>
          <p:nvPr/>
        </p:nvSpPr>
        <p:spPr>
          <a:xfrm>
            <a:off x="640080" y="5696712"/>
            <a:ext cx="384048" cy="384048"/>
          </a:xfrm>
          <a:prstGeom prst="ellipse">
            <a:avLst/>
          </a:prstGeom>
          <a:solidFill>
            <a:srgbClr val="56B3BE"/>
          </a:solidFill>
          <a:ln w="6350">
            <a:solidFill>
              <a:srgbClr val="56B3BE"/>
            </a:solidFill>
            <a:prstDash val="solid"/>
          </a:ln>
        </p:spPr>
        <p:txBody>
          <a:bodyPr/>
          <a:lstStyle/>
          <a:p>
            <a:endParaRPr lang="en-US"/>
          </a:p>
        </p:txBody>
      </p:sp>
      <p:sp>
        <p:nvSpPr>
          <p:cNvPr id="22" name="Text 20"/>
          <p:cNvSpPr/>
          <p:nvPr/>
        </p:nvSpPr>
        <p:spPr>
          <a:xfrm>
            <a:off x="640080" y="5696712"/>
            <a:ext cx="384048" cy="384048"/>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RQ5</a:t>
            </a:r>
            <a:endParaRPr lang="en-US" sz="900" dirty="0"/>
          </a:p>
        </p:txBody>
      </p:sp>
      <p:sp>
        <p:nvSpPr>
          <p:cNvPr id="23" name="Text 21"/>
          <p:cNvSpPr/>
          <p:nvPr/>
        </p:nvSpPr>
        <p:spPr>
          <a:xfrm>
            <a:off x="1170432" y="5678424"/>
            <a:ext cx="4742536" cy="566928"/>
          </a:xfrm>
          <a:prstGeom prst="rect">
            <a:avLst/>
          </a:prstGeom>
          <a:noFill/>
          <a:ln/>
        </p:spPr>
        <p:txBody>
          <a:bodyPr wrap="square" lIns="0" tIns="0" rIns="0" bIns="0" rtlCol="0" anchor="t"/>
          <a:lstStyle/>
          <a:p>
            <a:pPr marL="0" indent="0">
              <a:lnSpc>
                <a:spcPct val="104000"/>
              </a:lnSpc>
              <a:buNone/>
            </a:pPr>
            <a:r>
              <a:rPr lang="en-US" sz="1150" dirty="0">
                <a:solidFill>
                  <a:srgbClr val="24354F"/>
                </a:solidFill>
                <a:latin typeface="Calibri" pitchFamily="34" charset="0"/>
                <a:ea typeface="Calibri" pitchFamily="34" charset="-122"/>
                <a:cs typeface="Calibri" pitchFamily="34" charset="-120"/>
              </a:rPr>
              <a:t>Can group-level paired evidence select a risk-bounded action before a fresh cohort?</a:t>
            </a:r>
            <a:endParaRPr lang="en-US" sz="1150" dirty="0"/>
          </a:p>
        </p:txBody>
      </p:sp>
      <p:sp>
        <p:nvSpPr>
          <p:cNvPr id="24" name="Text 22"/>
          <p:cNvSpPr/>
          <p:nvPr/>
        </p:nvSpPr>
        <p:spPr>
          <a:xfrm>
            <a:off x="6278728" y="2377440"/>
            <a:ext cx="5272888" cy="237744"/>
          </a:xfrm>
          <a:prstGeom prst="rect">
            <a:avLst/>
          </a:prstGeom>
          <a:noFill/>
          <a:ln/>
        </p:spPr>
        <p:txBody>
          <a:bodyPr wrap="square" lIns="0" tIns="0" rIns="0" bIns="0" rtlCol="0" anchor="t"/>
          <a:lstStyle/>
          <a:p>
            <a:pPr marL="0" indent="0">
              <a:buNone/>
            </a:pPr>
            <a:r>
              <a:rPr lang="en-US" sz="1050" b="1" kern="0" spc="180" dirty="0">
                <a:solidFill>
                  <a:srgbClr val="5A6B84"/>
                </a:solidFill>
                <a:latin typeface="Calibri" pitchFamily="34" charset="0"/>
                <a:ea typeface="Calibri" pitchFamily="34" charset="-122"/>
                <a:cs typeface="Calibri" pitchFamily="34" charset="-120"/>
              </a:rPr>
              <a:t>CONTRIBUTIONS</a:t>
            </a:r>
            <a:endParaRPr lang="en-US" sz="1050" dirty="0"/>
          </a:p>
        </p:txBody>
      </p:sp>
      <p:sp>
        <p:nvSpPr>
          <p:cNvPr id="25" name="Shape 23"/>
          <p:cNvSpPr/>
          <p:nvPr/>
        </p:nvSpPr>
        <p:spPr>
          <a:xfrm>
            <a:off x="6278728" y="2615184"/>
            <a:ext cx="5272888" cy="2286000"/>
          </a:xfrm>
          <a:prstGeom prst="roundRect">
            <a:avLst>
              <a:gd name="adj" fmla="val 2000"/>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26" name="Text 24"/>
          <p:cNvSpPr/>
          <p:nvPr/>
        </p:nvSpPr>
        <p:spPr>
          <a:xfrm>
            <a:off x="6516472" y="2761488"/>
            <a:ext cx="4797400" cy="2011680"/>
          </a:xfrm>
          <a:prstGeom prst="rect">
            <a:avLst/>
          </a:prstGeom>
          <a:noFill/>
          <a:ln/>
        </p:spPr>
        <p:txBody>
          <a:bodyPr wrap="square" lIns="0" tIns="0" rIns="0" bIns="0" rtlCol="0" anchor="t"/>
          <a:lstStyle/>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A trace-to-program formulation combining typed value provenance, effect-aware barriers, a closed synthesis language, empirical contracts, and runtime fallback</a:t>
            </a:r>
            <a:endParaRPr lang="en-US" sz="1050" dirty="0"/>
          </a:p>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A dispatch protocol whose score is frozen before calibration and whose fixed threshold grid receives a simultaneous one-sided exact binomial bound</a:t>
            </a:r>
            <a:endParaRPr lang="en-US" sz="1050" dirty="0"/>
          </a:p>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A real-provider, real-public-record study in which the agent chooses tool order and quality is graded independently of execution conformance</a:t>
            </a:r>
            <a:endParaRPr lang="en-US" sz="1050" dirty="0"/>
          </a:p>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An external NESTFUL study reporting provenance success, synthesis abstention, and a useful negative result</a:t>
            </a:r>
            <a:endParaRPr lang="en-US" sz="1050" dirty="0"/>
          </a:p>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A framework-neutral transformation portfolio over measured actions only</a:t>
            </a:r>
            <a:endParaRPr lang="en-US" sz="1050" dirty="0"/>
          </a:p>
        </p:txBody>
      </p:sp>
      <p:sp>
        <p:nvSpPr>
          <p:cNvPr id="27" name="Shape 25"/>
          <p:cNvSpPr/>
          <p:nvPr/>
        </p:nvSpPr>
        <p:spPr>
          <a:xfrm>
            <a:off x="6278728" y="5029200"/>
            <a:ext cx="5272888" cy="1170432"/>
          </a:xfrm>
          <a:prstGeom prst="roundRect">
            <a:avLst>
              <a:gd name="adj" fmla="val 3906"/>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28" name="Text 26"/>
          <p:cNvSpPr/>
          <p:nvPr/>
        </p:nvSpPr>
        <p:spPr>
          <a:xfrm>
            <a:off x="6516472" y="5157216"/>
            <a:ext cx="4797400" cy="256032"/>
          </a:xfrm>
          <a:prstGeom prst="rect">
            <a:avLst/>
          </a:prstGeom>
          <a:noFill/>
          <a:ln/>
        </p:spPr>
        <p:txBody>
          <a:bodyPr wrap="square" lIns="0" tIns="0" rIns="0" bIns="0" rtlCol="0" anchor="t"/>
          <a:lstStyle/>
          <a:p>
            <a:pPr marL="0" indent="0">
              <a:buNone/>
            </a:pPr>
            <a:r>
              <a:rPr lang="en-US" sz="1200" b="1" dirty="0">
                <a:solidFill>
                  <a:srgbClr val="A93B2B"/>
                </a:solidFill>
                <a:latin typeface="Cambria" pitchFamily="34" charset="0"/>
                <a:ea typeface="Cambria" pitchFamily="34" charset="-122"/>
                <a:cs typeface="Cambria" pitchFamily="34" charset="-120"/>
              </a:rPr>
              <a:t>Explicitly not claimed</a:t>
            </a:r>
            <a:endParaRPr lang="en-US" sz="1200" dirty="0"/>
          </a:p>
        </p:txBody>
      </p:sp>
      <p:sp>
        <p:nvSpPr>
          <p:cNvPr id="29" name="Text 27"/>
          <p:cNvSpPr/>
          <p:nvPr/>
        </p:nvSpPr>
        <p:spPr>
          <a:xfrm>
            <a:off x="6516472" y="5449824"/>
            <a:ext cx="4797400" cy="658368"/>
          </a:xfrm>
          <a:prstGeom prst="rect">
            <a:avLst/>
          </a:prstGeom>
          <a:noFill/>
          <a:ln/>
        </p:spPr>
        <p:txBody>
          <a:bodyPr wrap="square" lIns="0" tIns="0" rIns="0" bIns="0" rtlCol="0" anchor="t"/>
          <a:lstStyle/>
          <a:p>
            <a:pPr marL="0" indent="0">
              <a:lnSpc>
                <a:spcPct val="108000"/>
              </a:lnSpc>
              <a:buNone/>
            </a:pPr>
            <a:r>
              <a:rPr lang="en-US" sz="1050" dirty="0">
                <a:solidFill>
                  <a:srgbClr val="5C4034"/>
                </a:solidFill>
                <a:latin typeface="Calibri" pitchFamily="34" charset="0"/>
                <a:ea typeface="Calibri" pitchFamily="34" charset="-122"/>
                <a:cs typeface="Calibri" pitchFamily="34" charset="-120"/>
              </a:rPr>
              <a:t>universal semantic equivalence  ·  production certification  ·  cross-domain generalization  ·  fewer necessary tool calls  ·  deterministic natural-language generation</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E3A"/>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43597C"/>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43597C"/>
                </a:solidFill>
                <a:latin typeface="Calibri" pitchFamily="34" charset="0"/>
                <a:ea typeface="Calibri" pitchFamily="34" charset="-122"/>
                <a:cs typeface="Calibri" pitchFamily="34" charset="-120"/>
              </a:rPr>
              <a:t>5</a:t>
            </a:r>
            <a:endParaRPr lang="en-US" sz="900" dirty="0"/>
          </a:p>
        </p:txBody>
      </p:sp>
      <p:sp>
        <p:nvSpPr>
          <p:cNvPr id="4" name="Shape 2"/>
          <p:cNvSpPr/>
          <p:nvPr/>
        </p:nvSpPr>
        <p:spPr>
          <a:xfrm>
            <a:off x="9326880" y="914400"/>
            <a:ext cx="5120640" cy="5120640"/>
          </a:xfrm>
          <a:prstGeom prst="ellipse">
            <a:avLst/>
          </a:prstGeom>
          <a:solidFill>
            <a:srgbClr val="1A3563">
              <a:alpha val="60000"/>
            </a:srgbClr>
          </a:solidFill>
          <a:ln w="12700">
            <a:solidFill>
              <a:srgbClr val="1A3563"/>
            </a:solidFill>
            <a:prstDash val="solid"/>
          </a:ln>
        </p:spPr>
        <p:txBody>
          <a:bodyPr/>
          <a:lstStyle/>
          <a:p>
            <a:endParaRPr lang="en-US"/>
          </a:p>
        </p:txBody>
      </p:sp>
      <p:sp>
        <p:nvSpPr>
          <p:cNvPr id="5" name="Shape 3"/>
          <p:cNvSpPr/>
          <p:nvPr/>
        </p:nvSpPr>
        <p:spPr>
          <a:xfrm>
            <a:off x="10607040" y="2194560"/>
            <a:ext cx="2560320" cy="2560320"/>
          </a:xfrm>
          <a:prstGeom prst="ellipse">
            <a:avLst/>
          </a:prstGeom>
          <a:solidFill>
            <a:srgbClr val="1F8A99">
              <a:alpha val="45000"/>
            </a:srgbClr>
          </a:solidFill>
          <a:ln w="12700">
            <a:solidFill>
              <a:srgbClr val="1F8A99"/>
            </a:solidFill>
            <a:prstDash val="solid"/>
          </a:ln>
        </p:spPr>
        <p:txBody>
          <a:bodyPr/>
          <a:lstStyle/>
          <a:p>
            <a:endParaRPr lang="en-US"/>
          </a:p>
        </p:txBody>
      </p:sp>
      <p:sp>
        <p:nvSpPr>
          <p:cNvPr id="6" name="Text 4"/>
          <p:cNvSpPr/>
          <p:nvPr/>
        </p:nvSpPr>
        <p:spPr>
          <a:xfrm>
            <a:off x="640080" y="2148840"/>
            <a:ext cx="1463040" cy="1371600"/>
          </a:xfrm>
          <a:prstGeom prst="rect">
            <a:avLst/>
          </a:prstGeom>
          <a:noFill/>
          <a:ln/>
        </p:spPr>
        <p:txBody>
          <a:bodyPr wrap="square" lIns="0" tIns="0" rIns="0" bIns="0" rtlCol="0" anchor="ctr"/>
          <a:lstStyle/>
          <a:p>
            <a:pPr marL="0" indent="0">
              <a:buNone/>
            </a:pPr>
            <a:r>
              <a:rPr lang="en-US" sz="7600" b="1" dirty="0">
                <a:solidFill>
                  <a:srgbClr val="56B3BE"/>
                </a:solidFill>
                <a:latin typeface="Cambria" pitchFamily="34" charset="0"/>
                <a:ea typeface="Cambria" pitchFamily="34" charset="-122"/>
                <a:cs typeface="Cambria" pitchFamily="34" charset="-120"/>
              </a:rPr>
              <a:t>I</a:t>
            </a:r>
            <a:endParaRPr lang="en-US" sz="7600" dirty="0"/>
          </a:p>
        </p:txBody>
      </p:sp>
      <p:sp>
        <p:nvSpPr>
          <p:cNvPr id="7" name="Text 5"/>
          <p:cNvSpPr/>
          <p:nvPr/>
        </p:nvSpPr>
        <p:spPr>
          <a:xfrm>
            <a:off x="2240280" y="2286000"/>
            <a:ext cx="6766560" cy="68580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Problem formulation</a:t>
            </a:r>
            <a:endParaRPr lang="en-US" sz="3400" dirty="0"/>
          </a:p>
        </p:txBody>
      </p:sp>
      <p:sp>
        <p:nvSpPr>
          <p:cNvPr id="8" name="Text 6"/>
          <p:cNvSpPr/>
          <p:nvPr/>
        </p:nvSpPr>
        <p:spPr>
          <a:xfrm>
            <a:off x="2267712" y="3017520"/>
            <a:ext cx="6675120" cy="731520"/>
          </a:xfrm>
          <a:prstGeom prst="rect">
            <a:avLst/>
          </a:prstGeom>
          <a:noFill/>
          <a:ln/>
        </p:spPr>
        <p:txBody>
          <a:bodyPr wrap="square" lIns="0" tIns="0" rIns="0" bIns="0" rtlCol="0" anchor="t"/>
          <a:lstStyle/>
          <a:p>
            <a:pPr marL="0" indent="0">
              <a:lnSpc>
                <a:spcPct val="110000"/>
              </a:lnSpc>
              <a:buNone/>
            </a:pPr>
            <a:r>
              <a:rPr lang="en-US" sz="1350" dirty="0">
                <a:solidFill>
                  <a:srgbClr val="9BD0D6"/>
                </a:solidFill>
                <a:latin typeface="Calibri" pitchFamily="34" charset="0"/>
                <a:ea typeface="Calibri" pitchFamily="34" charset="-122"/>
                <a:cs typeface="Calibri" pitchFamily="34" charset="-120"/>
              </a:rPr>
              <a:t>Episodes, candidate regions, groundability, effect admissibility, the position invariant, and the selective objective.</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6</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FORMULATION  ·  §2.1</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Episodes, candidate regions, and two admissibility conditions</a:t>
            </a:r>
            <a:endParaRPr lang="en-US" sz="2600" dirty="0"/>
          </a:p>
        </p:txBody>
      </p:sp>
      <p:sp>
        <p:nvSpPr>
          <p:cNvPr id="6" name="Shape 4"/>
          <p:cNvSpPr/>
          <p:nvPr/>
        </p:nvSpPr>
        <p:spPr>
          <a:xfrm>
            <a:off x="640080" y="1152144"/>
            <a:ext cx="10911535" cy="603504"/>
          </a:xfrm>
          <a:prstGeom prst="roundRect">
            <a:avLst>
              <a:gd name="adj" fmla="val 7576"/>
            </a:avLst>
          </a:prstGeom>
          <a:solidFill>
            <a:srgbClr val="EAF1F7"/>
          </a:solidFill>
          <a:ln w="9525">
            <a:solidFill>
              <a:srgbClr val="D5E0EB"/>
            </a:solidFill>
            <a:prstDash val="solid"/>
          </a:ln>
        </p:spPr>
        <p:txBody>
          <a:bodyPr/>
          <a:lstStyle/>
          <a:p>
            <a:endParaRPr lang="en-US"/>
          </a:p>
        </p:txBody>
      </p:sp>
      <p:pic>
        <p:nvPicPr>
          <p:cNvPr id="7" name="Image 0" descr="/home/claude/deck/eq/tuple.png"/>
          <p:cNvPicPr>
            <a:picLocks noChangeAspect="1"/>
          </p:cNvPicPr>
          <p:nvPr/>
        </p:nvPicPr>
        <p:blipFill>
          <a:blip r:embed="rId3"/>
          <a:stretch>
            <a:fillRect/>
          </a:stretch>
        </p:blipFill>
        <p:spPr>
          <a:xfrm>
            <a:off x="896112" y="1289304"/>
            <a:ext cx="2124222" cy="329184"/>
          </a:xfrm>
          <a:prstGeom prst="rect">
            <a:avLst/>
          </a:prstGeom>
        </p:spPr>
      </p:pic>
      <p:sp>
        <p:nvSpPr>
          <p:cNvPr id="8" name="Text 5"/>
          <p:cNvSpPr/>
          <p:nvPr/>
        </p:nvSpPr>
        <p:spPr>
          <a:xfrm>
            <a:off x="3349518" y="1289304"/>
            <a:ext cx="7964354" cy="329184"/>
          </a:xfrm>
          <a:prstGeom prst="rect">
            <a:avLst/>
          </a:prstGeom>
          <a:noFill/>
          <a:ln/>
        </p:spPr>
        <p:txBody>
          <a:bodyPr wrap="square" lIns="0" tIns="0" rIns="0" bIns="0" rtlCol="0" anchor="ctr"/>
          <a:lstStyle/>
          <a:p>
            <a:pPr marL="0" indent="0">
              <a:buNone/>
            </a:pPr>
            <a:r>
              <a:rPr lang="en-US" sz="1200" dirty="0">
                <a:solidFill>
                  <a:srgbClr val="24354F"/>
                </a:solidFill>
                <a:latin typeface="Calibri" pitchFamily="34" charset="0"/>
                <a:ea typeface="Calibri" pitchFamily="34" charset="-122"/>
                <a:cs typeface="Calibri" pitchFamily="34" charset="-120"/>
              </a:rPr>
              <a:t>entry-state snapshot z  ·  content-addressed execution manifest M  ·  ordered events e t  ·  observable outcome y</a:t>
            </a:r>
            <a:endParaRPr lang="en-US" sz="1200" dirty="0"/>
          </a:p>
        </p:txBody>
      </p:sp>
      <p:sp>
        <p:nvSpPr>
          <p:cNvPr id="9" name="Shape 6"/>
          <p:cNvSpPr/>
          <p:nvPr/>
        </p:nvSpPr>
        <p:spPr>
          <a:xfrm>
            <a:off x="640080" y="1828800"/>
            <a:ext cx="10911535" cy="1042416"/>
          </a:xfrm>
          <a:prstGeom prst="roundRect">
            <a:avLst>
              <a:gd name="adj" fmla="val 4386"/>
            </a:avLst>
          </a:prstGeom>
          <a:solidFill>
            <a:srgbClr val="F5F9FC"/>
          </a:solidFill>
          <a:ln w="9525">
            <a:solidFill>
              <a:srgbClr val="D5E0EB"/>
            </a:solidFill>
            <a:prstDash val="solid"/>
          </a:ln>
        </p:spPr>
        <p:txBody>
          <a:bodyPr/>
          <a:lstStyle/>
          <a:p>
            <a:endParaRPr lang="en-US"/>
          </a:p>
        </p:txBody>
      </p:sp>
      <p:pic>
        <p:nvPicPr>
          <p:cNvPr id="10" name="Image 1" descr="/home/claude/deck/eq/eq1.png"/>
          <p:cNvPicPr>
            <a:picLocks noChangeAspect="1"/>
          </p:cNvPicPr>
          <p:nvPr/>
        </p:nvPicPr>
        <p:blipFill>
          <a:blip r:embed="rId4"/>
          <a:stretch>
            <a:fillRect/>
          </a:stretch>
        </p:blipFill>
        <p:spPr>
          <a:xfrm>
            <a:off x="877824" y="1975104"/>
            <a:ext cx="7303477" cy="384048"/>
          </a:xfrm>
          <a:prstGeom prst="rect">
            <a:avLst/>
          </a:prstGeom>
        </p:spPr>
      </p:pic>
      <p:sp>
        <p:nvSpPr>
          <p:cNvPr id="11" name="Text 7"/>
          <p:cNvSpPr/>
          <p:nvPr/>
        </p:nvSpPr>
        <p:spPr>
          <a:xfrm>
            <a:off x="877824" y="2432304"/>
            <a:ext cx="10436047" cy="329184"/>
          </a:xfrm>
          <a:prstGeom prst="rect">
            <a:avLst/>
          </a:prstGeom>
          <a:noFill/>
          <a:ln/>
        </p:spPr>
        <p:txBody>
          <a:bodyPr wrap="square" lIns="0" tIns="0" rIns="0" bIns="0" rtlCol="0" anchor="t"/>
          <a:lstStyle/>
          <a:p>
            <a:pPr marL="0" indent="0">
              <a:lnSpc>
                <a:spcPct val="105000"/>
              </a:lnSpc>
              <a:buNone/>
            </a:pPr>
            <a:r>
              <a:rPr lang="en-US" sz="1000" dirty="0">
                <a:solidFill>
                  <a:srgbClr val="5A6B84"/>
                </a:solidFill>
                <a:latin typeface="Calibri" pitchFamily="34" charset="0"/>
                <a:ea typeface="Calibri" pitchFamily="34" charset="-122"/>
                <a:cs typeface="Calibri" pitchFamily="34" charset="-120"/>
              </a:rPr>
              <a:t>GROUNDABLE — every call argument in the region has an expression over entry state or prior results, drawn from a closed, bounded transform library ℒ. A slot with no such expression is a genuine model decision.</a:t>
            </a:r>
            <a:endParaRPr lang="en-US" sz="1000" dirty="0"/>
          </a:p>
        </p:txBody>
      </p:sp>
      <p:sp>
        <p:nvSpPr>
          <p:cNvPr id="12" name="Text 8"/>
          <p:cNvSpPr/>
          <p:nvPr/>
        </p:nvSpPr>
        <p:spPr>
          <a:xfrm>
            <a:off x="10856671" y="1975104"/>
            <a:ext cx="493776" cy="274320"/>
          </a:xfrm>
          <a:prstGeom prst="rect">
            <a:avLst/>
          </a:prstGeom>
          <a:noFill/>
          <a:ln/>
        </p:spPr>
        <p:txBody>
          <a:bodyPr wrap="square" lIns="0" tIns="0" rIns="0" bIns="0" rtlCol="0" anchor="t"/>
          <a:lstStyle/>
          <a:p>
            <a:pPr marL="0" indent="0" algn="r">
              <a:buNone/>
            </a:pPr>
            <a:r>
              <a:rPr lang="en-US" sz="1000" dirty="0">
                <a:solidFill>
                  <a:srgbClr val="56B3BE"/>
                </a:solidFill>
                <a:latin typeface="Calibri" pitchFamily="34" charset="0"/>
                <a:ea typeface="Calibri" pitchFamily="34" charset="-122"/>
                <a:cs typeface="Calibri" pitchFamily="34" charset="-120"/>
              </a:rPr>
              <a:t>(1)</a:t>
            </a:r>
            <a:endParaRPr lang="en-US" sz="1000" dirty="0"/>
          </a:p>
        </p:txBody>
      </p:sp>
      <p:sp>
        <p:nvSpPr>
          <p:cNvPr id="13" name="Shape 9"/>
          <p:cNvSpPr/>
          <p:nvPr/>
        </p:nvSpPr>
        <p:spPr>
          <a:xfrm>
            <a:off x="640080" y="2944368"/>
            <a:ext cx="10911535" cy="749808"/>
          </a:xfrm>
          <a:prstGeom prst="roundRect">
            <a:avLst>
              <a:gd name="adj" fmla="val 6098"/>
            </a:avLst>
          </a:prstGeom>
          <a:solidFill>
            <a:srgbClr val="E8F4F5"/>
          </a:solidFill>
          <a:ln w="9525">
            <a:solidFill>
              <a:srgbClr val="CFE4E7"/>
            </a:solidFill>
            <a:prstDash val="solid"/>
          </a:ln>
        </p:spPr>
        <p:txBody>
          <a:bodyPr/>
          <a:lstStyle/>
          <a:p>
            <a:endParaRPr lang="en-US"/>
          </a:p>
        </p:txBody>
      </p:sp>
      <p:sp>
        <p:nvSpPr>
          <p:cNvPr id="14" name="Text 10"/>
          <p:cNvSpPr/>
          <p:nvPr/>
        </p:nvSpPr>
        <p:spPr>
          <a:xfrm>
            <a:off x="896112" y="3054096"/>
            <a:ext cx="1828800" cy="219456"/>
          </a:xfrm>
          <a:prstGeom prst="rect">
            <a:avLst/>
          </a:prstGeom>
          <a:noFill/>
          <a:ln/>
        </p:spPr>
        <p:txBody>
          <a:bodyPr wrap="square" lIns="0" tIns="0" rIns="0" bIns="0" rtlCol="0" anchor="t"/>
          <a:lstStyle/>
          <a:p>
            <a:pPr marL="0" indent="0">
              <a:buNone/>
            </a:pPr>
            <a:r>
              <a:rPr lang="en-US" sz="1000" b="1" kern="0" spc="120" dirty="0">
                <a:solidFill>
                  <a:srgbClr val="1F8A99"/>
                </a:solidFill>
                <a:latin typeface="Calibri" pitchFamily="34" charset="0"/>
                <a:ea typeface="Calibri" pitchFamily="34" charset="-122"/>
                <a:cs typeface="Calibri" pitchFamily="34" charset="-120"/>
              </a:rPr>
              <a:t>EFFECT-ADMISSIBLE</a:t>
            </a:r>
            <a:endParaRPr lang="en-US" sz="1000" dirty="0"/>
          </a:p>
        </p:txBody>
      </p:sp>
      <p:sp>
        <p:nvSpPr>
          <p:cNvPr id="15" name="Text 11"/>
          <p:cNvSpPr/>
          <p:nvPr/>
        </p:nvSpPr>
        <p:spPr>
          <a:xfrm>
            <a:off x="2834640" y="3035808"/>
            <a:ext cx="8442655" cy="548640"/>
          </a:xfrm>
          <a:prstGeom prst="rect">
            <a:avLst/>
          </a:prstGeom>
          <a:noFill/>
          <a:ln/>
        </p:spPr>
        <p:txBody>
          <a:bodyPr wrap="square" lIns="0" tIns="0" rIns="0" bIns="0" rtlCol="0" anchor="t"/>
          <a:lstStyle/>
          <a:p>
            <a:pPr marL="0" indent="0">
              <a:lnSpc>
                <a:spcPct val="108000"/>
              </a:lnSpc>
              <a:buNone/>
            </a:pPr>
            <a:r>
              <a:rPr lang="en-US" sz="1100" dirty="0">
                <a:solidFill>
                  <a:srgbClr val="24354F"/>
                </a:solidFill>
                <a:latin typeface="Calibri" pitchFamily="34" charset="0"/>
                <a:ea typeface="Calibri" pitchFamily="34" charset="-122"/>
                <a:cs typeface="Calibri" pitchFamily="34" charset="-120"/>
              </a:rPr>
              <a:t>All tools in the region are declared read-only, speculatable, replayable, and inside the same principal / isolation partition. Handoffs, approvals, writes, errors, and unknown effects are barriers — and an unknown effect is not a read.</a:t>
            </a:r>
            <a:endParaRPr lang="en-US" sz="1100" dirty="0"/>
          </a:p>
        </p:txBody>
      </p:sp>
      <p:sp>
        <p:nvSpPr>
          <p:cNvPr id="16" name="Shape 12"/>
          <p:cNvSpPr/>
          <p:nvPr/>
        </p:nvSpPr>
        <p:spPr>
          <a:xfrm>
            <a:off x="640080" y="3767328"/>
            <a:ext cx="10911535" cy="969264"/>
          </a:xfrm>
          <a:prstGeom prst="roundRect">
            <a:avLst>
              <a:gd name="adj" fmla="val 4717"/>
            </a:avLst>
          </a:prstGeom>
          <a:solidFill>
            <a:srgbClr val="F5F9FC"/>
          </a:solidFill>
          <a:ln w="9525">
            <a:solidFill>
              <a:srgbClr val="D5E0EB"/>
            </a:solidFill>
            <a:prstDash val="solid"/>
          </a:ln>
        </p:spPr>
        <p:txBody>
          <a:bodyPr/>
          <a:lstStyle/>
          <a:p>
            <a:endParaRPr lang="en-US"/>
          </a:p>
        </p:txBody>
      </p:sp>
      <p:pic>
        <p:nvPicPr>
          <p:cNvPr id="17" name="Image 2" descr="/home/claude/deck/eq/eq2.png"/>
          <p:cNvPicPr>
            <a:picLocks noChangeAspect="1"/>
          </p:cNvPicPr>
          <p:nvPr/>
        </p:nvPicPr>
        <p:blipFill>
          <a:blip r:embed="rId5"/>
          <a:stretch>
            <a:fillRect/>
          </a:stretch>
        </p:blipFill>
        <p:spPr>
          <a:xfrm>
            <a:off x="877824" y="3913632"/>
            <a:ext cx="960120" cy="256032"/>
          </a:xfrm>
          <a:prstGeom prst="rect">
            <a:avLst/>
          </a:prstGeom>
        </p:spPr>
      </p:pic>
      <p:sp>
        <p:nvSpPr>
          <p:cNvPr id="18" name="Text 13"/>
          <p:cNvSpPr/>
          <p:nvPr/>
        </p:nvSpPr>
        <p:spPr>
          <a:xfrm>
            <a:off x="2148840" y="3913632"/>
            <a:ext cx="8598103" cy="256032"/>
          </a:xfrm>
          <a:prstGeom prst="rect">
            <a:avLst/>
          </a:prstGeom>
          <a:noFill/>
          <a:ln/>
        </p:spPr>
        <p:txBody>
          <a:bodyPr wrap="square" lIns="0" tIns="0" rIns="0" bIns="0" rtlCol="0" anchor="ctr"/>
          <a:lstStyle/>
          <a:p>
            <a:pPr marL="0" indent="0">
              <a:buNone/>
            </a:pPr>
            <a:r>
              <a:rPr lang="en-US" sz="1300" dirty="0">
                <a:solidFill>
                  <a:srgbClr val="24354F"/>
                </a:solidFill>
                <a:latin typeface="Calibri" pitchFamily="34" charset="0"/>
                <a:ea typeface="Calibri" pitchFamily="34" charset="-122"/>
                <a:cs typeface="Calibri" pitchFamily="34" charset="-120"/>
              </a:rPr>
              <a:t>in the normalized model-boundary index</a:t>
            </a:r>
            <a:endParaRPr lang="en-US" sz="1300" dirty="0"/>
          </a:p>
        </p:txBody>
      </p:sp>
      <p:sp>
        <p:nvSpPr>
          <p:cNvPr id="19" name="Text 14"/>
          <p:cNvSpPr/>
          <p:nvPr/>
        </p:nvSpPr>
        <p:spPr>
          <a:xfrm>
            <a:off x="877824" y="4242816"/>
            <a:ext cx="10436047" cy="384048"/>
          </a:xfrm>
          <a:prstGeom prst="rect">
            <a:avLst/>
          </a:prstGeom>
          <a:noFill/>
          <a:ln/>
        </p:spPr>
        <p:txBody>
          <a:bodyPr wrap="square" lIns="0" tIns="0" rIns="0" bIns="0" rtlCol="0" anchor="t"/>
          <a:lstStyle/>
          <a:p>
            <a:pPr marL="0" indent="0">
              <a:lnSpc>
                <a:spcPct val="105000"/>
              </a:lnSpc>
              <a:buNone/>
            </a:pPr>
            <a:r>
              <a:rPr lang="en-US" sz="1000" dirty="0">
                <a:solidFill>
                  <a:srgbClr val="5A6B84"/>
                </a:solidFill>
                <a:latin typeface="Calibri" pitchFamily="34" charset="0"/>
                <a:ea typeface="Calibri" pitchFamily="34" charset="-122"/>
                <a:cs typeface="Calibri" pitchFamily="34" charset="-120"/>
              </a:rPr>
              <a:t>POSITION INVARIANT — the deployed runtime resolves artifacts at the initial model boundary, so a region must be a prefix. This restriction is not aesthetic: a suffix program dispatched at entry may reorder or duplicate earlier calls, and §5.6 demonstrates that failure empirically.</a:t>
            </a:r>
            <a:endParaRPr lang="en-US" sz="1000" dirty="0"/>
          </a:p>
        </p:txBody>
      </p:sp>
      <p:sp>
        <p:nvSpPr>
          <p:cNvPr id="20" name="Text 15"/>
          <p:cNvSpPr/>
          <p:nvPr/>
        </p:nvSpPr>
        <p:spPr>
          <a:xfrm>
            <a:off x="10856671" y="3913632"/>
            <a:ext cx="493776" cy="274320"/>
          </a:xfrm>
          <a:prstGeom prst="rect">
            <a:avLst/>
          </a:prstGeom>
          <a:noFill/>
          <a:ln/>
        </p:spPr>
        <p:txBody>
          <a:bodyPr wrap="square" lIns="0" tIns="0" rIns="0" bIns="0" rtlCol="0" anchor="t"/>
          <a:lstStyle/>
          <a:p>
            <a:pPr marL="0" indent="0" algn="r">
              <a:buNone/>
            </a:pPr>
            <a:r>
              <a:rPr lang="en-US" sz="1000" dirty="0">
                <a:solidFill>
                  <a:srgbClr val="56B3BE"/>
                </a:solidFill>
                <a:latin typeface="Calibri" pitchFamily="34" charset="0"/>
                <a:ea typeface="Calibri" pitchFamily="34" charset="-122"/>
                <a:cs typeface="Calibri" pitchFamily="34" charset="-120"/>
              </a:rPr>
              <a:t>(2)</a:t>
            </a:r>
            <a:endParaRPr lang="en-US" sz="1000" dirty="0"/>
          </a:p>
        </p:txBody>
      </p:sp>
      <p:sp>
        <p:nvSpPr>
          <p:cNvPr id="21" name="Shape 16"/>
          <p:cNvSpPr/>
          <p:nvPr/>
        </p:nvSpPr>
        <p:spPr>
          <a:xfrm>
            <a:off x="640080" y="4846320"/>
            <a:ext cx="10911535" cy="1316736"/>
          </a:xfrm>
          <a:prstGeom prst="roundRect">
            <a:avLst>
              <a:gd name="adj" fmla="val 3472"/>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22" name="Text 17"/>
          <p:cNvSpPr/>
          <p:nvPr/>
        </p:nvSpPr>
        <p:spPr>
          <a:xfrm>
            <a:off x="896112" y="4974336"/>
            <a:ext cx="10399471" cy="219456"/>
          </a:xfrm>
          <a:prstGeom prst="rect">
            <a:avLst/>
          </a:prstGeom>
          <a:noFill/>
          <a:ln/>
        </p:spPr>
        <p:txBody>
          <a:bodyPr wrap="square" lIns="0" tIns="0" rIns="0" bIns="0" rtlCol="0" anchor="t"/>
          <a:lstStyle/>
          <a:p>
            <a:pPr marL="0" indent="0">
              <a:buNone/>
            </a:pPr>
            <a:r>
              <a:rPr lang="en-US" sz="950" b="1" kern="0" spc="110" dirty="0">
                <a:solidFill>
                  <a:srgbClr val="A93B2B"/>
                </a:solidFill>
                <a:latin typeface="Calibri" pitchFamily="34" charset="0"/>
                <a:ea typeface="Calibri" pitchFamily="34" charset="-122"/>
                <a:cs typeface="Calibri" pitchFamily="34" charset="-120"/>
              </a:rPr>
              <a:t>EVIDENCE FROM THE ARCHIVED PILOT — REQUEST SAVINGS AT THE WRONG EXECUTION POSITION</a:t>
            </a:r>
            <a:endParaRPr lang="en-US" sz="950" dirty="0"/>
          </a:p>
        </p:txBody>
      </p:sp>
      <p:sp>
        <p:nvSpPr>
          <p:cNvPr id="23" name="Text 18"/>
          <p:cNvSpPr/>
          <p:nvPr/>
        </p:nvSpPr>
        <p:spPr>
          <a:xfrm>
            <a:off x="3931920" y="5230368"/>
            <a:ext cx="1554480" cy="219456"/>
          </a:xfrm>
          <a:prstGeom prst="rect">
            <a:avLst/>
          </a:prstGeom>
          <a:noFill/>
          <a:ln/>
        </p:spPr>
        <p:txBody>
          <a:bodyPr wrap="square" lIns="0" tIns="0" rIns="0" bIns="0" rtlCol="0" anchor="t"/>
          <a:lstStyle/>
          <a:p>
            <a:pPr marL="0" indent="0" algn="r">
              <a:buNone/>
            </a:pPr>
            <a:r>
              <a:rPr lang="en-US" sz="900" b="1" dirty="0">
                <a:solidFill>
                  <a:srgbClr val="5A6B84"/>
                </a:solidFill>
                <a:latin typeface="Calibri" pitchFamily="34" charset="0"/>
                <a:ea typeface="Calibri" pitchFamily="34" charset="-122"/>
                <a:cs typeface="Calibri" pitchFamily="34" charset="-120"/>
              </a:rPr>
              <a:t>archived suffix pilot</a:t>
            </a:r>
            <a:endParaRPr lang="en-US" sz="900" dirty="0"/>
          </a:p>
        </p:txBody>
      </p:sp>
      <p:sp>
        <p:nvSpPr>
          <p:cNvPr id="24" name="Text 19"/>
          <p:cNvSpPr/>
          <p:nvPr/>
        </p:nvSpPr>
        <p:spPr>
          <a:xfrm>
            <a:off x="5669280" y="5230368"/>
            <a:ext cx="1920240" cy="219456"/>
          </a:xfrm>
          <a:prstGeom prst="rect">
            <a:avLst/>
          </a:prstGeom>
          <a:noFill/>
          <a:ln/>
        </p:spPr>
        <p:txBody>
          <a:bodyPr wrap="square" lIns="0" tIns="0" rIns="0" bIns="0" rtlCol="0" anchor="t"/>
          <a:lstStyle/>
          <a:p>
            <a:pPr marL="0" indent="0" algn="r">
              <a:buNone/>
            </a:pPr>
            <a:r>
              <a:rPr lang="en-US" sz="900" b="1" dirty="0">
                <a:solidFill>
                  <a:srgbClr val="1F8A99"/>
                </a:solidFill>
                <a:latin typeface="Calibri" pitchFamily="34" charset="0"/>
                <a:ea typeface="Calibri" pitchFamily="34" charset="-122"/>
                <a:cs typeface="Calibri" pitchFamily="34" charset="-120"/>
              </a:rPr>
              <a:t>corrected prefix compiler</a:t>
            </a:r>
            <a:endParaRPr lang="en-US" sz="900" dirty="0"/>
          </a:p>
        </p:txBody>
      </p:sp>
      <p:sp>
        <p:nvSpPr>
          <p:cNvPr id="25" name="Text 20"/>
          <p:cNvSpPr/>
          <p:nvPr/>
        </p:nvSpPr>
        <p:spPr>
          <a:xfrm>
            <a:off x="896112" y="5449824"/>
            <a:ext cx="3017520" cy="219456"/>
          </a:xfrm>
          <a:prstGeom prst="rect">
            <a:avLst/>
          </a:prstGeom>
          <a:noFill/>
          <a:ln/>
        </p:spPr>
        <p:txBody>
          <a:bodyPr wrap="square" lIns="0" tIns="0" rIns="0" bIns="0" rtlCol="0" anchor="ctr"/>
          <a:lstStyle/>
          <a:p>
            <a:pPr marL="0" indent="0">
              <a:buNone/>
            </a:pPr>
            <a:r>
              <a:rPr lang="en-US" sz="1000" dirty="0">
                <a:solidFill>
                  <a:srgbClr val="5C4034"/>
                </a:solidFill>
                <a:latin typeface="Calibri" pitchFamily="34" charset="0"/>
                <a:ea typeface="Calibri" pitchFamily="34" charset="-122"/>
                <a:cs typeface="Calibri" pitchFamily="34" charset="-120"/>
              </a:rPr>
              <a:t>task quality</a:t>
            </a:r>
            <a:endParaRPr lang="en-US" sz="1000" dirty="0"/>
          </a:p>
        </p:txBody>
      </p:sp>
      <p:sp>
        <p:nvSpPr>
          <p:cNvPr id="26" name="Text 21"/>
          <p:cNvSpPr/>
          <p:nvPr/>
        </p:nvSpPr>
        <p:spPr>
          <a:xfrm>
            <a:off x="3931920" y="5449824"/>
            <a:ext cx="1554480" cy="219456"/>
          </a:xfrm>
          <a:prstGeom prst="rect">
            <a:avLst/>
          </a:prstGeom>
          <a:noFill/>
          <a:ln/>
        </p:spPr>
        <p:txBody>
          <a:bodyPr wrap="square" lIns="0" tIns="0" rIns="0" bIns="0" rtlCol="0" anchor="ctr"/>
          <a:lstStyle/>
          <a:p>
            <a:pPr marL="0" indent="0" algn="r">
              <a:buNone/>
            </a:pPr>
            <a:r>
              <a:rPr lang="en-US" sz="1150" b="1" dirty="0">
                <a:solidFill>
                  <a:srgbClr val="A93B2B"/>
                </a:solidFill>
                <a:latin typeface="Cambria" pitchFamily="34" charset="0"/>
                <a:ea typeface="Cambria" pitchFamily="34" charset="-122"/>
                <a:cs typeface="Cambria" pitchFamily="34" charset="-120"/>
              </a:rPr>
              <a:t>16.7%</a:t>
            </a:r>
            <a:endParaRPr lang="en-US" sz="1150" dirty="0"/>
          </a:p>
        </p:txBody>
      </p:sp>
      <p:sp>
        <p:nvSpPr>
          <p:cNvPr id="27" name="Text 22"/>
          <p:cNvSpPr/>
          <p:nvPr/>
        </p:nvSpPr>
        <p:spPr>
          <a:xfrm>
            <a:off x="5669280" y="5449824"/>
            <a:ext cx="1920240" cy="219456"/>
          </a:xfrm>
          <a:prstGeom prst="rect">
            <a:avLst/>
          </a:prstGeom>
          <a:noFill/>
          <a:ln/>
        </p:spPr>
        <p:txBody>
          <a:bodyPr wrap="square" lIns="0" tIns="0" rIns="0" bIns="0" rtlCol="0" anchor="ctr"/>
          <a:lstStyle/>
          <a:p>
            <a:pPr marL="0" indent="0" algn="r">
              <a:buNone/>
            </a:pPr>
            <a:r>
              <a:rPr lang="en-US" sz="1150" b="1" dirty="0">
                <a:solidFill>
                  <a:srgbClr val="1F8A99"/>
                </a:solidFill>
                <a:latin typeface="Cambria" pitchFamily="34" charset="0"/>
                <a:ea typeface="Cambria" pitchFamily="34" charset="-122"/>
                <a:cs typeface="Cambria" pitchFamily="34" charset="-120"/>
              </a:rPr>
              <a:t>100%</a:t>
            </a:r>
            <a:endParaRPr lang="en-US" sz="1150" dirty="0"/>
          </a:p>
        </p:txBody>
      </p:sp>
      <p:sp>
        <p:nvSpPr>
          <p:cNvPr id="28" name="Text 23"/>
          <p:cNvSpPr/>
          <p:nvPr/>
        </p:nvSpPr>
        <p:spPr>
          <a:xfrm>
            <a:off x="896112" y="5669280"/>
            <a:ext cx="3017520" cy="219456"/>
          </a:xfrm>
          <a:prstGeom prst="rect">
            <a:avLst/>
          </a:prstGeom>
          <a:noFill/>
          <a:ln/>
        </p:spPr>
        <p:txBody>
          <a:bodyPr wrap="square" lIns="0" tIns="0" rIns="0" bIns="0" rtlCol="0" anchor="ctr"/>
          <a:lstStyle/>
          <a:p>
            <a:pPr marL="0" indent="0">
              <a:buNone/>
            </a:pPr>
            <a:r>
              <a:rPr lang="en-US" sz="1000" dirty="0">
                <a:solidFill>
                  <a:srgbClr val="5C4034"/>
                </a:solidFill>
                <a:latin typeface="Calibri" pitchFamily="34" charset="0"/>
                <a:ea typeface="Calibri" pitchFamily="34" charset="-122"/>
                <a:cs typeface="Calibri" pitchFamily="34" charset="-120"/>
              </a:rPr>
              <a:t>tool-contract validity</a:t>
            </a:r>
            <a:endParaRPr lang="en-US" sz="1000" dirty="0"/>
          </a:p>
        </p:txBody>
      </p:sp>
      <p:sp>
        <p:nvSpPr>
          <p:cNvPr id="29" name="Text 24"/>
          <p:cNvSpPr/>
          <p:nvPr/>
        </p:nvSpPr>
        <p:spPr>
          <a:xfrm>
            <a:off x="3931920" y="5669280"/>
            <a:ext cx="1554480" cy="219456"/>
          </a:xfrm>
          <a:prstGeom prst="rect">
            <a:avLst/>
          </a:prstGeom>
          <a:noFill/>
          <a:ln/>
        </p:spPr>
        <p:txBody>
          <a:bodyPr wrap="square" lIns="0" tIns="0" rIns="0" bIns="0" rtlCol="0" anchor="ctr"/>
          <a:lstStyle/>
          <a:p>
            <a:pPr marL="0" indent="0" algn="r">
              <a:buNone/>
            </a:pPr>
            <a:r>
              <a:rPr lang="en-US" sz="1150" b="1" dirty="0">
                <a:solidFill>
                  <a:srgbClr val="A93B2B"/>
                </a:solidFill>
                <a:latin typeface="Cambria" pitchFamily="34" charset="0"/>
                <a:ea typeface="Cambria" pitchFamily="34" charset="-122"/>
                <a:cs typeface="Cambria" pitchFamily="34" charset="-120"/>
              </a:rPr>
              <a:t>16.7%</a:t>
            </a:r>
            <a:endParaRPr lang="en-US" sz="1150" dirty="0"/>
          </a:p>
        </p:txBody>
      </p:sp>
      <p:sp>
        <p:nvSpPr>
          <p:cNvPr id="30" name="Text 25"/>
          <p:cNvSpPr/>
          <p:nvPr/>
        </p:nvSpPr>
        <p:spPr>
          <a:xfrm>
            <a:off x="5669280" y="5669280"/>
            <a:ext cx="1920240" cy="219456"/>
          </a:xfrm>
          <a:prstGeom prst="rect">
            <a:avLst/>
          </a:prstGeom>
          <a:noFill/>
          <a:ln/>
        </p:spPr>
        <p:txBody>
          <a:bodyPr wrap="square" lIns="0" tIns="0" rIns="0" bIns="0" rtlCol="0" anchor="ctr"/>
          <a:lstStyle/>
          <a:p>
            <a:pPr marL="0" indent="0" algn="r">
              <a:buNone/>
            </a:pPr>
            <a:r>
              <a:rPr lang="en-US" sz="1150" b="1" dirty="0">
                <a:solidFill>
                  <a:srgbClr val="1F8A99"/>
                </a:solidFill>
                <a:latin typeface="Cambria" pitchFamily="34" charset="0"/>
                <a:ea typeface="Cambria" pitchFamily="34" charset="-122"/>
                <a:cs typeface="Cambria" pitchFamily="34" charset="-120"/>
              </a:rPr>
              <a:t>100%</a:t>
            </a:r>
            <a:endParaRPr lang="en-US" sz="1150" dirty="0"/>
          </a:p>
        </p:txBody>
      </p:sp>
      <p:sp>
        <p:nvSpPr>
          <p:cNvPr id="31" name="Text 26"/>
          <p:cNvSpPr/>
          <p:nvPr/>
        </p:nvSpPr>
        <p:spPr>
          <a:xfrm>
            <a:off x="896112" y="5888736"/>
            <a:ext cx="3017520" cy="219456"/>
          </a:xfrm>
          <a:prstGeom prst="rect">
            <a:avLst/>
          </a:prstGeom>
          <a:noFill/>
          <a:ln/>
        </p:spPr>
        <p:txBody>
          <a:bodyPr wrap="square" lIns="0" tIns="0" rIns="0" bIns="0" rtlCol="0" anchor="ctr"/>
          <a:lstStyle/>
          <a:p>
            <a:pPr marL="0" indent="0">
              <a:buNone/>
            </a:pPr>
            <a:r>
              <a:rPr lang="en-US" sz="1000" dirty="0">
                <a:solidFill>
                  <a:srgbClr val="5C4034"/>
                </a:solidFill>
                <a:latin typeface="Calibri" pitchFamily="34" charset="0"/>
                <a:ea typeface="Calibri" pitchFamily="34" charset="-122"/>
                <a:cs typeface="Calibri" pitchFamily="34" charset="-120"/>
              </a:rPr>
              <a:t>provider-request reduction</a:t>
            </a:r>
            <a:endParaRPr lang="en-US" sz="1000" dirty="0"/>
          </a:p>
        </p:txBody>
      </p:sp>
      <p:sp>
        <p:nvSpPr>
          <p:cNvPr id="32" name="Text 27"/>
          <p:cNvSpPr/>
          <p:nvPr/>
        </p:nvSpPr>
        <p:spPr>
          <a:xfrm>
            <a:off x="3931920" y="5888736"/>
            <a:ext cx="1554480" cy="219456"/>
          </a:xfrm>
          <a:prstGeom prst="rect">
            <a:avLst/>
          </a:prstGeom>
          <a:noFill/>
          <a:ln/>
        </p:spPr>
        <p:txBody>
          <a:bodyPr wrap="square" lIns="0" tIns="0" rIns="0" bIns="0" rtlCol="0" anchor="ctr"/>
          <a:lstStyle/>
          <a:p>
            <a:pPr marL="0" indent="0" algn="r">
              <a:buNone/>
            </a:pPr>
            <a:r>
              <a:rPr lang="en-US" sz="1150" b="1" dirty="0">
                <a:solidFill>
                  <a:srgbClr val="A93B2B"/>
                </a:solidFill>
                <a:latin typeface="Cambria" pitchFamily="34" charset="0"/>
                <a:ea typeface="Cambria" pitchFamily="34" charset="-122"/>
                <a:cs typeface="Cambria" pitchFamily="34" charset="-120"/>
              </a:rPr>
              <a:t>36.7%</a:t>
            </a:r>
            <a:endParaRPr lang="en-US" sz="1150" dirty="0"/>
          </a:p>
        </p:txBody>
      </p:sp>
      <p:sp>
        <p:nvSpPr>
          <p:cNvPr id="33" name="Text 28"/>
          <p:cNvSpPr/>
          <p:nvPr/>
        </p:nvSpPr>
        <p:spPr>
          <a:xfrm>
            <a:off x="5669280" y="5888736"/>
            <a:ext cx="1920240" cy="219456"/>
          </a:xfrm>
          <a:prstGeom prst="rect">
            <a:avLst/>
          </a:prstGeom>
          <a:noFill/>
          <a:ln/>
        </p:spPr>
        <p:txBody>
          <a:bodyPr wrap="square" lIns="0" tIns="0" rIns="0" bIns="0" rtlCol="0" anchor="ctr"/>
          <a:lstStyle/>
          <a:p>
            <a:pPr marL="0" indent="0" algn="r">
              <a:buNone/>
            </a:pPr>
            <a:r>
              <a:rPr lang="en-US" sz="1150" b="1" dirty="0">
                <a:solidFill>
                  <a:srgbClr val="1F8A99"/>
                </a:solidFill>
                <a:latin typeface="Cambria" pitchFamily="34" charset="0"/>
                <a:ea typeface="Cambria" pitchFamily="34" charset="-122"/>
                <a:cs typeface="Cambria" pitchFamily="34" charset="-120"/>
              </a:rPr>
              <a:t>75.0%</a:t>
            </a:r>
            <a:endParaRPr lang="en-US" sz="1150" dirty="0"/>
          </a:p>
        </p:txBody>
      </p:sp>
      <p:sp>
        <p:nvSpPr>
          <p:cNvPr id="34" name="Text 29"/>
          <p:cNvSpPr/>
          <p:nvPr/>
        </p:nvSpPr>
        <p:spPr>
          <a:xfrm>
            <a:off x="7863840" y="5248656"/>
            <a:ext cx="3413455" cy="822960"/>
          </a:xfrm>
          <a:prstGeom prst="rect">
            <a:avLst/>
          </a:prstGeom>
          <a:noFill/>
          <a:ln/>
        </p:spPr>
        <p:txBody>
          <a:bodyPr wrap="square" lIns="0" tIns="0" rIns="0" bIns="0" rtlCol="0" anchor="t"/>
          <a:lstStyle/>
          <a:p>
            <a:pPr marL="0" indent="0">
              <a:lnSpc>
                <a:spcPct val="105000"/>
              </a:lnSpc>
              <a:buNone/>
            </a:pPr>
            <a:r>
              <a:rPr lang="en-US" sz="950" dirty="0">
                <a:solidFill>
                  <a:srgbClr val="5C4034"/>
                </a:solidFill>
                <a:latin typeface="Calibri" pitchFamily="34" charset="0"/>
                <a:ea typeface="Calibri" pitchFamily="34" charset="-122"/>
                <a:cs typeface="Calibri" pitchFamily="34" charset="-120"/>
              </a:rPr>
              <a:t>The pilot dispatched label and comment reads before their intended position and duplicated or reordered tools. It is archived rather than deleted, and a golden-trace regression test now rejects an otherwise eligible suffix.</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7</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FORMULATION  ·  §2.2</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The compiler emits an artifact that decides whether to run</a:t>
            </a:r>
            <a:endParaRPr lang="en-US" sz="2600" dirty="0"/>
          </a:p>
        </p:txBody>
      </p:sp>
      <p:sp>
        <p:nvSpPr>
          <p:cNvPr id="6" name="Text 4"/>
          <p:cNvSpPr/>
          <p:nvPr/>
        </p:nvSpPr>
        <p:spPr>
          <a:xfrm>
            <a:off x="640080" y="1207008"/>
            <a:ext cx="10911535" cy="237744"/>
          </a:xfrm>
          <a:prstGeom prst="rect">
            <a:avLst/>
          </a:prstGeom>
          <a:noFill/>
          <a:ln/>
        </p:spPr>
        <p:txBody>
          <a:bodyPr wrap="square" lIns="0" tIns="0" rIns="0" bIns="0" rtlCol="0" anchor="t"/>
          <a:lstStyle/>
          <a:p>
            <a:pPr marL="0" indent="0">
              <a:buNone/>
            </a:pPr>
            <a:r>
              <a:rPr lang="en-US" sz="1050" b="1" kern="0" spc="180" dirty="0">
                <a:solidFill>
                  <a:srgbClr val="5A6B84"/>
                </a:solidFill>
                <a:latin typeface="Calibri" pitchFamily="34" charset="0"/>
                <a:ea typeface="Calibri" pitchFamily="34" charset="-122"/>
                <a:cs typeface="Calibri" pitchFamily="34" charset="-120"/>
              </a:rPr>
              <a:t>THE ARTIFACT</a:t>
            </a:r>
            <a:endParaRPr lang="en-US" sz="1050" dirty="0"/>
          </a:p>
        </p:txBody>
      </p:sp>
      <p:sp>
        <p:nvSpPr>
          <p:cNvPr id="7" name="Shape 5"/>
          <p:cNvSpPr/>
          <p:nvPr/>
        </p:nvSpPr>
        <p:spPr>
          <a:xfrm>
            <a:off x="640080" y="1481328"/>
            <a:ext cx="1666189" cy="841248"/>
          </a:xfrm>
          <a:prstGeom prst="roundRect">
            <a:avLst>
              <a:gd name="adj" fmla="val 5435"/>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pic>
        <p:nvPicPr>
          <p:cNvPr id="8" name="Image 0" descr="/home/claude/deck/eq/sym_P.png"/>
          <p:cNvPicPr>
            <a:picLocks noChangeAspect="1"/>
          </p:cNvPicPr>
          <p:nvPr/>
        </p:nvPicPr>
        <p:blipFill>
          <a:blip r:embed="rId3"/>
          <a:stretch>
            <a:fillRect/>
          </a:stretch>
        </p:blipFill>
        <p:spPr>
          <a:xfrm>
            <a:off x="1344587" y="1591056"/>
            <a:ext cx="257175" cy="274320"/>
          </a:xfrm>
          <a:prstGeom prst="rect">
            <a:avLst/>
          </a:prstGeom>
        </p:spPr>
      </p:pic>
      <p:sp>
        <p:nvSpPr>
          <p:cNvPr id="9" name="Text 6"/>
          <p:cNvSpPr/>
          <p:nvPr/>
        </p:nvSpPr>
        <p:spPr>
          <a:xfrm>
            <a:off x="694944" y="1901952"/>
            <a:ext cx="1556461" cy="402336"/>
          </a:xfrm>
          <a:prstGeom prst="rect">
            <a:avLst/>
          </a:prstGeom>
          <a:noFill/>
          <a:ln/>
        </p:spPr>
        <p:txBody>
          <a:bodyPr wrap="square" lIns="0" tIns="0" rIns="0" bIns="0" rtlCol="0" anchor="t"/>
          <a:lstStyle/>
          <a:p>
            <a:pPr marL="0" indent="0" algn="ctr">
              <a:lnSpc>
                <a:spcPct val="100000"/>
              </a:lnSpc>
              <a:buNone/>
            </a:pPr>
            <a:r>
              <a:rPr lang="en-US" sz="950" dirty="0">
                <a:solidFill>
                  <a:srgbClr val="5A6B84"/>
                </a:solidFill>
                <a:latin typeface="Calibri" pitchFamily="34" charset="0"/>
                <a:ea typeface="Calibri" pitchFamily="34" charset="-122"/>
                <a:cs typeface="Calibri" pitchFamily="34" charset="-120"/>
              </a:rPr>
              <a:t>deterministic</a:t>
            </a:r>
            <a:endParaRPr lang="en-US" sz="950" dirty="0"/>
          </a:p>
          <a:p>
            <a:pPr marL="0" indent="0" algn="ctr">
              <a:lnSpc>
                <a:spcPct val="100000"/>
              </a:lnSpc>
              <a:buNone/>
            </a:pPr>
            <a:r>
              <a:rPr lang="en-US" sz="950" dirty="0">
                <a:solidFill>
                  <a:srgbClr val="5A6B84"/>
                </a:solidFill>
                <a:latin typeface="Calibri" pitchFamily="34" charset="0"/>
                <a:ea typeface="Calibri" pitchFamily="34" charset="-122"/>
                <a:cs typeface="Calibri" pitchFamily="34" charset="-120"/>
              </a:rPr>
              <a:t>program</a:t>
            </a:r>
            <a:endParaRPr lang="en-US" sz="950" dirty="0"/>
          </a:p>
        </p:txBody>
      </p:sp>
      <p:sp>
        <p:nvSpPr>
          <p:cNvPr id="10" name="Shape 7"/>
          <p:cNvSpPr/>
          <p:nvPr/>
        </p:nvSpPr>
        <p:spPr>
          <a:xfrm>
            <a:off x="2489149" y="1481328"/>
            <a:ext cx="1666189" cy="841248"/>
          </a:xfrm>
          <a:prstGeom prst="roundRect">
            <a:avLst>
              <a:gd name="adj" fmla="val 5435"/>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pic>
        <p:nvPicPr>
          <p:cNvPr id="11" name="Image 1" descr="/home/claude/deck/eq/sym_H.png"/>
          <p:cNvPicPr>
            <a:picLocks noChangeAspect="1"/>
          </p:cNvPicPr>
          <p:nvPr/>
        </p:nvPicPr>
        <p:blipFill>
          <a:blip r:embed="rId4"/>
          <a:stretch>
            <a:fillRect/>
          </a:stretch>
        </p:blipFill>
        <p:spPr>
          <a:xfrm>
            <a:off x="3159366" y="1591056"/>
            <a:ext cx="325755" cy="274320"/>
          </a:xfrm>
          <a:prstGeom prst="rect">
            <a:avLst/>
          </a:prstGeom>
        </p:spPr>
      </p:pic>
      <p:sp>
        <p:nvSpPr>
          <p:cNvPr id="12" name="Text 8"/>
          <p:cNvSpPr/>
          <p:nvPr/>
        </p:nvSpPr>
        <p:spPr>
          <a:xfrm>
            <a:off x="2544013" y="1901952"/>
            <a:ext cx="1556461" cy="402336"/>
          </a:xfrm>
          <a:prstGeom prst="rect">
            <a:avLst/>
          </a:prstGeom>
          <a:noFill/>
          <a:ln/>
        </p:spPr>
        <p:txBody>
          <a:bodyPr wrap="square" lIns="0" tIns="0" rIns="0" bIns="0" rtlCol="0" anchor="t"/>
          <a:lstStyle/>
          <a:p>
            <a:pPr marL="0" indent="0" algn="ctr">
              <a:lnSpc>
                <a:spcPct val="100000"/>
              </a:lnSpc>
              <a:buNone/>
            </a:pPr>
            <a:r>
              <a:rPr lang="en-US" sz="950" dirty="0">
                <a:solidFill>
                  <a:srgbClr val="5A6B84"/>
                </a:solidFill>
                <a:latin typeface="Calibri" pitchFamily="34" charset="0"/>
                <a:ea typeface="Calibri" pitchFamily="34" charset="-122"/>
                <a:cs typeface="Calibri" pitchFamily="34" charset="-120"/>
              </a:rPr>
              <a:t>hard</a:t>
            </a:r>
            <a:endParaRPr lang="en-US" sz="950" dirty="0"/>
          </a:p>
          <a:p>
            <a:pPr marL="0" indent="0" algn="ctr">
              <a:lnSpc>
                <a:spcPct val="100000"/>
              </a:lnSpc>
              <a:buNone/>
            </a:pPr>
            <a:r>
              <a:rPr lang="en-US" sz="950" dirty="0">
                <a:solidFill>
                  <a:srgbClr val="5A6B84"/>
                </a:solidFill>
                <a:latin typeface="Calibri" pitchFamily="34" charset="0"/>
                <a:ea typeface="Calibri" pitchFamily="34" charset="-122"/>
                <a:cs typeface="Calibri" pitchFamily="34" charset="-120"/>
              </a:rPr>
              <a:t>guard</a:t>
            </a:r>
            <a:endParaRPr lang="en-US" sz="950" dirty="0"/>
          </a:p>
        </p:txBody>
      </p:sp>
      <p:sp>
        <p:nvSpPr>
          <p:cNvPr id="13" name="Shape 9"/>
          <p:cNvSpPr/>
          <p:nvPr/>
        </p:nvSpPr>
        <p:spPr>
          <a:xfrm>
            <a:off x="4338218" y="1481328"/>
            <a:ext cx="1666189" cy="841248"/>
          </a:xfrm>
          <a:prstGeom prst="roundRect">
            <a:avLst>
              <a:gd name="adj" fmla="val 5435"/>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pic>
        <p:nvPicPr>
          <p:cNvPr id="14" name="Image 2" descr="/home/claude/deck/eq/sym_V.png"/>
          <p:cNvPicPr>
            <a:picLocks noChangeAspect="1"/>
          </p:cNvPicPr>
          <p:nvPr/>
        </p:nvPicPr>
        <p:blipFill>
          <a:blip r:embed="rId5"/>
          <a:stretch>
            <a:fillRect/>
          </a:stretch>
        </p:blipFill>
        <p:spPr>
          <a:xfrm>
            <a:off x="5046622" y="1591056"/>
            <a:ext cx="249382" cy="274320"/>
          </a:xfrm>
          <a:prstGeom prst="rect">
            <a:avLst/>
          </a:prstGeom>
        </p:spPr>
      </p:pic>
      <p:sp>
        <p:nvSpPr>
          <p:cNvPr id="15" name="Text 10"/>
          <p:cNvSpPr/>
          <p:nvPr/>
        </p:nvSpPr>
        <p:spPr>
          <a:xfrm>
            <a:off x="4393082" y="1901952"/>
            <a:ext cx="1556461" cy="402336"/>
          </a:xfrm>
          <a:prstGeom prst="rect">
            <a:avLst/>
          </a:prstGeom>
          <a:noFill/>
          <a:ln/>
        </p:spPr>
        <p:txBody>
          <a:bodyPr wrap="square" lIns="0" tIns="0" rIns="0" bIns="0" rtlCol="0" anchor="t"/>
          <a:lstStyle/>
          <a:p>
            <a:pPr marL="0" indent="0" algn="ctr">
              <a:lnSpc>
                <a:spcPct val="100000"/>
              </a:lnSpc>
              <a:buNone/>
            </a:pPr>
            <a:r>
              <a:rPr lang="en-US" sz="950" dirty="0">
                <a:solidFill>
                  <a:srgbClr val="5A6B84"/>
                </a:solidFill>
                <a:latin typeface="Calibri" pitchFamily="34" charset="0"/>
                <a:ea typeface="Calibri" pitchFamily="34" charset="-122"/>
                <a:cs typeface="Calibri" pitchFamily="34" charset="-120"/>
              </a:rPr>
              <a:t>post-execution</a:t>
            </a:r>
            <a:endParaRPr lang="en-US" sz="950" dirty="0"/>
          </a:p>
          <a:p>
            <a:pPr marL="0" indent="0" algn="ctr">
              <a:lnSpc>
                <a:spcPct val="100000"/>
              </a:lnSpc>
              <a:buNone/>
            </a:pPr>
            <a:r>
              <a:rPr lang="en-US" sz="950" dirty="0">
                <a:solidFill>
                  <a:srgbClr val="5A6B84"/>
                </a:solidFill>
                <a:latin typeface="Calibri" pitchFamily="34" charset="0"/>
                <a:ea typeface="Calibri" pitchFamily="34" charset="-122"/>
                <a:cs typeface="Calibri" pitchFamily="34" charset="-120"/>
              </a:rPr>
              <a:t>verifier</a:t>
            </a:r>
            <a:endParaRPr lang="en-US" sz="950" dirty="0"/>
          </a:p>
        </p:txBody>
      </p:sp>
      <p:sp>
        <p:nvSpPr>
          <p:cNvPr id="16" name="Shape 11"/>
          <p:cNvSpPr/>
          <p:nvPr/>
        </p:nvSpPr>
        <p:spPr>
          <a:xfrm>
            <a:off x="6187288" y="1481328"/>
            <a:ext cx="1666189" cy="841248"/>
          </a:xfrm>
          <a:prstGeom prst="roundRect">
            <a:avLst>
              <a:gd name="adj" fmla="val 5435"/>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pic>
        <p:nvPicPr>
          <p:cNvPr id="17" name="Image 3" descr="/home/claude/deck/eq/sym_q.png"/>
          <p:cNvPicPr>
            <a:picLocks noChangeAspect="1"/>
          </p:cNvPicPr>
          <p:nvPr/>
        </p:nvPicPr>
        <p:blipFill>
          <a:blip r:embed="rId6"/>
          <a:stretch>
            <a:fillRect/>
          </a:stretch>
        </p:blipFill>
        <p:spPr>
          <a:xfrm>
            <a:off x="6921798" y="1591056"/>
            <a:ext cx="197167" cy="274320"/>
          </a:xfrm>
          <a:prstGeom prst="rect">
            <a:avLst/>
          </a:prstGeom>
        </p:spPr>
      </p:pic>
      <p:sp>
        <p:nvSpPr>
          <p:cNvPr id="18" name="Text 12"/>
          <p:cNvSpPr/>
          <p:nvPr/>
        </p:nvSpPr>
        <p:spPr>
          <a:xfrm>
            <a:off x="6242152" y="1901952"/>
            <a:ext cx="1556461" cy="402336"/>
          </a:xfrm>
          <a:prstGeom prst="rect">
            <a:avLst/>
          </a:prstGeom>
          <a:noFill/>
          <a:ln/>
        </p:spPr>
        <p:txBody>
          <a:bodyPr wrap="square" lIns="0" tIns="0" rIns="0" bIns="0" rtlCol="0" anchor="t"/>
          <a:lstStyle/>
          <a:p>
            <a:pPr marL="0" indent="0" algn="ctr">
              <a:lnSpc>
                <a:spcPct val="100000"/>
              </a:lnSpc>
              <a:buNone/>
            </a:pPr>
            <a:r>
              <a:rPr lang="en-US" sz="950" dirty="0">
                <a:solidFill>
                  <a:srgbClr val="5A6B84"/>
                </a:solidFill>
                <a:latin typeface="Calibri" pitchFamily="34" charset="0"/>
                <a:ea typeface="Calibri" pitchFamily="34" charset="-122"/>
                <a:cs typeface="Calibri" pitchFamily="34" charset="-120"/>
              </a:rPr>
              <a:t>nonconformity</a:t>
            </a:r>
            <a:endParaRPr lang="en-US" sz="950" dirty="0"/>
          </a:p>
          <a:p>
            <a:pPr marL="0" indent="0" algn="ctr">
              <a:lnSpc>
                <a:spcPct val="100000"/>
              </a:lnSpc>
              <a:buNone/>
            </a:pPr>
            <a:r>
              <a:rPr lang="en-US" sz="950" dirty="0">
                <a:solidFill>
                  <a:srgbClr val="5A6B84"/>
                </a:solidFill>
                <a:latin typeface="Calibri" pitchFamily="34" charset="0"/>
                <a:ea typeface="Calibri" pitchFamily="34" charset="-122"/>
                <a:cs typeface="Calibri" pitchFamily="34" charset="-120"/>
              </a:rPr>
              <a:t>score</a:t>
            </a:r>
            <a:endParaRPr lang="en-US" sz="950" dirty="0"/>
          </a:p>
        </p:txBody>
      </p:sp>
      <p:sp>
        <p:nvSpPr>
          <p:cNvPr id="19" name="Shape 13"/>
          <p:cNvSpPr/>
          <p:nvPr/>
        </p:nvSpPr>
        <p:spPr>
          <a:xfrm>
            <a:off x="8036357" y="1481328"/>
            <a:ext cx="1666189" cy="841248"/>
          </a:xfrm>
          <a:prstGeom prst="roundRect">
            <a:avLst>
              <a:gd name="adj" fmla="val 5435"/>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pic>
        <p:nvPicPr>
          <p:cNvPr id="20" name="Image 4" descr="/home/claude/deck/eq/sym_eta.png"/>
          <p:cNvPicPr>
            <a:picLocks noChangeAspect="1"/>
          </p:cNvPicPr>
          <p:nvPr/>
        </p:nvPicPr>
        <p:blipFill>
          <a:blip r:embed="rId7"/>
          <a:stretch>
            <a:fillRect/>
          </a:stretch>
        </p:blipFill>
        <p:spPr>
          <a:xfrm>
            <a:off x="8774201" y="1591056"/>
            <a:ext cx="190500" cy="274320"/>
          </a:xfrm>
          <a:prstGeom prst="rect">
            <a:avLst/>
          </a:prstGeom>
        </p:spPr>
      </p:pic>
      <p:sp>
        <p:nvSpPr>
          <p:cNvPr id="21" name="Text 14"/>
          <p:cNvSpPr/>
          <p:nvPr/>
        </p:nvSpPr>
        <p:spPr>
          <a:xfrm>
            <a:off x="8091221" y="1901952"/>
            <a:ext cx="1556461" cy="402336"/>
          </a:xfrm>
          <a:prstGeom prst="rect">
            <a:avLst/>
          </a:prstGeom>
          <a:noFill/>
          <a:ln/>
        </p:spPr>
        <p:txBody>
          <a:bodyPr wrap="square" lIns="0" tIns="0" rIns="0" bIns="0" rtlCol="0" anchor="t"/>
          <a:lstStyle/>
          <a:p>
            <a:pPr marL="0" indent="0" algn="ctr">
              <a:lnSpc>
                <a:spcPct val="100000"/>
              </a:lnSpc>
              <a:buNone/>
            </a:pPr>
            <a:r>
              <a:rPr lang="en-US" sz="950" dirty="0">
                <a:solidFill>
                  <a:srgbClr val="5A6B84"/>
                </a:solidFill>
                <a:latin typeface="Calibri" pitchFamily="34" charset="0"/>
                <a:ea typeface="Calibri" pitchFamily="34" charset="-122"/>
                <a:cs typeface="Calibri" pitchFamily="34" charset="-120"/>
              </a:rPr>
              <a:t>calibrated</a:t>
            </a:r>
            <a:endParaRPr lang="en-US" sz="950" dirty="0"/>
          </a:p>
          <a:p>
            <a:pPr marL="0" indent="0" algn="ctr">
              <a:lnSpc>
                <a:spcPct val="100000"/>
              </a:lnSpc>
              <a:buNone/>
            </a:pPr>
            <a:r>
              <a:rPr lang="en-US" sz="950" dirty="0">
                <a:solidFill>
                  <a:srgbClr val="5A6B84"/>
                </a:solidFill>
                <a:latin typeface="Calibri" pitchFamily="34" charset="0"/>
                <a:ea typeface="Calibri" pitchFamily="34" charset="-122"/>
                <a:cs typeface="Calibri" pitchFamily="34" charset="-120"/>
              </a:rPr>
              <a:t>threshold</a:t>
            </a:r>
            <a:endParaRPr lang="en-US" sz="950" dirty="0"/>
          </a:p>
        </p:txBody>
      </p:sp>
      <p:sp>
        <p:nvSpPr>
          <p:cNvPr id="22" name="Shape 15"/>
          <p:cNvSpPr/>
          <p:nvPr/>
        </p:nvSpPr>
        <p:spPr>
          <a:xfrm>
            <a:off x="9885426" y="1481328"/>
            <a:ext cx="1666189" cy="841248"/>
          </a:xfrm>
          <a:prstGeom prst="roundRect">
            <a:avLst>
              <a:gd name="adj" fmla="val 5435"/>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pic>
        <p:nvPicPr>
          <p:cNvPr id="23" name="Image 5" descr="/home/claude/deck/eq/sym_M.png"/>
          <p:cNvPicPr>
            <a:picLocks noChangeAspect="1"/>
          </p:cNvPicPr>
          <p:nvPr/>
        </p:nvPicPr>
        <p:blipFill>
          <a:blip r:embed="rId8"/>
          <a:stretch>
            <a:fillRect/>
          </a:stretch>
        </p:blipFill>
        <p:spPr>
          <a:xfrm>
            <a:off x="10529926" y="1591056"/>
            <a:ext cx="377190" cy="274320"/>
          </a:xfrm>
          <a:prstGeom prst="rect">
            <a:avLst/>
          </a:prstGeom>
        </p:spPr>
      </p:pic>
      <p:sp>
        <p:nvSpPr>
          <p:cNvPr id="24" name="Text 16"/>
          <p:cNvSpPr/>
          <p:nvPr/>
        </p:nvSpPr>
        <p:spPr>
          <a:xfrm>
            <a:off x="9940290" y="1901952"/>
            <a:ext cx="1556461" cy="402336"/>
          </a:xfrm>
          <a:prstGeom prst="rect">
            <a:avLst/>
          </a:prstGeom>
          <a:noFill/>
          <a:ln/>
        </p:spPr>
        <p:txBody>
          <a:bodyPr wrap="square" lIns="0" tIns="0" rIns="0" bIns="0" rtlCol="0" anchor="t"/>
          <a:lstStyle/>
          <a:p>
            <a:pPr marL="0" indent="0" algn="ctr">
              <a:lnSpc>
                <a:spcPct val="100000"/>
              </a:lnSpc>
              <a:buNone/>
            </a:pPr>
            <a:r>
              <a:rPr lang="en-US" sz="950" dirty="0">
                <a:solidFill>
                  <a:srgbClr val="5A6B84"/>
                </a:solidFill>
                <a:latin typeface="Calibri" pitchFamily="34" charset="0"/>
                <a:ea typeface="Calibri" pitchFamily="34" charset="-122"/>
                <a:cs typeface="Calibri" pitchFamily="34" charset="-120"/>
              </a:rPr>
              <a:t>manifest</a:t>
            </a:r>
            <a:endParaRPr lang="en-US" sz="950" dirty="0"/>
          </a:p>
          <a:p>
            <a:pPr marL="0" indent="0" algn="ctr">
              <a:lnSpc>
                <a:spcPct val="100000"/>
              </a:lnSpc>
              <a:buNone/>
            </a:pPr>
            <a:r>
              <a:rPr lang="en-US" sz="950" dirty="0">
                <a:solidFill>
                  <a:srgbClr val="5A6B84"/>
                </a:solidFill>
                <a:latin typeface="Calibri" pitchFamily="34" charset="0"/>
                <a:ea typeface="Calibri" pitchFamily="34" charset="-122"/>
                <a:cs typeface="Calibri" pitchFamily="34" charset="-120"/>
              </a:rPr>
              <a:t>pins</a:t>
            </a:r>
            <a:endParaRPr lang="en-US" sz="950" dirty="0"/>
          </a:p>
        </p:txBody>
      </p:sp>
      <p:sp>
        <p:nvSpPr>
          <p:cNvPr id="25" name="Shape 17"/>
          <p:cNvSpPr/>
          <p:nvPr/>
        </p:nvSpPr>
        <p:spPr>
          <a:xfrm>
            <a:off x="640080" y="2487168"/>
            <a:ext cx="5291176" cy="1316736"/>
          </a:xfrm>
          <a:prstGeom prst="roundRect">
            <a:avLst>
              <a:gd name="adj" fmla="val 3472"/>
            </a:avLst>
          </a:prstGeom>
          <a:solidFill>
            <a:srgbClr val="F5F9FC"/>
          </a:solidFill>
          <a:ln w="9525">
            <a:solidFill>
              <a:srgbClr val="D5E0EB"/>
            </a:solidFill>
            <a:prstDash val="solid"/>
          </a:ln>
        </p:spPr>
        <p:txBody>
          <a:bodyPr/>
          <a:lstStyle/>
          <a:p>
            <a:endParaRPr lang="en-US"/>
          </a:p>
        </p:txBody>
      </p:sp>
      <p:pic>
        <p:nvPicPr>
          <p:cNvPr id="26" name="Image 6" descr="/home/claude/deck/eq/eq3.png"/>
          <p:cNvPicPr>
            <a:picLocks noChangeAspect="1"/>
          </p:cNvPicPr>
          <p:nvPr/>
        </p:nvPicPr>
        <p:blipFill>
          <a:blip r:embed="rId9"/>
          <a:stretch>
            <a:fillRect/>
          </a:stretch>
        </p:blipFill>
        <p:spPr>
          <a:xfrm>
            <a:off x="877824" y="2681103"/>
            <a:ext cx="4248760" cy="252209"/>
          </a:xfrm>
          <a:prstGeom prst="rect">
            <a:avLst/>
          </a:prstGeom>
        </p:spPr>
      </p:pic>
      <p:sp>
        <p:nvSpPr>
          <p:cNvPr id="27" name="Text 18"/>
          <p:cNvSpPr/>
          <p:nvPr/>
        </p:nvSpPr>
        <p:spPr>
          <a:xfrm>
            <a:off x="877824" y="3054096"/>
            <a:ext cx="4815688" cy="640080"/>
          </a:xfrm>
          <a:prstGeom prst="rect">
            <a:avLst/>
          </a:prstGeom>
          <a:noFill/>
          <a:ln/>
        </p:spPr>
        <p:txBody>
          <a:bodyPr wrap="square" lIns="0" tIns="0" rIns="0" bIns="0" rtlCol="0" anchor="t"/>
          <a:lstStyle/>
          <a:p>
            <a:pPr marL="0" indent="0">
              <a:lnSpc>
                <a:spcPct val="105000"/>
              </a:lnSpc>
              <a:buNone/>
            </a:pPr>
            <a:r>
              <a:rPr lang="en-US" sz="1000" dirty="0">
                <a:solidFill>
                  <a:srgbClr val="5A6B84"/>
                </a:solidFill>
                <a:latin typeface="Calibri" pitchFamily="34" charset="0"/>
                <a:ea typeface="Calibri" pitchFamily="34" charset="-122"/>
                <a:cs typeface="Calibri" pitchFamily="34" charset="-120"/>
              </a:rPr>
              <a:t>SELECTIVE DISPATCH — if any precondition fails, the baseline agent runs. A pre-commit failure with a clean staging proof also returns the baseline; a dirty failure is an incident, not a fallback.</a:t>
            </a:r>
            <a:endParaRPr lang="en-US" sz="1000" dirty="0"/>
          </a:p>
        </p:txBody>
      </p:sp>
      <p:sp>
        <p:nvSpPr>
          <p:cNvPr id="28" name="Text 19"/>
          <p:cNvSpPr/>
          <p:nvPr/>
        </p:nvSpPr>
        <p:spPr>
          <a:xfrm>
            <a:off x="5236312" y="2633472"/>
            <a:ext cx="493776" cy="274320"/>
          </a:xfrm>
          <a:prstGeom prst="rect">
            <a:avLst/>
          </a:prstGeom>
          <a:noFill/>
          <a:ln/>
        </p:spPr>
        <p:txBody>
          <a:bodyPr wrap="square" lIns="0" tIns="0" rIns="0" bIns="0" rtlCol="0" anchor="t"/>
          <a:lstStyle/>
          <a:p>
            <a:pPr marL="0" indent="0" algn="r">
              <a:buNone/>
            </a:pPr>
            <a:r>
              <a:rPr lang="en-US" sz="1000" dirty="0">
                <a:solidFill>
                  <a:srgbClr val="56B3BE"/>
                </a:solidFill>
                <a:latin typeface="Calibri" pitchFamily="34" charset="0"/>
                <a:ea typeface="Calibri" pitchFamily="34" charset="-122"/>
                <a:cs typeface="Calibri" pitchFamily="34" charset="-120"/>
              </a:rPr>
              <a:t>(3)</a:t>
            </a:r>
            <a:endParaRPr lang="en-US" sz="1000" dirty="0"/>
          </a:p>
        </p:txBody>
      </p:sp>
      <p:sp>
        <p:nvSpPr>
          <p:cNvPr id="29" name="Shape 20"/>
          <p:cNvSpPr/>
          <p:nvPr/>
        </p:nvSpPr>
        <p:spPr>
          <a:xfrm>
            <a:off x="6260440" y="2487168"/>
            <a:ext cx="5291176" cy="1316736"/>
          </a:xfrm>
          <a:prstGeom prst="roundRect">
            <a:avLst>
              <a:gd name="adj" fmla="val 3472"/>
            </a:avLst>
          </a:prstGeom>
          <a:solidFill>
            <a:srgbClr val="F5F9FC"/>
          </a:solidFill>
          <a:ln w="9525">
            <a:solidFill>
              <a:srgbClr val="D5E0EB"/>
            </a:solidFill>
            <a:prstDash val="solid"/>
          </a:ln>
        </p:spPr>
        <p:txBody>
          <a:bodyPr/>
          <a:lstStyle/>
          <a:p>
            <a:endParaRPr lang="en-US"/>
          </a:p>
        </p:txBody>
      </p:sp>
      <p:pic>
        <p:nvPicPr>
          <p:cNvPr id="30" name="Image 7" descr="/home/claude/deck/eq/eq45.png"/>
          <p:cNvPicPr>
            <a:picLocks noChangeAspect="1"/>
          </p:cNvPicPr>
          <p:nvPr/>
        </p:nvPicPr>
        <p:blipFill>
          <a:blip r:embed="rId10"/>
          <a:stretch>
            <a:fillRect/>
          </a:stretch>
        </p:blipFill>
        <p:spPr>
          <a:xfrm>
            <a:off x="6498184" y="2633472"/>
            <a:ext cx="2558230" cy="621792"/>
          </a:xfrm>
          <a:prstGeom prst="rect">
            <a:avLst/>
          </a:prstGeom>
        </p:spPr>
      </p:pic>
      <p:sp>
        <p:nvSpPr>
          <p:cNvPr id="31" name="Text 21"/>
          <p:cNvSpPr/>
          <p:nvPr/>
        </p:nvSpPr>
        <p:spPr>
          <a:xfrm>
            <a:off x="6498184" y="3328416"/>
            <a:ext cx="4815688" cy="365760"/>
          </a:xfrm>
          <a:prstGeom prst="rect">
            <a:avLst/>
          </a:prstGeom>
          <a:noFill/>
          <a:ln/>
        </p:spPr>
        <p:txBody>
          <a:bodyPr wrap="square" lIns="0" tIns="0" rIns="0" bIns="0" rtlCol="0" anchor="t"/>
          <a:lstStyle/>
          <a:p>
            <a:pPr marL="0" indent="0">
              <a:lnSpc>
                <a:spcPct val="105000"/>
              </a:lnSpc>
              <a:buNone/>
            </a:pPr>
            <a:r>
              <a:rPr lang="en-US" sz="1000" dirty="0">
                <a:solidFill>
                  <a:srgbClr val="5A6B84"/>
                </a:solidFill>
                <a:latin typeface="Calibri" pitchFamily="34" charset="0"/>
                <a:ea typeface="Calibri" pitchFamily="34" charset="-122"/>
                <a:cs typeface="Calibri" pitchFamily="34" charset="-120"/>
              </a:rPr>
              <a:t>CONSTRAINED OBJECTIVE — maximize coverage-weighted saving against the unchanged agent B, subject to bounded selective risk. Returning no artifact (Retire) is a valid solution.</a:t>
            </a:r>
            <a:endParaRPr lang="en-US" sz="1000" dirty="0"/>
          </a:p>
        </p:txBody>
      </p:sp>
      <p:sp>
        <p:nvSpPr>
          <p:cNvPr id="32" name="Text 22"/>
          <p:cNvSpPr/>
          <p:nvPr/>
        </p:nvSpPr>
        <p:spPr>
          <a:xfrm>
            <a:off x="10856671" y="2633472"/>
            <a:ext cx="493776" cy="274320"/>
          </a:xfrm>
          <a:prstGeom prst="rect">
            <a:avLst/>
          </a:prstGeom>
          <a:noFill/>
          <a:ln/>
        </p:spPr>
        <p:txBody>
          <a:bodyPr wrap="square" lIns="0" tIns="0" rIns="0" bIns="0" rtlCol="0" anchor="t"/>
          <a:lstStyle/>
          <a:p>
            <a:pPr marL="0" indent="0" algn="r">
              <a:buNone/>
            </a:pPr>
            <a:r>
              <a:rPr lang="en-US" sz="1000" dirty="0">
                <a:solidFill>
                  <a:srgbClr val="56B3BE"/>
                </a:solidFill>
                <a:latin typeface="Calibri" pitchFamily="34" charset="0"/>
                <a:ea typeface="Calibri" pitchFamily="34" charset="-122"/>
                <a:cs typeface="Calibri" pitchFamily="34" charset="-120"/>
              </a:rPr>
              <a:t>(4) (5)</a:t>
            </a:r>
            <a:endParaRPr lang="en-US" sz="1000" dirty="0"/>
          </a:p>
        </p:txBody>
      </p:sp>
      <p:sp>
        <p:nvSpPr>
          <p:cNvPr id="33" name="Shape 23"/>
          <p:cNvSpPr/>
          <p:nvPr/>
        </p:nvSpPr>
        <p:spPr>
          <a:xfrm>
            <a:off x="640080" y="3913632"/>
            <a:ext cx="10911535" cy="914400"/>
          </a:xfrm>
          <a:prstGeom prst="roundRect">
            <a:avLst>
              <a:gd name="adj" fmla="val 5000"/>
            </a:avLst>
          </a:prstGeom>
          <a:solidFill>
            <a:srgbClr val="E8F4F5"/>
          </a:solidFill>
          <a:ln w="9525">
            <a:solidFill>
              <a:srgbClr val="CFE4E7"/>
            </a:solidFill>
            <a:prstDash val="solid"/>
          </a:ln>
          <a:effectLst>
            <a:outerShdw blurRad="114300" dist="17780" dir="5400000" algn="bl" rotWithShape="0">
              <a:srgbClr val="94A6BC">
                <a:alpha val="15000"/>
              </a:srgbClr>
            </a:outerShdw>
          </a:effectLst>
        </p:spPr>
        <p:txBody>
          <a:bodyPr/>
          <a:lstStyle/>
          <a:p>
            <a:endParaRPr lang="en-US"/>
          </a:p>
        </p:txBody>
      </p:sp>
      <p:sp>
        <p:nvSpPr>
          <p:cNvPr id="34" name="Text 24"/>
          <p:cNvSpPr/>
          <p:nvPr/>
        </p:nvSpPr>
        <p:spPr>
          <a:xfrm>
            <a:off x="896112" y="4005072"/>
            <a:ext cx="10399471" cy="731520"/>
          </a:xfrm>
          <a:prstGeom prst="rect">
            <a:avLst/>
          </a:prstGeom>
          <a:noFill/>
          <a:ln/>
        </p:spPr>
        <p:txBody>
          <a:bodyPr wrap="square" lIns="0" tIns="0" rIns="0" bIns="0" rtlCol="0" anchor="ctr"/>
          <a:lstStyle/>
          <a:p>
            <a:pPr marL="0" indent="0">
              <a:lnSpc>
                <a:spcPct val="108000"/>
              </a:lnSpc>
              <a:buNone/>
            </a:pPr>
            <a:r>
              <a:rPr lang="en-US" sz="1150" b="1" dirty="0">
                <a:solidFill>
                  <a:srgbClr val="0E1E3A"/>
                </a:solidFill>
                <a:latin typeface="Calibri" pitchFamily="34" charset="0"/>
                <a:ea typeface="Calibri" pitchFamily="34" charset="-122"/>
                <a:cs typeface="Calibri" pitchFamily="34" charset="-120"/>
              </a:rPr>
              <a:t>Honest reading of the objective. </a:t>
            </a:r>
            <a:r>
              <a:rPr lang="en-US" sz="1150" dirty="0">
                <a:solidFill>
                  <a:srgbClr val="24354F"/>
                </a:solidFill>
                <a:latin typeface="Calibri" pitchFamily="34" charset="0"/>
                <a:ea typeface="Calibri" pitchFamily="34" charset="-122"/>
                <a:cs typeface="Calibri" pitchFamily="34" charset="-120"/>
              </a:rPr>
              <a:t>Equation (5) is a design target, not a problem the implementation solves. Algorithm 1 ranks families and returns the first that survives synthesis, contracts, and calibration — it neither enumerates all admissible families nor bounds the gap to the best one. Because the first admissible family ships, the ranking is load-bearing after all.</a:t>
            </a:r>
            <a:endParaRPr lang="en-US" sz="1150" dirty="0"/>
          </a:p>
        </p:txBody>
      </p:sp>
      <p:sp>
        <p:nvSpPr>
          <p:cNvPr id="35" name="Text 25"/>
          <p:cNvSpPr/>
          <p:nvPr/>
        </p:nvSpPr>
        <p:spPr>
          <a:xfrm>
            <a:off x="640080" y="4956048"/>
            <a:ext cx="10911535" cy="237744"/>
          </a:xfrm>
          <a:prstGeom prst="rect">
            <a:avLst/>
          </a:prstGeom>
          <a:noFill/>
          <a:ln/>
        </p:spPr>
        <p:txBody>
          <a:bodyPr wrap="square" lIns="0" tIns="0" rIns="0" bIns="0" rtlCol="0" anchor="t"/>
          <a:lstStyle/>
          <a:p>
            <a:pPr marL="0" indent="0">
              <a:buNone/>
            </a:pPr>
            <a:r>
              <a:rPr lang="en-US" sz="1050" b="1" kern="0" spc="180" dirty="0">
                <a:solidFill>
                  <a:srgbClr val="5A6B84"/>
                </a:solidFill>
                <a:latin typeface="Calibri" pitchFamily="34" charset="0"/>
                <a:ea typeface="Calibri" pitchFamily="34" charset="-122"/>
                <a:cs typeface="Calibri" pitchFamily="34" charset="-120"/>
              </a:rPr>
              <a:t>TWO DECISION LAYERS, DELIBERATELY SEPARATED</a:t>
            </a:r>
            <a:endParaRPr lang="en-US" sz="1050" dirty="0"/>
          </a:p>
        </p:txBody>
      </p:sp>
      <p:sp>
        <p:nvSpPr>
          <p:cNvPr id="36" name="Shape 26"/>
          <p:cNvSpPr/>
          <p:nvPr/>
        </p:nvSpPr>
        <p:spPr>
          <a:xfrm>
            <a:off x="640080" y="5212080"/>
            <a:ext cx="5291176" cy="950976"/>
          </a:xfrm>
          <a:prstGeom prst="roundRect">
            <a:avLst>
              <a:gd name="adj" fmla="val 4808"/>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37" name="Text 27"/>
          <p:cNvSpPr/>
          <p:nvPr/>
        </p:nvSpPr>
        <p:spPr>
          <a:xfrm>
            <a:off x="877824" y="5303520"/>
            <a:ext cx="4815688" cy="256032"/>
          </a:xfrm>
          <a:prstGeom prst="rect">
            <a:avLst/>
          </a:prstGeom>
          <a:noFill/>
          <a:ln/>
        </p:spPr>
        <p:txBody>
          <a:bodyPr wrap="square" lIns="0" tIns="0" rIns="0" bIns="0" rtlCol="0" anchor="t"/>
          <a:lstStyle/>
          <a:p>
            <a:pPr marL="0" indent="0">
              <a:buNone/>
            </a:pPr>
            <a:r>
              <a:rPr lang="en-US" sz="1250" b="1" dirty="0">
                <a:solidFill>
                  <a:srgbClr val="1F8A99"/>
                </a:solidFill>
                <a:latin typeface="Cambria" pitchFamily="34" charset="0"/>
                <a:ea typeface="Cambria" pitchFamily="34" charset="-122"/>
                <a:cs typeface="Cambria" pitchFamily="34" charset="-120"/>
              </a:rPr>
              <a:t>Compiler layer</a:t>
            </a:r>
            <a:endParaRPr lang="en-US" sz="1250" dirty="0"/>
          </a:p>
        </p:txBody>
      </p:sp>
      <p:sp>
        <p:nvSpPr>
          <p:cNvPr id="38" name="Text 28"/>
          <p:cNvSpPr/>
          <p:nvPr/>
        </p:nvSpPr>
        <p:spPr>
          <a:xfrm>
            <a:off x="877824" y="5577840"/>
            <a:ext cx="4815688" cy="512064"/>
          </a:xfrm>
          <a:prstGeom prst="rect">
            <a:avLst/>
          </a:prstGeom>
          <a:noFill/>
          <a:ln/>
        </p:spPr>
        <p:txBody>
          <a:bodyPr wrap="square" lIns="0" tIns="0" rIns="0" bIns="0" rtlCol="0" anchor="t"/>
          <a:lstStyle/>
          <a:p>
            <a:pPr marL="0" indent="0">
              <a:lnSpc>
                <a:spcPct val="106000"/>
              </a:lnSpc>
              <a:buNone/>
            </a:pPr>
            <a:r>
              <a:rPr lang="en-US" sz="1050" dirty="0">
                <a:solidFill>
                  <a:srgbClr val="24354F"/>
                </a:solidFill>
                <a:latin typeface="Calibri" pitchFamily="34" charset="0"/>
                <a:ea typeface="Calibri" pitchFamily="34" charset="-122"/>
                <a:cs typeface="Calibri" pitchFamily="34" charset="-120"/>
              </a:rPr>
              <a:t>Action set is exactly {B, A}: retain the baseline, or admit one compiled artifact. Binary by construction.</a:t>
            </a:r>
            <a:endParaRPr lang="en-US" sz="1050" dirty="0"/>
          </a:p>
        </p:txBody>
      </p:sp>
      <p:sp>
        <p:nvSpPr>
          <p:cNvPr id="39" name="Shape 29"/>
          <p:cNvSpPr/>
          <p:nvPr/>
        </p:nvSpPr>
        <p:spPr>
          <a:xfrm>
            <a:off x="6260440" y="5212080"/>
            <a:ext cx="5291176" cy="950976"/>
          </a:xfrm>
          <a:prstGeom prst="roundRect">
            <a:avLst>
              <a:gd name="adj" fmla="val 4808"/>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40" name="Text 30"/>
          <p:cNvSpPr/>
          <p:nvPr/>
        </p:nvSpPr>
        <p:spPr>
          <a:xfrm>
            <a:off x="6498184" y="5303520"/>
            <a:ext cx="4815688" cy="256032"/>
          </a:xfrm>
          <a:prstGeom prst="rect">
            <a:avLst/>
          </a:prstGeom>
          <a:noFill/>
          <a:ln/>
        </p:spPr>
        <p:txBody>
          <a:bodyPr wrap="square" lIns="0" tIns="0" rIns="0" bIns="0" rtlCol="0" anchor="t"/>
          <a:lstStyle/>
          <a:p>
            <a:pPr marL="0" indent="0">
              <a:buNone/>
            </a:pPr>
            <a:r>
              <a:rPr lang="en-US" sz="1250" b="1" dirty="0">
                <a:solidFill>
                  <a:srgbClr val="1A3563"/>
                </a:solidFill>
                <a:latin typeface="Cambria" pitchFamily="34" charset="0"/>
                <a:ea typeface="Cambria" pitchFamily="34" charset="-122"/>
                <a:cs typeface="Cambria" pitchFamily="34" charset="-120"/>
              </a:rPr>
              <a:t>Portfolio layer</a:t>
            </a:r>
            <a:endParaRPr lang="en-US" sz="1250" dirty="0"/>
          </a:p>
        </p:txBody>
      </p:sp>
      <p:sp>
        <p:nvSpPr>
          <p:cNvPr id="41" name="Text 31"/>
          <p:cNvSpPr/>
          <p:nvPr/>
        </p:nvSpPr>
        <p:spPr>
          <a:xfrm>
            <a:off x="6498184" y="5577840"/>
            <a:ext cx="4815688" cy="512064"/>
          </a:xfrm>
          <a:prstGeom prst="rect">
            <a:avLst/>
          </a:prstGeom>
          <a:noFill/>
          <a:ln/>
        </p:spPr>
        <p:txBody>
          <a:bodyPr wrap="square" lIns="0" tIns="0" rIns="0" bIns="0" rtlCol="0" anchor="t"/>
          <a:lstStyle/>
          <a:p>
            <a:pPr marL="0" indent="0">
              <a:lnSpc>
                <a:spcPct val="106000"/>
              </a:lnSpc>
              <a:buNone/>
            </a:pPr>
            <a:r>
              <a:rPr lang="en-US" sz="1050" dirty="0">
                <a:solidFill>
                  <a:srgbClr val="24354F"/>
                </a:solidFill>
                <a:latin typeface="Calibri" pitchFamily="34" charset="0"/>
                <a:ea typeface="Calibri" pitchFamily="34" charset="-122"/>
                <a:cs typeface="Calibri" pitchFamily="34" charset="-120"/>
              </a:rPr>
              <a:t>Defined in section 3.4. Consumes paired measurements for arbitrary named actions. Cannot weaken compiler admission, and cannot turn an unevaluated macro into deployable code.</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E3A"/>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43597C"/>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43597C"/>
                </a:solidFill>
                <a:latin typeface="Calibri" pitchFamily="34" charset="0"/>
                <a:ea typeface="Calibri" pitchFamily="34" charset="-122"/>
                <a:cs typeface="Calibri" pitchFamily="34" charset="-120"/>
              </a:rPr>
              <a:t>8</a:t>
            </a:r>
            <a:endParaRPr lang="en-US" sz="900" dirty="0"/>
          </a:p>
        </p:txBody>
      </p:sp>
      <p:sp>
        <p:nvSpPr>
          <p:cNvPr id="4" name="Shape 2"/>
          <p:cNvSpPr/>
          <p:nvPr/>
        </p:nvSpPr>
        <p:spPr>
          <a:xfrm>
            <a:off x="9326880" y="914400"/>
            <a:ext cx="5120640" cy="5120640"/>
          </a:xfrm>
          <a:prstGeom prst="ellipse">
            <a:avLst/>
          </a:prstGeom>
          <a:solidFill>
            <a:srgbClr val="1A3563">
              <a:alpha val="60000"/>
            </a:srgbClr>
          </a:solidFill>
          <a:ln w="12700">
            <a:solidFill>
              <a:srgbClr val="1A3563"/>
            </a:solidFill>
            <a:prstDash val="solid"/>
          </a:ln>
        </p:spPr>
        <p:txBody>
          <a:bodyPr/>
          <a:lstStyle/>
          <a:p>
            <a:endParaRPr lang="en-US"/>
          </a:p>
        </p:txBody>
      </p:sp>
      <p:sp>
        <p:nvSpPr>
          <p:cNvPr id="5" name="Shape 3"/>
          <p:cNvSpPr/>
          <p:nvPr/>
        </p:nvSpPr>
        <p:spPr>
          <a:xfrm>
            <a:off x="10607040" y="2194560"/>
            <a:ext cx="2560320" cy="2560320"/>
          </a:xfrm>
          <a:prstGeom prst="ellipse">
            <a:avLst/>
          </a:prstGeom>
          <a:solidFill>
            <a:srgbClr val="1F8A99">
              <a:alpha val="45000"/>
            </a:srgbClr>
          </a:solidFill>
          <a:ln w="12700">
            <a:solidFill>
              <a:srgbClr val="1F8A99"/>
            </a:solidFill>
            <a:prstDash val="solid"/>
          </a:ln>
        </p:spPr>
        <p:txBody>
          <a:bodyPr/>
          <a:lstStyle/>
          <a:p>
            <a:endParaRPr lang="en-US"/>
          </a:p>
        </p:txBody>
      </p:sp>
      <p:sp>
        <p:nvSpPr>
          <p:cNvPr id="6" name="Text 4"/>
          <p:cNvSpPr/>
          <p:nvPr/>
        </p:nvSpPr>
        <p:spPr>
          <a:xfrm>
            <a:off x="640080" y="2148840"/>
            <a:ext cx="1463040" cy="1371600"/>
          </a:xfrm>
          <a:prstGeom prst="rect">
            <a:avLst/>
          </a:prstGeom>
          <a:noFill/>
          <a:ln/>
        </p:spPr>
        <p:txBody>
          <a:bodyPr wrap="square" lIns="0" tIns="0" rIns="0" bIns="0" rtlCol="0" anchor="ctr"/>
          <a:lstStyle/>
          <a:p>
            <a:pPr marL="0" indent="0">
              <a:buNone/>
            </a:pPr>
            <a:r>
              <a:rPr lang="en-US" sz="7600" b="1" dirty="0">
                <a:solidFill>
                  <a:srgbClr val="56B3BE"/>
                </a:solidFill>
                <a:latin typeface="Cambria" pitchFamily="34" charset="0"/>
                <a:ea typeface="Cambria" pitchFamily="34" charset="-122"/>
                <a:cs typeface="Cambria" pitchFamily="34" charset="-120"/>
              </a:rPr>
              <a:t>II</a:t>
            </a:r>
            <a:endParaRPr lang="en-US" sz="7600" dirty="0"/>
          </a:p>
        </p:txBody>
      </p:sp>
      <p:sp>
        <p:nvSpPr>
          <p:cNvPr id="7" name="Text 5"/>
          <p:cNvSpPr/>
          <p:nvPr/>
        </p:nvSpPr>
        <p:spPr>
          <a:xfrm>
            <a:off x="2240280" y="2286000"/>
            <a:ext cx="6766560" cy="68580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Guarded agentic compaction</a:t>
            </a:r>
            <a:endParaRPr lang="en-US" sz="3400" dirty="0"/>
          </a:p>
        </p:txBody>
      </p:sp>
      <p:sp>
        <p:nvSpPr>
          <p:cNvPr id="8" name="Text 6"/>
          <p:cNvSpPr/>
          <p:nvPr/>
        </p:nvSpPr>
        <p:spPr>
          <a:xfrm>
            <a:off x="2267712" y="3017520"/>
            <a:ext cx="6675120" cy="731520"/>
          </a:xfrm>
          <a:prstGeom prst="rect">
            <a:avLst/>
          </a:prstGeom>
          <a:noFill/>
          <a:ln/>
        </p:spPr>
        <p:txBody>
          <a:bodyPr wrap="square" lIns="0" tIns="0" rIns="0" bIns="0" rtlCol="0" anchor="t"/>
          <a:lstStyle/>
          <a:p>
            <a:pPr marL="0" indent="0">
              <a:lnSpc>
                <a:spcPct val="110000"/>
              </a:lnSpc>
              <a:buNone/>
            </a:pPr>
            <a:r>
              <a:rPr lang="en-US" sz="1350" dirty="0">
                <a:solidFill>
                  <a:srgbClr val="9BD0D6"/>
                </a:solidFill>
                <a:latin typeface="Calibri" pitchFamily="34" charset="0"/>
                <a:ea typeface="Calibri" pitchFamily="34" charset="-122"/>
                <a:cs typeface="Calibri" pitchFamily="34" charset="-120"/>
              </a:rPr>
              <a:t>A cascade of independent rejection points: provenance, mining, feasibility, synthesis, contracts, exact calibration — then boundary-time dispatch.</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9</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METHOD  ·  ALGORITHM 1</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Six independent rejection points; refusal is the default output</a:t>
            </a:r>
            <a:endParaRPr lang="en-US" sz="2600" dirty="0"/>
          </a:p>
        </p:txBody>
      </p:sp>
      <p:sp>
        <p:nvSpPr>
          <p:cNvPr id="6" name="Shape 4"/>
          <p:cNvSpPr/>
          <p:nvPr/>
        </p:nvSpPr>
        <p:spPr>
          <a:xfrm>
            <a:off x="640080" y="1207008"/>
            <a:ext cx="10911535" cy="749808"/>
          </a:xfrm>
          <a:prstGeom prst="roundRect">
            <a:avLst>
              <a:gd name="adj" fmla="val 6098"/>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7" name="Shape 5"/>
          <p:cNvSpPr/>
          <p:nvPr/>
        </p:nvSpPr>
        <p:spPr>
          <a:xfrm>
            <a:off x="859536" y="1380744"/>
            <a:ext cx="402336" cy="402336"/>
          </a:xfrm>
          <a:prstGeom prst="ellipse">
            <a:avLst/>
          </a:prstGeom>
          <a:solidFill>
            <a:srgbClr val="56B3BE"/>
          </a:solidFill>
          <a:ln w="6350">
            <a:solidFill>
              <a:srgbClr val="56B3BE"/>
            </a:solidFill>
            <a:prstDash val="solid"/>
          </a:ln>
        </p:spPr>
        <p:txBody>
          <a:bodyPr/>
          <a:lstStyle/>
          <a:p>
            <a:endParaRPr lang="en-US"/>
          </a:p>
        </p:txBody>
      </p:sp>
      <p:sp>
        <p:nvSpPr>
          <p:cNvPr id="8" name="Text 6"/>
          <p:cNvSpPr/>
          <p:nvPr/>
        </p:nvSpPr>
        <p:spPr>
          <a:xfrm>
            <a:off x="859536" y="1380744"/>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
        <p:nvSpPr>
          <p:cNvPr id="9" name="Text 7"/>
          <p:cNvSpPr/>
          <p:nvPr/>
        </p:nvSpPr>
        <p:spPr>
          <a:xfrm>
            <a:off x="1371600" y="1335024"/>
            <a:ext cx="1920240" cy="292608"/>
          </a:xfrm>
          <a:prstGeom prst="rect">
            <a:avLst/>
          </a:prstGeom>
          <a:noFill/>
          <a:ln/>
        </p:spPr>
        <p:txBody>
          <a:bodyPr wrap="square" lIns="0" tIns="0" rIns="0" bIns="0" rtlCol="0" anchor="ctr"/>
          <a:lstStyle/>
          <a:p>
            <a:pPr marL="0" indent="0">
              <a:buNone/>
            </a:pPr>
            <a:r>
              <a:rPr lang="en-US" sz="1400" b="1" dirty="0">
                <a:solidFill>
                  <a:srgbClr val="0E1E3A"/>
                </a:solidFill>
                <a:latin typeface="Cambria" pitchFamily="34" charset="0"/>
                <a:ea typeface="Cambria" pitchFamily="34" charset="-122"/>
                <a:cs typeface="Cambria" pitchFamily="34" charset="-120"/>
              </a:rPr>
              <a:t>Capture</a:t>
            </a:r>
            <a:endParaRPr lang="en-US" sz="1400" dirty="0"/>
          </a:p>
        </p:txBody>
      </p:sp>
      <p:sp>
        <p:nvSpPr>
          <p:cNvPr id="10" name="Text 8"/>
          <p:cNvSpPr/>
          <p:nvPr/>
        </p:nvSpPr>
        <p:spPr>
          <a:xfrm>
            <a:off x="1371600" y="1609344"/>
            <a:ext cx="9905695" cy="310896"/>
          </a:xfrm>
          <a:prstGeom prst="rect">
            <a:avLst/>
          </a:prstGeom>
          <a:noFill/>
          <a:ln/>
        </p:spPr>
        <p:txBody>
          <a:bodyPr wrap="square" lIns="0" tIns="0" rIns="0" bIns="0" rtlCol="0" anchor="t"/>
          <a:lstStyle/>
          <a:p>
            <a:pPr marL="0" indent="0">
              <a:buNone/>
            </a:pPr>
            <a:r>
              <a:rPr lang="en-US" sz="1050" dirty="0">
                <a:solidFill>
                  <a:srgbClr val="24354F"/>
                </a:solidFill>
                <a:latin typeface="Calibri" pitchFamily="34" charset="0"/>
                <a:ea typeface="Calibri" pitchFamily="34" charset="-122"/>
                <a:cs typeface="Calibri" pitchFamily="34" charset="-120"/>
              </a:rPr>
              <a:t>SDK tracing processor → typed Episode IR → strict, atomic JSONL store. Manifests pin prompt, policy, tools, guardrail, model, SDK, tracer, entry contract, effect catalog.</a:t>
            </a:r>
            <a:endParaRPr lang="en-US" sz="1050" dirty="0"/>
          </a:p>
        </p:txBody>
      </p:sp>
      <p:sp>
        <p:nvSpPr>
          <p:cNvPr id="11" name="Shape 9"/>
          <p:cNvSpPr/>
          <p:nvPr/>
        </p:nvSpPr>
        <p:spPr>
          <a:xfrm>
            <a:off x="640080" y="2066544"/>
            <a:ext cx="10911535" cy="749808"/>
          </a:xfrm>
          <a:prstGeom prst="roundRect">
            <a:avLst>
              <a:gd name="adj" fmla="val 6098"/>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12" name="Shape 10"/>
          <p:cNvSpPr/>
          <p:nvPr/>
        </p:nvSpPr>
        <p:spPr>
          <a:xfrm>
            <a:off x="859536" y="2240280"/>
            <a:ext cx="402336" cy="402336"/>
          </a:xfrm>
          <a:prstGeom prst="ellipse">
            <a:avLst/>
          </a:prstGeom>
          <a:solidFill>
            <a:srgbClr val="1F8A99"/>
          </a:solidFill>
          <a:ln w="6350">
            <a:solidFill>
              <a:srgbClr val="1F8A99"/>
            </a:solidFill>
            <a:prstDash val="solid"/>
          </a:ln>
        </p:spPr>
        <p:txBody>
          <a:bodyPr/>
          <a:lstStyle/>
          <a:p>
            <a:endParaRPr lang="en-US"/>
          </a:p>
        </p:txBody>
      </p:sp>
      <p:sp>
        <p:nvSpPr>
          <p:cNvPr id="13" name="Text 11"/>
          <p:cNvSpPr/>
          <p:nvPr/>
        </p:nvSpPr>
        <p:spPr>
          <a:xfrm>
            <a:off x="859536" y="2240280"/>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B</a:t>
            </a:r>
            <a:endParaRPr lang="en-US" sz="1400" dirty="0"/>
          </a:p>
        </p:txBody>
      </p:sp>
      <p:sp>
        <p:nvSpPr>
          <p:cNvPr id="14" name="Text 12"/>
          <p:cNvSpPr/>
          <p:nvPr/>
        </p:nvSpPr>
        <p:spPr>
          <a:xfrm>
            <a:off x="1371600" y="2194560"/>
            <a:ext cx="1920240" cy="292608"/>
          </a:xfrm>
          <a:prstGeom prst="rect">
            <a:avLst/>
          </a:prstGeom>
          <a:noFill/>
          <a:ln/>
        </p:spPr>
        <p:txBody>
          <a:bodyPr wrap="square" lIns="0" tIns="0" rIns="0" bIns="0" rtlCol="0" anchor="ctr"/>
          <a:lstStyle/>
          <a:p>
            <a:pPr marL="0" indent="0">
              <a:buNone/>
            </a:pPr>
            <a:r>
              <a:rPr lang="en-US" sz="1400" b="1" dirty="0">
                <a:solidFill>
                  <a:srgbClr val="0E1E3A"/>
                </a:solidFill>
                <a:latin typeface="Cambria" pitchFamily="34" charset="0"/>
                <a:ea typeface="Cambria" pitchFamily="34" charset="-122"/>
                <a:cs typeface="Cambria" pitchFamily="34" charset="-120"/>
              </a:rPr>
              <a:t>Offline compilation</a:t>
            </a:r>
            <a:endParaRPr lang="en-US" sz="1400" dirty="0"/>
          </a:p>
        </p:txBody>
      </p:sp>
      <p:sp>
        <p:nvSpPr>
          <p:cNvPr id="15" name="Text 13"/>
          <p:cNvSpPr/>
          <p:nvPr/>
        </p:nvSpPr>
        <p:spPr>
          <a:xfrm>
            <a:off x="1371600" y="2468880"/>
            <a:ext cx="9905695" cy="310896"/>
          </a:xfrm>
          <a:prstGeom prst="rect">
            <a:avLst/>
          </a:prstGeom>
          <a:noFill/>
          <a:ln/>
        </p:spPr>
        <p:txBody>
          <a:bodyPr wrap="square" lIns="0" tIns="0" rIns="0" bIns="0" rtlCol="0" anchor="t"/>
          <a:lstStyle/>
          <a:p>
            <a:pPr marL="0" indent="0">
              <a:buNone/>
            </a:pPr>
            <a:r>
              <a:rPr lang="en-US" sz="1050" dirty="0">
                <a:solidFill>
                  <a:srgbClr val="24354F"/>
                </a:solidFill>
                <a:latin typeface="Calibri" pitchFamily="34" charset="0"/>
                <a:ea typeface="Calibri" pitchFamily="34" charset="-122"/>
                <a:cs typeface="Calibri" pitchFamily="34" charset="-120"/>
              </a:rPr>
              <a:t>No production traffic. Qualify → partition → provenance → mine → canonicalize → feasibility → synthesize → contracts → calibrate → package.</a:t>
            </a:r>
            <a:endParaRPr lang="en-US" sz="1050" dirty="0"/>
          </a:p>
        </p:txBody>
      </p:sp>
      <p:sp>
        <p:nvSpPr>
          <p:cNvPr id="16" name="Shape 14"/>
          <p:cNvSpPr/>
          <p:nvPr/>
        </p:nvSpPr>
        <p:spPr>
          <a:xfrm>
            <a:off x="640080" y="2926080"/>
            <a:ext cx="10911535" cy="749808"/>
          </a:xfrm>
          <a:prstGeom prst="roundRect">
            <a:avLst>
              <a:gd name="adj" fmla="val 6098"/>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17" name="Shape 15"/>
          <p:cNvSpPr/>
          <p:nvPr/>
        </p:nvSpPr>
        <p:spPr>
          <a:xfrm>
            <a:off x="859536" y="3099816"/>
            <a:ext cx="402336" cy="402336"/>
          </a:xfrm>
          <a:prstGeom prst="ellipse">
            <a:avLst/>
          </a:prstGeom>
          <a:solidFill>
            <a:srgbClr val="1A3563"/>
          </a:solidFill>
          <a:ln w="6350">
            <a:solidFill>
              <a:srgbClr val="1A3563"/>
            </a:solidFill>
            <a:prstDash val="solid"/>
          </a:ln>
        </p:spPr>
        <p:txBody>
          <a:bodyPr/>
          <a:lstStyle/>
          <a:p>
            <a:endParaRPr lang="en-US"/>
          </a:p>
        </p:txBody>
      </p:sp>
      <p:sp>
        <p:nvSpPr>
          <p:cNvPr id="18" name="Text 16"/>
          <p:cNvSpPr/>
          <p:nvPr/>
        </p:nvSpPr>
        <p:spPr>
          <a:xfrm>
            <a:off x="859536" y="3099816"/>
            <a:ext cx="402336" cy="402336"/>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C</a:t>
            </a:r>
            <a:endParaRPr lang="en-US" sz="1400" dirty="0"/>
          </a:p>
        </p:txBody>
      </p:sp>
      <p:sp>
        <p:nvSpPr>
          <p:cNvPr id="19" name="Text 17"/>
          <p:cNvSpPr/>
          <p:nvPr/>
        </p:nvSpPr>
        <p:spPr>
          <a:xfrm>
            <a:off x="1371600" y="3054096"/>
            <a:ext cx="1920240" cy="292608"/>
          </a:xfrm>
          <a:prstGeom prst="rect">
            <a:avLst/>
          </a:prstGeom>
          <a:noFill/>
          <a:ln/>
        </p:spPr>
        <p:txBody>
          <a:bodyPr wrap="square" lIns="0" tIns="0" rIns="0" bIns="0" rtlCol="0" anchor="ctr"/>
          <a:lstStyle/>
          <a:p>
            <a:pPr marL="0" indent="0">
              <a:buNone/>
            </a:pPr>
            <a:r>
              <a:rPr lang="en-US" sz="1400" b="1" dirty="0">
                <a:solidFill>
                  <a:srgbClr val="0E1E3A"/>
                </a:solidFill>
                <a:latin typeface="Cambria" pitchFamily="34" charset="0"/>
                <a:ea typeface="Cambria" pitchFamily="34" charset="-122"/>
                <a:cs typeface="Cambria" pitchFamily="34" charset="-120"/>
              </a:rPr>
              <a:t>Runtime</a:t>
            </a:r>
            <a:endParaRPr lang="en-US" sz="1400" dirty="0"/>
          </a:p>
        </p:txBody>
      </p:sp>
      <p:sp>
        <p:nvSpPr>
          <p:cNvPr id="20" name="Text 18"/>
          <p:cNvSpPr/>
          <p:nvPr/>
        </p:nvSpPr>
        <p:spPr>
          <a:xfrm>
            <a:off x="1371600" y="3328416"/>
            <a:ext cx="9905695" cy="310896"/>
          </a:xfrm>
          <a:prstGeom prst="rect">
            <a:avLst/>
          </a:prstGeom>
          <a:noFill/>
          <a:ln/>
        </p:spPr>
        <p:txBody>
          <a:bodyPr wrap="square" lIns="0" tIns="0" rIns="0" bIns="0" rtlCol="0" anchor="t"/>
          <a:lstStyle/>
          <a:p>
            <a:pPr marL="0" indent="0">
              <a:buNone/>
            </a:pPr>
            <a:r>
              <a:rPr lang="en-US" sz="1050" dirty="0">
                <a:solidFill>
                  <a:srgbClr val="24354F"/>
                </a:solidFill>
                <a:latin typeface="Calibri" pitchFamily="34" charset="0"/>
                <a:ea typeface="Calibri" pitchFamily="34" charset="-122"/>
                <a:cs typeface="Calibri" pitchFamily="34" charset="-120"/>
              </a:rPr>
              <a:t>Bounded registry lookup at the entry boundary. Guard → gate → stage → interpret → verify → commit, with a permission facade re-checking effects at execution time.</a:t>
            </a:r>
            <a:endParaRPr lang="en-US" sz="1050" dirty="0"/>
          </a:p>
        </p:txBody>
      </p:sp>
      <p:sp>
        <p:nvSpPr>
          <p:cNvPr id="21" name="Text 19"/>
          <p:cNvSpPr/>
          <p:nvPr/>
        </p:nvSpPr>
        <p:spPr>
          <a:xfrm>
            <a:off x="640080" y="3840480"/>
            <a:ext cx="10911535" cy="237744"/>
          </a:xfrm>
          <a:prstGeom prst="rect">
            <a:avLst/>
          </a:prstGeom>
          <a:noFill/>
          <a:ln/>
        </p:spPr>
        <p:txBody>
          <a:bodyPr wrap="square" lIns="0" tIns="0" rIns="0" bIns="0" rtlCol="0" anchor="t"/>
          <a:lstStyle/>
          <a:p>
            <a:pPr marL="0" indent="0">
              <a:buNone/>
            </a:pPr>
            <a:r>
              <a:rPr lang="en-US" sz="1050" b="1" kern="0" spc="180" dirty="0">
                <a:solidFill>
                  <a:srgbClr val="5A6B84"/>
                </a:solidFill>
                <a:latin typeface="Calibri" pitchFamily="34" charset="0"/>
                <a:ea typeface="Calibri" pitchFamily="34" charset="-122"/>
                <a:cs typeface="Calibri" pitchFamily="34" charset="-120"/>
              </a:rPr>
              <a:t>THE CASCADE INSIDE B — ANY HIT RETURNS RETIRE WITH AN ATTRIBUTED REASON</a:t>
            </a:r>
            <a:endParaRPr lang="en-US" sz="1050" dirty="0"/>
          </a:p>
        </p:txBody>
      </p:sp>
      <p:sp>
        <p:nvSpPr>
          <p:cNvPr id="22" name="Shape 20"/>
          <p:cNvSpPr/>
          <p:nvPr/>
        </p:nvSpPr>
        <p:spPr>
          <a:xfrm>
            <a:off x="640080" y="4114800"/>
            <a:ext cx="1696669" cy="1060704"/>
          </a:xfrm>
          <a:prstGeom prst="roundRect">
            <a:avLst>
              <a:gd name="adj" fmla="val 4310"/>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23" name="Shape 21"/>
          <p:cNvSpPr/>
          <p:nvPr/>
        </p:nvSpPr>
        <p:spPr>
          <a:xfrm>
            <a:off x="786384" y="4242816"/>
            <a:ext cx="292608" cy="292608"/>
          </a:xfrm>
          <a:prstGeom prst="ellipse">
            <a:avLst/>
          </a:prstGeom>
          <a:solidFill>
            <a:srgbClr val="1F8A99"/>
          </a:solidFill>
          <a:ln w="6350">
            <a:solidFill>
              <a:srgbClr val="1F8A99"/>
            </a:solidFill>
            <a:prstDash val="solid"/>
          </a:ln>
        </p:spPr>
        <p:txBody>
          <a:bodyPr/>
          <a:lstStyle/>
          <a:p>
            <a:endParaRPr lang="en-US"/>
          </a:p>
        </p:txBody>
      </p:sp>
      <p:sp>
        <p:nvSpPr>
          <p:cNvPr id="24" name="Text 22"/>
          <p:cNvSpPr/>
          <p:nvPr/>
        </p:nvSpPr>
        <p:spPr>
          <a:xfrm>
            <a:off x="786384" y="4242816"/>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5" name="Text 23"/>
          <p:cNvSpPr/>
          <p:nvPr/>
        </p:nvSpPr>
        <p:spPr>
          <a:xfrm>
            <a:off x="1133856" y="4242816"/>
            <a:ext cx="1074877" cy="292608"/>
          </a:xfrm>
          <a:prstGeom prst="rect">
            <a:avLst/>
          </a:prstGeom>
          <a:noFill/>
          <a:ln/>
        </p:spPr>
        <p:txBody>
          <a:bodyPr wrap="square" lIns="0" tIns="0" rIns="0" bIns="0" rtlCol="0" anchor="ctr"/>
          <a:lstStyle/>
          <a:p>
            <a:pPr marL="0" indent="0">
              <a:buNone/>
            </a:pPr>
            <a:r>
              <a:rPr lang="en-US" sz="1150" b="1" dirty="0">
                <a:solidFill>
                  <a:srgbClr val="0E1E3A"/>
                </a:solidFill>
                <a:latin typeface="Cambria" pitchFamily="34" charset="0"/>
                <a:ea typeface="Cambria" pitchFamily="34" charset="-122"/>
                <a:cs typeface="Cambria" pitchFamily="34" charset="-120"/>
              </a:rPr>
              <a:t>Qualify</a:t>
            </a:r>
            <a:endParaRPr lang="en-US" sz="1150" dirty="0"/>
          </a:p>
        </p:txBody>
      </p:sp>
      <p:sp>
        <p:nvSpPr>
          <p:cNvPr id="26" name="Text 24"/>
          <p:cNvSpPr/>
          <p:nvPr/>
        </p:nvSpPr>
        <p:spPr>
          <a:xfrm>
            <a:off x="786384" y="4590288"/>
            <a:ext cx="1404061" cy="548640"/>
          </a:xfrm>
          <a:prstGeom prst="rect">
            <a:avLst/>
          </a:prstGeom>
          <a:noFill/>
          <a:ln/>
        </p:spPr>
        <p:txBody>
          <a:bodyPr wrap="square" lIns="0" tIns="0" rIns="0" bIns="0" rtlCol="0" anchor="t"/>
          <a:lstStyle/>
          <a:p>
            <a:pPr marL="0" indent="0">
              <a:lnSpc>
                <a:spcPct val="104000"/>
              </a:lnSpc>
              <a:buNone/>
            </a:pPr>
            <a:r>
              <a:rPr lang="en-US" sz="900" dirty="0">
                <a:solidFill>
                  <a:srgbClr val="5A6B84"/>
                </a:solidFill>
                <a:latin typeface="Calibri" pitchFamily="34" charset="0"/>
                <a:ea typeface="Calibri" pitchFamily="34" charset="-122"/>
                <a:cs typeface="Calibri" pitchFamily="34" charset="-120"/>
              </a:rPr>
              <a:t>partial runs, unpinned manifests, missing payloads</a:t>
            </a:r>
            <a:endParaRPr lang="en-US" sz="900" dirty="0"/>
          </a:p>
        </p:txBody>
      </p:sp>
      <p:sp>
        <p:nvSpPr>
          <p:cNvPr id="27" name="Shape 25"/>
          <p:cNvSpPr/>
          <p:nvPr/>
        </p:nvSpPr>
        <p:spPr>
          <a:xfrm>
            <a:off x="2355037" y="4526280"/>
            <a:ext cx="109728" cy="237744"/>
          </a:xfrm>
          <a:prstGeom prst="chevron">
            <a:avLst/>
          </a:prstGeom>
          <a:solidFill>
            <a:srgbClr val="9BD0D6"/>
          </a:solidFill>
          <a:ln w="6350">
            <a:solidFill>
              <a:srgbClr val="9BD0D6"/>
            </a:solidFill>
            <a:prstDash val="solid"/>
          </a:ln>
        </p:spPr>
        <p:txBody>
          <a:bodyPr/>
          <a:lstStyle/>
          <a:p>
            <a:endParaRPr lang="en-US"/>
          </a:p>
        </p:txBody>
      </p:sp>
      <p:sp>
        <p:nvSpPr>
          <p:cNvPr id="28" name="Shape 26"/>
          <p:cNvSpPr/>
          <p:nvPr/>
        </p:nvSpPr>
        <p:spPr>
          <a:xfrm>
            <a:off x="2483053" y="4114800"/>
            <a:ext cx="1696669" cy="1060704"/>
          </a:xfrm>
          <a:prstGeom prst="roundRect">
            <a:avLst>
              <a:gd name="adj" fmla="val 4310"/>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29" name="Shape 27"/>
          <p:cNvSpPr/>
          <p:nvPr/>
        </p:nvSpPr>
        <p:spPr>
          <a:xfrm>
            <a:off x="2629357" y="4242816"/>
            <a:ext cx="292608" cy="292608"/>
          </a:xfrm>
          <a:prstGeom prst="ellipse">
            <a:avLst/>
          </a:prstGeom>
          <a:solidFill>
            <a:srgbClr val="1F8A99"/>
          </a:solidFill>
          <a:ln w="6350">
            <a:solidFill>
              <a:srgbClr val="1F8A99"/>
            </a:solidFill>
            <a:prstDash val="solid"/>
          </a:ln>
        </p:spPr>
        <p:txBody>
          <a:bodyPr/>
          <a:lstStyle/>
          <a:p>
            <a:endParaRPr lang="en-US"/>
          </a:p>
        </p:txBody>
      </p:sp>
      <p:sp>
        <p:nvSpPr>
          <p:cNvPr id="30" name="Text 28"/>
          <p:cNvSpPr/>
          <p:nvPr/>
        </p:nvSpPr>
        <p:spPr>
          <a:xfrm>
            <a:off x="2629357" y="4242816"/>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31" name="Text 29"/>
          <p:cNvSpPr/>
          <p:nvPr/>
        </p:nvSpPr>
        <p:spPr>
          <a:xfrm>
            <a:off x="2976829" y="4242816"/>
            <a:ext cx="1074877" cy="292608"/>
          </a:xfrm>
          <a:prstGeom prst="rect">
            <a:avLst/>
          </a:prstGeom>
          <a:noFill/>
          <a:ln/>
        </p:spPr>
        <p:txBody>
          <a:bodyPr wrap="square" lIns="0" tIns="0" rIns="0" bIns="0" rtlCol="0" anchor="ctr"/>
          <a:lstStyle/>
          <a:p>
            <a:pPr marL="0" indent="0">
              <a:buNone/>
            </a:pPr>
            <a:r>
              <a:rPr lang="en-US" sz="1150" b="1" dirty="0">
                <a:solidFill>
                  <a:srgbClr val="0E1E3A"/>
                </a:solidFill>
                <a:latin typeface="Cambria" pitchFamily="34" charset="0"/>
                <a:ea typeface="Cambria" pitchFamily="34" charset="-122"/>
                <a:cs typeface="Cambria" pitchFamily="34" charset="-120"/>
              </a:rPr>
              <a:t>Provenance</a:t>
            </a:r>
            <a:endParaRPr lang="en-US" sz="1150" dirty="0"/>
          </a:p>
        </p:txBody>
      </p:sp>
      <p:sp>
        <p:nvSpPr>
          <p:cNvPr id="32" name="Text 30"/>
          <p:cNvSpPr/>
          <p:nvPr/>
        </p:nvSpPr>
        <p:spPr>
          <a:xfrm>
            <a:off x="2629357" y="4590288"/>
            <a:ext cx="1404061" cy="548640"/>
          </a:xfrm>
          <a:prstGeom prst="rect">
            <a:avLst/>
          </a:prstGeom>
          <a:noFill/>
          <a:ln/>
        </p:spPr>
        <p:txBody>
          <a:bodyPr wrap="square" lIns="0" tIns="0" rIns="0" bIns="0" rtlCol="0" anchor="t"/>
          <a:lstStyle/>
          <a:p>
            <a:pPr marL="0" indent="0">
              <a:lnSpc>
                <a:spcPct val="104000"/>
              </a:lnSpc>
              <a:buNone/>
            </a:pPr>
            <a:r>
              <a:rPr lang="en-US" sz="900" dirty="0">
                <a:solidFill>
                  <a:srgbClr val="5A6B84"/>
                </a:solidFill>
                <a:latin typeface="Calibri" pitchFamily="34" charset="0"/>
                <a:ea typeface="Calibri" pitchFamily="34" charset="-122"/>
                <a:cs typeface="Calibri" pitchFamily="34" charset="-120"/>
              </a:rPr>
              <a:t>ungrounded or ambiguous argument slot</a:t>
            </a:r>
            <a:endParaRPr lang="en-US" sz="900" dirty="0"/>
          </a:p>
        </p:txBody>
      </p:sp>
      <p:sp>
        <p:nvSpPr>
          <p:cNvPr id="33" name="Shape 31"/>
          <p:cNvSpPr/>
          <p:nvPr/>
        </p:nvSpPr>
        <p:spPr>
          <a:xfrm>
            <a:off x="4198010" y="4526280"/>
            <a:ext cx="109728" cy="237744"/>
          </a:xfrm>
          <a:prstGeom prst="chevron">
            <a:avLst/>
          </a:prstGeom>
          <a:solidFill>
            <a:srgbClr val="9BD0D6"/>
          </a:solidFill>
          <a:ln w="6350">
            <a:solidFill>
              <a:srgbClr val="9BD0D6"/>
            </a:solidFill>
            <a:prstDash val="solid"/>
          </a:ln>
        </p:spPr>
        <p:txBody>
          <a:bodyPr/>
          <a:lstStyle/>
          <a:p>
            <a:endParaRPr lang="en-US"/>
          </a:p>
        </p:txBody>
      </p:sp>
      <p:sp>
        <p:nvSpPr>
          <p:cNvPr id="34" name="Shape 32"/>
          <p:cNvSpPr/>
          <p:nvPr/>
        </p:nvSpPr>
        <p:spPr>
          <a:xfrm>
            <a:off x="4326026" y="4114800"/>
            <a:ext cx="1696669" cy="1060704"/>
          </a:xfrm>
          <a:prstGeom prst="roundRect">
            <a:avLst>
              <a:gd name="adj" fmla="val 4310"/>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35" name="Shape 33"/>
          <p:cNvSpPr/>
          <p:nvPr/>
        </p:nvSpPr>
        <p:spPr>
          <a:xfrm>
            <a:off x="4472330" y="4242816"/>
            <a:ext cx="292608" cy="292608"/>
          </a:xfrm>
          <a:prstGeom prst="ellipse">
            <a:avLst/>
          </a:prstGeom>
          <a:solidFill>
            <a:srgbClr val="1F8A99"/>
          </a:solidFill>
          <a:ln w="6350">
            <a:solidFill>
              <a:srgbClr val="1F8A99"/>
            </a:solidFill>
            <a:prstDash val="solid"/>
          </a:ln>
        </p:spPr>
        <p:txBody>
          <a:bodyPr/>
          <a:lstStyle/>
          <a:p>
            <a:endParaRPr lang="en-US"/>
          </a:p>
        </p:txBody>
      </p:sp>
      <p:sp>
        <p:nvSpPr>
          <p:cNvPr id="36" name="Text 34"/>
          <p:cNvSpPr/>
          <p:nvPr/>
        </p:nvSpPr>
        <p:spPr>
          <a:xfrm>
            <a:off x="4472330" y="4242816"/>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7" name="Text 35"/>
          <p:cNvSpPr/>
          <p:nvPr/>
        </p:nvSpPr>
        <p:spPr>
          <a:xfrm>
            <a:off x="4819802" y="4242816"/>
            <a:ext cx="1074877" cy="292608"/>
          </a:xfrm>
          <a:prstGeom prst="rect">
            <a:avLst/>
          </a:prstGeom>
          <a:noFill/>
          <a:ln/>
        </p:spPr>
        <p:txBody>
          <a:bodyPr wrap="square" lIns="0" tIns="0" rIns="0" bIns="0" rtlCol="0" anchor="ctr"/>
          <a:lstStyle/>
          <a:p>
            <a:pPr marL="0" indent="0">
              <a:buNone/>
            </a:pPr>
            <a:r>
              <a:rPr lang="en-US" sz="1150" b="1" dirty="0">
                <a:solidFill>
                  <a:srgbClr val="0E1E3A"/>
                </a:solidFill>
                <a:latin typeface="Cambria" pitchFamily="34" charset="0"/>
                <a:ea typeface="Cambria" pitchFamily="34" charset="-122"/>
                <a:cs typeface="Cambria" pitchFamily="34" charset="-120"/>
              </a:rPr>
              <a:t>Feasibility</a:t>
            </a:r>
            <a:endParaRPr lang="en-US" sz="1150" dirty="0"/>
          </a:p>
        </p:txBody>
      </p:sp>
      <p:sp>
        <p:nvSpPr>
          <p:cNvPr id="38" name="Text 36"/>
          <p:cNvSpPr/>
          <p:nvPr/>
        </p:nvSpPr>
        <p:spPr>
          <a:xfrm>
            <a:off x="4472330" y="4590288"/>
            <a:ext cx="1404061" cy="548640"/>
          </a:xfrm>
          <a:prstGeom prst="rect">
            <a:avLst/>
          </a:prstGeom>
          <a:noFill/>
          <a:ln/>
        </p:spPr>
        <p:txBody>
          <a:bodyPr wrap="square" lIns="0" tIns="0" rIns="0" bIns="0" rtlCol="0" anchor="t"/>
          <a:lstStyle/>
          <a:p>
            <a:pPr marL="0" indent="0">
              <a:lnSpc>
                <a:spcPct val="104000"/>
              </a:lnSpc>
              <a:buNone/>
            </a:pPr>
            <a:r>
              <a:rPr lang="en-US" sz="900" dirty="0">
                <a:solidFill>
                  <a:srgbClr val="5A6B84"/>
                </a:solidFill>
                <a:latin typeface="Calibri" pitchFamily="34" charset="0"/>
                <a:ea typeface="Calibri" pitchFamily="34" charset="-122"/>
                <a:cs typeface="Calibri" pitchFamily="34" charset="-120"/>
              </a:rPr>
              <a:t>ceiling below target, before paying for synthesis</a:t>
            </a:r>
            <a:endParaRPr lang="en-US" sz="900" dirty="0"/>
          </a:p>
        </p:txBody>
      </p:sp>
      <p:sp>
        <p:nvSpPr>
          <p:cNvPr id="39" name="Shape 37"/>
          <p:cNvSpPr/>
          <p:nvPr/>
        </p:nvSpPr>
        <p:spPr>
          <a:xfrm>
            <a:off x="6040984" y="4526280"/>
            <a:ext cx="109728" cy="237744"/>
          </a:xfrm>
          <a:prstGeom prst="chevron">
            <a:avLst/>
          </a:prstGeom>
          <a:solidFill>
            <a:srgbClr val="9BD0D6"/>
          </a:solidFill>
          <a:ln w="6350">
            <a:solidFill>
              <a:srgbClr val="9BD0D6"/>
            </a:solidFill>
            <a:prstDash val="solid"/>
          </a:ln>
        </p:spPr>
        <p:txBody>
          <a:bodyPr/>
          <a:lstStyle/>
          <a:p>
            <a:endParaRPr lang="en-US"/>
          </a:p>
        </p:txBody>
      </p:sp>
      <p:sp>
        <p:nvSpPr>
          <p:cNvPr id="40" name="Shape 38"/>
          <p:cNvSpPr/>
          <p:nvPr/>
        </p:nvSpPr>
        <p:spPr>
          <a:xfrm>
            <a:off x="6169000" y="4114800"/>
            <a:ext cx="1696669" cy="1060704"/>
          </a:xfrm>
          <a:prstGeom prst="roundRect">
            <a:avLst>
              <a:gd name="adj" fmla="val 4310"/>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41" name="Shape 39"/>
          <p:cNvSpPr/>
          <p:nvPr/>
        </p:nvSpPr>
        <p:spPr>
          <a:xfrm>
            <a:off x="6315304" y="4242816"/>
            <a:ext cx="292608" cy="292608"/>
          </a:xfrm>
          <a:prstGeom prst="ellipse">
            <a:avLst/>
          </a:prstGeom>
          <a:solidFill>
            <a:srgbClr val="1F8A99"/>
          </a:solidFill>
          <a:ln w="6350">
            <a:solidFill>
              <a:srgbClr val="1F8A99"/>
            </a:solidFill>
            <a:prstDash val="solid"/>
          </a:ln>
        </p:spPr>
        <p:txBody>
          <a:bodyPr/>
          <a:lstStyle/>
          <a:p>
            <a:endParaRPr lang="en-US"/>
          </a:p>
        </p:txBody>
      </p:sp>
      <p:sp>
        <p:nvSpPr>
          <p:cNvPr id="42" name="Text 40"/>
          <p:cNvSpPr/>
          <p:nvPr/>
        </p:nvSpPr>
        <p:spPr>
          <a:xfrm>
            <a:off x="6315304" y="4242816"/>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43" name="Text 41"/>
          <p:cNvSpPr/>
          <p:nvPr/>
        </p:nvSpPr>
        <p:spPr>
          <a:xfrm>
            <a:off x="6662776" y="4242816"/>
            <a:ext cx="1074877" cy="292608"/>
          </a:xfrm>
          <a:prstGeom prst="rect">
            <a:avLst/>
          </a:prstGeom>
          <a:noFill/>
          <a:ln/>
        </p:spPr>
        <p:txBody>
          <a:bodyPr wrap="square" lIns="0" tIns="0" rIns="0" bIns="0" rtlCol="0" anchor="ctr"/>
          <a:lstStyle/>
          <a:p>
            <a:pPr marL="0" indent="0">
              <a:buNone/>
            </a:pPr>
            <a:r>
              <a:rPr lang="en-US" sz="1150" b="1" dirty="0">
                <a:solidFill>
                  <a:srgbClr val="0E1E3A"/>
                </a:solidFill>
                <a:latin typeface="Cambria" pitchFamily="34" charset="0"/>
                <a:ea typeface="Cambria" pitchFamily="34" charset="-122"/>
                <a:cs typeface="Cambria" pitchFamily="34" charset="-120"/>
              </a:rPr>
              <a:t>Synthesis</a:t>
            </a:r>
            <a:endParaRPr lang="en-US" sz="1150" dirty="0"/>
          </a:p>
        </p:txBody>
      </p:sp>
      <p:sp>
        <p:nvSpPr>
          <p:cNvPr id="44" name="Text 42"/>
          <p:cNvSpPr/>
          <p:nvPr/>
        </p:nvSpPr>
        <p:spPr>
          <a:xfrm>
            <a:off x="6315304" y="4590288"/>
            <a:ext cx="1404061" cy="548640"/>
          </a:xfrm>
          <a:prstGeom prst="rect">
            <a:avLst/>
          </a:prstGeom>
          <a:noFill/>
          <a:ln/>
        </p:spPr>
        <p:txBody>
          <a:bodyPr wrap="square" lIns="0" tIns="0" rIns="0" bIns="0" rtlCol="0" anchor="t"/>
          <a:lstStyle/>
          <a:p>
            <a:pPr marL="0" indent="0">
              <a:lnSpc>
                <a:spcPct val="104000"/>
              </a:lnSpc>
              <a:buNone/>
            </a:pPr>
            <a:r>
              <a:rPr lang="en-US" sz="900" dirty="0">
                <a:solidFill>
                  <a:srgbClr val="5A6B84"/>
                </a:solidFill>
                <a:latin typeface="Calibri" pitchFamily="34" charset="0"/>
                <a:ea typeface="Calibri" pitchFamily="34" charset="-122"/>
                <a:cs typeface="Calibri" pitchFamily="34" charset="-120"/>
              </a:rPr>
              <a:t>no program in ℒ at depth ≤ 2 fits the family</a:t>
            </a:r>
            <a:endParaRPr lang="en-US" sz="900" dirty="0"/>
          </a:p>
        </p:txBody>
      </p:sp>
      <p:sp>
        <p:nvSpPr>
          <p:cNvPr id="45" name="Shape 43"/>
          <p:cNvSpPr/>
          <p:nvPr/>
        </p:nvSpPr>
        <p:spPr>
          <a:xfrm>
            <a:off x="7883957" y="4526280"/>
            <a:ext cx="109728" cy="237744"/>
          </a:xfrm>
          <a:prstGeom prst="chevron">
            <a:avLst/>
          </a:prstGeom>
          <a:solidFill>
            <a:srgbClr val="9BD0D6"/>
          </a:solidFill>
          <a:ln w="6350">
            <a:solidFill>
              <a:srgbClr val="9BD0D6"/>
            </a:solidFill>
            <a:prstDash val="solid"/>
          </a:ln>
        </p:spPr>
        <p:txBody>
          <a:bodyPr/>
          <a:lstStyle/>
          <a:p>
            <a:endParaRPr lang="en-US"/>
          </a:p>
        </p:txBody>
      </p:sp>
      <p:sp>
        <p:nvSpPr>
          <p:cNvPr id="46" name="Shape 44"/>
          <p:cNvSpPr/>
          <p:nvPr/>
        </p:nvSpPr>
        <p:spPr>
          <a:xfrm>
            <a:off x="8011973" y="4114800"/>
            <a:ext cx="1696669" cy="1060704"/>
          </a:xfrm>
          <a:prstGeom prst="roundRect">
            <a:avLst>
              <a:gd name="adj" fmla="val 4310"/>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47" name="Shape 45"/>
          <p:cNvSpPr/>
          <p:nvPr/>
        </p:nvSpPr>
        <p:spPr>
          <a:xfrm>
            <a:off x="8158277" y="4242816"/>
            <a:ext cx="292608" cy="292608"/>
          </a:xfrm>
          <a:prstGeom prst="ellipse">
            <a:avLst/>
          </a:prstGeom>
          <a:solidFill>
            <a:srgbClr val="1F8A99"/>
          </a:solidFill>
          <a:ln w="6350">
            <a:solidFill>
              <a:srgbClr val="1F8A99"/>
            </a:solidFill>
            <a:prstDash val="solid"/>
          </a:ln>
        </p:spPr>
        <p:txBody>
          <a:bodyPr/>
          <a:lstStyle/>
          <a:p>
            <a:endParaRPr lang="en-US"/>
          </a:p>
        </p:txBody>
      </p:sp>
      <p:sp>
        <p:nvSpPr>
          <p:cNvPr id="48" name="Text 46"/>
          <p:cNvSpPr/>
          <p:nvPr/>
        </p:nvSpPr>
        <p:spPr>
          <a:xfrm>
            <a:off x="8158277" y="4242816"/>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49" name="Text 47"/>
          <p:cNvSpPr/>
          <p:nvPr/>
        </p:nvSpPr>
        <p:spPr>
          <a:xfrm>
            <a:off x="8505749" y="4242816"/>
            <a:ext cx="1074877" cy="292608"/>
          </a:xfrm>
          <a:prstGeom prst="rect">
            <a:avLst/>
          </a:prstGeom>
          <a:noFill/>
          <a:ln/>
        </p:spPr>
        <p:txBody>
          <a:bodyPr wrap="square" lIns="0" tIns="0" rIns="0" bIns="0" rtlCol="0" anchor="ctr"/>
          <a:lstStyle/>
          <a:p>
            <a:pPr marL="0" indent="0">
              <a:buNone/>
            </a:pPr>
            <a:r>
              <a:rPr lang="en-US" sz="1150" b="1" dirty="0">
                <a:solidFill>
                  <a:srgbClr val="0E1E3A"/>
                </a:solidFill>
                <a:latin typeface="Cambria" pitchFamily="34" charset="0"/>
                <a:ea typeface="Cambria" pitchFamily="34" charset="-122"/>
                <a:cs typeface="Cambria" pitchFamily="34" charset="-120"/>
              </a:rPr>
              <a:t>Contracts</a:t>
            </a:r>
            <a:endParaRPr lang="en-US" sz="1150" dirty="0"/>
          </a:p>
        </p:txBody>
      </p:sp>
      <p:sp>
        <p:nvSpPr>
          <p:cNvPr id="50" name="Text 48"/>
          <p:cNvSpPr/>
          <p:nvPr/>
        </p:nvSpPr>
        <p:spPr>
          <a:xfrm>
            <a:off x="8158277" y="4590288"/>
            <a:ext cx="1404061" cy="548640"/>
          </a:xfrm>
          <a:prstGeom prst="rect">
            <a:avLst/>
          </a:prstGeom>
          <a:noFill/>
          <a:ln/>
        </p:spPr>
        <p:txBody>
          <a:bodyPr wrap="square" lIns="0" tIns="0" rIns="0" bIns="0" rtlCol="0" anchor="t"/>
          <a:lstStyle/>
          <a:p>
            <a:pPr marL="0" indent="0">
              <a:lnSpc>
                <a:spcPct val="104000"/>
              </a:lnSpc>
              <a:buNone/>
            </a:pPr>
            <a:r>
              <a:rPr lang="en-US" sz="900" dirty="0">
                <a:solidFill>
                  <a:srgbClr val="5A6B84"/>
                </a:solidFill>
                <a:latin typeface="Calibri" pitchFamily="34" charset="0"/>
                <a:ea typeface="Calibri" pitchFamily="34" charset="-122"/>
                <a:cs typeface="Calibri" pitchFamily="34" charset="-120"/>
              </a:rPr>
              <a:t>replay or perturbation counterexample</a:t>
            </a:r>
            <a:endParaRPr lang="en-US" sz="900" dirty="0"/>
          </a:p>
        </p:txBody>
      </p:sp>
      <p:sp>
        <p:nvSpPr>
          <p:cNvPr id="51" name="Shape 49"/>
          <p:cNvSpPr/>
          <p:nvPr/>
        </p:nvSpPr>
        <p:spPr>
          <a:xfrm>
            <a:off x="9726930" y="4526280"/>
            <a:ext cx="109728" cy="237744"/>
          </a:xfrm>
          <a:prstGeom prst="chevron">
            <a:avLst/>
          </a:prstGeom>
          <a:solidFill>
            <a:srgbClr val="9BD0D6"/>
          </a:solidFill>
          <a:ln w="6350">
            <a:solidFill>
              <a:srgbClr val="9BD0D6"/>
            </a:solidFill>
            <a:prstDash val="solid"/>
          </a:ln>
        </p:spPr>
        <p:txBody>
          <a:bodyPr/>
          <a:lstStyle/>
          <a:p>
            <a:endParaRPr lang="en-US"/>
          </a:p>
        </p:txBody>
      </p:sp>
      <p:sp>
        <p:nvSpPr>
          <p:cNvPr id="52" name="Shape 50"/>
          <p:cNvSpPr/>
          <p:nvPr/>
        </p:nvSpPr>
        <p:spPr>
          <a:xfrm>
            <a:off x="9854946" y="4114800"/>
            <a:ext cx="1696669" cy="1060704"/>
          </a:xfrm>
          <a:prstGeom prst="roundRect">
            <a:avLst>
              <a:gd name="adj" fmla="val 4310"/>
            </a:avLst>
          </a:prstGeom>
          <a:solidFill>
            <a:srgbClr val="E8F4F5"/>
          </a:solidFill>
          <a:ln w="9525">
            <a:solidFill>
              <a:srgbClr val="CFE4E7"/>
            </a:solidFill>
            <a:prstDash val="solid"/>
          </a:ln>
          <a:effectLst>
            <a:outerShdw blurRad="114300" dist="17780" dir="5400000" algn="bl" rotWithShape="0">
              <a:srgbClr val="94A6BC">
                <a:alpha val="15000"/>
              </a:srgbClr>
            </a:outerShdw>
          </a:effectLst>
        </p:spPr>
        <p:txBody>
          <a:bodyPr/>
          <a:lstStyle/>
          <a:p>
            <a:endParaRPr lang="en-US"/>
          </a:p>
        </p:txBody>
      </p:sp>
      <p:sp>
        <p:nvSpPr>
          <p:cNvPr id="53" name="Shape 51"/>
          <p:cNvSpPr/>
          <p:nvPr/>
        </p:nvSpPr>
        <p:spPr>
          <a:xfrm>
            <a:off x="10001250" y="4242816"/>
            <a:ext cx="292608" cy="292608"/>
          </a:xfrm>
          <a:prstGeom prst="ellipse">
            <a:avLst/>
          </a:prstGeom>
          <a:solidFill>
            <a:srgbClr val="0E1E3A"/>
          </a:solidFill>
          <a:ln w="6350">
            <a:solidFill>
              <a:srgbClr val="0E1E3A"/>
            </a:solidFill>
            <a:prstDash val="solid"/>
          </a:ln>
        </p:spPr>
        <p:txBody>
          <a:bodyPr/>
          <a:lstStyle/>
          <a:p>
            <a:endParaRPr lang="en-US"/>
          </a:p>
        </p:txBody>
      </p:sp>
      <p:sp>
        <p:nvSpPr>
          <p:cNvPr id="54" name="Text 52"/>
          <p:cNvSpPr/>
          <p:nvPr/>
        </p:nvSpPr>
        <p:spPr>
          <a:xfrm>
            <a:off x="10001250" y="4242816"/>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55" name="Text 53"/>
          <p:cNvSpPr/>
          <p:nvPr/>
        </p:nvSpPr>
        <p:spPr>
          <a:xfrm>
            <a:off x="10348722" y="4242816"/>
            <a:ext cx="1074877" cy="292608"/>
          </a:xfrm>
          <a:prstGeom prst="rect">
            <a:avLst/>
          </a:prstGeom>
          <a:noFill/>
          <a:ln/>
        </p:spPr>
        <p:txBody>
          <a:bodyPr wrap="square" lIns="0" tIns="0" rIns="0" bIns="0" rtlCol="0" anchor="ctr"/>
          <a:lstStyle/>
          <a:p>
            <a:pPr marL="0" indent="0">
              <a:buNone/>
            </a:pPr>
            <a:r>
              <a:rPr lang="en-US" sz="1150" b="1" dirty="0">
                <a:solidFill>
                  <a:srgbClr val="0E1E3A"/>
                </a:solidFill>
                <a:latin typeface="Cambria" pitchFamily="34" charset="0"/>
                <a:ea typeface="Cambria" pitchFamily="34" charset="-122"/>
                <a:cs typeface="Cambria" pitchFamily="34" charset="-120"/>
              </a:rPr>
              <a:t>Calibration</a:t>
            </a:r>
            <a:endParaRPr lang="en-US" sz="1150" dirty="0"/>
          </a:p>
        </p:txBody>
      </p:sp>
      <p:sp>
        <p:nvSpPr>
          <p:cNvPr id="56" name="Text 54"/>
          <p:cNvSpPr/>
          <p:nvPr/>
        </p:nvSpPr>
        <p:spPr>
          <a:xfrm>
            <a:off x="10001250" y="4590288"/>
            <a:ext cx="1404061" cy="548640"/>
          </a:xfrm>
          <a:prstGeom prst="rect">
            <a:avLst/>
          </a:prstGeom>
          <a:noFill/>
          <a:ln/>
        </p:spPr>
        <p:txBody>
          <a:bodyPr wrap="square" lIns="0" tIns="0" rIns="0" bIns="0" rtlCol="0" anchor="t"/>
          <a:lstStyle/>
          <a:p>
            <a:pPr marL="0" indent="0">
              <a:lnSpc>
                <a:spcPct val="104000"/>
              </a:lnSpc>
              <a:buNone/>
            </a:pPr>
            <a:r>
              <a:rPr lang="en-US" sz="900" dirty="0">
                <a:solidFill>
                  <a:srgbClr val="5A6B84"/>
                </a:solidFill>
                <a:latin typeface="Calibri" pitchFamily="34" charset="0"/>
                <a:ea typeface="Calibri" pitchFamily="34" charset="-122"/>
                <a:cs typeface="Calibri" pitchFamily="34" charset="-120"/>
              </a:rPr>
              <a:t>no admissible threshold in the frozen grid</a:t>
            </a:r>
            <a:endParaRPr lang="en-US" sz="900" dirty="0"/>
          </a:p>
        </p:txBody>
      </p:sp>
      <p:sp>
        <p:nvSpPr>
          <p:cNvPr id="57" name="Shape 55"/>
          <p:cNvSpPr/>
          <p:nvPr/>
        </p:nvSpPr>
        <p:spPr>
          <a:xfrm>
            <a:off x="640080" y="5321808"/>
            <a:ext cx="10911535" cy="841248"/>
          </a:xfrm>
          <a:prstGeom prst="roundRect">
            <a:avLst>
              <a:gd name="adj" fmla="val 5435"/>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58" name="Text 56"/>
          <p:cNvSpPr/>
          <p:nvPr/>
        </p:nvSpPr>
        <p:spPr>
          <a:xfrm>
            <a:off x="896112" y="5431536"/>
            <a:ext cx="10399471" cy="201168"/>
          </a:xfrm>
          <a:prstGeom prst="rect">
            <a:avLst/>
          </a:prstGeom>
          <a:noFill/>
          <a:ln/>
        </p:spPr>
        <p:txBody>
          <a:bodyPr wrap="square" lIns="0" tIns="0" rIns="0" bIns="0" rtlCol="0" anchor="t"/>
          <a:lstStyle/>
          <a:p>
            <a:pPr marL="0" indent="0">
              <a:buNone/>
            </a:pPr>
            <a:r>
              <a:rPr lang="en-US" sz="950" b="1" kern="0" spc="110" dirty="0">
                <a:solidFill>
                  <a:srgbClr val="A93B2B"/>
                </a:solidFill>
                <a:latin typeface="Calibri" pitchFamily="34" charset="0"/>
                <a:ea typeface="Calibri" pitchFamily="34" charset="-122"/>
                <a:cs typeface="Calibri" pitchFamily="34" charset="-120"/>
              </a:rPr>
              <a:t>HARD BARRIERS — NO STATISTICAL EVIDENCE CAN LICENSE AN ARTIFACT</a:t>
            </a:r>
            <a:endParaRPr lang="en-US" sz="950" dirty="0"/>
          </a:p>
        </p:txBody>
      </p:sp>
      <p:sp>
        <p:nvSpPr>
          <p:cNvPr id="59" name="Text 57"/>
          <p:cNvSpPr/>
          <p:nvPr/>
        </p:nvSpPr>
        <p:spPr>
          <a:xfrm>
            <a:off x="896112" y="5669280"/>
            <a:ext cx="10399471" cy="402336"/>
          </a:xfrm>
          <a:prstGeom prst="rect">
            <a:avLst/>
          </a:prstGeom>
          <a:noFill/>
          <a:ln/>
        </p:spPr>
        <p:txBody>
          <a:bodyPr wrap="square" lIns="0" tIns="0" rIns="0" bIns="0" rtlCol="0" anchor="t"/>
          <a:lstStyle/>
          <a:p>
            <a:pPr marL="0" indent="0">
              <a:lnSpc>
                <a:spcPct val="105000"/>
              </a:lnSpc>
              <a:buNone/>
            </a:pPr>
            <a:r>
              <a:rPr lang="en-US" sz="1150" dirty="0">
                <a:solidFill>
                  <a:srgbClr val="5C4034"/>
                </a:solidFill>
                <a:latin typeface="Calibri" pitchFamily="34" charset="0"/>
                <a:ea typeface="Calibri" pitchFamily="34" charset="-122"/>
                <a:cs typeface="Calibri" pitchFamily="34" charset="-120"/>
              </a:rPr>
              <a:t>unknown or irreversible effect  ·  approval  ·  handoff  ·  ungrounded or ambiguous argument  ·  manifest or isolation mismatch  ·  non-prefix position, eq. (2)</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10</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METHOD  ·  ALGORITHM 2 (BUILDPATG)</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Typed argument provenance: no witness, or too many, both block</a:t>
            </a:r>
            <a:endParaRPr lang="en-US" sz="2600" dirty="0"/>
          </a:p>
        </p:txBody>
      </p:sp>
      <p:sp>
        <p:nvSpPr>
          <p:cNvPr id="6" name="Text 4"/>
          <p:cNvSpPr/>
          <p:nvPr/>
        </p:nvSpPr>
        <p:spPr>
          <a:xfrm>
            <a:off x="640080" y="1188720"/>
            <a:ext cx="10911535" cy="548640"/>
          </a:xfrm>
          <a:prstGeom prst="rect">
            <a:avLst/>
          </a:prstGeom>
          <a:noFill/>
          <a:ln/>
        </p:spPr>
        <p:txBody>
          <a:bodyPr wrap="square" lIns="0" tIns="0" rIns="0" bIns="0" rtlCol="0" anchor="t"/>
          <a:lstStyle/>
          <a:p>
            <a:pPr marL="0" indent="0">
              <a:lnSpc>
                <a:spcPct val="110000"/>
              </a:lnSpc>
              <a:buNone/>
            </a:pPr>
            <a:r>
              <a:rPr lang="en-US" sz="1250" dirty="0">
                <a:solidFill>
                  <a:srgbClr val="24354F"/>
                </a:solidFill>
                <a:latin typeface="Calibri" pitchFamily="34" charset="0"/>
                <a:ea typeface="Calibri" pitchFamily="34" charset="-122"/>
                <a:cs typeface="Calibri" pitchFamily="34" charset="-120"/>
              </a:rPr>
              <a:t>For each call-argument slot the program-argument trace graph searches entry-state and prior-result paths for typed values and bounded transforms. Exact matches, stable field paths, and transformations in ℒ become candidate producer edges; literal-only slots are restricted to identity or constant witnesses, so a page index or limit is never reconstructed.</a:t>
            </a:r>
            <a:endParaRPr lang="en-US" sz="1250" dirty="0"/>
          </a:p>
        </p:txBody>
      </p:sp>
      <p:sp>
        <p:nvSpPr>
          <p:cNvPr id="7" name="Shape 5"/>
          <p:cNvSpPr/>
          <p:nvPr/>
        </p:nvSpPr>
        <p:spPr>
          <a:xfrm>
            <a:off x="640080" y="1847088"/>
            <a:ext cx="3466490" cy="1481328"/>
          </a:xfrm>
          <a:prstGeom prst="roundRect">
            <a:avLst>
              <a:gd name="adj" fmla="val 3086"/>
            </a:avLst>
          </a:prstGeom>
          <a:solidFill>
            <a:srgbClr val="E8F4F5"/>
          </a:solidFill>
          <a:ln w="9525">
            <a:solidFill>
              <a:srgbClr val="CFE4E7"/>
            </a:solidFill>
            <a:prstDash val="solid"/>
          </a:ln>
          <a:effectLst>
            <a:outerShdw blurRad="114300" dist="17780" dir="5400000" algn="bl" rotWithShape="0">
              <a:srgbClr val="94A6BC">
                <a:alpha val="15000"/>
              </a:srgbClr>
            </a:outerShdw>
          </a:effectLst>
        </p:spPr>
        <p:txBody>
          <a:bodyPr/>
          <a:lstStyle/>
          <a:p>
            <a:endParaRPr lang="en-US"/>
          </a:p>
        </p:txBody>
      </p:sp>
      <p:sp>
        <p:nvSpPr>
          <p:cNvPr id="8" name="Shape 6"/>
          <p:cNvSpPr/>
          <p:nvPr/>
        </p:nvSpPr>
        <p:spPr>
          <a:xfrm>
            <a:off x="859536" y="2011680"/>
            <a:ext cx="310896" cy="310896"/>
          </a:xfrm>
          <a:prstGeom prst="ellipse">
            <a:avLst/>
          </a:prstGeom>
          <a:solidFill>
            <a:srgbClr val="1F8A99"/>
          </a:solidFill>
          <a:ln w="6350">
            <a:solidFill>
              <a:srgbClr val="1F8A99"/>
            </a:solidFill>
            <a:prstDash val="solid"/>
          </a:ln>
        </p:spPr>
        <p:txBody>
          <a:bodyPr/>
          <a:lstStyle/>
          <a:p>
            <a:endParaRPr lang="en-US"/>
          </a:p>
        </p:txBody>
      </p:sp>
      <p:sp>
        <p:nvSpPr>
          <p:cNvPr id="9" name="Text 7"/>
          <p:cNvSpPr/>
          <p:nvPr/>
        </p:nvSpPr>
        <p:spPr>
          <a:xfrm>
            <a:off x="859536" y="2011680"/>
            <a:ext cx="310896"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0" name="Text 8"/>
          <p:cNvSpPr/>
          <p:nvPr/>
        </p:nvSpPr>
        <p:spPr>
          <a:xfrm>
            <a:off x="1243584" y="2011680"/>
            <a:ext cx="1005840" cy="310896"/>
          </a:xfrm>
          <a:prstGeom prst="rect">
            <a:avLst/>
          </a:prstGeom>
          <a:noFill/>
          <a:ln/>
        </p:spPr>
        <p:txBody>
          <a:bodyPr wrap="square" lIns="0" tIns="0" rIns="0" bIns="0" rtlCol="0" anchor="ctr"/>
          <a:lstStyle/>
          <a:p>
            <a:pPr marL="0" indent="0">
              <a:buNone/>
            </a:pPr>
            <a:r>
              <a:rPr lang="en-US" sz="1300" b="1" i="1" dirty="0">
                <a:solidFill>
                  <a:srgbClr val="1F8A99"/>
                </a:solidFill>
                <a:latin typeface="Cambria" pitchFamily="34" charset="0"/>
                <a:ea typeface="Cambria" pitchFamily="34" charset="-122"/>
                <a:cs typeface="Cambria" pitchFamily="34" charset="-120"/>
              </a:rPr>
              <a:t>|H| = 1</a:t>
            </a:r>
            <a:endParaRPr lang="en-US" sz="1300" dirty="0"/>
          </a:p>
        </p:txBody>
      </p:sp>
      <p:sp>
        <p:nvSpPr>
          <p:cNvPr id="11" name="Text 9"/>
          <p:cNvSpPr/>
          <p:nvPr/>
        </p:nvSpPr>
        <p:spPr>
          <a:xfrm>
            <a:off x="2194560" y="2011680"/>
            <a:ext cx="1692554" cy="310896"/>
          </a:xfrm>
          <a:prstGeom prst="rect">
            <a:avLst/>
          </a:prstGeom>
          <a:noFill/>
          <a:ln/>
        </p:spPr>
        <p:txBody>
          <a:bodyPr wrap="square" lIns="0" tIns="0" rIns="0" bIns="0" rtlCol="0" anchor="ctr"/>
          <a:lstStyle/>
          <a:p>
            <a:pPr marL="0" indent="0">
              <a:buNone/>
            </a:pPr>
            <a:r>
              <a:rPr lang="en-US" sz="1250" b="1" dirty="0">
                <a:solidFill>
                  <a:srgbClr val="0E1E3A"/>
                </a:solidFill>
                <a:latin typeface="Cambria" pitchFamily="34" charset="0"/>
                <a:ea typeface="Cambria" pitchFamily="34" charset="-122"/>
                <a:cs typeface="Cambria" pitchFamily="34" charset="-120"/>
              </a:rPr>
              <a:t>Edge admitted</a:t>
            </a:r>
            <a:endParaRPr lang="en-US" sz="1250" dirty="0"/>
          </a:p>
        </p:txBody>
      </p:sp>
      <p:sp>
        <p:nvSpPr>
          <p:cNvPr id="12" name="Text 10"/>
          <p:cNvSpPr/>
          <p:nvPr/>
        </p:nvSpPr>
        <p:spPr>
          <a:xfrm>
            <a:off x="877824" y="2395728"/>
            <a:ext cx="2991002" cy="822960"/>
          </a:xfrm>
          <a:prstGeom prst="rect">
            <a:avLst/>
          </a:prstGeom>
          <a:noFill/>
          <a:ln/>
        </p:spPr>
        <p:txBody>
          <a:bodyPr wrap="square" lIns="0" tIns="0" rIns="0" bIns="0" rtlCol="0" anchor="t"/>
          <a:lstStyle/>
          <a:p>
            <a:pPr marL="0" indent="0">
              <a:lnSpc>
                <a:spcPct val="108000"/>
              </a:lnSpc>
              <a:buNone/>
            </a:pPr>
            <a:r>
              <a:rPr lang="en-US" sz="1100" dirty="0">
                <a:solidFill>
                  <a:srgbClr val="24354F"/>
                </a:solidFill>
                <a:latin typeface="Calibri" pitchFamily="34" charset="0"/>
                <a:ea typeface="Calibri" pitchFamily="34" charset="-122"/>
                <a:cs typeface="Calibri" pitchFamily="34" charset="-120"/>
              </a:rPr>
              <a:t>The minimum-description-length witness is recorded as the slot's producer.</a:t>
            </a:r>
            <a:endParaRPr lang="en-US" sz="1100" dirty="0"/>
          </a:p>
        </p:txBody>
      </p:sp>
      <p:sp>
        <p:nvSpPr>
          <p:cNvPr id="13" name="Shape 11"/>
          <p:cNvSpPr/>
          <p:nvPr/>
        </p:nvSpPr>
        <p:spPr>
          <a:xfrm>
            <a:off x="4362602" y="1847088"/>
            <a:ext cx="3466490" cy="1481328"/>
          </a:xfrm>
          <a:prstGeom prst="roundRect">
            <a:avLst>
              <a:gd name="adj" fmla="val 3086"/>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14" name="Shape 12"/>
          <p:cNvSpPr/>
          <p:nvPr/>
        </p:nvSpPr>
        <p:spPr>
          <a:xfrm>
            <a:off x="4582058" y="2011680"/>
            <a:ext cx="310896" cy="310896"/>
          </a:xfrm>
          <a:prstGeom prst="ellipse">
            <a:avLst/>
          </a:prstGeom>
          <a:solidFill>
            <a:srgbClr val="A93B2B"/>
          </a:solidFill>
          <a:ln w="6350">
            <a:solidFill>
              <a:srgbClr val="A93B2B"/>
            </a:solidFill>
            <a:prstDash val="solid"/>
          </a:ln>
        </p:spPr>
        <p:txBody>
          <a:bodyPr/>
          <a:lstStyle/>
          <a:p>
            <a:endParaRPr lang="en-US"/>
          </a:p>
        </p:txBody>
      </p:sp>
      <p:sp>
        <p:nvSpPr>
          <p:cNvPr id="15" name="Text 13"/>
          <p:cNvSpPr/>
          <p:nvPr/>
        </p:nvSpPr>
        <p:spPr>
          <a:xfrm>
            <a:off x="4582058" y="2011680"/>
            <a:ext cx="310896"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6" name="Text 14"/>
          <p:cNvSpPr/>
          <p:nvPr/>
        </p:nvSpPr>
        <p:spPr>
          <a:xfrm>
            <a:off x="4966106" y="2011680"/>
            <a:ext cx="1005840" cy="310896"/>
          </a:xfrm>
          <a:prstGeom prst="rect">
            <a:avLst/>
          </a:prstGeom>
          <a:noFill/>
          <a:ln/>
        </p:spPr>
        <p:txBody>
          <a:bodyPr wrap="square" lIns="0" tIns="0" rIns="0" bIns="0" rtlCol="0" anchor="ctr"/>
          <a:lstStyle/>
          <a:p>
            <a:pPr marL="0" indent="0">
              <a:buNone/>
            </a:pPr>
            <a:r>
              <a:rPr lang="en-US" sz="1300" b="1" i="1" dirty="0">
                <a:solidFill>
                  <a:srgbClr val="A93B2B"/>
                </a:solidFill>
                <a:latin typeface="Cambria" pitchFamily="34" charset="0"/>
                <a:ea typeface="Cambria" pitchFamily="34" charset="-122"/>
                <a:cs typeface="Cambria" pitchFamily="34" charset="-120"/>
              </a:rPr>
              <a:t>H = ∅</a:t>
            </a:r>
            <a:endParaRPr lang="en-US" sz="1300" dirty="0"/>
          </a:p>
        </p:txBody>
      </p:sp>
      <p:sp>
        <p:nvSpPr>
          <p:cNvPr id="17" name="Text 15"/>
          <p:cNvSpPr/>
          <p:nvPr/>
        </p:nvSpPr>
        <p:spPr>
          <a:xfrm>
            <a:off x="5917082" y="2011680"/>
            <a:ext cx="1692554" cy="310896"/>
          </a:xfrm>
          <a:prstGeom prst="rect">
            <a:avLst/>
          </a:prstGeom>
          <a:noFill/>
          <a:ln/>
        </p:spPr>
        <p:txBody>
          <a:bodyPr wrap="square" lIns="0" tIns="0" rIns="0" bIns="0" rtlCol="0" anchor="ctr"/>
          <a:lstStyle/>
          <a:p>
            <a:pPr marL="0" indent="0">
              <a:buNone/>
            </a:pPr>
            <a:r>
              <a:rPr lang="en-US" sz="1250" b="1" dirty="0">
                <a:solidFill>
                  <a:srgbClr val="A93B2B"/>
                </a:solidFill>
                <a:latin typeface="Cambria" pitchFamily="34" charset="0"/>
                <a:ea typeface="Cambria" pitchFamily="34" charset="-122"/>
                <a:cs typeface="Cambria" pitchFamily="34" charset="-120"/>
              </a:rPr>
              <a:t>Model-originated</a:t>
            </a:r>
            <a:endParaRPr lang="en-US" sz="1250" dirty="0"/>
          </a:p>
        </p:txBody>
      </p:sp>
      <p:sp>
        <p:nvSpPr>
          <p:cNvPr id="18" name="Text 16"/>
          <p:cNvSpPr/>
          <p:nvPr/>
        </p:nvSpPr>
        <p:spPr>
          <a:xfrm>
            <a:off x="4600346" y="2395728"/>
            <a:ext cx="2991002" cy="822960"/>
          </a:xfrm>
          <a:prstGeom prst="rect">
            <a:avLst/>
          </a:prstGeom>
          <a:noFill/>
          <a:ln/>
        </p:spPr>
        <p:txBody>
          <a:bodyPr wrap="square" lIns="0" tIns="0" rIns="0" bIns="0" rtlCol="0" anchor="t"/>
          <a:lstStyle/>
          <a:p>
            <a:pPr marL="0" indent="0">
              <a:lnSpc>
                <a:spcPct val="108000"/>
              </a:lnSpc>
              <a:buNone/>
            </a:pPr>
            <a:r>
              <a:rPr lang="en-US" sz="1100" dirty="0">
                <a:solidFill>
                  <a:srgbClr val="5C4034"/>
                </a:solidFill>
                <a:latin typeface="Calibri" pitchFamily="34" charset="0"/>
                <a:ea typeface="Calibri" pitchFamily="34" charset="-122"/>
                <a:cs typeface="Calibri" pitchFamily="34" charset="-120"/>
              </a:rPr>
              <a:t>A genuine model decision. There is nothing in observable state to reconstruct it from.</a:t>
            </a:r>
            <a:endParaRPr lang="en-US" sz="1100" dirty="0"/>
          </a:p>
        </p:txBody>
      </p:sp>
      <p:sp>
        <p:nvSpPr>
          <p:cNvPr id="19" name="Shape 17"/>
          <p:cNvSpPr/>
          <p:nvPr/>
        </p:nvSpPr>
        <p:spPr>
          <a:xfrm>
            <a:off x="8085125" y="1847088"/>
            <a:ext cx="3466490" cy="1481328"/>
          </a:xfrm>
          <a:prstGeom prst="roundRect">
            <a:avLst>
              <a:gd name="adj" fmla="val 3086"/>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20" name="Shape 18"/>
          <p:cNvSpPr/>
          <p:nvPr/>
        </p:nvSpPr>
        <p:spPr>
          <a:xfrm>
            <a:off x="8304581" y="2011680"/>
            <a:ext cx="310896" cy="310896"/>
          </a:xfrm>
          <a:prstGeom prst="ellipse">
            <a:avLst/>
          </a:prstGeom>
          <a:solidFill>
            <a:srgbClr val="A93B2B"/>
          </a:solidFill>
          <a:ln w="6350">
            <a:solidFill>
              <a:srgbClr val="A93B2B"/>
            </a:solidFill>
            <a:prstDash val="solid"/>
          </a:ln>
        </p:spPr>
        <p:txBody>
          <a:bodyPr/>
          <a:lstStyle/>
          <a:p>
            <a:endParaRPr lang="en-US"/>
          </a:p>
        </p:txBody>
      </p:sp>
      <p:sp>
        <p:nvSpPr>
          <p:cNvPr id="21" name="Text 19"/>
          <p:cNvSpPr/>
          <p:nvPr/>
        </p:nvSpPr>
        <p:spPr>
          <a:xfrm>
            <a:off x="8304581" y="2011680"/>
            <a:ext cx="310896"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2" name="Text 20"/>
          <p:cNvSpPr/>
          <p:nvPr/>
        </p:nvSpPr>
        <p:spPr>
          <a:xfrm>
            <a:off x="8688629" y="2011680"/>
            <a:ext cx="1005840" cy="310896"/>
          </a:xfrm>
          <a:prstGeom prst="rect">
            <a:avLst/>
          </a:prstGeom>
          <a:noFill/>
          <a:ln/>
        </p:spPr>
        <p:txBody>
          <a:bodyPr wrap="square" lIns="0" tIns="0" rIns="0" bIns="0" rtlCol="0" anchor="ctr"/>
          <a:lstStyle/>
          <a:p>
            <a:pPr marL="0" indent="0">
              <a:buNone/>
            </a:pPr>
            <a:r>
              <a:rPr lang="en-US" sz="1300" b="1" i="1" dirty="0">
                <a:solidFill>
                  <a:srgbClr val="A93B2B"/>
                </a:solidFill>
                <a:latin typeface="Cambria" pitchFamily="34" charset="0"/>
                <a:ea typeface="Cambria" pitchFamily="34" charset="-122"/>
                <a:cs typeface="Cambria" pitchFamily="34" charset="-120"/>
              </a:rPr>
              <a:t>|H| &gt; κ</a:t>
            </a:r>
            <a:endParaRPr lang="en-US" sz="1300" dirty="0"/>
          </a:p>
        </p:txBody>
      </p:sp>
      <p:sp>
        <p:nvSpPr>
          <p:cNvPr id="23" name="Text 21"/>
          <p:cNvSpPr/>
          <p:nvPr/>
        </p:nvSpPr>
        <p:spPr>
          <a:xfrm>
            <a:off x="9639605" y="2011680"/>
            <a:ext cx="1692554" cy="310896"/>
          </a:xfrm>
          <a:prstGeom prst="rect">
            <a:avLst/>
          </a:prstGeom>
          <a:noFill/>
          <a:ln/>
        </p:spPr>
        <p:txBody>
          <a:bodyPr wrap="square" lIns="0" tIns="0" rIns="0" bIns="0" rtlCol="0" anchor="ctr"/>
          <a:lstStyle/>
          <a:p>
            <a:pPr marL="0" indent="0">
              <a:buNone/>
            </a:pPr>
            <a:r>
              <a:rPr lang="en-US" sz="1250" b="1" dirty="0">
                <a:solidFill>
                  <a:srgbClr val="A93B2B"/>
                </a:solidFill>
                <a:latin typeface="Cambria" pitchFamily="34" charset="0"/>
                <a:ea typeface="Cambria" pitchFamily="34" charset="-122"/>
                <a:cs typeface="Cambria" pitchFamily="34" charset="-120"/>
              </a:rPr>
              <a:t>Ambiguous</a:t>
            </a:r>
            <a:endParaRPr lang="en-US" sz="1250" dirty="0"/>
          </a:p>
        </p:txBody>
      </p:sp>
      <p:sp>
        <p:nvSpPr>
          <p:cNvPr id="24" name="Text 22"/>
          <p:cNvSpPr/>
          <p:nvPr/>
        </p:nvSpPr>
        <p:spPr>
          <a:xfrm>
            <a:off x="8322869" y="2395728"/>
            <a:ext cx="2991002" cy="822960"/>
          </a:xfrm>
          <a:prstGeom prst="rect">
            <a:avLst/>
          </a:prstGeom>
          <a:noFill/>
          <a:ln/>
        </p:spPr>
        <p:txBody>
          <a:bodyPr wrap="square" lIns="0" tIns="0" rIns="0" bIns="0" rtlCol="0" anchor="t"/>
          <a:lstStyle/>
          <a:p>
            <a:pPr marL="0" indent="0">
              <a:lnSpc>
                <a:spcPct val="108000"/>
              </a:lnSpc>
              <a:buNone/>
            </a:pPr>
            <a:r>
              <a:rPr lang="en-US" sz="1100" dirty="0">
                <a:solidFill>
                  <a:srgbClr val="5C4034"/>
                </a:solidFill>
                <a:latin typeface="Calibri" pitchFamily="34" charset="0"/>
                <a:ea typeface="Calibri" pitchFamily="34" charset="-122"/>
                <a:cs typeface="Calibri" pitchFamily="34" charset="-120"/>
              </a:rPr>
              <a:t>Above the configured cap. Blocked rather than defaulting to the cheapest explanation.</a:t>
            </a:r>
            <a:endParaRPr lang="en-US" sz="1100" dirty="0"/>
          </a:p>
        </p:txBody>
      </p:sp>
      <p:sp>
        <p:nvSpPr>
          <p:cNvPr id="25" name="Shape 23"/>
          <p:cNvSpPr/>
          <p:nvPr/>
        </p:nvSpPr>
        <p:spPr>
          <a:xfrm>
            <a:off x="640080" y="3493008"/>
            <a:ext cx="10911535" cy="566928"/>
          </a:xfrm>
          <a:prstGeom prst="roundRect">
            <a:avLst>
              <a:gd name="adj" fmla="val 8065"/>
            </a:avLst>
          </a:prstGeom>
          <a:solidFill>
            <a:srgbClr val="EAF1F7"/>
          </a:solidFill>
          <a:ln w="9525">
            <a:solidFill>
              <a:srgbClr val="D5E0EB"/>
            </a:solidFill>
            <a:prstDash val="solid"/>
          </a:ln>
        </p:spPr>
        <p:txBody>
          <a:bodyPr/>
          <a:lstStyle/>
          <a:p>
            <a:endParaRPr lang="en-US"/>
          </a:p>
        </p:txBody>
      </p:sp>
      <p:sp>
        <p:nvSpPr>
          <p:cNvPr id="26" name="Text 24"/>
          <p:cNvSpPr/>
          <p:nvPr/>
        </p:nvSpPr>
        <p:spPr>
          <a:xfrm>
            <a:off x="877824" y="3584448"/>
            <a:ext cx="10436047" cy="402336"/>
          </a:xfrm>
          <a:prstGeom prst="rect">
            <a:avLst/>
          </a:prstGeom>
          <a:noFill/>
          <a:ln/>
        </p:spPr>
        <p:txBody>
          <a:bodyPr wrap="square" lIns="0" tIns="0" rIns="0" bIns="0" rtlCol="0" anchor="ctr"/>
          <a:lstStyle/>
          <a:p>
            <a:pPr marL="0" indent="0">
              <a:lnSpc>
                <a:spcPct val="105000"/>
              </a:lnSpc>
              <a:buNone/>
            </a:pPr>
            <a:r>
              <a:rPr lang="en-US" sz="1150" b="1" dirty="0">
                <a:solidFill>
                  <a:srgbClr val="0E1E3A"/>
                </a:solidFill>
                <a:latin typeface="Calibri" pitchFamily="34" charset="0"/>
                <a:ea typeface="Calibri" pitchFamily="34" charset="-122"/>
                <a:cs typeface="Calibri" pitchFamily="34" charset="-120"/>
              </a:rPr>
              <a:t>Order edges. </a:t>
            </a:r>
            <a:r>
              <a:rPr lang="en-US" sz="1150" dirty="0">
                <a:solidFill>
                  <a:srgbClr val="24354F"/>
                </a:solidFill>
                <a:latin typeface="Calibri" pitchFamily="34" charset="0"/>
                <a:ea typeface="Calibri" pitchFamily="34" charset="-122"/>
                <a:cs typeface="Calibri" pitchFamily="34" charset="-120"/>
              </a:rPr>
              <a:t>For every pair of events sharing a resource where either writes it, the graph adds eₛ &lt; eₜ — so a reordering can never be proposed across a conflict. This is execution provenance in the database sense, specialized to tool arguments rather than tuple derivations.</a:t>
            </a:r>
            <a:endParaRPr lang="en-US" sz="1150" dirty="0"/>
          </a:p>
        </p:txBody>
      </p:sp>
      <p:sp>
        <p:nvSpPr>
          <p:cNvPr id="27" name="Text 25"/>
          <p:cNvSpPr/>
          <p:nvPr/>
        </p:nvSpPr>
        <p:spPr>
          <a:xfrm>
            <a:off x="640080" y="4224528"/>
            <a:ext cx="10911535" cy="237744"/>
          </a:xfrm>
          <a:prstGeom prst="rect">
            <a:avLst/>
          </a:prstGeom>
          <a:noFill/>
          <a:ln/>
        </p:spPr>
        <p:txBody>
          <a:bodyPr wrap="square" lIns="0" tIns="0" rIns="0" bIns="0" rtlCol="0" anchor="t"/>
          <a:lstStyle/>
          <a:p>
            <a:pPr marL="0" indent="0">
              <a:buNone/>
            </a:pPr>
            <a:r>
              <a:rPr lang="en-US" sz="1050" b="1" kern="0" spc="180" dirty="0">
                <a:solidFill>
                  <a:srgbClr val="5A6B84"/>
                </a:solidFill>
                <a:latin typeface="Calibri" pitchFamily="34" charset="0"/>
                <a:ea typeface="Calibri" pitchFamily="34" charset="-122"/>
                <a:cs typeface="Calibri" pitchFamily="34" charset="-120"/>
              </a:rPr>
              <a:t>MEASURED ON NESTFUL — 5,746 DEPENDENCY SLOTS ACROSS 1,415 EXECUTABLE EPISODES</a:t>
            </a:r>
            <a:endParaRPr lang="en-US" sz="1050" dirty="0"/>
          </a:p>
        </p:txBody>
      </p:sp>
      <p:sp>
        <p:nvSpPr>
          <p:cNvPr id="28" name="Shape 26"/>
          <p:cNvSpPr/>
          <p:nvPr/>
        </p:nvSpPr>
        <p:spPr>
          <a:xfrm>
            <a:off x="640080" y="4498848"/>
            <a:ext cx="1666189" cy="1133856"/>
          </a:xfrm>
          <a:prstGeom prst="roundRect">
            <a:avLst>
              <a:gd name="adj" fmla="val 4032"/>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29" name="Text 27"/>
          <p:cNvSpPr/>
          <p:nvPr/>
        </p:nvSpPr>
        <p:spPr>
          <a:xfrm>
            <a:off x="768096" y="4608576"/>
            <a:ext cx="1410157" cy="365760"/>
          </a:xfrm>
          <a:prstGeom prst="rect">
            <a:avLst/>
          </a:prstGeom>
          <a:noFill/>
          <a:ln/>
        </p:spPr>
        <p:txBody>
          <a:bodyPr wrap="square" lIns="0" tIns="0" rIns="0" bIns="0" rtlCol="0" anchor="t"/>
          <a:lstStyle/>
          <a:p>
            <a:pPr marL="0" indent="0">
              <a:buNone/>
            </a:pPr>
            <a:r>
              <a:rPr lang="en-US" sz="1900" b="1" dirty="0">
                <a:solidFill>
                  <a:srgbClr val="0E1E3A"/>
                </a:solidFill>
                <a:latin typeface="Cambria" pitchFamily="34" charset="0"/>
                <a:ea typeface="Cambria" pitchFamily="34" charset="-122"/>
                <a:cs typeface="Cambria" pitchFamily="34" charset="-120"/>
              </a:rPr>
              <a:t>5,531</a:t>
            </a:r>
            <a:endParaRPr lang="en-US" sz="1900" dirty="0"/>
          </a:p>
        </p:txBody>
      </p:sp>
      <p:sp>
        <p:nvSpPr>
          <p:cNvPr id="30" name="Text 28"/>
          <p:cNvSpPr/>
          <p:nvPr/>
        </p:nvSpPr>
        <p:spPr>
          <a:xfrm>
            <a:off x="768096" y="4974336"/>
            <a:ext cx="1410157" cy="256032"/>
          </a:xfrm>
          <a:prstGeom prst="rect">
            <a:avLst/>
          </a:prstGeom>
          <a:noFill/>
          <a:ln/>
        </p:spPr>
        <p:txBody>
          <a:bodyPr wrap="square" lIns="0" tIns="0" rIns="0" bIns="0" rtlCol="0" anchor="t"/>
          <a:lstStyle/>
          <a:p>
            <a:pPr marL="0" indent="0">
              <a:buNone/>
            </a:pPr>
            <a:r>
              <a:rPr lang="en-US" sz="1000" b="1" dirty="0">
                <a:solidFill>
                  <a:srgbClr val="24354F"/>
                </a:solidFill>
                <a:latin typeface="Calibri" pitchFamily="34" charset="0"/>
                <a:ea typeface="Calibri" pitchFamily="34" charset="-122"/>
                <a:cs typeface="Calibri" pitchFamily="34" charset="-120"/>
              </a:rPr>
              <a:t>in candidate set</a:t>
            </a:r>
            <a:endParaRPr lang="en-US" sz="1000" dirty="0"/>
          </a:p>
        </p:txBody>
      </p:sp>
      <p:sp>
        <p:nvSpPr>
          <p:cNvPr id="31" name="Text 29"/>
          <p:cNvSpPr/>
          <p:nvPr/>
        </p:nvSpPr>
        <p:spPr>
          <a:xfrm>
            <a:off x="768096" y="5212080"/>
            <a:ext cx="1410157" cy="347472"/>
          </a:xfrm>
          <a:prstGeom prst="rect">
            <a:avLst/>
          </a:prstGeom>
          <a:noFill/>
          <a:ln/>
        </p:spPr>
        <p:txBody>
          <a:bodyPr wrap="square" lIns="0" tIns="0" rIns="0" bIns="0" rtlCol="0" anchor="t"/>
          <a:lstStyle/>
          <a:p>
            <a:pPr marL="0" indent="0">
              <a:lnSpc>
                <a:spcPct val="100000"/>
              </a:lnSpc>
              <a:buNone/>
            </a:pPr>
            <a:r>
              <a:rPr lang="en-US" sz="950" dirty="0">
                <a:solidFill>
                  <a:srgbClr val="5A6B84"/>
                </a:solidFill>
                <a:latin typeface="Calibri" pitchFamily="34" charset="0"/>
                <a:ea typeface="Calibri" pitchFamily="34" charset="-122"/>
                <a:cs typeface="Calibri" pitchFamily="34" charset="-120"/>
              </a:rPr>
              <a:t>96.3% recall</a:t>
            </a:r>
            <a:endParaRPr lang="en-US" sz="950" dirty="0"/>
          </a:p>
        </p:txBody>
      </p:sp>
      <p:sp>
        <p:nvSpPr>
          <p:cNvPr id="32" name="Shape 30"/>
          <p:cNvSpPr/>
          <p:nvPr/>
        </p:nvSpPr>
        <p:spPr>
          <a:xfrm>
            <a:off x="2489149" y="4498848"/>
            <a:ext cx="1666189" cy="1133856"/>
          </a:xfrm>
          <a:prstGeom prst="roundRect">
            <a:avLst>
              <a:gd name="adj" fmla="val 4032"/>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33" name="Text 31"/>
          <p:cNvSpPr/>
          <p:nvPr/>
        </p:nvSpPr>
        <p:spPr>
          <a:xfrm>
            <a:off x="2617165" y="4608576"/>
            <a:ext cx="1410157" cy="365760"/>
          </a:xfrm>
          <a:prstGeom prst="rect">
            <a:avLst/>
          </a:prstGeom>
          <a:noFill/>
          <a:ln/>
        </p:spPr>
        <p:txBody>
          <a:bodyPr wrap="square" lIns="0" tIns="0" rIns="0" bIns="0" rtlCol="0" anchor="t"/>
          <a:lstStyle/>
          <a:p>
            <a:pPr marL="0" indent="0">
              <a:buNone/>
            </a:pPr>
            <a:r>
              <a:rPr lang="en-US" sz="1900" b="1" dirty="0">
                <a:solidFill>
                  <a:srgbClr val="1F8A99"/>
                </a:solidFill>
                <a:latin typeface="Cambria" pitchFamily="34" charset="0"/>
                <a:ea typeface="Cambria" pitchFamily="34" charset="-122"/>
                <a:cs typeface="Cambria" pitchFamily="34" charset="-120"/>
              </a:rPr>
              <a:t>4,636</a:t>
            </a:r>
            <a:endParaRPr lang="en-US" sz="1900" dirty="0"/>
          </a:p>
        </p:txBody>
      </p:sp>
      <p:sp>
        <p:nvSpPr>
          <p:cNvPr id="34" name="Text 32"/>
          <p:cNvSpPr/>
          <p:nvPr/>
        </p:nvSpPr>
        <p:spPr>
          <a:xfrm>
            <a:off x="2617165" y="4974336"/>
            <a:ext cx="1410157" cy="256032"/>
          </a:xfrm>
          <a:prstGeom prst="rect">
            <a:avLst/>
          </a:prstGeom>
          <a:noFill/>
          <a:ln/>
        </p:spPr>
        <p:txBody>
          <a:bodyPr wrap="square" lIns="0" tIns="0" rIns="0" bIns="0" rtlCol="0" anchor="t"/>
          <a:lstStyle/>
          <a:p>
            <a:pPr marL="0" indent="0">
              <a:buNone/>
            </a:pPr>
            <a:r>
              <a:rPr lang="en-US" sz="1000" b="1" dirty="0">
                <a:solidFill>
                  <a:srgbClr val="24354F"/>
                </a:solidFill>
                <a:latin typeface="Calibri" pitchFamily="34" charset="0"/>
                <a:ea typeface="Calibri" pitchFamily="34" charset="-122"/>
                <a:cs typeface="Calibri" pitchFamily="34" charset="-120"/>
              </a:rPr>
              <a:t>uniquely resolved</a:t>
            </a:r>
            <a:endParaRPr lang="en-US" sz="1000" dirty="0"/>
          </a:p>
        </p:txBody>
      </p:sp>
      <p:sp>
        <p:nvSpPr>
          <p:cNvPr id="35" name="Text 33"/>
          <p:cNvSpPr/>
          <p:nvPr/>
        </p:nvSpPr>
        <p:spPr>
          <a:xfrm>
            <a:off x="2617165" y="5212080"/>
            <a:ext cx="1410157" cy="347472"/>
          </a:xfrm>
          <a:prstGeom prst="rect">
            <a:avLst/>
          </a:prstGeom>
          <a:noFill/>
          <a:ln/>
        </p:spPr>
        <p:txBody>
          <a:bodyPr wrap="square" lIns="0" tIns="0" rIns="0" bIns="0" rtlCol="0" anchor="t"/>
          <a:lstStyle/>
          <a:p>
            <a:pPr marL="0" indent="0">
              <a:lnSpc>
                <a:spcPct val="100000"/>
              </a:lnSpc>
              <a:buNone/>
            </a:pPr>
            <a:r>
              <a:rPr lang="en-US" sz="950" dirty="0">
                <a:solidFill>
                  <a:srgbClr val="5A6B84"/>
                </a:solidFill>
                <a:latin typeface="Calibri" pitchFamily="34" charset="0"/>
                <a:ea typeface="Calibri" pitchFamily="34" charset="-122"/>
                <a:cs typeface="Calibri" pitchFamily="34" charset="-120"/>
              </a:rPr>
              <a:t>80.7%</a:t>
            </a:r>
            <a:endParaRPr lang="en-US" sz="950" dirty="0"/>
          </a:p>
        </p:txBody>
      </p:sp>
      <p:sp>
        <p:nvSpPr>
          <p:cNvPr id="36" name="Shape 34"/>
          <p:cNvSpPr/>
          <p:nvPr/>
        </p:nvSpPr>
        <p:spPr>
          <a:xfrm>
            <a:off x="4338218" y="4498848"/>
            <a:ext cx="1666189" cy="1133856"/>
          </a:xfrm>
          <a:prstGeom prst="roundRect">
            <a:avLst>
              <a:gd name="adj" fmla="val 4032"/>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37" name="Text 35"/>
          <p:cNvSpPr/>
          <p:nvPr/>
        </p:nvSpPr>
        <p:spPr>
          <a:xfrm>
            <a:off x="4466234" y="4608576"/>
            <a:ext cx="1410157" cy="365760"/>
          </a:xfrm>
          <a:prstGeom prst="rect">
            <a:avLst/>
          </a:prstGeom>
          <a:noFill/>
          <a:ln/>
        </p:spPr>
        <p:txBody>
          <a:bodyPr wrap="square" lIns="0" tIns="0" rIns="0" bIns="0" rtlCol="0" anchor="t"/>
          <a:lstStyle/>
          <a:p>
            <a:pPr marL="0" indent="0">
              <a:buNone/>
            </a:pPr>
            <a:r>
              <a:rPr lang="en-US" sz="1900" b="1" dirty="0">
                <a:solidFill>
                  <a:srgbClr val="A93B2B"/>
                </a:solidFill>
                <a:latin typeface="Cambria" pitchFamily="34" charset="0"/>
                <a:ea typeface="Cambria" pitchFamily="34" charset="-122"/>
                <a:cs typeface="Cambria" pitchFamily="34" charset="-120"/>
              </a:rPr>
              <a:t>895</a:t>
            </a:r>
            <a:endParaRPr lang="en-US" sz="1900" dirty="0"/>
          </a:p>
        </p:txBody>
      </p:sp>
      <p:sp>
        <p:nvSpPr>
          <p:cNvPr id="38" name="Text 36"/>
          <p:cNvSpPr/>
          <p:nvPr/>
        </p:nvSpPr>
        <p:spPr>
          <a:xfrm>
            <a:off x="4466234" y="4974336"/>
            <a:ext cx="1410157" cy="256032"/>
          </a:xfrm>
          <a:prstGeom prst="rect">
            <a:avLst/>
          </a:prstGeom>
          <a:noFill/>
          <a:ln/>
        </p:spPr>
        <p:txBody>
          <a:bodyPr wrap="square" lIns="0" tIns="0" rIns="0" bIns="0" rtlCol="0" anchor="t"/>
          <a:lstStyle/>
          <a:p>
            <a:pPr marL="0" indent="0">
              <a:buNone/>
            </a:pPr>
            <a:r>
              <a:rPr lang="en-US" sz="1000" b="1" dirty="0">
                <a:solidFill>
                  <a:srgbClr val="24354F"/>
                </a:solidFill>
                <a:latin typeface="Calibri" pitchFamily="34" charset="0"/>
                <a:ea typeface="Calibri" pitchFamily="34" charset="-122"/>
                <a:cs typeface="Calibri" pitchFamily="34" charset="-120"/>
              </a:rPr>
              <a:t>ambiguous</a:t>
            </a:r>
            <a:endParaRPr lang="en-US" sz="1000" dirty="0"/>
          </a:p>
        </p:txBody>
      </p:sp>
      <p:sp>
        <p:nvSpPr>
          <p:cNvPr id="39" name="Text 37"/>
          <p:cNvSpPr/>
          <p:nvPr/>
        </p:nvSpPr>
        <p:spPr>
          <a:xfrm>
            <a:off x="4466234" y="5212080"/>
            <a:ext cx="1410157" cy="347472"/>
          </a:xfrm>
          <a:prstGeom prst="rect">
            <a:avLst/>
          </a:prstGeom>
          <a:noFill/>
          <a:ln/>
        </p:spPr>
        <p:txBody>
          <a:bodyPr wrap="square" lIns="0" tIns="0" rIns="0" bIns="0" rtlCol="0" anchor="t"/>
          <a:lstStyle/>
          <a:p>
            <a:pPr marL="0" indent="0">
              <a:lnSpc>
                <a:spcPct val="100000"/>
              </a:lnSpc>
              <a:buNone/>
            </a:pPr>
            <a:r>
              <a:rPr lang="en-US" sz="950" dirty="0">
                <a:solidFill>
                  <a:srgbClr val="5A6B84"/>
                </a:solidFill>
                <a:latin typeface="Calibri" pitchFamily="34" charset="0"/>
                <a:ea typeface="Calibri" pitchFamily="34" charset="-122"/>
                <a:cs typeface="Calibri" pitchFamily="34" charset="-120"/>
              </a:rPr>
              <a:t>truth among many, 15.6%</a:t>
            </a:r>
            <a:endParaRPr lang="en-US" sz="950" dirty="0"/>
          </a:p>
        </p:txBody>
      </p:sp>
      <p:sp>
        <p:nvSpPr>
          <p:cNvPr id="40" name="Shape 38"/>
          <p:cNvSpPr/>
          <p:nvPr/>
        </p:nvSpPr>
        <p:spPr>
          <a:xfrm>
            <a:off x="6187288" y="4498848"/>
            <a:ext cx="1666189" cy="1133856"/>
          </a:xfrm>
          <a:prstGeom prst="roundRect">
            <a:avLst>
              <a:gd name="adj" fmla="val 4032"/>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41" name="Text 39"/>
          <p:cNvSpPr/>
          <p:nvPr/>
        </p:nvSpPr>
        <p:spPr>
          <a:xfrm>
            <a:off x="6315304" y="4608576"/>
            <a:ext cx="1410157" cy="365760"/>
          </a:xfrm>
          <a:prstGeom prst="rect">
            <a:avLst/>
          </a:prstGeom>
          <a:noFill/>
          <a:ln/>
        </p:spPr>
        <p:txBody>
          <a:bodyPr wrap="square" lIns="0" tIns="0" rIns="0" bIns="0" rtlCol="0" anchor="t"/>
          <a:lstStyle/>
          <a:p>
            <a:pPr marL="0" indent="0">
              <a:buNone/>
            </a:pPr>
            <a:r>
              <a:rPr lang="en-US" sz="1900" b="1" dirty="0">
                <a:solidFill>
                  <a:srgbClr val="A93B2B"/>
                </a:solidFill>
                <a:latin typeface="Cambria" pitchFamily="34" charset="0"/>
                <a:ea typeface="Cambria" pitchFamily="34" charset="-122"/>
                <a:cs typeface="Cambria" pitchFamily="34" charset="-120"/>
              </a:rPr>
              <a:t>215</a:t>
            </a:r>
            <a:endParaRPr lang="en-US" sz="1900" dirty="0"/>
          </a:p>
        </p:txBody>
      </p:sp>
      <p:sp>
        <p:nvSpPr>
          <p:cNvPr id="42" name="Text 40"/>
          <p:cNvSpPr/>
          <p:nvPr/>
        </p:nvSpPr>
        <p:spPr>
          <a:xfrm>
            <a:off x="6315304" y="4974336"/>
            <a:ext cx="1410157" cy="256032"/>
          </a:xfrm>
          <a:prstGeom prst="rect">
            <a:avLst/>
          </a:prstGeom>
          <a:noFill/>
          <a:ln/>
        </p:spPr>
        <p:txBody>
          <a:bodyPr wrap="square" lIns="0" tIns="0" rIns="0" bIns="0" rtlCol="0" anchor="t"/>
          <a:lstStyle/>
          <a:p>
            <a:pPr marL="0" indent="0">
              <a:buNone/>
            </a:pPr>
            <a:r>
              <a:rPr lang="en-US" sz="1000" b="1" dirty="0">
                <a:solidFill>
                  <a:srgbClr val="24354F"/>
                </a:solidFill>
                <a:latin typeface="Calibri" pitchFamily="34" charset="0"/>
                <a:ea typeface="Calibri" pitchFamily="34" charset="-122"/>
                <a:cs typeface="Calibri" pitchFamily="34" charset="-120"/>
              </a:rPr>
              <a:t>no candidate</a:t>
            </a:r>
            <a:endParaRPr lang="en-US" sz="1000" dirty="0"/>
          </a:p>
        </p:txBody>
      </p:sp>
      <p:sp>
        <p:nvSpPr>
          <p:cNvPr id="43" name="Text 41"/>
          <p:cNvSpPr/>
          <p:nvPr/>
        </p:nvSpPr>
        <p:spPr>
          <a:xfrm>
            <a:off x="6315304" y="5212080"/>
            <a:ext cx="1410157" cy="347472"/>
          </a:xfrm>
          <a:prstGeom prst="rect">
            <a:avLst/>
          </a:prstGeom>
          <a:noFill/>
          <a:ln/>
        </p:spPr>
        <p:txBody>
          <a:bodyPr wrap="square" lIns="0" tIns="0" rIns="0" bIns="0" rtlCol="0" anchor="t"/>
          <a:lstStyle/>
          <a:p>
            <a:pPr marL="0" indent="0">
              <a:lnSpc>
                <a:spcPct val="100000"/>
              </a:lnSpc>
              <a:buNone/>
            </a:pPr>
            <a:r>
              <a:rPr lang="en-US" sz="950" dirty="0">
                <a:solidFill>
                  <a:srgbClr val="5A6B84"/>
                </a:solidFill>
                <a:latin typeface="Calibri" pitchFamily="34" charset="0"/>
                <a:ea typeface="Calibri" pitchFamily="34" charset="-122"/>
                <a:cs typeface="Calibri" pitchFamily="34" charset="-120"/>
              </a:rPr>
              <a:t>3.7%</a:t>
            </a:r>
            <a:endParaRPr lang="en-US" sz="950" dirty="0"/>
          </a:p>
        </p:txBody>
      </p:sp>
      <p:sp>
        <p:nvSpPr>
          <p:cNvPr id="44" name="Shape 42"/>
          <p:cNvSpPr/>
          <p:nvPr/>
        </p:nvSpPr>
        <p:spPr>
          <a:xfrm>
            <a:off x="8036357" y="4498848"/>
            <a:ext cx="1666189" cy="1133856"/>
          </a:xfrm>
          <a:prstGeom prst="roundRect">
            <a:avLst>
              <a:gd name="adj" fmla="val 4032"/>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45" name="Text 43"/>
          <p:cNvSpPr/>
          <p:nvPr/>
        </p:nvSpPr>
        <p:spPr>
          <a:xfrm>
            <a:off x="8164373" y="4608576"/>
            <a:ext cx="1410157" cy="365760"/>
          </a:xfrm>
          <a:prstGeom prst="rect">
            <a:avLst/>
          </a:prstGeom>
          <a:noFill/>
          <a:ln/>
        </p:spPr>
        <p:txBody>
          <a:bodyPr wrap="square" lIns="0" tIns="0" rIns="0" bIns="0" rtlCol="0" anchor="t"/>
          <a:lstStyle/>
          <a:p>
            <a:pPr marL="0" indent="0">
              <a:buNone/>
            </a:pPr>
            <a:r>
              <a:rPr lang="en-US" sz="1900" b="1" dirty="0">
                <a:solidFill>
                  <a:srgbClr val="0E1E3A"/>
                </a:solidFill>
                <a:latin typeface="Cambria" pitchFamily="34" charset="0"/>
                <a:ea typeface="Cambria" pitchFamily="34" charset="-122"/>
                <a:cs typeface="Cambria" pitchFamily="34" charset="-120"/>
              </a:rPr>
              <a:t>84.3%</a:t>
            </a:r>
            <a:endParaRPr lang="en-US" sz="1900" dirty="0"/>
          </a:p>
        </p:txBody>
      </p:sp>
      <p:sp>
        <p:nvSpPr>
          <p:cNvPr id="46" name="Text 44"/>
          <p:cNvSpPr/>
          <p:nvPr/>
        </p:nvSpPr>
        <p:spPr>
          <a:xfrm>
            <a:off x="8164373" y="4974336"/>
            <a:ext cx="1410157" cy="256032"/>
          </a:xfrm>
          <a:prstGeom prst="rect">
            <a:avLst/>
          </a:prstGeom>
          <a:noFill/>
          <a:ln/>
        </p:spPr>
        <p:txBody>
          <a:bodyPr wrap="square" lIns="0" tIns="0" rIns="0" bIns="0" rtlCol="0" anchor="t"/>
          <a:lstStyle/>
          <a:p>
            <a:pPr marL="0" indent="0">
              <a:buNone/>
            </a:pPr>
            <a:r>
              <a:rPr lang="en-US" sz="1000" b="1" dirty="0">
                <a:solidFill>
                  <a:srgbClr val="24354F"/>
                </a:solidFill>
                <a:latin typeface="Calibri" pitchFamily="34" charset="0"/>
                <a:ea typeface="Calibri" pitchFamily="34" charset="-122"/>
                <a:cs typeface="Calibri" pitchFamily="34" charset="-120"/>
              </a:rPr>
              <a:t>edge precision</a:t>
            </a:r>
            <a:endParaRPr lang="en-US" sz="1000" dirty="0"/>
          </a:p>
        </p:txBody>
      </p:sp>
      <p:sp>
        <p:nvSpPr>
          <p:cNvPr id="47" name="Text 45"/>
          <p:cNvSpPr/>
          <p:nvPr/>
        </p:nvSpPr>
        <p:spPr>
          <a:xfrm>
            <a:off x="8164373" y="5212080"/>
            <a:ext cx="1410157" cy="347472"/>
          </a:xfrm>
          <a:prstGeom prst="rect">
            <a:avLst/>
          </a:prstGeom>
          <a:noFill/>
          <a:ln/>
        </p:spPr>
        <p:txBody>
          <a:bodyPr wrap="square" lIns="0" tIns="0" rIns="0" bIns="0" rtlCol="0" anchor="t"/>
          <a:lstStyle/>
          <a:p>
            <a:pPr marL="0" indent="0">
              <a:lnSpc>
                <a:spcPct val="100000"/>
              </a:lnSpc>
              <a:buNone/>
            </a:pPr>
            <a:r>
              <a:rPr lang="en-US" sz="950" dirty="0">
                <a:solidFill>
                  <a:srgbClr val="5A6B84"/>
                </a:solidFill>
                <a:latin typeface="Calibri" pitchFamily="34" charset="0"/>
                <a:ea typeface="Calibri" pitchFamily="34" charset="-122"/>
                <a:cs typeface="Calibri" pitchFamily="34" charset="-120"/>
              </a:rPr>
              <a:t>5,531 / 6,564</a:t>
            </a:r>
            <a:endParaRPr lang="en-US" sz="950" dirty="0"/>
          </a:p>
        </p:txBody>
      </p:sp>
      <p:sp>
        <p:nvSpPr>
          <p:cNvPr id="48" name="Shape 46"/>
          <p:cNvSpPr/>
          <p:nvPr/>
        </p:nvSpPr>
        <p:spPr>
          <a:xfrm>
            <a:off x="9885426" y="4498848"/>
            <a:ext cx="1666189" cy="1133856"/>
          </a:xfrm>
          <a:prstGeom prst="roundRect">
            <a:avLst>
              <a:gd name="adj" fmla="val 4032"/>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49" name="Text 47"/>
          <p:cNvSpPr/>
          <p:nvPr/>
        </p:nvSpPr>
        <p:spPr>
          <a:xfrm>
            <a:off x="10013442" y="4608576"/>
            <a:ext cx="1410157" cy="365760"/>
          </a:xfrm>
          <a:prstGeom prst="rect">
            <a:avLst/>
          </a:prstGeom>
          <a:noFill/>
          <a:ln/>
        </p:spPr>
        <p:txBody>
          <a:bodyPr wrap="square" lIns="0" tIns="0" rIns="0" bIns="0" rtlCol="0" anchor="t"/>
          <a:lstStyle/>
          <a:p>
            <a:pPr marL="0" indent="0">
              <a:buNone/>
            </a:pPr>
            <a:r>
              <a:rPr lang="en-US" sz="1900" b="1" dirty="0">
                <a:solidFill>
                  <a:srgbClr val="0E1E3A"/>
                </a:solidFill>
                <a:latin typeface="Cambria" pitchFamily="34" charset="0"/>
                <a:ea typeface="Cambria" pitchFamily="34" charset="-122"/>
                <a:cs typeface="Cambria" pitchFamily="34" charset="-120"/>
              </a:rPr>
              <a:t>85.3%</a:t>
            </a:r>
            <a:endParaRPr lang="en-US" sz="1900" dirty="0"/>
          </a:p>
        </p:txBody>
      </p:sp>
      <p:sp>
        <p:nvSpPr>
          <p:cNvPr id="50" name="Text 48"/>
          <p:cNvSpPr/>
          <p:nvPr/>
        </p:nvSpPr>
        <p:spPr>
          <a:xfrm>
            <a:off x="10013442" y="4974336"/>
            <a:ext cx="1410157" cy="256032"/>
          </a:xfrm>
          <a:prstGeom prst="rect">
            <a:avLst/>
          </a:prstGeom>
          <a:noFill/>
          <a:ln/>
        </p:spPr>
        <p:txBody>
          <a:bodyPr wrap="square" lIns="0" tIns="0" rIns="0" bIns="0" rtlCol="0" anchor="t"/>
          <a:lstStyle/>
          <a:p>
            <a:pPr marL="0" indent="0">
              <a:buNone/>
            </a:pPr>
            <a:r>
              <a:rPr lang="en-US" sz="1000" b="1" dirty="0">
                <a:solidFill>
                  <a:srgbClr val="24354F"/>
                </a:solidFill>
                <a:latin typeface="Calibri" pitchFamily="34" charset="0"/>
                <a:ea typeface="Calibri" pitchFamily="34" charset="-122"/>
                <a:cs typeface="Calibri" pitchFamily="34" charset="-120"/>
              </a:rPr>
              <a:t>complete windows</a:t>
            </a:r>
            <a:endParaRPr lang="en-US" sz="1000" dirty="0"/>
          </a:p>
        </p:txBody>
      </p:sp>
      <p:sp>
        <p:nvSpPr>
          <p:cNvPr id="51" name="Text 49"/>
          <p:cNvSpPr/>
          <p:nvPr/>
        </p:nvSpPr>
        <p:spPr>
          <a:xfrm>
            <a:off x="10013442" y="5212080"/>
            <a:ext cx="1410157" cy="347472"/>
          </a:xfrm>
          <a:prstGeom prst="rect">
            <a:avLst/>
          </a:prstGeom>
          <a:noFill/>
          <a:ln/>
        </p:spPr>
        <p:txBody>
          <a:bodyPr wrap="square" lIns="0" tIns="0" rIns="0" bIns="0" rtlCol="0" anchor="t"/>
          <a:lstStyle/>
          <a:p>
            <a:pPr marL="0" indent="0">
              <a:lnSpc>
                <a:spcPct val="100000"/>
              </a:lnSpc>
              <a:buNone/>
            </a:pPr>
            <a:r>
              <a:rPr lang="en-US" sz="950" dirty="0">
                <a:solidFill>
                  <a:srgbClr val="5A6B84"/>
                </a:solidFill>
                <a:latin typeface="Calibri" pitchFamily="34" charset="0"/>
                <a:ea typeface="Calibri" pitchFamily="34" charset="-122"/>
                <a:cs typeface="Calibri" pitchFamily="34" charset="-120"/>
              </a:rPr>
              <a:t>1,207 / 1,415 episodes</a:t>
            </a:r>
            <a:endParaRPr lang="en-US" sz="950" dirty="0"/>
          </a:p>
        </p:txBody>
      </p:sp>
      <p:sp>
        <p:nvSpPr>
          <p:cNvPr id="52" name="Text 50"/>
          <p:cNvSpPr/>
          <p:nvPr/>
        </p:nvSpPr>
        <p:spPr>
          <a:xfrm>
            <a:off x="640080" y="5760720"/>
            <a:ext cx="10911535" cy="457200"/>
          </a:xfrm>
          <a:prstGeom prst="rect">
            <a:avLst/>
          </a:prstGeom>
          <a:noFill/>
          <a:ln/>
        </p:spPr>
        <p:txBody>
          <a:bodyPr wrap="square" lIns="0" tIns="0" rIns="0" bIns="0" rtlCol="0" anchor="t"/>
          <a:lstStyle/>
          <a:p>
            <a:pPr marL="0" indent="0">
              <a:lnSpc>
                <a:spcPct val="105000"/>
              </a:lnSpc>
              <a:buNone/>
            </a:pPr>
            <a:r>
              <a:rPr lang="en-US" sz="1000" i="1" dirty="0">
                <a:solidFill>
                  <a:srgbClr val="5A6B84"/>
                </a:solidFill>
                <a:latin typeface="Calibri" pitchFamily="34" charset="0"/>
                <a:ea typeface="Calibri" pitchFamily="34" charset="-122"/>
                <a:cs typeface="Calibri" pitchFamily="34" charset="-120"/>
              </a:rPr>
              <a:t>H1 was pre-specified as recovery above 90%: supported on recall, not supported on unique resolution — and we report both. Recall here measures search reachability and is close to definitional: candidates are generated by value matching, so no non-empty candidate set omitted the true producer. The 215 misses are exactly the slots with no candidate at all.</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11</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METHOD  ·  §3.1–3.2</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Family mining, an MDL ranking, and a cheap decisive no</a:t>
            </a:r>
            <a:endParaRPr lang="en-US" sz="2600" dirty="0"/>
          </a:p>
        </p:txBody>
      </p:sp>
      <p:sp>
        <p:nvSpPr>
          <p:cNvPr id="6" name="Text 4"/>
          <p:cNvSpPr/>
          <p:nvPr/>
        </p:nvSpPr>
        <p:spPr>
          <a:xfrm>
            <a:off x="640080" y="1188720"/>
            <a:ext cx="10911535" cy="512064"/>
          </a:xfrm>
          <a:prstGeom prst="rect">
            <a:avLst/>
          </a:prstGeom>
          <a:noFill/>
          <a:ln/>
        </p:spPr>
        <p:txBody>
          <a:bodyPr wrap="square" lIns="0" tIns="0" rIns="0" bIns="0" rtlCol="0" anchor="t"/>
          <a:lstStyle/>
          <a:p>
            <a:pPr marL="0" indent="0">
              <a:lnSpc>
                <a:spcPct val="110000"/>
              </a:lnSpc>
              <a:buNone/>
            </a:pPr>
            <a:r>
              <a:rPr lang="en-US" sz="1250" dirty="0">
                <a:solidFill>
                  <a:srgbClr val="24354F"/>
                </a:solidFill>
                <a:latin typeface="Calibri" pitchFamily="34" charset="0"/>
                <a:ea typeface="Calibri" pitchFamily="34" charset="-122"/>
                <a:cs typeface="Calibri" pitchFamily="34" charset="-120"/>
              </a:rPr>
              <a:t>The miner enumerates model-boundary-to-result windows with at most wₘₐₓ tool calls, qualifies effects and live-ins, and hashes tool signatures, dependency topology, run shape, and live-in/out shape while abstracting literal values. Families require support across independent scenario groups rather than raw event frequency.</a:t>
            </a:r>
            <a:endParaRPr lang="en-US" sz="1250" dirty="0"/>
          </a:p>
        </p:txBody>
      </p:sp>
      <p:sp>
        <p:nvSpPr>
          <p:cNvPr id="7" name="Shape 5"/>
          <p:cNvSpPr/>
          <p:nvPr/>
        </p:nvSpPr>
        <p:spPr>
          <a:xfrm>
            <a:off x="640080" y="1792224"/>
            <a:ext cx="10911535" cy="1243584"/>
          </a:xfrm>
          <a:prstGeom prst="roundRect">
            <a:avLst>
              <a:gd name="adj" fmla="val 3676"/>
            </a:avLst>
          </a:prstGeom>
          <a:solidFill>
            <a:srgbClr val="F5F9FC"/>
          </a:solidFill>
          <a:ln w="9525">
            <a:solidFill>
              <a:srgbClr val="D5E0EB"/>
            </a:solidFill>
            <a:prstDash val="solid"/>
          </a:ln>
        </p:spPr>
        <p:txBody>
          <a:bodyPr/>
          <a:lstStyle/>
          <a:p>
            <a:endParaRPr lang="en-US"/>
          </a:p>
        </p:txBody>
      </p:sp>
      <p:pic>
        <p:nvPicPr>
          <p:cNvPr id="8" name="Image 0" descr="/home/claude/deck/eq/eq6.png"/>
          <p:cNvPicPr>
            <a:picLocks noChangeAspect="1"/>
          </p:cNvPicPr>
          <p:nvPr/>
        </p:nvPicPr>
        <p:blipFill>
          <a:blip r:embed="rId3"/>
          <a:stretch>
            <a:fillRect/>
          </a:stretch>
        </p:blipFill>
        <p:spPr>
          <a:xfrm>
            <a:off x="877824" y="1938528"/>
            <a:ext cx="8575174" cy="420624"/>
          </a:xfrm>
          <a:prstGeom prst="rect">
            <a:avLst/>
          </a:prstGeom>
        </p:spPr>
      </p:pic>
      <p:sp>
        <p:nvSpPr>
          <p:cNvPr id="9" name="Text 6"/>
          <p:cNvSpPr/>
          <p:nvPr/>
        </p:nvSpPr>
        <p:spPr>
          <a:xfrm>
            <a:off x="877824" y="2432304"/>
            <a:ext cx="10436047" cy="493776"/>
          </a:xfrm>
          <a:prstGeom prst="rect">
            <a:avLst/>
          </a:prstGeom>
          <a:noFill/>
          <a:ln/>
        </p:spPr>
        <p:txBody>
          <a:bodyPr wrap="square" lIns="0" tIns="0" rIns="0" bIns="0" rtlCol="0" anchor="t"/>
          <a:lstStyle/>
          <a:p>
            <a:pPr marL="0" indent="0">
              <a:lnSpc>
                <a:spcPct val="105000"/>
              </a:lnSpc>
              <a:buNone/>
            </a:pPr>
            <a:r>
              <a:rPr lang="en-US" sz="1000" dirty="0">
                <a:solidFill>
                  <a:srgbClr val="5A6B84"/>
                </a:solidFill>
                <a:latin typeface="Calibri" pitchFamily="34" charset="0"/>
                <a:ea typeface="Calibri" pitchFamily="34" charset="-122"/>
                <a:cs typeface="Calibri" pitchFamily="34" charset="-120"/>
              </a:rPr>
              <a:t>Expected saving from scenario-group support, mean removable model requests, and unit cost — charged for variant entropy, declared-effect exposure, and program size. The penalties matter: without λ₁ the ranking prefers a heterogeneous family whose single canonical form fits none of its members.</a:t>
            </a:r>
            <a:endParaRPr lang="en-US" sz="1000" dirty="0"/>
          </a:p>
        </p:txBody>
      </p:sp>
      <p:sp>
        <p:nvSpPr>
          <p:cNvPr id="10" name="Text 7"/>
          <p:cNvSpPr/>
          <p:nvPr/>
        </p:nvSpPr>
        <p:spPr>
          <a:xfrm>
            <a:off x="10856671" y="1938528"/>
            <a:ext cx="493776" cy="274320"/>
          </a:xfrm>
          <a:prstGeom prst="rect">
            <a:avLst/>
          </a:prstGeom>
          <a:noFill/>
          <a:ln/>
        </p:spPr>
        <p:txBody>
          <a:bodyPr wrap="square" lIns="0" tIns="0" rIns="0" bIns="0" rtlCol="0" anchor="t"/>
          <a:lstStyle/>
          <a:p>
            <a:pPr marL="0" indent="0" algn="r">
              <a:buNone/>
            </a:pPr>
            <a:r>
              <a:rPr lang="en-US" sz="1000" dirty="0">
                <a:solidFill>
                  <a:srgbClr val="56B3BE"/>
                </a:solidFill>
                <a:latin typeface="Calibri" pitchFamily="34" charset="0"/>
                <a:ea typeface="Calibri" pitchFamily="34" charset="-122"/>
                <a:cs typeface="Calibri" pitchFamily="34" charset="-120"/>
              </a:rPr>
              <a:t>(6)</a:t>
            </a:r>
            <a:endParaRPr lang="en-US" sz="1000" dirty="0"/>
          </a:p>
        </p:txBody>
      </p:sp>
      <p:sp>
        <p:nvSpPr>
          <p:cNvPr id="11" name="Shape 8"/>
          <p:cNvSpPr/>
          <p:nvPr/>
        </p:nvSpPr>
        <p:spPr>
          <a:xfrm>
            <a:off x="640080" y="3145536"/>
            <a:ext cx="10911535" cy="859536"/>
          </a:xfrm>
          <a:prstGeom prst="roundRect">
            <a:avLst>
              <a:gd name="adj" fmla="val 5319"/>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12" name="Text 9"/>
          <p:cNvSpPr/>
          <p:nvPr/>
        </p:nvSpPr>
        <p:spPr>
          <a:xfrm>
            <a:off x="896112" y="3255264"/>
            <a:ext cx="10399471" cy="658368"/>
          </a:xfrm>
          <a:prstGeom prst="rect">
            <a:avLst/>
          </a:prstGeom>
          <a:noFill/>
          <a:ln/>
        </p:spPr>
        <p:txBody>
          <a:bodyPr wrap="square" lIns="0" tIns="0" rIns="0" bIns="0" rtlCol="0" anchor="ctr"/>
          <a:lstStyle/>
          <a:p>
            <a:pPr marL="0" indent="0">
              <a:lnSpc>
                <a:spcPct val="106000"/>
              </a:lnSpc>
              <a:buNone/>
            </a:pPr>
            <a:r>
              <a:rPr lang="en-US" sz="1100" b="1" dirty="0">
                <a:solidFill>
                  <a:srgbClr val="A93B2B"/>
                </a:solidFill>
                <a:latin typeface="Calibri" pitchFamily="34" charset="0"/>
                <a:ea typeface="Calibri" pitchFamily="34" charset="-122"/>
                <a:cs typeface="Calibri" pitchFamily="34" charset="-120"/>
              </a:rPr>
              <a:t>Two terms are coarser in the implementation than the notation suggests. </a:t>
            </a:r>
            <a:r>
              <a:rPr lang="en-US" sz="1100" dirty="0">
                <a:solidFill>
                  <a:srgbClr val="5C4034"/>
                </a:solidFill>
                <a:latin typeface="Calibri" pitchFamily="34" charset="0"/>
                <a:ea typeface="Calibri" pitchFamily="34" charset="-122"/>
                <a:cs typeface="Calibri" pitchFamily="34" charset="-120"/>
              </a:rPr>
              <a:t>The declared-effect exposure term is approximated by the fraction of tool names containing a namespace separator — a naming convention, not a reading of the effect catalog — and |F| is substituted by the argument-slot count of the first observed window. Both appear only in a ranking heuristic: no admission decision depends on either.</a:t>
            </a:r>
            <a:endParaRPr lang="en-US" sz="1100" dirty="0"/>
          </a:p>
        </p:txBody>
      </p:sp>
      <p:sp>
        <p:nvSpPr>
          <p:cNvPr id="13" name="Shape 10"/>
          <p:cNvSpPr/>
          <p:nvPr/>
        </p:nvSpPr>
        <p:spPr>
          <a:xfrm>
            <a:off x="640080" y="4151376"/>
            <a:ext cx="5291176" cy="1517904"/>
          </a:xfrm>
          <a:prstGeom prst="roundRect">
            <a:avLst>
              <a:gd name="adj" fmla="val 3333"/>
            </a:avLst>
          </a:prstGeom>
          <a:solidFill>
            <a:srgbClr val="F5F9FC"/>
          </a:solidFill>
          <a:ln w="9525">
            <a:solidFill>
              <a:srgbClr val="D5E0EB"/>
            </a:solidFill>
            <a:prstDash val="solid"/>
          </a:ln>
        </p:spPr>
        <p:txBody>
          <a:bodyPr/>
          <a:lstStyle/>
          <a:p>
            <a:endParaRPr lang="en-US"/>
          </a:p>
        </p:txBody>
      </p:sp>
      <p:pic>
        <p:nvPicPr>
          <p:cNvPr id="14" name="Image 1" descr="/home/claude/deck/eq/eq7.png"/>
          <p:cNvPicPr>
            <a:picLocks noChangeAspect="1"/>
          </p:cNvPicPr>
          <p:nvPr/>
        </p:nvPicPr>
        <p:blipFill>
          <a:blip r:embed="rId4"/>
          <a:stretch>
            <a:fillRect/>
          </a:stretch>
        </p:blipFill>
        <p:spPr>
          <a:xfrm>
            <a:off x="877824" y="4297680"/>
            <a:ext cx="4005158" cy="512064"/>
          </a:xfrm>
          <a:prstGeom prst="rect">
            <a:avLst/>
          </a:prstGeom>
        </p:spPr>
      </p:pic>
      <p:sp>
        <p:nvSpPr>
          <p:cNvPr id="15" name="Text 11"/>
          <p:cNvSpPr/>
          <p:nvPr/>
        </p:nvSpPr>
        <p:spPr>
          <a:xfrm>
            <a:off x="877824" y="4882896"/>
            <a:ext cx="4815688" cy="530352"/>
          </a:xfrm>
          <a:prstGeom prst="rect">
            <a:avLst/>
          </a:prstGeom>
          <a:noFill/>
          <a:ln/>
        </p:spPr>
        <p:txBody>
          <a:bodyPr wrap="square" lIns="0" tIns="0" rIns="0" bIns="0" rtlCol="0" anchor="t"/>
          <a:lstStyle/>
          <a:p>
            <a:pPr marL="0" indent="0">
              <a:lnSpc>
                <a:spcPct val="105000"/>
              </a:lnSpc>
              <a:buNone/>
            </a:pPr>
            <a:r>
              <a:rPr lang="en-US" sz="1000" dirty="0">
                <a:solidFill>
                  <a:srgbClr val="5A6B84"/>
                </a:solidFill>
                <a:latin typeface="Calibri" pitchFamily="34" charset="0"/>
                <a:ea typeface="Calibri" pitchFamily="34" charset="-122"/>
                <a:cs typeface="Calibri" pitchFamily="34" charset="-120"/>
              </a:rPr>
              <a:t>FEASIBILITY CEILING — what the compiler could achieve with a perfect verifier and a gate that never abstains. Because it assumes ρ = 1, no measured reduction can exceed it. Reporting the ceiling first makes a decisive negative answer cheap: a workload whose ceiling is under target is declined before a compiler is built for it.</a:t>
            </a:r>
            <a:endParaRPr lang="en-US" sz="1000" dirty="0"/>
          </a:p>
        </p:txBody>
      </p:sp>
      <p:sp>
        <p:nvSpPr>
          <p:cNvPr id="16" name="Text 12"/>
          <p:cNvSpPr/>
          <p:nvPr/>
        </p:nvSpPr>
        <p:spPr>
          <a:xfrm>
            <a:off x="5236312" y="4297680"/>
            <a:ext cx="493776" cy="274320"/>
          </a:xfrm>
          <a:prstGeom prst="rect">
            <a:avLst/>
          </a:prstGeom>
          <a:noFill/>
          <a:ln/>
        </p:spPr>
        <p:txBody>
          <a:bodyPr wrap="square" lIns="0" tIns="0" rIns="0" bIns="0" rtlCol="0" anchor="t"/>
          <a:lstStyle/>
          <a:p>
            <a:pPr marL="0" indent="0" algn="r">
              <a:buNone/>
            </a:pPr>
            <a:r>
              <a:rPr lang="en-US" sz="1000" dirty="0">
                <a:solidFill>
                  <a:srgbClr val="56B3BE"/>
                </a:solidFill>
                <a:latin typeface="Calibri" pitchFamily="34" charset="0"/>
                <a:ea typeface="Calibri" pitchFamily="34" charset="-122"/>
                <a:cs typeface="Calibri" pitchFamily="34" charset="-120"/>
              </a:rPr>
              <a:t>(7)</a:t>
            </a:r>
            <a:endParaRPr lang="en-US" sz="1000" dirty="0"/>
          </a:p>
        </p:txBody>
      </p:sp>
      <p:sp>
        <p:nvSpPr>
          <p:cNvPr id="17" name="Shape 13"/>
          <p:cNvSpPr/>
          <p:nvPr/>
        </p:nvSpPr>
        <p:spPr>
          <a:xfrm>
            <a:off x="6260440" y="4151375"/>
            <a:ext cx="5291176" cy="1517903"/>
          </a:xfrm>
          <a:prstGeom prst="roundRect">
            <a:avLst>
              <a:gd name="adj" fmla="val 3333"/>
            </a:avLst>
          </a:prstGeom>
          <a:solidFill>
            <a:srgbClr val="E8F4F5"/>
          </a:solidFill>
          <a:ln w="9525">
            <a:solidFill>
              <a:srgbClr val="CFE4E7"/>
            </a:solidFill>
            <a:prstDash val="solid"/>
          </a:ln>
          <a:effectLst>
            <a:outerShdw blurRad="114300" dist="17780" dir="5400000" algn="bl" rotWithShape="0">
              <a:srgbClr val="94A6BC">
                <a:alpha val="15000"/>
              </a:srgbClr>
            </a:outerShdw>
          </a:effectLst>
        </p:spPr>
        <p:txBody>
          <a:bodyPr/>
          <a:lstStyle/>
          <a:p>
            <a:endParaRPr lang="en-US"/>
          </a:p>
        </p:txBody>
      </p:sp>
      <p:sp>
        <p:nvSpPr>
          <p:cNvPr id="18" name="Text 14"/>
          <p:cNvSpPr/>
          <p:nvPr/>
        </p:nvSpPr>
        <p:spPr>
          <a:xfrm>
            <a:off x="6498184" y="4279392"/>
            <a:ext cx="4815688" cy="201168"/>
          </a:xfrm>
          <a:prstGeom prst="rect">
            <a:avLst/>
          </a:prstGeom>
          <a:noFill/>
          <a:ln/>
        </p:spPr>
        <p:txBody>
          <a:bodyPr wrap="square" lIns="0" tIns="0" rIns="0" bIns="0" rtlCol="0" anchor="t"/>
          <a:lstStyle/>
          <a:p>
            <a:pPr marL="0" indent="0">
              <a:buNone/>
            </a:pPr>
            <a:r>
              <a:rPr lang="en-US" sz="950" b="1" kern="0" spc="110" dirty="0">
                <a:solidFill>
                  <a:srgbClr val="1F8A99"/>
                </a:solidFill>
                <a:latin typeface="Calibri" pitchFamily="34" charset="0"/>
                <a:ea typeface="Calibri" pitchFamily="34" charset="-122"/>
                <a:cs typeface="Calibri" pitchFamily="34" charset="-120"/>
              </a:rPr>
              <a:t>WORKED EXAMPLE — THE FIXED-PREFIX GITHUB STUDY</a:t>
            </a:r>
            <a:endParaRPr lang="en-US" sz="950" dirty="0"/>
          </a:p>
        </p:txBody>
      </p:sp>
      <p:sp>
        <p:nvSpPr>
          <p:cNvPr id="19" name="Text 15"/>
          <p:cNvSpPr/>
          <p:nvPr/>
        </p:nvSpPr>
        <p:spPr>
          <a:xfrm>
            <a:off x="6498184" y="4553712"/>
            <a:ext cx="1280160" cy="274320"/>
          </a:xfrm>
          <a:prstGeom prst="rect">
            <a:avLst/>
          </a:prstGeom>
          <a:noFill/>
          <a:ln/>
        </p:spPr>
        <p:txBody>
          <a:bodyPr wrap="square" lIns="0" tIns="0" rIns="0" bIns="0" rtlCol="0" anchor="t"/>
          <a:lstStyle/>
          <a:p>
            <a:pPr marL="0" indent="0">
              <a:buNone/>
            </a:pPr>
            <a:r>
              <a:rPr lang="en-US" sz="1300" b="1" dirty="0">
                <a:solidFill>
                  <a:srgbClr val="0E1E3A"/>
                </a:solidFill>
                <a:latin typeface="Cambria" pitchFamily="34" charset="0"/>
                <a:ea typeface="Cambria" pitchFamily="34" charset="-122"/>
                <a:cs typeface="Cambria" pitchFamily="34" charset="-120"/>
              </a:rPr>
              <a:t>φ = 1</a:t>
            </a:r>
            <a:endParaRPr lang="en-US" sz="1300" dirty="0"/>
          </a:p>
        </p:txBody>
      </p:sp>
      <p:sp>
        <p:nvSpPr>
          <p:cNvPr id="20" name="Text 16"/>
          <p:cNvSpPr/>
          <p:nvPr/>
        </p:nvSpPr>
        <p:spPr>
          <a:xfrm>
            <a:off x="6498184" y="4809744"/>
            <a:ext cx="1371600" cy="237744"/>
          </a:xfrm>
          <a:prstGeom prst="rect">
            <a:avLst/>
          </a:prstGeom>
          <a:noFill/>
          <a:ln/>
        </p:spPr>
        <p:txBody>
          <a:bodyPr wrap="square" lIns="0" tIns="0" rIns="0" bIns="0" rtlCol="0" anchor="t"/>
          <a:lstStyle/>
          <a:p>
            <a:pPr marL="0" indent="0">
              <a:buNone/>
            </a:pPr>
            <a:r>
              <a:rPr lang="en-US" sz="950" dirty="0">
                <a:solidFill>
                  <a:srgbClr val="5A6B84"/>
                </a:solidFill>
                <a:latin typeface="Calibri" pitchFamily="34" charset="0"/>
                <a:ea typeface="Calibri" pitchFamily="34" charset="-122"/>
                <a:cs typeface="Calibri" pitchFamily="34" charset="-120"/>
              </a:rPr>
              <a:t>eligible share</a:t>
            </a:r>
            <a:endParaRPr lang="en-US" sz="950" dirty="0"/>
          </a:p>
        </p:txBody>
      </p:sp>
      <p:sp>
        <p:nvSpPr>
          <p:cNvPr id="21" name="Text 17"/>
          <p:cNvSpPr/>
          <p:nvPr/>
        </p:nvSpPr>
        <p:spPr>
          <a:xfrm>
            <a:off x="7987589" y="4553712"/>
            <a:ext cx="1280160" cy="274320"/>
          </a:xfrm>
          <a:prstGeom prst="rect">
            <a:avLst/>
          </a:prstGeom>
          <a:noFill/>
          <a:ln/>
        </p:spPr>
        <p:txBody>
          <a:bodyPr wrap="square" lIns="0" tIns="0" rIns="0" bIns="0" rtlCol="0" anchor="t"/>
          <a:lstStyle/>
          <a:p>
            <a:pPr marL="0" indent="0">
              <a:buNone/>
            </a:pPr>
            <a:r>
              <a:rPr lang="en-US" sz="1300" b="1" dirty="0">
                <a:solidFill>
                  <a:srgbClr val="0E1E3A"/>
                </a:solidFill>
                <a:latin typeface="Cambria" pitchFamily="34" charset="0"/>
                <a:ea typeface="Cambria" pitchFamily="34" charset="-122"/>
                <a:cs typeface="Cambria" pitchFamily="34" charset="-120"/>
              </a:rPr>
              <a:t>k = 3</a:t>
            </a:r>
            <a:endParaRPr lang="en-US" sz="1300" dirty="0"/>
          </a:p>
        </p:txBody>
      </p:sp>
      <p:sp>
        <p:nvSpPr>
          <p:cNvPr id="22" name="Text 18"/>
          <p:cNvSpPr/>
          <p:nvPr/>
        </p:nvSpPr>
        <p:spPr>
          <a:xfrm>
            <a:off x="7987589" y="4809744"/>
            <a:ext cx="1371600" cy="237744"/>
          </a:xfrm>
          <a:prstGeom prst="rect">
            <a:avLst/>
          </a:prstGeom>
          <a:noFill/>
          <a:ln/>
        </p:spPr>
        <p:txBody>
          <a:bodyPr wrap="square" lIns="0" tIns="0" rIns="0" bIns="0" rtlCol="0" anchor="t"/>
          <a:lstStyle/>
          <a:p>
            <a:pPr marL="0" indent="0">
              <a:buNone/>
            </a:pPr>
            <a:r>
              <a:rPr lang="en-US" sz="950" dirty="0">
                <a:solidFill>
                  <a:srgbClr val="5A6B84"/>
                </a:solidFill>
                <a:latin typeface="Calibri" pitchFamily="34" charset="0"/>
                <a:ea typeface="Calibri" pitchFamily="34" charset="-122"/>
                <a:cs typeface="Calibri" pitchFamily="34" charset="-120"/>
              </a:rPr>
              <a:t>requests removed</a:t>
            </a:r>
            <a:endParaRPr lang="en-US" sz="950" dirty="0"/>
          </a:p>
        </p:txBody>
      </p:sp>
      <p:sp>
        <p:nvSpPr>
          <p:cNvPr id="23" name="Text 19"/>
          <p:cNvSpPr/>
          <p:nvPr/>
        </p:nvSpPr>
        <p:spPr>
          <a:xfrm>
            <a:off x="9476994" y="4553712"/>
            <a:ext cx="1280160" cy="274320"/>
          </a:xfrm>
          <a:prstGeom prst="rect">
            <a:avLst/>
          </a:prstGeom>
          <a:noFill/>
          <a:ln/>
        </p:spPr>
        <p:txBody>
          <a:bodyPr wrap="square" lIns="0" tIns="0" rIns="0" bIns="0" rtlCol="0" anchor="t"/>
          <a:lstStyle/>
          <a:p>
            <a:pPr marL="0" indent="0">
              <a:buNone/>
            </a:pPr>
            <a:r>
              <a:rPr lang="en-US" sz="1300" b="1" dirty="0">
                <a:solidFill>
                  <a:srgbClr val="0E1E3A"/>
                </a:solidFill>
                <a:latin typeface="Cambria" pitchFamily="34" charset="0"/>
                <a:ea typeface="Cambria" pitchFamily="34" charset="-122"/>
                <a:cs typeface="Cambria" pitchFamily="34" charset="-120"/>
              </a:rPr>
              <a:t>nᴮ = 4</a:t>
            </a:r>
            <a:endParaRPr lang="en-US" sz="1300" dirty="0"/>
          </a:p>
        </p:txBody>
      </p:sp>
      <p:sp>
        <p:nvSpPr>
          <p:cNvPr id="24" name="Text 20"/>
          <p:cNvSpPr/>
          <p:nvPr/>
        </p:nvSpPr>
        <p:spPr>
          <a:xfrm>
            <a:off x="9476994" y="4809744"/>
            <a:ext cx="1371600" cy="237744"/>
          </a:xfrm>
          <a:prstGeom prst="rect">
            <a:avLst/>
          </a:prstGeom>
          <a:noFill/>
          <a:ln/>
        </p:spPr>
        <p:txBody>
          <a:bodyPr wrap="square" lIns="0" tIns="0" rIns="0" bIns="0" rtlCol="0" anchor="t"/>
          <a:lstStyle/>
          <a:p>
            <a:pPr marL="0" indent="0">
              <a:buNone/>
            </a:pPr>
            <a:r>
              <a:rPr lang="en-US" sz="950" dirty="0">
                <a:solidFill>
                  <a:srgbClr val="5A6B84"/>
                </a:solidFill>
                <a:latin typeface="Calibri" pitchFamily="34" charset="0"/>
                <a:ea typeface="Calibri" pitchFamily="34" charset="-122"/>
                <a:cs typeface="Calibri" pitchFamily="34" charset="-120"/>
              </a:rPr>
              <a:t>baseline requests</a:t>
            </a:r>
            <a:endParaRPr lang="en-US" sz="950" dirty="0"/>
          </a:p>
        </p:txBody>
      </p:sp>
      <p:sp>
        <p:nvSpPr>
          <p:cNvPr id="25" name="Shape 21"/>
          <p:cNvSpPr/>
          <p:nvPr/>
        </p:nvSpPr>
        <p:spPr>
          <a:xfrm>
            <a:off x="6498184" y="5084064"/>
            <a:ext cx="4815688" cy="0"/>
          </a:xfrm>
          <a:prstGeom prst="line">
            <a:avLst/>
          </a:prstGeom>
          <a:noFill/>
          <a:ln w="12700">
            <a:solidFill>
              <a:srgbClr val="CFE4E7"/>
            </a:solidFill>
            <a:prstDash val="solid"/>
          </a:ln>
        </p:spPr>
        <p:txBody>
          <a:bodyPr/>
          <a:lstStyle/>
          <a:p>
            <a:endParaRPr lang="en-US"/>
          </a:p>
        </p:txBody>
      </p:sp>
      <p:sp>
        <p:nvSpPr>
          <p:cNvPr id="26" name="Text 22"/>
          <p:cNvSpPr/>
          <p:nvPr/>
        </p:nvSpPr>
        <p:spPr>
          <a:xfrm>
            <a:off x="6498184" y="5193792"/>
            <a:ext cx="4577944" cy="274320"/>
          </a:xfrm>
          <a:prstGeom prst="rect">
            <a:avLst/>
          </a:prstGeom>
          <a:noFill/>
          <a:ln/>
        </p:spPr>
        <p:txBody>
          <a:bodyPr wrap="square" lIns="0" tIns="0" rIns="0" bIns="0" rtlCol="0" anchor="ctr"/>
          <a:lstStyle/>
          <a:p>
            <a:pPr marL="0" indent="0">
              <a:buNone/>
            </a:pPr>
            <a:r>
              <a:rPr lang="en-US" sz="1700" b="1" dirty="0">
                <a:solidFill>
                  <a:srgbClr val="0E1E3A"/>
                </a:solidFill>
                <a:latin typeface="Cambria" pitchFamily="34" charset="0"/>
                <a:ea typeface="Cambria" pitchFamily="34" charset="-122"/>
                <a:cs typeface="Cambria" pitchFamily="34" charset="-120"/>
              </a:rPr>
              <a:t>0.750</a:t>
            </a:r>
            <a:r>
              <a:rPr lang="en-US" sz="1100" dirty="0">
                <a:solidFill>
                  <a:srgbClr val="5A6B84"/>
                </a:solidFill>
                <a:latin typeface="Calibri" pitchFamily="34" charset="0"/>
                <a:ea typeface="Calibri" pitchFamily="34" charset="-122"/>
                <a:cs typeface="Calibri" pitchFamily="34" charset="-120"/>
              </a:rPr>
              <a:t>  ceiling  →  </a:t>
            </a:r>
            <a:r>
              <a:rPr lang="en-US" sz="1700" b="1" dirty="0">
                <a:solidFill>
                  <a:srgbClr val="1F8A99"/>
                </a:solidFill>
                <a:latin typeface="Cambria" pitchFamily="34" charset="0"/>
                <a:ea typeface="Cambria" pitchFamily="34" charset="-122"/>
                <a:cs typeface="Cambria" pitchFamily="34" charset="-120"/>
              </a:rPr>
              <a:t>75.0%</a:t>
            </a:r>
            <a:r>
              <a:rPr lang="en-US" sz="1050" dirty="0">
                <a:solidFill>
                  <a:srgbClr val="24354F"/>
                </a:solidFill>
                <a:latin typeface="Calibri" pitchFamily="34" charset="0"/>
                <a:ea typeface="Calibri" pitchFamily="34" charset="-122"/>
                <a:cs typeface="Calibri" pitchFamily="34" charset="-120"/>
              </a:rPr>
              <a:t>  measured. A saturated ceiling says only that the task fully determined the region.</a:t>
            </a:r>
            <a:endParaRPr lang="en-US" sz="1700" dirty="0"/>
          </a:p>
        </p:txBody>
      </p:sp>
      <p:sp>
        <p:nvSpPr>
          <p:cNvPr id="27" name="Text 23"/>
          <p:cNvSpPr/>
          <p:nvPr/>
        </p:nvSpPr>
        <p:spPr>
          <a:xfrm>
            <a:off x="640080" y="5840096"/>
            <a:ext cx="10911535" cy="457200"/>
          </a:xfrm>
          <a:prstGeom prst="rect">
            <a:avLst/>
          </a:prstGeom>
          <a:noFill/>
          <a:ln/>
        </p:spPr>
        <p:txBody>
          <a:bodyPr wrap="square" lIns="0" tIns="0" rIns="0" bIns="0" rtlCol="0" anchor="t"/>
          <a:lstStyle/>
          <a:p>
            <a:pPr marL="0" indent="0">
              <a:lnSpc>
                <a:spcPct val="105000"/>
              </a:lnSpc>
              <a:buNone/>
            </a:pPr>
            <a:r>
              <a:rPr lang="en-US" sz="1000" i="1" dirty="0">
                <a:solidFill>
                  <a:srgbClr val="5A6B84"/>
                </a:solidFill>
                <a:latin typeface="Calibri" pitchFamily="34" charset="0"/>
                <a:ea typeface="Calibri" pitchFamily="34" charset="-122"/>
                <a:cs typeface="Calibri" pitchFamily="34" charset="-120"/>
              </a:rPr>
              <a:t>Enumeration is practically bounded by the number of reachable result boundaries; the implementation's nested scan is worst-case O(NT²) when non-call spans are adversarial. We report this rather than the stronger O(NT) claim the bounded-call intuition suggests.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12</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METHOD  ·  §3.2</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Bounded synthesis, induced contracts — and an unrun challenge</a:t>
            </a:r>
            <a:endParaRPr lang="en-US" sz="2600" dirty="0"/>
          </a:p>
        </p:txBody>
      </p:sp>
      <p:sp>
        <p:nvSpPr>
          <p:cNvPr id="6" name="Shape 4"/>
          <p:cNvSpPr/>
          <p:nvPr/>
        </p:nvSpPr>
        <p:spPr>
          <a:xfrm>
            <a:off x="640080" y="1188720"/>
            <a:ext cx="3454298" cy="3108960"/>
          </a:xfrm>
          <a:prstGeom prst="roundRect">
            <a:avLst>
              <a:gd name="adj" fmla="val 1471"/>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7" name="Text 5"/>
          <p:cNvSpPr/>
          <p:nvPr/>
        </p:nvSpPr>
        <p:spPr>
          <a:xfrm>
            <a:off x="877824" y="1316736"/>
            <a:ext cx="2978810" cy="310896"/>
          </a:xfrm>
          <a:prstGeom prst="rect">
            <a:avLst/>
          </a:prstGeom>
          <a:noFill/>
          <a:ln/>
        </p:spPr>
        <p:txBody>
          <a:bodyPr wrap="square" lIns="0" tIns="0" rIns="0" bIns="0" rtlCol="0" anchor="t"/>
          <a:lstStyle/>
          <a:p>
            <a:pPr marL="0" indent="0">
              <a:buNone/>
            </a:pPr>
            <a:r>
              <a:rPr lang="en-US" sz="1500" b="1" dirty="0">
                <a:solidFill>
                  <a:srgbClr val="1F8A99"/>
                </a:solidFill>
                <a:latin typeface="Cambria" pitchFamily="34" charset="0"/>
                <a:ea typeface="Cambria" pitchFamily="34" charset="-122"/>
                <a:cs typeface="Cambria" pitchFamily="34" charset="-120"/>
              </a:rPr>
              <a:t>Synthesis</a:t>
            </a:r>
            <a:endParaRPr lang="en-US" sz="1500" dirty="0"/>
          </a:p>
        </p:txBody>
      </p:sp>
      <p:sp>
        <p:nvSpPr>
          <p:cNvPr id="8" name="Text 6"/>
          <p:cNvSpPr/>
          <p:nvPr/>
        </p:nvSpPr>
        <p:spPr>
          <a:xfrm>
            <a:off x="896112" y="1700784"/>
            <a:ext cx="2942234" cy="2468880"/>
          </a:xfrm>
          <a:prstGeom prst="rect">
            <a:avLst/>
          </a:prstGeom>
          <a:noFill/>
          <a:ln/>
        </p:spPr>
        <p:txBody>
          <a:bodyPr wrap="square" lIns="0" tIns="0" rIns="0" bIns="0" rtlCol="0" anchor="t"/>
          <a:lstStyle/>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23-operator closed library, depth at most two</a:t>
            </a:r>
            <a:endParaRPr lang="en-US" sz="1050" dirty="0"/>
          </a:p>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Path selection, indexing, string normalization, arithmetic, comparison, bounded collection ops, narrow loops</a:t>
            </a:r>
            <a:endParaRPr lang="en-US" sz="1050" dirty="0"/>
          </a:p>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Bindings ranked by stability across groups; a group-wise refit rejects bindings that exploit row-level coincidence</a:t>
            </a:r>
            <a:endParaRPr lang="en-US" sz="1050" dirty="0"/>
          </a:p>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Related to programming-by-example and bounded sketching — but the hypothesis space is deliberately small enough to inspect. It does not generate arbitrary Python</a:t>
            </a:r>
            <a:endParaRPr lang="en-US" sz="1050" dirty="0"/>
          </a:p>
        </p:txBody>
      </p:sp>
      <p:sp>
        <p:nvSpPr>
          <p:cNvPr id="9" name="Shape 7"/>
          <p:cNvSpPr/>
          <p:nvPr/>
        </p:nvSpPr>
        <p:spPr>
          <a:xfrm>
            <a:off x="4368698" y="1188720"/>
            <a:ext cx="3454298" cy="3108960"/>
          </a:xfrm>
          <a:prstGeom prst="roundRect">
            <a:avLst>
              <a:gd name="adj" fmla="val 1471"/>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10" name="Text 8"/>
          <p:cNvSpPr/>
          <p:nvPr/>
        </p:nvSpPr>
        <p:spPr>
          <a:xfrm>
            <a:off x="4606442" y="1316736"/>
            <a:ext cx="2978810" cy="310896"/>
          </a:xfrm>
          <a:prstGeom prst="rect">
            <a:avLst/>
          </a:prstGeom>
          <a:noFill/>
          <a:ln/>
        </p:spPr>
        <p:txBody>
          <a:bodyPr wrap="square" lIns="0" tIns="0" rIns="0" bIns="0" rtlCol="0" anchor="t"/>
          <a:lstStyle/>
          <a:p>
            <a:pPr marL="0" indent="0">
              <a:buNone/>
            </a:pPr>
            <a:r>
              <a:rPr lang="en-US" sz="1500" b="1" dirty="0">
                <a:solidFill>
                  <a:srgbClr val="1A3563"/>
                </a:solidFill>
                <a:latin typeface="Cambria" pitchFamily="34" charset="0"/>
                <a:ea typeface="Cambria" pitchFamily="34" charset="-122"/>
                <a:cs typeface="Cambria" pitchFamily="34" charset="-120"/>
              </a:rPr>
              <a:t>Hard guard H</a:t>
            </a:r>
            <a:endParaRPr lang="en-US" sz="1500" dirty="0"/>
          </a:p>
        </p:txBody>
      </p:sp>
      <p:sp>
        <p:nvSpPr>
          <p:cNvPr id="11" name="Text 9"/>
          <p:cNvSpPr/>
          <p:nvPr/>
        </p:nvSpPr>
        <p:spPr>
          <a:xfrm>
            <a:off x="4624730" y="1700784"/>
            <a:ext cx="2942234" cy="2468880"/>
          </a:xfrm>
          <a:prstGeom prst="rect">
            <a:avLst/>
          </a:prstGeom>
          <a:noFill/>
          <a:ln/>
        </p:spPr>
        <p:txBody>
          <a:bodyPr wrap="square" lIns="0" tIns="0" rIns="0" bIns="0" rtlCol="0" anchor="t"/>
          <a:lstStyle/>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Entry types and required fields</a:t>
            </a:r>
            <a:endParaRPr lang="en-US" sz="1050" dirty="0"/>
          </a:p>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Categorical sets, numeric intervals, patterns</a:t>
            </a:r>
            <a:endParaRPr lang="en-US" sz="1050" dirty="0"/>
          </a:p>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Isolation keys and allowed effects</a:t>
            </a:r>
            <a:endParaRPr lang="en-US" sz="1050" dirty="0"/>
          </a:p>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Manifest pins — prompt, policy, tools, guardrail, model, SDK, tracer, entry contract, effect catalog</a:t>
            </a:r>
            <a:endParaRPr lang="en-US" sz="1050" dirty="0"/>
          </a:p>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Evaluated before emission, so this check is exact on both integration paths</a:t>
            </a:r>
            <a:endParaRPr lang="en-US" sz="1050" dirty="0"/>
          </a:p>
        </p:txBody>
      </p:sp>
      <p:sp>
        <p:nvSpPr>
          <p:cNvPr id="12" name="Shape 10"/>
          <p:cNvSpPr/>
          <p:nvPr/>
        </p:nvSpPr>
        <p:spPr>
          <a:xfrm>
            <a:off x="8097317" y="1188720"/>
            <a:ext cx="3454298" cy="3108960"/>
          </a:xfrm>
          <a:prstGeom prst="roundRect">
            <a:avLst>
              <a:gd name="adj" fmla="val 1471"/>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13" name="Text 11"/>
          <p:cNvSpPr/>
          <p:nvPr/>
        </p:nvSpPr>
        <p:spPr>
          <a:xfrm>
            <a:off x="8335061" y="1316736"/>
            <a:ext cx="2978810" cy="310896"/>
          </a:xfrm>
          <a:prstGeom prst="rect">
            <a:avLst/>
          </a:prstGeom>
          <a:noFill/>
          <a:ln/>
        </p:spPr>
        <p:txBody>
          <a:bodyPr wrap="square" lIns="0" tIns="0" rIns="0" bIns="0" rtlCol="0" anchor="t"/>
          <a:lstStyle/>
          <a:p>
            <a:pPr marL="0" indent="0">
              <a:buNone/>
            </a:pPr>
            <a:r>
              <a:rPr lang="en-US" sz="1500" b="1" dirty="0">
                <a:solidFill>
                  <a:srgbClr val="56B3BE"/>
                </a:solidFill>
                <a:latin typeface="Cambria" pitchFamily="34" charset="0"/>
                <a:ea typeface="Cambria" pitchFamily="34" charset="-122"/>
                <a:cs typeface="Cambria" pitchFamily="34" charset="-120"/>
              </a:rPr>
              <a:t>Verifier V</a:t>
            </a:r>
            <a:endParaRPr lang="en-US" sz="1500" dirty="0"/>
          </a:p>
        </p:txBody>
      </p:sp>
      <p:sp>
        <p:nvSpPr>
          <p:cNvPr id="14" name="Text 12"/>
          <p:cNvSpPr/>
          <p:nvPr/>
        </p:nvSpPr>
        <p:spPr>
          <a:xfrm>
            <a:off x="8353349" y="1700784"/>
            <a:ext cx="2942234" cy="2468880"/>
          </a:xfrm>
          <a:prstGeom prst="rect">
            <a:avLst/>
          </a:prstGeom>
          <a:noFill/>
          <a:ln/>
        </p:spPr>
        <p:txBody>
          <a:bodyPr wrap="square" lIns="0" tIns="0" rIns="0" bIns="0" rtlCol="0" anchor="t"/>
          <a:lstStyle/>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Live-out presence, type, cardinality</a:t>
            </a:r>
            <a:endParaRPr lang="en-US" sz="1050" dirty="0"/>
          </a:p>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Empirical hulls over observed values</a:t>
            </a:r>
            <a:endParaRPr lang="en-US" sz="1050" dirty="0"/>
          </a:p>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Provenance and effect multisets</a:t>
            </a:r>
            <a:endParaRPr lang="en-US" sz="1050" dirty="0"/>
          </a:p>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Call counts</a:t>
            </a:r>
            <a:endParaRPr lang="en-US" sz="1050" dirty="0"/>
          </a:p>
          <a:p>
            <a:pPr marL="342900" indent="-342900">
              <a:lnSpc>
                <a:spcPct val="105000"/>
              </a:lnSpc>
              <a:spcAft>
                <a:spcPts val="500"/>
              </a:spcAft>
              <a:buSzPct val="100000"/>
              <a:buChar char="•"/>
            </a:pPr>
            <a:r>
              <a:rPr lang="en-US" sz="1050" dirty="0">
                <a:solidFill>
                  <a:srgbClr val="24354F"/>
                </a:solidFill>
                <a:latin typeface="Calibri" pitchFamily="34" charset="0"/>
                <a:ea typeface="Calibri" pitchFamily="34" charset="-122"/>
                <a:cs typeface="Calibri" pitchFamily="34" charset="-120"/>
              </a:rPr>
              <a:t>These are likely invariants, not proofs for all future inputs — which is why a separate calibrated gate is still required</a:t>
            </a:r>
            <a:endParaRPr lang="en-US" sz="1050" dirty="0"/>
          </a:p>
        </p:txBody>
      </p:sp>
      <p:sp>
        <p:nvSpPr>
          <p:cNvPr id="15" name="Shape 13"/>
          <p:cNvSpPr/>
          <p:nvPr/>
        </p:nvSpPr>
        <p:spPr>
          <a:xfrm>
            <a:off x="640080" y="4443984"/>
            <a:ext cx="10911535" cy="1133856"/>
          </a:xfrm>
          <a:prstGeom prst="roundRect">
            <a:avLst>
              <a:gd name="adj" fmla="val 4032"/>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16" name="Shape 14"/>
          <p:cNvSpPr/>
          <p:nvPr/>
        </p:nvSpPr>
        <p:spPr>
          <a:xfrm>
            <a:off x="896112" y="4626864"/>
            <a:ext cx="329184" cy="329184"/>
          </a:xfrm>
          <a:prstGeom prst="ellipse">
            <a:avLst/>
          </a:prstGeom>
          <a:solidFill>
            <a:srgbClr val="A93B2B"/>
          </a:solidFill>
          <a:ln w="6350">
            <a:solidFill>
              <a:srgbClr val="A93B2B"/>
            </a:solidFill>
            <a:prstDash val="solid"/>
          </a:ln>
        </p:spPr>
        <p:txBody>
          <a:bodyPr/>
          <a:lstStyle/>
          <a:p>
            <a:endParaRPr lang="en-US"/>
          </a:p>
        </p:txBody>
      </p:sp>
      <p:sp>
        <p:nvSpPr>
          <p:cNvPr id="17" name="Text 15"/>
          <p:cNvSpPr/>
          <p:nvPr/>
        </p:nvSpPr>
        <p:spPr>
          <a:xfrm>
            <a:off x="896112" y="4626864"/>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18" name="Text 16"/>
          <p:cNvSpPr/>
          <p:nvPr/>
        </p:nvSpPr>
        <p:spPr>
          <a:xfrm>
            <a:off x="1335024" y="4590288"/>
            <a:ext cx="9905695" cy="274320"/>
          </a:xfrm>
          <a:prstGeom prst="rect">
            <a:avLst/>
          </a:prstGeom>
          <a:noFill/>
          <a:ln/>
        </p:spPr>
        <p:txBody>
          <a:bodyPr wrap="square" lIns="0" tIns="0" rIns="0" bIns="0" rtlCol="0" anchor="ctr"/>
          <a:lstStyle/>
          <a:p>
            <a:pPr marL="0" indent="0">
              <a:buNone/>
            </a:pPr>
            <a:r>
              <a:rPr lang="en-US" sz="1300" b="1" dirty="0">
                <a:solidFill>
                  <a:srgbClr val="A93B2B"/>
                </a:solidFill>
                <a:latin typeface="Cambria" pitchFamily="34" charset="0"/>
                <a:ea typeface="Cambria" pitchFamily="34" charset="-122"/>
                <a:cs typeface="Cambria" pitchFamily="34" charset="-120"/>
              </a:rPr>
              <a:t>The replay-and-perturb challenge did not run on the headline artifact</a:t>
            </a:r>
            <a:endParaRPr lang="en-US" sz="1300" dirty="0"/>
          </a:p>
        </p:txBody>
      </p:sp>
      <p:sp>
        <p:nvSpPr>
          <p:cNvPr id="19" name="Text 17"/>
          <p:cNvSpPr/>
          <p:nvPr/>
        </p:nvSpPr>
        <p:spPr>
          <a:xfrm>
            <a:off x="1335024" y="4901184"/>
            <a:ext cx="9905695" cy="603504"/>
          </a:xfrm>
          <a:prstGeom prst="rect">
            <a:avLst/>
          </a:prstGeom>
          <a:noFill/>
          <a:ln/>
        </p:spPr>
        <p:txBody>
          <a:bodyPr wrap="square" lIns="0" tIns="0" rIns="0" bIns="0" rtlCol="0" anchor="t"/>
          <a:lstStyle/>
          <a:p>
            <a:pPr marL="0" indent="0">
              <a:lnSpc>
                <a:spcPct val="106000"/>
              </a:lnSpc>
              <a:buNone/>
            </a:pPr>
            <a:r>
              <a:rPr lang="en-US" sz="1100" dirty="0">
                <a:solidFill>
                  <a:srgbClr val="5C4034"/>
                </a:solidFill>
                <a:latin typeface="Calibri" pitchFamily="34" charset="0"/>
                <a:ea typeface="Calibri" pitchFamily="34" charset="-122"/>
                <a:cs typeface="Calibri" pitchFamily="34" charset="-120"/>
              </a:rPr>
              <a:t>Replay and perturbation are available to challenge a candidate before calibration, but they are only as strong as the substrate supplied: without a sandbox the suite cannot run at all, and the artifact then records perturbations_claimed: false rather than implying a challenge occurred. The headline live artifact of §5.2 is in exactly that position, and the paper reports it as a limitation of that run rather than as a property of the method.</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13</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METHOD  ·  §3.3 AND ALGORITHM 3</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Exact selective admission over a pre-frozen threshold grid</a:t>
            </a:r>
            <a:endParaRPr lang="en-US" sz="2600" dirty="0"/>
          </a:p>
        </p:txBody>
      </p:sp>
      <p:pic>
        <p:nvPicPr>
          <p:cNvPr id="6" name="Image 0" descr="/home/claude/deck/eq/lam.png"/>
          <p:cNvPicPr>
            <a:picLocks noChangeAspect="1"/>
          </p:cNvPicPr>
          <p:nvPr/>
        </p:nvPicPr>
        <p:blipFill>
          <a:blip r:embed="rId3"/>
          <a:stretch>
            <a:fillRect/>
          </a:stretch>
        </p:blipFill>
        <p:spPr>
          <a:xfrm>
            <a:off x="640080" y="1152144"/>
            <a:ext cx="5399649" cy="274320"/>
          </a:xfrm>
          <a:prstGeom prst="rect">
            <a:avLst/>
          </a:prstGeom>
        </p:spPr>
      </p:pic>
      <p:sp>
        <p:nvSpPr>
          <p:cNvPr id="7" name="Text 4"/>
          <p:cNvSpPr/>
          <p:nvPr/>
        </p:nvSpPr>
        <p:spPr>
          <a:xfrm>
            <a:off x="6350625" y="1152144"/>
            <a:ext cx="2011680" cy="274320"/>
          </a:xfrm>
          <a:prstGeom prst="rect">
            <a:avLst/>
          </a:prstGeom>
          <a:noFill/>
          <a:ln/>
        </p:spPr>
        <p:txBody>
          <a:bodyPr wrap="square" lIns="0" tIns="0" rIns="0" bIns="0" rtlCol="0" anchor="ctr"/>
          <a:lstStyle/>
          <a:p>
            <a:pPr marL="0" indent="0">
              <a:buNone/>
            </a:pPr>
            <a:r>
              <a:rPr lang="en-US" sz="1050" dirty="0">
                <a:solidFill>
                  <a:srgbClr val="5A6B84"/>
                </a:solidFill>
                <a:latin typeface="Calibri" pitchFamily="34" charset="0"/>
                <a:ea typeface="Calibri" pitchFamily="34" charset="-122"/>
                <a:cs typeface="Calibri" pitchFamily="34" charset="-120"/>
              </a:rPr>
              <a:t>fixed before calibration</a:t>
            </a:r>
            <a:endParaRPr lang="en-US" sz="1050" dirty="0"/>
          </a:p>
        </p:txBody>
      </p:sp>
      <p:sp>
        <p:nvSpPr>
          <p:cNvPr id="8" name="Shape 5"/>
          <p:cNvSpPr/>
          <p:nvPr/>
        </p:nvSpPr>
        <p:spPr>
          <a:xfrm>
            <a:off x="640080" y="1554480"/>
            <a:ext cx="6720840" cy="1700784"/>
          </a:xfrm>
          <a:prstGeom prst="roundRect">
            <a:avLst>
              <a:gd name="adj" fmla="val 2688"/>
            </a:avLst>
          </a:prstGeom>
          <a:solidFill>
            <a:srgbClr val="F5F9FC"/>
          </a:solidFill>
          <a:ln w="9525">
            <a:solidFill>
              <a:srgbClr val="D5E0EB"/>
            </a:solidFill>
            <a:prstDash val="solid"/>
          </a:ln>
        </p:spPr>
        <p:txBody>
          <a:bodyPr/>
          <a:lstStyle/>
          <a:p>
            <a:endParaRPr lang="en-US"/>
          </a:p>
        </p:txBody>
      </p:sp>
      <p:pic>
        <p:nvPicPr>
          <p:cNvPr id="9" name="Image 1" descr="/home/claude/deck/eq/eq8.png"/>
          <p:cNvPicPr>
            <a:picLocks noChangeAspect="1"/>
          </p:cNvPicPr>
          <p:nvPr/>
        </p:nvPicPr>
        <p:blipFill>
          <a:blip r:embed="rId4"/>
          <a:stretch>
            <a:fillRect/>
          </a:stretch>
        </p:blipFill>
        <p:spPr>
          <a:xfrm>
            <a:off x="877824" y="1700784"/>
            <a:ext cx="5445364" cy="384048"/>
          </a:xfrm>
          <a:prstGeom prst="rect">
            <a:avLst/>
          </a:prstGeom>
        </p:spPr>
      </p:pic>
      <p:sp>
        <p:nvSpPr>
          <p:cNvPr id="10" name="Text 6"/>
          <p:cNvSpPr/>
          <p:nvPr/>
        </p:nvSpPr>
        <p:spPr>
          <a:xfrm>
            <a:off x="6665976" y="1700784"/>
            <a:ext cx="493776" cy="274320"/>
          </a:xfrm>
          <a:prstGeom prst="rect">
            <a:avLst/>
          </a:prstGeom>
          <a:noFill/>
          <a:ln/>
        </p:spPr>
        <p:txBody>
          <a:bodyPr wrap="square" lIns="0" tIns="0" rIns="0" bIns="0" rtlCol="0" anchor="t"/>
          <a:lstStyle/>
          <a:p>
            <a:pPr marL="0" indent="0" algn="r">
              <a:buNone/>
            </a:pPr>
            <a:r>
              <a:rPr lang="en-US" sz="1000" dirty="0">
                <a:solidFill>
                  <a:srgbClr val="56B3BE"/>
                </a:solidFill>
                <a:latin typeface="Calibri" pitchFamily="34" charset="0"/>
                <a:ea typeface="Calibri" pitchFamily="34" charset="-122"/>
                <a:cs typeface="Calibri" pitchFamily="34" charset="-120"/>
              </a:rPr>
              <a:t>(8)</a:t>
            </a:r>
            <a:endParaRPr lang="en-US" sz="1000" dirty="0"/>
          </a:p>
        </p:txBody>
      </p:sp>
      <p:pic>
        <p:nvPicPr>
          <p:cNvPr id="11" name="Image 2" descr="/home/claude/deck/eq/eq8c.png"/>
          <p:cNvPicPr>
            <a:picLocks noChangeAspect="1"/>
          </p:cNvPicPr>
          <p:nvPr/>
        </p:nvPicPr>
        <p:blipFill>
          <a:blip r:embed="rId5"/>
          <a:stretch>
            <a:fillRect/>
          </a:stretch>
        </p:blipFill>
        <p:spPr>
          <a:xfrm>
            <a:off x="877824" y="2176272"/>
            <a:ext cx="2569272" cy="256032"/>
          </a:xfrm>
          <a:prstGeom prst="rect">
            <a:avLst/>
          </a:prstGeom>
        </p:spPr>
      </p:pic>
      <p:sp>
        <p:nvSpPr>
          <p:cNvPr id="12" name="Text 7"/>
          <p:cNvSpPr/>
          <p:nvPr/>
        </p:nvSpPr>
        <p:spPr>
          <a:xfrm>
            <a:off x="3684840" y="2176272"/>
            <a:ext cx="3420048" cy="256032"/>
          </a:xfrm>
          <a:prstGeom prst="rect">
            <a:avLst/>
          </a:prstGeom>
          <a:noFill/>
          <a:ln/>
        </p:spPr>
        <p:txBody>
          <a:bodyPr wrap="square" lIns="0" tIns="0" rIns="0" bIns="0" rtlCol="0" anchor="ctr"/>
          <a:lstStyle/>
          <a:p>
            <a:pPr marL="0" indent="0">
              <a:buNone/>
            </a:pPr>
            <a:r>
              <a:rPr lang="en-US" sz="1000" dirty="0">
                <a:solidFill>
                  <a:srgbClr val="5A6B84"/>
                </a:solidFill>
                <a:latin typeface="Calibri" pitchFamily="34" charset="0"/>
                <a:ea typeface="Calibri" pitchFamily="34" charset="-122"/>
                <a:cs typeface="Calibri" pitchFamily="34" charset="-120"/>
              </a:rPr>
              <a:t>— the closed form when no violation is observed</a:t>
            </a:r>
            <a:endParaRPr lang="en-US" sz="1000" dirty="0"/>
          </a:p>
        </p:txBody>
      </p:sp>
      <p:sp>
        <p:nvSpPr>
          <p:cNvPr id="13" name="Text 8"/>
          <p:cNvSpPr/>
          <p:nvPr/>
        </p:nvSpPr>
        <p:spPr>
          <a:xfrm>
            <a:off x="877824" y="2560320"/>
            <a:ext cx="6245352" cy="603504"/>
          </a:xfrm>
          <a:prstGeom prst="rect">
            <a:avLst/>
          </a:prstGeom>
          <a:noFill/>
          <a:ln/>
        </p:spPr>
        <p:txBody>
          <a:bodyPr wrap="square" lIns="0" tIns="0" rIns="0" bIns="0" rtlCol="0" anchor="t"/>
          <a:lstStyle/>
          <a:p>
            <a:pPr marL="0" indent="0">
              <a:lnSpc>
                <a:spcPct val="105000"/>
              </a:lnSpc>
              <a:buNone/>
            </a:pPr>
            <a:r>
              <a:rPr lang="en-US" sz="1000" dirty="0">
                <a:solidFill>
                  <a:srgbClr val="5A6B84"/>
                </a:solidFill>
                <a:latin typeface="Calibri" pitchFamily="34" charset="0"/>
                <a:ea typeface="Calibri" pitchFamily="34" charset="-122"/>
                <a:cs typeface="Calibri" pitchFamily="34" charset="-120"/>
              </a:rPr>
              <a:t>One-sided Clopper–Pearson upper bound per threshold. The score q is a logistic model over entry-observable features — unseen category, distance proxy, missing fields, hull margin, temporal drift, provenance ambiguity, branch entropy — trained on development-group unproductive outcomes, then frozen. Calibration counts only violations: wrong after dispatch, never abstention.</a:t>
            </a:r>
            <a:endParaRPr lang="en-US" sz="1000" dirty="0"/>
          </a:p>
        </p:txBody>
      </p:sp>
      <p:sp>
        <p:nvSpPr>
          <p:cNvPr id="14" name="Shape 9"/>
          <p:cNvSpPr/>
          <p:nvPr/>
        </p:nvSpPr>
        <p:spPr>
          <a:xfrm>
            <a:off x="640080" y="3346704"/>
            <a:ext cx="6720840" cy="1371600"/>
          </a:xfrm>
          <a:prstGeom prst="roundRect">
            <a:avLst>
              <a:gd name="adj" fmla="val 3333"/>
            </a:avLst>
          </a:prstGeom>
          <a:solidFill>
            <a:srgbClr val="EAF1F7"/>
          </a:solidFill>
          <a:ln w="9525">
            <a:solidFill>
              <a:srgbClr val="D5E0EB"/>
            </a:solidFill>
            <a:prstDash val="solid"/>
          </a:ln>
        </p:spPr>
        <p:txBody>
          <a:bodyPr/>
          <a:lstStyle/>
          <a:p>
            <a:endParaRPr lang="en-US"/>
          </a:p>
        </p:txBody>
      </p:sp>
      <p:sp>
        <p:nvSpPr>
          <p:cNvPr id="15" name="Text 10"/>
          <p:cNvSpPr/>
          <p:nvPr/>
        </p:nvSpPr>
        <p:spPr>
          <a:xfrm>
            <a:off x="877824" y="3456432"/>
            <a:ext cx="6245352" cy="201168"/>
          </a:xfrm>
          <a:prstGeom prst="rect">
            <a:avLst/>
          </a:prstGeom>
          <a:noFill/>
          <a:ln/>
        </p:spPr>
        <p:txBody>
          <a:bodyPr wrap="square" lIns="0" tIns="0" rIns="0" bIns="0" rtlCol="0" anchor="t"/>
          <a:lstStyle/>
          <a:p>
            <a:pPr marL="0" indent="0">
              <a:buNone/>
            </a:pPr>
            <a:r>
              <a:rPr lang="en-US" sz="950" b="1" kern="0" spc="110" dirty="0">
                <a:solidFill>
                  <a:srgbClr val="1F8A99"/>
                </a:solidFill>
                <a:latin typeface="Calibri" pitchFamily="34" charset="0"/>
                <a:ea typeface="Calibri" pitchFamily="34" charset="-122"/>
                <a:cs typeface="Calibri" pitchFamily="34" charset="-120"/>
              </a:rPr>
              <a:t>PROPOSITION 1 — SIMULTANEOUS CALIBRATION STATEMENT</a:t>
            </a:r>
            <a:endParaRPr lang="en-US" sz="950" dirty="0"/>
          </a:p>
        </p:txBody>
      </p:sp>
      <p:sp>
        <p:nvSpPr>
          <p:cNvPr id="16" name="Text 11"/>
          <p:cNvSpPr/>
          <p:nvPr/>
        </p:nvSpPr>
        <p:spPr>
          <a:xfrm>
            <a:off x="877824" y="3694176"/>
            <a:ext cx="6245352" cy="932688"/>
          </a:xfrm>
          <a:prstGeom prst="rect">
            <a:avLst/>
          </a:prstGeom>
          <a:noFill/>
          <a:ln/>
        </p:spPr>
        <p:txBody>
          <a:bodyPr wrap="square" lIns="0" tIns="0" rIns="0" bIns="0" rtlCol="0" anchor="t"/>
          <a:lstStyle/>
          <a:p>
            <a:pPr marL="0" indent="0">
              <a:lnSpc>
                <a:spcPct val="107000"/>
              </a:lnSpc>
              <a:buNone/>
            </a:pPr>
            <a:r>
              <a:rPr lang="en-US" sz="1050" i="1" dirty="0">
                <a:solidFill>
                  <a:srgbClr val="24354F"/>
                </a:solidFill>
                <a:latin typeface="Calibri" pitchFamily="34" charset="0"/>
                <a:ea typeface="Calibri" pitchFamily="34" charset="-122"/>
                <a:cs typeface="Calibri" pitchFamily="34" charset="-120"/>
              </a:rPr>
              <a:t>If the program, score, violation definition and finite grid are fixed before calibration, and admitted calibration groups contribute i.i.d. (or conditionally i.i.d.) Bernoulli violation indicators from the same distribution as future admitted groups, then with probability at least 1 − δ over the calibration sample, every grid threshold's true group-level selective violation rate is no greater than its computed U η. Any selected threshold with U η ≤ α therefore has violation rate at most α on the same distribution.</a:t>
            </a:r>
            <a:endParaRPr lang="en-US" sz="1050" dirty="0"/>
          </a:p>
        </p:txBody>
      </p:sp>
      <p:sp>
        <p:nvSpPr>
          <p:cNvPr id="17" name="Shape 12"/>
          <p:cNvSpPr/>
          <p:nvPr/>
        </p:nvSpPr>
        <p:spPr>
          <a:xfrm>
            <a:off x="7726680" y="1152144"/>
            <a:ext cx="3824935" cy="2103120"/>
          </a:xfrm>
          <a:prstGeom prst="roundRect">
            <a:avLst>
              <a:gd name="adj" fmla="val 2174"/>
            </a:avLst>
          </a:prstGeom>
          <a:solidFill>
            <a:srgbClr val="E8F4F5"/>
          </a:solidFill>
          <a:ln w="9525">
            <a:solidFill>
              <a:srgbClr val="CFE4E7"/>
            </a:solidFill>
            <a:prstDash val="solid"/>
          </a:ln>
          <a:effectLst>
            <a:outerShdw blurRad="114300" dist="17780" dir="5400000" algn="bl" rotWithShape="0">
              <a:srgbClr val="94A6BC">
                <a:alpha val="15000"/>
              </a:srgbClr>
            </a:outerShdw>
          </a:effectLst>
        </p:spPr>
        <p:txBody>
          <a:bodyPr/>
          <a:lstStyle/>
          <a:p>
            <a:endParaRPr lang="en-US"/>
          </a:p>
        </p:txBody>
      </p:sp>
      <p:sp>
        <p:nvSpPr>
          <p:cNvPr id="18" name="Text 13"/>
          <p:cNvSpPr/>
          <p:nvPr/>
        </p:nvSpPr>
        <p:spPr>
          <a:xfrm>
            <a:off x="7964424" y="1280160"/>
            <a:ext cx="3349447" cy="201168"/>
          </a:xfrm>
          <a:prstGeom prst="rect">
            <a:avLst/>
          </a:prstGeom>
          <a:noFill/>
          <a:ln/>
        </p:spPr>
        <p:txBody>
          <a:bodyPr wrap="square" lIns="0" tIns="0" rIns="0" bIns="0" rtlCol="0" anchor="t"/>
          <a:lstStyle/>
          <a:p>
            <a:pPr marL="0" indent="0">
              <a:buNone/>
            </a:pPr>
            <a:r>
              <a:rPr lang="en-US" sz="950" b="1" kern="0" spc="110" dirty="0">
                <a:solidFill>
                  <a:srgbClr val="1F8A99"/>
                </a:solidFill>
                <a:latin typeface="Calibri" pitchFamily="34" charset="0"/>
                <a:ea typeface="Calibri" pitchFamily="34" charset="-122"/>
                <a:cs typeface="Calibri" pitchFamily="34" charset="-120"/>
              </a:rPr>
              <a:t>SAMPLE REQUIREMENT</a:t>
            </a:r>
            <a:endParaRPr lang="en-US" sz="950" dirty="0"/>
          </a:p>
        </p:txBody>
      </p:sp>
      <p:pic>
        <p:nvPicPr>
          <p:cNvPr id="19" name="Image 3" descr="/home/claude/deck/eq/nreq.png"/>
          <p:cNvPicPr>
            <a:picLocks noChangeAspect="1"/>
          </p:cNvPicPr>
          <p:nvPr/>
        </p:nvPicPr>
        <p:blipFill>
          <a:blip r:embed="rId6"/>
          <a:stretch>
            <a:fillRect/>
          </a:stretch>
        </p:blipFill>
        <p:spPr>
          <a:xfrm>
            <a:off x="7964424" y="1555668"/>
            <a:ext cx="1371600" cy="509688"/>
          </a:xfrm>
          <a:prstGeom prst="rect">
            <a:avLst/>
          </a:prstGeom>
        </p:spPr>
      </p:pic>
      <p:sp>
        <p:nvSpPr>
          <p:cNvPr id="20" name="Text 14"/>
          <p:cNvSpPr/>
          <p:nvPr/>
        </p:nvSpPr>
        <p:spPr>
          <a:xfrm>
            <a:off x="9646920" y="1554480"/>
            <a:ext cx="868680" cy="512064"/>
          </a:xfrm>
          <a:prstGeom prst="rect">
            <a:avLst/>
          </a:prstGeom>
          <a:noFill/>
          <a:ln/>
        </p:spPr>
        <p:txBody>
          <a:bodyPr wrap="square" lIns="0" tIns="0" rIns="0" bIns="0" rtlCol="0" anchor="ctr"/>
          <a:lstStyle/>
          <a:p>
            <a:pPr marL="0" indent="0">
              <a:buNone/>
            </a:pPr>
            <a:r>
              <a:rPr lang="en-US" sz="3000" b="1" dirty="0">
                <a:solidFill>
                  <a:srgbClr val="1F8A99"/>
                </a:solidFill>
                <a:latin typeface="Cambria" pitchFamily="34" charset="0"/>
                <a:ea typeface="Cambria" pitchFamily="34" charset="-122"/>
                <a:cs typeface="Cambria" pitchFamily="34" charset="-120"/>
              </a:rPr>
              <a:t>92</a:t>
            </a:r>
            <a:endParaRPr lang="en-US" sz="3000" dirty="0"/>
          </a:p>
        </p:txBody>
      </p:sp>
      <p:sp>
        <p:nvSpPr>
          <p:cNvPr id="21" name="Text 15"/>
          <p:cNvSpPr/>
          <p:nvPr/>
        </p:nvSpPr>
        <p:spPr>
          <a:xfrm>
            <a:off x="10305288" y="1554480"/>
            <a:ext cx="990295" cy="512064"/>
          </a:xfrm>
          <a:prstGeom prst="rect">
            <a:avLst/>
          </a:prstGeom>
          <a:noFill/>
          <a:ln/>
        </p:spPr>
        <p:txBody>
          <a:bodyPr wrap="square" lIns="0" tIns="0" rIns="0" bIns="0" rtlCol="0" anchor="ctr"/>
          <a:lstStyle/>
          <a:p>
            <a:pPr marL="0" indent="0">
              <a:lnSpc>
                <a:spcPct val="100000"/>
              </a:lnSpc>
              <a:buNone/>
            </a:pPr>
            <a:r>
              <a:rPr lang="en-US" sz="950" dirty="0">
                <a:solidFill>
                  <a:srgbClr val="24354F"/>
                </a:solidFill>
                <a:latin typeface="Calibri" pitchFamily="34" charset="0"/>
                <a:ea typeface="Calibri" pitchFamily="34" charset="-122"/>
                <a:cs typeface="Calibri" pitchFamily="34" charset="-120"/>
              </a:rPr>
              <a:t>independent</a:t>
            </a:r>
            <a:endParaRPr lang="en-US" sz="950" dirty="0"/>
          </a:p>
          <a:p>
            <a:pPr marL="0" indent="0">
              <a:lnSpc>
                <a:spcPct val="100000"/>
              </a:lnSpc>
              <a:buNone/>
            </a:pPr>
            <a:r>
              <a:rPr lang="en-US" sz="950" dirty="0">
                <a:solidFill>
                  <a:srgbClr val="24354F"/>
                </a:solidFill>
                <a:latin typeface="Calibri" pitchFamily="34" charset="0"/>
                <a:ea typeface="Calibri" pitchFamily="34" charset="-122"/>
                <a:cs typeface="Calibri" pitchFamily="34" charset="-120"/>
              </a:rPr>
              <a:t>zero-violation</a:t>
            </a:r>
            <a:endParaRPr lang="en-US" sz="950" dirty="0"/>
          </a:p>
          <a:p>
            <a:pPr marL="0" indent="0">
              <a:lnSpc>
                <a:spcPct val="100000"/>
              </a:lnSpc>
              <a:buNone/>
            </a:pPr>
            <a:r>
              <a:rPr lang="en-US" sz="950" dirty="0">
                <a:solidFill>
                  <a:srgbClr val="24354F"/>
                </a:solidFill>
                <a:latin typeface="Calibri" pitchFamily="34" charset="0"/>
                <a:ea typeface="Calibri" pitchFamily="34" charset="-122"/>
                <a:cs typeface="Calibri" pitchFamily="34" charset="-120"/>
              </a:rPr>
              <a:t>group records</a:t>
            </a:r>
            <a:endParaRPr lang="en-US" sz="950" dirty="0"/>
          </a:p>
        </p:txBody>
      </p:sp>
      <p:sp>
        <p:nvSpPr>
          <p:cNvPr id="22" name="Text 16"/>
          <p:cNvSpPr/>
          <p:nvPr/>
        </p:nvSpPr>
        <p:spPr>
          <a:xfrm>
            <a:off x="7964424" y="2212848"/>
            <a:ext cx="3349447" cy="914400"/>
          </a:xfrm>
          <a:prstGeom prst="rect">
            <a:avLst/>
          </a:prstGeom>
          <a:noFill/>
          <a:ln/>
        </p:spPr>
        <p:txBody>
          <a:bodyPr wrap="square" lIns="0" tIns="0" rIns="0" bIns="0" rtlCol="0" anchor="t"/>
          <a:lstStyle/>
          <a:p>
            <a:pPr marL="0" indent="0">
              <a:lnSpc>
                <a:spcPct val="105000"/>
              </a:lnSpc>
              <a:buNone/>
            </a:pPr>
            <a:r>
              <a:rPr lang="en-US" sz="1000" dirty="0">
                <a:solidFill>
                  <a:srgbClr val="5A6B84"/>
                </a:solidFill>
                <a:latin typeface="Calibri" pitchFamily="34" charset="0"/>
                <a:ea typeface="Calibri" pitchFamily="34" charset="-122"/>
                <a:cs typeface="Calibri" pitchFamily="34" charset="-120"/>
              </a:rPr>
              <a:t>at α = .05,  δ = .10,  |Λ| = 11.  Pre-committing to a single threshold rather than a grid of eleven drops the requirement to 45 — a design parameter as much as a data property.</a:t>
            </a:r>
            <a:endParaRPr lang="en-US" sz="1000" dirty="0"/>
          </a:p>
        </p:txBody>
      </p:sp>
      <p:sp>
        <p:nvSpPr>
          <p:cNvPr id="23" name="Shape 17"/>
          <p:cNvSpPr/>
          <p:nvPr/>
        </p:nvSpPr>
        <p:spPr>
          <a:xfrm>
            <a:off x="7726680" y="3346704"/>
            <a:ext cx="3824935" cy="1371600"/>
          </a:xfrm>
          <a:prstGeom prst="roundRect">
            <a:avLst>
              <a:gd name="adj" fmla="val 3333"/>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24" name="Text 18"/>
          <p:cNvSpPr/>
          <p:nvPr/>
        </p:nvSpPr>
        <p:spPr>
          <a:xfrm>
            <a:off x="7964424" y="3456432"/>
            <a:ext cx="3349447" cy="201168"/>
          </a:xfrm>
          <a:prstGeom prst="rect">
            <a:avLst/>
          </a:prstGeom>
          <a:noFill/>
          <a:ln/>
        </p:spPr>
        <p:txBody>
          <a:bodyPr wrap="square" lIns="0" tIns="0" rIns="0" bIns="0" rtlCol="0" anchor="t"/>
          <a:lstStyle/>
          <a:p>
            <a:pPr marL="0" indent="0">
              <a:buNone/>
            </a:pPr>
            <a:r>
              <a:rPr lang="en-US" sz="950" b="1" kern="0" spc="110" dirty="0">
                <a:solidFill>
                  <a:srgbClr val="A93B2B"/>
                </a:solidFill>
                <a:latin typeface="Calibri" pitchFamily="34" charset="0"/>
                <a:ea typeface="Calibri" pitchFamily="34" charset="-122"/>
                <a:cs typeface="Calibri" pitchFamily="34" charset="-120"/>
              </a:rPr>
              <a:t>WHAT α BOUNDS — AND WHAT IT DOES NOT</a:t>
            </a:r>
            <a:endParaRPr lang="en-US" sz="950" dirty="0"/>
          </a:p>
        </p:txBody>
      </p:sp>
      <p:sp>
        <p:nvSpPr>
          <p:cNvPr id="25" name="Text 19"/>
          <p:cNvSpPr/>
          <p:nvPr/>
        </p:nvSpPr>
        <p:spPr>
          <a:xfrm>
            <a:off x="7964424" y="3694176"/>
            <a:ext cx="3349447" cy="932688"/>
          </a:xfrm>
          <a:prstGeom prst="rect">
            <a:avLst/>
          </a:prstGeom>
          <a:noFill/>
          <a:ln/>
        </p:spPr>
        <p:txBody>
          <a:bodyPr wrap="square" lIns="0" tIns="0" rIns="0" bIns="0" rtlCol="0" anchor="t"/>
          <a:lstStyle/>
          <a:p>
            <a:pPr marL="0" indent="0">
              <a:lnSpc>
                <a:spcPct val="104000"/>
              </a:lnSpc>
              <a:buNone/>
            </a:pPr>
            <a:r>
              <a:rPr lang="en-US" sz="1000" dirty="0">
                <a:solidFill>
                  <a:srgbClr val="5C4034"/>
                </a:solidFill>
                <a:latin typeface="Calibri" pitchFamily="34" charset="0"/>
                <a:ea typeface="Calibri" pitchFamily="34" charset="-122"/>
                <a:cs typeface="Calibri" pitchFamily="34" charset="-120"/>
              </a:rPr>
              <a:t>A violation is disagreement with V, and V is induced from the same traces P was synthesized from. So α bounds the rate at which a compiled region breaks its own registered contract — never the rate at which the agent's task outcome is wrong. Absent distribution shift, a program fitted to satisfy V will rarely violate V.</a:t>
            </a:r>
            <a:endParaRPr lang="en-US" sz="1000" dirty="0"/>
          </a:p>
        </p:txBody>
      </p:sp>
      <p:sp>
        <p:nvSpPr>
          <p:cNvPr id="26" name="Text 20"/>
          <p:cNvSpPr/>
          <p:nvPr/>
        </p:nvSpPr>
        <p:spPr>
          <a:xfrm>
            <a:off x="640080" y="4846320"/>
            <a:ext cx="10911535" cy="237744"/>
          </a:xfrm>
          <a:prstGeom prst="rect">
            <a:avLst/>
          </a:prstGeom>
          <a:noFill/>
          <a:ln/>
        </p:spPr>
        <p:txBody>
          <a:bodyPr wrap="square" lIns="0" tIns="0" rIns="0" bIns="0" rtlCol="0" anchor="t"/>
          <a:lstStyle/>
          <a:p>
            <a:pPr marL="0" indent="0">
              <a:buNone/>
            </a:pPr>
            <a:r>
              <a:rPr lang="en-US" sz="1050" b="1" kern="0" spc="180" dirty="0">
                <a:solidFill>
                  <a:srgbClr val="5A6B84"/>
                </a:solidFill>
                <a:latin typeface="Calibri" pitchFamily="34" charset="0"/>
                <a:ea typeface="Calibri" pitchFamily="34" charset="-122"/>
                <a:cs typeface="Calibri" pitchFamily="34" charset="-120"/>
              </a:rPr>
              <a:t>THREE THINGS WOULD MAKE THE CHAIN INDEPENDENT — NONE IS PRESENT IN THE SHIPPED ARTIFACT</a:t>
            </a:r>
            <a:endParaRPr lang="en-US" sz="1050" dirty="0"/>
          </a:p>
        </p:txBody>
      </p:sp>
      <p:sp>
        <p:nvSpPr>
          <p:cNvPr id="27" name="Shape 21"/>
          <p:cNvSpPr/>
          <p:nvPr/>
        </p:nvSpPr>
        <p:spPr>
          <a:xfrm>
            <a:off x="640080" y="5120640"/>
            <a:ext cx="3466490" cy="768096"/>
          </a:xfrm>
          <a:prstGeom prst="roundRect">
            <a:avLst>
              <a:gd name="adj" fmla="val 5952"/>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28" name="Text 22"/>
          <p:cNvSpPr/>
          <p:nvPr/>
        </p:nvSpPr>
        <p:spPr>
          <a:xfrm>
            <a:off x="859536" y="5212080"/>
            <a:ext cx="3027578" cy="256032"/>
          </a:xfrm>
          <a:prstGeom prst="rect">
            <a:avLst/>
          </a:prstGeom>
          <a:noFill/>
          <a:ln/>
        </p:spPr>
        <p:txBody>
          <a:bodyPr wrap="square" lIns="0" tIns="0" rIns="0" bIns="0" rtlCol="0" anchor="t"/>
          <a:lstStyle/>
          <a:p>
            <a:pPr marL="0" indent="0">
              <a:buNone/>
            </a:pPr>
            <a:r>
              <a:rPr lang="en-US" sz="1150" b="1" dirty="0">
                <a:solidFill>
                  <a:srgbClr val="0E1E3A"/>
                </a:solidFill>
                <a:latin typeface="Cambria" pitchFamily="34" charset="0"/>
                <a:ea typeface="Cambria" pitchFamily="34" charset="-122"/>
                <a:cs typeface="Cambria" pitchFamily="34" charset="-120"/>
              </a:rPr>
              <a:t>A perturbation challenge</a:t>
            </a:r>
            <a:endParaRPr lang="en-US" sz="1150" dirty="0"/>
          </a:p>
        </p:txBody>
      </p:sp>
      <p:sp>
        <p:nvSpPr>
          <p:cNvPr id="29" name="Text 23"/>
          <p:cNvSpPr/>
          <p:nvPr/>
        </p:nvSpPr>
        <p:spPr>
          <a:xfrm>
            <a:off x="859536" y="5468112"/>
            <a:ext cx="3027578" cy="347472"/>
          </a:xfrm>
          <a:prstGeom prst="rect">
            <a:avLst/>
          </a:prstGeom>
          <a:noFill/>
          <a:ln/>
        </p:spPr>
        <p:txBody>
          <a:bodyPr wrap="square" lIns="0" tIns="0" rIns="0" bIns="0" rtlCol="0" anchor="t"/>
          <a:lstStyle/>
          <a:p>
            <a:pPr marL="0" indent="0">
              <a:lnSpc>
                <a:spcPct val="102000"/>
              </a:lnSpc>
              <a:buNone/>
            </a:pPr>
            <a:r>
              <a:rPr lang="en-US" sz="1000" dirty="0">
                <a:solidFill>
                  <a:srgbClr val="5A6B84"/>
                </a:solidFill>
                <a:latin typeface="Calibri" pitchFamily="34" charset="0"/>
                <a:ea typeface="Calibri" pitchFamily="34" charset="-122"/>
                <a:cs typeface="Calibri" pitchFamily="34" charset="-120"/>
              </a:rPr>
              <a:t>not run: perturbations_claimed: false</a:t>
            </a:r>
            <a:endParaRPr lang="en-US" sz="1000" dirty="0"/>
          </a:p>
        </p:txBody>
      </p:sp>
      <p:sp>
        <p:nvSpPr>
          <p:cNvPr id="30" name="Shape 24"/>
          <p:cNvSpPr/>
          <p:nvPr/>
        </p:nvSpPr>
        <p:spPr>
          <a:xfrm>
            <a:off x="4362602" y="5120640"/>
            <a:ext cx="3466490" cy="768096"/>
          </a:xfrm>
          <a:prstGeom prst="roundRect">
            <a:avLst>
              <a:gd name="adj" fmla="val 5952"/>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31" name="Text 25"/>
          <p:cNvSpPr/>
          <p:nvPr/>
        </p:nvSpPr>
        <p:spPr>
          <a:xfrm>
            <a:off x="4582058" y="5212080"/>
            <a:ext cx="3027578" cy="256032"/>
          </a:xfrm>
          <a:prstGeom prst="rect">
            <a:avLst/>
          </a:prstGeom>
          <a:noFill/>
          <a:ln/>
        </p:spPr>
        <p:txBody>
          <a:bodyPr wrap="square" lIns="0" tIns="0" rIns="0" bIns="0" rtlCol="0" anchor="t"/>
          <a:lstStyle/>
          <a:p>
            <a:pPr marL="0" indent="0">
              <a:buNone/>
            </a:pPr>
            <a:r>
              <a:rPr lang="en-US" sz="1150" b="1" dirty="0">
                <a:solidFill>
                  <a:srgbClr val="0E1E3A"/>
                </a:solidFill>
                <a:latin typeface="Cambria" pitchFamily="34" charset="0"/>
                <a:ea typeface="Cambria" pitchFamily="34" charset="-122"/>
                <a:cs typeface="Cambria" pitchFamily="34" charset="-120"/>
              </a:rPr>
              <a:t>An adjudication oracle</a:t>
            </a:r>
            <a:endParaRPr lang="en-US" sz="1150" dirty="0"/>
          </a:p>
        </p:txBody>
      </p:sp>
      <p:sp>
        <p:nvSpPr>
          <p:cNvPr id="32" name="Text 26"/>
          <p:cNvSpPr/>
          <p:nvPr/>
        </p:nvSpPr>
        <p:spPr>
          <a:xfrm>
            <a:off x="4582058" y="5468112"/>
            <a:ext cx="3027578" cy="347472"/>
          </a:xfrm>
          <a:prstGeom prst="rect">
            <a:avLst/>
          </a:prstGeom>
          <a:noFill/>
          <a:ln/>
        </p:spPr>
        <p:txBody>
          <a:bodyPr wrap="square" lIns="0" tIns="0" rIns="0" bIns="0" rtlCol="0" anchor="t"/>
          <a:lstStyle/>
          <a:p>
            <a:pPr marL="0" indent="0">
              <a:lnSpc>
                <a:spcPct val="102000"/>
              </a:lnSpc>
              <a:buNone/>
            </a:pPr>
            <a:r>
              <a:rPr lang="en-US" sz="1000" dirty="0">
                <a:solidFill>
                  <a:srgbClr val="5A6B84"/>
                </a:solidFill>
                <a:latin typeface="Calibri" pitchFamily="34" charset="0"/>
                <a:ea typeface="Calibri" pitchFamily="34" charset="-122"/>
                <a:cs typeface="Calibri" pitchFamily="34" charset="-120"/>
              </a:rPr>
              <a:t>separate from the induction traces</a:t>
            </a:r>
            <a:endParaRPr lang="en-US" sz="1000" dirty="0"/>
          </a:p>
        </p:txBody>
      </p:sp>
      <p:sp>
        <p:nvSpPr>
          <p:cNvPr id="33" name="Shape 27"/>
          <p:cNvSpPr/>
          <p:nvPr/>
        </p:nvSpPr>
        <p:spPr>
          <a:xfrm>
            <a:off x="8085125" y="5120640"/>
            <a:ext cx="3466490" cy="768096"/>
          </a:xfrm>
          <a:prstGeom prst="roundRect">
            <a:avLst>
              <a:gd name="adj" fmla="val 5952"/>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34" name="Text 28"/>
          <p:cNvSpPr/>
          <p:nvPr/>
        </p:nvSpPr>
        <p:spPr>
          <a:xfrm>
            <a:off x="8304581" y="5212080"/>
            <a:ext cx="3027578" cy="256032"/>
          </a:xfrm>
          <a:prstGeom prst="rect">
            <a:avLst/>
          </a:prstGeom>
          <a:noFill/>
          <a:ln/>
        </p:spPr>
        <p:txBody>
          <a:bodyPr wrap="square" lIns="0" tIns="0" rIns="0" bIns="0" rtlCol="0" anchor="t"/>
          <a:lstStyle/>
          <a:p>
            <a:pPr marL="0" indent="0">
              <a:buNone/>
            </a:pPr>
            <a:r>
              <a:rPr lang="en-US" sz="1150" b="1" dirty="0">
                <a:solidFill>
                  <a:srgbClr val="0E1E3A"/>
                </a:solidFill>
                <a:latin typeface="Cambria" pitchFamily="34" charset="0"/>
                <a:ea typeface="Cambria" pitchFamily="34" charset="-122"/>
                <a:cs typeface="Cambria" pitchFamily="34" charset="-120"/>
              </a:rPr>
              <a:t>A task-quality measure</a:t>
            </a:r>
            <a:endParaRPr lang="en-US" sz="1150" dirty="0"/>
          </a:p>
        </p:txBody>
      </p:sp>
      <p:sp>
        <p:nvSpPr>
          <p:cNvPr id="35" name="Text 29"/>
          <p:cNvSpPr/>
          <p:nvPr/>
        </p:nvSpPr>
        <p:spPr>
          <a:xfrm>
            <a:off x="8304581" y="5468112"/>
            <a:ext cx="3027578" cy="347472"/>
          </a:xfrm>
          <a:prstGeom prst="rect">
            <a:avLst/>
          </a:prstGeom>
          <a:noFill/>
          <a:ln/>
        </p:spPr>
        <p:txBody>
          <a:bodyPr wrap="square" lIns="0" tIns="0" rIns="0" bIns="0" rtlCol="0" anchor="t"/>
          <a:lstStyle/>
          <a:p>
            <a:pPr marL="0" indent="0">
              <a:lnSpc>
                <a:spcPct val="102000"/>
              </a:lnSpc>
              <a:buNone/>
            </a:pPr>
            <a:r>
              <a:rPr lang="en-US" sz="1000" dirty="0">
                <a:solidFill>
                  <a:srgbClr val="5A6B84"/>
                </a:solidFill>
                <a:latin typeface="Calibri" pitchFamily="34" charset="0"/>
                <a:ea typeface="Calibri" pitchFamily="34" charset="-122"/>
                <a:cs typeface="Calibri" pitchFamily="34" charset="-120"/>
              </a:rPr>
              <a:t>able to detect fabrication</a:t>
            </a:r>
            <a:endParaRPr lang="en-US" sz="1000" dirty="0"/>
          </a:p>
        </p:txBody>
      </p:sp>
      <p:sp>
        <p:nvSpPr>
          <p:cNvPr id="36" name="Text 30"/>
          <p:cNvSpPr/>
          <p:nvPr/>
        </p:nvSpPr>
        <p:spPr>
          <a:xfrm>
            <a:off x="640080" y="5980176"/>
            <a:ext cx="10911535" cy="365760"/>
          </a:xfrm>
          <a:prstGeom prst="rect">
            <a:avLst/>
          </a:prstGeom>
          <a:noFill/>
          <a:ln/>
        </p:spPr>
        <p:txBody>
          <a:bodyPr wrap="square" lIns="0" tIns="0" rIns="0" bIns="0" rtlCol="0" anchor="t"/>
          <a:lstStyle/>
          <a:p>
            <a:pPr marL="0" indent="0">
              <a:lnSpc>
                <a:spcPct val="105000"/>
              </a:lnSpc>
              <a:buNone/>
            </a:pPr>
            <a:r>
              <a:rPr lang="en-US" sz="900" i="1" dirty="0">
                <a:solidFill>
                  <a:srgbClr val="5A6B84"/>
                </a:solidFill>
                <a:latin typeface="Calibri" pitchFamily="34" charset="0"/>
                <a:ea typeface="Calibri" pitchFamily="34" charset="-122"/>
                <a:cs typeface="Calibri" pitchFamily="34" charset="-120"/>
              </a:rPr>
              <a:t>The independence assumption is load-bearing and stronger than exchangeability: groups from one repository, tenant, or time window are plausibly correlated, so a clustered deployment should calibrate at the cluster level and check sensitivity with a block bootstrap. The union bound also covers only one frozen artifact — a portfolio needs an explicit risk allocation across decisions.</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14</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METHOD  ·  ALGORITHM 4 AND §3.5.1</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Boundary-time dispatch: cheap checks reject first, one edge compacts</a:t>
            </a:r>
            <a:endParaRPr lang="en-US" sz="2600" dirty="0"/>
          </a:p>
        </p:txBody>
      </p:sp>
      <p:sp>
        <p:nvSpPr>
          <p:cNvPr id="6" name="Text 4"/>
          <p:cNvSpPr/>
          <p:nvPr/>
        </p:nvSpPr>
        <p:spPr>
          <a:xfrm>
            <a:off x="640080" y="1188720"/>
            <a:ext cx="10911535" cy="237744"/>
          </a:xfrm>
          <a:prstGeom prst="rect">
            <a:avLst/>
          </a:prstGeom>
          <a:noFill/>
          <a:ln/>
        </p:spPr>
        <p:txBody>
          <a:bodyPr wrap="square" lIns="0" tIns="0" rIns="0" bIns="0" rtlCol="0" anchor="t"/>
          <a:lstStyle/>
          <a:p>
            <a:pPr marL="0" indent="0">
              <a:buNone/>
            </a:pPr>
            <a:r>
              <a:rPr lang="en-US" sz="1050" b="1" kern="0" spc="180" dirty="0">
                <a:solidFill>
                  <a:srgbClr val="5A6B84"/>
                </a:solidFill>
                <a:latin typeface="Calibri" pitchFamily="34" charset="0"/>
                <a:ea typeface="Calibri" pitchFamily="34" charset="-122"/>
                <a:cs typeface="Calibri" pitchFamily="34" charset="-120"/>
              </a:rPr>
              <a:t>SIX CHECKS IN ORDER — THE CALIBRATED GATE RUNS ONLY ON WHAT SURVIVES THEM</a:t>
            </a:r>
            <a:endParaRPr lang="en-US" sz="1050" dirty="0"/>
          </a:p>
        </p:txBody>
      </p:sp>
      <p:sp>
        <p:nvSpPr>
          <p:cNvPr id="7" name="Shape 5"/>
          <p:cNvSpPr/>
          <p:nvPr/>
        </p:nvSpPr>
        <p:spPr>
          <a:xfrm>
            <a:off x="640080" y="1463040"/>
            <a:ext cx="1711909" cy="402336"/>
          </a:xfrm>
          <a:prstGeom prst="roundRect">
            <a:avLst>
              <a:gd name="adj" fmla="val 113636"/>
            </a:avLst>
          </a:prstGeom>
          <a:solidFill>
            <a:srgbClr val="1A3563"/>
          </a:solidFill>
          <a:ln w="9525">
            <a:solidFill>
              <a:srgbClr val="1A3563"/>
            </a:solidFill>
            <a:prstDash val="solid"/>
          </a:ln>
        </p:spPr>
        <p:txBody>
          <a:bodyPr/>
          <a:lstStyle/>
          <a:p>
            <a:endParaRPr lang="en-US"/>
          </a:p>
        </p:txBody>
      </p:sp>
      <p:sp>
        <p:nvSpPr>
          <p:cNvPr id="8" name="Text 6"/>
          <p:cNvSpPr/>
          <p:nvPr/>
        </p:nvSpPr>
        <p:spPr>
          <a:xfrm>
            <a:off x="640080" y="1463040"/>
            <a:ext cx="1711909" cy="402336"/>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mode ≠ off</a:t>
            </a:r>
            <a:endParaRPr lang="en-US" sz="950" dirty="0"/>
          </a:p>
        </p:txBody>
      </p:sp>
      <p:sp>
        <p:nvSpPr>
          <p:cNvPr id="9" name="Shape 7"/>
          <p:cNvSpPr/>
          <p:nvPr/>
        </p:nvSpPr>
        <p:spPr>
          <a:xfrm>
            <a:off x="2480005" y="1463040"/>
            <a:ext cx="1711909" cy="402336"/>
          </a:xfrm>
          <a:prstGeom prst="roundRect">
            <a:avLst>
              <a:gd name="adj" fmla="val 113636"/>
            </a:avLst>
          </a:prstGeom>
          <a:solidFill>
            <a:srgbClr val="1A3563"/>
          </a:solidFill>
          <a:ln w="9525">
            <a:solidFill>
              <a:srgbClr val="1A3563"/>
            </a:solidFill>
            <a:prstDash val="solid"/>
          </a:ln>
        </p:spPr>
        <p:txBody>
          <a:bodyPr/>
          <a:lstStyle/>
          <a:p>
            <a:endParaRPr lang="en-US"/>
          </a:p>
        </p:txBody>
      </p:sp>
      <p:sp>
        <p:nvSpPr>
          <p:cNvPr id="10" name="Text 8"/>
          <p:cNvSpPr/>
          <p:nvPr/>
        </p:nvSpPr>
        <p:spPr>
          <a:xfrm>
            <a:off x="2480005" y="1463040"/>
            <a:ext cx="1711909" cy="402336"/>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resolve + signature</a:t>
            </a:r>
            <a:endParaRPr lang="en-US" sz="950" dirty="0"/>
          </a:p>
        </p:txBody>
      </p:sp>
      <p:sp>
        <p:nvSpPr>
          <p:cNvPr id="11" name="Shape 9"/>
          <p:cNvSpPr/>
          <p:nvPr/>
        </p:nvSpPr>
        <p:spPr>
          <a:xfrm>
            <a:off x="4319930" y="1463040"/>
            <a:ext cx="1711909" cy="402336"/>
          </a:xfrm>
          <a:prstGeom prst="roundRect">
            <a:avLst>
              <a:gd name="adj" fmla="val 113636"/>
            </a:avLst>
          </a:prstGeom>
          <a:solidFill>
            <a:srgbClr val="1A3563"/>
          </a:solidFill>
          <a:ln w="9525">
            <a:solidFill>
              <a:srgbClr val="1A3563"/>
            </a:solidFill>
            <a:prstDash val="solid"/>
          </a:ln>
        </p:spPr>
        <p:txBody>
          <a:bodyPr/>
          <a:lstStyle/>
          <a:p>
            <a:endParaRPr lang="en-US"/>
          </a:p>
        </p:txBody>
      </p:sp>
      <p:sp>
        <p:nvSpPr>
          <p:cNvPr id="12" name="Text 10"/>
          <p:cNvSpPr/>
          <p:nvPr/>
        </p:nvSpPr>
        <p:spPr>
          <a:xfrm>
            <a:off x="4319930" y="1463040"/>
            <a:ext cx="1711909" cy="402336"/>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hard guard H</a:t>
            </a:r>
            <a:endParaRPr lang="en-US" sz="950" dirty="0"/>
          </a:p>
        </p:txBody>
      </p:sp>
      <p:sp>
        <p:nvSpPr>
          <p:cNvPr id="13" name="Shape 11"/>
          <p:cNvSpPr/>
          <p:nvPr/>
        </p:nvSpPr>
        <p:spPr>
          <a:xfrm>
            <a:off x="6159856" y="1463040"/>
            <a:ext cx="1711909" cy="402336"/>
          </a:xfrm>
          <a:prstGeom prst="roundRect">
            <a:avLst>
              <a:gd name="adj" fmla="val 113636"/>
            </a:avLst>
          </a:prstGeom>
          <a:solidFill>
            <a:srgbClr val="1A3563"/>
          </a:solidFill>
          <a:ln w="9525">
            <a:solidFill>
              <a:srgbClr val="1A3563"/>
            </a:solidFill>
            <a:prstDash val="solid"/>
          </a:ln>
        </p:spPr>
        <p:txBody>
          <a:bodyPr/>
          <a:lstStyle/>
          <a:p>
            <a:endParaRPr lang="en-US"/>
          </a:p>
        </p:txBody>
      </p:sp>
      <p:sp>
        <p:nvSpPr>
          <p:cNvPr id="14" name="Text 12"/>
          <p:cNvSpPr/>
          <p:nvPr/>
        </p:nvSpPr>
        <p:spPr>
          <a:xfrm>
            <a:off x="6159856" y="1463040"/>
            <a:ext cx="1711909" cy="402336"/>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already-observed tools</a:t>
            </a:r>
            <a:endParaRPr lang="en-US" sz="950" dirty="0"/>
          </a:p>
        </p:txBody>
      </p:sp>
      <p:sp>
        <p:nvSpPr>
          <p:cNvPr id="15" name="Shape 13"/>
          <p:cNvSpPr/>
          <p:nvPr/>
        </p:nvSpPr>
        <p:spPr>
          <a:xfrm>
            <a:off x="7999781" y="1463040"/>
            <a:ext cx="1711909" cy="402336"/>
          </a:xfrm>
          <a:prstGeom prst="roundRect">
            <a:avLst>
              <a:gd name="adj" fmla="val 113636"/>
            </a:avLst>
          </a:prstGeom>
          <a:solidFill>
            <a:srgbClr val="1A3563"/>
          </a:solidFill>
          <a:ln w="9525">
            <a:solidFill>
              <a:srgbClr val="1A3563"/>
            </a:solidFill>
            <a:prstDash val="solid"/>
          </a:ln>
        </p:spPr>
        <p:txBody>
          <a:bodyPr/>
          <a:lstStyle/>
          <a:p>
            <a:endParaRPr lang="en-US"/>
          </a:p>
        </p:txBody>
      </p:sp>
      <p:sp>
        <p:nvSpPr>
          <p:cNvPr id="16" name="Text 14"/>
          <p:cNvSpPr/>
          <p:nvPr/>
        </p:nvSpPr>
        <p:spPr>
          <a:xfrm>
            <a:off x="7999781" y="1463040"/>
            <a:ext cx="1711909" cy="402336"/>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quota / staging owner</a:t>
            </a:r>
            <a:endParaRPr lang="en-US" sz="950" dirty="0"/>
          </a:p>
        </p:txBody>
      </p:sp>
      <p:sp>
        <p:nvSpPr>
          <p:cNvPr id="17" name="Shape 15"/>
          <p:cNvSpPr/>
          <p:nvPr/>
        </p:nvSpPr>
        <p:spPr>
          <a:xfrm>
            <a:off x="9839706" y="1463040"/>
            <a:ext cx="1711909" cy="402336"/>
          </a:xfrm>
          <a:prstGeom prst="roundRect">
            <a:avLst>
              <a:gd name="adj" fmla="val 113636"/>
            </a:avLst>
          </a:prstGeom>
          <a:solidFill>
            <a:srgbClr val="1F8A99"/>
          </a:solidFill>
          <a:ln w="9525">
            <a:solidFill>
              <a:srgbClr val="1F8A99"/>
            </a:solidFill>
            <a:prstDash val="solid"/>
          </a:ln>
        </p:spPr>
        <p:txBody>
          <a:bodyPr/>
          <a:lstStyle/>
          <a:p>
            <a:endParaRPr lang="en-US"/>
          </a:p>
        </p:txBody>
      </p:sp>
      <p:sp>
        <p:nvSpPr>
          <p:cNvPr id="18" name="Text 16"/>
          <p:cNvSpPr/>
          <p:nvPr/>
        </p:nvSpPr>
        <p:spPr>
          <a:xfrm>
            <a:off x="9839706" y="1463040"/>
            <a:ext cx="1711909" cy="402336"/>
          </a:xfrm>
          <a:prstGeom prst="rect">
            <a:avLst/>
          </a:prstGeom>
          <a:noFill/>
          <a:ln/>
        </p:spPr>
        <p:txBody>
          <a:bodyPr wrap="square" lIns="0" tIns="0" rIns="0" bIns="0" rtlCol="0" anchor="ctr"/>
          <a:lstStyle/>
          <a:p>
            <a:pPr marL="0" indent="0" algn="ctr">
              <a:buNone/>
            </a:pPr>
            <a:r>
              <a:rPr lang="en-US" sz="950" b="1" dirty="0">
                <a:solidFill>
                  <a:srgbClr val="FFFFFF"/>
                </a:solidFill>
                <a:latin typeface="Calibri" pitchFamily="34" charset="0"/>
                <a:ea typeface="Calibri" pitchFamily="34" charset="-122"/>
                <a:cs typeface="Calibri" pitchFamily="34" charset="-120"/>
              </a:rPr>
              <a:t>calibrated gate q(z) ≤ η</a:t>
            </a:r>
            <a:endParaRPr lang="en-US" sz="950" dirty="0"/>
          </a:p>
        </p:txBody>
      </p:sp>
      <p:sp>
        <p:nvSpPr>
          <p:cNvPr id="19" name="Text 17"/>
          <p:cNvSpPr/>
          <p:nvPr/>
        </p:nvSpPr>
        <p:spPr>
          <a:xfrm>
            <a:off x="640080" y="2048256"/>
            <a:ext cx="10911535" cy="237744"/>
          </a:xfrm>
          <a:prstGeom prst="rect">
            <a:avLst/>
          </a:prstGeom>
          <a:noFill/>
          <a:ln/>
        </p:spPr>
        <p:txBody>
          <a:bodyPr wrap="square" lIns="0" tIns="0" rIns="0" bIns="0" rtlCol="0" anchor="t"/>
          <a:lstStyle/>
          <a:p>
            <a:pPr marL="0" indent="0">
              <a:buNone/>
            </a:pPr>
            <a:r>
              <a:rPr lang="en-US" sz="1050" b="1" kern="0" spc="180" dirty="0">
                <a:solidFill>
                  <a:srgbClr val="5A6B84"/>
                </a:solidFill>
                <a:latin typeface="Calibri" pitchFamily="34" charset="0"/>
                <a:ea typeface="Calibri" pitchFamily="34" charset="-122"/>
                <a:cs typeface="Calibri" pitchFamily="34" charset="-120"/>
              </a:rPr>
              <a:t>SEVEN TERMINAL EDGES</a:t>
            </a:r>
            <a:endParaRPr lang="en-US" sz="1050" dirty="0"/>
          </a:p>
        </p:txBody>
      </p:sp>
      <p:sp>
        <p:nvSpPr>
          <p:cNvPr id="20" name="Shape 18"/>
          <p:cNvSpPr/>
          <p:nvPr/>
        </p:nvSpPr>
        <p:spPr>
          <a:xfrm>
            <a:off x="640080" y="2322576"/>
            <a:ext cx="3454298" cy="1517904"/>
          </a:xfrm>
          <a:prstGeom prst="roundRect">
            <a:avLst>
              <a:gd name="adj" fmla="val 3012"/>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21" name="Text 19"/>
          <p:cNvSpPr/>
          <p:nvPr/>
        </p:nvSpPr>
        <p:spPr>
          <a:xfrm>
            <a:off x="877824" y="2450592"/>
            <a:ext cx="548640" cy="438912"/>
          </a:xfrm>
          <a:prstGeom prst="rect">
            <a:avLst/>
          </a:prstGeom>
          <a:noFill/>
          <a:ln/>
        </p:spPr>
        <p:txBody>
          <a:bodyPr wrap="square" lIns="0" tIns="0" rIns="0" bIns="0" rtlCol="0" anchor="ctr"/>
          <a:lstStyle/>
          <a:p>
            <a:pPr marL="0" indent="0">
              <a:buNone/>
            </a:pPr>
            <a:r>
              <a:rPr lang="en-US" sz="2600" b="1" dirty="0">
                <a:solidFill>
                  <a:srgbClr val="1F8A99"/>
                </a:solidFill>
                <a:latin typeface="Cambria" pitchFamily="34" charset="0"/>
                <a:ea typeface="Cambria" pitchFamily="34" charset="-122"/>
                <a:cs typeface="Cambria" pitchFamily="34" charset="-120"/>
              </a:rPr>
              <a:t>1</a:t>
            </a:r>
            <a:endParaRPr lang="en-US" sz="2600" dirty="0"/>
          </a:p>
        </p:txBody>
      </p:sp>
      <p:sp>
        <p:nvSpPr>
          <p:cNvPr id="22" name="Text 20"/>
          <p:cNvSpPr/>
          <p:nvPr/>
        </p:nvSpPr>
        <p:spPr>
          <a:xfrm>
            <a:off x="1463040" y="2487168"/>
            <a:ext cx="2393594" cy="365760"/>
          </a:xfrm>
          <a:prstGeom prst="rect">
            <a:avLst/>
          </a:prstGeom>
          <a:noFill/>
          <a:ln/>
        </p:spPr>
        <p:txBody>
          <a:bodyPr wrap="square" lIns="0" tIns="0" rIns="0" bIns="0" rtlCol="0" anchor="ctr"/>
          <a:lstStyle/>
          <a:p>
            <a:pPr marL="0" indent="0">
              <a:buNone/>
            </a:pPr>
            <a:r>
              <a:rPr lang="en-US" sz="1250" b="1" dirty="0">
                <a:solidFill>
                  <a:srgbClr val="0E1E3A"/>
                </a:solidFill>
                <a:latin typeface="Cambria" pitchFamily="34" charset="0"/>
                <a:ea typeface="Cambria" pitchFamily="34" charset="-122"/>
                <a:cs typeface="Cambria" pitchFamily="34" charset="-120"/>
              </a:rPr>
              <a:t>Compacted execution</a:t>
            </a:r>
            <a:endParaRPr lang="en-US" sz="1250" dirty="0"/>
          </a:p>
        </p:txBody>
      </p:sp>
      <p:sp>
        <p:nvSpPr>
          <p:cNvPr id="23" name="Text 21"/>
          <p:cNvSpPr/>
          <p:nvPr/>
        </p:nvSpPr>
        <p:spPr>
          <a:xfrm>
            <a:off x="896112" y="2907792"/>
            <a:ext cx="2942234" cy="877824"/>
          </a:xfrm>
          <a:prstGeom prst="rect">
            <a:avLst/>
          </a:prstGeom>
          <a:noFill/>
          <a:ln/>
        </p:spPr>
        <p:txBody>
          <a:bodyPr wrap="square" lIns="0" tIns="0" rIns="0" bIns="0" rtlCol="0" anchor="t"/>
          <a:lstStyle/>
          <a:p>
            <a:pPr marL="0" indent="0">
              <a:lnSpc>
                <a:spcPct val="106000"/>
              </a:lnSpc>
              <a:buNone/>
            </a:pPr>
            <a:r>
              <a:rPr lang="en-US" sz="1050" dirty="0">
                <a:solidFill>
                  <a:srgbClr val="24354F"/>
                </a:solidFill>
                <a:latin typeface="Calibri" pitchFamily="34" charset="0"/>
                <a:ea typeface="Calibri" pitchFamily="34" charset="-122"/>
                <a:cs typeface="Calibri" pitchFamily="34" charset="-120"/>
              </a:rPr>
              <a:t>Stage, interpret through a permission facade, verify live-outs, effect multiset and call counts, then commit.</a:t>
            </a:r>
            <a:endParaRPr lang="en-US" sz="1050" dirty="0"/>
          </a:p>
        </p:txBody>
      </p:sp>
      <p:sp>
        <p:nvSpPr>
          <p:cNvPr id="24" name="Shape 22"/>
          <p:cNvSpPr/>
          <p:nvPr/>
        </p:nvSpPr>
        <p:spPr>
          <a:xfrm>
            <a:off x="4368698" y="2322576"/>
            <a:ext cx="3454298" cy="1517904"/>
          </a:xfrm>
          <a:prstGeom prst="roundRect">
            <a:avLst>
              <a:gd name="adj" fmla="val 3012"/>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25" name="Text 23"/>
          <p:cNvSpPr/>
          <p:nvPr/>
        </p:nvSpPr>
        <p:spPr>
          <a:xfrm>
            <a:off x="4606442" y="2450592"/>
            <a:ext cx="548640" cy="438912"/>
          </a:xfrm>
          <a:prstGeom prst="rect">
            <a:avLst/>
          </a:prstGeom>
          <a:noFill/>
          <a:ln/>
        </p:spPr>
        <p:txBody>
          <a:bodyPr wrap="square" lIns="0" tIns="0" rIns="0" bIns="0" rtlCol="0" anchor="ctr"/>
          <a:lstStyle/>
          <a:p>
            <a:pPr marL="0" indent="0">
              <a:buNone/>
            </a:pPr>
            <a:r>
              <a:rPr lang="en-US" sz="2600" b="1" dirty="0">
                <a:solidFill>
                  <a:srgbClr val="1A3563"/>
                </a:solidFill>
                <a:latin typeface="Cambria" pitchFamily="34" charset="0"/>
                <a:ea typeface="Cambria" pitchFamily="34" charset="-122"/>
                <a:cs typeface="Cambria" pitchFamily="34" charset="-120"/>
              </a:rPr>
              <a:t>5</a:t>
            </a:r>
            <a:endParaRPr lang="en-US" sz="2600" dirty="0"/>
          </a:p>
        </p:txBody>
      </p:sp>
      <p:sp>
        <p:nvSpPr>
          <p:cNvPr id="26" name="Text 24"/>
          <p:cNvSpPr/>
          <p:nvPr/>
        </p:nvSpPr>
        <p:spPr>
          <a:xfrm>
            <a:off x="5191658" y="2487168"/>
            <a:ext cx="2393594" cy="365760"/>
          </a:xfrm>
          <a:prstGeom prst="rect">
            <a:avLst/>
          </a:prstGeom>
          <a:noFill/>
          <a:ln/>
        </p:spPr>
        <p:txBody>
          <a:bodyPr wrap="square" lIns="0" tIns="0" rIns="0" bIns="0" rtlCol="0" anchor="ctr"/>
          <a:lstStyle/>
          <a:p>
            <a:pPr marL="0" indent="0">
              <a:buNone/>
            </a:pPr>
            <a:r>
              <a:rPr lang="en-US" sz="1250" b="1" dirty="0">
                <a:solidFill>
                  <a:srgbClr val="0E1E3A"/>
                </a:solidFill>
                <a:latin typeface="Cambria" pitchFamily="34" charset="0"/>
                <a:ea typeface="Cambria" pitchFamily="34" charset="-122"/>
                <a:cs typeface="Cambria" pitchFamily="34" charset="-120"/>
              </a:rPr>
              <a:t>Baseline agent runs</a:t>
            </a:r>
            <a:endParaRPr lang="en-US" sz="1250" dirty="0"/>
          </a:p>
        </p:txBody>
      </p:sp>
      <p:sp>
        <p:nvSpPr>
          <p:cNvPr id="27" name="Text 25"/>
          <p:cNvSpPr/>
          <p:nvPr/>
        </p:nvSpPr>
        <p:spPr>
          <a:xfrm>
            <a:off x="4624730" y="2907792"/>
            <a:ext cx="2942234" cy="877824"/>
          </a:xfrm>
          <a:prstGeom prst="rect">
            <a:avLst/>
          </a:prstGeom>
          <a:noFill/>
          <a:ln/>
        </p:spPr>
        <p:txBody>
          <a:bodyPr wrap="square" lIns="0" tIns="0" rIns="0" bIns="0" rtlCol="0" anchor="t"/>
          <a:lstStyle/>
          <a:p>
            <a:pPr marL="0" indent="0">
              <a:lnSpc>
                <a:spcPct val="106000"/>
              </a:lnSpc>
              <a:buNone/>
            </a:pPr>
            <a:r>
              <a:rPr lang="en-US" sz="950" dirty="0">
                <a:solidFill>
                  <a:srgbClr val="24354F"/>
                </a:solidFill>
                <a:latin typeface="Calibri" pitchFamily="34" charset="0"/>
                <a:ea typeface="Calibri" pitchFamily="34" charset="-122"/>
                <a:cs typeface="Calibri" pitchFamily="34" charset="-120"/>
              </a:rPr>
              <a:t>Mode and lifecycle checks, guard or manifest miss, already-observed tools, shadow mode, calibrated abstention, a clean pre-commit failure with a staging proof, or a verifier rejection before use. Figure 1 groups Algorithm 4's individual fallback returns into these edges.</a:t>
            </a:r>
            <a:endParaRPr lang="en-US" sz="950" dirty="0"/>
          </a:p>
        </p:txBody>
      </p:sp>
      <p:sp>
        <p:nvSpPr>
          <p:cNvPr id="28" name="Shape 26"/>
          <p:cNvSpPr/>
          <p:nvPr/>
        </p:nvSpPr>
        <p:spPr>
          <a:xfrm>
            <a:off x="8097317" y="2322576"/>
            <a:ext cx="3454298" cy="1517904"/>
          </a:xfrm>
          <a:prstGeom prst="roundRect">
            <a:avLst>
              <a:gd name="adj" fmla="val 3012"/>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29" name="Text 27"/>
          <p:cNvSpPr/>
          <p:nvPr/>
        </p:nvSpPr>
        <p:spPr>
          <a:xfrm>
            <a:off x="8335061" y="2450592"/>
            <a:ext cx="548640" cy="438912"/>
          </a:xfrm>
          <a:prstGeom prst="rect">
            <a:avLst/>
          </a:prstGeom>
          <a:noFill/>
          <a:ln/>
        </p:spPr>
        <p:txBody>
          <a:bodyPr wrap="square" lIns="0" tIns="0" rIns="0" bIns="0" rtlCol="0" anchor="ctr"/>
          <a:lstStyle/>
          <a:p>
            <a:pPr marL="0" indent="0">
              <a:buNone/>
            </a:pPr>
            <a:r>
              <a:rPr lang="en-US" sz="2600" b="1" dirty="0">
                <a:solidFill>
                  <a:srgbClr val="A93B2B"/>
                </a:solidFill>
                <a:latin typeface="Cambria" pitchFamily="34" charset="0"/>
                <a:ea typeface="Cambria" pitchFamily="34" charset="-122"/>
                <a:cs typeface="Cambria" pitchFamily="34" charset="-120"/>
              </a:rPr>
              <a:t>1</a:t>
            </a:r>
            <a:endParaRPr lang="en-US" sz="2600" dirty="0"/>
          </a:p>
        </p:txBody>
      </p:sp>
      <p:sp>
        <p:nvSpPr>
          <p:cNvPr id="30" name="Text 28"/>
          <p:cNvSpPr/>
          <p:nvPr/>
        </p:nvSpPr>
        <p:spPr>
          <a:xfrm>
            <a:off x="8920277" y="2487168"/>
            <a:ext cx="2393594" cy="365760"/>
          </a:xfrm>
          <a:prstGeom prst="rect">
            <a:avLst/>
          </a:prstGeom>
          <a:noFill/>
          <a:ln/>
        </p:spPr>
        <p:txBody>
          <a:bodyPr wrap="square" lIns="0" tIns="0" rIns="0" bIns="0" rtlCol="0" anchor="ctr"/>
          <a:lstStyle/>
          <a:p>
            <a:pPr marL="0" indent="0">
              <a:buNone/>
            </a:pPr>
            <a:r>
              <a:rPr lang="en-US" sz="1250" b="1" dirty="0">
                <a:solidFill>
                  <a:srgbClr val="A93B2B"/>
                </a:solidFill>
                <a:latin typeface="Cambria" pitchFamily="34" charset="0"/>
                <a:ea typeface="Cambria" pitchFamily="34" charset="-122"/>
                <a:cs typeface="Cambria" pitchFamily="34" charset="-120"/>
              </a:rPr>
              <a:t>Incident raised</a:t>
            </a:r>
            <a:endParaRPr lang="en-US" sz="1250" dirty="0"/>
          </a:p>
        </p:txBody>
      </p:sp>
      <p:sp>
        <p:nvSpPr>
          <p:cNvPr id="31" name="Text 29"/>
          <p:cNvSpPr/>
          <p:nvPr/>
        </p:nvSpPr>
        <p:spPr>
          <a:xfrm>
            <a:off x="8353349" y="2907792"/>
            <a:ext cx="2942234" cy="877824"/>
          </a:xfrm>
          <a:prstGeom prst="rect">
            <a:avLst/>
          </a:prstGeom>
          <a:noFill/>
          <a:ln/>
        </p:spPr>
        <p:txBody>
          <a:bodyPr wrap="square" lIns="0" tIns="0" rIns="0" bIns="0" rtlCol="0" anchor="t"/>
          <a:lstStyle/>
          <a:p>
            <a:pPr marL="0" indent="0">
              <a:lnSpc>
                <a:spcPct val="106000"/>
              </a:lnSpc>
              <a:buNone/>
            </a:pPr>
            <a:r>
              <a:rPr lang="en-US" sz="1050" dirty="0">
                <a:solidFill>
                  <a:srgbClr val="5C4034"/>
                </a:solidFill>
                <a:latin typeface="Calibri" pitchFamily="34" charset="0"/>
                <a:ea typeface="Calibri" pitchFamily="34" charset="-122"/>
                <a:cs typeface="Calibri" pitchFamily="34" charset="-120"/>
              </a:rPr>
              <a:t>A post-commit failure. An external commitment already happened, so the runtime does not feign a rollback.</a:t>
            </a:r>
            <a:endParaRPr lang="en-US" sz="1050" dirty="0"/>
          </a:p>
        </p:txBody>
      </p:sp>
      <p:sp>
        <p:nvSpPr>
          <p:cNvPr id="32" name="Shape 30"/>
          <p:cNvSpPr/>
          <p:nvPr/>
        </p:nvSpPr>
        <p:spPr>
          <a:xfrm>
            <a:off x="640080" y="4005072"/>
            <a:ext cx="10911535" cy="1700784"/>
          </a:xfrm>
          <a:prstGeom prst="roundRect">
            <a:avLst>
              <a:gd name="adj" fmla="val 2688"/>
            </a:avLst>
          </a:prstGeom>
          <a:solidFill>
            <a:srgbClr val="EAF1F7"/>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33" name="Text 31"/>
          <p:cNvSpPr/>
          <p:nvPr/>
        </p:nvSpPr>
        <p:spPr>
          <a:xfrm>
            <a:off x="896112" y="4133088"/>
            <a:ext cx="10399471" cy="219456"/>
          </a:xfrm>
          <a:prstGeom prst="rect">
            <a:avLst/>
          </a:prstGeom>
          <a:noFill/>
          <a:ln/>
        </p:spPr>
        <p:txBody>
          <a:bodyPr wrap="square" lIns="0" tIns="0" rIns="0" bIns="0" rtlCol="0" anchor="t"/>
          <a:lstStyle/>
          <a:p>
            <a:pPr marL="0" indent="0">
              <a:buNone/>
            </a:pPr>
            <a:r>
              <a:rPr lang="en-US" sz="950" b="1" kern="0" spc="110" dirty="0">
                <a:solidFill>
                  <a:srgbClr val="1F8A99"/>
                </a:solidFill>
                <a:latin typeface="Calibri" pitchFamily="34" charset="0"/>
                <a:ea typeface="Calibri" pitchFamily="34" charset="-122"/>
                <a:cs typeface="Calibri" pitchFamily="34" charset="-120"/>
              </a:rPr>
              <a:t>§3.5.1  WHERE “UNMODIFIED BASELINE” IS EXACT, AND WHERE IT IS NOT</a:t>
            </a:r>
            <a:endParaRPr lang="en-US" sz="950" dirty="0"/>
          </a:p>
        </p:txBody>
      </p:sp>
      <p:sp>
        <p:nvSpPr>
          <p:cNvPr id="34" name="Text 32"/>
          <p:cNvSpPr/>
          <p:nvPr/>
        </p:nvSpPr>
        <p:spPr>
          <a:xfrm>
            <a:off x="896112" y="4407408"/>
            <a:ext cx="5044288" cy="256032"/>
          </a:xfrm>
          <a:prstGeom prst="rect">
            <a:avLst/>
          </a:prstGeom>
          <a:noFill/>
          <a:ln/>
        </p:spPr>
        <p:txBody>
          <a:bodyPr wrap="square" lIns="0" tIns="0" rIns="0" bIns="0" rtlCol="0" anchor="t"/>
          <a:lstStyle/>
          <a:p>
            <a:pPr marL="0" indent="0">
              <a:buNone/>
            </a:pPr>
            <a:r>
              <a:rPr lang="en-US" sz="1200" b="1" dirty="0">
                <a:solidFill>
                  <a:srgbClr val="1F8A99"/>
                </a:solidFill>
                <a:latin typeface="Cambria" pitchFamily="34" charset="0"/>
                <a:ea typeface="Cambria" pitchFamily="34" charset="-122"/>
                <a:cs typeface="Cambria" pitchFamily="34" charset="-120"/>
              </a:rPr>
              <a:t>Outer runner — exact</a:t>
            </a:r>
            <a:endParaRPr lang="en-US" sz="1200" dirty="0"/>
          </a:p>
        </p:txBody>
      </p:sp>
      <p:sp>
        <p:nvSpPr>
          <p:cNvPr id="35" name="Text 33"/>
          <p:cNvSpPr/>
          <p:nvPr/>
        </p:nvSpPr>
        <p:spPr>
          <a:xfrm>
            <a:off x="896112" y="4681728"/>
            <a:ext cx="5044288" cy="914400"/>
          </a:xfrm>
          <a:prstGeom prst="rect">
            <a:avLst/>
          </a:prstGeom>
          <a:noFill/>
          <a:ln/>
        </p:spPr>
        <p:txBody>
          <a:bodyPr wrap="square" lIns="0" tIns="0" rIns="0" bIns="0" rtlCol="0" anchor="t"/>
          <a:lstStyle/>
          <a:p>
            <a:pPr marL="0" indent="0">
              <a:lnSpc>
                <a:spcPct val="106000"/>
              </a:lnSpc>
              <a:buNone/>
            </a:pPr>
            <a:r>
              <a:rPr lang="en-US" sz="1050" dirty="0">
                <a:solidFill>
                  <a:srgbClr val="24354F"/>
                </a:solidFill>
                <a:latin typeface="Calibri" pitchFamily="34" charset="0"/>
                <a:ea typeface="Calibri" pitchFamily="34" charset="-122"/>
                <a:cs typeface="Calibri" pitchFamily="34" charset="-120"/>
              </a:rPr>
              <a:t>It owns the entry snapshot and the commit boundary, so a rejected attempt restores byte-identical model-visible input. “The baseline runs unchanged” holds at every failure point.</a:t>
            </a:r>
            <a:endParaRPr lang="en-US" sz="1050" dirty="0"/>
          </a:p>
        </p:txBody>
      </p:sp>
      <p:sp>
        <p:nvSpPr>
          <p:cNvPr id="36" name="Text 34"/>
          <p:cNvSpPr/>
          <p:nvPr/>
        </p:nvSpPr>
        <p:spPr>
          <a:xfrm>
            <a:off x="6251296" y="4407408"/>
            <a:ext cx="5044288" cy="256032"/>
          </a:xfrm>
          <a:prstGeom prst="rect">
            <a:avLst/>
          </a:prstGeom>
          <a:noFill/>
          <a:ln/>
        </p:spPr>
        <p:txBody>
          <a:bodyPr wrap="square" lIns="0" tIns="0" rIns="0" bIns="0" rtlCol="0" anchor="t"/>
          <a:lstStyle/>
          <a:p>
            <a:pPr marL="0" indent="0">
              <a:buNone/>
            </a:pPr>
            <a:r>
              <a:rPr lang="en-US" sz="1200" b="1" dirty="0">
                <a:solidFill>
                  <a:srgbClr val="A93B2B"/>
                </a:solidFill>
                <a:latin typeface="Cambria" pitchFamily="34" charset="0"/>
                <a:ea typeface="Cambria" pitchFamily="34" charset="-122"/>
                <a:cs typeface="Cambria" pitchFamily="34" charset="-120"/>
              </a:rPr>
              <a:t>Model-boundary adapter — weaker</a:t>
            </a:r>
            <a:endParaRPr lang="en-US" sz="1200" dirty="0"/>
          </a:p>
        </p:txBody>
      </p:sp>
      <p:sp>
        <p:nvSpPr>
          <p:cNvPr id="37" name="Text 35"/>
          <p:cNvSpPr/>
          <p:nvPr/>
        </p:nvSpPr>
        <p:spPr>
          <a:xfrm>
            <a:off x="6251296" y="4681728"/>
            <a:ext cx="5044288" cy="914400"/>
          </a:xfrm>
          <a:prstGeom prst="rect">
            <a:avLst/>
          </a:prstGeom>
          <a:noFill/>
          <a:ln/>
        </p:spPr>
        <p:txBody>
          <a:bodyPr wrap="square" lIns="0" tIns="0" rIns="0" bIns="0" rtlCol="0" anchor="t"/>
          <a:lstStyle/>
          <a:p>
            <a:pPr marL="0" indent="0">
              <a:lnSpc>
                <a:spcPct val="106000"/>
              </a:lnSpc>
              <a:buNone/>
            </a:pPr>
            <a:r>
              <a:rPr lang="en-US" sz="1050" dirty="0">
                <a:solidFill>
                  <a:srgbClr val="24354F"/>
                </a:solidFill>
                <a:latin typeface="Calibri" pitchFamily="34" charset="0"/>
                <a:ea typeface="Calibri" pitchFamily="34" charset="-122"/>
                <a:cs typeface="Calibri" pitchFamily="34" charset="-120"/>
              </a:rPr>
              <a:t>Once it has returned a synthesized ModelResponse, the host runner may already have committed that item to session history, and the Model interface provides no way to withdraw it. A verifier failure after that point delegates to the wrapped model with a history the baseline would never have contained.</a:t>
            </a:r>
            <a:endParaRPr lang="en-US" sz="1050" dirty="0"/>
          </a:p>
        </p:txBody>
      </p:sp>
      <p:sp>
        <p:nvSpPr>
          <p:cNvPr id="38" name="Text 36"/>
          <p:cNvSpPr/>
          <p:nvPr/>
        </p:nvSpPr>
        <p:spPr>
          <a:xfrm>
            <a:off x="640080" y="5815584"/>
            <a:ext cx="10911535" cy="457200"/>
          </a:xfrm>
          <a:prstGeom prst="rect">
            <a:avLst/>
          </a:prstGeom>
          <a:noFill/>
          <a:ln/>
        </p:spPr>
        <p:txBody>
          <a:bodyPr wrap="square" lIns="0" tIns="0" rIns="0" bIns="0" rtlCol="0" anchor="t"/>
          <a:lstStyle/>
          <a:p>
            <a:pPr marL="0" indent="0">
              <a:lnSpc>
                <a:spcPct val="105000"/>
              </a:lnSpc>
              <a:buNone/>
            </a:pPr>
            <a:r>
              <a:rPr lang="en-US" sz="1000" i="1" dirty="0">
                <a:solidFill>
                  <a:srgbClr val="5A6B84"/>
                </a:solidFill>
                <a:latin typeface="Calibri" pitchFamily="34" charset="0"/>
                <a:ea typeface="Calibri" pitchFamily="34" charset="-122"/>
                <a:cs typeface="Calibri" pitchFamily="34" charset="-120"/>
              </a:rPr>
              <a:t>Every check that can reject before emission — lifecycle, signature, manifest pins, hard guard, already-observed tools, quota attestation, and the calibrated gate — is therefore exact for both paths. Only post-emission verifier or binding failures are weaker for the adapter. A general solution requires artifacts to target explicit control points with continuation tokens rather than implicit model boundaries.</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E3A"/>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43597C"/>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43597C"/>
                </a:solidFill>
                <a:latin typeface="Calibri" pitchFamily="34" charset="0"/>
                <a:ea typeface="Calibri" pitchFamily="34" charset="-122"/>
                <a:cs typeface="Calibri" pitchFamily="34" charset="-120"/>
              </a:rPr>
              <a:t>15</a:t>
            </a:r>
            <a:endParaRPr lang="en-US" sz="900" dirty="0"/>
          </a:p>
        </p:txBody>
      </p:sp>
      <p:sp>
        <p:nvSpPr>
          <p:cNvPr id="4" name="Shape 2"/>
          <p:cNvSpPr/>
          <p:nvPr/>
        </p:nvSpPr>
        <p:spPr>
          <a:xfrm>
            <a:off x="9326880" y="914400"/>
            <a:ext cx="5120640" cy="5120640"/>
          </a:xfrm>
          <a:prstGeom prst="ellipse">
            <a:avLst/>
          </a:prstGeom>
          <a:solidFill>
            <a:srgbClr val="1A3563">
              <a:alpha val="60000"/>
            </a:srgbClr>
          </a:solidFill>
          <a:ln w="12700">
            <a:solidFill>
              <a:srgbClr val="1A3563"/>
            </a:solidFill>
            <a:prstDash val="solid"/>
          </a:ln>
        </p:spPr>
        <p:txBody>
          <a:bodyPr/>
          <a:lstStyle/>
          <a:p>
            <a:endParaRPr lang="en-US"/>
          </a:p>
        </p:txBody>
      </p:sp>
      <p:sp>
        <p:nvSpPr>
          <p:cNvPr id="5" name="Shape 3"/>
          <p:cNvSpPr/>
          <p:nvPr/>
        </p:nvSpPr>
        <p:spPr>
          <a:xfrm>
            <a:off x="10607040" y="2194560"/>
            <a:ext cx="2560320" cy="2560320"/>
          </a:xfrm>
          <a:prstGeom prst="ellipse">
            <a:avLst/>
          </a:prstGeom>
          <a:solidFill>
            <a:srgbClr val="1F8A99">
              <a:alpha val="45000"/>
            </a:srgbClr>
          </a:solidFill>
          <a:ln w="12700">
            <a:solidFill>
              <a:srgbClr val="1F8A99"/>
            </a:solidFill>
            <a:prstDash val="solid"/>
          </a:ln>
        </p:spPr>
        <p:txBody>
          <a:bodyPr/>
          <a:lstStyle/>
          <a:p>
            <a:endParaRPr lang="en-US"/>
          </a:p>
        </p:txBody>
      </p:sp>
      <p:sp>
        <p:nvSpPr>
          <p:cNvPr id="6" name="Text 4"/>
          <p:cNvSpPr/>
          <p:nvPr/>
        </p:nvSpPr>
        <p:spPr>
          <a:xfrm>
            <a:off x="640080" y="2148840"/>
            <a:ext cx="1463040" cy="1371600"/>
          </a:xfrm>
          <a:prstGeom prst="rect">
            <a:avLst/>
          </a:prstGeom>
          <a:noFill/>
          <a:ln/>
        </p:spPr>
        <p:txBody>
          <a:bodyPr wrap="square" lIns="0" tIns="0" rIns="0" bIns="0" rtlCol="0" anchor="ctr"/>
          <a:lstStyle/>
          <a:p>
            <a:pPr marL="0" indent="0">
              <a:buNone/>
            </a:pPr>
            <a:r>
              <a:rPr lang="en-US" sz="7600" b="1" dirty="0">
                <a:solidFill>
                  <a:srgbClr val="56B3BE"/>
                </a:solidFill>
                <a:latin typeface="Cambria" pitchFamily="34" charset="0"/>
                <a:ea typeface="Cambria" pitchFamily="34" charset="-122"/>
                <a:cs typeface="Cambria" pitchFamily="34" charset="-120"/>
              </a:rPr>
              <a:t>III</a:t>
            </a:r>
            <a:endParaRPr lang="en-US" sz="7600" dirty="0"/>
          </a:p>
        </p:txBody>
      </p:sp>
      <p:sp>
        <p:nvSpPr>
          <p:cNvPr id="7" name="Text 5"/>
          <p:cNvSpPr/>
          <p:nvPr/>
        </p:nvSpPr>
        <p:spPr>
          <a:xfrm>
            <a:off x="2240280" y="2286000"/>
            <a:ext cx="6766560" cy="685800"/>
          </a:xfrm>
          <a:prstGeom prst="rect">
            <a:avLst/>
          </a:prstGeom>
          <a:noFill/>
          <a:ln/>
        </p:spPr>
        <p:txBody>
          <a:bodyPr wrap="square" lIns="0" tIns="0" rIns="0" bIns="0" rtlCol="0" anchor="ctr"/>
          <a:lstStyle/>
          <a:p>
            <a:pPr marL="0" indent="0">
              <a:buNone/>
            </a:pPr>
            <a:r>
              <a:rPr lang="en-US" sz="3400" b="1" dirty="0">
                <a:solidFill>
                  <a:srgbClr val="FFFFFF"/>
                </a:solidFill>
                <a:latin typeface="Cambria" pitchFamily="34" charset="0"/>
                <a:ea typeface="Cambria" pitchFamily="34" charset="-122"/>
                <a:cs typeface="Cambria" pitchFamily="34" charset="-120"/>
              </a:rPr>
              <a:t>Evidence and results</a:t>
            </a:r>
            <a:endParaRPr lang="en-US" sz="3400" dirty="0"/>
          </a:p>
        </p:txBody>
      </p:sp>
      <p:sp>
        <p:nvSpPr>
          <p:cNvPr id="8" name="Text 6"/>
          <p:cNvSpPr/>
          <p:nvPr/>
        </p:nvSpPr>
        <p:spPr>
          <a:xfrm>
            <a:off x="2267712" y="3017520"/>
            <a:ext cx="6675120" cy="731520"/>
          </a:xfrm>
          <a:prstGeom prst="rect">
            <a:avLst/>
          </a:prstGeom>
          <a:noFill/>
          <a:ln/>
        </p:spPr>
        <p:txBody>
          <a:bodyPr wrap="square" lIns="0" tIns="0" rIns="0" bIns="0" rtlCol="0" anchor="t"/>
          <a:lstStyle/>
          <a:p>
            <a:pPr marL="0" indent="0">
              <a:lnSpc>
                <a:spcPct val="110000"/>
              </a:lnSpc>
              <a:buNone/>
            </a:pPr>
            <a:r>
              <a:rPr lang="en-US" sz="1350" dirty="0">
                <a:solidFill>
                  <a:srgbClr val="9BD0D6"/>
                </a:solidFill>
                <a:latin typeface="Calibri" pitchFamily="34" charset="0"/>
                <a:ea typeface="Calibri" pitchFamily="34" charset="-122"/>
                <a:cs typeface="Calibri" pitchFamily="34" charset="-120"/>
              </a:rPr>
              <a:t>Three non-overlapping tiers, six directional hypotheses, and results reported with their denominators intact.</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16</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METHODOLOGY  ·  §4.1</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Three evidence tiers and six directional hypotheses</a:t>
            </a:r>
            <a:endParaRPr lang="en-US" sz="2600" dirty="0"/>
          </a:p>
        </p:txBody>
      </p:sp>
      <p:sp>
        <p:nvSpPr>
          <p:cNvPr id="6" name="Shape 4"/>
          <p:cNvSpPr/>
          <p:nvPr/>
        </p:nvSpPr>
        <p:spPr>
          <a:xfrm>
            <a:off x="640080" y="1188720"/>
            <a:ext cx="3454298" cy="3200400"/>
          </a:xfrm>
          <a:prstGeom prst="roundRect">
            <a:avLst>
              <a:gd name="adj" fmla="val 1429"/>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7" name="Shape 5"/>
          <p:cNvSpPr/>
          <p:nvPr/>
        </p:nvSpPr>
        <p:spPr>
          <a:xfrm>
            <a:off x="877824" y="1353312"/>
            <a:ext cx="384048" cy="384048"/>
          </a:xfrm>
          <a:prstGeom prst="ellipse">
            <a:avLst/>
          </a:prstGeom>
          <a:solidFill>
            <a:srgbClr val="1F8A99"/>
          </a:solidFill>
          <a:ln w="6350">
            <a:solidFill>
              <a:srgbClr val="1F8A99"/>
            </a:solidFill>
            <a:prstDash val="solid"/>
          </a:ln>
        </p:spPr>
        <p:txBody>
          <a:bodyPr/>
          <a:lstStyle/>
          <a:p>
            <a:endParaRPr lang="en-US"/>
          </a:p>
        </p:txBody>
      </p:sp>
      <p:sp>
        <p:nvSpPr>
          <p:cNvPr id="8" name="Text 6"/>
          <p:cNvSpPr/>
          <p:nvPr/>
        </p:nvSpPr>
        <p:spPr>
          <a:xfrm>
            <a:off x="877824" y="1353312"/>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p:nvPr/>
        </p:nvSpPr>
        <p:spPr>
          <a:xfrm>
            <a:off x="877824" y="1828800"/>
            <a:ext cx="2978810" cy="548640"/>
          </a:xfrm>
          <a:prstGeom prst="rect">
            <a:avLst/>
          </a:prstGeom>
          <a:noFill/>
          <a:ln/>
        </p:spPr>
        <p:txBody>
          <a:bodyPr wrap="square" lIns="0" tIns="0" rIns="0" bIns="0" rtlCol="0" anchor="t"/>
          <a:lstStyle/>
          <a:p>
            <a:pPr marL="0" indent="0">
              <a:lnSpc>
                <a:spcPct val="100000"/>
              </a:lnSpc>
              <a:buNone/>
            </a:pPr>
            <a:r>
              <a:rPr lang="en-US" sz="1350" b="1" dirty="0">
                <a:solidFill>
                  <a:srgbClr val="0E1E3A"/>
                </a:solidFill>
                <a:latin typeface="Cambria" pitchFamily="34" charset="0"/>
                <a:ea typeface="Cambria" pitchFamily="34" charset="-122"/>
                <a:cs typeface="Cambria" pitchFamily="34" charset="-120"/>
              </a:rPr>
              <a:t>External executable benchmark</a:t>
            </a:r>
            <a:endParaRPr lang="en-US" sz="1350" dirty="0"/>
          </a:p>
        </p:txBody>
      </p:sp>
      <p:sp>
        <p:nvSpPr>
          <p:cNvPr id="10" name="Text 8"/>
          <p:cNvSpPr/>
          <p:nvPr/>
        </p:nvSpPr>
        <p:spPr>
          <a:xfrm>
            <a:off x="877824" y="2377440"/>
            <a:ext cx="2978810" cy="457200"/>
          </a:xfrm>
          <a:prstGeom prst="rect">
            <a:avLst/>
          </a:prstGeom>
          <a:noFill/>
          <a:ln/>
        </p:spPr>
        <p:txBody>
          <a:bodyPr wrap="square" lIns="0" tIns="0" rIns="0" bIns="0" rtlCol="0" anchor="t"/>
          <a:lstStyle/>
          <a:p>
            <a:pPr marL="0" indent="0">
              <a:lnSpc>
                <a:spcPct val="102000"/>
              </a:lnSpc>
              <a:buNone/>
            </a:pPr>
            <a:r>
              <a:rPr lang="en-US" sz="1000" i="1" dirty="0">
                <a:solidFill>
                  <a:srgbClr val="1F8A99"/>
                </a:solidFill>
                <a:latin typeface="Calibri" pitchFamily="34" charset="0"/>
                <a:ea typeface="Calibri" pitchFamily="34" charset="-122"/>
                <a:cs typeface="Calibri" pitchFamily="34" charset="-120"/>
              </a:rPr>
              <a:t>NESTFUL — 1,861 records, 1,416 in the audited module, 1,415 executing</a:t>
            </a:r>
            <a:endParaRPr lang="en-US" sz="1000" dirty="0"/>
          </a:p>
        </p:txBody>
      </p:sp>
      <p:sp>
        <p:nvSpPr>
          <p:cNvPr id="11" name="Text 9"/>
          <p:cNvSpPr/>
          <p:nvPr/>
        </p:nvSpPr>
        <p:spPr>
          <a:xfrm>
            <a:off x="896112" y="2889504"/>
            <a:ext cx="2942234" cy="1371600"/>
          </a:xfrm>
          <a:prstGeom prst="rect">
            <a:avLst/>
          </a:prstGeom>
          <a:noFill/>
          <a:ln/>
        </p:spPr>
        <p:txBody>
          <a:bodyPr wrap="square" lIns="0" tIns="0" rIns="0" bIns="0" rtlCol="0" anchor="t"/>
          <a:lstStyle/>
          <a:p>
            <a:pPr marL="342900" indent="-342900">
              <a:lnSpc>
                <a:spcPct val="105000"/>
              </a:lnSpc>
              <a:spcAft>
                <a:spcPts val="500"/>
              </a:spcAft>
              <a:buSzPct val="100000"/>
              <a:buChar char="•"/>
            </a:pPr>
            <a:r>
              <a:rPr lang="en-US" sz="1000" dirty="0">
                <a:solidFill>
                  <a:srgbClr val="24354F"/>
                </a:solidFill>
                <a:latin typeface="Calibri" pitchFamily="34" charset="0"/>
                <a:ea typeface="Calibri" pitchFamily="34" charset="-122"/>
                <a:cs typeface="Calibri" pitchFamily="34" charset="-120"/>
              </a:rPr>
              <a:t>Tests dependency reconstruction, synthesis, and refusal on public data with no model calls at all</a:t>
            </a:r>
            <a:endParaRPr lang="en-US" sz="1000" dirty="0"/>
          </a:p>
          <a:p>
            <a:pPr marL="342900" indent="-342900">
              <a:lnSpc>
                <a:spcPct val="105000"/>
              </a:lnSpc>
              <a:spcAft>
                <a:spcPts val="500"/>
              </a:spcAft>
              <a:buSzPct val="100000"/>
              <a:buChar char="•"/>
            </a:pPr>
            <a:r>
              <a:rPr lang="en-US" sz="1000" dirty="0">
                <a:solidFill>
                  <a:srgbClr val="24354F"/>
                </a:solidFill>
                <a:latin typeface="Calibri" pitchFamily="34" charset="0"/>
                <a:ea typeface="Calibri" pitchFamily="34" charset="-122"/>
                <a:cs typeface="Calibri" pitchFamily="34" charset="-120"/>
              </a:rPr>
              <a:t>Per-family split is lexicographic by episode identifier, so it tests held-out windows, not distribution shift</a:t>
            </a:r>
            <a:endParaRPr lang="en-US" sz="1000" dirty="0"/>
          </a:p>
          <a:p>
            <a:pPr marL="342900" indent="-342900">
              <a:lnSpc>
                <a:spcPct val="105000"/>
              </a:lnSpc>
              <a:spcAft>
                <a:spcPts val="500"/>
              </a:spcAft>
              <a:buSzPct val="100000"/>
              <a:buChar char="•"/>
            </a:pPr>
            <a:r>
              <a:rPr lang="en-US" sz="1000" dirty="0">
                <a:solidFill>
                  <a:srgbClr val="24354F"/>
                </a:solidFill>
                <a:latin typeface="Calibri" pitchFamily="34" charset="0"/>
                <a:ea typeface="Calibri" pitchFamily="34" charset="-122"/>
                <a:cs typeface="Calibri" pitchFamily="34" charset="-120"/>
              </a:rPr>
              <a:t>Builds provenance, mining, synthesis and replay directly rather than invoking the full compiler</a:t>
            </a:r>
            <a:endParaRPr lang="en-US" sz="1000" dirty="0"/>
          </a:p>
        </p:txBody>
      </p:sp>
      <p:sp>
        <p:nvSpPr>
          <p:cNvPr id="12" name="Shape 10"/>
          <p:cNvSpPr/>
          <p:nvPr/>
        </p:nvSpPr>
        <p:spPr>
          <a:xfrm>
            <a:off x="4368698" y="1188720"/>
            <a:ext cx="3454298" cy="3200400"/>
          </a:xfrm>
          <a:prstGeom prst="roundRect">
            <a:avLst>
              <a:gd name="adj" fmla="val 1429"/>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13" name="Shape 11"/>
          <p:cNvSpPr/>
          <p:nvPr/>
        </p:nvSpPr>
        <p:spPr>
          <a:xfrm>
            <a:off x="4606442" y="1353312"/>
            <a:ext cx="384048" cy="384048"/>
          </a:xfrm>
          <a:prstGeom prst="ellipse">
            <a:avLst/>
          </a:prstGeom>
          <a:solidFill>
            <a:srgbClr val="1A3563"/>
          </a:solidFill>
          <a:ln w="6350">
            <a:solidFill>
              <a:srgbClr val="1A3563"/>
            </a:solidFill>
            <a:prstDash val="solid"/>
          </a:ln>
        </p:spPr>
        <p:txBody>
          <a:bodyPr/>
          <a:lstStyle/>
          <a:p>
            <a:endParaRPr lang="en-US"/>
          </a:p>
        </p:txBody>
      </p:sp>
      <p:sp>
        <p:nvSpPr>
          <p:cNvPr id="14" name="Text 12"/>
          <p:cNvSpPr/>
          <p:nvPr/>
        </p:nvSpPr>
        <p:spPr>
          <a:xfrm>
            <a:off x="4606442" y="1353312"/>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p:nvPr/>
        </p:nvSpPr>
        <p:spPr>
          <a:xfrm>
            <a:off x="4606442" y="1828800"/>
            <a:ext cx="2978810" cy="548640"/>
          </a:xfrm>
          <a:prstGeom prst="rect">
            <a:avLst/>
          </a:prstGeom>
          <a:noFill/>
          <a:ln/>
        </p:spPr>
        <p:txBody>
          <a:bodyPr wrap="square" lIns="0" tIns="0" rIns="0" bIns="0" rtlCol="0" anchor="t"/>
          <a:lstStyle/>
          <a:p>
            <a:pPr marL="0" indent="0">
              <a:lnSpc>
                <a:spcPct val="100000"/>
              </a:lnSpc>
              <a:buNone/>
            </a:pPr>
            <a:r>
              <a:rPr lang="en-US" sz="1350" b="1" dirty="0">
                <a:solidFill>
                  <a:srgbClr val="0E1E3A"/>
                </a:solidFill>
                <a:latin typeface="Cambria" pitchFamily="34" charset="0"/>
                <a:ea typeface="Cambria" pitchFamily="34" charset="-122"/>
                <a:cs typeface="Cambria" pitchFamily="34" charset="-120"/>
              </a:rPr>
              <a:t>Real records, live provider</a:t>
            </a:r>
            <a:endParaRPr lang="en-US" sz="1350" dirty="0"/>
          </a:p>
        </p:txBody>
      </p:sp>
      <p:sp>
        <p:nvSpPr>
          <p:cNvPr id="16" name="Text 14"/>
          <p:cNvSpPr/>
          <p:nvPr/>
        </p:nvSpPr>
        <p:spPr>
          <a:xfrm>
            <a:off x="4606442" y="2377440"/>
            <a:ext cx="2978810" cy="457200"/>
          </a:xfrm>
          <a:prstGeom prst="rect">
            <a:avLst/>
          </a:prstGeom>
          <a:noFill/>
          <a:ln/>
        </p:spPr>
        <p:txBody>
          <a:bodyPr wrap="square" lIns="0" tIns="0" rIns="0" bIns="0" rtlCol="0" anchor="t"/>
          <a:lstStyle/>
          <a:p>
            <a:pPr marL="0" indent="0">
              <a:lnSpc>
                <a:spcPct val="102000"/>
              </a:lnSpc>
              <a:buNone/>
            </a:pPr>
            <a:r>
              <a:rPr lang="en-US" sz="1000" i="1" dirty="0">
                <a:solidFill>
                  <a:srgbClr val="1F8A99"/>
                </a:solidFill>
                <a:latin typeface="Calibri" pitchFamily="34" charset="0"/>
                <a:ea typeface="Calibri" pitchFamily="34" charset="-122"/>
                <a:cs typeface="Calibri" pitchFamily="34" charset="-120"/>
              </a:rPr>
              <a:t>Four GitHub protocols on a pinned 12.7 MB Apache-2.0 snapshot</a:t>
            </a:r>
            <a:endParaRPr lang="en-US" sz="1000" dirty="0"/>
          </a:p>
        </p:txBody>
      </p:sp>
      <p:sp>
        <p:nvSpPr>
          <p:cNvPr id="17" name="Text 15"/>
          <p:cNvSpPr/>
          <p:nvPr/>
        </p:nvSpPr>
        <p:spPr>
          <a:xfrm>
            <a:off x="4624730" y="2889504"/>
            <a:ext cx="2942234" cy="1371600"/>
          </a:xfrm>
          <a:prstGeom prst="rect">
            <a:avLst/>
          </a:prstGeom>
          <a:noFill/>
          <a:ln/>
        </p:spPr>
        <p:txBody>
          <a:bodyPr wrap="square" lIns="0" tIns="0" rIns="0" bIns="0" rtlCol="0" anchor="t"/>
          <a:lstStyle/>
          <a:p>
            <a:pPr marL="342900" indent="-342900">
              <a:lnSpc>
                <a:spcPct val="105000"/>
              </a:lnSpc>
              <a:spcAft>
                <a:spcPts val="500"/>
              </a:spcAft>
              <a:buSzPct val="100000"/>
              <a:buChar char="•"/>
            </a:pPr>
            <a:r>
              <a:rPr lang="en-US" sz="1000" dirty="0">
                <a:solidFill>
                  <a:srgbClr val="24354F"/>
                </a:solidFill>
                <a:latin typeface="Calibri" pitchFamily="34" charset="0"/>
                <a:ea typeface="Calibri" pitchFamily="34" charset="-122"/>
                <a:cs typeface="Calibri" pitchFamily="34" charset="-120"/>
              </a:rPr>
              <a:t>The first protocol prescribes a fixed prefix as a conformance ablation</a:t>
            </a:r>
            <a:endParaRPr lang="en-US" sz="1000" dirty="0"/>
          </a:p>
          <a:p>
            <a:pPr marL="342900" indent="-342900">
              <a:lnSpc>
                <a:spcPct val="105000"/>
              </a:lnSpc>
              <a:spcAft>
                <a:spcPts val="500"/>
              </a:spcAft>
              <a:buSzPct val="100000"/>
              <a:buChar char="•"/>
            </a:pPr>
            <a:r>
              <a:rPr lang="en-US" sz="1000" dirty="0">
                <a:solidFill>
                  <a:srgbClr val="24354F"/>
                </a:solidFill>
                <a:latin typeface="Calibri" pitchFamily="34" charset="0"/>
                <a:ea typeface="Calibri" pitchFamily="34" charset="-122"/>
                <a:cs typeface="Calibri" pitchFamily="34" charset="-120"/>
              </a:rPr>
              <a:t>The review-driven follow-up and its expanded replication name required facts but no tool functions and no order</a:t>
            </a:r>
            <a:endParaRPr lang="en-US" sz="1000" dirty="0"/>
          </a:p>
          <a:p>
            <a:pPr marL="342900" indent="-342900">
              <a:lnSpc>
                <a:spcPct val="105000"/>
              </a:lnSpc>
              <a:spcAft>
                <a:spcPts val="500"/>
              </a:spcAft>
              <a:buSzPct val="100000"/>
              <a:buChar char="•"/>
            </a:pPr>
            <a:r>
              <a:rPr lang="en-US" sz="1000" dirty="0">
                <a:solidFill>
                  <a:srgbClr val="24354F"/>
                </a:solidFill>
                <a:latin typeface="Calibri" pitchFamily="34" charset="0"/>
                <a:ea typeface="Calibri" pitchFamily="34" charset="-122"/>
                <a:cs typeface="Calibri" pitchFamily="34" charset="-120"/>
              </a:rPr>
              <a:t>A prospective portfolio pilot freezes the replication as selection evidence, then runs 12 fresh records</a:t>
            </a:r>
            <a:endParaRPr lang="en-US" sz="1000" dirty="0"/>
          </a:p>
        </p:txBody>
      </p:sp>
      <p:sp>
        <p:nvSpPr>
          <p:cNvPr id="18" name="Shape 16"/>
          <p:cNvSpPr/>
          <p:nvPr/>
        </p:nvSpPr>
        <p:spPr>
          <a:xfrm>
            <a:off x="8097317" y="1188720"/>
            <a:ext cx="3454298" cy="3200400"/>
          </a:xfrm>
          <a:prstGeom prst="roundRect">
            <a:avLst>
              <a:gd name="adj" fmla="val 1429"/>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19" name="Shape 17"/>
          <p:cNvSpPr/>
          <p:nvPr/>
        </p:nvSpPr>
        <p:spPr>
          <a:xfrm>
            <a:off x="8335061" y="1353312"/>
            <a:ext cx="384048" cy="384048"/>
          </a:xfrm>
          <a:prstGeom prst="ellipse">
            <a:avLst/>
          </a:prstGeom>
          <a:solidFill>
            <a:srgbClr val="56B3BE"/>
          </a:solidFill>
          <a:ln w="6350">
            <a:solidFill>
              <a:srgbClr val="56B3BE"/>
            </a:solidFill>
            <a:prstDash val="solid"/>
          </a:ln>
        </p:spPr>
        <p:txBody>
          <a:bodyPr/>
          <a:lstStyle/>
          <a:p>
            <a:endParaRPr lang="en-US"/>
          </a:p>
        </p:txBody>
      </p:sp>
      <p:sp>
        <p:nvSpPr>
          <p:cNvPr id="20" name="Text 18"/>
          <p:cNvSpPr/>
          <p:nvPr/>
        </p:nvSpPr>
        <p:spPr>
          <a:xfrm>
            <a:off x="8335061" y="1353312"/>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1" name="Text 19"/>
          <p:cNvSpPr/>
          <p:nvPr/>
        </p:nvSpPr>
        <p:spPr>
          <a:xfrm>
            <a:off x="8335061" y="1828800"/>
            <a:ext cx="2978810" cy="548640"/>
          </a:xfrm>
          <a:prstGeom prst="rect">
            <a:avLst/>
          </a:prstGeom>
          <a:noFill/>
          <a:ln/>
        </p:spPr>
        <p:txBody>
          <a:bodyPr wrap="square" lIns="0" tIns="0" rIns="0" bIns="0" rtlCol="0" anchor="t"/>
          <a:lstStyle/>
          <a:p>
            <a:pPr marL="0" indent="0">
              <a:lnSpc>
                <a:spcPct val="100000"/>
              </a:lnSpc>
              <a:buNone/>
            </a:pPr>
            <a:r>
              <a:rPr lang="en-US" sz="1350" b="1" dirty="0">
                <a:solidFill>
                  <a:srgbClr val="0E1E3A"/>
                </a:solidFill>
                <a:latin typeface="Cambria" pitchFamily="34" charset="0"/>
                <a:ea typeface="Cambria" pitchFamily="34" charset="-122"/>
                <a:cs typeface="Cambria" pitchFamily="34" charset="-120"/>
              </a:rPr>
              <a:t>Controlled demonstration suite</a:t>
            </a:r>
            <a:endParaRPr lang="en-US" sz="1350" dirty="0"/>
          </a:p>
        </p:txBody>
      </p:sp>
      <p:sp>
        <p:nvSpPr>
          <p:cNvPr id="22" name="Text 20"/>
          <p:cNvSpPr/>
          <p:nvPr/>
        </p:nvSpPr>
        <p:spPr>
          <a:xfrm>
            <a:off x="8335061" y="2377440"/>
            <a:ext cx="2978810" cy="457200"/>
          </a:xfrm>
          <a:prstGeom prst="rect">
            <a:avLst/>
          </a:prstGeom>
          <a:noFill/>
          <a:ln/>
        </p:spPr>
        <p:txBody>
          <a:bodyPr wrap="square" lIns="0" tIns="0" rIns="0" bIns="0" rtlCol="0" anchor="t"/>
          <a:lstStyle/>
          <a:p>
            <a:pPr marL="0" indent="0">
              <a:lnSpc>
                <a:spcPct val="102000"/>
              </a:lnSpc>
              <a:buNone/>
            </a:pPr>
            <a:r>
              <a:rPr lang="en-US" sz="1000" i="1" dirty="0">
                <a:solidFill>
                  <a:srgbClr val="1F8A99"/>
                </a:solidFill>
                <a:latin typeface="Calibri" pitchFamily="34" charset="0"/>
                <a:ea typeface="Calibri" pitchFamily="34" charset="-122"/>
                <a:cs typeface="Calibri" pitchFamily="34" charset="-120"/>
              </a:rPr>
              <a:t>Six workflow shapes, eight conditions, real SDK runtime</a:t>
            </a:r>
            <a:endParaRPr lang="en-US" sz="1000" dirty="0"/>
          </a:p>
        </p:txBody>
      </p:sp>
      <p:sp>
        <p:nvSpPr>
          <p:cNvPr id="23" name="Text 21"/>
          <p:cNvSpPr/>
          <p:nvPr/>
        </p:nvSpPr>
        <p:spPr>
          <a:xfrm>
            <a:off x="8353349" y="2889504"/>
            <a:ext cx="2942234" cy="1371600"/>
          </a:xfrm>
          <a:prstGeom prst="rect">
            <a:avLst/>
          </a:prstGeom>
          <a:noFill/>
          <a:ln/>
        </p:spPr>
        <p:txBody>
          <a:bodyPr wrap="square" lIns="0" tIns="0" rIns="0" bIns="0" rtlCol="0" anchor="t"/>
          <a:lstStyle/>
          <a:p>
            <a:pPr marL="342900" indent="-342900">
              <a:lnSpc>
                <a:spcPct val="105000"/>
              </a:lnSpc>
              <a:spcAft>
                <a:spcPts val="500"/>
              </a:spcAft>
              <a:buSzPct val="100000"/>
              <a:buChar char="•"/>
            </a:pPr>
            <a:r>
              <a:rPr lang="en-US" sz="1000" dirty="0">
                <a:solidFill>
                  <a:srgbClr val="24354F"/>
                </a:solidFill>
                <a:latin typeface="Calibri" pitchFamily="34" charset="0"/>
                <a:ea typeface="Calibri" pitchFamily="34" charset="-122"/>
                <a:cs typeface="Calibri" pitchFamily="34" charset="-120"/>
              </a:rPr>
              <a:t>Covers observation-dependent branches, pagination, a mandatory irreversible write, a handoff barrier, an undeclared-effect MCP surface</a:t>
            </a:r>
            <a:endParaRPr lang="en-US" sz="1000" dirty="0"/>
          </a:p>
          <a:p>
            <a:pPr marL="342900" indent="-342900">
              <a:lnSpc>
                <a:spcPct val="105000"/>
              </a:lnSpc>
              <a:spcAft>
                <a:spcPts val="500"/>
              </a:spcAft>
              <a:buSzPct val="100000"/>
              <a:buChar char="•"/>
            </a:pPr>
            <a:r>
              <a:rPr lang="en-US" sz="1000" dirty="0">
                <a:solidFill>
                  <a:srgbClr val="24354F"/>
                </a:solidFill>
                <a:latin typeface="Calibri" pitchFamily="34" charset="0"/>
                <a:ea typeface="Calibri" pitchFamily="34" charset="-122"/>
                <a:cs typeface="Calibri" pitchFamily="34" charset="-120"/>
              </a:rPr>
              <a:t>Three conditions are negative controls whose only correct outcome is no compaction</a:t>
            </a:r>
            <a:endParaRPr lang="en-US" sz="1000" dirty="0"/>
          </a:p>
          <a:p>
            <a:pPr marL="342900" indent="-342900">
              <a:lnSpc>
                <a:spcPct val="105000"/>
              </a:lnSpc>
              <a:spcAft>
                <a:spcPts val="500"/>
              </a:spcAft>
              <a:buSzPct val="100000"/>
              <a:buChar char="•"/>
            </a:pPr>
            <a:r>
              <a:rPr lang="en-US" sz="1000" dirty="0">
                <a:solidFill>
                  <a:srgbClr val="24354F"/>
                </a:solidFill>
                <a:latin typeface="Calibri" pitchFamily="34" charset="0"/>
                <a:ea typeface="Calibri" pitchFamily="34" charset="-122"/>
                <a:cs typeface="Calibri" pitchFamily="34" charset="-120"/>
              </a:rPr>
              <a:t>Business records are fictional — no real-world data claim</a:t>
            </a:r>
            <a:endParaRPr lang="en-US" sz="1000" dirty="0"/>
          </a:p>
        </p:txBody>
      </p:sp>
      <p:sp>
        <p:nvSpPr>
          <p:cNvPr id="24" name="Text 22"/>
          <p:cNvSpPr/>
          <p:nvPr/>
        </p:nvSpPr>
        <p:spPr>
          <a:xfrm>
            <a:off x="640080" y="4553712"/>
            <a:ext cx="10911535" cy="237744"/>
          </a:xfrm>
          <a:prstGeom prst="rect">
            <a:avLst/>
          </a:prstGeom>
          <a:noFill/>
          <a:ln/>
        </p:spPr>
        <p:txBody>
          <a:bodyPr wrap="square" lIns="0" tIns="0" rIns="0" bIns="0" rtlCol="0" anchor="t"/>
          <a:lstStyle/>
          <a:p>
            <a:pPr marL="0" indent="0">
              <a:buNone/>
            </a:pPr>
            <a:r>
              <a:rPr lang="en-US" sz="1050" b="1" kern="0" spc="180" dirty="0">
                <a:solidFill>
                  <a:srgbClr val="5A6B84"/>
                </a:solidFill>
                <a:latin typeface="Calibri" pitchFamily="34" charset="0"/>
                <a:ea typeface="Calibri" pitchFamily="34" charset="-122"/>
                <a:cs typeface="Calibri" pitchFamily="34" charset="-120"/>
              </a:rPr>
              <a:t>HYPOTHESES, FIXED INTERNALLY BEFORE THE SEALED TEST WAS SCORED — NOT EXTERNALLY PREREGISTERED</a:t>
            </a:r>
            <a:endParaRPr lang="en-US" sz="1050" dirty="0"/>
          </a:p>
        </p:txBody>
      </p:sp>
      <p:sp>
        <p:nvSpPr>
          <p:cNvPr id="25" name="Shape 23"/>
          <p:cNvSpPr/>
          <p:nvPr/>
        </p:nvSpPr>
        <p:spPr>
          <a:xfrm>
            <a:off x="640080" y="4846320"/>
            <a:ext cx="329184" cy="329184"/>
          </a:xfrm>
          <a:prstGeom prst="ellipse">
            <a:avLst/>
          </a:prstGeom>
          <a:solidFill>
            <a:srgbClr val="1F8A99"/>
          </a:solidFill>
          <a:ln w="6350">
            <a:solidFill>
              <a:srgbClr val="1F8A99"/>
            </a:solidFill>
            <a:prstDash val="solid"/>
          </a:ln>
        </p:spPr>
        <p:txBody>
          <a:bodyPr/>
          <a:lstStyle/>
          <a:p>
            <a:endParaRPr lang="en-US"/>
          </a:p>
        </p:txBody>
      </p:sp>
      <p:sp>
        <p:nvSpPr>
          <p:cNvPr id="26" name="Text 24"/>
          <p:cNvSpPr/>
          <p:nvPr/>
        </p:nvSpPr>
        <p:spPr>
          <a:xfrm>
            <a:off x="640080" y="4846320"/>
            <a:ext cx="329184" cy="32918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H1</a:t>
            </a:r>
            <a:endParaRPr lang="en-US" sz="900" dirty="0"/>
          </a:p>
        </p:txBody>
      </p:sp>
      <p:sp>
        <p:nvSpPr>
          <p:cNvPr id="27" name="Text 25"/>
          <p:cNvSpPr/>
          <p:nvPr/>
        </p:nvSpPr>
        <p:spPr>
          <a:xfrm>
            <a:off x="1097280" y="4809744"/>
            <a:ext cx="3033674" cy="512064"/>
          </a:xfrm>
          <a:prstGeom prst="rect">
            <a:avLst/>
          </a:prstGeom>
          <a:noFill/>
          <a:ln/>
        </p:spPr>
        <p:txBody>
          <a:bodyPr wrap="square" lIns="0" tIns="0" rIns="0" bIns="0" rtlCol="0" anchor="t"/>
          <a:lstStyle/>
          <a:p>
            <a:pPr marL="0" indent="0">
              <a:lnSpc>
                <a:spcPct val="104000"/>
              </a:lnSpc>
              <a:buNone/>
            </a:pPr>
            <a:r>
              <a:rPr lang="en-US" sz="1000" dirty="0">
                <a:solidFill>
                  <a:srgbClr val="24354F"/>
                </a:solidFill>
                <a:latin typeface="Calibri" pitchFamily="34" charset="0"/>
                <a:ea typeface="Calibri" pitchFamily="34" charset="-122"/>
                <a:cs typeface="Calibri" pitchFamily="34" charset="-120"/>
              </a:rPr>
              <a:t>provenance places the expected producer for &gt; 90% of executable nested slots</a:t>
            </a:r>
            <a:endParaRPr lang="en-US" sz="1000" dirty="0"/>
          </a:p>
        </p:txBody>
      </p:sp>
      <p:sp>
        <p:nvSpPr>
          <p:cNvPr id="28" name="Shape 26"/>
          <p:cNvSpPr/>
          <p:nvPr/>
        </p:nvSpPr>
        <p:spPr>
          <a:xfrm>
            <a:off x="4350410" y="4846320"/>
            <a:ext cx="329184" cy="329184"/>
          </a:xfrm>
          <a:prstGeom prst="ellipse">
            <a:avLst/>
          </a:prstGeom>
          <a:solidFill>
            <a:srgbClr val="1F8A99"/>
          </a:solidFill>
          <a:ln w="6350">
            <a:solidFill>
              <a:srgbClr val="1F8A99"/>
            </a:solidFill>
            <a:prstDash val="solid"/>
          </a:ln>
        </p:spPr>
        <p:txBody>
          <a:bodyPr/>
          <a:lstStyle/>
          <a:p>
            <a:endParaRPr lang="en-US"/>
          </a:p>
        </p:txBody>
      </p:sp>
      <p:sp>
        <p:nvSpPr>
          <p:cNvPr id="29" name="Text 27"/>
          <p:cNvSpPr/>
          <p:nvPr/>
        </p:nvSpPr>
        <p:spPr>
          <a:xfrm>
            <a:off x="4350410" y="4846320"/>
            <a:ext cx="329184" cy="32918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H2</a:t>
            </a:r>
            <a:endParaRPr lang="en-US" sz="900" dirty="0"/>
          </a:p>
        </p:txBody>
      </p:sp>
      <p:sp>
        <p:nvSpPr>
          <p:cNvPr id="30" name="Text 28"/>
          <p:cNvSpPr/>
          <p:nvPr/>
        </p:nvSpPr>
        <p:spPr>
          <a:xfrm>
            <a:off x="4807610" y="4809744"/>
            <a:ext cx="3033674" cy="512064"/>
          </a:xfrm>
          <a:prstGeom prst="rect">
            <a:avLst/>
          </a:prstGeom>
          <a:noFill/>
          <a:ln/>
        </p:spPr>
        <p:txBody>
          <a:bodyPr wrap="square" lIns="0" tIns="0" rIns="0" bIns="0" rtlCol="0" anchor="t"/>
          <a:lstStyle/>
          <a:p>
            <a:pPr marL="0" indent="0">
              <a:lnSpc>
                <a:spcPct val="104000"/>
              </a:lnSpc>
              <a:buNone/>
            </a:pPr>
            <a:r>
              <a:rPr lang="en-US" sz="1000" dirty="0">
                <a:solidFill>
                  <a:srgbClr val="24354F"/>
                </a:solidFill>
                <a:latin typeface="Calibri" pitchFamily="34" charset="0"/>
                <a:ea typeface="Calibri" pitchFamily="34" charset="-122"/>
                <a:cs typeface="Calibri" pitchFamily="34" charset="-120"/>
              </a:rPr>
              <a:t>the compiled prefix reduces provider requests and total tokens</a:t>
            </a:r>
            <a:endParaRPr lang="en-US" sz="1000" dirty="0"/>
          </a:p>
        </p:txBody>
      </p:sp>
      <p:sp>
        <p:nvSpPr>
          <p:cNvPr id="31" name="Shape 29"/>
          <p:cNvSpPr/>
          <p:nvPr/>
        </p:nvSpPr>
        <p:spPr>
          <a:xfrm>
            <a:off x="8060741" y="4846320"/>
            <a:ext cx="329184" cy="329184"/>
          </a:xfrm>
          <a:prstGeom prst="ellipse">
            <a:avLst/>
          </a:prstGeom>
          <a:solidFill>
            <a:srgbClr val="1F8A99"/>
          </a:solidFill>
          <a:ln w="6350">
            <a:solidFill>
              <a:srgbClr val="1F8A99"/>
            </a:solidFill>
            <a:prstDash val="solid"/>
          </a:ln>
        </p:spPr>
        <p:txBody>
          <a:bodyPr/>
          <a:lstStyle/>
          <a:p>
            <a:endParaRPr lang="en-US"/>
          </a:p>
        </p:txBody>
      </p:sp>
      <p:sp>
        <p:nvSpPr>
          <p:cNvPr id="32" name="Text 30"/>
          <p:cNvSpPr/>
          <p:nvPr/>
        </p:nvSpPr>
        <p:spPr>
          <a:xfrm>
            <a:off x="8060741" y="4846320"/>
            <a:ext cx="329184" cy="32918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H3</a:t>
            </a:r>
            <a:endParaRPr lang="en-US" sz="900" dirty="0"/>
          </a:p>
        </p:txBody>
      </p:sp>
      <p:sp>
        <p:nvSpPr>
          <p:cNvPr id="33" name="Text 31"/>
          <p:cNvSpPr/>
          <p:nvPr/>
        </p:nvSpPr>
        <p:spPr>
          <a:xfrm>
            <a:off x="8517941" y="4809744"/>
            <a:ext cx="3033674" cy="512064"/>
          </a:xfrm>
          <a:prstGeom prst="rect">
            <a:avLst/>
          </a:prstGeom>
          <a:noFill/>
          <a:ln/>
        </p:spPr>
        <p:txBody>
          <a:bodyPr wrap="square" lIns="0" tIns="0" rIns="0" bIns="0" rtlCol="0" anchor="t"/>
          <a:lstStyle/>
          <a:p>
            <a:pPr marL="0" indent="0">
              <a:lnSpc>
                <a:spcPct val="104000"/>
              </a:lnSpc>
              <a:buNone/>
            </a:pPr>
            <a:r>
              <a:rPr lang="en-US" sz="1000" dirty="0">
                <a:solidFill>
                  <a:srgbClr val="24354F"/>
                </a:solidFill>
                <a:latin typeface="Calibri" pitchFamily="34" charset="0"/>
                <a:ea typeface="Calibri" pitchFamily="34" charset="-122"/>
                <a:cs typeface="Calibri" pitchFamily="34" charset="-120"/>
              </a:rPr>
              <a:t>no observed quality loss on the sealed task</a:t>
            </a:r>
            <a:endParaRPr lang="en-US" sz="1000" dirty="0"/>
          </a:p>
        </p:txBody>
      </p:sp>
      <p:sp>
        <p:nvSpPr>
          <p:cNvPr id="34" name="Shape 32"/>
          <p:cNvSpPr/>
          <p:nvPr/>
        </p:nvSpPr>
        <p:spPr>
          <a:xfrm>
            <a:off x="640080" y="5449824"/>
            <a:ext cx="329184" cy="329184"/>
          </a:xfrm>
          <a:prstGeom prst="ellipse">
            <a:avLst/>
          </a:prstGeom>
          <a:solidFill>
            <a:srgbClr val="1F8A99"/>
          </a:solidFill>
          <a:ln w="6350">
            <a:solidFill>
              <a:srgbClr val="1F8A99"/>
            </a:solidFill>
            <a:prstDash val="solid"/>
          </a:ln>
        </p:spPr>
        <p:txBody>
          <a:bodyPr/>
          <a:lstStyle/>
          <a:p>
            <a:endParaRPr lang="en-US"/>
          </a:p>
        </p:txBody>
      </p:sp>
      <p:sp>
        <p:nvSpPr>
          <p:cNvPr id="35" name="Text 33"/>
          <p:cNvSpPr/>
          <p:nvPr/>
        </p:nvSpPr>
        <p:spPr>
          <a:xfrm>
            <a:off x="640080" y="5449824"/>
            <a:ext cx="329184" cy="32918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H4</a:t>
            </a:r>
            <a:endParaRPr lang="en-US" sz="900" dirty="0"/>
          </a:p>
        </p:txBody>
      </p:sp>
      <p:sp>
        <p:nvSpPr>
          <p:cNvPr id="36" name="Text 34"/>
          <p:cNvSpPr/>
          <p:nvPr/>
        </p:nvSpPr>
        <p:spPr>
          <a:xfrm>
            <a:off x="1097280" y="5413248"/>
            <a:ext cx="3033674" cy="512064"/>
          </a:xfrm>
          <a:prstGeom prst="rect">
            <a:avLst/>
          </a:prstGeom>
          <a:noFill/>
          <a:ln/>
        </p:spPr>
        <p:txBody>
          <a:bodyPr wrap="square" lIns="0" tIns="0" rIns="0" bIns="0" rtlCol="0" anchor="t"/>
          <a:lstStyle/>
          <a:p>
            <a:pPr marL="0" indent="0">
              <a:lnSpc>
                <a:spcPct val="104000"/>
              </a:lnSpc>
              <a:buNone/>
            </a:pPr>
            <a:r>
              <a:rPr lang="en-US" sz="1000" dirty="0">
                <a:solidFill>
                  <a:srgbClr val="24354F"/>
                </a:solidFill>
                <a:latin typeface="Calibri" pitchFamily="34" charset="0"/>
                <a:ea typeface="Calibri" pitchFamily="34" charset="-122"/>
                <a:cs typeface="Calibri" pitchFamily="34" charset="-120"/>
              </a:rPr>
              <a:t>families below the exact-gate sample requirement retire</a:t>
            </a:r>
            <a:endParaRPr lang="en-US" sz="1000" dirty="0"/>
          </a:p>
        </p:txBody>
      </p:sp>
      <p:sp>
        <p:nvSpPr>
          <p:cNvPr id="37" name="Shape 35"/>
          <p:cNvSpPr/>
          <p:nvPr/>
        </p:nvSpPr>
        <p:spPr>
          <a:xfrm>
            <a:off x="4350410" y="5449824"/>
            <a:ext cx="329184" cy="329184"/>
          </a:xfrm>
          <a:prstGeom prst="ellipse">
            <a:avLst/>
          </a:prstGeom>
          <a:solidFill>
            <a:srgbClr val="1F8A99"/>
          </a:solidFill>
          <a:ln w="6350">
            <a:solidFill>
              <a:srgbClr val="1F8A99"/>
            </a:solidFill>
            <a:prstDash val="solid"/>
          </a:ln>
        </p:spPr>
        <p:txBody>
          <a:bodyPr/>
          <a:lstStyle/>
          <a:p>
            <a:endParaRPr lang="en-US"/>
          </a:p>
        </p:txBody>
      </p:sp>
      <p:sp>
        <p:nvSpPr>
          <p:cNvPr id="38" name="Text 36"/>
          <p:cNvSpPr/>
          <p:nvPr/>
        </p:nvSpPr>
        <p:spPr>
          <a:xfrm>
            <a:off x="4350410" y="5449824"/>
            <a:ext cx="329184" cy="32918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H5</a:t>
            </a:r>
            <a:endParaRPr lang="en-US" sz="900" dirty="0"/>
          </a:p>
        </p:txBody>
      </p:sp>
      <p:sp>
        <p:nvSpPr>
          <p:cNvPr id="39" name="Text 37"/>
          <p:cNvSpPr/>
          <p:nvPr/>
        </p:nvSpPr>
        <p:spPr>
          <a:xfrm>
            <a:off x="4807610" y="5413248"/>
            <a:ext cx="3033674" cy="512064"/>
          </a:xfrm>
          <a:prstGeom prst="rect">
            <a:avLst/>
          </a:prstGeom>
          <a:noFill/>
          <a:ln/>
        </p:spPr>
        <p:txBody>
          <a:bodyPr wrap="square" lIns="0" tIns="0" rIns="0" bIns="0" rtlCol="0" anchor="t"/>
          <a:lstStyle/>
          <a:p>
            <a:pPr marL="0" indent="0">
              <a:lnSpc>
                <a:spcPct val="104000"/>
              </a:lnSpc>
              <a:buNone/>
            </a:pPr>
            <a:r>
              <a:rPr lang="en-US" sz="1000" dirty="0">
                <a:solidFill>
                  <a:srgbClr val="24354F"/>
                </a:solidFill>
                <a:latin typeface="Calibri" pitchFamily="34" charset="0"/>
                <a:ea typeface="Calibri" pitchFamily="34" charset="-122"/>
                <a:cs typeface="Calibri" pitchFamily="34" charset="-120"/>
              </a:rPr>
              <a:t>a condition that must refuse reproduces the baseline model-call count and quality</a:t>
            </a:r>
            <a:endParaRPr lang="en-US" sz="1000" dirty="0"/>
          </a:p>
        </p:txBody>
      </p:sp>
      <p:sp>
        <p:nvSpPr>
          <p:cNvPr id="40" name="Shape 38"/>
          <p:cNvSpPr/>
          <p:nvPr/>
        </p:nvSpPr>
        <p:spPr>
          <a:xfrm>
            <a:off x="8060741" y="5449824"/>
            <a:ext cx="329184" cy="329184"/>
          </a:xfrm>
          <a:prstGeom prst="ellipse">
            <a:avLst/>
          </a:prstGeom>
          <a:solidFill>
            <a:srgbClr val="1F8A99"/>
          </a:solidFill>
          <a:ln w="6350">
            <a:solidFill>
              <a:srgbClr val="1F8A99"/>
            </a:solidFill>
            <a:prstDash val="solid"/>
          </a:ln>
        </p:spPr>
        <p:txBody>
          <a:bodyPr/>
          <a:lstStyle/>
          <a:p>
            <a:endParaRPr lang="en-US"/>
          </a:p>
        </p:txBody>
      </p:sp>
      <p:sp>
        <p:nvSpPr>
          <p:cNvPr id="41" name="Text 39"/>
          <p:cNvSpPr/>
          <p:nvPr/>
        </p:nvSpPr>
        <p:spPr>
          <a:xfrm>
            <a:off x="8060741" y="5449824"/>
            <a:ext cx="329184" cy="329184"/>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H6</a:t>
            </a:r>
            <a:endParaRPr lang="en-US" sz="900" dirty="0"/>
          </a:p>
        </p:txBody>
      </p:sp>
      <p:sp>
        <p:nvSpPr>
          <p:cNvPr id="42" name="Text 40"/>
          <p:cNvSpPr/>
          <p:nvPr/>
        </p:nvSpPr>
        <p:spPr>
          <a:xfrm>
            <a:off x="8517941" y="5413248"/>
            <a:ext cx="3033674" cy="512064"/>
          </a:xfrm>
          <a:prstGeom prst="rect">
            <a:avLst/>
          </a:prstGeom>
          <a:noFill/>
          <a:ln/>
        </p:spPr>
        <p:txBody>
          <a:bodyPr wrap="square" lIns="0" tIns="0" rIns="0" bIns="0" rtlCol="0" anchor="t"/>
          <a:lstStyle/>
          <a:p>
            <a:pPr marL="0" indent="0">
              <a:lnSpc>
                <a:spcPct val="104000"/>
              </a:lnSpc>
              <a:buNone/>
            </a:pPr>
            <a:r>
              <a:rPr lang="en-US" sz="1000" dirty="0">
                <a:solidFill>
                  <a:srgbClr val="24354F"/>
                </a:solidFill>
                <a:latin typeface="Calibri" pitchFamily="34" charset="0"/>
                <a:ea typeface="Calibri" pitchFamily="34" charset="-122"/>
                <a:cs typeface="Calibri" pitchFamily="34" charset="-120"/>
              </a:rPr>
              <a:t>the frozen selector's chosen action passes all fresh task contracts and reduces the weighted objective</a:t>
            </a:r>
            <a:endParaRPr lang="en-US" sz="1000" dirty="0"/>
          </a:p>
        </p:txBody>
      </p:sp>
      <p:sp>
        <p:nvSpPr>
          <p:cNvPr id="43" name="Text 41"/>
          <p:cNvSpPr/>
          <p:nvPr/>
        </p:nvSpPr>
        <p:spPr>
          <a:xfrm>
            <a:off x="640080" y="5998464"/>
            <a:ext cx="10911535" cy="274320"/>
          </a:xfrm>
          <a:prstGeom prst="rect">
            <a:avLst/>
          </a:prstGeom>
          <a:noFill/>
          <a:ln/>
        </p:spPr>
        <p:txBody>
          <a:bodyPr wrap="square" lIns="0" tIns="0" rIns="0" bIns="0" rtlCol="0" anchor="t"/>
          <a:lstStyle/>
          <a:p>
            <a:pPr marL="0" indent="0">
              <a:buNone/>
            </a:pPr>
            <a:r>
              <a:rPr lang="en-US" sz="900" i="1" dirty="0">
                <a:solidFill>
                  <a:srgbClr val="5A6B84"/>
                </a:solidFill>
                <a:latin typeface="Calibri" pitchFamily="34" charset="0"/>
                <a:ea typeface="Calibri" pitchFamily="34" charset="-122"/>
                <a:cs typeface="Calibri" pitchFamily="34" charset="-120"/>
              </a:rPr>
              <a:t>H5 is deliberately not stated in dollars: refusing conditions cost more than baseline for prompt-cache reasons unrelated to whether the refusal was correct. H3 is an observed-sample hypothesis, not a population equivalence claim.</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17</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RESULTS  ·  RQ1 AND RQ3  ·  §5.1</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Provenance succeeds more often than certification</a:t>
            </a:r>
            <a:endParaRPr lang="en-US" sz="2600" dirty="0"/>
          </a:p>
        </p:txBody>
      </p:sp>
      <p:sp>
        <p:nvSpPr>
          <p:cNvPr id="6" name="Text 4"/>
          <p:cNvSpPr/>
          <p:nvPr/>
        </p:nvSpPr>
        <p:spPr>
          <a:xfrm>
            <a:off x="640080" y="1188720"/>
            <a:ext cx="5669280" cy="210312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24354F"/>
                </a:solidFill>
                <a:latin typeface="Calibri" pitchFamily="34" charset="0"/>
                <a:ea typeface="Calibri" pitchFamily="34" charset="-122"/>
                <a:cs typeface="Calibri" pitchFamily="34" charset="-120"/>
              </a:rPr>
              <a:t>Recurrence is fragmented: 714 candidate families exist, only 32 have support of at least five, and maximum support is 26.</a:t>
            </a:r>
            <a:endParaRPr lang="en-US" sz="1150" dirty="0"/>
          </a:p>
          <a:p>
            <a:pPr marL="342900" indent="-342900">
              <a:lnSpc>
                <a:spcPct val="105000"/>
              </a:lnSpc>
              <a:spcAft>
                <a:spcPts val="700"/>
              </a:spcAft>
              <a:buSzPct val="100000"/>
              <a:buChar char="•"/>
            </a:pPr>
            <a:r>
              <a:rPr lang="en-US" sz="1150" dirty="0">
                <a:solidFill>
                  <a:srgbClr val="24354F"/>
                </a:solidFill>
                <a:latin typeface="Calibri" pitchFamily="34" charset="0"/>
                <a:ea typeface="Calibri" pitchFamily="34" charset="-122"/>
                <a:cs typeface="Calibri" pitchFamily="34" charset="-120"/>
              </a:rPr>
              <a:t>Of 32 attempted families, 12 synthesize. Their 36 held-out windows yield 24 passes, 12 abstentions, and zero wrong executions. Dominant synthesis failures are unsupported loop predicates and slots that fail grouped refitting.</a:t>
            </a:r>
            <a:endParaRPr lang="en-US" sz="1150" dirty="0"/>
          </a:p>
          <a:p>
            <a:pPr marL="342900" indent="-342900">
              <a:lnSpc>
                <a:spcPct val="105000"/>
              </a:lnSpc>
              <a:spcAft>
                <a:spcPts val="700"/>
              </a:spcAft>
              <a:buSzPct val="100000"/>
              <a:buChar char="•"/>
            </a:pPr>
            <a:r>
              <a:rPr lang="en-US" sz="1150" dirty="0">
                <a:solidFill>
                  <a:srgbClr val="24354F"/>
                </a:solidFill>
                <a:latin typeface="Calibri" pitchFamily="34" charset="0"/>
                <a:ea typeface="Calibri" pitchFamily="34" charset="-122"/>
                <a:cs typeface="Calibri" pitchFamily="34" charset="-120"/>
              </a:rPr>
              <a:t>Zero wrong does not certify the programs. The exact gate requires 92 zero-violation groups, so every family retires — H4 supported.</a:t>
            </a:r>
            <a:endParaRPr lang="en-US" sz="1150" dirty="0"/>
          </a:p>
        </p:txBody>
      </p:sp>
      <p:sp>
        <p:nvSpPr>
          <p:cNvPr id="7" name="Shape 5"/>
          <p:cNvSpPr/>
          <p:nvPr/>
        </p:nvSpPr>
        <p:spPr>
          <a:xfrm>
            <a:off x="640080" y="3419856"/>
            <a:ext cx="5669280" cy="1188720"/>
          </a:xfrm>
          <a:prstGeom prst="roundRect">
            <a:avLst>
              <a:gd name="adj" fmla="val 3846"/>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8" name="Text 6"/>
          <p:cNvSpPr/>
          <p:nvPr/>
        </p:nvSpPr>
        <p:spPr>
          <a:xfrm>
            <a:off x="896112" y="3547872"/>
            <a:ext cx="5157216" cy="932688"/>
          </a:xfrm>
          <a:prstGeom prst="rect">
            <a:avLst/>
          </a:prstGeom>
          <a:noFill/>
          <a:ln/>
        </p:spPr>
        <p:txBody>
          <a:bodyPr wrap="square" lIns="0" tIns="0" rIns="0" bIns="0" rtlCol="0" anchor="ctr"/>
          <a:lstStyle/>
          <a:p>
            <a:pPr marL="0" indent="0">
              <a:lnSpc>
                <a:spcPct val="107000"/>
              </a:lnSpc>
              <a:buNone/>
            </a:pPr>
            <a:r>
              <a:rPr lang="en-US" sz="1100" b="1" dirty="0">
                <a:solidFill>
                  <a:srgbClr val="A93B2B"/>
                </a:solidFill>
                <a:latin typeface="Calibri" pitchFamily="34" charset="0"/>
                <a:ea typeface="Calibri" pitchFamily="34" charset="-122"/>
                <a:cs typeface="Calibri" pitchFamily="34" charset="-120"/>
              </a:rPr>
              <a:t>A scientifically useful negative result. </a:t>
            </a:r>
            <a:r>
              <a:rPr lang="en-US" sz="1100" dirty="0">
                <a:solidFill>
                  <a:srgbClr val="5C4034"/>
                </a:solidFill>
                <a:latin typeface="Calibri" pitchFamily="34" charset="0"/>
                <a:ea typeface="Calibri" pitchFamily="34" charset="-122"/>
                <a:cs typeface="Calibri" pitchFamily="34" charset="-120"/>
              </a:rPr>
              <a:t>A system that emitted all 32 recurrent families would look more productive, yet none has the required support. Refusal exposes the data requirement rather than moving it into an undocumented heuristic — and it is what distinguishes a guarded compiler from a recurrence-only macro miner.</a:t>
            </a:r>
            <a:endParaRPr lang="en-US" sz="1100" dirty="0"/>
          </a:p>
        </p:txBody>
      </p:sp>
      <p:graphicFrame>
        <p:nvGraphicFramePr>
          <p:cNvPr id="9" name="Chart 0"/>
          <p:cNvGraphicFramePr/>
          <p:nvPr/>
        </p:nvGraphicFramePr>
        <p:xfrm>
          <a:off x="6675120" y="1152144"/>
          <a:ext cx="4873752" cy="3456432"/>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 7"/>
          <p:cNvSpPr/>
          <p:nvPr/>
        </p:nvSpPr>
        <p:spPr>
          <a:xfrm>
            <a:off x="640080" y="4754880"/>
            <a:ext cx="10911535" cy="237744"/>
          </a:xfrm>
          <a:prstGeom prst="rect">
            <a:avLst/>
          </a:prstGeom>
          <a:noFill/>
          <a:ln/>
        </p:spPr>
        <p:txBody>
          <a:bodyPr wrap="square" lIns="0" tIns="0" rIns="0" bIns="0" rtlCol="0" anchor="t"/>
          <a:lstStyle/>
          <a:p>
            <a:pPr marL="0" indent="0">
              <a:buNone/>
            </a:pPr>
            <a:r>
              <a:rPr lang="en-US" sz="1050" b="1" kern="0" spc="180" dirty="0">
                <a:solidFill>
                  <a:srgbClr val="5A6B84"/>
                </a:solidFill>
                <a:latin typeface="Calibri" pitchFamily="34" charset="0"/>
                <a:ea typeface="Calibri" pitchFamily="34" charset="-122"/>
                <a:cs typeface="Calibri" pitchFamily="34" charset="-120"/>
              </a:rPr>
              <a:t>TABLE 1 — EXTERNAL NESTFUL COMPILER RESULTS</a:t>
            </a:r>
            <a:endParaRPr lang="en-US" sz="1050" dirty="0"/>
          </a:p>
        </p:txBody>
      </p:sp>
      <p:sp>
        <p:nvSpPr>
          <p:cNvPr id="11" name="Shape 8"/>
          <p:cNvSpPr/>
          <p:nvPr/>
        </p:nvSpPr>
        <p:spPr>
          <a:xfrm>
            <a:off x="640080" y="5029200"/>
            <a:ext cx="1433387" cy="969264"/>
          </a:xfrm>
          <a:prstGeom prst="roundRect">
            <a:avLst>
              <a:gd name="adj" fmla="val 4717"/>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12" name="Text 9"/>
          <p:cNvSpPr/>
          <p:nvPr/>
        </p:nvSpPr>
        <p:spPr>
          <a:xfrm>
            <a:off x="749808" y="5120640"/>
            <a:ext cx="1213931" cy="329184"/>
          </a:xfrm>
          <a:prstGeom prst="rect">
            <a:avLst/>
          </a:prstGeom>
          <a:noFill/>
          <a:ln/>
        </p:spPr>
        <p:txBody>
          <a:bodyPr wrap="square" lIns="0" tIns="0" rIns="0" bIns="0" rtlCol="0" anchor="ctr"/>
          <a:lstStyle/>
          <a:p>
            <a:pPr marL="0" indent="0">
              <a:buNone/>
            </a:pPr>
            <a:r>
              <a:rPr lang="en-US" sz="1250" b="1" dirty="0">
                <a:solidFill>
                  <a:srgbClr val="0E1E3A"/>
                </a:solidFill>
                <a:latin typeface="Cambria" pitchFamily="34" charset="0"/>
                <a:ea typeface="Cambria" pitchFamily="34" charset="-122"/>
                <a:cs typeface="Cambria" pitchFamily="34" charset="-120"/>
              </a:rPr>
              <a:t>1,415</a:t>
            </a:r>
            <a:endParaRPr lang="en-US" sz="1250" dirty="0"/>
          </a:p>
        </p:txBody>
      </p:sp>
      <p:sp>
        <p:nvSpPr>
          <p:cNvPr id="13" name="Text 10"/>
          <p:cNvSpPr/>
          <p:nvPr/>
        </p:nvSpPr>
        <p:spPr>
          <a:xfrm>
            <a:off x="749808" y="5449824"/>
            <a:ext cx="1213931" cy="457200"/>
          </a:xfrm>
          <a:prstGeom prst="rect">
            <a:avLst/>
          </a:prstGeom>
          <a:noFill/>
          <a:ln/>
        </p:spPr>
        <p:txBody>
          <a:bodyPr wrap="square" lIns="0" tIns="0" rIns="0" bIns="0" rtlCol="0" anchor="t"/>
          <a:lstStyle/>
          <a:p>
            <a:pPr marL="0" indent="0">
              <a:lnSpc>
                <a:spcPct val="100000"/>
              </a:lnSpc>
              <a:buNone/>
            </a:pPr>
            <a:r>
              <a:rPr lang="en-US" sz="900" dirty="0">
                <a:solidFill>
                  <a:srgbClr val="5A6B84"/>
                </a:solidFill>
                <a:latin typeface="Calibri" pitchFamily="34" charset="0"/>
                <a:ea typeface="Calibri" pitchFamily="34" charset="-122"/>
                <a:cs typeface="Calibri" pitchFamily="34" charset="-120"/>
              </a:rPr>
              <a:t>executable basic-function episodes</a:t>
            </a:r>
            <a:endParaRPr lang="en-US" sz="900" dirty="0"/>
          </a:p>
        </p:txBody>
      </p:sp>
      <p:sp>
        <p:nvSpPr>
          <p:cNvPr id="14" name="Shape 11"/>
          <p:cNvSpPr/>
          <p:nvPr/>
        </p:nvSpPr>
        <p:spPr>
          <a:xfrm>
            <a:off x="2219771" y="5029200"/>
            <a:ext cx="1433387" cy="969264"/>
          </a:xfrm>
          <a:prstGeom prst="roundRect">
            <a:avLst>
              <a:gd name="adj" fmla="val 4717"/>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15" name="Text 12"/>
          <p:cNvSpPr/>
          <p:nvPr/>
        </p:nvSpPr>
        <p:spPr>
          <a:xfrm>
            <a:off x="2329499" y="5120640"/>
            <a:ext cx="1213931" cy="329184"/>
          </a:xfrm>
          <a:prstGeom prst="rect">
            <a:avLst/>
          </a:prstGeom>
          <a:noFill/>
          <a:ln/>
        </p:spPr>
        <p:txBody>
          <a:bodyPr wrap="square" lIns="0" tIns="0" rIns="0" bIns="0" rtlCol="0" anchor="ctr"/>
          <a:lstStyle/>
          <a:p>
            <a:pPr marL="0" indent="0">
              <a:buNone/>
            </a:pPr>
            <a:r>
              <a:rPr lang="en-US" sz="1250" b="1" dirty="0">
                <a:solidFill>
                  <a:srgbClr val="0E1E3A"/>
                </a:solidFill>
                <a:latin typeface="Cambria" pitchFamily="34" charset="0"/>
                <a:ea typeface="Cambria" pitchFamily="34" charset="-122"/>
                <a:cs typeface="Cambria" pitchFamily="34" charset="-120"/>
              </a:rPr>
              <a:t>96.3% / 80.7%</a:t>
            </a:r>
            <a:endParaRPr lang="en-US" sz="1250" dirty="0"/>
          </a:p>
        </p:txBody>
      </p:sp>
      <p:sp>
        <p:nvSpPr>
          <p:cNvPr id="16" name="Text 13"/>
          <p:cNvSpPr/>
          <p:nvPr/>
        </p:nvSpPr>
        <p:spPr>
          <a:xfrm>
            <a:off x="2329499" y="5449824"/>
            <a:ext cx="1213931" cy="457200"/>
          </a:xfrm>
          <a:prstGeom prst="rect">
            <a:avLst/>
          </a:prstGeom>
          <a:noFill/>
          <a:ln/>
        </p:spPr>
        <p:txBody>
          <a:bodyPr wrap="square" lIns="0" tIns="0" rIns="0" bIns="0" rtlCol="0" anchor="t"/>
          <a:lstStyle/>
          <a:p>
            <a:pPr marL="0" indent="0">
              <a:lnSpc>
                <a:spcPct val="100000"/>
              </a:lnSpc>
              <a:buNone/>
            </a:pPr>
            <a:r>
              <a:rPr lang="en-US" sz="900" dirty="0">
                <a:solidFill>
                  <a:srgbClr val="5A6B84"/>
                </a:solidFill>
                <a:latin typeface="Calibri" pitchFamily="34" charset="0"/>
                <a:ea typeface="Calibri" pitchFamily="34" charset="-122"/>
                <a:cs typeface="Calibri" pitchFamily="34" charset="-120"/>
              </a:rPr>
              <a:t>recall / unique resolution</a:t>
            </a:r>
            <a:endParaRPr lang="en-US" sz="900" dirty="0"/>
          </a:p>
        </p:txBody>
      </p:sp>
      <p:sp>
        <p:nvSpPr>
          <p:cNvPr id="17" name="Shape 14"/>
          <p:cNvSpPr/>
          <p:nvPr/>
        </p:nvSpPr>
        <p:spPr>
          <a:xfrm>
            <a:off x="3799463" y="5029200"/>
            <a:ext cx="1433387" cy="969264"/>
          </a:xfrm>
          <a:prstGeom prst="roundRect">
            <a:avLst>
              <a:gd name="adj" fmla="val 4717"/>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18" name="Text 15"/>
          <p:cNvSpPr/>
          <p:nvPr/>
        </p:nvSpPr>
        <p:spPr>
          <a:xfrm>
            <a:off x="3909191" y="5120640"/>
            <a:ext cx="1213931" cy="329184"/>
          </a:xfrm>
          <a:prstGeom prst="rect">
            <a:avLst/>
          </a:prstGeom>
          <a:noFill/>
          <a:ln/>
        </p:spPr>
        <p:txBody>
          <a:bodyPr wrap="square" lIns="0" tIns="0" rIns="0" bIns="0" rtlCol="0" anchor="ctr"/>
          <a:lstStyle/>
          <a:p>
            <a:pPr marL="0" indent="0">
              <a:buNone/>
            </a:pPr>
            <a:r>
              <a:rPr lang="en-US" sz="1250" b="1" dirty="0">
                <a:solidFill>
                  <a:srgbClr val="0E1E3A"/>
                </a:solidFill>
                <a:latin typeface="Cambria" pitchFamily="34" charset="0"/>
                <a:ea typeface="Cambria" pitchFamily="34" charset="-122"/>
                <a:cs typeface="Cambria" pitchFamily="34" charset="-120"/>
              </a:rPr>
              <a:t>1,207</a:t>
            </a:r>
            <a:endParaRPr lang="en-US" sz="1250" dirty="0"/>
          </a:p>
        </p:txBody>
      </p:sp>
      <p:sp>
        <p:nvSpPr>
          <p:cNvPr id="19" name="Text 16"/>
          <p:cNvSpPr/>
          <p:nvPr/>
        </p:nvSpPr>
        <p:spPr>
          <a:xfrm>
            <a:off x="3909191" y="5449824"/>
            <a:ext cx="1213931" cy="457200"/>
          </a:xfrm>
          <a:prstGeom prst="rect">
            <a:avLst/>
          </a:prstGeom>
          <a:noFill/>
          <a:ln/>
        </p:spPr>
        <p:txBody>
          <a:bodyPr wrap="square" lIns="0" tIns="0" rIns="0" bIns="0" rtlCol="0" anchor="t"/>
          <a:lstStyle/>
          <a:p>
            <a:pPr marL="0" indent="0">
              <a:lnSpc>
                <a:spcPct val="100000"/>
              </a:lnSpc>
              <a:buNone/>
            </a:pPr>
            <a:r>
              <a:rPr lang="en-US" sz="900" dirty="0">
                <a:solidFill>
                  <a:srgbClr val="5A6B84"/>
                </a:solidFill>
                <a:latin typeface="Calibri" pitchFamily="34" charset="0"/>
                <a:ea typeface="Calibri" pitchFamily="34" charset="-122"/>
                <a:cs typeface="Calibri" pitchFamily="34" charset="-120"/>
              </a:rPr>
              <a:t>complete groundable windows</a:t>
            </a:r>
            <a:endParaRPr lang="en-US" sz="900" dirty="0"/>
          </a:p>
        </p:txBody>
      </p:sp>
      <p:sp>
        <p:nvSpPr>
          <p:cNvPr id="20" name="Shape 17"/>
          <p:cNvSpPr/>
          <p:nvPr/>
        </p:nvSpPr>
        <p:spPr>
          <a:xfrm>
            <a:off x="5379154" y="5029200"/>
            <a:ext cx="1433387" cy="969264"/>
          </a:xfrm>
          <a:prstGeom prst="roundRect">
            <a:avLst>
              <a:gd name="adj" fmla="val 4717"/>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21" name="Text 18"/>
          <p:cNvSpPr/>
          <p:nvPr/>
        </p:nvSpPr>
        <p:spPr>
          <a:xfrm>
            <a:off x="5488882" y="5120640"/>
            <a:ext cx="1213931" cy="329184"/>
          </a:xfrm>
          <a:prstGeom prst="rect">
            <a:avLst/>
          </a:prstGeom>
          <a:noFill/>
          <a:ln/>
        </p:spPr>
        <p:txBody>
          <a:bodyPr wrap="square" lIns="0" tIns="0" rIns="0" bIns="0" rtlCol="0" anchor="ctr"/>
          <a:lstStyle/>
          <a:p>
            <a:pPr marL="0" indent="0">
              <a:buNone/>
            </a:pPr>
            <a:r>
              <a:rPr lang="en-US" sz="1250" b="1" dirty="0">
                <a:solidFill>
                  <a:srgbClr val="0E1E3A"/>
                </a:solidFill>
                <a:latin typeface="Cambria" pitchFamily="34" charset="0"/>
                <a:ea typeface="Cambria" pitchFamily="34" charset="-122"/>
                <a:cs typeface="Cambria" pitchFamily="34" charset="-120"/>
              </a:rPr>
              <a:t>12 / 32</a:t>
            </a:r>
            <a:endParaRPr lang="en-US" sz="1250" dirty="0"/>
          </a:p>
        </p:txBody>
      </p:sp>
      <p:sp>
        <p:nvSpPr>
          <p:cNvPr id="22" name="Text 19"/>
          <p:cNvSpPr/>
          <p:nvPr/>
        </p:nvSpPr>
        <p:spPr>
          <a:xfrm>
            <a:off x="5488882" y="5449824"/>
            <a:ext cx="1213931" cy="457200"/>
          </a:xfrm>
          <a:prstGeom prst="rect">
            <a:avLst/>
          </a:prstGeom>
          <a:noFill/>
          <a:ln/>
        </p:spPr>
        <p:txBody>
          <a:bodyPr wrap="square" lIns="0" tIns="0" rIns="0" bIns="0" rtlCol="0" anchor="t"/>
          <a:lstStyle/>
          <a:p>
            <a:pPr marL="0" indent="0">
              <a:lnSpc>
                <a:spcPct val="100000"/>
              </a:lnSpc>
              <a:buNone/>
            </a:pPr>
            <a:r>
              <a:rPr lang="en-US" sz="900" dirty="0">
                <a:solidFill>
                  <a:srgbClr val="5A6B84"/>
                </a:solidFill>
                <a:latin typeface="Calibri" pitchFamily="34" charset="0"/>
                <a:ea typeface="Calibri" pitchFamily="34" charset="-122"/>
                <a:cs typeface="Calibri" pitchFamily="34" charset="-120"/>
              </a:rPr>
              <a:t>families synthesized</a:t>
            </a:r>
            <a:endParaRPr lang="en-US" sz="900" dirty="0"/>
          </a:p>
        </p:txBody>
      </p:sp>
      <p:sp>
        <p:nvSpPr>
          <p:cNvPr id="23" name="Shape 20"/>
          <p:cNvSpPr/>
          <p:nvPr/>
        </p:nvSpPr>
        <p:spPr>
          <a:xfrm>
            <a:off x="6958845" y="5029200"/>
            <a:ext cx="1433387" cy="969264"/>
          </a:xfrm>
          <a:prstGeom prst="roundRect">
            <a:avLst>
              <a:gd name="adj" fmla="val 4717"/>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24" name="Text 21"/>
          <p:cNvSpPr/>
          <p:nvPr/>
        </p:nvSpPr>
        <p:spPr>
          <a:xfrm>
            <a:off x="7068573" y="5120640"/>
            <a:ext cx="1213931" cy="329184"/>
          </a:xfrm>
          <a:prstGeom prst="rect">
            <a:avLst/>
          </a:prstGeom>
          <a:noFill/>
          <a:ln/>
        </p:spPr>
        <p:txBody>
          <a:bodyPr wrap="square" lIns="0" tIns="0" rIns="0" bIns="0" rtlCol="0" anchor="ctr"/>
          <a:lstStyle/>
          <a:p>
            <a:pPr marL="0" indent="0">
              <a:buNone/>
            </a:pPr>
            <a:r>
              <a:rPr lang="en-US" sz="1250" b="1" dirty="0">
                <a:solidFill>
                  <a:srgbClr val="0E1E3A"/>
                </a:solidFill>
                <a:latin typeface="Cambria" pitchFamily="34" charset="0"/>
                <a:ea typeface="Cambria" pitchFamily="34" charset="-122"/>
                <a:cs typeface="Cambria" pitchFamily="34" charset="-120"/>
              </a:rPr>
              <a:t>24 / 12 / 0</a:t>
            </a:r>
            <a:endParaRPr lang="en-US" sz="1250" dirty="0"/>
          </a:p>
        </p:txBody>
      </p:sp>
      <p:sp>
        <p:nvSpPr>
          <p:cNvPr id="25" name="Text 22"/>
          <p:cNvSpPr/>
          <p:nvPr/>
        </p:nvSpPr>
        <p:spPr>
          <a:xfrm>
            <a:off x="7068573" y="5449824"/>
            <a:ext cx="1213931" cy="457200"/>
          </a:xfrm>
          <a:prstGeom prst="rect">
            <a:avLst/>
          </a:prstGeom>
          <a:noFill/>
          <a:ln/>
        </p:spPr>
        <p:txBody>
          <a:bodyPr wrap="square" lIns="0" tIns="0" rIns="0" bIns="0" rtlCol="0" anchor="t"/>
          <a:lstStyle/>
          <a:p>
            <a:pPr marL="0" indent="0">
              <a:lnSpc>
                <a:spcPct val="100000"/>
              </a:lnSpc>
              <a:buNone/>
            </a:pPr>
            <a:r>
              <a:rPr lang="en-US" sz="900" dirty="0">
                <a:solidFill>
                  <a:srgbClr val="5A6B84"/>
                </a:solidFill>
                <a:latin typeface="Calibri" pitchFamily="34" charset="0"/>
                <a:ea typeface="Calibri" pitchFamily="34" charset="-122"/>
                <a:cs typeface="Calibri" pitchFamily="34" charset="-120"/>
              </a:rPr>
              <a:t>pass / abstain / wrong</a:t>
            </a:r>
            <a:endParaRPr lang="en-US" sz="900" dirty="0"/>
          </a:p>
        </p:txBody>
      </p:sp>
      <p:sp>
        <p:nvSpPr>
          <p:cNvPr id="26" name="Shape 23"/>
          <p:cNvSpPr/>
          <p:nvPr/>
        </p:nvSpPr>
        <p:spPr>
          <a:xfrm>
            <a:off x="8538537" y="5029200"/>
            <a:ext cx="1433387" cy="969264"/>
          </a:xfrm>
          <a:prstGeom prst="roundRect">
            <a:avLst>
              <a:gd name="adj" fmla="val 4717"/>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27" name="Text 24"/>
          <p:cNvSpPr/>
          <p:nvPr/>
        </p:nvSpPr>
        <p:spPr>
          <a:xfrm>
            <a:off x="8648265" y="5120640"/>
            <a:ext cx="1213931" cy="329184"/>
          </a:xfrm>
          <a:prstGeom prst="rect">
            <a:avLst/>
          </a:prstGeom>
          <a:noFill/>
          <a:ln/>
        </p:spPr>
        <p:txBody>
          <a:bodyPr wrap="square" lIns="0" tIns="0" rIns="0" bIns="0" rtlCol="0" anchor="ctr"/>
          <a:lstStyle/>
          <a:p>
            <a:pPr marL="0" indent="0">
              <a:buNone/>
            </a:pPr>
            <a:r>
              <a:rPr lang="en-US" sz="1250" b="1" dirty="0">
                <a:solidFill>
                  <a:srgbClr val="A93B2B"/>
                </a:solidFill>
                <a:latin typeface="Cambria" pitchFamily="34" charset="0"/>
                <a:ea typeface="Cambria" pitchFamily="34" charset="-122"/>
                <a:cs typeface="Cambria" pitchFamily="34" charset="-120"/>
              </a:rPr>
              <a:t>0</a:t>
            </a:r>
            <a:endParaRPr lang="en-US" sz="1250" dirty="0"/>
          </a:p>
        </p:txBody>
      </p:sp>
      <p:sp>
        <p:nvSpPr>
          <p:cNvPr id="28" name="Text 25"/>
          <p:cNvSpPr/>
          <p:nvPr/>
        </p:nvSpPr>
        <p:spPr>
          <a:xfrm>
            <a:off x="8648265" y="5449824"/>
            <a:ext cx="1213931" cy="457200"/>
          </a:xfrm>
          <a:prstGeom prst="rect">
            <a:avLst/>
          </a:prstGeom>
          <a:noFill/>
          <a:ln/>
        </p:spPr>
        <p:txBody>
          <a:bodyPr wrap="square" lIns="0" tIns="0" rIns="0" bIns="0" rtlCol="0" anchor="t"/>
          <a:lstStyle/>
          <a:p>
            <a:pPr marL="0" indent="0">
              <a:lnSpc>
                <a:spcPct val="100000"/>
              </a:lnSpc>
              <a:buNone/>
            </a:pPr>
            <a:r>
              <a:rPr lang="en-US" sz="900" dirty="0">
                <a:solidFill>
                  <a:srgbClr val="5A6B84"/>
                </a:solidFill>
                <a:latin typeface="Calibri" pitchFamily="34" charset="0"/>
                <a:ea typeface="Calibri" pitchFamily="34" charset="-122"/>
                <a:cs typeface="Calibri" pitchFamily="34" charset="-120"/>
              </a:rPr>
              <a:t>certifiable families</a:t>
            </a:r>
            <a:endParaRPr lang="en-US" sz="900" dirty="0"/>
          </a:p>
        </p:txBody>
      </p:sp>
      <p:sp>
        <p:nvSpPr>
          <p:cNvPr id="29" name="Shape 26"/>
          <p:cNvSpPr/>
          <p:nvPr/>
        </p:nvSpPr>
        <p:spPr>
          <a:xfrm>
            <a:off x="10118228" y="5029200"/>
            <a:ext cx="1433387" cy="969264"/>
          </a:xfrm>
          <a:prstGeom prst="roundRect">
            <a:avLst>
              <a:gd name="adj" fmla="val 4717"/>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30" name="Text 27"/>
          <p:cNvSpPr/>
          <p:nvPr/>
        </p:nvSpPr>
        <p:spPr>
          <a:xfrm>
            <a:off x="10227956" y="5120640"/>
            <a:ext cx="1213931" cy="329184"/>
          </a:xfrm>
          <a:prstGeom prst="rect">
            <a:avLst/>
          </a:prstGeom>
          <a:noFill/>
          <a:ln/>
        </p:spPr>
        <p:txBody>
          <a:bodyPr wrap="square" lIns="0" tIns="0" rIns="0" bIns="0" rtlCol="0" anchor="ctr"/>
          <a:lstStyle/>
          <a:p>
            <a:pPr marL="0" indent="0">
              <a:buNone/>
            </a:pPr>
            <a:r>
              <a:rPr lang="en-US" sz="1250" b="1" dirty="0">
                <a:solidFill>
                  <a:srgbClr val="0E1E3A"/>
                </a:solidFill>
                <a:latin typeface="Cambria" pitchFamily="34" charset="0"/>
                <a:ea typeface="Cambria" pitchFamily="34" charset="-122"/>
                <a:cs typeface="Cambria" pitchFamily="34" charset="-120"/>
              </a:rPr>
              <a:t>23.3 MiB / 5.98 s</a:t>
            </a:r>
            <a:endParaRPr lang="en-US" sz="1250" dirty="0"/>
          </a:p>
        </p:txBody>
      </p:sp>
      <p:sp>
        <p:nvSpPr>
          <p:cNvPr id="31" name="Text 28"/>
          <p:cNvSpPr/>
          <p:nvPr/>
        </p:nvSpPr>
        <p:spPr>
          <a:xfrm>
            <a:off x="10227956" y="5449824"/>
            <a:ext cx="1213931" cy="457200"/>
          </a:xfrm>
          <a:prstGeom prst="rect">
            <a:avLst/>
          </a:prstGeom>
          <a:noFill/>
          <a:ln/>
        </p:spPr>
        <p:txBody>
          <a:bodyPr wrap="square" lIns="0" tIns="0" rIns="0" bIns="0" rtlCol="0" anchor="t"/>
          <a:lstStyle/>
          <a:p>
            <a:pPr marL="0" indent="0">
              <a:lnSpc>
                <a:spcPct val="100000"/>
              </a:lnSpc>
              <a:buNone/>
            </a:pPr>
            <a:r>
              <a:rPr lang="en-US" sz="900" dirty="0">
                <a:solidFill>
                  <a:srgbClr val="5A6B84"/>
                </a:solidFill>
                <a:latin typeface="Calibri" pitchFamily="34" charset="0"/>
                <a:ea typeface="Calibri" pitchFamily="34" charset="-122"/>
                <a:cs typeface="Calibri" pitchFamily="34" charset="-120"/>
              </a:rPr>
              <a:t>peak memory / elapsed</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18</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RESULTS  ·  RQ2  ·  §5.2.1  ·  TABLE 2</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Expanded natural-order replication: 30 fresh real records</a:t>
            </a:r>
            <a:endParaRPr lang="en-US" sz="2600" dirty="0"/>
          </a:p>
        </p:txBody>
      </p:sp>
      <p:graphicFrame>
        <p:nvGraphicFramePr>
          <p:cNvPr id="6" name="Chart 0"/>
          <p:cNvGraphicFramePr/>
          <p:nvPr/>
        </p:nvGraphicFramePr>
        <p:xfrm>
          <a:off x="640080" y="1152144"/>
          <a:ext cx="7223760" cy="3602736"/>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8092440" y="1152144"/>
            <a:ext cx="3459175" cy="3602736"/>
          </a:xfrm>
          <a:prstGeom prst="roundRect">
            <a:avLst>
              <a:gd name="adj" fmla="val 1322"/>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8" name="Text 5"/>
          <p:cNvSpPr/>
          <p:nvPr/>
        </p:nvSpPr>
        <p:spPr>
          <a:xfrm>
            <a:off x="8330184" y="1298448"/>
            <a:ext cx="2983687" cy="201168"/>
          </a:xfrm>
          <a:prstGeom prst="rect">
            <a:avLst/>
          </a:prstGeom>
          <a:noFill/>
          <a:ln/>
        </p:spPr>
        <p:txBody>
          <a:bodyPr wrap="square" lIns="0" tIns="0" rIns="0" bIns="0" rtlCol="0" anchor="t"/>
          <a:lstStyle/>
          <a:p>
            <a:pPr marL="0" indent="0">
              <a:buNone/>
            </a:pPr>
            <a:r>
              <a:rPr lang="en-US" sz="950" b="1" kern="0" spc="110" dirty="0">
                <a:solidFill>
                  <a:srgbClr val="1F8A99"/>
                </a:solidFill>
                <a:latin typeface="Calibri" pitchFamily="34" charset="0"/>
                <a:ea typeface="Calibri" pitchFamily="34" charset="-122"/>
                <a:cs typeface="Calibri" pitchFamily="34" charset="-120"/>
              </a:rPr>
              <a:t>WHAT THE COMPILER DID, AND DECLINED</a:t>
            </a:r>
            <a:endParaRPr lang="en-US" sz="950" dirty="0"/>
          </a:p>
        </p:txBody>
      </p:sp>
      <p:sp>
        <p:nvSpPr>
          <p:cNvPr id="9" name="Text 6"/>
          <p:cNvSpPr/>
          <p:nvPr/>
        </p:nvSpPr>
        <p:spPr>
          <a:xfrm>
            <a:off x="8348472" y="1627632"/>
            <a:ext cx="2947111" cy="30175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00" dirty="0">
                <a:solidFill>
                  <a:srgbClr val="24354F"/>
                </a:solidFill>
                <a:latin typeface="Calibri" pitchFamily="34" charset="0"/>
                <a:ea typeface="Calibri" pitchFamily="34" charset="-122"/>
                <a:cs typeface="Calibri" pitchFamily="34" charset="-120"/>
              </a:rPr>
              <a:t>All 132 discovery traces read record → labels → comments under a prompt naming neither tools nor order; 130 pass the exact-source task</a:t>
            </a:r>
            <a:endParaRPr lang="en-US" sz="1000" dirty="0"/>
          </a:p>
          <a:p>
            <a:pPr marL="342900" indent="-342900">
              <a:lnSpc>
                <a:spcPct val="105000"/>
              </a:lnSpc>
              <a:spcAft>
                <a:spcPts val="600"/>
              </a:spcAft>
              <a:buSzPct val="100000"/>
              <a:buChar char="•"/>
            </a:pPr>
            <a:r>
              <a:rPr lang="en-US" sz="1000" dirty="0">
                <a:solidFill>
                  <a:srgbClr val="24354F"/>
                </a:solidFill>
                <a:latin typeface="Calibri" pitchFamily="34" charset="0"/>
                <a:ea typeface="Calibri" pitchFamily="34" charset="-122"/>
                <a:cs typeface="Calibri" pitchFamily="34" charset="-120"/>
              </a:rPr>
              <a:t>The natural caller chose different integer comment limits, so no trace-grounded expression reproduces that argument</a:t>
            </a:r>
            <a:endParaRPr lang="en-US" sz="1000" dirty="0"/>
          </a:p>
          <a:p>
            <a:pPr marL="342900" indent="-342900">
              <a:lnSpc>
                <a:spcPct val="105000"/>
              </a:lnSpc>
              <a:spcAft>
                <a:spcPts val="600"/>
              </a:spcAft>
              <a:buSzPct val="100000"/>
              <a:buChar char="•"/>
            </a:pPr>
            <a:r>
              <a:rPr lang="en-US" sz="1000" dirty="0">
                <a:solidFill>
                  <a:srgbClr val="24354F"/>
                </a:solidFill>
                <a:latin typeface="Calibri" pitchFamily="34" charset="0"/>
                <a:ea typeface="Calibri" pitchFamily="34" charset="-122"/>
                <a:cs typeface="Calibri" pitchFamily="34" charset="-120"/>
              </a:rPr>
              <a:t>The full three-read candidate is rejected with ungroundable_slot; the compiler emits the groundable two-read prefix and the ordinary agent performs the comments read and final rendering</a:t>
            </a:r>
            <a:endParaRPr lang="en-US" sz="1000" dirty="0"/>
          </a:p>
          <a:p>
            <a:pPr marL="342900" indent="-342900">
              <a:lnSpc>
                <a:spcPct val="105000"/>
              </a:lnSpc>
              <a:spcAft>
                <a:spcPts val="600"/>
              </a:spcAft>
              <a:buSzPct val="100000"/>
              <a:buChar char="•"/>
            </a:pPr>
            <a:r>
              <a:rPr lang="en-US" sz="1000" dirty="0">
                <a:solidFill>
                  <a:srgbClr val="24354F"/>
                </a:solidFill>
                <a:latin typeface="Calibri" pitchFamily="34" charset="0"/>
                <a:ea typeface="Calibri" pitchFamily="34" charset="-122"/>
                <a:cs typeface="Calibri" pitchFamily="34" charset="-120"/>
              </a:rPr>
              <a:t>16 training, 8 development, 92 calibration records from the 130 eligible traces; 14 unused</a:t>
            </a:r>
            <a:endParaRPr lang="en-US" sz="1000" dirty="0"/>
          </a:p>
          <a:p>
            <a:pPr marL="342900" indent="-342900">
              <a:lnSpc>
                <a:spcPct val="105000"/>
              </a:lnSpc>
              <a:spcAft>
                <a:spcPts val="600"/>
              </a:spcAft>
              <a:buSzPct val="100000"/>
              <a:buChar char="•"/>
            </a:pPr>
            <a:r>
              <a:rPr lang="en-US" sz="1000" dirty="0">
                <a:solidFill>
                  <a:srgbClr val="24354F"/>
                </a:solidFill>
                <a:latin typeface="Calibri" pitchFamily="34" charset="0"/>
                <a:ea typeface="Calibri" pitchFamily="34" charset="-122"/>
                <a:cs typeface="Calibri" pitchFamily="34" charset="-120"/>
              </a:rPr>
              <a:t>The gate admits 92/92 calibration groups with zero registered violations at α = .05, δ = .10, |Λ| = 11 — simultaneous upper bound 0.0498</a:t>
            </a:r>
            <a:endParaRPr lang="en-US" sz="1000" dirty="0"/>
          </a:p>
        </p:txBody>
      </p:sp>
      <p:sp>
        <p:nvSpPr>
          <p:cNvPr id="10" name="Shape 7"/>
          <p:cNvSpPr/>
          <p:nvPr/>
        </p:nvSpPr>
        <p:spPr>
          <a:xfrm>
            <a:off x="640080" y="5029200"/>
            <a:ext cx="1666189" cy="969264"/>
          </a:xfrm>
          <a:prstGeom prst="roundRect">
            <a:avLst>
              <a:gd name="adj" fmla="val 4717"/>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11" name="Text 8"/>
          <p:cNvSpPr/>
          <p:nvPr/>
        </p:nvSpPr>
        <p:spPr>
          <a:xfrm>
            <a:off x="768096" y="5120640"/>
            <a:ext cx="1410157" cy="329184"/>
          </a:xfrm>
          <a:prstGeom prst="rect">
            <a:avLst/>
          </a:prstGeom>
          <a:noFill/>
          <a:ln/>
        </p:spPr>
        <p:txBody>
          <a:bodyPr wrap="square" lIns="0" tIns="0" rIns="0" bIns="0" rtlCol="0" anchor="ctr"/>
          <a:lstStyle/>
          <a:p>
            <a:pPr marL="0" indent="0">
              <a:buNone/>
            </a:pPr>
            <a:r>
              <a:rPr lang="en-US" sz="1600" b="1" dirty="0">
                <a:solidFill>
                  <a:srgbClr val="1F8A99"/>
                </a:solidFill>
                <a:latin typeface="Cambria" pitchFamily="34" charset="0"/>
                <a:ea typeface="Cambria" pitchFamily="34" charset="-122"/>
                <a:cs typeface="Cambria" pitchFamily="34" charset="-120"/>
              </a:rPr>
              <a:t>−50.0%</a:t>
            </a:r>
            <a:endParaRPr lang="en-US" sz="1600" dirty="0"/>
          </a:p>
        </p:txBody>
      </p:sp>
      <p:sp>
        <p:nvSpPr>
          <p:cNvPr id="12" name="Text 9"/>
          <p:cNvSpPr/>
          <p:nvPr/>
        </p:nvSpPr>
        <p:spPr>
          <a:xfrm>
            <a:off x="768096" y="5449824"/>
            <a:ext cx="1410157" cy="457200"/>
          </a:xfrm>
          <a:prstGeom prst="rect">
            <a:avLst/>
          </a:prstGeom>
          <a:noFill/>
          <a:ln/>
        </p:spPr>
        <p:txBody>
          <a:bodyPr wrap="square" lIns="0" tIns="0" rIns="0" bIns="0" rtlCol="0" anchor="t"/>
          <a:lstStyle/>
          <a:p>
            <a:pPr marL="0" indent="0">
              <a:lnSpc>
                <a:spcPct val="100000"/>
              </a:lnSpc>
              <a:buNone/>
            </a:pPr>
            <a:r>
              <a:rPr lang="en-US" sz="900" dirty="0">
                <a:solidFill>
                  <a:srgbClr val="5A6B84"/>
                </a:solidFill>
                <a:latin typeface="Calibri" pitchFamily="34" charset="0"/>
                <a:ea typeface="Calibri" pitchFamily="34" charset="-122"/>
                <a:cs typeface="Calibri" pitchFamily="34" charset="-120"/>
              </a:rPr>
              <a:t>provider requests</a:t>
            </a:r>
            <a:endParaRPr lang="en-US" sz="900" dirty="0"/>
          </a:p>
        </p:txBody>
      </p:sp>
      <p:sp>
        <p:nvSpPr>
          <p:cNvPr id="13" name="Shape 10"/>
          <p:cNvSpPr/>
          <p:nvPr/>
        </p:nvSpPr>
        <p:spPr>
          <a:xfrm>
            <a:off x="2489149" y="5029200"/>
            <a:ext cx="1666189" cy="969264"/>
          </a:xfrm>
          <a:prstGeom prst="roundRect">
            <a:avLst>
              <a:gd name="adj" fmla="val 4717"/>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14" name="Text 11"/>
          <p:cNvSpPr/>
          <p:nvPr/>
        </p:nvSpPr>
        <p:spPr>
          <a:xfrm>
            <a:off x="2617165" y="5120640"/>
            <a:ext cx="1410157" cy="329184"/>
          </a:xfrm>
          <a:prstGeom prst="rect">
            <a:avLst/>
          </a:prstGeom>
          <a:noFill/>
          <a:ln/>
        </p:spPr>
        <p:txBody>
          <a:bodyPr wrap="square" lIns="0" tIns="0" rIns="0" bIns="0" rtlCol="0" anchor="ctr"/>
          <a:lstStyle/>
          <a:p>
            <a:pPr marL="0" indent="0">
              <a:buNone/>
            </a:pPr>
            <a:r>
              <a:rPr lang="en-US" sz="1600" b="1" dirty="0">
                <a:solidFill>
                  <a:srgbClr val="0E1E3A"/>
                </a:solidFill>
                <a:latin typeface="Cambria" pitchFamily="34" charset="0"/>
                <a:ea typeface="Cambria" pitchFamily="34" charset="-122"/>
                <a:cs typeface="Cambria" pitchFamily="34" charset="-120"/>
              </a:rPr>
              <a:t>−39.5%</a:t>
            </a:r>
            <a:endParaRPr lang="en-US" sz="1600" dirty="0"/>
          </a:p>
        </p:txBody>
      </p:sp>
      <p:sp>
        <p:nvSpPr>
          <p:cNvPr id="15" name="Text 12"/>
          <p:cNvSpPr/>
          <p:nvPr/>
        </p:nvSpPr>
        <p:spPr>
          <a:xfrm>
            <a:off x="2617165" y="5449824"/>
            <a:ext cx="1410157" cy="457200"/>
          </a:xfrm>
          <a:prstGeom prst="rect">
            <a:avLst/>
          </a:prstGeom>
          <a:noFill/>
          <a:ln/>
        </p:spPr>
        <p:txBody>
          <a:bodyPr wrap="square" lIns="0" tIns="0" rIns="0" bIns="0" rtlCol="0" anchor="t"/>
          <a:lstStyle/>
          <a:p>
            <a:pPr marL="0" indent="0">
              <a:lnSpc>
                <a:spcPct val="100000"/>
              </a:lnSpc>
              <a:buNone/>
            </a:pPr>
            <a:r>
              <a:rPr lang="en-US" sz="900" dirty="0">
                <a:solidFill>
                  <a:srgbClr val="5A6B84"/>
                </a:solidFill>
                <a:latin typeface="Calibri" pitchFamily="34" charset="0"/>
                <a:ea typeface="Calibri" pitchFamily="34" charset="-122"/>
                <a:cs typeface="Calibri" pitchFamily="34" charset="-120"/>
              </a:rPr>
              <a:t>total tokens</a:t>
            </a:r>
            <a:endParaRPr lang="en-US" sz="900" dirty="0"/>
          </a:p>
        </p:txBody>
      </p:sp>
      <p:sp>
        <p:nvSpPr>
          <p:cNvPr id="16" name="Shape 13"/>
          <p:cNvSpPr/>
          <p:nvPr/>
        </p:nvSpPr>
        <p:spPr>
          <a:xfrm>
            <a:off x="4338218" y="5029200"/>
            <a:ext cx="1666189" cy="969264"/>
          </a:xfrm>
          <a:prstGeom prst="roundRect">
            <a:avLst>
              <a:gd name="adj" fmla="val 4717"/>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17" name="Text 14"/>
          <p:cNvSpPr/>
          <p:nvPr/>
        </p:nvSpPr>
        <p:spPr>
          <a:xfrm>
            <a:off x="4466234" y="5120640"/>
            <a:ext cx="1410157" cy="329184"/>
          </a:xfrm>
          <a:prstGeom prst="rect">
            <a:avLst/>
          </a:prstGeom>
          <a:noFill/>
          <a:ln/>
        </p:spPr>
        <p:txBody>
          <a:bodyPr wrap="square" lIns="0" tIns="0" rIns="0" bIns="0" rtlCol="0" anchor="ctr"/>
          <a:lstStyle/>
          <a:p>
            <a:pPr marL="0" indent="0">
              <a:buNone/>
            </a:pPr>
            <a:r>
              <a:rPr lang="en-US" sz="1600" b="1" dirty="0">
                <a:solidFill>
                  <a:srgbClr val="0E1E3A"/>
                </a:solidFill>
                <a:latin typeface="Cambria" pitchFamily="34" charset="0"/>
                <a:ea typeface="Cambria" pitchFamily="34" charset="-122"/>
                <a:cs typeface="Cambria" pitchFamily="34" charset="-120"/>
              </a:rPr>
              <a:t>−51.7%</a:t>
            </a:r>
            <a:endParaRPr lang="en-US" sz="1600" dirty="0"/>
          </a:p>
        </p:txBody>
      </p:sp>
      <p:sp>
        <p:nvSpPr>
          <p:cNvPr id="18" name="Text 15"/>
          <p:cNvSpPr/>
          <p:nvPr/>
        </p:nvSpPr>
        <p:spPr>
          <a:xfrm>
            <a:off x="4466234" y="5449824"/>
            <a:ext cx="1410157" cy="457200"/>
          </a:xfrm>
          <a:prstGeom prst="rect">
            <a:avLst/>
          </a:prstGeom>
          <a:noFill/>
          <a:ln/>
        </p:spPr>
        <p:txBody>
          <a:bodyPr wrap="square" lIns="0" tIns="0" rIns="0" bIns="0" rtlCol="0" anchor="t"/>
          <a:lstStyle/>
          <a:p>
            <a:pPr marL="0" indent="0">
              <a:lnSpc>
                <a:spcPct val="100000"/>
              </a:lnSpc>
              <a:buNone/>
            </a:pPr>
            <a:r>
              <a:rPr lang="en-US" sz="900" dirty="0">
                <a:solidFill>
                  <a:srgbClr val="5A6B84"/>
                </a:solidFill>
                <a:latin typeface="Calibri" pitchFamily="34" charset="0"/>
                <a:ea typeface="Calibri" pitchFamily="34" charset="-122"/>
                <a:cs typeface="Calibri" pitchFamily="34" charset="-120"/>
              </a:rPr>
              <a:t>observed wall latency</a:t>
            </a:r>
            <a:endParaRPr lang="en-US" sz="900" dirty="0"/>
          </a:p>
        </p:txBody>
      </p:sp>
      <p:sp>
        <p:nvSpPr>
          <p:cNvPr id="19" name="Shape 16"/>
          <p:cNvSpPr/>
          <p:nvPr/>
        </p:nvSpPr>
        <p:spPr>
          <a:xfrm>
            <a:off x="6187288" y="5029200"/>
            <a:ext cx="1666189" cy="969264"/>
          </a:xfrm>
          <a:prstGeom prst="roundRect">
            <a:avLst>
              <a:gd name="adj" fmla="val 4717"/>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20" name="Text 17"/>
          <p:cNvSpPr/>
          <p:nvPr/>
        </p:nvSpPr>
        <p:spPr>
          <a:xfrm>
            <a:off x="6315304" y="5120640"/>
            <a:ext cx="1410157" cy="329184"/>
          </a:xfrm>
          <a:prstGeom prst="rect">
            <a:avLst/>
          </a:prstGeom>
          <a:noFill/>
          <a:ln/>
        </p:spPr>
        <p:txBody>
          <a:bodyPr wrap="square" lIns="0" tIns="0" rIns="0" bIns="0" rtlCol="0" anchor="ctr"/>
          <a:lstStyle/>
          <a:p>
            <a:pPr marL="0" indent="0">
              <a:buNone/>
            </a:pPr>
            <a:r>
              <a:rPr lang="en-US" sz="1600" b="1" dirty="0">
                <a:solidFill>
                  <a:srgbClr val="0E1E3A"/>
                </a:solidFill>
                <a:latin typeface="Cambria" pitchFamily="34" charset="0"/>
                <a:ea typeface="Cambria" pitchFamily="34" charset="-122"/>
                <a:cs typeface="Cambria" pitchFamily="34" charset="-120"/>
              </a:rPr>
              <a:t>−32.0%</a:t>
            </a:r>
            <a:endParaRPr lang="en-US" sz="1600" dirty="0"/>
          </a:p>
        </p:txBody>
      </p:sp>
      <p:sp>
        <p:nvSpPr>
          <p:cNvPr id="21" name="Text 18"/>
          <p:cNvSpPr/>
          <p:nvPr/>
        </p:nvSpPr>
        <p:spPr>
          <a:xfrm>
            <a:off x="6315304" y="5449824"/>
            <a:ext cx="1410157" cy="457200"/>
          </a:xfrm>
          <a:prstGeom prst="rect">
            <a:avLst/>
          </a:prstGeom>
          <a:noFill/>
          <a:ln/>
        </p:spPr>
        <p:txBody>
          <a:bodyPr wrap="square" lIns="0" tIns="0" rIns="0" bIns="0" rtlCol="0" anchor="t"/>
          <a:lstStyle/>
          <a:p>
            <a:pPr marL="0" indent="0">
              <a:lnSpc>
                <a:spcPct val="100000"/>
              </a:lnSpc>
              <a:buNone/>
            </a:pPr>
            <a:r>
              <a:rPr lang="en-US" sz="900" dirty="0">
                <a:solidFill>
                  <a:srgbClr val="5A6B84"/>
                </a:solidFill>
                <a:latin typeface="Calibri" pitchFamily="34" charset="0"/>
                <a:ea typeface="Calibri" pitchFamily="34" charset="-122"/>
                <a:cs typeface="Calibri" pitchFamily="34" charset="-120"/>
              </a:rPr>
              <a:t>estimated cost</a:t>
            </a:r>
            <a:endParaRPr lang="en-US" sz="900" dirty="0"/>
          </a:p>
        </p:txBody>
      </p:sp>
      <p:sp>
        <p:nvSpPr>
          <p:cNvPr id="22" name="Shape 19"/>
          <p:cNvSpPr/>
          <p:nvPr/>
        </p:nvSpPr>
        <p:spPr>
          <a:xfrm>
            <a:off x="8036357" y="5029200"/>
            <a:ext cx="1666189" cy="969264"/>
          </a:xfrm>
          <a:prstGeom prst="roundRect">
            <a:avLst>
              <a:gd name="adj" fmla="val 4717"/>
            </a:avLst>
          </a:prstGeom>
          <a:solidFill>
            <a:srgbClr val="F5F9FC"/>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23" name="Text 20"/>
          <p:cNvSpPr/>
          <p:nvPr/>
        </p:nvSpPr>
        <p:spPr>
          <a:xfrm>
            <a:off x="8164373" y="5120640"/>
            <a:ext cx="1410157" cy="329184"/>
          </a:xfrm>
          <a:prstGeom prst="rect">
            <a:avLst/>
          </a:prstGeom>
          <a:noFill/>
          <a:ln/>
        </p:spPr>
        <p:txBody>
          <a:bodyPr wrap="square" lIns="0" tIns="0" rIns="0" bIns="0" rtlCol="0" anchor="ctr"/>
          <a:lstStyle/>
          <a:p>
            <a:pPr marL="0" indent="0">
              <a:buNone/>
            </a:pPr>
            <a:r>
              <a:rPr lang="en-US" sz="1600" b="1" dirty="0">
                <a:solidFill>
                  <a:srgbClr val="1F8A99"/>
                </a:solidFill>
                <a:latin typeface="Cambria" pitchFamily="34" charset="0"/>
                <a:ea typeface="Cambria" pitchFamily="34" charset="-122"/>
                <a:cs typeface="Cambria" pitchFamily="34" charset="-120"/>
              </a:rPr>
              <a:t>30 / 30</a:t>
            </a:r>
            <a:endParaRPr lang="en-US" sz="1600" dirty="0"/>
          </a:p>
        </p:txBody>
      </p:sp>
      <p:sp>
        <p:nvSpPr>
          <p:cNvPr id="24" name="Text 21"/>
          <p:cNvSpPr/>
          <p:nvPr/>
        </p:nvSpPr>
        <p:spPr>
          <a:xfrm>
            <a:off x="8164373" y="5449824"/>
            <a:ext cx="1410157" cy="457200"/>
          </a:xfrm>
          <a:prstGeom prst="rect">
            <a:avLst/>
          </a:prstGeom>
          <a:noFill/>
          <a:ln/>
        </p:spPr>
        <p:txBody>
          <a:bodyPr wrap="square" lIns="0" tIns="0" rIns="0" bIns="0" rtlCol="0" anchor="t"/>
          <a:lstStyle/>
          <a:p>
            <a:pPr marL="0" indent="0">
              <a:lnSpc>
                <a:spcPct val="100000"/>
              </a:lnSpc>
              <a:buNone/>
            </a:pPr>
            <a:r>
              <a:rPr lang="en-US" sz="900" dirty="0">
                <a:solidFill>
                  <a:srgbClr val="5A6B84"/>
                </a:solidFill>
                <a:latin typeface="Calibri" pitchFamily="34" charset="0"/>
                <a:ea typeface="Calibri" pitchFamily="34" charset="-122"/>
                <a:cs typeface="Calibri" pitchFamily="34" charset="-120"/>
              </a:rPr>
              <a:t>exact + full task contracts, every arm</a:t>
            </a:r>
            <a:endParaRPr lang="en-US" sz="900" dirty="0"/>
          </a:p>
        </p:txBody>
      </p:sp>
      <p:sp>
        <p:nvSpPr>
          <p:cNvPr id="25" name="Shape 22"/>
          <p:cNvSpPr/>
          <p:nvPr/>
        </p:nvSpPr>
        <p:spPr>
          <a:xfrm>
            <a:off x="9885426" y="5029200"/>
            <a:ext cx="1666189" cy="969264"/>
          </a:xfrm>
          <a:prstGeom prst="roundRect">
            <a:avLst>
              <a:gd name="adj" fmla="val 4717"/>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26" name="Text 23"/>
          <p:cNvSpPr/>
          <p:nvPr/>
        </p:nvSpPr>
        <p:spPr>
          <a:xfrm>
            <a:off x="10013442" y="5120640"/>
            <a:ext cx="1410157" cy="329184"/>
          </a:xfrm>
          <a:prstGeom prst="rect">
            <a:avLst/>
          </a:prstGeom>
          <a:noFill/>
          <a:ln/>
        </p:spPr>
        <p:txBody>
          <a:bodyPr wrap="square" lIns="0" tIns="0" rIns="0" bIns="0" rtlCol="0" anchor="ctr"/>
          <a:lstStyle/>
          <a:p>
            <a:pPr marL="0" indent="0">
              <a:buNone/>
            </a:pPr>
            <a:r>
              <a:rPr lang="en-US" sz="1600" b="1" dirty="0">
                <a:solidFill>
                  <a:srgbClr val="A93B2B"/>
                </a:solidFill>
                <a:latin typeface="Cambria" pitchFamily="34" charset="0"/>
                <a:ea typeface="Cambria" pitchFamily="34" charset="-122"/>
                <a:cs typeface="Cambria" pitchFamily="34" charset="-120"/>
              </a:rPr>
              <a:t>9.5%</a:t>
            </a:r>
            <a:endParaRPr lang="en-US" sz="1600" dirty="0"/>
          </a:p>
        </p:txBody>
      </p:sp>
      <p:sp>
        <p:nvSpPr>
          <p:cNvPr id="27" name="Text 24"/>
          <p:cNvSpPr/>
          <p:nvPr/>
        </p:nvSpPr>
        <p:spPr>
          <a:xfrm>
            <a:off x="10013442" y="5449824"/>
            <a:ext cx="1410157" cy="457200"/>
          </a:xfrm>
          <a:prstGeom prst="rect">
            <a:avLst/>
          </a:prstGeom>
          <a:noFill/>
          <a:ln/>
        </p:spPr>
        <p:txBody>
          <a:bodyPr wrap="square" lIns="0" tIns="0" rIns="0" bIns="0" rtlCol="0" anchor="t"/>
          <a:lstStyle/>
          <a:p>
            <a:pPr marL="0" indent="0">
              <a:lnSpc>
                <a:spcPct val="100000"/>
              </a:lnSpc>
              <a:buNone/>
            </a:pPr>
            <a:r>
              <a:rPr lang="en-US" sz="900" dirty="0">
                <a:solidFill>
                  <a:srgbClr val="5A6B84"/>
                </a:solidFill>
                <a:latin typeface="Calibri" pitchFamily="34" charset="0"/>
                <a:ea typeface="Calibri" pitchFamily="34" charset="-122"/>
                <a:cs typeface="Calibri" pitchFamily="34" charset="-120"/>
              </a:rPr>
              <a:t>one-sided bound on paired degradation</a:t>
            </a:r>
            <a:endParaRPr lang="en-US" sz="900" dirty="0"/>
          </a:p>
        </p:txBody>
      </p:sp>
      <p:sp>
        <p:nvSpPr>
          <p:cNvPr id="28" name="Text 25"/>
          <p:cNvSpPr/>
          <p:nvPr/>
        </p:nvSpPr>
        <p:spPr>
          <a:xfrm>
            <a:off x="640080" y="5998464"/>
            <a:ext cx="10911535" cy="274320"/>
          </a:xfrm>
          <a:prstGeom prst="rect">
            <a:avLst/>
          </a:prstGeom>
          <a:noFill/>
          <a:ln/>
        </p:spPr>
        <p:txBody>
          <a:bodyPr wrap="square" lIns="0" tIns="0" rIns="0" bIns="0" rtlCol="0" anchor="t"/>
          <a:lstStyle/>
          <a:p>
            <a:pPr marL="0" indent="0">
              <a:buNone/>
            </a:pPr>
            <a:r>
              <a:rPr lang="en-US" sz="900" i="1" dirty="0">
                <a:solidFill>
                  <a:srgbClr val="5A6B84"/>
                </a:solidFill>
                <a:latin typeface="Calibri" pitchFamily="34" charset="0"/>
                <a:ea typeface="Calibri" pitchFamily="34" charset="-122"/>
                <a:cs typeface="Calibri" pitchFamily="34" charset="-120"/>
              </a:rPr>
              <a:t>Thresholds below 0.11 admit none and those at or above 0.11 admit all 92, so this remains a sample-size gate rather than a demonstrated risk–coverage discriminator. Break-even against the 132-episode discovery cost lands between 176 and 292 eligible future episodes depending on which resource is amortized.</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19</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RESULTS  ·  §5.2  ·  TABLES 3 AND 4</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Preservation is not invariant to compilation depth</a:t>
            </a:r>
            <a:endParaRPr lang="en-US" sz="2600" dirty="0"/>
          </a:p>
        </p:txBody>
      </p:sp>
      <p:sp>
        <p:nvSpPr>
          <p:cNvPr id="6" name="Shape 4"/>
          <p:cNvSpPr/>
          <p:nvPr/>
        </p:nvSpPr>
        <p:spPr>
          <a:xfrm>
            <a:off x="640080" y="1170432"/>
            <a:ext cx="5272888" cy="2944368"/>
          </a:xfrm>
          <a:prstGeom prst="roundRect">
            <a:avLst>
              <a:gd name="adj" fmla="val 1553"/>
            </a:avLst>
          </a:prstGeom>
          <a:solidFill>
            <a:srgbClr val="E8F4F5"/>
          </a:solidFill>
          <a:ln w="9525">
            <a:solidFill>
              <a:srgbClr val="CFE4E7"/>
            </a:solidFill>
            <a:prstDash val="solid"/>
          </a:ln>
          <a:effectLst>
            <a:outerShdw blurRad="114300" dist="17780" dir="5400000" algn="bl" rotWithShape="0">
              <a:srgbClr val="94A6BC">
                <a:alpha val="15000"/>
              </a:srgbClr>
            </a:outerShdw>
          </a:effectLst>
        </p:spPr>
        <p:txBody>
          <a:bodyPr/>
          <a:lstStyle/>
          <a:p>
            <a:endParaRPr lang="en-US"/>
          </a:p>
        </p:txBody>
      </p:sp>
      <p:sp>
        <p:nvSpPr>
          <p:cNvPr id="7" name="Text 5"/>
          <p:cNvSpPr/>
          <p:nvPr/>
        </p:nvSpPr>
        <p:spPr>
          <a:xfrm>
            <a:off x="914400" y="1316736"/>
            <a:ext cx="4724248" cy="329184"/>
          </a:xfrm>
          <a:prstGeom prst="rect">
            <a:avLst/>
          </a:prstGeom>
          <a:noFill/>
          <a:ln/>
        </p:spPr>
        <p:txBody>
          <a:bodyPr wrap="square" lIns="0" tIns="0" rIns="0" bIns="0" rtlCol="0" anchor="t"/>
          <a:lstStyle/>
          <a:p>
            <a:pPr marL="0" indent="0">
              <a:buNone/>
            </a:pPr>
            <a:r>
              <a:rPr lang="en-US" sz="1700" b="1" dirty="0">
                <a:solidFill>
                  <a:srgbClr val="0E1E3A"/>
                </a:solidFill>
                <a:latin typeface="Cambria" pitchFamily="34" charset="0"/>
                <a:ea typeface="Cambria" pitchFamily="34" charset="-122"/>
                <a:cs typeface="Cambria" pitchFamily="34" charset="-120"/>
              </a:rPr>
              <a:t>Two-read prefix</a:t>
            </a:r>
            <a:endParaRPr lang="en-US" sz="1700" dirty="0"/>
          </a:p>
        </p:txBody>
      </p:sp>
      <p:sp>
        <p:nvSpPr>
          <p:cNvPr id="8" name="Text 6"/>
          <p:cNvSpPr/>
          <p:nvPr/>
        </p:nvSpPr>
        <p:spPr>
          <a:xfrm>
            <a:off x="914400" y="1645920"/>
            <a:ext cx="4724248" cy="237744"/>
          </a:xfrm>
          <a:prstGeom prst="rect">
            <a:avLst/>
          </a:prstGeom>
          <a:noFill/>
          <a:ln/>
        </p:spPr>
        <p:txBody>
          <a:bodyPr wrap="square" lIns="0" tIns="0" rIns="0" bIns="0" rtlCol="0" anchor="t"/>
          <a:lstStyle/>
          <a:p>
            <a:pPr marL="0" indent="0">
              <a:buNone/>
            </a:pPr>
            <a:r>
              <a:rPr lang="en-US" sz="1050" i="1" dirty="0">
                <a:solidFill>
                  <a:srgbClr val="5A6B84"/>
                </a:solidFill>
                <a:latin typeface="Calibri" pitchFamily="34" charset="0"/>
                <a:ea typeface="Calibri" pitchFamily="34" charset="-122"/>
                <a:cs typeface="Calibri" pitchFamily="34" charset="-120"/>
              </a:rPr>
              <a:t>expanded replication, 30 issues</a:t>
            </a:r>
            <a:endParaRPr lang="en-US" sz="1050" dirty="0"/>
          </a:p>
        </p:txBody>
      </p:sp>
      <p:sp>
        <p:nvSpPr>
          <p:cNvPr id="9" name="Text 7"/>
          <p:cNvSpPr/>
          <p:nvPr/>
        </p:nvSpPr>
        <p:spPr>
          <a:xfrm>
            <a:off x="914400" y="1975104"/>
            <a:ext cx="1371600" cy="310896"/>
          </a:xfrm>
          <a:prstGeom prst="rect">
            <a:avLst/>
          </a:prstGeom>
          <a:noFill/>
          <a:ln/>
        </p:spPr>
        <p:txBody>
          <a:bodyPr wrap="square" lIns="0" tIns="0" rIns="0" bIns="0" rtlCol="0" anchor="ctr"/>
          <a:lstStyle/>
          <a:p>
            <a:pPr marL="0" indent="0">
              <a:buNone/>
            </a:pPr>
            <a:r>
              <a:rPr lang="en-US" sz="1500" b="1" dirty="0">
                <a:solidFill>
                  <a:srgbClr val="0E1E3A"/>
                </a:solidFill>
                <a:latin typeface="Cambria" pitchFamily="34" charset="0"/>
                <a:ea typeface="Cambria" pitchFamily="34" charset="-122"/>
                <a:cs typeface="Cambria" pitchFamily="34" charset="-120"/>
              </a:rPr>
              <a:t>−50.0%</a:t>
            </a:r>
            <a:endParaRPr lang="en-US" sz="1500" dirty="0"/>
          </a:p>
        </p:txBody>
      </p:sp>
      <p:sp>
        <p:nvSpPr>
          <p:cNvPr id="10" name="Text 8"/>
          <p:cNvSpPr/>
          <p:nvPr/>
        </p:nvSpPr>
        <p:spPr>
          <a:xfrm>
            <a:off x="2377440" y="1975104"/>
            <a:ext cx="3261208" cy="310896"/>
          </a:xfrm>
          <a:prstGeom prst="rect">
            <a:avLst/>
          </a:prstGeom>
          <a:noFill/>
          <a:ln/>
        </p:spPr>
        <p:txBody>
          <a:bodyPr wrap="square" lIns="0" tIns="0" rIns="0" bIns="0" rtlCol="0" anchor="ctr"/>
          <a:lstStyle/>
          <a:p>
            <a:pPr marL="0" indent="0">
              <a:buNone/>
            </a:pPr>
            <a:r>
              <a:rPr lang="en-US" sz="1100" dirty="0">
                <a:solidFill>
                  <a:srgbClr val="24354F"/>
                </a:solidFill>
                <a:latin typeface="Calibri" pitchFamily="34" charset="0"/>
                <a:ea typeface="Calibri" pitchFamily="34" charset="-122"/>
                <a:cs typeface="Calibri" pitchFamily="34" charset="-120"/>
              </a:rPr>
              <a:t>provider requests</a:t>
            </a:r>
            <a:endParaRPr lang="en-US" sz="1100" dirty="0"/>
          </a:p>
        </p:txBody>
      </p:sp>
      <p:sp>
        <p:nvSpPr>
          <p:cNvPr id="11" name="Text 9"/>
          <p:cNvSpPr/>
          <p:nvPr/>
        </p:nvSpPr>
        <p:spPr>
          <a:xfrm>
            <a:off x="914400" y="2377440"/>
            <a:ext cx="1371600" cy="310896"/>
          </a:xfrm>
          <a:prstGeom prst="rect">
            <a:avLst/>
          </a:prstGeom>
          <a:noFill/>
          <a:ln/>
        </p:spPr>
        <p:txBody>
          <a:bodyPr wrap="square" lIns="0" tIns="0" rIns="0" bIns="0" rtlCol="0" anchor="ctr"/>
          <a:lstStyle/>
          <a:p>
            <a:pPr marL="0" indent="0">
              <a:buNone/>
            </a:pPr>
            <a:r>
              <a:rPr lang="en-US" sz="1500" b="1" dirty="0">
                <a:solidFill>
                  <a:srgbClr val="0E1E3A"/>
                </a:solidFill>
                <a:latin typeface="Cambria" pitchFamily="34" charset="0"/>
                <a:ea typeface="Cambria" pitchFamily="34" charset="-122"/>
                <a:cs typeface="Cambria" pitchFamily="34" charset="-120"/>
              </a:rPr>
              <a:t>−39.5%</a:t>
            </a:r>
            <a:endParaRPr lang="en-US" sz="1500" dirty="0"/>
          </a:p>
        </p:txBody>
      </p:sp>
      <p:sp>
        <p:nvSpPr>
          <p:cNvPr id="12" name="Text 10"/>
          <p:cNvSpPr/>
          <p:nvPr/>
        </p:nvSpPr>
        <p:spPr>
          <a:xfrm>
            <a:off x="2377440" y="2377440"/>
            <a:ext cx="3261208" cy="310896"/>
          </a:xfrm>
          <a:prstGeom prst="rect">
            <a:avLst/>
          </a:prstGeom>
          <a:noFill/>
          <a:ln/>
        </p:spPr>
        <p:txBody>
          <a:bodyPr wrap="square" lIns="0" tIns="0" rIns="0" bIns="0" rtlCol="0" anchor="ctr"/>
          <a:lstStyle/>
          <a:p>
            <a:pPr marL="0" indent="0">
              <a:buNone/>
            </a:pPr>
            <a:r>
              <a:rPr lang="en-US" sz="1100" dirty="0">
                <a:solidFill>
                  <a:srgbClr val="24354F"/>
                </a:solidFill>
                <a:latin typeface="Calibri" pitchFamily="34" charset="0"/>
                <a:ea typeface="Calibri" pitchFamily="34" charset="-122"/>
                <a:cs typeface="Calibri" pitchFamily="34" charset="-120"/>
              </a:rPr>
              <a:t>total tokens</a:t>
            </a:r>
            <a:endParaRPr lang="en-US" sz="1100" dirty="0"/>
          </a:p>
        </p:txBody>
      </p:sp>
      <p:sp>
        <p:nvSpPr>
          <p:cNvPr id="13" name="Text 11"/>
          <p:cNvSpPr/>
          <p:nvPr/>
        </p:nvSpPr>
        <p:spPr>
          <a:xfrm>
            <a:off x="914400" y="2779776"/>
            <a:ext cx="1371600" cy="310896"/>
          </a:xfrm>
          <a:prstGeom prst="rect">
            <a:avLst/>
          </a:prstGeom>
          <a:noFill/>
          <a:ln/>
        </p:spPr>
        <p:txBody>
          <a:bodyPr wrap="square" lIns="0" tIns="0" rIns="0" bIns="0" rtlCol="0" anchor="ctr"/>
          <a:lstStyle/>
          <a:p>
            <a:pPr marL="0" indent="0">
              <a:buNone/>
            </a:pPr>
            <a:r>
              <a:rPr lang="en-US" sz="1500" b="1" dirty="0">
                <a:solidFill>
                  <a:srgbClr val="0E1E3A"/>
                </a:solidFill>
                <a:latin typeface="Cambria" pitchFamily="34" charset="0"/>
                <a:ea typeface="Cambria" pitchFamily="34" charset="-122"/>
                <a:cs typeface="Cambria" pitchFamily="34" charset="-120"/>
              </a:rPr>
              <a:t>30 / 30</a:t>
            </a:r>
            <a:endParaRPr lang="en-US" sz="1500" dirty="0"/>
          </a:p>
        </p:txBody>
      </p:sp>
      <p:sp>
        <p:nvSpPr>
          <p:cNvPr id="14" name="Text 12"/>
          <p:cNvSpPr/>
          <p:nvPr/>
        </p:nvSpPr>
        <p:spPr>
          <a:xfrm>
            <a:off x="2377440" y="2779776"/>
            <a:ext cx="3261208" cy="310896"/>
          </a:xfrm>
          <a:prstGeom prst="rect">
            <a:avLst/>
          </a:prstGeom>
          <a:noFill/>
          <a:ln/>
        </p:spPr>
        <p:txBody>
          <a:bodyPr wrap="square" lIns="0" tIns="0" rIns="0" bIns="0" rtlCol="0" anchor="ctr"/>
          <a:lstStyle/>
          <a:p>
            <a:pPr marL="0" indent="0">
              <a:buNone/>
            </a:pPr>
            <a:r>
              <a:rPr lang="en-US" sz="1100" dirty="0">
                <a:solidFill>
                  <a:srgbClr val="24354F"/>
                </a:solidFill>
                <a:latin typeface="Calibri" pitchFamily="34" charset="0"/>
                <a:ea typeface="Calibri" pitchFamily="34" charset="-122"/>
                <a:cs typeface="Calibri" pitchFamily="34" charset="-120"/>
              </a:rPr>
              <a:t>exact source contracts</a:t>
            </a:r>
            <a:endParaRPr lang="en-US" sz="1100" dirty="0"/>
          </a:p>
        </p:txBody>
      </p:sp>
      <p:sp>
        <p:nvSpPr>
          <p:cNvPr id="15" name="Text 13"/>
          <p:cNvSpPr/>
          <p:nvPr/>
        </p:nvSpPr>
        <p:spPr>
          <a:xfrm>
            <a:off x="914400" y="3182112"/>
            <a:ext cx="1371600" cy="310896"/>
          </a:xfrm>
          <a:prstGeom prst="rect">
            <a:avLst/>
          </a:prstGeom>
          <a:noFill/>
          <a:ln/>
        </p:spPr>
        <p:txBody>
          <a:bodyPr wrap="square" lIns="0" tIns="0" rIns="0" bIns="0" rtlCol="0" anchor="ctr"/>
          <a:lstStyle/>
          <a:p>
            <a:pPr marL="0" indent="0">
              <a:buNone/>
            </a:pPr>
            <a:r>
              <a:rPr lang="en-US" sz="1500" b="1" dirty="0">
                <a:solidFill>
                  <a:srgbClr val="0E1E3A"/>
                </a:solidFill>
                <a:latin typeface="Cambria" pitchFamily="34" charset="0"/>
                <a:ea typeface="Cambria" pitchFamily="34" charset="-122"/>
                <a:cs typeface="Cambria" pitchFamily="34" charset="-120"/>
              </a:rPr>
              <a:t>9.5%</a:t>
            </a:r>
            <a:endParaRPr lang="en-US" sz="1500" dirty="0"/>
          </a:p>
        </p:txBody>
      </p:sp>
      <p:sp>
        <p:nvSpPr>
          <p:cNvPr id="16" name="Text 14"/>
          <p:cNvSpPr/>
          <p:nvPr/>
        </p:nvSpPr>
        <p:spPr>
          <a:xfrm>
            <a:off x="2377440" y="3182112"/>
            <a:ext cx="3261208" cy="310896"/>
          </a:xfrm>
          <a:prstGeom prst="rect">
            <a:avLst/>
          </a:prstGeom>
          <a:noFill/>
          <a:ln/>
        </p:spPr>
        <p:txBody>
          <a:bodyPr wrap="square" lIns="0" tIns="0" rIns="0" bIns="0" rtlCol="0" anchor="ctr"/>
          <a:lstStyle/>
          <a:p>
            <a:pPr marL="0" indent="0">
              <a:buNone/>
            </a:pPr>
            <a:r>
              <a:rPr lang="en-US" sz="1100" dirty="0">
                <a:solidFill>
                  <a:srgbClr val="24354F"/>
                </a:solidFill>
                <a:latin typeface="Calibri" pitchFamily="34" charset="0"/>
                <a:ea typeface="Calibri" pitchFamily="34" charset="-122"/>
                <a:cs typeface="Calibri" pitchFamily="34" charset="-120"/>
              </a:rPr>
              <a:t>degradation bound</a:t>
            </a:r>
            <a:endParaRPr lang="en-US" sz="1100" dirty="0"/>
          </a:p>
        </p:txBody>
      </p:sp>
      <p:sp>
        <p:nvSpPr>
          <p:cNvPr id="17" name="Text 15"/>
          <p:cNvSpPr/>
          <p:nvPr/>
        </p:nvSpPr>
        <p:spPr>
          <a:xfrm>
            <a:off x="914400" y="3621024"/>
            <a:ext cx="4724248" cy="402336"/>
          </a:xfrm>
          <a:prstGeom prst="rect">
            <a:avLst/>
          </a:prstGeom>
          <a:noFill/>
          <a:ln/>
        </p:spPr>
        <p:txBody>
          <a:bodyPr wrap="square" lIns="0" tIns="0" rIns="0" bIns="0" rtlCol="0" anchor="t"/>
          <a:lstStyle/>
          <a:p>
            <a:pPr marL="0" indent="0">
              <a:lnSpc>
                <a:spcPct val="105000"/>
              </a:lnSpc>
              <a:buNone/>
            </a:pPr>
            <a:r>
              <a:rPr lang="en-US" sz="1000" dirty="0">
                <a:solidFill>
                  <a:srgbClr val="5A6B84"/>
                </a:solidFill>
                <a:latin typeface="Calibri" pitchFamily="34" charset="0"/>
                <a:ea typeface="Calibri" pitchFamily="34" charset="-122"/>
                <a:cs typeface="Calibri" pitchFamily="34" charset="-120"/>
              </a:rPr>
              <a:t>Groundability permits only two of three reads. Nothing is lost, and the bound is what the sample size allows — not equivalence.</a:t>
            </a:r>
            <a:endParaRPr lang="en-US" sz="1000" dirty="0"/>
          </a:p>
        </p:txBody>
      </p:sp>
      <p:sp>
        <p:nvSpPr>
          <p:cNvPr id="18" name="Shape 16"/>
          <p:cNvSpPr/>
          <p:nvPr/>
        </p:nvSpPr>
        <p:spPr>
          <a:xfrm>
            <a:off x="6278728" y="1170432"/>
            <a:ext cx="5272888" cy="2944368"/>
          </a:xfrm>
          <a:prstGeom prst="roundRect">
            <a:avLst>
              <a:gd name="adj" fmla="val 1553"/>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19" name="Text 17"/>
          <p:cNvSpPr/>
          <p:nvPr/>
        </p:nvSpPr>
        <p:spPr>
          <a:xfrm>
            <a:off x="6553048" y="1316736"/>
            <a:ext cx="4724248" cy="329184"/>
          </a:xfrm>
          <a:prstGeom prst="rect">
            <a:avLst/>
          </a:prstGeom>
          <a:noFill/>
          <a:ln/>
        </p:spPr>
        <p:txBody>
          <a:bodyPr wrap="square" lIns="0" tIns="0" rIns="0" bIns="0" rtlCol="0" anchor="t"/>
          <a:lstStyle/>
          <a:p>
            <a:pPr marL="0" indent="0">
              <a:buNone/>
            </a:pPr>
            <a:r>
              <a:rPr lang="en-US" sz="1700" b="1" dirty="0">
                <a:solidFill>
                  <a:srgbClr val="A93B2B"/>
                </a:solidFill>
                <a:latin typeface="Cambria" pitchFamily="34" charset="0"/>
                <a:ea typeface="Cambria" pitchFamily="34" charset="-122"/>
                <a:cs typeface="Cambria" pitchFamily="34" charset="-120"/>
              </a:rPr>
              <a:t>Three-read artifact</a:t>
            </a:r>
            <a:endParaRPr lang="en-US" sz="1700" dirty="0"/>
          </a:p>
        </p:txBody>
      </p:sp>
      <p:sp>
        <p:nvSpPr>
          <p:cNvPr id="20" name="Text 18"/>
          <p:cNvSpPr/>
          <p:nvPr/>
        </p:nvSpPr>
        <p:spPr>
          <a:xfrm>
            <a:off x="6553048" y="1645920"/>
            <a:ext cx="4724248" cy="237744"/>
          </a:xfrm>
          <a:prstGeom prst="rect">
            <a:avLst/>
          </a:prstGeom>
          <a:noFill/>
          <a:ln/>
        </p:spPr>
        <p:txBody>
          <a:bodyPr wrap="square" lIns="0" tIns="0" rIns="0" bIns="0" rtlCol="0" anchor="t"/>
          <a:lstStyle/>
          <a:p>
            <a:pPr marL="0" indent="0">
              <a:buNone/>
            </a:pPr>
            <a:r>
              <a:rPr lang="en-US" sz="1050" i="1" dirty="0">
                <a:solidFill>
                  <a:srgbClr val="5A6B84"/>
                </a:solidFill>
                <a:latin typeface="Calibri" pitchFamily="34" charset="0"/>
                <a:ea typeface="Calibri" pitchFamily="34" charset="-122"/>
                <a:cs typeface="Calibri" pitchFamily="34" charset="-120"/>
              </a:rPr>
              <a:t>earlier aggressive study, 18 issues</a:t>
            </a:r>
            <a:endParaRPr lang="en-US" sz="1050" dirty="0"/>
          </a:p>
        </p:txBody>
      </p:sp>
      <p:sp>
        <p:nvSpPr>
          <p:cNvPr id="21" name="Text 19"/>
          <p:cNvSpPr/>
          <p:nvPr/>
        </p:nvSpPr>
        <p:spPr>
          <a:xfrm>
            <a:off x="6553048" y="1975104"/>
            <a:ext cx="1371600" cy="310896"/>
          </a:xfrm>
          <a:prstGeom prst="rect">
            <a:avLst/>
          </a:prstGeom>
          <a:noFill/>
          <a:ln/>
        </p:spPr>
        <p:txBody>
          <a:bodyPr wrap="square" lIns="0" tIns="0" rIns="0" bIns="0" rtlCol="0" anchor="ctr"/>
          <a:lstStyle/>
          <a:p>
            <a:pPr marL="0" indent="0">
              <a:buNone/>
            </a:pPr>
            <a:r>
              <a:rPr lang="en-US" sz="1500" b="1" dirty="0">
                <a:solidFill>
                  <a:srgbClr val="A93B2B"/>
                </a:solidFill>
                <a:latin typeface="Cambria" pitchFamily="34" charset="0"/>
                <a:ea typeface="Cambria" pitchFamily="34" charset="-122"/>
                <a:cs typeface="Cambria" pitchFamily="34" charset="-120"/>
              </a:rPr>
              <a:t>−75.0%</a:t>
            </a:r>
            <a:endParaRPr lang="en-US" sz="1500" dirty="0"/>
          </a:p>
        </p:txBody>
      </p:sp>
      <p:sp>
        <p:nvSpPr>
          <p:cNvPr id="22" name="Text 20"/>
          <p:cNvSpPr/>
          <p:nvPr/>
        </p:nvSpPr>
        <p:spPr>
          <a:xfrm>
            <a:off x="8016088" y="1975104"/>
            <a:ext cx="3261208" cy="310896"/>
          </a:xfrm>
          <a:prstGeom prst="rect">
            <a:avLst/>
          </a:prstGeom>
          <a:noFill/>
          <a:ln/>
        </p:spPr>
        <p:txBody>
          <a:bodyPr wrap="square" lIns="0" tIns="0" rIns="0" bIns="0" rtlCol="0" anchor="ctr"/>
          <a:lstStyle/>
          <a:p>
            <a:pPr marL="0" indent="0">
              <a:buNone/>
            </a:pPr>
            <a:r>
              <a:rPr lang="en-US" sz="1100" dirty="0">
                <a:solidFill>
                  <a:srgbClr val="24354F"/>
                </a:solidFill>
                <a:latin typeface="Calibri" pitchFamily="34" charset="0"/>
                <a:ea typeface="Calibri" pitchFamily="34" charset="-122"/>
                <a:cs typeface="Calibri" pitchFamily="34" charset="-120"/>
              </a:rPr>
              <a:t>provider requests</a:t>
            </a:r>
            <a:endParaRPr lang="en-US" sz="1100" dirty="0"/>
          </a:p>
        </p:txBody>
      </p:sp>
      <p:sp>
        <p:nvSpPr>
          <p:cNvPr id="23" name="Text 21"/>
          <p:cNvSpPr/>
          <p:nvPr/>
        </p:nvSpPr>
        <p:spPr>
          <a:xfrm>
            <a:off x="6553048" y="2377440"/>
            <a:ext cx="1371600" cy="310896"/>
          </a:xfrm>
          <a:prstGeom prst="rect">
            <a:avLst/>
          </a:prstGeom>
          <a:noFill/>
          <a:ln/>
        </p:spPr>
        <p:txBody>
          <a:bodyPr wrap="square" lIns="0" tIns="0" rIns="0" bIns="0" rtlCol="0" anchor="ctr"/>
          <a:lstStyle/>
          <a:p>
            <a:pPr marL="0" indent="0">
              <a:buNone/>
            </a:pPr>
            <a:r>
              <a:rPr lang="en-US" sz="1500" b="1" dirty="0">
                <a:solidFill>
                  <a:srgbClr val="A93B2B"/>
                </a:solidFill>
                <a:latin typeface="Cambria" pitchFamily="34" charset="0"/>
                <a:ea typeface="Cambria" pitchFamily="34" charset="-122"/>
                <a:cs typeface="Cambria" pitchFamily="34" charset="-120"/>
              </a:rPr>
              <a:t>−66.0%</a:t>
            </a:r>
            <a:endParaRPr lang="en-US" sz="1500" dirty="0"/>
          </a:p>
        </p:txBody>
      </p:sp>
      <p:sp>
        <p:nvSpPr>
          <p:cNvPr id="24" name="Text 22"/>
          <p:cNvSpPr/>
          <p:nvPr/>
        </p:nvSpPr>
        <p:spPr>
          <a:xfrm>
            <a:off x="8016088" y="2377440"/>
            <a:ext cx="3261208" cy="310896"/>
          </a:xfrm>
          <a:prstGeom prst="rect">
            <a:avLst/>
          </a:prstGeom>
          <a:noFill/>
          <a:ln/>
        </p:spPr>
        <p:txBody>
          <a:bodyPr wrap="square" lIns="0" tIns="0" rIns="0" bIns="0" rtlCol="0" anchor="ctr"/>
          <a:lstStyle/>
          <a:p>
            <a:pPr marL="0" indent="0">
              <a:buNone/>
            </a:pPr>
            <a:r>
              <a:rPr lang="en-US" sz="1100" dirty="0">
                <a:solidFill>
                  <a:srgbClr val="24354F"/>
                </a:solidFill>
                <a:latin typeface="Calibri" pitchFamily="34" charset="0"/>
                <a:ea typeface="Calibri" pitchFamily="34" charset="-122"/>
                <a:cs typeface="Calibri" pitchFamily="34" charset="-120"/>
              </a:rPr>
              <a:t>total tokens</a:t>
            </a:r>
            <a:endParaRPr lang="en-US" sz="1100" dirty="0"/>
          </a:p>
        </p:txBody>
      </p:sp>
      <p:sp>
        <p:nvSpPr>
          <p:cNvPr id="25" name="Text 23"/>
          <p:cNvSpPr/>
          <p:nvPr/>
        </p:nvSpPr>
        <p:spPr>
          <a:xfrm>
            <a:off x="6553048" y="2779776"/>
            <a:ext cx="1371600" cy="310896"/>
          </a:xfrm>
          <a:prstGeom prst="rect">
            <a:avLst/>
          </a:prstGeom>
          <a:noFill/>
          <a:ln/>
        </p:spPr>
        <p:txBody>
          <a:bodyPr wrap="square" lIns="0" tIns="0" rIns="0" bIns="0" rtlCol="0" anchor="ctr"/>
          <a:lstStyle/>
          <a:p>
            <a:pPr marL="0" indent="0">
              <a:buNone/>
            </a:pPr>
            <a:r>
              <a:rPr lang="en-US" sz="1500" b="1" dirty="0">
                <a:solidFill>
                  <a:srgbClr val="A93B2B"/>
                </a:solidFill>
                <a:latin typeface="Cambria" pitchFamily="34" charset="0"/>
                <a:ea typeface="Cambria" pitchFamily="34" charset="-122"/>
                <a:cs typeface="Cambria" pitchFamily="34" charset="-120"/>
              </a:rPr>
              <a:t>17 / 18</a:t>
            </a:r>
            <a:endParaRPr lang="en-US" sz="1500" dirty="0"/>
          </a:p>
        </p:txBody>
      </p:sp>
      <p:sp>
        <p:nvSpPr>
          <p:cNvPr id="26" name="Text 24"/>
          <p:cNvSpPr/>
          <p:nvPr/>
        </p:nvSpPr>
        <p:spPr>
          <a:xfrm>
            <a:off x="8016088" y="2779776"/>
            <a:ext cx="3261208" cy="310896"/>
          </a:xfrm>
          <a:prstGeom prst="rect">
            <a:avLst/>
          </a:prstGeom>
          <a:noFill/>
          <a:ln/>
        </p:spPr>
        <p:txBody>
          <a:bodyPr wrap="square" lIns="0" tIns="0" rIns="0" bIns="0" rtlCol="0" anchor="ctr"/>
          <a:lstStyle/>
          <a:p>
            <a:pPr marL="0" indent="0">
              <a:buNone/>
            </a:pPr>
            <a:r>
              <a:rPr lang="en-US" sz="1100" dirty="0">
                <a:solidFill>
                  <a:srgbClr val="24354F"/>
                </a:solidFill>
                <a:latin typeface="Calibri" pitchFamily="34" charset="0"/>
                <a:ea typeface="Calibri" pitchFamily="34" charset="-122"/>
                <a:cs typeface="Calibri" pitchFamily="34" charset="-120"/>
              </a:rPr>
              <a:t>exact source contracts</a:t>
            </a:r>
            <a:endParaRPr lang="en-US" sz="1100" dirty="0"/>
          </a:p>
        </p:txBody>
      </p:sp>
      <p:sp>
        <p:nvSpPr>
          <p:cNvPr id="27" name="Text 25"/>
          <p:cNvSpPr/>
          <p:nvPr/>
        </p:nvSpPr>
        <p:spPr>
          <a:xfrm>
            <a:off x="6553048" y="3182112"/>
            <a:ext cx="1371600" cy="310896"/>
          </a:xfrm>
          <a:prstGeom prst="rect">
            <a:avLst/>
          </a:prstGeom>
          <a:noFill/>
          <a:ln/>
        </p:spPr>
        <p:txBody>
          <a:bodyPr wrap="square" lIns="0" tIns="0" rIns="0" bIns="0" rtlCol="0" anchor="ctr"/>
          <a:lstStyle/>
          <a:p>
            <a:pPr marL="0" indent="0">
              <a:buNone/>
            </a:pPr>
            <a:r>
              <a:rPr lang="en-US" sz="1500" b="1" dirty="0">
                <a:solidFill>
                  <a:srgbClr val="A93B2B"/>
                </a:solidFill>
                <a:latin typeface="Cambria" pitchFamily="34" charset="0"/>
                <a:ea typeface="Cambria" pitchFamily="34" charset="-122"/>
                <a:cs typeface="Cambria" pitchFamily="34" charset="-120"/>
              </a:rPr>
              <a:t>23.8%</a:t>
            </a:r>
            <a:endParaRPr lang="en-US" sz="1500" dirty="0"/>
          </a:p>
        </p:txBody>
      </p:sp>
      <p:sp>
        <p:nvSpPr>
          <p:cNvPr id="28" name="Text 26"/>
          <p:cNvSpPr/>
          <p:nvPr/>
        </p:nvSpPr>
        <p:spPr>
          <a:xfrm>
            <a:off x="8016088" y="3182112"/>
            <a:ext cx="3261208" cy="310896"/>
          </a:xfrm>
          <a:prstGeom prst="rect">
            <a:avLst/>
          </a:prstGeom>
          <a:noFill/>
          <a:ln/>
        </p:spPr>
        <p:txBody>
          <a:bodyPr wrap="square" lIns="0" tIns="0" rIns="0" bIns="0" rtlCol="0" anchor="ctr"/>
          <a:lstStyle/>
          <a:p>
            <a:pPr marL="0" indent="0">
              <a:buNone/>
            </a:pPr>
            <a:r>
              <a:rPr lang="en-US" sz="1100" dirty="0">
                <a:solidFill>
                  <a:srgbClr val="24354F"/>
                </a:solidFill>
                <a:latin typeface="Calibri" pitchFamily="34" charset="0"/>
                <a:ea typeface="Calibri" pitchFamily="34" charset="-122"/>
                <a:cs typeface="Calibri" pitchFamily="34" charset="-120"/>
              </a:rPr>
              <a:t>degradation bound</a:t>
            </a:r>
            <a:endParaRPr lang="en-US" sz="1100" dirty="0"/>
          </a:p>
        </p:txBody>
      </p:sp>
      <p:sp>
        <p:nvSpPr>
          <p:cNvPr id="29" name="Text 27"/>
          <p:cNvSpPr/>
          <p:nvPr/>
        </p:nvSpPr>
        <p:spPr>
          <a:xfrm>
            <a:off x="6553048" y="3621024"/>
            <a:ext cx="4724248" cy="402336"/>
          </a:xfrm>
          <a:prstGeom prst="rect">
            <a:avLst/>
          </a:prstGeom>
          <a:noFill/>
          <a:ln/>
        </p:spPr>
        <p:txBody>
          <a:bodyPr wrap="square" lIns="0" tIns="0" rIns="0" bIns="0" rtlCol="0" anchor="t"/>
          <a:lstStyle/>
          <a:p>
            <a:pPr marL="0" indent="0">
              <a:lnSpc>
                <a:spcPct val="105000"/>
              </a:lnSpc>
              <a:buNone/>
            </a:pPr>
            <a:r>
              <a:rPr lang="en-US" sz="1000" dirty="0">
                <a:solidFill>
                  <a:srgbClr val="5C4034"/>
                </a:solidFill>
                <a:latin typeface="Calibri" pitchFamily="34" charset="0"/>
                <a:ea typeface="Calibri" pitchFamily="34" charset="-122"/>
                <a:cs typeface="Calibri" pitchFamily="34" charset="-120"/>
              </a:rPr>
              <a:t>On issue 6602 the source contained a Markdown link; the compiled continuation dropped the URL and returned only its anchor text.</a:t>
            </a:r>
            <a:endParaRPr lang="en-US" sz="1000" dirty="0"/>
          </a:p>
        </p:txBody>
      </p:sp>
      <p:sp>
        <p:nvSpPr>
          <p:cNvPr id="30" name="Shape 28"/>
          <p:cNvSpPr/>
          <p:nvPr/>
        </p:nvSpPr>
        <p:spPr>
          <a:xfrm>
            <a:off x="640080" y="4261104"/>
            <a:ext cx="10911535" cy="1207008"/>
          </a:xfrm>
          <a:prstGeom prst="roundRect">
            <a:avLst>
              <a:gd name="adj" fmla="val 3788"/>
            </a:avLst>
          </a:prstGeom>
          <a:solidFill>
            <a:srgbClr val="EAF1F7"/>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31" name="Shape 29"/>
          <p:cNvSpPr/>
          <p:nvPr/>
        </p:nvSpPr>
        <p:spPr>
          <a:xfrm>
            <a:off x="896112" y="4443984"/>
            <a:ext cx="329184" cy="329184"/>
          </a:xfrm>
          <a:prstGeom prst="ellipse">
            <a:avLst/>
          </a:prstGeom>
          <a:solidFill>
            <a:srgbClr val="1F8A99"/>
          </a:solidFill>
          <a:ln w="6350">
            <a:solidFill>
              <a:srgbClr val="1F8A99"/>
            </a:solidFill>
            <a:prstDash val="solid"/>
          </a:ln>
        </p:spPr>
        <p:txBody>
          <a:bodyPr/>
          <a:lstStyle/>
          <a:p>
            <a:endParaRPr lang="en-US"/>
          </a:p>
        </p:txBody>
      </p:sp>
      <p:sp>
        <p:nvSpPr>
          <p:cNvPr id="32" name="Text 30"/>
          <p:cNvSpPr/>
          <p:nvPr/>
        </p:nvSpPr>
        <p:spPr>
          <a:xfrm>
            <a:off x="896112" y="4443984"/>
            <a:ext cx="329184" cy="329184"/>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33" name="Text 31"/>
          <p:cNvSpPr/>
          <p:nvPr/>
        </p:nvSpPr>
        <p:spPr>
          <a:xfrm>
            <a:off x="1335024" y="4407408"/>
            <a:ext cx="9905695" cy="274320"/>
          </a:xfrm>
          <a:prstGeom prst="rect">
            <a:avLst/>
          </a:prstGeom>
          <a:noFill/>
          <a:ln/>
        </p:spPr>
        <p:txBody>
          <a:bodyPr wrap="square" lIns="0" tIns="0" rIns="0" bIns="0" rtlCol="0" anchor="ctr"/>
          <a:lstStyle/>
          <a:p>
            <a:pPr marL="0" indent="0">
              <a:buNone/>
            </a:pPr>
            <a:r>
              <a:rPr lang="en-US" sz="1300" b="1" dirty="0">
                <a:solidFill>
                  <a:srgbClr val="0E1E3A"/>
                </a:solidFill>
                <a:latin typeface="Cambria" pitchFamily="34" charset="0"/>
                <a:ea typeface="Cambria" pitchFamily="34" charset="-122"/>
                <a:cs typeface="Cambria" pitchFamily="34" charset="-120"/>
              </a:rPr>
              <a:t>The miss fixes the gate's scope — and motivates a second admission layer</a:t>
            </a:r>
            <a:endParaRPr lang="en-US" sz="1300" dirty="0"/>
          </a:p>
        </p:txBody>
      </p:sp>
      <p:sp>
        <p:nvSpPr>
          <p:cNvPr id="34" name="Text 32"/>
          <p:cNvSpPr/>
          <p:nvPr/>
        </p:nvSpPr>
        <p:spPr>
          <a:xfrm>
            <a:off x="1335024" y="4700016"/>
            <a:ext cx="9905695" cy="694944"/>
          </a:xfrm>
          <a:prstGeom prst="rect">
            <a:avLst/>
          </a:prstGeom>
          <a:noFill/>
          <a:ln/>
        </p:spPr>
        <p:txBody>
          <a:bodyPr wrap="square" lIns="0" tIns="0" rIns="0" bIns="0" rtlCol="0" anchor="t"/>
          <a:lstStyle/>
          <a:p>
            <a:pPr marL="0" indent="0">
              <a:lnSpc>
                <a:spcPct val="106000"/>
              </a:lnSpc>
              <a:buNone/>
            </a:pPr>
            <a:r>
              <a:rPr lang="en-US" sz="1050" dirty="0">
                <a:solidFill>
                  <a:srgbClr val="24354F"/>
                </a:solidFill>
                <a:latin typeface="Calibri" pitchFamily="34" charset="0"/>
                <a:ea typeface="Calibri" pitchFamily="34" charset="-122"/>
                <a:cs typeface="Calibri" pitchFamily="34" charset="-120"/>
              </a:rPr>
              <a:t>Zero calibration violations concern the compiled tool program: grounded arguments, tool outputs, call counts, declared effects. The verifier does not certify the downstream model continuation, so 45/45 clean program replays and a held-out factual miss are compatible. A framework-neutral ContinuationGuard — candidate answer, then an optional deterministic renderer, then baseline, revalidating either output before release — accepts 17 retained answers, detects issue 6602, and checked-renders it to 18/18 in provider-free replay. That establishes detection and rendering on retained records, not live latency, cost, non-inferiority, or cross-domain safety.</a:t>
            </a:r>
            <a:endParaRPr lang="en-US" sz="1050" dirty="0"/>
          </a:p>
        </p:txBody>
      </p:sp>
      <p:sp>
        <p:nvSpPr>
          <p:cNvPr id="35" name="Text 33"/>
          <p:cNvSpPr/>
          <p:nvPr/>
        </p:nvSpPr>
        <p:spPr>
          <a:xfrm>
            <a:off x="640080" y="5596128"/>
            <a:ext cx="10911535" cy="603504"/>
          </a:xfrm>
          <a:prstGeom prst="rect">
            <a:avLst/>
          </a:prstGeom>
          <a:noFill/>
          <a:ln/>
        </p:spPr>
        <p:txBody>
          <a:bodyPr wrap="square" lIns="0" tIns="0" rIns="0" bIns="0" rtlCol="0" anchor="t"/>
          <a:lstStyle/>
          <a:p>
            <a:pPr marL="0" indent="0">
              <a:lnSpc>
                <a:spcPct val="105000"/>
              </a:lnSpc>
              <a:buNone/>
            </a:pPr>
            <a:r>
              <a:rPr lang="en-US" sz="1000" i="1" dirty="0">
                <a:solidFill>
                  <a:srgbClr val="5A6B84"/>
                </a:solidFill>
                <a:latin typeface="Calibri" pitchFamily="34" charset="0"/>
                <a:ea typeface="Calibri" pitchFamily="34" charset="-122"/>
                <a:cs typeface="Calibri" pitchFamily="34" charset="-120"/>
              </a:rPr>
              <a:t>McNemar carries almost no information at these sample sizes — p = 1 in both arms. The informative quantity is the one-sided exact bound on the paired degradation rate: 9.5% for the 30-record arm with zero compiler-only failures, 23.8% for the 18-record arm with its single discordance. H3 is therefore supported for the two-read artifact and not supported for the three-read one. A predeclared non-inferiority margin of a few percentage points would need hundreds of sealed pairs per domain.</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20</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RESULTS  ·  RQ4  ·  §5.3  ·  TABLE 5</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Where compaction is partial, and where the saving inverts</a:t>
            </a:r>
            <a:endParaRPr lang="en-US" sz="2600" dirty="0"/>
          </a:p>
        </p:txBody>
      </p:sp>
      <p:graphicFrame>
        <p:nvGraphicFramePr>
          <p:cNvPr id="6" name="Chart 0"/>
          <p:cNvGraphicFramePr/>
          <p:nvPr/>
        </p:nvGraphicFramePr>
        <p:xfrm>
          <a:off x="640080" y="1152144"/>
          <a:ext cx="6766560" cy="365760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7635240" y="1152144"/>
            <a:ext cx="3916375" cy="1700784"/>
          </a:xfrm>
          <a:prstGeom prst="roundRect">
            <a:avLst>
              <a:gd name="adj" fmla="val 2688"/>
            </a:avLst>
          </a:prstGeom>
          <a:solidFill>
            <a:srgbClr val="E8F4F5"/>
          </a:solidFill>
          <a:ln w="9525">
            <a:solidFill>
              <a:srgbClr val="CFE4E7"/>
            </a:solidFill>
            <a:prstDash val="solid"/>
          </a:ln>
          <a:effectLst>
            <a:outerShdw blurRad="114300" dist="17780" dir="5400000" algn="bl" rotWithShape="0">
              <a:srgbClr val="94A6BC">
                <a:alpha val="15000"/>
              </a:srgbClr>
            </a:outerShdw>
          </a:effectLst>
        </p:spPr>
        <p:txBody>
          <a:bodyPr/>
          <a:lstStyle/>
          <a:p>
            <a:endParaRPr lang="en-US"/>
          </a:p>
        </p:txBody>
      </p:sp>
      <p:sp>
        <p:nvSpPr>
          <p:cNvPr id="8" name="Text 5"/>
          <p:cNvSpPr/>
          <p:nvPr/>
        </p:nvSpPr>
        <p:spPr>
          <a:xfrm>
            <a:off x="7854696" y="1280160"/>
            <a:ext cx="3477463" cy="420624"/>
          </a:xfrm>
          <a:prstGeom prst="rect">
            <a:avLst/>
          </a:prstGeom>
          <a:noFill/>
          <a:ln/>
        </p:spPr>
        <p:txBody>
          <a:bodyPr wrap="square" lIns="0" tIns="0" rIns="0" bIns="0" rtlCol="0" anchor="t"/>
          <a:lstStyle/>
          <a:p>
            <a:pPr marL="0" indent="0">
              <a:lnSpc>
                <a:spcPct val="100000"/>
              </a:lnSpc>
              <a:buNone/>
            </a:pPr>
            <a:r>
              <a:rPr lang="en-US" sz="1150" b="1" dirty="0">
                <a:solidFill>
                  <a:srgbClr val="0E1E3A"/>
                </a:solidFill>
                <a:latin typeface="Cambria" pitchFamily="34" charset="0"/>
                <a:ea typeface="Cambria" pitchFamily="34" charset="-122"/>
                <a:cs typeface="Cambria" pitchFamily="34" charset="-120"/>
              </a:rPr>
              <a:t>Partial compaction is the correct outcome when a workflow commits</a:t>
            </a:r>
            <a:endParaRPr lang="en-US" sz="1150" dirty="0"/>
          </a:p>
        </p:txBody>
      </p:sp>
      <p:sp>
        <p:nvSpPr>
          <p:cNvPr id="9" name="Text 6"/>
          <p:cNvSpPr/>
          <p:nvPr/>
        </p:nvSpPr>
        <p:spPr>
          <a:xfrm>
            <a:off x="7854696" y="1719072"/>
            <a:ext cx="3477463" cy="1005840"/>
          </a:xfrm>
          <a:prstGeom prst="rect">
            <a:avLst/>
          </a:prstGeom>
          <a:noFill/>
          <a:ln/>
        </p:spPr>
        <p:txBody>
          <a:bodyPr wrap="square" lIns="0" tIns="0" rIns="0" bIns="0" rtlCol="0" anchor="t"/>
          <a:lstStyle/>
          <a:p>
            <a:pPr marL="0" indent="0">
              <a:lnSpc>
                <a:spcPct val="105000"/>
              </a:lnSpc>
              <a:buNone/>
            </a:pPr>
            <a:r>
              <a:rPr lang="en-US" sz="950" dirty="0">
                <a:solidFill>
                  <a:srgbClr val="24354F"/>
                </a:solidFill>
                <a:latin typeface="Calibri" pitchFamily="34" charset="0"/>
                <a:ea typeface="Calibri" pitchFamily="34" charset="-122"/>
                <a:cs typeface="Calibri" pitchFamily="34" charset="-120"/>
              </a:rPr>
              <a:t>Demo E holds two entry-state branches and one observation-dependent branch, and ends every episode in an irreversible write. Model calls fall 7 → 2 rather than 7 → 1: the evidence turns disappear, the decision turn and the write survive, and tokens fall 66.4% at unchanged quality. This is the shape most real operational workflows have, and it is absent from Tiers 1 and 2.</a:t>
            </a:r>
            <a:endParaRPr lang="en-US" sz="950" dirty="0"/>
          </a:p>
        </p:txBody>
      </p:sp>
      <p:sp>
        <p:nvSpPr>
          <p:cNvPr id="10" name="Shape 7"/>
          <p:cNvSpPr/>
          <p:nvPr/>
        </p:nvSpPr>
        <p:spPr>
          <a:xfrm>
            <a:off x="7635240" y="2980944"/>
            <a:ext cx="3916375" cy="1572768"/>
          </a:xfrm>
          <a:prstGeom prst="roundRect">
            <a:avLst>
              <a:gd name="adj" fmla="val 2907"/>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11" name="Text 8"/>
          <p:cNvSpPr/>
          <p:nvPr/>
        </p:nvSpPr>
        <p:spPr>
          <a:xfrm>
            <a:off x="7854696" y="3108960"/>
            <a:ext cx="3477463" cy="420624"/>
          </a:xfrm>
          <a:prstGeom prst="rect">
            <a:avLst/>
          </a:prstGeom>
          <a:noFill/>
          <a:ln/>
        </p:spPr>
        <p:txBody>
          <a:bodyPr wrap="square" lIns="0" tIns="0" rIns="0" bIns="0" rtlCol="0" anchor="t"/>
          <a:lstStyle/>
          <a:p>
            <a:pPr marL="0" indent="0">
              <a:lnSpc>
                <a:spcPct val="100000"/>
              </a:lnSpc>
              <a:buNone/>
            </a:pPr>
            <a:r>
              <a:rPr lang="en-US" sz="1150" b="1" dirty="0">
                <a:solidFill>
                  <a:srgbClr val="A93B2B"/>
                </a:solidFill>
                <a:latin typeface="Cambria" pitchFamily="34" charset="0"/>
                <a:ea typeface="Cambria" pitchFamily="34" charset="-122"/>
                <a:cs typeface="Cambria" pitchFamily="34" charset="-120"/>
              </a:rPr>
              <a:t>Refusal reproduces the baseline execution, not the baseline invoice</a:t>
            </a:r>
            <a:endParaRPr lang="en-US" sz="1150" dirty="0"/>
          </a:p>
        </p:txBody>
      </p:sp>
      <p:sp>
        <p:nvSpPr>
          <p:cNvPr id="12" name="Text 9"/>
          <p:cNvSpPr/>
          <p:nvPr/>
        </p:nvSpPr>
        <p:spPr>
          <a:xfrm>
            <a:off x="7854696" y="3547872"/>
            <a:ext cx="3477463" cy="877824"/>
          </a:xfrm>
          <a:prstGeom prst="rect">
            <a:avLst/>
          </a:prstGeom>
          <a:noFill/>
          <a:ln/>
        </p:spPr>
        <p:txBody>
          <a:bodyPr wrap="square" lIns="0" tIns="0" rIns="0" bIns="0" rtlCol="0" anchor="t"/>
          <a:lstStyle/>
          <a:p>
            <a:pPr marL="0" indent="0">
              <a:lnSpc>
                <a:spcPct val="105000"/>
              </a:lnSpc>
              <a:buNone/>
            </a:pPr>
            <a:r>
              <a:rPr lang="en-US" sz="950" dirty="0">
                <a:solidFill>
                  <a:srgbClr val="5C4034"/>
                </a:solidFill>
                <a:latin typeface="Calibri" pitchFamily="34" charset="0"/>
                <a:ea typeface="Calibri" pitchFamily="34" charset="-122"/>
                <a:cs typeface="Calibri" pitchFamily="34" charset="-120"/>
              </a:rPr>
              <a:t>The three negative controls — undeclared MCP effects, a loop-bearing artifact the adapter cannot advance one turn at a time, and an entry state whose intake schema drifted past the guard's pin — all return baseline model-call counts at identical quality, supporting H5. Yet two bill 55.4% and 54.5% more on identical token counts.</a:t>
            </a:r>
            <a:endParaRPr lang="en-US" sz="950" dirty="0"/>
          </a:p>
        </p:txBody>
      </p:sp>
      <p:sp>
        <p:nvSpPr>
          <p:cNvPr id="13" name="Shape 10"/>
          <p:cNvSpPr/>
          <p:nvPr/>
        </p:nvSpPr>
        <p:spPr>
          <a:xfrm>
            <a:off x="7635240" y="4681728"/>
            <a:ext cx="3916375" cy="1481328"/>
          </a:xfrm>
          <a:prstGeom prst="roundRect">
            <a:avLst>
              <a:gd name="adj" fmla="val 3086"/>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14" name="Text 11"/>
          <p:cNvSpPr/>
          <p:nvPr/>
        </p:nvSpPr>
        <p:spPr>
          <a:xfrm>
            <a:off x="7854696" y="4809744"/>
            <a:ext cx="3477463" cy="420624"/>
          </a:xfrm>
          <a:prstGeom prst="rect">
            <a:avLst/>
          </a:prstGeom>
          <a:noFill/>
          <a:ln/>
        </p:spPr>
        <p:txBody>
          <a:bodyPr wrap="square" lIns="0" tIns="0" rIns="0" bIns="0" rtlCol="0" anchor="t"/>
          <a:lstStyle/>
          <a:p>
            <a:pPr marL="0" indent="0">
              <a:lnSpc>
                <a:spcPct val="100000"/>
              </a:lnSpc>
              <a:buNone/>
            </a:pPr>
            <a:r>
              <a:rPr lang="en-US" sz="1150" b="1" dirty="0">
                <a:solidFill>
                  <a:srgbClr val="A93B2B"/>
                </a:solidFill>
                <a:latin typeface="Cambria" pitchFamily="34" charset="0"/>
                <a:ea typeface="Cambria" pitchFamily="34" charset="-122"/>
                <a:cs typeface="Cambria" pitchFamily="34" charset="-120"/>
              </a:rPr>
              <a:t>The mechanism is prompt caching</a:t>
            </a:r>
            <a:endParaRPr lang="en-US" sz="1150" dirty="0"/>
          </a:p>
        </p:txBody>
      </p:sp>
      <p:sp>
        <p:nvSpPr>
          <p:cNvPr id="15" name="Text 12"/>
          <p:cNvSpPr/>
          <p:nvPr/>
        </p:nvSpPr>
        <p:spPr>
          <a:xfrm>
            <a:off x="7854696" y="5248656"/>
            <a:ext cx="3477463" cy="786384"/>
          </a:xfrm>
          <a:prstGeom prst="rect">
            <a:avLst/>
          </a:prstGeom>
          <a:noFill/>
          <a:ln/>
        </p:spPr>
        <p:txBody>
          <a:bodyPr wrap="square" lIns="0" tIns="0" rIns="0" bIns="0" rtlCol="0" anchor="t"/>
          <a:lstStyle/>
          <a:p>
            <a:pPr marL="0" indent="0">
              <a:lnSpc>
                <a:spcPct val="105000"/>
              </a:lnSpc>
              <a:buNone/>
            </a:pPr>
            <a:r>
              <a:rPr lang="en-US" sz="950" dirty="0">
                <a:solidFill>
                  <a:srgbClr val="5C4034"/>
                </a:solidFill>
                <a:latin typeface="Calibri" pitchFamily="34" charset="0"/>
                <a:ea typeface="Calibri" pitchFamily="34" charset="-122"/>
                <a:cs typeface="Calibri" pitchFamily="34" charset="-120"/>
              </a:rPr>
              <a:t>A seven-turn baseline pays one cache write over a long prefix then reads it six times; a two-turn compacted run pays the write with almost nothing to amortize against. Route specialization is worse one level up, since each route is a distinct cache prefix. Measured cached-input share falls 96% → 38% (E) and 98% → 58% (F).</a:t>
            </a:r>
            <a:endParaRPr lang="en-US" sz="950" dirty="0"/>
          </a:p>
        </p:txBody>
      </p:sp>
      <p:sp>
        <p:nvSpPr>
          <p:cNvPr id="16" name="Shape 13"/>
          <p:cNvSpPr/>
          <p:nvPr/>
        </p:nvSpPr>
        <p:spPr>
          <a:xfrm>
            <a:off x="640080" y="5047488"/>
            <a:ext cx="6766560" cy="1060704"/>
          </a:xfrm>
          <a:prstGeom prst="roundRect">
            <a:avLst>
              <a:gd name="adj" fmla="val 4310"/>
            </a:avLst>
          </a:prstGeom>
          <a:solidFill>
            <a:srgbClr val="EAF1F7"/>
          </a:solidFill>
          <a:ln w="9525">
            <a:solidFill>
              <a:srgbClr val="D5E0EB"/>
            </a:solidFill>
            <a:prstDash val="solid"/>
          </a:ln>
        </p:spPr>
        <p:txBody>
          <a:bodyPr/>
          <a:lstStyle/>
          <a:p>
            <a:endParaRPr lang="en-US"/>
          </a:p>
        </p:txBody>
      </p:sp>
      <p:sp>
        <p:nvSpPr>
          <p:cNvPr id="17" name="Text 14"/>
          <p:cNvSpPr/>
          <p:nvPr/>
        </p:nvSpPr>
        <p:spPr>
          <a:xfrm>
            <a:off x="877824" y="5138928"/>
            <a:ext cx="6291072" cy="877824"/>
          </a:xfrm>
          <a:prstGeom prst="rect">
            <a:avLst/>
          </a:prstGeom>
          <a:noFill/>
          <a:ln/>
        </p:spPr>
        <p:txBody>
          <a:bodyPr wrap="square" lIns="0" tIns="0" rIns="0" bIns="0" rtlCol="0" anchor="ctr"/>
          <a:lstStyle/>
          <a:p>
            <a:pPr marL="0" indent="0">
              <a:lnSpc>
                <a:spcPct val="106000"/>
              </a:lnSpc>
              <a:buNone/>
            </a:pPr>
            <a:r>
              <a:rPr lang="en-US" sz="1050" b="1" dirty="0">
                <a:solidFill>
                  <a:srgbClr val="0E1E3A"/>
                </a:solidFill>
                <a:latin typeface="Calibri" pitchFamily="34" charset="0"/>
                <a:ea typeface="Calibri" pitchFamily="34" charset="-122"/>
                <a:cs typeface="Calibri" pitchFamily="34" charset="-120"/>
              </a:rPr>
              <a:t>The direction is what the data supports; the magnitude is not. </a:t>
            </a:r>
            <a:r>
              <a:rPr lang="en-US" sz="1050" dirty="0">
                <a:solidFill>
                  <a:srgbClr val="24354F"/>
                </a:solidFill>
                <a:latin typeface="Calibri" pitchFamily="34" charset="0"/>
                <a:ea typeface="Calibri" pitchFamily="34" charset="-122"/>
                <a:cs typeface="Calibri" pitchFamily="34" charset="-120"/>
              </a:rPr>
              <a:t>Only Demo F clears the noise floor set by the refusing controls, and the effect shrinks as episodes per prefix grow. The residue is a real design constraint eq. (5) does not price: a rarely-exercised route may never amortize its own cache write, and a cache-dominated baseline has far less dollar headroom than its token headroom implies.</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21</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RESULTS  ·  §5.4  ·  TABLE 6</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The comparator that matters: one hand-written composite tool</a:t>
            </a:r>
            <a:endParaRPr lang="en-US" sz="2600" dirty="0"/>
          </a:p>
        </p:txBody>
      </p:sp>
      <p:sp>
        <p:nvSpPr>
          <p:cNvPr id="6" name="Text 4"/>
          <p:cNvSpPr/>
          <p:nvPr/>
        </p:nvSpPr>
        <p:spPr>
          <a:xfrm>
            <a:off x="640080" y="1170432"/>
            <a:ext cx="10911535" cy="457200"/>
          </a:xfrm>
          <a:prstGeom prst="rect">
            <a:avLst/>
          </a:prstGeom>
          <a:noFill/>
          <a:ln/>
        </p:spPr>
        <p:txBody>
          <a:bodyPr wrap="square" lIns="0" tIns="0" rIns="0" bIns="0" rtlCol="0" anchor="t"/>
          <a:lstStyle/>
          <a:p>
            <a:pPr marL="0" indent="0">
              <a:lnSpc>
                <a:spcPct val="110000"/>
              </a:lnSpc>
              <a:buNone/>
            </a:pPr>
            <a:r>
              <a:rPr lang="en-US" sz="1250" dirty="0">
                <a:solidFill>
                  <a:srgbClr val="24354F"/>
                </a:solidFill>
                <a:latin typeface="Calibri" pitchFamily="34" charset="0"/>
                <a:ea typeface="Calibri" pitchFamily="34" charset="-122"/>
                <a:cs typeface="Calibri" pitchFamily="34" charset="-120"/>
              </a:rPr>
              <a:t>A request reduction measured only against an unoptimized agent cannot distinguish “compilation works” from “this workflow was easy.” </a:t>
            </a:r>
            <a:r>
              <a:rPr lang="en-US" sz="1250" b="1" dirty="0">
                <a:solidFill>
                  <a:srgbClr val="24354F"/>
                </a:solidFill>
                <a:latin typeface="Calibri" pitchFamily="34" charset="0"/>
                <a:ea typeface="Calibri" pitchFamily="34" charset="-122"/>
                <a:cs typeface="Calibri" pitchFamily="34" charset="-120"/>
              </a:rPr>
              <a:t>The study therefore reports both against the same baseline — and the result is not in the compiler's favour.</a:t>
            </a:r>
            <a:endParaRPr lang="en-US" sz="1250" dirty="0"/>
          </a:p>
        </p:txBody>
      </p:sp>
      <p:sp>
        <p:nvSpPr>
          <p:cNvPr id="7" name="Text 5"/>
          <p:cNvSpPr/>
          <p:nvPr/>
        </p:nvSpPr>
        <p:spPr>
          <a:xfrm>
            <a:off x="640080" y="1719072"/>
            <a:ext cx="5852160" cy="201168"/>
          </a:xfrm>
          <a:prstGeom prst="rect">
            <a:avLst/>
          </a:prstGeom>
          <a:noFill/>
          <a:ln/>
        </p:spPr>
        <p:txBody>
          <a:bodyPr wrap="square" lIns="0" tIns="0" rIns="0" bIns="0" rtlCol="0" anchor="t"/>
          <a:lstStyle/>
          <a:p>
            <a:pPr marL="0" indent="0">
              <a:buNone/>
            </a:pPr>
            <a:r>
              <a:rPr lang="en-US" sz="900" b="1" kern="0" spc="80" dirty="0">
                <a:solidFill>
                  <a:srgbClr val="1F8A99"/>
                </a:solidFill>
                <a:latin typeface="Calibri" pitchFamily="34" charset="0"/>
                <a:ea typeface="Calibri" pitchFamily="34" charset="-122"/>
                <a:cs typeface="Calibri" pitchFamily="34" charset="-120"/>
              </a:rPr>
              <a:t>OFFLINE STRESS STUDY — PAIRED REQUEST RATIO VS THE UNCHANGED AGENT, LOWER IS BETTER</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1956816"/>
          <a:ext cx="5852160" cy="1645920"/>
        </p:xfrm>
        <a:graphic>
          <a:graphicData uri="http://schemas.openxmlformats.org/drawingml/2006/table">
            <a:tbl>
              <a:tblPr/>
              <a:tblGrid>
                <a:gridCol w="310896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274320">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Workload</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0E1E3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Macro</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0E1E3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GAC</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0E1E3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Lower</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0E1E3A"/>
                    </a:solidFill>
                  </a:tcPr>
                </a:tc>
                <a:extLst>
                  <a:ext uri="{0D108BD9-81ED-4DB2-BD59-A6C34878D82A}">
                    <a16:rowId xmlns:a16="http://schemas.microsoft.com/office/drawing/2014/main" val="10000"/>
                  </a:ext>
                </a:extLst>
              </a:tr>
              <a:tr h="274320">
                <a:tc>
                  <a:txBody>
                    <a:bodyPr/>
                    <a:lstStyle/>
                    <a:p>
                      <a:pPr marL="0" indent="0">
                        <a:buNone/>
                      </a:pPr>
                      <a:r>
                        <a:rPr lang="en-US" sz="1000" dirty="0">
                          <a:solidFill>
                            <a:srgbClr val="24354F"/>
                          </a:solidFill>
                          <a:latin typeface="Calibri" pitchFamily="34" charset="0"/>
                          <a:ea typeface="Calibri" pitchFamily="34" charset="-122"/>
                          <a:cs typeface="Calibri" pitchFamily="34" charset="-120"/>
                        </a:rPr>
                        <a:t>Tier-1 support evidence gathering</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lgn="ctr">
                        <a:buNone/>
                      </a:pPr>
                      <a:r>
                        <a:rPr lang="en-US" sz="1000" b="1" dirty="0">
                          <a:solidFill>
                            <a:srgbClr val="A93B2B"/>
                          </a:solidFill>
                          <a:latin typeface="Calibri" pitchFamily="34" charset="0"/>
                          <a:ea typeface="Calibri" pitchFamily="34" charset="-122"/>
                          <a:cs typeface="Calibri" pitchFamily="34" charset="-120"/>
                        </a:rPr>
                        <a:t>0.726</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lgn="ctr">
                        <a:buNone/>
                      </a:pPr>
                      <a:r>
                        <a:rPr lang="en-US" sz="1000" dirty="0">
                          <a:solidFill>
                            <a:srgbClr val="24354F"/>
                          </a:solidFill>
                          <a:latin typeface="Calibri" pitchFamily="34" charset="0"/>
                          <a:ea typeface="Calibri" pitchFamily="34" charset="-122"/>
                          <a:cs typeface="Calibri" pitchFamily="34" charset="-120"/>
                        </a:rPr>
                        <a:t>0.755</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lgn="ctr">
                        <a:buNone/>
                      </a:pPr>
                      <a:r>
                        <a:rPr lang="en-US" sz="1000" b="1" dirty="0">
                          <a:solidFill>
                            <a:srgbClr val="A93B2B"/>
                          </a:solidFill>
                          <a:latin typeface="Calibri" pitchFamily="34" charset="0"/>
                          <a:ea typeface="Calibri" pitchFamily="34" charset="-122"/>
                          <a:cs typeface="Calibri" pitchFamily="34" charset="-120"/>
                        </a:rPr>
                        <a:t>macro</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extLst>
                  <a:ext uri="{0D108BD9-81ED-4DB2-BD59-A6C34878D82A}">
                    <a16:rowId xmlns:a16="http://schemas.microsoft.com/office/drawing/2014/main" val="10001"/>
                  </a:ext>
                </a:extLst>
              </a:tr>
              <a:tr h="274320">
                <a:tc>
                  <a:txBody>
                    <a:bodyPr/>
                    <a:lstStyle/>
                    <a:p>
                      <a:pPr marL="0" indent="0">
                        <a:buNone/>
                      </a:pPr>
                      <a:r>
                        <a:rPr lang="en-US" sz="1000" dirty="0">
                          <a:solidFill>
                            <a:srgbClr val="24354F"/>
                          </a:solidFill>
                          <a:latin typeface="Calibri" pitchFamily="34" charset="0"/>
                          <a:ea typeface="Calibri" pitchFamily="34" charset="-122"/>
                          <a:cs typeface="Calibri" pitchFamily="34" charset="-120"/>
                        </a:rPr>
                        <a:t>Permissioned RAG knowledge assistant</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A93B2B"/>
                          </a:solidFill>
                          <a:latin typeface="Calibri" pitchFamily="34" charset="0"/>
                          <a:ea typeface="Calibri" pitchFamily="34" charset="-122"/>
                          <a:cs typeface="Calibri" pitchFamily="34" charset="-120"/>
                        </a:rPr>
                        <a:t>0.335</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24354F"/>
                          </a:solidFill>
                          <a:latin typeface="Calibri" pitchFamily="34" charset="0"/>
                          <a:ea typeface="Calibri" pitchFamily="34" charset="-122"/>
                          <a:cs typeface="Calibri" pitchFamily="34" charset="-120"/>
                        </a:rPr>
                        <a:t>0.718</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A93B2B"/>
                          </a:solidFill>
                          <a:latin typeface="Calibri" pitchFamily="34" charset="0"/>
                          <a:ea typeface="Calibri" pitchFamily="34" charset="-122"/>
                          <a:cs typeface="Calibri" pitchFamily="34" charset="-120"/>
                        </a:rPr>
                        <a:t>macro</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buNone/>
                      </a:pPr>
                      <a:r>
                        <a:rPr lang="en-US" sz="1000" dirty="0">
                          <a:solidFill>
                            <a:srgbClr val="24354F"/>
                          </a:solidFill>
                          <a:latin typeface="Calibri" pitchFamily="34" charset="0"/>
                          <a:ea typeface="Calibri" pitchFamily="34" charset="-122"/>
                          <a:cs typeface="Calibri" pitchFamily="34" charset="-120"/>
                        </a:rPr>
                        <a:t>Multi-agent incident triage</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lgn="ctr">
                        <a:buNone/>
                      </a:pPr>
                      <a:r>
                        <a:rPr lang="en-US" sz="1000" dirty="0">
                          <a:solidFill>
                            <a:srgbClr val="24354F"/>
                          </a:solidFill>
                          <a:latin typeface="Calibri" pitchFamily="34" charset="0"/>
                          <a:ea typeface="Calibri" pitchFamily="34" charset="-122"/>
                          <a:cs typeface="Calibri" pitchFamily="34" charset="-120"/>
                        </a:rPr>
                        <a:t>0.922</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lgn="ctr">
                        <a:buNone/>
                      </a:pPr>
                      <a:r>
                        <a:rPr lang="en-US" sz="1000" b="1" dirty="0">
                          <a:solidFill>
                            <a:srgbClr val="1F8A99"/>
                          </a:solidFill>
                          <a:latin typeface="Calibri" pitchFamily="34" charset="0"/>
                          <a:ea typeface="Calibri" pitchFamily="34" charset="-122"/>
                          <a:cs typeface="Calibri" pitchFamily="34" charset="-120"/>
                        </a:rPr>
                        <a:t>0.780</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lgn="ctr">
                        <a:buNone/>
                      </a:pPr>
                      <a:r>
                        <a:rPr lang="en-US" sz="1000" b="1" dirty="0">
                          <a:solidFill>
                            <a:srgbClr val="1F8A99"/>
                          </a:solidFill>
                          <a:latin typeface="Calibri" pitchFamily="34" charset="0"/>
                          <a:ea typeface="Calibri" pitchFamily="34" charset="-122"/>
                          <a:cs typeface="Calibri" pitchFamily="34" charset="-120"/>
                        </a:rPr>
                        <a:t>GAC</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extLst>
                  <a:ext uri="{0D108BD9-81ED-4DB2-BD59-A6C34878D82A}">
                    <a16:rowId xmlns:a16="http://schemas.microsoft.com/office/drawing/2014/main" val="10003"/>
                  </a:ext>
                </a:extLst>
              </a:tr>
              <a:tr h="274320">
                <a:tc>
                  <a:txBody>
                    <a:bodyPr/>
                    <a:lstStyle/>
                    <a:p>
                      <a:pPr marL="0" indent="0">
                        <a:buNone/>
                      </a:pPr>
                      <a:r>
                        <a:rPr lang="en-US" sz="1000" dirty="0">
                          <a:solidFill>
                            <a:srgbClr val="24354F"/>
                          </a:solidFill>
                          <a:latin typeface="Calibri" pitchFamily="34" charset="0"/>
                          <a:ea typeface="Calibri" pitchFamily="34" charset="-122"/>
                          <a:cs typeface="Calibri" pitchFamily="34" charset="-120"/>
                        </a:rPr>
                        <a:t>Multi-tenant MCP ops (negative control)</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A93B2B"/>
                          </a:solidFill>
                          <a:latin typeface="Calibri" pitchFamily="34" charset="0"/>
                          <a:ea typeface="Calibri" pitchFamily="34" charset="-122"/>
                          <a:cs typeface="Calibri" pitchFamily="34" charset="-120"/>
                        </a:rPr>
                        <a:t>0.724</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lgn="ctr">
                        <a:buNone/>
                      </a:pPr>
                      <a:r>
                        <a:rPr lang="en-US" sz="1000" dirty="0">
                          <a:solidFill>
                            <a:srgbClr val="24354F"/>
                          </a:solidFill>
                          <a:latin typeface="Calibri" pitchFamily="34" charset="0"/>
                          <a:ea typeface="Calibri" pitchFamily="34" charset="-122"/>
                          <a:cs typeface="Calibri" pitchFamily="34" charset="-120"/>
                        </a:rPr>
                        <a:t>1.000</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lgn="ctr">
                        <a:buNone/>
                      </a:pPr>
                      <a:r>
                        <a:rPr lang="en-US" sz="1000" b="1" dirty="0">
                          <a:solidFill>
                            <a:srgbClr val="A93B2B"/>
                          </a:solidFill>
                          <a:latin typeface="Calibri" pitchFamily="34" charset="0"/>
                          <a:ea typeface="Calibri" pitchFamily="34" charset="-122"/>
                          <a:cs typeface="Calibri" pitchFamily="34" charset="-120"/>
                        </a:rPr>
                        <a:t>macro</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buNone/>
                      </a:pPr>
                      <a:r>
                        <a:rPr lang="en-US" sz="1000" dirty="0">
                          <a:solidFill>
                            <a:srgbClr val="24354F"/>
                          </a:solidFill>
                          <a:latin typeface="Calibri" pitchFamily="34" charset="0"/>
                          <a:ea typeface="Calibri" pitchFamily="34" charset="-122"/>
                          <a:cs typeface="Calibri" pitchFamily="34" charset="-120"/>
                        </a:rPr>
                        <a:t>Order-fulfillment exception handling</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lgn="ctr">
                        <a:buNone/>
                      </a:pPr>
                      <a:r>
                        <a:rPr lang="en-US" sz="1000" dirty="0">
                          <a:solidFill>
                            <a:srgbClr val="24354F"/>
                          </a:solidFill>
                          <a:latin typeface="Calibri" pitchFamily="34" charset="0"/>
                          <a:ea typeface="Calibri" pitchFamily="34" charset="-122"/>
                          <a:cs typeface="Calibri" pitchFamily="34" charset="-120"/>
                        </a:rPr>
                        <a:t>0.661</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lgn="ctr">
                        <a:buNone/>
                      </a:pPr>
                      <a:r>
                        <a:rPr lang="en-US" sz="1000" b="1" dirty="0">
                          <a:solidFill>
                            <a:srgbClr val="1F8A99"/>
                          </a:solidFill>
                          <a:latin typeface="Calibri" pitchFamily="34" charset="0"/>
                          <a:ea typeface="Calibri" pitchFamily="34" charset="-122"/>
                          <a:cs typeface="Calibri" pitchFamily="34" charset="-120"/>
                        </a:rPr>
                        <a:t>0.642</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tc>
                  <a:txBody>
                    <a:bodyPr/>
                    <a:lstStyle/>
                    <a:p>
                      <a:pPr marL="0" indent="0" algn="ctr">
                        <a:buNone/>
                      </a:pPr>
                      <a:r>
                        <a:rPr lang="en-US" sz="1000" b="1" dirty="0">
                          <a:solidFill>
                            <a:srgbClr val="1F8A99"/>
                          </a:solidFill>
                          <a:latin typeface="Calibri" pitchFamily="34" charset="0"/>
                          <a:ea typeface="Calibri" pitchFamily="34" charset="-122"/>
                          <a:cs typeface="Calibri" pitchFamily="34" charset="-120"/>
                        </a:rPr>
                        <a:t>GAC</a:t>
                      </a:r>
                      <a:endParaRPr lang="en-US" sz="1000" dirty="0">
                        <a:latin typeface="Calibri" charset="0"/>
                        <a:ea typeface="Calibri" charset="0"/>
                        <a:cs typeface="Calibri" charset="0"/>
                      </a:endParaRPr>
                    </a:p>
                  </a:txBody>
                  <a:tcPr marL="82296" marR="82296" marT="27432" marB="27432"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5F9FC"/>
                    </a:solidFill>
                  </a:tcPr>
                </a:tc>
                <a:extLst>
                  <a:ext uri="{0D108BD9-81ED-4DB2-BD59-A6C34878D82A}">
                    <a16:rowId xmlns:a16="http://schemas.microsoft.com/office/drawing/2014/main" val="10005"/>
                  </a:ext>
                </a:extLst>
              </a:tr>
            </a:tbl>
          </a:graphicData>
        </a:graphic>
      </p:graphicFrame>
      <p:sp>
        <p:nvSpPr>
          <p:cNvPr id="9" name="Shape 6"/>
          <p:cNvSpPr/>
          <p:nvPr/>
        </p:nvSpPr>
        <p:spPr>
          <a:xfrm>
            <a:off x="640080" y="3675888"/>
            <a:ext cx="5852160" cy="1060704"/>
          </a:xfrm>
          <a:prstGeom prst="roundRect">
            <a:avLst>
              <a:gd name="adj" fmla="val 4310"/>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10" name="Text 7"/>
          <p:cNvSpPr/>
          <p:nvPr/>
        </p:nvSpPr>
        <p:spPr>
          <a:xfrm>
            <a:off x="877824" y="3785616"/>
            <a:ext cx="5376672" cy="859536"/>
          </a:xfrm>
          <a:prstGeom prst="rect">
            <a:avLst/>
          </a:prstGeom>
          <a:noFill/>
          <a:ln/>
        </p:spPr>
        <p:txBody>
          <a:bodyPr wrap="square" lIns="0" tIns="0" rIns="0" bIns="0" rtlCol="0" anchor="t"/>
          <a:lstStyle/>
          <a:p>
            <a:pPr marL="0" indent="0">
              <a:lnSpc>
                <a:spcPct val="105000"/>
              </a:lnSpc>
              <a:buNone/>
            </a:pPr>
            <a:r>
              <a:rPr lang="en-US" sz="1000" dirty="0">
                <a:solidFill>
                  <a:srgbClr val="5C4034"/>
                </a:solidFill>
                <a:latin typeface="Calibri" pitchFamily="34" charset="0"/>
                <a:ea typeface="Calibri" pitchFamily="34" charset="-122"/>
                <a:cs typeface="Calibri" pitchFamily="34" charset="-120"/>
              </a:rPr>
              <a:t>This substrate is simulated: a scripted policy stands in for the model at each boundary, so these ratios settle that the comparison was run — not the live question. The negative control is the most informative row: the macro takes a 27.6% saving that GAC refuses because the tool effects are undeclared and the catalog fails closed. Whether that is prudence or lost value depends on whether those tools really are read-only — exactly the question a human answers by writing the macro.</a:t>
            </a:r>
            <a:endParaRPr lang="en-US" sz="1000" dirty="0"/>
          </a:p>
        </p:txBody>
      </p:sp>
      <p:sp>
        <p:nvSpPr>
          <p:cNvPr id="11" name="Shape 8"/>
          <p:cNvSpPr/>
          <p:nvPr/>
        </p:nvSpPr>
        <p:spPr>
          <a:xfrm>
            <a:off x="6821424" y="1719072"/>
            <a:ext cx="4730191" cy="1371600"/>
          </a:xfrm>
          <a:prstGeom prst="roundRect">
            <a:avLst>
              <a:gd name="adj" fmla="val 3333"/>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12" name="Shape 9"/>
          <p:cNvSpPr/>
          <p:nvPr/>
        </p:nvSpPr>
        <p:spPr>
          <a:xfrm>
            <a:off x="7059168" y="1865376"/>
            <a:ext cx="310896" cy="310896"/>
          </a:xfrm>
          <a:prstGeom prst="ellipse">
            <a:avLst/>
          </a:prstGeom>
          <a:solidFill>
            <a:srgbClr val="A93B2B"/>
          </a:solidFill>
          <a:ln w="6350">
            <a:solidFill>
              <a:srgbClr val="A93B2B"/>
            </a:solidFill>
            <a:prstDash val="solid"/>
          </a:ln>
        </p:spPr>
        <p:txBody>
          <a:bodyPr/>
          <a:lstStyle/>
          <a:p>
            <a:endParaRPr lang="en-US"/>
          </a:p>
        </p:txBody>
      </p:sp>
      <p:sp>
        <p:nvSpPr>
          <p:cNvPr id="13" name="Text 10"/>
          <p:cNvSpPr/>
          <p:nvPr/>
        </p:nvSpPr>
        <p:spPr>
          <a:xfrm>
            <a:off x="7059168" y="1865376"/>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4" name="Text 11"/>
          <p:cNvSpPr/>
          <p:nvPr/>
        </p:nvSpPr>
        <p:spPr>
          <a:xfrm>
            <a:off x="7443216" y="1865376"/>
            <a:ext cx="3870655" cy="310896"/>
          </a:xfrm>
          <a:prstGeom prst="rect">
            <a:avLst/>
          </a:prstGeom>
          <a:noFill/>
          <a:ln/>
        </p:spPr>
        <p:txBody>
          <a:bodyPr wrap="square" lIns="0" tIns="0" rIns="0" bIns="0" rtlCol="0" anchor="ctr"/>
          <a:lstStyle/>
          <a:p>
            <a:pPr marL="0" indent="0">
              <a:buNone/>
            </a:pPr>
            <a:r>
              <a:rPr lang="en-US" sz="1300" b="1" dirty="0">
                <a:solidFill>
                  <a:srgbClr val="A93B2B"/>
                </a:solidFill>
                <a:latin typeface="Cambria" pitchFamily="34" charset="0"/>
                <a:ea typeface="Cambria" pitchFamily="34" charset="-122"/>
                <a:cs typeface="Cambria" pitchFamily="34" charset="-120"/>
              </a:rPr>
              <a:t>Write the composite tool when…</a:t>
            </a:r>
            <a:endParaRPr lang="en-US" sz="1300" dirty="0"/>
          </a:p>
        </p:txBody>
      </p:sp>
      <p:sp>
        <p:nvSpPr>
          <p:cNvPr id="15" name="Text 12"/>
          <p:cNvSpPr/>
          <p:nvPr/>
        </p:nvSpPr>
        <p:spPr>
          <a:xfrm>
            <a:off x="7077456" y="2267712"/>
            <a:ext cx="4218127" cy="713232"/>
          </a:xfrm>
          <a:prstGeom prst="rect">
            <a:avLst/>
          </a:prstGeom>
          <a:noFill/>
          <a:ln/>
        </p:spPr>
        <p:txBody>
          <a:bodyPr wrap="square" lIns="0" tIns="0" rIns="0" bIns="0" rtlCol="0" anchor="t"/>
          <a:lstStyle/>
          <a:p>
            <a:pPr marL="342900" indent="-342900">
              <a:lnSpc>
                <a:spcPct val="105000"/>
              </a:lnSpc>
              <a:spcAft>
                <a:spcPts val="300"/>
              </a:spcAft>
              <a:buSzPct val="100000"/>
              <a:buChar char="•"/>
            </a:pPr>
            <a:r>
              <a:rPr lang="en-US" sz="1000" dirty="0">
                <a:solidFill>
                  <a:srgbClr val="5C4034"/>
                </a:solidFill>
                <a:latin typeface="Calibri" pitchFamily="34" charset="0"/>
                <a:ea typeface="Calibri" pitchFamily="34" charset="-122"/>
                <a:cs typeface="Calibri" pitchFamily="34" charset="-120"/>
              </a:rPr>
              <a:t>the read set is stable and low-entropy</a:t>
            </a:r>
            <a:endParaRPr lang="en-US" sz="1000" dirty="0"/>
          </a:p>
          <a:p>
            <a:pPr marL="342900" indent="-342900">
              <a:lnSpc>
                <a:spcPct val="105000"/>
              </a:lnSpc>
              <a:spcAft>
                <a:spcPts val="300"/>
              </a:spcAft>
              <a:buSzPct val="100000"/>
              <a:buChar char="•"/>
            </a:pPr>
            <a:r>
              <a:rPr lang="en-US" sz="1000" dirty="0">
                <a:solidFill>
                  <a:srgbClr val="5C4034"/>
                </a:solidFill>
                <a:latin typeface="Calibri" pitchFamily="34" charset="0"/>
                <a:ea typeface="Calibri" pitchFamily="34" charset="-122"/>
                <a:cs typeface="Calibri" pitchFamily="34" charset="-120"/>
              </a:rPr>
              <a:t>the effects are already understood by a human</a:t>
            </a:r>
            <a:endParaRPr lang="en-US" sz="1000" dirty="0"/>
          </a:p>
          <a:p>
            <a:pPr marL="342900" indent="-342900">
              <a:lnSpc>
                <a:spcPct val="105000"/>
              </a:lnSpc>
              <a:spcAft>
                <a:spcPts val="300"/>
              </a:spcAft>
              <a:buSzPct val="100000"/>
              <a:buChar char="•"/>
            </a:pPr>
            <a:r>
              <a:rPr lang="en-US" sz="1000" dirty="0">
                <a:solidFill>
                  <a:srgbClr val="5C4034"/>
                </a:solidFill>
                <a:latin typeface="Calibri" pitchFamily="34" charset="0"/>
                <a:ea typeface="Calibri" pitchFamily="34" charset="-122"/>
                <a:cs typeface="Calibri" pitchFamily="34" charset="-120"/>
              </a:rPr>
              <a:t>one interface redesign can fuse the reads</a:t>
            </a:r>
            <a:endParaRPr lang="en-US" sz="1000" dirty="0"/>
          </a:p>
        </p:txBody>
      </p:sp>
      <p:sp>
        <p:nvSpPr>
          <p:cNvPr id="16" name="Shape 13"/>
          <p:cNvSpPr/>
          <p:nvPr/>
        </p:nvSpPr>
        <p:spPr>
          <a:xfrm>
            <a:off x="6821424" y="3218688"/>
            <a:ext cx="4730191" cy="1371600"/>
          </a:xfrm>
          <a:prstGeom prst="roundRect">
            <a:avLst>
              <a:gd name="adj" fmla="val 3333"/>
            </a:avLst>
          </a:prstGeom>
          <a:solidFill>
            <a:srgbClr val="E8F4F5"/>
          </a:solidFill>
          <a:ln w="9525">
            <a:solidFill>
              <a:srgbClr val="CFE4E7"/>
            </a:solidFill>
            <a:prstDash val="solid"/>
          </a:ln>
          <a:effectLst>
            <a:outerShdw blurRad="114300" dist="17780" dir="5400000" algn="bl" rotWithShape="0">
              <a:srgbClr val="94A6BC">
                <a:alpha val="15000"/>
              </a:srgbClr>
            </a:outerShdw>
          </a:effectLst>
        </p:spPr>
        <p:txBody>
          <a:bodyPr/>
          <a:lstStyle/>
          <a:p>
            <a:endParaRPr lang="en-US"/>
          </a:p>
        </p:txBody>
      </p:sp>
      <p:sp>
        <p:nvSpPr>
          <p:cNvPr id="17" name="Shape 14"/>
          <p:cNvSpPr/>
          <p:nvPr/>
        </p:nvSpPr>
        <p:spPr>
          <a:xfrm>
            <a:off x="7059168" y="3364992"/>
            <a:ext cx="310896" cy="310896"/>
          </a:xfrm>
          <a:prstGeom prst="ellipse">
            <a:avLst/>
          </a:prstGeom>
          <a:solidFill>
            <a:srgbClr val="1F8A99"/>
          </a:solidFill>
          <a:ln w="6350">
            <a:solidFill>
              <a:srgbClr val="1F8A99"/>
            </a:solidFill>
            <a:prstDash val="solid"/>
          </a:ln>
        </p:spPr>
        <p:txBody>
          <a:bodyPr/>
          <a:lstStyle/>
          <a:p>
            <a:endParaRPr lang="en-US"/>
          </a:p>
        </p:txBody>
      </p:sp>
      <p:sp>
        <p:nvSpPr>
          <p:cNvPr id="18" name="Text 15"/>
          <p:cNvSpPr/>
          <p:nvPr/>
        </p:nvSpPr>
        <p:spPr>
          <a:xfrm>
            <a:off x="7059168" y="3364992"/>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9" name="Text 16"/>
          <p:cNvSpPr/>
          <p:nvPr/>
        </p:nvSpPr>
        <p:spPr>
          <a:xfrm>
            <a:off x="7443216" y="3364992"/>
            <a:ext cx="3870655" cy="310896"/>
          </a:xfrm>
          <a:prstGeom prst="rect">
            <a:avLst/>
          </a:prstGeom>
          <a:noFill/>
          <a:ln/>
        </p:spPr>
        <p:txBody>
          <a:bodyPr wrap="square" lIns="0" tIns="0" rIns="0" bIns="0" rtlCol="0" anchor="ctr"/>
          <a:lstStyle/>
          <a:p>
            <a:pPr marL="0" indent="0">
              <a:buNone/>
            </a:pPr>
            <a:r>
              <a:rPr lang="en-US" sz="1300" b="1" dirty="0">
                <a:solidFill>
                  <a:srgbClr val="0E1E3A"/>
                </a:solidFill>
                <a:latin typeface="Cambria" pitchFamily="34" charset="0"/>
                <a:ea typeface="Cambria" pitchFamily="34" charset="-122"/>
                <a:cs typeface="Cambria" pitchFamily="34" charset="-120"/>
              </a:rPr>
              <a:t>Guarded compilation earns its cost when…</a:t>
            </a:r>
            <a:endParaRPr lang="en-US" sz="1300" dirty="0"/>
          </a:p>
        </p:txBody>
      </p:sp>
      <p:sp>
        <p:nvSpPr>
          <p:cNvPr id="20" name="Text 17"/>
          <p:cNvSpPr/>
          <p:nvPr/>
        </p:nvSpPr>
        <p:spPr>
          <a:xfrm>
            <a:off x="7077456" y="3767328"/>
            <a:ext cx="4218127" cy="713232"/>
          </a:xfrm>
          <a:prstGeom prst="rect">
            <a:avLst/>
          </a:prstGeom>
          <a:noFill/>
          <a:ln/>
        </p:spPr>
        <p:txBody>
          <a:bodyPr wrap="square" lIns="0" tIns="0" rIns="0" bIns="0" rtlCol="0" anchor="t"/>
          <a:lstStyle/>
          <a:p>
            <a:pPr marL="342900" indent="-342900">
              <a:lnSpc>
                <a:spcPct val="105000"/>
              </a:lnSpc>
              <a:spcAft>
                <a:spcPts val="300"/>
              </a:spcAft>
              <a:buSzPct val="100000"/>
              <a:buChar char="•"/>
            </a:pPr>
            <a:r>
              <a:rPr lang="en-US" sz="1000" dirty="0">
                <a:solidFill>
                  <a:srgbClr val="24354F"/>
                </a:solidFill>
                <a:latin typeface="Calibri" pitchFamily="34" charset="0"/>
                <a:ea typeface="Calibri" pitchFamily="34" charset="-122"/>
                <a:cs typeface="Calibri" pitchFamily="34" charset="-120"/>
              </a:rPr>
              <a:t>which reads to make is itself the recurrent structure</a:t>
            </a:r>
            <a:endParaRPr lang="en-US" sz="1000" dirty="0"/>
          </a:p>
          <a:p>
            <a:pPr marL="342900" indent="-342900">
              <a:lnSpc>
                <a:spcPct val="105000"/>
              </a:lnSpc>
              <a:spcAft>
                <a:spcPts val="300"/>
              </a:spcAft>
              <a:buSzPct val="100000"/>
              <a:buChar char="•"/>
            </a:pPr>
            <a:r>
              <a:rPr lang="en-US" sz="1000" dirty="0">
                <a:solidFill>
                  <a:srgbClr val="24354F"/>
                </a:solidFill>
                <a:latin typeface="Calibri" pitchFamily="34" charset="0"/>
                <a:ea typeface="Calibri" pitchFamily="34" charset="-122"/>
                <a:cs typeface="Calibri" pitchFamily="34" charset="-120"/>
              </a:rPr>
              <a:t>the region is branch-dependent</a:t>
            </a:r>
            <a:endParaRPr lang="en-US" sz="1000" dirty="0"/>
          </a:p>
          <a:p>
            <a:pPr marL="342900" indent="-342900">
              <a:lnSpc>
                <a:spcPct val="105000"/>
              </a:lnSpc>
              <a:spcAft>
                <a:spcPts val="300"/>
              </a:spcAft>
              <a:buSzPct val="100000"/>
              <a:buChar char="•"/>
            </a:pPr>
            <a:r>
              <a:rPr lang="en-US" sz="1000" dirty="0">
                <a:solidFill>
                  <a:srgbClr val="24354F"/>
                </a:solidFill>
                <a:latin typeface="Calibri" pitchFamily="34" charset="0"/>
                <a:ea typeface="Calibri" pitchFamily="34" charset="-122"/>
                <a:cs typeface="Calibri" pitchFamily="34" charset="-120"/>
              </a:rPr>
              <a:t>manual discovery and maintenance would not amortize</a:t>
            </a:r>
            <a:endParaRPr lang="en-US" sz="1000" dirty="0"/>
          </a:p>
        </p:txBody>
      </p:sp>
      <p:sp>
        <p:nvSpPr>
          <p:cNvPr id="21" name="Shape 18"/>
          <p:cNvSpPr/>
          <p:nvPr/>
        </p:nvSpPr>
        <p:spPr>
          <a:xfrm>
            <a:off x="640080" y="4882896"/>
            <a:ext cx="10911535" cy="1225296"/>
          </a:xfrm>
          <a:prstGeom prst="roundRect">
            <a:avLst>
              <a:gd name="adj" fmla="val 3731"/>
            </a:avLst>
          </a:prstGeom>
          <a:solidFill>
            <a:srgbClr val="EAF1F7"/>
          </a:solidFill>
          <a:ln w="9525">
            <a:solidFill>
              <a:srgbClr val="D5E0EB"/>
            </a:solidFill>
            <a:prstDash val="solid"/>
          </a:ln>
          <a:effectLst>
            <a:outerShdw blurRad="114300" dist="17780" dir="5400000" algn="bl" rotWithShape="0">
              <a:srgbClr val="94A6BC">
                <a:alpha val="15000"/>
              </a:srgbClr>
            </a:outerShdw>
          </a:effectLst>
        </p:spPr>
        <p:txBody>
          <a:bodyPr/>
          <a:lstStyle/>
          <a:p>
            <a:endParaRPr lang="en-US"/>
          </a:p>
        </p:txBody>
      </p:sp>
      <p:sp>
        <p:nvSpPr>
          <p:cNvPr id="8" name="Text 19"/>
          <p:cNvSpPr/>
          <p:nvPr/>
        </p:nvSpPr>
        <p:spPr>
          <a:xfrm>
            <a:off x="896112" y="4992624"/>
            <a:ext cx="10399471" cy="201168"/>
          </a:xfrm>
          <a:prstGeom prst="rect">
            <a:avLst/>
          </a:prstGeom>
          <a:noFill/>
          <a:ln/>
        </p:spPr>
        <p:txBody>
          <a:bodyPr wrap="square" lIns="0" tIns="0" rIns="0" bIns="0" rtlCol="0" anchor="t"/>
          <a:lstStyle/>
          <a:p>
            <a:pPr marL="0" indent="0">
              <a:buNone/>
            </a:pPr>
            <a:r>
              <a:rPr lang="en-US" sz="950" b="1" kern="0" spc="110" dirty="0">
                <a:solidFill>
                  <a:srgbClr val="1F8A99"/>
                </a:solidFill>
                <a:latin typeface="Calibri" pitchFamily="34" charset="0"/>
                <a:ea typeface="Calibri" pitchFamily="34" charset="-122"/>
                <a:cs typeface="Calibri" pitchFamily="34" charset="-120"/>
              </a:rPr>
              <a:t>MECHANISTIC EXPLANATION AND A TESTABLE HYPOTHESIS</a:t>
            </a:r>
            <a:endParaRPr lang="en-US" sz="950" dirty="0"/>
          </a:p>
        </p:txBody>
      </p:sp>
      <p:sp>
        <p:nvSpPr>
          <p:cNvPr id="23" name="Text 20"/>
          <p:cNvSpPr/>
          <p:nvPr/>
        </p:nvSpPr>
        <p:spPr>
          <a:xfrm>
            <a:off x="896112" y="5230368"/>
            <a:ext cx="10399471" cy="822960"/>
          </a:xfrm>
          <a:prstGeom prst="rect">
            <a:avLst/>
          </a:prstGeom>
          <a:noFill/>
          <a:ln/>
        </p:spPr>
        <p:txBody>
          <a:bodyPr wrap="square" lIns="0" tIns="0" rIns="0" bIns="0" rtlCol="0" anchor="t"/>
          <a:lstStyle/>
          <a:p>
            <a:pPr marL="0" indent="0">
              <a:lnSpc>
                <a:spcPct val="105000"/>
              </a:lnSpc>
              <a:buNone/>
            </a:pPr>
            <a:r>
              <a:rPr lang="en-US" sz="1000" dirty="0">
                <a:solidFill>
                  <a:srgbClr val="24354F"/>
                </a:solidFill>
                <a:latin typeface="Calibri" pitchFamily="34" charset="0"/>
                <a:ea typeface="Calibri" pitchFamily="34" charset="-122"/>
                <a:cs typeface="Calibri" pitchFamily="34" charset="-120"/>
              </a:rPr>
              <a:t>The macro is allowed to redesign the application interface: it fuses three reads, returns a task-specific sufficient record, and exposes one schema. The compiler is constrained to preserve existing interfaces, provenance, intermediate evidence, and fallback semantics — its groundability proof permits only a two-read prefix, and all three logical reads remain necessary. Hypothesis: manual macros dominate on stable, low-entropy workflows, while guarded compilation earns its cost across branching or changing families for which manual discovery and maintenance do not amortize. Live confirmation on 30 real issues: the macro matches the compiler's request count, uses one tool call instead of three, and beats it on tokens (−58.2% vs −39.5%) and estimated cost (−37.5% vs −32.0%); only observed wall latency favours the compiler, and that paired interval crosses zero.</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22</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RESULTS  ·  RQ5  ·  §3.4 AND §5.5  ·  TABLE 7</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Risk-bounded selection over measured actions only</a:t>
            </a:r>
            <a:endParaRPr lang="en-US" sz="2600" dirty="0"/>
          </a:p>
        </p:txBody>
      </p:sp>
      <p:sp>
        <p:nvSpPr>
          <p:cNvPr id="6" name="Shape 4"/>
          <p:cNvSpPr/>
          <p:nvPr/>
        </p:nvSpPr>
        <p:spPr>
          <a:xfrm>
            <a:off x="640080" y="1170432"/>
            <a:ext cx="5943600" cy="1298448"/>
          </a:xfrm>
          <a:prstGeom prst="roundRect">
            <a:avLst>
              <a:gd name="adj" fmla="val 3521"/>
            </a:avLst>
          </a:prstGeom>
          <a:solidFill>
            <a:srgbClr val="F5F9FC"/>
          </a:solidFill>
          <a:ln w="9525">
            <a:solidFill>
              <a:srgbClr val="D5E0EB"/>
            </a:solidFill>
            <a:prstDash val="solid"/>
          </a:ln>
        </p:spPr>
        <p:txBody>
          <a:bodyPr/>
          <a:lstStyle/>
          <a:p>
            <a:endParaRPr lang="en-US"/>
          </a:p>
        </p:txBody>
      </p:sp>
      <p:pic>
        <p:nvPicPr>
          <p:cNvPr id="7" name="Image 0" descr="/home/claude/deck/eq/eq9.png"/>
          <p:cNvPicPr>
            <a:picLocks noChangeAspect="1"/>
          </p:cNvPicPr>
          <p:nvPr/>
        </p:nvPicPr>
        <p:blipFill>
          <a:blip r:embed="rId3"/>
          <a:stretch>
            <a:fillRect/>
          </a:stretch>
        </p:blipFill>
        <p:spPr>
          <a:xfrm>
            <a:off x="877824" y="1316736"/>
            <a:ext cx="3803904" cy="402336"/>
          </a:xfrm>
          <a:prstGeom prst="rect">
            <a:avLst/>
          </a:prstGeom>
        </p:spPr>
      </p:pic>
      <p:sp>
        <p:nvSpPr>
          <p:cNvPr id="8" name="Text 5"/>
          <p:cNvSpPr/>
          <p:nvPr/>
        </p:nvSpPr>
        <p:spPr>
          <a:xfrm>
            <a:off x="877824" y="1792224"/>
            <a:ext cx="5468112" cy="566928"/>
          </a:xfrm>
          <a:prstGeom prst="rect">
            <a:avLst/>
          </a:prstGeom>
          <a:noFill/>
          <a:ln/>
        </p:spPr>
        <p:txBody>
          <a:bodyPr wrap="square" lIns="0" tIns="0" rIns="0" bIns="0" rtlCol="0" anchor="t"/>
          <a:lstStyle/>
          <a:p>
            <a:pPr marL="0" indent="0">
              <a:lnSpc>
                <a:spcPct val="105000"/>
              </a:lnSpc>
              <a:buNone/>
            </a:pPr>
            <a:r>
              <a:rPr lang="en-US" sz="1000" dirty="0">
                <a:solidFill>
                  <a:srgbClr val="5A6B84"/>
                </a:solidFill>
                <a:latin typeface="Calibri" pitchFamily="34" charset="0"/>
                <a:ea typeface="Calibri" pitchFamily="34" charset="-122"/>
                <a:cs typeface="Calibri" pitchFamily="34" charset="-120"/>
              </a:rPr>
              <a:t>Each metric's paired reduction is one minus the candidate's cost over the baseline's, weighted 0.35 cost, 0.25 latency, 0.20 tokens, 0.20 tool calls. A quality violation is recorded whenever the candidate's task contract fails, a regret event whenever U g (a) ≤ U min. Repeated executions of one issue are averaged within that issue and never increase the independent-group count.</a:t>
            </a:r>
            <a:endParaRPr lang="en-US" sz="1000" dirty="0"/>
          </a:p>
        </p:txBody>
      </p:sp>
      <p:sp>
        <p:nvSpPr>
          <p:cNvPr id="9" name="Text 6"/>
          <p:cNvSpPr/>
          <p:nvPr/>
        </p:nvSpPr>
        <p:spPr>
          <a:xfrm>
            <a:off x="5888736" y="1316736"/>
            <a:ext cx="493776" cy="274320"/>
          </a:xfrm>
          <a:prstGeom prst="rect">
            <a:avLst/>
          </a:prstGeom>
          <a:noFill/>
          <a:ln/>
        </p:spPr>
        <p:txBody>
          <a:bodyPr wrap="square" lIns="0" tIns="0" rIns="0" bIns="0" rtlCol="0" anchor="t"/>
          <a:lstStyle/>
          <a:p>
            <a:pPr marL="0" indent="0" algn="r">
              <a:buNone/>
            </a:pPr>
            <a:r>
              <a:rPr lang="en-US" sz="1000" dirty="0">
                <a:solidFill>
                  <a:srgbClr val="56B3BE"/>
                </a:solidFill>
                <a:latin typeface="Calibri" pitchFamily="34" charset="0"/>
                <a:ea typeface="Calibri" pitchFamily="34" charset="-122"/>
                <a:cs typeface="Calibri" pitchFamily="34" charset="-120"/>
              </a:rPr>
              <a:t>(9)</a:t>
            </a:r>
            <a:endParaRPr lang="en-US" sz="1000" dirty="0"/>
          </a:p>
        </p:txBody>
      </p:sp>
      <p:sp>
        <p:nvSpPr>
          <p:cNvPr id="10" name="Shape 7"/>
          <p:cNvSpPr/>
          <p:nvPr/>
        </p:nvSpPr>
        <p:spPr>
          <a:xfrm>
            <a:off x="640080" y="2560320"/>
            <a:ext cx="5943600" cy="1188720"/>
          </a:xfrm>
          <a:prstGeom prst="roundRect">
            <a:avLst>
              <a:gd name="adj" fmla="val 3846"/>
            </a:avLst>
          </a:prstGeom>
          <a:solidFill>
            <a:srgbClr val="F5F9FC"/>
          </a:solidFill>
          <a:ln w="9525">
            <a:solidFill>
              <a:srgbClr val="D5E0EB"/>
            </a:solidFill>
            <a:prstDash val="solid"/>
          </a:ln>
        </p:spPr>
        <p:txBody>
          <a:bodyPr/>
          <a:lstStyle/>
          <a:p>
            <a:endParaRPr lang="en-US"/>
          </a:p>
        </p:txBody>
      </p:sp>
      <p:pic>
        <p:nvPicPr>
          <p:cNvPr id="11" name="Image 1" descr="/home/claude/deck/eq/eq10.png"/>
          <p:cNvPicPr>
            <a:picLocks noChangeAspect="1"/>
          </p:cNvPicPr>
          <p:nvPr/>
        </p:nvPicPr>
        <p:blipFill>
          <a:blip r:embed="rId4"/>
          <a:stretch>
            <a:fillRect/>
          </a:stretch>
        </p:blipFill>
        <p:spPr>
          <a:xfrm>
            <a:off x="877824" y="2724978"/>
            <a:ext cx="4901184" cy="310763"/>
          </a:xfrm>
          <a:prstGeom prst="rect">
            <a:avLst/>
          </a:prstGeom>
        </p:spPr>
      </p:pic>
      <p:sp>
        <p:nvSpPr>
          <p:cNvPr id="12" name="Text 8"/>
          <p:cNvSpPr/>
          <p:nvPr/>
        </p:nvSpPr>
        <p:spPr>
          <a:xfrm>
            <a:off x="877824" y="3127248"/>
            <a:ext cx="5468112" cy="512064"/>
          </a:xfrm>
          <a:prstGeom prst="rect">
            <a:avLst/>
          </a:prstGeom>
          <a:noFill/>
          <a:ln/>
        </p:spPr>
        <p:txBody>
          <a:bodyPr wrap="square" lIns="0" tIns="0" rIns="0" bIns="0" rtlCol="0" anchor="t"/>
          <a:lstStyle/>
          <a:p>
            <a:pPr marL="0" indent="0">
              <a:lnSpc>
                <a:spcPct val="105000"/>
              </a:lnSpc>
              <a:buNone/>
            </a:pPr>
            <a:r>
              <a:rPr lang="en-US" sz="1000" dirty="0">
                <a:solidFill>
                  <a:srgbClr val="5A6B84"/>
                </a:solidFill>
                <a:latin typeface="Calibri" pitchFamily="34" charset="0"/>
                <a:ea typeface="Calibri" pitchFamily="34" charset="-122"/>
                <a:cs typeface="Calibri" pitchFamily="34" charset="-120"/>
              </a:rPr>
              <a:t>One-sided Clopper–Pearson bounds on both endpoints, with the confidence budget split across both bounds and all compared actions. The selector returns arg max U over the admitted set, or the baseline if it is empty. Macros default to human review: the library returns a decision record, evidence, and rationale — never generated application code.</a:t>
            </a:r>
            <a:endParaRPr lang="en-US" sz="1000" dirty="0"/>
          </a:p>
        </p:txBody>
      </p:sp>
      <p:sp>
        <p:nvSpPr>
          <p:cNvPr id="13" name="Text 9"/>
          <p:cNvSpPr/>
          <p:nvPr/>
        </p:nvSpPr>
        <p:spPr>
          <a:xfrm>
            <a:off x="5888736" y="2706624"/>
            <a:ext cx="493776" cy="274320"/>
          </a:xfrm>
          <a:prstGeom prst="rect">
            <a:avLst/>
          </a:prstGeom>
          <a:noFill/>
          <a:ln/>
        </p:spPr>
        <p:txBody>
          <a:bodyPr wrap="square" lIns="0" tIns="0" rIns="0" bIns="0" rtlCol="0" anchor="t"/>
          <a:lstStyle/>
          <a:p>
            <a:pPr marL="0" indent="0" algn="r">
              <a:buNone/>
            </a:pPr>
            <a:r>
              <a:rPr lang="en-US" sz="1000" dirty="0">
                <a:solidFill>
                  <a:srgbClr val="56B3BE"/>
                </a:solidFill>
                <a:latin typeface="Calibri" pitchFamily="34" charset="0"/>
                <a:ea typeface="Calibri" pitchFamily="34" charset="-122"/>
                <a:cs typeface="Calibri" pitchFamily="34" charset="-120"/>
              </a:rPr>
              <a:t>(10)</a:t>
            </a:r>
            <a:endParaRPr lang="en-US" sz="1000" dirty="0"/>
          </a:p>
        </p:txBody>
      </p:sp>
      <p:graphicFrame>
        <p:nvGraphicFramePr>
          <p:cNvPr id="14" name="Chart 0"/>
          <p:cNvGraphicFramePr/>
          <p:nvPr/>
        </p:nvGraphicFramePr>
        <p:xfrm>
          <a:off x="640080" y="3877056"/>
          <a:ext cx="5943600" cy="1463040"/>
        </p:xfrm>
        <a:graphic>
          <a:graphicData uri="http://schemas.openxmlformats.org/drawingml/2006/chart">
            <c:chart xmlns:c="http://schemas.openxmlformats.org/drawingml/2006/chart" xmlns:r="http://schemas.openxmlformats.org/officeDocument/2006/relationships" r:id="rId5"/>
          </a:graphicData>
        </a:graphic>
      </p:graphicFrame>
      <p:sp>
        <p:nvSpPr>
          <p:cNvPr id="15" name="Text 10"/>
          <p:cNvSpPr/>
          <p:nvPr/>
        </p:nvSpPr>
        <p:spPr>
          <a:xfrm>
            <a:off x="640080" y="5431536"/>
            <a:ext cx="5943600" cy="566928"/>
          </a:xfrm>
          <a:prstGeom prst="rect">
            <a:avLst/>
          </a:prstGeom>
          <a:noFill/>
          <a:ln/>
        </p:spPr>
        <p:txBody>
          <a:bodyPr wrap="square" lIns="0" tIns="0" rIns="0" bIns="0" rtlCol="0" anchor="t"/>
          <a:lstStyle/>
          <a:p>
            <a:pPr marL="0" indent="0">
              <a:lnSpc>
                <a:spcPct val="105000"/>
              </a:lnSpc>
              <a:buNone/>
            </a:pPr>
            <a:r>
              <a:rPr lang="en-US" sz="1000" dirty="0">
                <a:solidFill>
                  <a:srgbClr val="5A6B84"/>
                </a:solidFill>
                <a:latin typeface="Calibri" pitchFamily="34" charset="0"/>
                <a:ea typeface="Calibri" pitchFamily="34" charset="-122"/>
                <a:cs typeface="Calibri" pitchFamily="34" charset="-120"/>
              </a:rPr>
              <a:t>Both actions admitted: zero quality failures, zero non-positive-utility groups, exact upper bounds 0.136 against the pilot's 15% limit — intentionally looser than the compiler's 5% registered-contract bound and not to be conflated with it.</a:t>
            </a:r>
            <a:endParaRPr lang="en-US" sz="1000" dirty="0"/>
          </a:p>
        </p:txBody>
      </p:sp>
      <p:sp>
        <p:nvSpPr>
          <p:cNvPr id="16" name="Shape 11"/>
          <p:cNvSpPr/>
          <p:nvPr/>
        </p:nvSpPr>
        <p:spPr>
          <a:xfrm>
            <a:off x="6949440" y="1170432"/>
            <a:ext cx="4602175" cy="3346704"/>
          </a:xfrm>
          <a:prstGeom prst="roundRect">
            <a:avLst>
              <a:gd name="adj" fmla="val 1366"/>
            </a:avLst>
          </a:prstGeom>
          <a:solidFill>
            <a:srgbClr val="E8F4F5"/>
          </a:solidFill>
          <a:ln w="9525">
            <a:solidFill>
              <a:srgbClr val="CFE4E7"/>
            </a:solidFill>
            <a:prstDash val="solid"/>
          </a:ln>
          <a:effectLst>
            <a:outerShdw blurRad="114300" dist="17780" dir="5400000" algn="bl" rotWithShape="0">
              <a:srgbClr val="94A6BC">
                <a:alpha val="15000"/>
              </a:srgbClr>
            </a:outerShdw>
          </a:effectLst>
        </p:spPr>
        <p:txBody>
          <a:bodyPr/>
          <a:lstStyle/>
          <a:p>
            <a:endParaRPr lang="en-US"/>
          </a:p>
        </p:txBody>
      </p:sp>
      <p:sp>
        <p:nvSpPr>
          <p:cNvPr id="17" name="Text 12"/>
          <p:cNvSpPr/>
          <p:nvPr/>
        </p:nvSpPr>
        <p:spPr>
          <a:xfrm>
            <a:off x="7205472" y="1316736"/>
            <a:ext cx="4090111" cy="365760"/>
          </a:xfrm>
          <a:prstGeom prst="rect">
            <a:avLst/>
          </a:prstGeom>
          <a:noFill/>
          <a:ln/>
        </p:spPr>
        <p:txBody>
          <a:bodyPr wrap="square" lIns="0" tIns="0" rIns="0" bIns="0" rtlCol="0" anchor="t"/>
          <a:lstStyle/>
          <a:p>
            <a:pPr marL="0" indent="0">
              <a:lnSpc>
                <a:spcPct val="105000"/>
              </a:lnSpc>
              <a:buNone/>
            </a:pPr>
            <a:r>
              <a:rPr lang="en-US" sz="950" b="1" kern="0" spc="100" dirty="0">
                <a:solidFill>
                  <a:srgbClr val="1F8A99"/>
                </a:solidFill>
                <a:latin typeface="Calibri" pitchFamily="34" charset="0"/>
                <a:ea typeface="Calibri" pitchFamily="34" charset="-122"/>
                <a:cs typeface="Calibri" pitchFamily="34" charset="-120"/>
              </a:rPr>
              <a:t>PROSPECTIVE TEST — 12 FRESH PUBLIC ISSUES, DECISION AND HASH FROZEN FIRST</a:t>
            </a:r>
            <a:endParaRPr lang="en-US" sz="950" dirty="0"/>
          </a:p>
        </p:txBody>
      </p:sp>
      <p:sp>
        <p:nvSpPr>
          <p:cNvPr id="18" name="Text 13"/>
          <p:cNvSpPr/>
          <p:nvPr/>
        </p:nvSpPr>
        <p:spPr>
          <a:xfrm>
            <a:off x="7205472" y="1773936"/>
            <a:ext cx="1234440" cy="329184"/>
          </a:xfrm>
          <a:prstGeom prst="rect">
            <a:avLst/>
          </a:prstGeom>
          <a:noFill/>
          <a:ln/>
        </p:spPr>
        <p:txBody>
          <a:bodyPr wrap="square" lIns="0" tIns="0" rIns="0" bIns="0" rtlCol="0" anchor="ctr"/>
          <a:lstStyle/>
          <a:p>
            <a:pPr marL="0" indent="0">
              <a:buNone/>
            </a:pPr>
            <a:r>
              <a:rPr lang="en-US" sz="1500" b="1" dirty="0">
                <a:solidFill>
                  <a:srgbClr val="1F8A99"/>
                </a:solidFill>
                <a:latin typeface="Cambria" pitchFamily="34" charset="0"/>
                <a:ea typeface="Cambria" pitchFamily="34" charset="-122"/>
                <a:cs typeface="Cambria" pitchFamily="34" charset="-120"/>
              </a:rPr>
              <a:t>12 / 12</a:t>
            </a:r>
            <a:endParaRPr lang="en-US" sz="1500" dirty="0"/>
          </a:p>
        </p:txBody>
      </p:sp>
      <p:sp>
        <p:nvSpPr>
          <p:cNvPr id="19" name="Text 14"/>
          <p:cNvSpPr/>
          <p:nvPr/>
        </p:nvSpPr>
        <p:spPr>
          <a:xfrm>
            <a:off x="8549640" y="1773936"/>
            <a:ext cx="2727655" cy="329184"/>
          </a:xfrm>
          <a:prstGeom prst="rect">
            <a:avLst/>
          </a:prstGeom>
          <a:noFill/>
          <a:ln/>
        </p:spPr>
        <p:txBody>
          <a:bodyPr wrap="square" lIns="0" tIns="0" rIns="0" bIns="0" rtlCol="0" anchor="ctr"/>
          <a:lstStyle/>
          <a:p>
            <a:pPr marL="0" indent="0">
              <a:buNone/>
            </a:pPr>
            <a:r>
              <a:rPr lang="en-US" sz="1050" dirty="0">
                <a:solidFill>
                  <a:srgbClr val="24354F"/>
                </a:solidFill>
                <a:latin typeface="Calibri" pitchFamily="34" charset="0"/>
                <a:ea typeface="Calibri" pitchFamily="34" charset="-122"/>
                <a:cs typeface="Calibri" pitchFamily="34" charset="-120"/>
              </a:rPr>
              <a:t>exact factual and full task contracts</a:t>
            </a:r>
            <a:endParaRPr lang="en-US" sz="1050" dirty="0"/>
          </a:p>
        </p:txBody>
      </p:sp>
      <p:sp>
        <p:nvSpPr>
          <p:cNvPr id="20" name="Text 15"/>
          <p:cNvSpPr/>
          <p:nvPr/>
        </p:nvSpPr>
        <p:spPr>
          <a:xfrm>
            <a:off x="7205472" y="2212848"/>
            <a:ext cx="1234440" cy="329184"/>
          </a:xfrm>
          <a:prstGeom prst="rect">
            <a:avLst/>
          </a:prstGeom>
          <a:noFill/>
          <a:ln/>
        </p:spPr>
        <p:txBody>
          <a:bodyPr wrap="square" lIns="0" tIns="0" rIns="0" bIns="0" rtlCol="0" anchor="ctr"/>
          <a:lstStyle/>
          <a:p>
            <a:pPr marL="0" indent="0">
              <a:buNone/>
            </a:pPr>
            <a:r>
              <a:rPr lang="en-US" sz="1500" b="1" dirty="0">
                <a:solidFill>
                  <a:srgbClr val="0E1E3A"/>
                </a:solidFill>
                <a:latin typeface="Cambria" pitchFamily="34" charset="0"/>
                <a:ea typeface="Cambria" pitchFamily="34" charset="-122"/>
                <a:cs typeface="Cambria" pitchFamily="34" charset="-120"/>
              </a:rPr>
              <a:t>−50.0%</a:t>
            </a:r>
            <a:endParaRPr lang="en-US" sz="1500" dirty="0"/>
          </a:p>
        </p:txBody>
      </p:sp>
      <p:sp>
        <p:nvSpPr>
          <p:cNvPr id="21" name="Text 16"/>
          <p:cNvSpPr/>
          <p:nvPr/>
        </p:nvSpPr>
        <p:spPr>
          <a:xfrm>
            <a:off x="8549640" y="2212848"/>
            <a:ext cx="2727655" cy="329184"/>
          </a:xfrm>
          <a:prstGeom prst="rect">
            <a:avLst/>
          </a:prstGeom>
          <a:noFill/>
          <a:ln/>
        </p:spPr>
        <p:txBody>
          <a:bodyPr wrap="square" lIns="0" tIns="0" rIns="0" bIns="0" rtlCol="0" anchor="ctr"/>
          <a:lstStyle/>
          <a:p>
            <a:pPr marL="0" indent="0">
              <a:buNone/>
            </a:pPr>
            <a:r>
              <a:rPr lang="en-US" sz="1050" dirty="0">
                <a:solidFill>
                  <a:srgbClr val="24354F"/>
                </a:solidFill>
                <a:latin typeface="Calibri" pitchFamily="34" charset="0"/>
                <a:ea typeface="Calibri" pitchFamily="34" charset="-122"/>
                <a:cs typeface="Calibri" pitchFamily="34" charset="-120"/>
              </a:rPr>
              <a:t>provider requests (4 → 2)</a:t>
            </a:r>
            <a:endParaRPr lang="en-US" sz="1050" dirty="0"/>
          </a:p>
        </p:txBody>
      </p:sp>
      <p:sp>
        <p:nvSpPr>
          <p:cNvPr id="22" name="Text 17"/>
          <p:cNvSpPr/>
          <p:nvPr/>
        </p:nvSpPr>
        <p:spPr>
          <a:xfrm>
            <a:off x="7205472" y="2651760"/>
            <a:ext cx="1234440" cy="329184"/>
          </a:xfrm>
          <a:prstGeom prst="rect">
            <a:avLst/>
          </a:prstGeom>
          <a:noFill/>
          <a:ln/>
        </p:spPr>
        <p:txBody>
          <a:bodyPr wrap="square" lIns="0" tIns="0" rIns="0" bIns="0" rtlCol="0" anchor="ctr"/>
          <a:lstStyle/>
          <a:p>
            <a:pPr marL="0" indent="0">
              <a:buNone/>
            </a:pPr>
            <a:r>
              <a:rPr lang="en-US" sz="1500" b="1" dirty="0">
                <a:solidFill>
                  <a:srgbClr val="0E1E3A"/>
                </a:solidFill>
                <a:latin typeface="Cambria" pitchFamily="34" charset="0"/>
                <a:ea typeface="Cambria" pitchFamily="34" charset="-122"/>
                <a:cs typeface="Cambria" pitchFamily="34" charset="-120"/>
              </a:rPr>
              <a:t>−66.7%</a:t>
            </a:r>
            <a:endParaRPr lang="en-US" sz="1500" dirty="0"/>
          </a:p>
        </p:txBody>
      </p:sp>
      <p:sp>
        <p:nvSpPr>
          <p:cNvPr id="23" name="Text 18"/>
          <p:cNvSpPr/>
          <p:nvPr/>
        </p:nvSpPr>
        <p:spPr>
          <a:xfrm>
            <a:off x="8549640" y="2651760"/>
            <a:ext cx="2727655" cy="329184"/>
          </a:xfrm>
          <a:prstGeom prst="rect">
            <a:avLst/>
          </a:prstGeom>
          <a:noFill/>
          <a:ln/>
        </p:spPr>
        <p:txBody>
          <a:bodyPr wrap="square" lIns="0" tIns="0" rIns="0" bIns="0" rtlCol="0" anchor="ctr"/>
          <a:lstStyle/>
          <a:p>
            <a:pPr marL="0" indent="0">
              <a:buNone/>
            </a:pPr>
            <a:r>
              <a:rPr lang="en-US" sz="1050" dirty="0">
                <a:solidFill>
                  <a:srgbClr val="24354F"/>
                </a:solidFill>
                <a:latin typeface="Calibri" pitchFamily="34" charset="0"/>
                <a:ea typeface="Calibri" pitchFamily="34" charset="-122"/>
                <a:cs typeface="Calibri" pitchFamily="34" charset="-120"/>
              </a:rPr>
              <a:t>tool calls (3 → 1)</a:t>
            </a:r>
            <a:endParaRPr lang="en-US" sz="1050" dirty="0"/>
          </a:p>
        </p:txBody>
      </p:sp>
      <p:sp>
        <p:nvSpPr>
          <p:cNvPr id="24" name="Text 19"/>
          <p:cNvSpPr/>
          <p:nvPr/>
        </p:nvSpPr>
        <p:spPr>
          <a:xfrm>
            <a:off x="7205472" y="3090672"/>
            <a:ext cx="1234440" cy="329184"/>
          </a:xfrm>
          <a:prstGeom prst="rect">
            <a:avLst/>
          </a:prstGeom>
          <a:noFill/>
          <a:ln/>
        </p:spPr>
        <p:txBody>
          <a:bodyPr wrap="square" lIns="0" tIns="0" rIns="0" bIns="0" rtlCol="0" anchor="ctr"/>
          <a:lstStyle/>
          <a:p>
            <a:pPr marL="0" indent="0">
              <a:buNone/>
            </a:pPr>
            <a:r>
              <a:rPr lang="en-US" sz="1500" b="1" dirty="0">
                <a:solidFill>
                  <a:srgbClr val="0E1E3A"/>
                </a:solidFill>
                <a:latin typeface="Cambria" pitchFamily="34" charset="0"/>
                <a:ea typeface="Cambria" pitchFamily="34" charset="-122"/>
                <a:cs typeface="Cambria" pitchFamily="34" charset="-120"/>
              </a:rPr>
              <a:t>−59.2%</a:t>
            </a:r>
            <a:endParaRPr lang="en-US" sz="1500" dirty="0"/>
          </a:p>
        </p:txBody>
      </p:sp>
      <p:sp>
        <p:nvSpPr>
          <p:cNvPr id="25" name="Text 20"/>
          <p:cNvSpPr/>
          <p:nvPr/>
        </p:nvSpPr>
        <p:spPr>
          <a:xfrm>
            <a:off x="8549640" y="3090672"/>
            <a:ext cx="2727655" cy="329184"/>
          </a:xfrm>
          <a:prstGeom prst="rect">
            <a:avLst/>
          </a:prstGeom>
          <a:noFill/>
          <a:ln/>
        </p:spPr>
        <p:txBody>
          <a:bodyPr wrap="square" lIns="0" tIns="0" rIns="0" bIns="0" rtlCol="0" anchor="ctr"/>
          <a:lstStyle/>
          <a:p>
            <a:pPr marL="0" indent="0">
              <a:buNone/>
            </a:pPr>
            <a:r>
              <a:rPr lang="en-US" sz="1050" dirty="0">
                <a:solidFill>
                  <a:srgbClr val="24354F"/>
                </a:solidFill>
                <a:latin typeface="Calibri" pitchFamily="34" charset="0"/>
                <a:ea typeface="Calibri" pitchFamily="34" charset="-122"/>
                <a:cs typeface="Calibri" pitchFamily="34" charset="-120"/>
              </a:rPr>
              <a:t>total tokens</a:t>
            </a:r>
            <a:endParaRPr lang="en-US" sz="1050" dirty="0"/>
          </a:p>
        </p:txBody>
      </p:sp>
      <p:sp>
        <p:nvSpPr>
          <p:cNvPr id="26" name="Text 21"/>
          <p:cNvSpPr/>
          <p:nvPr/>
        </p:nvSpPr>
        <p:spPr>
          <a:xfrm>
            <a:off x="7205472" y="3529584"/>
            <a:ext cx="1234440" cy="329184"/>
          </a:xfrm>
          <a:prstGeom prst="rect">
            <a:avLst/>
          </a:prstGeom>
          <a:noFill/>
          <a:ln/>
        </p:spPr>
        <p:txBody>
          <a:bodyPr wrap="square" lIns="0" tIns="0" rIns="0" bIns="0" rtlCol="0" anchor="ctr"/>
          <a:lstStyle/>
          <a:p>
            <a:pPr marL="0" indent="0">
              <a:buNone/>
            </a:pPr>
            <a:r>
              <a:rPr lang="en-US" sz="1500" b="1" dirty="0">
                <a:solidFill>
                  <a:srgbClr val="0E1E3A"/>
                </a:solidFill>
                <a:latin typeface="Cambria" pitchFamily="34" charset="0"/>
                <a:ea typeface="Cambria" pitchFamily="34" charset="-122"/>
                <a:cs typeface="Cambria" pitchFamily="34" charset="-120"/>
              </a:rPr>
              <a:t>−40.6%</a:t>
            </a:r>
            <a:endParaRPr lang="en-US" sz="1500" dirty="0"/>
          </a:p>
        </p:txBody>
      </p:sp>
      <p:sp>
        <p:nvSpPr>
          <p:cNvPr id="27" name="Text 22"/>
          <p:cNvSpPr/>
          <p:nvPr/>
        </p:nvSpPr>
        <p:spPr>
          <a:xfrm>
            <a:off x="8549640" y="3529584"/>
            <a:ext cx="2727655" cy="329184"/>
          </a:xfrm>
          <a:prstGeom prst="rect">
            <a:avLst/>
          </a:prstGeom>
          <a:noFill/>
          <a:ln/>
        </p:spPr>
        <p:txBody>
          <a:bodyPr wrap="square" lIns="0" tIns="0" rIns="0" bIns="0" rtlCol="0" anchor="ctr"/>
          <a:lstStyle/>
          <a:p>
            <a:pPr marL="0" indent="0">
              <a:buNone/>
            </a:pPr>
            <a:r>
              <a:rPr lang="en-US" sz="1050" dirty="0">
                <a:solidFill>
                  <a:srgbClr val="24354F"/>
                </a:solidFill>
                <a:latin typeface="Calibri" pitchFamily="34" charset="0"/>
                <a:ea typeface="Calibri" pitchFamily="34" charset="-122"/>
                <a:cs typeface="Calibri" pitchFamily="34" charset="-120"/>
              </a:rPr>
              <a:t>estimated cost</a:t>
            </a:r>
            <a:endParaRPr lang="en-US" sz="1050" dirty="0"/>
          </a:p>
        </p:txBody>
      </p:sp>
      <p:sp>
        <p:nvSpPr>
          <p:cNvPr id="28" name="Text 23"/>
          <p:cNvSpPr/>
          <p:nvPr/>
        </p:nvSpPr>
        <p:spPr>
          <a:xfrm>
            <a:off x="7205472" y="3968496"/>
            <a:ext cx="1234440" cy="329184"/>
          </a:xfrm>
          <a:prstGeom prst="rect">
            <a:avLst/>
          </a:prstGeom>
          <a:noFill/>
          <a:ln/>
        </p:spPr>
        <p:txBody>
          <a:bodyPr wrap="square" lIns="0" tIns="0" rIns="0" bIns="0" rtlCol="0" anchor="ctr"/>
          <a:lstStyle/>
          <a:p>
            <a:pPr marL="0" indent="0">
              <a:buNone/>
            </a:pPr>
            <a:r>
              <a:rPr lang="en-US" sz="1500" b="1" dirty="0">
                <a:solidFill>
                  <a:srgbClr val="0E1E3A"/>
                </a:solidFill>
                <a:latin typeface="Cambria" pitchFamily="34" charset="0"/>
                <a:ea typeface="Cambria" pitchFamily="34" charset="-122"/>
                <a:cs typeface="Cambria" pitchFamily="34" charset="-120"/>
              </a:rPr>
              <a:t>−71.6%</a:t>
            </a:r>
            <a:endParaRPr lang="en-US" sz="1500" dirty="0"/>
          </a:p>
        </p:txBody>
      </p:sp>
      <p:sp>
        <p:nvSpPr>
          <p:cNvPr id="29" name="Text 24"/>
          <p:cNvSpPr/>
          <p:nvPr/>
        </p:nvSpPr>
        <p:spPr>
          <a:xfrm>
            <a:off x="8549640" y="3968496"/>
            <a:ext cx="2727655" cy="329184"/>
          </a:xfrm>
          <a:prstGeom prst="rect">
            <a:avLst/>
          </a:prstGeom>
          <a:noFill/>
          <a:ln/>
        </p:spPr>
        <p:txBody>
          <a:bodyPr wrap="square" lIns="0" tIns="0" rIns="0" bIns="0" rtlCol="0" anchor="ctr"/>
          <a:lstStyle/>
          <a:p>
            <a:pPr marL="0" indent="0">
              <a:buNone/>
            </a:pPr>
            <a:r>
              <a:rPr lang="en-US" sz="1050" dirty="0">
                <a:solidFill>
                  <a:srgbClr val="24354F"/>
                </a:solidFill>
                <a:latin typeface="Calibri" pitchFamily="34" charset="0"/>
                <a:ea typeface="Calibri" pitchFamily="34" charset="-122"/>
                <a:cs typeface="Calibri" pitchFamily="34" charset="-120"/>
              </a:rPr>
              <a:t>observed wall latency</a:t>
            </a:r>
            <a:endParaRPr lang="en-US" sz="1050" dirty="0"/>
          </a:p>
        </p:txBody>
      </p:sp>
      <p:sp>
        <p:nvSpPr>
          <p:cNvPr id="30" name="Shape 25"/>
          <p:cNvSpPr/>
          <p:nvPr/>
        </p:nvSpPr>
        <p:spPr>
          <a:xfrm>
            <a:off x="6949440" y="4645152"/>
            <a:ext cx="4602175" cy="1463040"/>
          </a:xfrm>
          <a:prstGeom prst="roundRect">
            <a:avLst>
              <a:gd name="adj" fmla="val 3125"/>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31" name="Text 26"/>
          <p:cNvSpPr/>
          <p:nvPr/>
        </p:nvSpPr>
        <p:spPr>
          <a:xfrm>
            <a:off x="7205472" y="4754880"/>
            <a:ext cx="4090111" cy="256032"/>
          </a:xfrm>
          <a:prstGeom prst="rect">
            <a:avLst/>
          </a:prstGeom>
          <a:noFill/>
          <a:ln/>
        </p:spPr>
        <p:txBody>
          <a:bodyPr wrap="square" lIns="0" tIns="0" rIns="0" bIns="0" rtlCol="0" anchor="t"/>
          <a:lstStyle/>
          <a:p>
            <a:pPr marL="0" indent="0">
              <a:buNone/>
            </a:pPr>
            <a:r>
              <a:rPr lang="en-US" sz="1200" b="1" dirty="0">
                <a:solidFill>
                  <a:srgbClr val="A93B2B"/>
                </a:solidFill>
                <a:latin typeface="Cambria" pitchFamily="34" charset="0"/>
                <a:ea typeface="Cambria" pitchFamily="34" charset="-122"/>
                <a:cs typeface="Cambria" pitchFamily="34" charset="-120"/>
              </a:rPr>
              <a:t>What the pilot cannot establish</a:t>
            </a:r>
            <a:endParaRPr lang="en-US" sz="1200" dirty="0"/>
          </a:p>
        </p:txBody>
      </p:sp>
      <p:sp>
        <p:nvSpPr>
          <p:cNvPr id="32" name="Text 27"/>
          <p:cNvSpPr/>
          <p:nvPr/>
        </p:nvSpPr>
        <p:spPr>
          <a:xfrm>
            <a:off x="7205472" y="5029200"/>
            <a:ext cx="4090111" cy="969264"/>
          </a:xfrm>
          <a:prstGeom prst="rect">
            <a:avLst/>
          </a:prstGeom>
          <a:noFill/>
          <a:ln/>
        </p:spPr>
        <p:txBody>
          <a:bodyPr wrap="square" lIns="0" tIns="0" rIns="0" bIns="0" rtlCol="0" anchor="t"/>
          <a:lstStyle/>
          <a:p>
            <a:pPr marL="0" indent="0">
              <a:lnSpc>
                <a:spcPct val="105000"/>
              </a:lnSpc>
              <a:buNone/>
            </a:pPr>
            <a:r>
              <a:rPr lang="en-US" sz="1000" dirty="0">
                <a:solidFill>
                  <a:srgbClr val="5C4034"/>
                </a:solidFill>
                <a:latin typeface="Calibri" pitchFamily="34" charset="0"/>
                <a:ea typeface="Calibri" pitchFamily="34" charset="-122"/>
                <a:cs typeface="Calibri" pitchFamily="34" charset="-120"/>
              </a:rPr>
              <a:t>One workflow family supplies both calibration and test, no cache candidate has measured evidence, and the selected action is the same macro a static always-macro policy would choose. Showing value from selection requires multiple families on which different actions are optimal, measured construction and maintenance costs, and time-forward drift.</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23</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A93B2B"/>
                </a:solidFill>
                <a:latin typeface="Calibri" pitchFamily="34" charset="0"/>
                <a:ea typeface="Calibri" pitchFamily="34" charset="-122"/>
                <a:cs typeface="Calibri" pitchFamily="34" charset="-120"/>
              </a:rPr>
              <a:t>LIMITATIONS AND THREATS TO VALIDITY  ·  §8</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Six results the evidence deliberately does not deliver</a:t>
            </a:r>
            <a:endParaRPr lang="en-US" sz="2600" dirty="0"/>
          </a:p>
        </p:txBody>
      </p:sp>
      <p:sp>
        <p:nvSpPr>
          <p:cNvPr id="6" name="Shape 4"/>
          <p:cNvSpPr/>
          <p:nvPr/>
        </p:nvSpPr>
        <p:spPr>
          <a:xfrm>
            <a:off x="640080" y="1170432"/>
            <a:ext cx="3478682" cy="2231136"/>
          </a:xfrm>
          <a:prstGeom prst="roundRect">
            <a:avLst>
              <a:gd name="adj" fmla="val 2049"/>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7" name="Shape 5"/>
          <p:cNvSpPr/>
          <p:nvPr/>
        </p:nvSpPr>
        <p:spPr>
          <a:xfrm>
            <a:off x="859536" y="1353312"/>
            <a:ext cx="292608" cy="292608"/>
          </a:xfrm>
          <a:prstGeom prst="ellipse">
            <a:avLst/>
          </a:prstGeom>
          <a:solidFill>
            <a:srgbClr val="A93B2B"/>
          </a:solidFill>
          <a:ln w="6350">
            <a:solidFill>
              <a:srgbClr val="A93B2B"/>
            </a:solidFill>
            <a:prstDash val="solid"/>
          </a:ln>
        </p:spPr>
        <p:txBody>
          <a:bodyPr/>
          <a:lstStyle/>
          <a:p>
            <a:endParaRPr lang="en-US"/>
          </a:p>
        </p:txBody>
      </p:sp>
      <p:sp>
        <p:nvSpPr>
          <p:cNvPr id="8" name="Text 6"/>
          <p:cNvSpPr/>
          <p:nvPr/>
        </p:nvSpPr>
        <p:spPr>
          <a:xfrm>
            <a:off x="859536" y="1353312"/>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9" name="Text 7"/>
          <p:cNvSpPr/>
          <p:nvPr/>
        </p:nvSpPr>
        <p:spPr>
          <a:xfrm>
            <a:off x="1225296" y="1316736"/>
            <a:ext cx="2674010" cy="402336"/>
          </a:xfrm>
          <a:prstGeom prst="rect">
            <a:avLst/>
          </a:prstGeom>
          <a:noFill/>
          <a:ln/>
        </p:spPr>
        <p:txBody>
          <a:bodyPr wrap="square" lIns="0" tIns="0" rIns="0" bIns="0" rtlCol="0" anchor="ctr"/>
          <a:lstStyle/>
          <a:p>
            <a:pPr marL="0" indent="0">
              <a:lnSpc>
                <a:spcPct val="100000"/>
              </a:lnSpc>
              <a:buNone/>
            </a:pPr>
            <a:r>
              <a:rPr lang="en-US" sz="1150" b="1" dirty="0">
                <a:solidFill>
                  <a:srgbClr val="A93B2B"/>
                </a:solidFill>
                <a:latin typeface="Cambria" pitchFamily="34" charset="0"/>
                <a:ea typeface="Cambria" pitchFamily="34" charset="-122"/>
                <a:cs typeface="Cambria" pitchFamily="34" charset="-120"/>
              </a:rPr>
              <a:t>The selective gate did not discriminate</a:t>
            </a:r>
            <a:endParaRPr lang="en-US" sz="1150" dirty="0"/>
          </a:p>
        </p:txBody>
      </p:sp>
      <p:sp>
        <p:nvSpPr>
          <p:cNvPr id="10" name="Text 8"/>
          <p:cNvSpPr/>
          <p:nvPr/>
        </p:nvSpPr>
        <p:spPr>
          <a:xfrm>
            <a:off x="877824" y="1792224"/>
            <a:ext cx="3003194" cy="1481328"/>
          </a:xfrm>
          <a:prstGeom prst="rect">
            <a:avLst/>
          </a:prstGeom>
          <a:noFill/>
          <a:ln/>
        </p:spPr>
        <p:txBody>
          <a:bodyPr wrap="square" lIns="0" tIns="0" rIns="0" bIns="0" rtlCol="0" anchor="t"/>
          <a:lstStyle/>
          <a:p>
            <a:pPr marL="0" indent="0">
              <a:lnSpc>
                <a:spcPct val="105000"/>
              </a:lnSpc>
              <a:buNone/>
            </a:pPr>
            <a:r>
              <a:rPr lang="en-US" sz="900" dirty="0">
                <a:solidFill>
                  <a:srgbClr val="4E3529"/>
                </a:solidFill>
                <a:latin typeface="Calibri" pitchFamily="34" charset="0"/>
                <a:ea typeface="Calibri" pitchFamily="34" charset="-122"/>
                <a:cs typeface="Calibri" pitchFamily="34" charset="-120"/>
              </a:rPr>
              <a:t>Every threshold below 0.14 admits zero calibration groups and every threshold at or above it admits all 92, with zero violations throughout. The score was fitted on development-group unproductive outcomes — of which there were none — so a logistic model was trained with zero positive examples over eight observations and seven features. A single-class fit yields a near-constant score, and a near-constant score is exactly what produces the observed step. Contribution (v) is demonstrated only as a sample-size counter.</a:t>
            </a:r>
            <a:endParaRPr lang="en-US" sz="900" dirty="0"/>
          </a:p>
        </p:txBody>
      </p:sp>
      <p:sp>
        <p:nvSpPr>
          <p:cNvPr id="11" name="Shape 9"/>
          <p:cNvSpPr/>
          <p:nvPr/>
        </p:nvSpPr>
        <p:spPr>
          <a:xfrm>
            <a:off x="4356506" y="1170432"/>
            <a:ext cx="3478682" cy="2231136"/>
          </a:xfrm>
          <a:prstGeom prst="roundRect">
            <a:avLst>
              <a:gd name="adj" fmla="val 2049"/>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12" name="Shape 10"/>
          <p:cNvSpPr/>
          <p:nvPr/>
        </p:nvSpPr>
        <p:spPr>
          <a:xfrm>
            <a:off x="4575962" y="1353312"/>
            <a:ext cx="292608" cy="292608"/>
          </a:xfrm>
          <a:prstGeom prst="ellipse">
            <a:avLst/>
          </a:prstGeom>
          <a:solidFill>
            <a:srgbClr val="A93B2B"/>
          </a:solidFill>
          <a:ln w="6350">
            <a:solidFill>
              <a:srgbClr val="A93B2B"/>
            </a:solidFill>
            <a:prstDash val="solid"/>
          </a:ln>
        </p:spPr>
        <p:txBody>
          <a:bodyPr/>
          <a:lstStyle/>
          <a:p>
            <a:endParaRPr lang="en-US"/>
          </a:p>
        </p:txBody>
      </p:sp>
      <p:sp>
        <p:nvSpPr>
          <p:cNvPr id="13" name="Text 11"/>
          <p:cNvSpPr/>
          <p:nvPr/>
        </p:nvSpPr>
        <p:spPr>
          <a:xfrm>
            <a:off x="4575962" y="1353312"/>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14" name="Text 12"/>
          <p:cNvSpPr/>
          <p:nvPr/>
        </p:nvSpPr>
        <p:spPr>
          <a:xfrm>
            <a:off x="4941722" y="1316736"/>
            <a:ext cx="2674010" cy="402336"/>
          </a:xfrm>
          <a:prstGeom prst="rect">
            <a:avLst/>
          </a:prstGeom>
          <a:noFill/>
          <a:ln/>
        </p:spPr>
        <p:txBody>
          <a:bodyPr wrap="square" lIns="0" tIns="0" rIns="0" bIns="0" rtlCol="0" anchor="ctr"/>
          <a:lstStyle/>
          <a:p>
            <a:pPr marL="0" indent="0">
              <a:lnSpc>
                <a:spcPct val="100000"/>
              </a:lnSpc>
              <a:buNone/>
            </a:pPr>
            <a:r>
              <a:rPr lang="en-US" sz="1150" b="1" dirty="0">
                <a:solidFill>
                  <a:srgbClr val="A93B2B"/>
                </a:solidFill>
                <a:latin typeface="Cambria" pitchFamily="34" charset="0"/>
                <a:ea typeface="Cambria" pitchFamily="34" charset="-122"/>
                <a:cs typeface="Cambria" pitchFamily="34" charset="-120"/>
              </a:rPr>
              <a:t>Not production safe</a:t>
            </a:r>
            <a:endParaRPr lang="en-US" sz="1150" dirty="0"/>
          </a:p>
        </p:txBody>
      </p:sp>
      <p:sp>
        <p:nvSpPr>
          <p:cNvPr id="15" name="Text 13"/>
          <p:cNvSpPr/>
          <p:nvPr/>
        </p:nvSpPr>
        <p:spPr>
          <a:xfrm>
            <a:off x="4594250" y="1792224"/>
            <a:ext cx="3003194" cy="1481328"/>
          </a:xfrm>
          <a:prstGeom prst="rect">
            <a:avLst/>
          </a:prstGeom>
          <a:noFill/>
          <a:ln/>
        </p:spPr>
        <p:txBody>
          <a:bodyPr wrap="square" lIns="0" tIns="0" rIns="0" bIns="0" rtlCol="0" anchor="t"/>
          <a:lstStyle/>
          <a:p>
            <a:pPr marL="0" indent="0">
              <a:lnSpc>
                <a:spcPct val="105000"/>
              </a:lnSpc>
              <a:buNone/>
            </a:pPr>
            <a:r>
              <a:rPr lang="en-US" sz="900" dirty="0">
                <a:solidFill>
                  <a:srgbClr val="4E3529"/>
                </a:solidFill>
                <a:latin typeface="Calibri" pitchFamily="34" charset="0"/>
                <a:ea typeface="Calibri" pitchFamily="34" charset="-122"/>
                <a:cs typeface="Calibri" pitchFamily="34" charset="-120"/>
              </a:rPr>
              <a:t>No live GitHub service, no canary, no multi-domain test; the artifact was activated only under a lab-protocol flag. Registry records are mutable Python objects, lifecycle and approval fields were set directly, and signing was disabled — so immutability and signature verification are capabilities of the registry, not properties this experiment demonstrates.</a:t>
            </a:r>
            <a:endParaRPr lang="en-US" sz="900" dirty="0"/>
          </a:p>
        </p:txBody>
      </p:sp>
      <p:sp>
        <p:nvSpPr>
          <p:cNvPr id="16" name="Shape 14"/>
          <p:cNvSpPr/>
          <p:nvPr/>
        </p:nvSpPr>
        <p:spPr>
          <a:xfrm>
            <a:off x="8072933" y="1170432"/>
            <a:ext cx="3478682" cy="2231136"/>
          </a:xfrm>
          <a:prstGeom prst="roundRect">
            <a:avLst>
              <a:gd name="adj" fmla="val 2049"/>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17" name="Shape 15"/>
          <p:cNvSpPr/>
          <p:nvPr/>
        </p:nvSpPr>
        <p:spPr>
          <a:xfrm>
            <a:off x="8292389" y="1353312"/>
            <a:ext cx="292608" cy="292608"/>
          </a:xfrm>
          <a:prstGeom prst="ellipse">
            <a:avLst/>
          </a:prstGeom>
          <a:solidFill>
            <a:srgbClr val="A93B2B"/>
          </a:solidFill>
          <a:ln w="6350">
            <a:solidFill>
              <a:srgbClr val="A93B2B"/>
            </a:solidFill>
            <a:prstDash val="solid"/>
          </a:ln>
        </p:spPr>
        <p:txBody>
          <a:bodyPr/>
          <a:lstStyle/>
          <a:p>
            <a:endParaRPr lang="en-US"/>
          </a:p>
        </p:txBody>
      </p:sp>
      <p:sp>
        <p:nvSpPr>
          <p:cNvPr id="18" name="Text 16"/>
          <p:cNvSpPr/>
          <p:nvPr/>
        </p:nvSpPr>
        <p:spPr>
          <a:xfrm>
            <a:off x="8292389" y="1353312"/>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19" name="Text 17"/>
          <p:cNvSpPr/>
          <p:nvPr/>
        </p:nvSpPr>
        <p:spPr>
          <a:xfrm>
            <a:off x="8658149" y="1316736"/>
            <a:ext cx="2674010" cy="402336"/>
          </a:xfrm>
          <a:prstGeom prst="rect">
            <a:avLst/>
          </a:prstGeom>
          <a:noFill/>
          <a:ln/>
        </p:spPr>
        <p:txBody>
          <a:bodyPr wrap="square" lIns="0" tIns="0" rIns="0" bIns="0" rtlCol="0" anchor="ctr"/>
          <a:lstStyle/>
          <a:p>
            <a:pPr marL="0" indent="0">
              <a:lnSpc>
                <a:spcPct val="100000"/>
              </a:lnSpc>
              <a:buNone/>
            </a:pPr>
            <a:r>
              <a:rPr lang="en-US" sz="1150" b="1" dirty="0">
                <a:solidFill>
                  <a:srgbClr val="A93B2B"/>
                </a:solidFill>
                <a:latin typeface="Cambria" pitchFamily="34" charset="0"/>
                <a:ea typeface="Cambria" pitchFamily="34" charset="-122"/>
                <a:cs typeface="Cambria" pitchFamily="34" charset="-120"/>
              </a:rPr>
              <a:t>Compaction did not stabilize text</a:t>
            </a:r>
            <a:endParaRPr lang="en-US" sz="1150" dirty="0"/>
          </a:p>
        </p:txBody>
      </p:sp>
      <p:sp>
        <p:nvSpPr>
          <p:cNvPr id="20" name="Text 18"/>
          <p:cNvSpPr/>
          <p:nvPr/>
        </p:nvSpPr>
        <p:spPr>
          <a:xfrm>
            <a:off x="8310677" y="1792224"/>
            <a:ext cx="3003194" cy="1481328"/>
          </a:xfrm>
          <a:prstGeom prst="rect">
            <a:avLst/>
          </a:prstGeom>
          <a:noFill/>
          <a:ln/>
        </p:spPr>
        <p:txBody>
          <a:bodyPr wrap="square" lIns="0" tIns="0" rIns="0" bIns="0" rtlCol="0" anchor="t"/>
          <a:lstStyle/>
          <a:p>
            <a:pPr marL="0" indent="0">
              <a:lnSpc>
                <a:spcPct val="105000"/>
              </a:lnSpc>
              <a:buNone/>
            </a:pPr>
            <a:r>
              <a:rPr lang="en-US" sz="900" dirty="0">
                <a:solidFill>
                  <a:srgbClr val="4E3529"/>
                </a:solidFill>
                <a:latin typeface="Calibri" pitchFamily="34" charset="0"/>
                <a:ea typeface="Calibri" pitchFamily="34" charset="-122"/>
                <a:cs typeface="Calibri" pitchFamily="34" charset="-120"/>
              </a:rPr>
              <a:t>Category decisions agree 10/10 across arms, but byte-exact answers agree 7/10 baseline, 6/10 compiled, 4/10 macro. In the earlier six-repeat pilot: 1/6 baseline and 0/6 compiled. Structural determinism of the tool prefix improves by construction; free-form surface determinism does not.</a:t>
            </a:r>
            <a:endParaRPr lang="en-US" sz="900" dirty="0"/>
          </a:p>
        </p:txBody>
      </p:sp>
      <p:sp>
        <p:nvSpPr>
          <p:cNvPr id="21" name="Shape 19"/>
          <p:cNvSpPr/>
          <p:nvPr/>
        </p:nvSpPr>
        <p:spPr>
          <a:xfrm>
            <a:off x="640080" y="3602736"/>
            <a:ext cx="3478682" cy="2231136"/>
          </a:xfrm>
          <a:prstGeom prst="roundRect">
            <a:avLst>
              <a:gd name="adj" fmla="val 2049"/>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22" name="Shape 20"/>
          <p:cNvSpPr/>
          <p:nvPr/>
        </p:nvSpPr>
        <p:spPr>
          <a:xfrm>
            <a:off x="859536" y="3785616"/>
            <a:ext cx="292608" cy="292608"/>
          </a:xfrm>
          <a:prstGeom prst="ellipse">
            <a:avLst/>
          </a:prstGeom>
          <a:solidFill>
            <a:srgbClr val="A93B2B"/>
          </a:solidFill>
          <a:ln w="6350">
            <a:solidFill>
              <a:srgbClr val="A93B2B"/>
            </a:solidFill>
            <a:prstDash val="solid"/>
          </a:ln>
        </p:spPr>
        <p:txBody>
          <a:bodyPr/>
          <a:lstStyle/>
          <a:p>
            <a:endParaRPr lang="en-US"/>
          </a:p>
        </p:txBody>
      </p:sp>
      <p:sp>
        <p:nvSpPr>
          <p:cNvPr id="23" name="Text 21"/>
          <p:cNvSpPr/>
          <p:nvPr/>
        </p:nvSpPr>
        <p:spPr>
          <a:xfrm>
            <a:off x="859536" y="3785616"/>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24" name="Text 22"/>
          <p:cNvSpPr/>
          <p:nvPr/>
        </p:nvSpPr>
        <p:spPr>
          <a:xfrm>
            <a:off x="1225296" y="3749040"/>
            <a:ext cx="2674010" cy="402336"/>
          </a:xfrm>
          <a:prstGeom prst="rect">
            <a:avLst/>
          </a:prstGeom>
          <a:noFill/>
          <a:ln/>
        </p:spPr>
        <p:txBody>
          <a:bodyPr wrap="square" lIns="0" tIns="0" rIns="0" bIns="0" rtlCol="0" anchor="ctr"/>
          <a:lstStyle/>
          <a:p>
            <a:pPr marL="0" indent="0">
              <a:lnSpc>
                <a:spcPct val="100000"/>
              </a:lnSpc>
              <a:buNone/>
            </a:pPr>
            <a:r>
              <a:rPr lang="en-US" sz="1150" b="1" dirty="0">
                <a:solidFill>
                  <a:srgbClr val="A93B2B"/>
                </a:solidFill>
                <a:latin typeface="Cambria" pitchFamily="34" charset="0"/>
                <a:ea typeface="Cambria" pitchFamily="34" charset="-122"/>
                <a:cs typeface="Cambria" pitchFamily="34" charset="-120"/>
              </a:rPr>
              <a:t>Removing turns can remove guardrails</a:t>
            </a:r>
            <a:endParaRPr lang="en-US" sz="1150" dirty="0"/>
          </a:p>
        </p:txBody>
      </p:sp>
      <p:sp>
        <p:nvSpPr>
          <p:cNvPr id="25" name="Text 23"/>
          <p:cNvSpPr/>
          <p:nvPr/>
        </p:nvSpPr>
        <p:spPr>
          <a:xfrm>
            <a:off x="877824" y="4224528"/>
            <a:ext cx="3003194" cy="1481328"/>
          </a:xfrm>
          <a:prstGeom prst="rect">
            <a:avLst/>
          </a:prstGeom>
          <a:noFill/>
          <a:ln/>
        </p:spPr>
        <p:txBody>
          <a:bodyPr wrap="square" lIns="0" tIns="0" rIns="0" bIns="0" rtlCol="0" anchor="t"/>
          <a:lstStyle/>
          <a:p>
            <a:pPr marL="0" indent="0">
              <a:lnSpc>
                <a:spcPct val="105000"/>
              </a:lnSpc>
              <a:buNone/>
            </a:pPr>
            <a:r>
              <a:rPr lang="en-US" sz="900" dirty="0">
                <a:solidFill>
                  <a:srgbClr val="4E3529"/>
                </a:solidFill>
                <a:latin typeface="Calibri" pitchFamily="34" charset="0"/>
                <a:ea typeface="Calibri" pitchFamily="34" charset="-122"/>
                <a:cs typeface="Calibri" pitchFamily="34" charset="-120"/>
              </a:rPr>
              <a:t>Moderation, policy, and guardrail checks commonly run at model boundaries. A region deleting three of four boundaries risks deleting three of four evaluations, and neither the effect catalog nor the read-only policy covers that: a guardrail is not a tool call, so it is invisible to both. The demonstrations expose no guardrails, so the gap is untested rather than benign.</a:t>
            </a:r>
            <a:endParaRPr lang="en-US" sz="900" dirty="0"/>
          </a:p>
        </p:txBody>
      </p:sp>
      <p:sp>
        <p:nvSpPr>
          <p:cNvPr id="26" name="Shape 24"/>
          <p:cNvSpPr/>
          <p:nvPr/>
        </p:nvSpPr>
        <p:spPr>
          <a:xfrm>
            <a:off x="4356506" y="3602736"/>
            <a:ext cx="3478682" cy="2231136"/>
          </a:xfrm>
          <a:prstGeom prst="roundRect">
            <a:avLst>
              <a:gd name="adj" fmla="val 2049"/>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27" name="Shape 25"/>
          <p:cNvSpPr/>
          <p:nvPr/>
        </p:nvSpPr>
        <p:spPr>
          <a:xfrm>
            <a:off x="4575962" y="3785616"/>
            <a:ext cx="292608" cy="292608"/>
          </a:xfrm>
          <a:prstGeom prst="ellipse">
            <a:avLst/>
          </a:prstGeom>
          <a:solidFill>
            <a:srgbClr val="A93B2B"/>
          </a:solidFill>
          <a:ln w="6350">
            <a:solidFill>
              <a:srgbClr val="A93B2B"/>
            </a:solidFill>
            <a:prstDash val="solid"/>
          </a:ln>
        </p:spPr>
        <p:txBody>
          <a:bodyPr/>
          <a:lstStyle/>
          <a:p>
            <a:endParaRPr lang="en-US"/>
          </a:p>
        </p:txBody>
      </p:sp>
      <p:sp>
        <p:nvSpPr>
          <p:cNvPr id="28" name="Text 26"/>
          <p:cNvSpPr/>
          <p:nvPr/>
        </p:nvSpPr>
        <p:spPr>
          <a:xfrm>
            <a:off x="4575962" y="3785616"/>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29" name="Text 27"/>
          <p:cNvSpPr/>
          <p:nvPr/>
        </p:nvSpPr>
        <p:spPr>
          <a:xfrm>
            <a:off x="4941722" y="3749040"/>
            <a:ext cx="2674010" cy="402336"/>
          </a:xfrm>
          <a:prstGeom prst="rect">
            <a:avLst/>
          </a:prstGeom>
          <a:noFill/>
          <a:ln/>
        </p:spPr>
        <p:txBody>
          <a:bodyPr wrap="square" lIns="0" tIns="0" rIns="0" bIns="0" rtlCol="0" anchor="ctr"/>
          <a:lstStyle/>
          <a:p>
            <a:pPr marL="0" indent="0">
              <a:lnSpc>
                <a:spcPct val="100000"/>
              </a:lnSpc>
              <a:buNone/>
            </a:pPr>
            <a:r>
              <a:rPr lang="en-US" sz="1150" b="1" dirty="0">
                <a:solidFill>
                  <a:srgbClr val="A93B2B"/>
                </a:solidFill>
                <a:latin typeface="Cambria" pitchFamily="34" charset="0"/>
                <a:ea typeface="Cambria" pitchFamily="34" charset="-122"/>
                <a:cs typeface="Cambria" pitchFamily="34" charset="-120"/>
              </a:rPr>
              <a:t>Factual quality is narrow</a:t>
            </a:r>
            <a:endParaRPr lang="en-US" sz="1150" dirty="0"/>
          </a:p>
        </p:txBody>
      </p:sp>
      <p:sp>
        <p:nvSpPr>
          <p:cNvPr id="30" name="Text 28"/>
          <p:cNvSpPr/>
          <p:nvPr/>
        </p:nvSpPr>
        <p:spPr>
          <a:xfrm>
            <a:off x="4594250" y="4224528"/>
            <a:ext cx="3003194" cy="1481328"/>
          </a:xfrm>
          <a:prstGeom prst="rect">
            <a:avLst/>
          </a:prstGeom>
          <a:noFill/>
          <a:ln/>
        </p:spPr>
        <p:txBody>
          <a:bodyPr wrap="square" lIns="0" tIns="0" rIns="0" bIns="0" rtlCol="0" anchor="t"/>
          <a:lstStyle/>
          <a:p>
            <a:pPr marL="0" indent="0">
              <a:lnSpc>
                <a:spcPct val="105000"/>
              </a:lnSpc>
              <a:buNone/>
            </a:pPr>
            <a:r>
              <a:rPr lang="en-US" sz="900" dirty="0">
                <a:solidFill>
                  <a:srgbClr val="4E3529"/>
                </a:solidFill>
                <a:latin typeface="Calibri" pitchFamily="34" charset="0"/>
                <a:ea typeface="Calibri" pitchFamily="34" charset="-122"/>
                <a:cs typeface="Calibri" pitchFamily="34" charset="-120"/>
              </a:rPr>
              <a:t>The oracle is an automatic extractive contract, not human semantic adjudication. It checks exact snapshot fields and source-supported excerpts; it does not detect fluent fabrication. Both audited oracle corrections are retained in the artifact to show that even strict-looking metrics can drift.</a:t>
            </a:r>
            <a:endParaRPr lang="en-US" sz="900" dirty="0"/>
          </a:p>
        </p:txBody>
      </p:sp>
      <p:sp>
        <p:nvSpPr>
          <p:cNvPr id="31" name="Shape 29"/>
          <p:cNvSpPr/>
          <p:nvPr/>
        </p:nvSpPr>
        <p:spPr>
          <a:xfrm>
            <a:off x="8072933" y="3602736"/>
            <a:ext cx="3478682" cy="2231136"/>
          </a:xfrm>
          <a:prstGeom prst="roundRect">
            <a:avLst>
              <a:gd name="adj" fmla="val 2049"/>
            </a:avLst>
          </a:prstGeom>
          <a:solidFill>
            <a:srgbClr val="FBF0EC"/>
          </a:solidFill>
          <a:ln w="9525">
            <a:solidFill>
              <a:srgbClr val="EFDCD4"/>
            </a:solidFill>
            <a:prstDash val="solid"/>
          </a:ln>
          <a:effectLst>
            <a:outerShdw blurRad="114300" dist="17780" dir="5400000" algn="bl" rotWithShape="0">
              <a:srgbClr val="94A6BC">
                <a:alpha val="15000"/>
              </a:srgbClr>
            </a:outerShdw>
          </a:effectLst>
        </p:spPr>
        <p:txBody>
          <a:bodyPr/>
          <a:lstStyle/>
          <a:p>
            <a:endParaRPr lang="en-US"/>
          </a:p>
        </p:txBody>
      </p:sp>
      <p:sp>
        <p:nvSpPr>
          <p:cNvPr id="32" name="Shape 30"/>
          <p:cNvSpPr/>
          <p:nvPr/>
        </p:nvSpPr>
        <p:spPr>
          <a:xfrm>
            <a:off x="8292389" y="3785616"/>
            <a:ext cx="292608" cy="292608"/>
          </a:xfrm>
          <a:prstGeom prst="ellipse">
            <a:avLst/>
          </a:prstGeom>
          <a:solidFill>
            <a:srgbClr val="A93B2B"/>
          </a:solidFill>
          <a:ln w="6350">
            <a:solidFill>
              <a:srgbClr val="A93B2B"/>
            </a:solidFill>
            <a:prstDash val="solid"/>
          </a:ln>
        </p:spPr>
        <p:txBody>
          <a:bodyPr/>
          <a:lstStyle/>
          <a:p>
            <a:endParaRPr lang="en-US"/>
          </a:p>
        </p:txBody>
      </p:sp>
      <p:sp>
        <p:nvSpPr>
          <p:cNvPr id="33" name="Text 31"/>
          <p:cNvSpPr/>
          <p:nvPr/>
        </p:nvSpPr>
        <p:spPr>
          <a:xfrm>
            <a:off x="8292389" y="3785616"/>
            <a:ext cx="292608" cy="292608"/>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
        <p:nvSpPr>
          <p:cNvPr id="34" name="Text 32"/>
          <p:cNvSpPr/>
          <p:nvPr/>
        </p:nvSpPr>
        <p:spPr>
          <a:xfrm>
            <a:off x="8658149" y="3749040"/>
            <a:ext cx="2674010" cy="402336"/>
          </a:xfrm>
          <a:prstGeom prst="rect">
            <a:avLst/>
          </a:prstGeom>
          <a:noFill/>
          <a:ln/>
        </p:spPr>
        <p:txBody>
          <a:bodyPr wrap="square" lIns="0" tIns="0" rIns="0" bIns="0" rtlCol="0" anchor="ctr"/>
          <a:lstStyle/>
          <a:p>
            <a:pPr marL="0" indent="0">
              <a:lnSpc>
                <a:spcPct val="100000"/>
              </a:lnSpc>
              <a:buNone/>
            </a:pPr>
            <a:r>
              <a:rPr lang="en-US" sz="1150" b="1" dirty="0">
                <a:solidFill>
                  <a:srgbClr val="A93B2B"/>
                </a:solidFill>
                <a:latin typeface="Cambria" pitchFamily="34" charset="0"/>
                <a:ea typeface="Cambria" pitchFamily="34" charset="-122"/>
                <a:cs typeface="Cambria" pitchFamily="34" charset="-120"/>
              </a:rPr>
              <a:t>Latency is partly confounded</a:t>
            </a:r>
            <a:endParaRPr lang="en-US" sz="1150" dirty="0"/>
          </a:p>
        </p:txBody>
      </p:sp>
      <p:sp>
        <p:nvSpPr>
          <p:cNvPr id="35" name="Text 33"/>
          <p:cNvSpPr/>
          <p:nvPr/>
        </p:nvSpPr>
        <p:spPr>
          <a:xfrm>
            <a:off x="8310677" y="4224528"/>
            <a:ext cx="3003194" cy="1481328"/>
          </a:xfrm>
          <a:prstGeom prst="rect">
            <a:avLst/>
          </a:prstGeom>
          <a:noFill/>
          <a:ln/>
        </p:spPr>
        <p:txBody>
          <a:bodyPr wrap="square" lIns="0" tIns="0" rIns="0" bIns="0" rtlCol="0" anchor="t"/>
          <a:lstStyle/>
          <a:p>
            <a:pPr marL="0" indent="0">
              <a:lnSpc>
                <a:spcPct val="105000"/>
              </a:lnSpc>
              <a:buNone/>
            </a:pPr>
            <a:r>
              <a:rPr lang="en-US" sz="900" dirty="0">
                <a:solidFill>
                  <a:srgbClr val="4E3529"/>
                </a:solidFill>
                <a:latin typeface="Calibri" pitchFamily="34" charset="0"/>
                <a:ea typeface="Calibri" pitchFamily="34" charset="-122"/>
                <a:cs typeface="Calibri" pitchFamily="34" charset="-120"/>
              </a:rPr>
              <a:t>The fixed-prefix harness ran the entire baseline batch and then the entire compiled batch, so provider load, connection reuse, and prompt-cache warmth differ systematically between conditions. The request-count reduction is structural and unaffected, but the −85.0% wall-latency figure should be read as an observation under that ordering. Both natural-order studies counterbalance all six condition permutations.</a:t>
            </a:r>
            <a:endParaRPr lang="en-US" sz="900" dirty="0"/>
          </a:p>
        </p:txBody>
      </p:sp>
      <p:sp>
        <p:nvSpPr>
          <p:cNvPr id="36" name="Text 34"/>
          <p:cNvSpPr/>
          <p:nvPr/>
        </p:nvSpPr>
        <p:spPr>
          <a:xfrm>
            <a:off x="640080" y="5943600"/>
            <a:ext cx="10911535" cy="347472"/>
          </a:xfrm>
          <a:prstGeom prst="rect">
            <a:avLst/>
          </a:prstGeom>
          <a:noFill/>
          <a:ln/>
        </p:spPr>
        <p:txBody>
          <a:bodyPr wrap="square" lIns="0" tIns="0" rIns="0" bIns="0" rtlCol="0" anchor="t"/>
          <a:lstStyle/>
          <a:p>
            <a:pPr marL="0" indent="0">
              <a:lnSpc>
                <a:spcPct val="105000"/>
              </a:lnSpc>
              <a:buNone/>
            </a:pPr>
            <a:r>
              <a:rPr lang="en-US" sz="950" i="1" dirty="0">
                <a:solidFill>
                  <a:srgbClr val="5A6B84"/>
                </a:solidFill>
                <a:latin typeface="Calibri" pitchFamily="34" charset="0"/>
                <a:ea typeface="Calibri" pitchFamily="34" charset="-122"/>
                <a:cs typeface="Calibri" pitchFamily="34" charset="-120"/>
              </a:rPr>
              <a:t>Also: discovery is not free (132 episodes cost 528 provider requests, 533,293 tokens, and about $0.096, with break-even between 176 and 292 eligible future episodes); risk control is per-artifact with no global guarantee when many artifacts are selected; the closed DSL intentionally misses legitimate transformations and loops; and the workspace retained no prior Git history, so pre-snapshot commit ancestry cannot be reconstructed.</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A3B2C4"/>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A3B2C4"/>
                </a:solidFill>
                <a:latin typeface="Calibri" pitchFamily="34" charset="0"/>
                <a:ea typeface="Calibri" pitchFamily="34" charset="-122"/>
                <a:cs typeface="Calibri" pitchFamily="34" charset="-120"/>
              </a:rPr>
              <a:t>24</a:t>
            </a:r>
            <a:endParaRPr lang="en-US" sz="900" dirty="0"/>
          </a:p>
        </p:txBody>
      </p:sp>
      <p:sp>
        <p:nvSpPr>
          <p:cNvPr id="4" name="Text 2"/>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1F8A99"/>
                </a:solidFill>
                <a:latin typeface="Calibri" pitchFamily="34" charset="0"/>
                <a:ea typeface="Calibri" pitchFamily="34" charset="-122"/>
                <a:cs typeface="Calibri" pitchFamily="34" charset="-120"/>
              </a:rPr>
              <a:t>APPENDIX C / TABLE 9</a:t>
            </a:r>
            <a:endParaRPr lang="en-US" sz="1050" dirty="0"/>
          </a:p>
        </p:txBody>
      </p:sp>
      <p:sp>
        <p:nvSpPr>
          <p:cNvPr id="5" name="Text 3"/>
          <p:cNvSpPr/>
          <p:nvPr/>
        </p:nvSpPr>
        <p:spPr>
          <a:xfrm>
            <a:off x="640080" y="658368"/>
            <a:ext cx="10911535" cy="502920"/>
          </a:xfrm>
          <a:prstGeom prst="rect">
            <a:avLst/>
          </a:prstGeom>
          <a:noFill/>
          <a:ln/>
        </p:spPr>
        <p:txBody>
          <a:bodyPr wrap="square" lIns="0" tIns="0" rIns="0" bIns="0" rtlCol="0" anchor="t"/>
          <a:lstStyle/>
          <a:p>
            <a:pPr marL="0" indent="0">
              <a:buNone/>
            </a:pPr>
            <a:r>
              <a:rPr lang="en-US" sz="2600" b="1" dirty="0">
                <a:solidFill>
                  <a:srgbClr val="0E1E3A"/>
                </a:solidFill>
                <a:latin typeface="Cambria" pitchFamily="34" charset="0"/>
                <a:ea typeface="Cambria" pitchFamily="34" charset="-122"/>
                <a:cs typeface="Cambria" pitchFamily="34" charset="-120"/>
              </a:rPr>
              <a:t>The complete claims register — retained to prevent narrative drift</a:t>
            </a:r>
            <a:endParaRPr lang="en-US" sz="26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170432"/>
          <a:ext cx="10908792" cy="3712464"/>
        </p:xfrm>
        <a:graphic>
          <a:graphicData uri="http://schemas.openxmlformats.org/drawingml/2006/table">
            <a:tbl>
              <a:tblPr/>
              <a:tblGrid>
                <a:gridCol w="4572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4690872">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tblGrid>
              <a:tr h="265176">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ID</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0E1E3A"/>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Claim</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0E1E3A"/>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Direct evidence</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0E1E3A"/>
                    </a:solidFill>
                  </a:tcPr>
                </a:tc>
                <a:tc>
                  <a:txBody>
                    <a:bodyPr/>
                    <a:lstStyle/>
                    <a:p>
                      <a:pPr marL="0" indent="0">
                        <a:buNone/>
                      </a:pPr>
                      <a:r>
                        <a:rPr lang="en-US" sz="900" b="1" dirty="0">
                          <a:solidFill>
                            <a:srgbClr val="FFFFFF"/>
                          </a:solidFill>
                          <a:latin typeface="Calibri" pitchFamily="34" charset="0"/>
                          <a:ea typeface="Calibri" pitchFamily="34" charset="-122"/>
                          <a:cs typeface="Calibri" pitchFamily="34" charset="-120"/>
                        </a:rPr>
                        <a:t>Verdict (as recorded in Table 9)</a:t>
                      </a:r>
                      <a:endParaRPr lang="en-US" sz="90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0E1E3A"/>
                    </a:solidFill>
                  </a:tcPr>
                </a:tc>
                <a:extLst>
                  <a:ext uri="{0D108BD9-81ED-4DB2-BD59-A6C34878D82A}">
                    <a16:rowId xmlns:a16="http://schemas.microsoft.com/office/drawing/2014/main" val="10000"/>
                  </a:ext>
                </a:extLst>
              </a:tr>
              <a:tr h="265176">
                <a:tc>
                  <a:txBody>
                    <a:bodyPr/>
                    <a:lstStyle/>
                    <a:p>
                      <a:pPr marL="0" indent="0">
                        <a:buNone/>
                      </a:pPr>
                      <a:r>
                        <a:rPr lang="en-US" sz="850" b="1" dirty="0">
                          <a:solidFill>
                            <a:srgbClr val="0E1E3A"/>
                          </a:solidFill>
                          <a:latin typeface="Calibri" pitchFamily="34" charset="0"/>
                          <a:ea typeface="Calibri" pitchFamily="34" charset="-122"/>
                          <a:cs typeface="Calibri" pitchFamily="34" charset="-120"/>
                        </a:rPr>
                        <a:t>C1</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24354F"/>
                          </a:solidFill>
                          <a:latin typeface="Calibri" pitchFamily="34" charset="0"/>
                          <a:ea typeface="Calibri" pitchFamily="34" charset="-122"/>
                          <a:cs typeface="Calibri" pitchFamily="34" charset="-120"/>
                        </a:rPr>
                        <a:t>Expected producer appears in the provenance candidate set</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5A6B84"/>
                          </a:solidFill>
                          <a:latin typeface="Calibri" pitchFamily="34" charset="0"/>
                          <a:ea typeface="Calibri" pitchFamily="34" charset="-122"/>
                          <a:cs typeface="Calibri" pitchFamily="34" charset="-120"/>
                        </a:rPr>
                        <a:t>Pinned NESTFUL: 5,531 / 5,746 dependency slots</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b="1" dirty="0">
                          <a:solidFill>
                            <a:srgbClr val="B5821F"/>
                          </a:solidFill>
                          <a:latin typeface="Calibri" pitchFamily="34" charset="0"/>
                          <a:ea typeface="Calibri" pitchFamily="34" charset="-122"/>
                          <a:cs typeface="Calibri" pitchFamily="34" charset="-120"/>
                        </a:rPr>
                        <a:t>96.3% recall; 80.7% unique</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BF4E6"/>
                    </a:solidFill>
                  </a:tcPr>
                </a:tc>
                <a:extLst>
                  <a:ext uri="{0D108BD9-81ED-4DB2-BD59-A6C34878D82A}">
                    <a16:rowId xmlns:a16="http://schemas.microsoft.com/office/drawing/2014/main" val="10001"/>
                  </a:ext>
                </a:extLst>
              </a:tr>
              <a:tr h="265176">
                <a:tc>
                  <a:txBody>
                    <a:bodyPr/>
                    <a:lstStyle/>
                    <a:p>
                      <a:pPr marL="0" indent="0">
                        <a:buNone/>
                      </a:pPr>
                      <a:r>
                        <a:rPr lang="en-US" sz="850" b="1" dirty="0">
                          <a:solidFill>
                            <a:srgbClr val="0E1E3A"/>
                          </a:solidFill>
                          <a:latin typeface="Calibri" pitchFamily="34" charset="0"/>
                          <a:ea typeface="Calibri" pitchFamily="34" charset="-122"/>
                          <a:cs typeface="Calibri" pitchFamily="34" charset="-120"/>
                        </a:rPr>
                        <a:t>C2</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24354F"/>
                          </a:solidFill>
                          <a:latin typeface="Calibri" pitchFamily="34" charset="0"/>
                          <a:ea typeface="Calibri" pitchFamily="34" charset="-122"/>
                          <a:cs typeface="Calibri" pitchFamily="34" charset="-120"/>
                        </a:rPr>
                        <a:t>A naturally recurring prefix can remove model decisions</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5A6B84"/>
                          </a:solidFill>
                          <a:latin typeface="Calibri" pitchFamily="34" charset="0"/>
                          <a:ea typeface="Calibri" pitchFamily="34" charset="-122"/>
                          <a:cs typeface="Calibri" pitchFamily="34" charset="-120"/>
                        </a:rPr>
                        <a:t>132 live discovery records; 30 counterbalanced real-record tests</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b="1" dirty="0">
                          <a:solidFill>
                            <a:srgbClr val="B5821F"/>
                          </a:solidFill>
                          <a:latin typeface="Calibri" pitchFamily="34" charset="0"/>
                          <a:ea typeface="Calibri" pitchFamily="34" charset="-122"/>
                          <a:cs typeface="Calibri" pitchFamily="34" charset="-120"/>
                        </a:rPr>
                        <a:t>Yes; one snapshot domain</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BF4E6"/>
                    </a:solidFill>
                  </a:tcPr>
                </a:tc>
                <a:extLst>
                  <a:ext uri="{0D108BD9-81ED-4DB2-BD59-A6C34878D82A}">
                    <a16:rowId xmlns:a16="http://schemas.microsoft.com/office/drawing/2014/main" val="10002"/>
                  </a:ext>
                </a:extLst>
              </a:tr>
              <a:tr h="265176">
                <a:tc>
                  <a:txBody>
                    <a:bodyPr/>
                    <a:lstStyle/>
                    <a:p>
                      <a:pPr marL="0" indent="0">
                        <a:buNone/>
                      </a:pPr>
                      <a:r>
                        <a:rPr lang="en-US" sz="850" b="1" dirty="0">
                          <a:solidFill>
                            <a:srgbClr val="0E1E3A"/>
                          </a:solidFill>
                          <a:latin typeface="Calibri" pitchFamily="34" charset="0"/>
                          <a:ea typeface="Calibri" pitchFamily="34" charset="-122"/>
                          <a:cs typeface="Calibri" pitchFamily="34" charset="-120"/>
                        </a:rPr>
                        <a:t>C3</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24354F"/>
                          </a:solidFill>
                          <a:latin typeface="Calibri" pitchFamily="34" charset="0"/>
                          <a:ea typeface="Calibri" pitchFamily="34" charset="-122"/>
                          <a:cs typeface="Calibri" pitchFamily="34" charset="-120"/>
                        </a:rPr>
                        <a:t>Source-grounded task quality is preserved</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5A6B84"/>
                          </a:solidFill>
                          <a:latin typeface="Calibri" pitchFamily="34" charset="0"/>
                          <a:ea typeface="Calibri" pitchFamily="34" charset="-122"/>
                          <a:cs typeface="Calibri" pitchFamily="34" charset="-120"/>
                        </a:rPr>
                        <a:t>Expanded partial compiler: all three arms 30/30; earlier aggressive: 17/18</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b="1" dirty="0">
                          <a:solidFill>
                            <a:srgbClr val="B5821F"/>
                          </a:solidFill>
                          <a:latin typeface="Calibri" pitchFamily="34" charset="0"/>
                          <a:ea typeface="Calibri" pitchFamily="34" charset="-122"/>
                          <a:cs typeface="Calibri" pitchFamily="34" charset="-120"/>
                        </a:rPr>
                        <a:t>This sample only</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BF4E6"/>
                    </a:solidFill>
                  </a:tcPr>
                </a:tc>
                <a:extLst>
                  <a:ext uri="{0D108BD9-81ED-4DB2-BD59-A6C34878D82A}">
                    <a16:rowId xmlns:a16="http://schemas.microsoft.com/office/drawing/2014/main" val="10003"/>
                  </a:ext>
                </a:extLst>
              </a:tr>
              <a:tr h="265176">
                <a:tc>
                  <a:txBody>
                    <a:bodyPr/>
                    <a:lstStyle/>
                    <a:p>
                      <a:pPr marL="0" indent="0">
                        <a:buNone/>
                      </a:pPr>
                      <a:r>
                        <a:rPr lang="en-US" sz="850" b="1" dirty="0">
                          <a:solidFill>
                            <a:srgbClr val="0E1E3A"/>
                          </a:solidFill>
                          <a:latin typeface="Calibri" pitchFamily="34" charset="0"/>
                          <a:ea typeface="Calibri" pitchFamily="34" charset="-122"/>
                          <a:cs typeface="Calibri" pitchFamily="34" charset="-120"/>
                        </a:rPr>
                        <a:t>C4</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24354F"/>
                          </a:solidFill>
                          <a:latin typeface="Calibri" pitchFamily="34" charset="0"/>
                          <a:ea typeface="Calibri" pitchFamily="34" charset="-122"/>
                          <a:cs typeface="Calibri" pitchFamily="34" charset="-120"/>
                        </a:rPr>
                        <a:t>Configured selective admission is data hungry</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5A6B84"/>
                          </a:solidFill>
                          <a:latin typeface="Calibri" pitchFamily="34" charset="0"/>
                          <a:ea typeface="Calibri" pitchFamily="34" charset="-122"/>
                          <a:cs typeface="Calibri" pitchFamily="34" charset="-120"/>
                        </a:rPr>
                        <a:t>NESTFUL max support 26 vs required 92</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b="1" dirty="0">
                          <a:solidFill>
                            <a:srgbClr val="B5821F"/>
                          </a:solidFill>
                          <a:latin typeface="Calibri" pitchFamily="34" charset="0"/>
                          <a:ea typeface="Calibri" pitchFamily="34" charset="-122"/>
                          <a:cs typeface="Calibri" pitchFamily="34" charset="-120"/>
                        </a:rPr>
                        <a:t>This grid / risk setting</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BF4E6"/>
                    </a:solidFill>
                  </a:tcPr>
                </a:tc>
                <a:extLst>
                  <a:ext uri="{0D108BD9-81ED-4DB2-BD59-A6C34878D82A}">
                    <a16:rowId xmlns:a16="http://schemas.microsoft.com/office/drawing/2014/main" val="10004"/>
                  </a:ext>
                </a:extLst>
              </a:tr>
              <a:tr h="265176">
                <a:tc>
                  <a:txBody>
                    <a:bodyPr/>
                    <a:lstStyle/>
                    <a:p>
                      <a:pPr marL="0" indent="0">
                        <a:buNone/>
                      </a:pPr>
                      <a:r>
                        <a:rPr lang="en-US" sz="850" b="1" dirty="0">
                          <a:solidFill>
                            <a:srgbClr val="0E1E3A"/>
                          </a:solidFill>
                          <a:latin typeface="Calibri" pitchFamily="34" charset="0"/>
                          <a:ea typeface="Calibri" pitchFamily="34" charset="-122"/>
                          <a:cs typeface="Calibri" pitchFamily="34" charset="-120"/>
                        </a:rPr>
                        <a:t>C5</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24354F"/>
                          </a:solidFill>
                          <a:latin typeface="Calibri" pitchFamily="34" charset="0"/>
                          <a:ea typeface="Calibri" pitchFamily="34" charset="-122"/>
                          <a:cs typeface="Calibri" pitchFamily="34" charset="-120"/>
                        </a:rPr>
                        <a:t>Compaction improves text determinism</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5A6B84"/>
                          </a:solidFill>
                          <a:latin typeface="Calibri" pitchFamily="34" charset="0"/>
                          <a:ea typeface="Calibri" pitchFamily="34" charset="-122"/>
                          <a:cs typeface="Calibri" pitchFamily="34" charset="-120"/>
                        </a:rPr>
                        <a:t>Exact-answer agreement 1/6 vs 0/6 (n = 6)</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b="1" dirty="0">
                          <a:solidFill>
                            <a:srgbClr val="A93B2B"/>
                          </a:solidFill>
                          <a:latin typeface="Calibri" pitchFamily="34" charset="0"/>
                          <a:ea typeface="Calibri" pitchFamily="34" charset="-122"/>
                          <a:cs typeface="Calibri" pitchFamily="34" charset="-120"/>
                        </a:rPr>
                        <a:t>Not supported</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BF0EC"/>
                    </a:solidFill>
                  </a:tcPr>
                </a:tc>
                <a:extLst>
                  <a:ext uri="{0D108BD9-81ED-4DB2-BD59-A6C34878D82A}">
                    <a16:rowId xmlns:a16="http://schemas.microsoft.com/office/drawing/2014/main" val="10005"/>
                  </a:ext>
                </a:extLst>
              </a:tr>
              <a:tr h="265176">
                <a:tc>
                  <a:txBody>
                    <a:bodyPr/>
                    <a:lstStyle/>
                    <a:p>
                      <a:pPr marL="0" indent="0">
                        <a:buNone/>
                      </a:pPr>
                      <a:r>
                        <a:rPr lang="en-US" sz="850" b="1" dirty="0">
                          <a:solidFill>
                            <a:srgbClr val="0E1E3A"/>
                          </a:solidFill>
                          <a:latin typeface="Calibri" pitchFamily="34" charset="0"/>
                          <a:ea typeface="Calibri" pitchFamily="34" charset="-122"/>
                          <a:cs typeface="Calibri" pitchFamily="34" charset="-120"/>
                        </a:rPr>
                        <a:t>C6</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24354F"/>
                          </a:solidFill>
                          <a:latin typeface="Calibri" pitchFamily="34" charset="0"/>
                          <a:ea typeface="Calibri" pitchFamily="34" charset="-122"/>
                          <a:cs typeface="Calibri" pitchFamily="34" charset="-120"/>
                        </a:rPr>
                        <a:t>The artifact is production safe</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5A6B84"/>
                          </a:solidFill>
                          <a:latin typeface="Calibri" pitchFamily="34" charset="0"/>
                          <a:ea typeface="Calibri" pitchFamily="34" charset="-122"/>
                          <a:cs typeface="Calibri" pitchFamily="34" charset="-120"/>
                        </a:rPr>
                        <a:t>No live GitHub service, canary, or multi-domain test</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b="1" dirty="0">
                          <a:solidFill>
                            <a:srgbClr val="A93B2B"/>
                          </a:solidFill>
                          <a:latin typeface="Calibri" pitchFamily="34" charset="0"/>
                          <a:ea typeface="Calibri" pitchFamily="34" charset="-122"/>
                          <a:cs typeface="Calibri" pitchFamily="34" charset="-120"/>
                        </a:rPr>
                        <a:t>Not supported</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BF0EC"/>
                    </a:solidFill>
                  </a:tcPr>
                </a:tc>
                <a:extLst>
                  <a:ext uri="{0D108BD9-81ED-4DB2-BD59-A6C34878D82A}">
                    <a16:rowId xmlns:a16="http://schemas.microsoft.com/office/drawing/2014/main" val="10006"/>
                  </a:ext>
                </a:extLst>
              </a:tr>
              <a:tr h="265176">
                <a:tc>
                  <a:txBody>
                    <a:bodyPr/>
                    <a:lstStyle/>
                    <a:p>
                      <a:pPr marL="0" indent="0">
                        <a:buNone/>
                      </a:pPr>
                      <a:r>
                        <a:rPr lang="en-US" sz="850" b="1" dirty="0">
                          <a:solidFill>
                            <a:srgbClr val="0E1E3A"/>
                          </a:solidFill>
                          <a:latin typeface="Calibri" pitchFamily="34" charset="0"/>
                          <a:ea typeface="Calibri" pitchFamily="34" charset="-122"/>
                          <a:cs typeface="Calibri" pitchFamily="34" charset="-120"/>
                        </a:rPr>
                        <a:t>C7</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24354F"/>
                          </a:solidFill>
                          <a:latin typeface="Calibri" pitchFamily="34" charset="0"/>
                          <a:ea typeface="Calibri" pitchFamily="34" charset="-122"/>
                          <a:cs typeface="Calibri" pitchFamily="34" charset="-120"/>
                        </a:rPr>
                        <a:t>The learned gate discriminates risky from safe inputs</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5A6B84"/>
                          </a:solidFill>
                          <a:latin typeface="Calibri" pitchFamily="34" charset="0"/>
                          <a:ea typeface="Calibri" pitchFamily="34" charset="-122"/>
                          <a:cs typeface="Calibri" pitchFamily="34" charset="-120"/>
                        </a:rPr>
                        <a:t>0 positive dev examples; gate admits none or all</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b="1" dirty="0">
                          <a:solidFill>
                            <a:srgbClr val="A93B2B"/>
                          </a:solidFill>
                          <a:latin typeface="Calibri" pitchFamily="34" charset="0"/>
                          <a:ea typeface="Calibri" pitchFamily="34" charset="-122"/>
                          <a:cs typeface="Calibri" pitchFamily="34" charset="-120"/>
                        </a:rPr>
                        <a:t>Not supported</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BF0EC"/>
                    </a:solidFill>
                  </a:tcPr>
                </a:tc>
                <a:extLst>
                  <a:ext uri="{0D108BD9-81ED-4DB2-BD59-A6C34878D82A}">
                    <a16:rowId xmlns:a16="http://schemas.microsoft.com/office/drawing/2014/main" val="10007"/>
                  </a:ext>
                </a:extLst>
              </a:tr>
              <a:tr h="265176">
                <a:tc>
                  <a:txBody>
                    <a:bodyPr/>
                    <a:lstStyle/>
                    <a:p>
                      <a:pPr marL="0" indent="0">
                        <a:buNone/>
                      </a:pPr>
                      <a:r>
                        <a:rPr lang="en-US" sz="850" b="1" dirty="0">
                          <a:solidFill>
                            <a:srgbClr val="0E1E3A"/>
                          </a:solidFill>
                          <a:latin typeface="Calibri" pitchFamily="34" charset="0"/>
                          <a:ea typeface="Calibri" pitchFamily="34" charset="-122"/>
                          <a:cs typeface="Calibri" pitchFamily="34" charset="-120"/>
                        </a:rPr>
                        <a:t>C8</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24354F"/>
                          </a:solidFill>
                          <a:latin typeface="Calibri" pitchFamily="34" charset="0"/>
                          <a:ea typeface="Calibri" pitchFamily="34" charset="-122"/>
                          <a:cs typeface="Calibri" pitchFamily="34" charset="-120"/>
                        </a:rPr>
                        <a:t>Factual summary quality is preserved</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5A6B84"/>
                          </a:solidFill>
                          <a:latin typeface="Calibri" pitchFamily="34" charset="0"/>
                          <a:ea typeface="Calibri" pitchFamily="34" charset="-122"/>
                          <a:cs typeface="Calibri" pitchFamily="34" charset="-120"/>
                        </a:rPr>
                        <a:t>Oracle accepts fluent fabrication</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b="1" dirty="0">
                          <a:solidFill>
                            <a:srgbClr val="5A6B84"/>
                          </a:solidFill>
                          <a:latin typeface="Calibri" pitchFamily="34" charset="0"/>
                          <a:ea typeface="Calibri" pitchFamily="34" charset="-122"/>
                          <a:cs typeface="Calibri" pitchFamily="34" charset="-120"/>
                        </a:rPr>
                        <a:t>Not evaluated</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EFF1F4"/>
                    </a:solidFill>
                  </a:tcPr>
                </a:tc>
                <a:extLst>
                  <a:ext uri="{0D108BD9-81ED-4DB2-BD59-A6C34878D82A}">
                    <a16:rowId xmlns:a16="http://schemas.microsoft.com/office/drawing/2014/main" val="10008"/>
                  </a:ext>
                </a:extLst>
              </a:tr>
              <a:tr h="265176">
                <a:tc>
                  <a:txBody>
                    <a:bodyPr/>
                    <a:lstStyle/>
                    <a:p>
                      <a:pPr marL="0" indent="0">
                        <a:buNone/>
                      </a:pPr>
                      <a:r>
                        <a:rPr lang="en-US" sz="850" b="1" dirty="0">
                          <a:solidFill>
                            <a:srgbClr val="0E1E3A"/>
                          </a:solidFill>
                          <a:latin typeface="Calibri" pitchFamily="34" charset="0"/>
                          <a:ea typeface="Calibri" pitchFamily="34" charset="-122"/>
                          <a:cs typeface="Calibri" pitchFamily="34" charset="-120"/>
                        </a:rPr>
                        <a:t>C9</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24354F"/>
                          </a:solidFill>
                          <a:latin typeface="Calibri" pitchFamily="34" charset="0"/>
                          <a:ea typeface="Calibri" pitchFamily="34" charset="-122"/>
                          <a:cs typeface="Calibri" pitchFamily="34" charset="-120"/>
                        </a:rPr>
                        <a:t>The learned compiler dominates a hand-written macro</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5A6B84"/>
                          </a:solidFill>
                          <a:latin typeface="Calibri" pitchFamily="34" charset="0"/>
                          <a:ea typeface="Calibri" pitchFamily="34" charset="-122"/>
                          <a:cs typeface="Calibri" pitchFamily="34" charset="-120"/>
                        </a:rPr>
                        <a:t>Expanded live macro matches 30/30 and beats the compiler on tools, tokens, cost</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b="1" dirty="0">
                          <a:solidFill>
                            <a:srgbClr val="A93B2B"/>
                          </a:solidFill>
                          <a:latin typeface="Calibri" pitchFamily="34" charset="0"/>
                          <a:ea typeface="Calibri" pitchFamily="34" charset="-122"/>
                          <a:cs typeface="Calibri" pitchFamily="34" charset="-120"/>
                        </a:rPr>
                        <a:t>Not supported</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BF0EC"/>
                    </a:solidFill>
                  </a:tcPr>
                </a:tc>
                <a:extLst>
                  <a:ext uri="{0D108BD9-81ED-4DB2-BD59-A6C34878D82A}">
                    <a16:rowId xmlns:a16="http://schemas.microsoft.com/office/drawing/2014/main" val="10009"/>
                  </a:ext>
                </a:extLst>
              </a:tr>
              <a:tr h="265176">
                <a:tc>
                  <a:txBody>
                    <a:bodyPr/>
                    <a:lstStyle/>
                    <a:p>
                      <a:pPr marL="0" indent="0">
                        <a:buNone/>
                      </a:pPr>
                      <a:r>
                        <a:rPr lang="en-US" sz="850" b="1" dirty="0">
                          <a:solidFill>
                            <a:srgbClr val="0E1E3A"/>
                          </a:solidFill>
                          <a:latin typeface="Calibri" pitchFamily="34" charset="0"/>
                          <a:ea typeface="Calibri" pitchFamily="34" charset="-122"/>
                          <a:cs typeface="Calibri" pitchFamily="34" charset="-120"/>
                        </a:rPr>
                        <a:t>C10</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24354F"/>
                          </a:solidFill>
                          <a:latin typeface="Calibri" pitchFamily="34" charset="0"/>
                          <a:ea typeface="Calibri" pitchFamily="34" charset="-122"/>
                          <a:cs typeface="Calibri" pitchFamily="34" charset="-120"/>
                        </a:rPr>
                        <a:t>A continuation contract recovers the retained exact-source miss</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5A6B84"/>
                          </a:solidFill>
                          <a:latin typeface="Calibri" pitchFamily="34" charset="0"/>
                          <a:ea typeface="Calibri" pitchFamily="34" charset="-122"/>
                          <a:cs typeface="Calibri" pitchFamily="34" charset="-120"/>
                        </a:rPr>
                        <a:t>Provider-free replay detects issue 6602 and checked-renders 1/18 cases</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b="1" dirty="0">
                          <a:solidFill>
                            <a:srgbClr val="B5821F"/>
                          </a:solidFill>
                          <a:latin typeface="Calibri" pitchFamily="34" charset="0"/>
                          <a:ea typeface="Calibri" pitchFamily="34" charset="-122"/>
                          <a:cs typeface="Calibri" pitchFamily="34" charset="-120"/>
                        </a:rPr>
                        <a:t>Verified counterfactual</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BF4E6"/>
                    </a:solidFill>
                  </a:tcPr>
                </a:tc>
                <a:extLst>
                  <a:ext uri="{0D108BD9-81ED-4DB2-BD59-A6C34878D82A}">
                    <a16:rowId xmlns:a16="http://schemas.microsoft.com/office/drawing/2014/main" val="10010"/>
                  </a:ext>
                </a:extLst>
              </a:tr>
              <a:tr h="265176">
                <a:tc>
                  <a:txBody>
                    <a:bodyPr/>
                    <a:lstStyle/>
                    <a:p>
                      <a:pPr marL="0" indent="0">
                        <a:buNone/>
                      </a:pPr>
                      <a:r>
                        <a:rPr lang="en-US" sz="850" b="1" dirty="0">
                          <a:solidFill>
                            <a:srgbClr val="0E1E3A"/>
                          </a:solidFill>
                          <a:latin typeface="Calibri" pitchFamily="34" charset="0"/>
                          <a:ea typeface="Calibri" pitchFamily="34" charset="-122"/>
                          <a:cs typeface="Calibri" pitchFamily="34" charset="-120"/>
                        </a:rPr>
                        <a:t>C11</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24354F"/>
                          </a:solidFill>
                          <a:latin typeface="Calibri" pitchFamily="34" charset="0"/>
                          <a:ea typeface="Calibri" pitchFamily="34" charset="-122"/>
                          <a:cs typeface="Calibri" pitchFamily="34" charset="-120"/>
                        </a:rPr>
                        <a:t>The portfolio recommends a measured macro</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5A6B84"/>
                          </a:solidFill>
                          <a:latin typeface="Calibri" pitchFamily="34" charset="0"/>
                          <a:ea typeface="Calibri" pitchFamily="34" charset="-122"/>
                          <a:cs typeface="Calibri" pitchFamily="34" charset="-120"/>
                        </a:rPr>
                        <a:t>30 frozen independent groups; 12 fresh paired issues</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b="1" dirty="0">
                          <a:solidFill>
                            <a:srgbClr val="B5821F"/>
                          </a:solidFill>
                          <a:latin typeface="Calibri" pitchFamily="34" charset="0"/>
                          <a:ea typeface="Calibri" pitchFamily="34" charset="-122"/>
                          <a:cs typeface="Calibri" pitchFamily="34" charset="-120"/>
                        </a:rPr>
                        <a:t>Verified, one family</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BF4E6"/>
                    </a:solidFill>
                  </a:tcPr>
                </a:tc>
                <a:extLst>
                  <a:ext uri="{0D108BD9-81ED-4DB2-BD59-A6C34878D82A}">
                    <a16:rowId xmlns:a16="http://schemas.microsoft.com/office/drawing/2014/main" val="10011"/>
                  </a:ext>
                </a:extLst>
              </a:tr>
              <a:tr h="265176">
                <a:tc>
                  <a:txBody>
                    <a:bodyPr/>
                    <a:lstStyle/>
                    <a:p>
                      <a:pPr marL="0" indent="0">
                        <a:buNone/>
                      </a:pPr>
                      <a:r>
                        <a:rPr lang="en-US" sz="850" b="1" dirty="0">
                          <a:solidFill>
                            <a:srgbClr val="0E1E3A"/>
                          </a:solidFill>
                          <a:latin typeface="Calibri" pitchFamily="34" charset="0"/>
                          <a:ea typeface="Calibri" pitchFamily="34" charset="-122"/>
                          <a:cs typeface="Calibri" pitchFamily="34" charset="-120"/>
                        </a:rPr>
                        <a:t>C12</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24354F"/>
                          </a:solidFill>
                          <a:latin typeface="Calibri" pitchFamily="34" charset="0"/>
                          <a:ea typeface="Calibri" pitchFamily="34" charset="-122"/>
                          <a:cs typeface="Calibri" pitchFamily="34" charset="-120"/>
                        </a:rPr>
                        <a:t>The portfolio synthesizes a macro or evaluates a cache action</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5A6B84"/>
                          </a:solidFill>
                          <a:latin typeface="Calibri" pitchFamily="34" charset="0"/>
                          <a:ea typeface="Calibri" pitchFamily="34" charset="-122"/>
                          <a:cs typeface="Calibri" pitchFamily="34" charset="-120"/>
                        </a:rPr>
                        <a:t>Public portfolio API accepts externally supplied measurements only</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b="1" dirty="0">
                          <a:solidFill>
                            <a:srgbClr val="5A6B84"/>
                          </a:solidFill>
                          <a:latin typeface="Calibri" pitchFamily="34" charset="0"/>
                          <a:ea typeface="Calibri" pitchFamily="34" charset="-122"/>
                          <a:cs typeface="Calibri" pitchFamily="34" charset="-120"/>
                        </a:rPr>
                        <a:t>Not implemented</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EFF1F4"/>
                    </a:solidFill>
                  </a:tcPr>
                </a:tc>
                <a:extLst>
                  <a:ext uri="{0D108BD9-81ED-4DB2-BD59-A6C34878D82A}">
                    <a16:rowId xmlns:a16="http://schemas.microsoft.com/office/drawing/2014/main" val="10012"/>
                  </a:ext>
                </a:extLst>
              </a:tr>
              <a:tr h="265176">
                <a:tc>
                  <a:txBody>
                    <a:bodyPr/>
                    <a:lstStyle/>
                    <a:p>
                      <a:pPr marL="0" indent="0">
                        <a:buNone/>
                      </a:pPr>
                      <a:r>
                        <a:rPr lang="en-US" sz="850" b="1" dirty="0">
                          <a:solidFill>
                            <a:srgbClr val="0E1E3A"/>
                          </a:solidFill>
                          <a:latin typeface="Calibri" pitchFamily="34" charset="0"/>
                          <a:ea typeface="Calibri" pitchFamily="34" charset="-122"/>
                          <a:cs typeface="Calibri" pitchFamily="34" charset="-120"/>
                        </a:rPr>
                        <a:t>C13</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24354F"/>
                          </a:solidFill>
                          <a:latin typeface="Calibri" pitchFamily="34" charset="0"/>
                          <a:ea typeface="Calibri" pitchFamily="34" charset="-122"/>
                          <a:cs typeface="Calibri" pitchFamily="34" charset="-120"/>
                        </a:rPr>
                        <a:t>Portfolio selection beats an always-macro policy across workflows</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dirty="0">
                          <a:solidFill>
                            <a:srgbClr val="5A6B84"/>
                          </a:solidFill>
                          <a:latin typeface="Calibri" pitchFamily="34" charset="0"/>
                          <a:ea typeface="Calibri" pitchFamily="34" charset="-122"/>
                          <a:cs typeface="Calibri" pitchFamily="34" charset="-120"/>
                        </a:rPr>
                        <a:t>One family in which the measured macro is selected</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FFFFF"/>
                    </a:solidFill>
                  </a:tcPr>
                </a:tc>
                <a:tc>
                  <a:txBody>
                    <a:bodyPr/>
                    <a:lstStyle/>
                    <a:p>
                      <a:pPr marL="0" indent="0">
                        <a:buNone/>
                      </a:pPr>
                      <a:r>
                        <a:rPr lang="en-US" sz="850" b="1" dirty="0">
                          <a:solidFill>
                            <a:srgbClr val="A93B2B"/>
                          </a:solidFill>
                          <a:latin typeface="Calibri" pitchFamily="34" charset="0"/>
                          <a:ea typeface="Calibri" pitchFamily="34" charset="-122"/>
                          <a:cs typeface="Calibri" pitchFamily="34" charset="-120"/>
                        </a:rPr>
                        <a:t>Not supported</a:t>
                      </a:r>
                      <a:endParaRPr lang="en-US" sz="850" dirty="0">
                        <a:latin typeface="Calibri" charset="0"/>
                        <a:ea typeface="Calibri" charset="0"/>
                        <a:cs typeface="Calibri" charset="0"/>
                      </a:endParaRPr>
                    </a:p>
                  </a:txBody>
                  <a:tcPr marL="82296" marR="82296" marT="18288" marB="18288" anchor="ctr">
                    <a:lnL w="6350" cap="flat" cmpd="sng" algn="ctr">
                      <a:solidFill>
                        <a:srgbClr val="D5E0EB"/>
                      </a:solidFill>
                      <a:prstDash val="solid"/>
                      <a:round/>
                      <a:headEnd type="none" w="med" len="med"/>
                      <a:tailEnd type="none" w="med" len="med"/>
                    </a:lnL>
                    <a:lnR w="6350" cap="flat" cmpd="sng" algn="ctr">
                      <a:solidFill>
                        <a:srgbClr val="D5E0EB"/>
                      </a:solidFill>
                      <a:prstDash val="solid"/>
                      <a:round/>
                      <a:headEnd type="none" w="med" len="med"/>
                      <a:tailEnd type="none" w="med" len="med"/>
                    </a:lnR>
                    <a:lnT w="6350" cap="flat" cmpd="sng" algn="ctr">
                      <a:solidFill>
                        <a:srgbClr val="D5E0EB"/>
                      </a:solidFill>
                      <a:prstDash val="solid"/>
                      <a:round/>
                      <a:headEnd type="none" w="med" len="med"/>
                      <a:tailEnd type="none" w="med" len="med"/>
                    </a:lnT>
                    <a:lnB w="6350" cap="flat" cmpd="sng" algn="ctr">
                      <a:solidFill>
                        <a:srgbClr val="D5E0EB"/>
                      </a:solidFill>
                      <a:prstDash val="solid"/>
                      <a:round/>
                      <a:headEnd type="none" w="med" len="med"/>
                      <a:tailEnd type="none" w="med" len="med"/>
                    </a:lnB>
                    <a:solidFill>
                      <a:srgbClr val="FBF0EC"/>
                    </a:solidFill>
                  </a:tcPr>
                </a:tc>
                <a:extLst>
                  <a:ext uri="{0D108BD9-81ED-4DB2-BD59-A6C34878D82A}">
                    <a16:rowId xmlns:a16="http://schemas.microsoft.com/office/drawing/2014/main" val="10013"/>
                  </a:ext>
                </a:extLst>
              </a:tr>
            </a:tbl>
          </a:graphicData>
        </a:graphic>
      </p:graphicFrame>
      <p:sp>
        <p:nvSpPr>
          <p:cNvPr id="7" name="Text 4"/>
          <p:cNvSpPr/>
          <p:nvPr/>
        </p:nvSpPr>
        <p:spPr>
          <a:xfrm>
            <a:off x="640080" y="5029200"/>
            <a:ext cx="10911535" cy="310896"/>
          </a:xfrm>
          <a:prstGeom prst="rect">
            <a:avLst/>
          </a:prstGeom>
          <a:noFill/>
          <a:ln/>
        </p:spPr>
        <p:txBody>
          <a:bodyPr wrap="square" lIns="0" tIns="0" rIns="0" bIns="0" rtlCol="0" anchor="t"/>
          <a:lstStyle/>
          <a:p>
            <a:pPr marL="0" indent="0">
              <a:buNone/>
            </a:pPr>
            <a:r>
              <a:rPr lang="en-US" sz="1050" i="1" dirty="0">
                <a:solidFill>
                  <a:srgbClr val="5A6B84"/>
                </a:solidFill>
                <a:latin typeface="Calibri" pitchFamily="34" charset="0"/>
                <a:ea typeface="Calibri" pitchFamily="34" charset="-122"/>
                <a:cs typeface="Calibri" pitchFamily="34" charset="-120"/>
              </a:rPr>
              <a:t>Five claims are not supported, one is not evaluated, and one is not implemented. None of the six that stand is an unqualified pass — each carries its scope inside the verdict cell. Unsupported claims are retained precisely so a later reading cannot quietly promote them.</a:t>
            </a:r>
            <a:endParaRPr lang="en-US" sz="1050" dirty="0"/>
          </a:p>
        </p:txBody>
      </p:sp>
      <p:sp>
        <p:nvSpPr>
          <p:cNvPr id="8" name="Shape 5"/>
          <p:cNvSpPr/>
          <p:nvPr/>
        </p:nvSpPr>
        <p:spPr>
          <a:xfrm>
            <a:off x="640080" y="5431536"/>
            <a:ext cx="10911535" cy="731520"/>
          </a:xfrm>
          <a:prstGeom prst="roundRect">
            <a:avLst>
              <a:gd name="adj" fmla="val 6250"/>
            </a:avLst>
          </a:prstGeom>
          <a:solidFill>
            <a:srgbClr val="FBF0EC"/>
          </a:solidFill>
          <a:ln w="9525">
            <a:solidFill>
              <a:srgbClr val="EFDCD4"/>
            </a:solidFill>
            <a:prstDash val="solid"/>
          </a:ln>
        </p:spPr>
        <p:txBody>
          <a:bodyPr/>
          <a:lstStyle/>
          <a:p>
            <a:endParaRPr lang="en-US"/>
          </a:p>
        </p:txBody>
      </p:sp>
      <p:sp>
        <p:nvSpPr>
          <p:cNvPr id="9" name="Text 6"/>
          <p:cNvSpPr/>
          <p:nvPr/>
        </p:nvSpPr>
        <p:spPr>
          <a:xfrm>
            <a:off x="877824" y="5541264"/>
            <a:ext cx="2103120" cy="219456"/>
          </a:xfrm>
          <a:prstGeom prst="rect">
            <a:avLst/>
          </a:prstGeom>
          <a:noFill/>
          <a:ln/>
        </p:spPr>
        <p:txBody>
          <a:bodyPr wrap="square" lIns="0" tIns="0" rIns="0" bIns="0" rtlCol="0" anchor="t"/>
          <a:lstStyle/>
          <a:p>
            <a:pPr marL="0" indent="0">
              <a:buNone/>
            </a:pPr>
            <a:r>
              <a:rPr lang="en-US" sz="900" b="1" kern="0" spc="100" dirty="0">
                <a:solidFill>
                  <a:srgbClr val="A93B2B"/>
                </a:solidFill>
                <a:latin typeface="Calibri" pitchFamily="34" charset="0"/>
                <a:ea typeface="Calibri" pitchFamily="34" charset="-122"/>
                <a:cs typeface="Calibri" pitchFamily="34" charset="-120"/>
              </a:rPr>
              <a:t>THE FOUR NEGATIVE RESULTS</a:t>
            </a:r>
            <a:endParaRPr lang="en-US" sz="900" dirty="0"/>
          </a:p>
        </p:txBody>
      </p:sp>
      <p:sp>
        <p:nvSpPr>
          <p:cNvPr id="10" name="Text 7"/>
          <p:cNvSpPr/>
          <p:nvPr/>
        </p:nvSpPr>
        <p:spPr>
          <a:xfrm>
            <a:off x="3017520" y="5541264"/>
            <a:ext cx="8259775" cy="512064"/>
          </a:xfrm>
          <a:prstGeom prst="rect">
            <a:avLst/>
          </a:prstGeom>
          <a:noFill/>
          <a:ln/>
        </p:spPr>
        <p:txBody>
          <a:bodyPr wrap="square" lIns="0" tIns="0" rIns="0" bIns="0" rtlCol="0" anchor="ctr"/>
          <a:lstStyle/>
          <a:p>
            <a:pPr marL="0" indent="0">
              <a:lnSpc>
                <a:spcPct val="105000"/>
              </a:lnSpc>
              <a:buNone/>
            </a:pPr>
            <a:r>
              <a:rPr lang="en-US" sz="1050" dirty="0">
                <a:solidFill>
                  <a:srgbClr val="5C4034"/>
                </a:solidFill>
                <a:latin typeface="Calibri" pitchFamily="34" charset="0"/>
                <a:ea typeface="Calibri" pitchFamily="34" charset="-122"/>
                <a:cs typeface="Calibri" pitchFamily="34" charset="-120"/>
              </a:rPr>
              <a:t>Efficiency gains establish no factual quality  ·  no superiority over hand-written code  ·  no portfolio superiority  ·  no admission safety</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E1E3A"/>
        </a:solidFill>
        <a:effectLst/>
      </p:bgPr>
    </p:bg>
    <p:spTree>
      <p:nvGrpSpPr>
        <p:cNvPr id="1" name=""/>
        <p:cNvGrpSpPr/>
        <p:nvPr/>
      </p:nvGrpSpPr>
      <p:grpSpPr>
        <a:xfrm>
          <a:off x="0" y="0"/>
          <a:ext cx="0" cy="0"/>
          <a:chOff x="0" y="0"/>
          <a:chExt cx="0" cy="0"/>
        </a:xfrm>
      </p:grpSpPr>
      <p:sp>
        <p:nvSpPr>
          <p:cNvPr id="2" name="Text 0"/>
          <p:cNvSpPr/>
          <p:nvPr/>
        </p:nvSpPr>
        <p:spPr>
          <a:xfrm>
            <a:off x="640080" y="6345936"/>
            <a:ext cx="5486400" cy="256032"/>
          </a:xfrm>
          <a:prstGeom prst="rect">
            <a:avLst/>
          </a:prstGeom>
          <a:noFill/>
          <a:ln/>
        </p:spPr>
        <p:txBody>
          <a:bodyPr wrap="square" lIns="0" tIns="0" rIns="0" bIns="0" rtlCol="0" anchor="t"/>
          <a:lstStyle/>
          <a:p>
            <a:pPr marL="0" indent="0">
              <a:buNone/>
            </a:pPr>
            <a:r>
              <a:rPr lang="en-US" sz="900" kern="0" spc="100" dirty="0">
                <a:solidFill>
                  <a:srgbClr val="43597C"/>
                </a:solidFill>
                <a:latin typeface="Calibri" pitchFamily="34" charset="0"/>
                <a:ea typeface="Calibri" pitchFamily="34" charset="-122"/>
                <a:cs typeface="Calibri" pitchFamily="34" charset="-120"/>
              </a:rPr>
              <a:t>Guarded Agentic Compaction</a:t>
            </a:r>
            <a:endParaRPr lang="en-US" sz="900" dirty="0"/>
          </a:p>
        </p:txBody>
      </p:sp>
      <p:sp>
        <p:nvSpPr>
          <p:cNvPr id="3" name="Text 1"/>
          <p:cNvSpPr/>
          <p:nvPr/>
        </p:nvSpPr>
        <p:spPr>
          <a:xfrm>
            <a:off x="10637215" y="6345936"/>
            <a:ext cx="914400" cy="256032"/>
          </a:xfrm>
          <a:prstGeom prst="rect">
            <a:avLst/>
          </a:prstGeom>
          <a:noFill/>
          <a:ln/>
        </p:spPr>
        <p:txBody>
          <a:bodyPr wrap="square" lIns="0" tIns="0" rIns="0" bIns="0" rtlCol="0" anchor="t"/>
          <a:lstStyle/>
          <a:p>
            <a:pPr marL="0" indent="0" algn="r">
              <a:buNone/>
            </a:pPr>
            <a:r>
              <a:rPr lang="en-US" sz="900" dirty="0">
                <a:solidFill>
                  <a:srgbClr val="43597C"/>
                </a:solidFill>
                <a:latin typeface="Calibri" pitchFamily="34" charset="0"/>
                <a:ea typeface="Calibri" pitchFamily="34" charset="-122"/>
                <a:cs typeface="Calibri" pitchFamily="34" charset="-120"/>
              </a:rPr>
              <a:t>25</a:t>
            </a:r>
            <a:endParaRPr lang="en-US" sz="900" dirty="0"/>
          </a:p>
        </p:txBody>
      </p:sp>
      <p:sp>
        <p:nvSpPr>
          <p:cNvPr id="4" name="Shape 2"/>
          <p:cNvSpPr/>
          <p:nvPr/>
        </p:nvSpPr>
        <p:spPr>
          <a:xfrm>
            <a:off x="11247120" y="4846320"/>
            <a:ext cx="4023360" cy="4023360"/>
          </a:xfrm>
          <a:prstGeom prst="ellipse">
            <a:avLst/>
          </a:prstGeom>
          <a:solidFill>
            <a:srgbClr val="1A3563">
              <a:alpha val="58000"/>
            </a:srgbClr>
          </a:solidFill>
          <a:ln w="12700">
            <a:solidFill>
              <a:srgbClr val="1A3563"/>
            </a:solidFill>
            <a:prstDash val="solid"/>
          </a:ln>
        </p:spPr>
        <p:txBody>
          <a:bodyPr/>
          <a:lstStyle/>
          <a:p>
            <a:endParaRPr lang="en-US"/>
          </a:p>
        </p:txBody>
      </p:sp>
      <p:sp>
        <p:nvSpPr>
          <p:cNvPr id="5" name="Shape 3"/>
          <p:cNvSpPr/>
          <p:nvPr/>
        </p:nvSpPr>
        <p:spPr>
          <a:xfrm>
            <a:off x="11978640" y="5577840"/>
            <a:ext cx="2011680" cy="2011680"/>
          </a:xfrm>
          <a:prstGeom prst="ellipse">
            <a:avLst/>
          </a:prstGeom>
          <a:solidFill>
            <a:srgbClr val="1F8A99">
              <a:alpha val="52000"/>
            </a:srgbClr>
          </a:solidFill>
          <a:ln w="12700">
            <a:solidFill>
              <a:srgbClr val="1F8A99"/>
            </a:solidFill>
            <a:prstDash val="solid"/>
          </a:ln>
        </p:spPr>
        <p:txBody>
          <a:bodyPr/>
          <a:lstStyle/>
          <a:p>
            <a:endParaRPr lang="en-US"/>
          </a:p>
        </p:txBody>
      </p:sp>
      <p:sp>
        <p:nvSpPr>
          <p:cNvPr id="6" name="Text 4"/>
          <p:cNvSpPr/>
          <p:nvPr/>
        </p:nvSpPr>
        <p:spPr>
          <a:xfrm>
            <a:off x="640080" y="384048"/>
            <a:ext cx="10911535" cy="237744"/>
          </a:xfrm>
          <a:prstGeom prst="rect">
            <a:avLst/>
          </a:prstGeom>
          <a:noFill/>
          <a:ln/>
        </p:spPr>
        <p:txBody>
          <a:bodyPr wrap="square" lIns="0" tIns="0" rIns="0" bIns="0" rtlCol="0" anchor="t"/>
          <a:lstStyle/>
          <a:p>
            <a:pPr marL="0" indent="0">
              <a:buNone/>
            </a:pPr>
            <a:r>
              <a:rPr lang="en-US" sz="1050" b="1" kern="0" spc="180" dirty="0">
                <a:solidFill>
                  <a:srgbClr val="56B3BE"/>
                </a:solidFill>
                <a:latin typeface="Calibri" pitchFamily="34" charset="0"/>
                <a:ea typeface="Calibri" pitchFamily="34" charset="-122"/>
                <a:cs typeface="Calibri" pitchFamily="34" charset="-120"/>
              </a:rPr>
              <a:t>CONCLUSION</a:t>
            </a:r>
            <a:endParaRPr lang="en-US" sz="1050" dirty="0"/>
          </a:p>
        </p:txBody>
      </p:sp>
      <p:sp>
        <p:nvSpPr>
          <p:cNvPr id="7" name="Text 5"/>
          <p:cNvSpPr/>
          <p:nvPr/>
        </p:nvSpPr>
        <p:spPr>
          <a:xfrm>
            <a:off x="640080" y="658368"/>
            <a:ext cx="10241280" cy="914400"/>
          </a:xfrm>
          <a:prstGeom prst="rect">
            <a:avLst/>
          </a:prstGeom>
          <a:noFill/>
          <a:ln/>
        </p:spPr>
        <p:txBody>
          <a:bodyPr wrap="square" lIns="0" tIns="0" rIns="0" bIns="0" rtlCol="0" anchor="t"/>
          <a:lstStyle/>
          <a:p>
            <a:pPr marL="0" indent="0">
              <a:buNone/>
            </a:pPr>
            <a:r>
              <a:rPr lang="en-US" sz="2500" b="1" dirty="0">
                <a:solidFill>
                  <a:srgbClr val="FFFFFF"/>
                </a:solidFill>
                <a:latin typeface="Cambria" pitchFamily="34" charset="0"/>
                <a:ea typeface="Cambria" pitchFamily="34" charset="-122"/>
                <a:cs typeface="Cambria" pitchFamily="34" charset="-120"/>
              </a:rPr>
              <a:t>An agent optimizer should be judged by whether it can explain and enforce when it must not compile</a:t>
            </a:r>
            <a:endParaRPr lang="en-US" sz="2500" dirty="0"/>
          </a:p>
        </p:txBody>
      </p:sp>
      <p:sp>
        <p:nvSpPr>
          <p:cNvPr id="8" name="Shape 6"/>
          <p:cNvSpPr/>
          <p:nvPr/>
        </p:nvSpPr>
        <p:spPr>
          <a:xfrm>
            <a:off x="640080" y="2084832"/>
            <a:ext cx="384048" cy="384048"/>
          </a:xfrm>
          <a:prstGeom prst="ellipse">
            <a:avLst/>
          </a:prstGeom>
          <a:solidFill>
            <a:srgbClr val="1F8A99"/>
          </a:solidFill>
          <a:ln w="6350">
            <a:solidFill>
              <a:srgbClr val="1F8A99"/>
            </a:solidFill>
            <a:prstDash val="solid"/>
          </a:ln>
        </p:spPr>
        <p:txBody>
          <a:bodyPr/>
          <a:lstStyle/>
          <a:p>
            <a:endParaRPr lang="en-US"/>
          </a:p>
        </p:txBody>
      </p:sp>
      <p:sp>
        <p:nvSpPr>
          <p:cNvPr id="9" name="Text 7"/>
          <p:cNvSpPr/>
          <p:nvPr/>
        </p:nvSpPr>
        <p:spPr>
          <a:xfrm>
            <a:off x="640080" y="208483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0" name="Text 8"/>
          <p:cNvSpPr/>
          <p:nvPr/>
        </p:nvSpPr>
        <p:spPr>
          <a:xfrm>
            <a:off x="1188720" y="2048256"/>
            <a:ext cx="4407408" cy="457200"/>
          </a:xfrm>
          <a:prstGeom prst="rect">
            <a:avLst/>
          </a:prstGeom>
          <a:noFill/>
          <a:ln/>
        </p:spPr>
        <p:txBody>
          <a:bodyPr wrap="square" lIns="0" tIns="0" rIns="0" bIns="0" rtlCol="0" anchor="t"/>
          <a:lstStyle/>
          <a:p>
            <a:pPr marL="0" indent="0">
              <a:lnSpc>
                <a:spcPct val="100000"/>
              </a:lnSpc>
              <a:buNone/>
            </a:pPr>
            <a:r>
              <a:rPr lang="en-US" sz="1400" b="1" dirty="0">
                <a:solidFill>
                  <a:srgbClr val="FFFFFF"/>
                </a:solidFill>
                <a:latin typeface="Cambria" pitchFamily="34" charset="0"/>
                <a:ea typeface="Cambria" pitchFamily="34" charset="-122"/>
                <a:cs typeface="Cambria" pitchFamily="34" charset="-120"/>
              </a:rPr>
              <a:t>The admission argument is the contribution</a:t>
            </a:r>
            <a:endParaRPr lang="en-US" sz="1400" dirty="0"/>
          </a:p>
        </p:txBody>
      </p:sp>
      <p:sp>
        <p:nvSpPr>
          <p:cNvPr id="11" name="Text 9"/>
          <p:cNvSpPr/>
          <p:nvPr/>
        </p:nvSpPr>
        <p:spPr>
          <a:xfrm>
            <a:off x="1188720" y="2542032"/>
            <a:ext cx="4315968" cy="1280160"/>
          </a:xfrm>
          <a:prstGeom prst="rect">
            <a:avLst/>
          </a:prstGeom>
          <a:noFill/>
          <a:ln/>
        </p:spPr>
        <p:txBody>
          <a:bodyPr wrap="square" lIns="0" tIns="0" rIns="0" bIns="0" rtlCol="0" anchor="t"/>
          <a:lstStyle/>
          <a:p>
            <a:pPr marL="0" indent="0">
              <a:lnSpc>
                <a:spcPct val="110000"/>
              </a:lnSpc>
              <a:buNone/>
            </a:pPr>
            <a:r>
              <a:rPr lang="en-US" sz="1050" dirty="0">
                <a:solidFill>
                  <a:srgbClr val="9BD0D6"/>
                </a:solidFill>
                <a:latin typeface="Calibri" pitchFamily="34" charset="0"/>
                <a:ea typeface="Calibri" pitchFamily="34" charset="-122"/>
                <a:cs typeface="Calibri" pitchFamily="34" charset="-120"/>
              </a:rPr>
              <a:t>Each element — typed value-level provenance, effect and position barriers, bounded readable synthesis, verifier and staging semantics, finite-sample selective admission — has predecessors. The contribution is that an agent guard needs all five at once.</a:t>
            </a:r>
            <a:endParaRPr lang="en-US" sz="1050" dirty="0"/>
          </a:p>
        </p:txBody>
      </p:sp>
      <p:sp>
        <p:nvSpPr>
          <p:cNvPr id="12" name="Shape 10"/>
          <p:cNvSpPr/>
          <p:nvPr/>
        </p:nvSpPr>
        <p:spPr>
          <a:xfrm>
            <a:off x="5925312" y="2084832"/>
            <a:ext cx="384048" cy="384048"/>
          </a:xfrm>
          <a:prstGeom prst="ellipse">
            <a:avLst/>
          </a:prstGeom>
          <a:solidFill>
            <a:srgbClr val="1F8A99"/>
          </a:solidFill>
          <a:ln w="6350">
            <a:solidFill>
              <a:srgbClr val="1F8A99"/>
            </a:solidFill>
            <a:prstDash val="solid"/>
          </a:ln>
        </p:spPr>
        <p:txBody>
          <a:bodyPr/>
          <a:lstStyle/>
          <a:p>
            <a:endParaRPr lang="en-US"/>
          </a:p>
        </p:txBody>
      </p:sp>
      <p:sp>
        <p:nvSpPr>
          <p:cNvPr id="13" name="Text 11"/>
          <p:cNvSpPr/>
          <p:nvPr/>
        </p:nvSpPr>
        <p:spPr>
          <a:xfrm>
            <a:off x="5925312" y="2084832"/>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p:nvPr/>
        </p:nvSpPr>
        <p:spPr>
          <a:xfrm>
            <a:off x="6473952" y="2048256"/>
            <a:ext cx="4407408" cy="457200"/>
          </a:xfrm>
          <a:prstGeom prst="rect">
            <a:avLst/>
          </a:prstGeom>
          <a:noFill/>
          <a:ln/>
        </p:spPr>
        <p:txBody>
          <a:bodyPr wrap="square" lIns="0" tIns="0" rIns="0" bIns="0" rtlCol="0" anchor="t"/>
          <a:lstStyle/>
          <a:p>
            <a:pPr marL="0" indent="0">
              <a:lnSpc>
                <a:spcPct val="100000"/>
              </a:lnSpc>
              <a:buNone/>
            </a:pPr>
            <a:r>
              <a:rPr lang="en-US" sz="1400" b="1" dirty="0">
                <a:solidFill>
                  <a:srgbClr val="FFFFFF"/>
                </a:solidFill>
                <a:latin typeface="Cambria" pitchFamily="34" charset="0"/>
                <a:ea typeface="Cambria" pitchFamily="34" charset="-122"/>
                <a:cs typeface="Cambria" pitchFamily="34" charset="-120"/>
              </a:rPr>
              <a:t>Certification, not recurrence, is the scarce resource</a:t>
            </a:r>
            <a:endParaRPr lang="en-US" sz="1400" dirty="0"/>
          </a:p>
        </p:txBody>
      </p:sp>
      <p:sp>
        <p:nvSpPr>
          <p:cNvPr id="15" name="Text 13"/>
          <p:cNvSpPr/>
          <p:nvPr/>
        </p:nvSpPr>
        <p:spPr>
          <a:xfrm>
            <a:off x="6473952" y="2542032"/>
            <a:ext cx="4315968" cy="1280160"/>
          </a:xfrm>
          <a:prstGeom prst="rect">
            <a:avLst/>
          </a:prstGeom>
          <a:noFill/>
          <a:ln/>
        </p:spPr>
        <p:txBody>
          <a:bodyPr wrap="square" lIns="0" tIns="0" rIns="0" bIns="0" rtlCol="0" anchor="t"/>
          <a:lstStyle/>
          <a:p>
            <a:pPr marL="0" indent="0">
              <a:lnSpc>
                <a:spcPct val="110000"/>
              </a:lnSpc>
              <a:buNone/>
            </a:pPr>
            <a:r>
              <a:rPr lang="en-US" sz="1050" dirty="0">
                <a:solidFill>
                  <a:srgbClr val="9BD0D6"/>
                </a:solidFill>
                <a:latin typeface="Calibri" pitchFamily="34" charset="0"/>
                <a:ea typeface="Calibri" pitchFamily="34" charset="-122"/>
                <a:cs typeface="Calibri" pitchFamily="34" charset="-120"/>
              </a:rPr>
              <a:t>Provenance places the true producer for 96.3% of 5,746 slots and resolves 80.7% uniquely, yet every recurrent family in 1,415 episodes retires at the configured gate. Refusal exposes the data requirement instead of hiding it.</a:t>
            </a:r>
            <a:endParaRPr lang="en-US" sz="1050" dirty="0"/>
          </a:p>
        </p:txBody>
      </p:sp>
      <p:sp>
        <p:nvSpPr>
          <p:cNvPr id="16" name="Shape 14"/>
          <p:cNvSpPr/>
          <p:nvPr/>
        </p:nvSpPr>
        <p:spPr>
          <a:xfrm>
            <a:off x="640080" y="3968496"/>
            <a:ext cx="384048" cy="384048"/>
          </a:xfrm>
          <a:prstGeom prst="ellipse">
            <a:avLst/>
          </a:prstGeom>
          <a:solidFill>
            <a:srgbClr val="1F8A99"/>
          </a:solidFill>
          <a:ln w="6350">
            <a:solidFill>
              <a:srgbClr val="1F8A99"/>
            </a:solidFill>
            <a:prstDash val="solid"/>
          </a:ln>
        </p:spPr>
        <p:txBody>
          <a:bodyPr/>
          <a:lstStyle/>
          <a:p>
            <a:endParaRPr lang="en-US"/>
          </a:p>
        </p:txBody>
      </p:sp>
      <p:sp>
        <p:nvSpPr>
          <p:cNvPr id="17" name="Text 15"/>
          <p:cNvSpPr/>
          <p:nvPr/>
        </p:nvSpPr>
        <p:spPr>
          <a:xfrm>
            <a:off x="640080" y="3968496"/>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p:nvPr/>
        </p:nvSpPr>
        <p:spPr>
          <a:xfrm>
            <a:off x="1188720" y="3931920"/>
            <a:ext cx="4407408" cy="457200"/>
          </a:xfrm>
          <a:prstGeom prst="rect">
            <a:avLst/>
          </a:prstGeom>
          <a:noFill/>
          <a:ln/>
        </p:spPr>
        <p:txBody>
          <a:bodyPr wrap="square" lIns="0" tIns="0" rIns="0" bIns="0" rtlCol="0" anchor="t"/>
          <a:lstStyle/>
          <a:p>
            <a:pPr marL="0" indent="0">
              <a:lnSpc>
                <a:spcPct val="100000"/>
              </a:lnSpc>
              <a:buNone/>
            </a:pPr>
            <a:r>
              <a:rPr lang="en-US" sz="1400" b="1" dirty="0">
                <a:solidFill>
                  <a:srgbClr val="FFFFFF"/>
                </a:solidFill>
                <a:latin typeface="Cambria" pitchFamily="34" charset="0"/>
                <a:ea typeface="Cambria" pitchFamily="34" charset="-122"/>
                <a:cs typeface="Cambria" pitchFamily="34" charset="-120"/>
              </a:rPr>
              <a:t>Efficiency does not imply quality, superiority, or safety</a:t>
            </a:r>
            <a:endParaRPr lang="en-US" sz="1400" dirty="0"/>
          </a:p>
        </p:txBody>
      </p:sp>
      <p:sp>
        <p:nvSpPr>
          <p:cNvPr id="19" name="Text 17"/>
          <p:cNvSpPr/>
          <p:nvPr/>
        </p:nvSpPr>
        <p:spPr>
          <a:xfrm>
            <a:off x="1188720" y="4425696"/>
            <a:ext cx="4315968" cy="1280160"/>
          </a:xfrm>
          <a:prstGeom prst="rect">
            <a:avLst/>
          </a:prstGeom>
          <a:noFill/>
          <a:ln/>
        </p:spPr>
        <p:txBody>
          <a:bodyPr wrap="square" lIns="0" tIns="0" rIns="0" bIns="0" rtlCol="0" anchor="t"/>
          <a:lstStyle/>
          <a:p>
            <a:pPr marL="0" indent="0">
              <a:lnSpc>
                <a:spcPct val="110000"/>
              </a:lnSpc>
              <a:buNone/>
            </a:pPr>
            <a:r>
              <a:rPr lang="en-US" sz="1050" dirty="0">
                <a:solidFill>
                  <a:srgbClr val="9BD0D6"/>
                </a:solidFill>
                <a:latin typeface="Calibri" pitchFamily="34" charset="0"/>
                <a:ea typeface="Calibri" pitchFamily="34" charset="-122"/>
                <a:cs typeface="Calibri" pitchFamily="34" charset="-120"/>
              </a:rPr>
              <a:t>The two-read artifact holds 30/30 while halving requests; the deeper three-read artifact saves more and records a factual miss. A hand-written macro matches quality and wins on tokens and dollars. Preservation is not invariant to depth.</a:t>
            </a:r>
            <a:endParaRPr lang="en-US" sz="1050" dirty="0"/>
          </a:p>
        </p:txBody>
      </p:sp>
      <p:sp>
        <p:nvSpPr>
          <p:cNvPr id="20" name="Shape 18"/>
          <p:cNvSpPr/>
          <p:nvPr/>
        </p:nvSpPr>
        <p:spPr>
          <a:xfrm>
            <a:off x="5925312" y="3968496"/>
            <a:ext cx="384048" cy="384048"/>
          </a:xfrm>
          <a:prstGeom prst="ellipse">
            <a:avLst/>
          </a:prstGeom>
          <a:solidFill>
            <a:srgbClr val="1F8A99"/>
          </a:solidFill>
          <a:ln w="6350">
            <a:solidFill>
              <a:srgbClr val="1F8A99"/>
            </a:solidFill>
            <a:prstDash val="solid"/>
          </a:ln>
        </p:spPr>
        <p:txBody>
          <a:bodyPr/>
          <a:lstStyle/>
          <a:p>
            <a:endParaRPr lang="en-US"/>
          </a:p>
        </p:txBody>
      </p:sp>
      <p:sp>
        <p:nvSpPr>
          <p:cNvPr id="21" name="Text 19"/>
          <p:cNvSpPr/>
          <p:nvPr/>
        </p:nvSpPr>
        <p:spPr>
          <a:xfrm>
            <a:off x="5925312" y="3968496"/>
            <a:ext cx="384048"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p:nvPr/>
        </p:nvSpPr>
        <p:spPr>
          <a:xfrm>
            <a:off x="6473952" y="3931920"/>
            <a:ext cx="4407408" cy="457200"/>
          </a:xfrm>
          <a:prstGeom prst="rect">
            <a:avLst/>
          </a:prstGeom>
          <a:noFill/>
          <a:ln/>
        </p:spPr>
        <p:txBody>
          <a:bodyPr wrap="square" lIns="0" tIns="0" rIns="0" bIns="0" rtlCol="0" anchor="t"/>
          <a:lstStyle/>
          <a:p>
            <a:pPr marL="0" indent="0">
              <a:lnSpc>
                <a:spcPct val="100000"/>
              </a:lnSpc>
              <a:buNone/>
            </a:pPr>
            <a:r>
              <a:rPr lang="en-US" sz="1400" b="1" dirty="0">
                <a:solidFill>
                  <a:srgbClr val="FFFFFF"/>
                </a:solidFill>
                <a:latin typeface="Cambria" pitchFamily="34" charset="0"/>
                <a:ea typeface="Cambria" pitchFamily="34" charset="-122"/>
                <a:cs typeface="Cambria" pitchFamily="34" charset="-120"/>
              </a:rPr>
              <a:t>Objectives must price cache prefixes, not just tokens</a:t>
            </a:r>
            <a:endParaRPr lang="en-US" sz="1400" dirty="0"/>
          </a:p>
        </p:txBody>
      </p:sp>
      <p:sp>
        <p:nvSpPr>
          <p:cNvPr id="23" name="Text 21"/>
          <p:cNvSpPr/>
          <p:nvPr/>
        </p:nvSpPr>
        <p:spPr>
          <a:xfrm>
            <a:off x="6473952" y="4425696"/>
            <a:ext cx="4315968" cy="1280160"/>
          </a:xfrm>
          <a:prstGeom prst="rect">
            <a:avLst/>
          </a:prstGeom>
          <a:noFill/>
          <a:ln/>
        </p:spPr>
        <p:txBody>
          <a:bodyPr wrap="square" lIns="0" tIns="0" rIns="0" bIns="0" rtlCol="0" anchor="t"/>
          <a:lstStyle/>
          <a:p>
            <a:pPr marL="0" indent="0">
              <a:lnSpc>
                <a:spcPct val="110000"/>
              </a:lnSpc>
              <a:buNone/>
            </a:pPr>
            <a:r>
              <a:rPr lang="en-US" sz="1050" dirty="0">
                <a:solidFill>
                  <a:srgbClr val="9BD0D6"/>
                </a:solidFill>
                <a:latin typeface="Calibri" pitchFamily="34" charset="0"/>
                <a:ea typeface="Calibri" pitchFamily="34" charset="-122"/>
                <a:cs typeface="Calibri" pitchFamily="34" charset="-120"/>
              </a:rPr>
              <a:t>A −16.8% token change billed +123%. Route specialization fragments the cache prefix a warm fleet shared. Equation (5) counts only tokens and calls, and §7.3 lists the two-tier price model as the fix.</a:t>
            </a:r>
            <a:endParaRPr lang="en-US" sz="1050" dirty="0"/>
          </a:p>
        </p:txBody>
      </p:sp>
      <p:sp>
        <p:nvSpPr>
          <p:cNvPr id="24" name="Shape 22"/>
          <p:cNvSpPr/>
          <p:nvPr/>
        </p:nvSpPr>
        <p:spPr>
          <a:xfrm>
            <a:off x="640080" y="5797296"/>
            <a:ext cx="10241280" cy="0"/>
          </a:xfrm>
          <a:prstGeom prst="line">
            <a:avLst/>
          </a:prstGeom>
          <a:noFill/>
          <a:ln w="12700">
            <a:solidFill>
              <a:srgbClr val="2C4467"/>
            </a:solidFill>
            <a:prstDash val="solid"/>
          </a:ln>
        </p:spPr>
        <p:txBody>
          <a:bodyPr/>
          <a:lstStyle/>
          <a:p>
            <a:endParaRPr lang="en-US"/>
          </a:p>
        </p:txBody>
      </p:sp>
      <p:sp>
        <p:nvSpPr>
          <p:cNvPr id="25" name="Text 23"/>
          <p:cNvSpPr/>
          <p:nvPr/>
        </p:nvSpPr>
        <p:spPr>
          <a:xfrm>
            <a:off x="640080" y="5907024"/>
            <a:ext cx="10241280" cy="292608"/>
          </a:xfrm>
          <a:prstGeom prst="rect">
            <a:avLst/>
          </a:prstGeom>
          <a:noFill/>
          <a:ln/>
        </p:spPr>
        <p:txBody>
          <a:bodyPr wrap="square" lIns="0" tIns="0" rIns="0" bIns="0" rtlCol="0" anchor="t"/>
          <a:lstStyle/>
          <a:p>
            <a:pPr marL="0" indent="0">
              <a:buNone/>
            </a:pPr>
            <a:r>
              <a:rPr lang="en-US" sz="1100" i="1" dirty="0">
                <a:solidFill>
                  <a:srgbClr val="8FA6C0"/>
                </a:solidFill>
                <a:latin typeface="Calibri" pitchFamily="34" charset="0"/>
                <a:ea typeface="Calibri" pitchFamily="34" charset="-122"/>
                <a:cs typeface="Calibri" pitchFamily="34" charset="-120"/>
              </a:rPr>
              <a:t>Next scientific threshold: a multi-family, time-forward comparison that includes cache economics, construction and maintenance effort, drift, and closer learned optimizers.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7991</Words>
  <Application>Microsoft Macintosh PowerPoint</Application>
  <PresentationFormat>Widescreen</PresentationFormat>
  <Paragraphs>705</Paragraphs>
  <Slides>25</Slides>
  <Notes>25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Compiling Recurrent Agent Workflows into Guarded Programs</dc:title>
  <dc:subject>PptxGenJS Presentation</dc:subject>
  <dc:creator>JazzX AI</dc:creator>
  <cp:lastModifiedBy>Reza Rahimi</cp:lastModifiedBy>
  <cp:revision>2</cp:revision>
  <dcterms:created xsi:type="dcterms:W3CDTF">2026-08-04T23:18:06Z</dcterms:created>
  <dcterms:modified xsi:type="dcterms:W3CDTF">2026-08-10T05:29:02Z</dcterms:modified>
</cp:coreProperties>
</file>